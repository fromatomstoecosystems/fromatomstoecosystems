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cfa5fb65-0fe2-a622-2143-37d319e5ae56}">
          <p14:sldIdLst>
            <p14:sldId id="256"/>
            <p14:sldId id="257"/>
            <p14:sldId id="258"/>
          </p14:sldIdLst>
        </p14:section>
        <p14:section name="1 · Two motions at once" id="{bd5132a6-0b09-c49d-002e-7caab09896f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2 · Horizontal motion" id="{e4e2e7aa-04d3-1b25-9dc9-7b0eaedc0be9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3 · Vertical motion" id="{a400822c-fb20-1cc1-3538-a9686aa341da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 · Time in the air" id="{7467a2e7-37a6-ac15-3f6d-50bc11f048f9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5 · How far" id="{8a21c89e-3ff1-d95a-2527-cd3b090ac2c2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6 · Velocity" id="{a0aabe07-5a3a-32ce-8869-0ae78f21788d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7 · Graphs" id="{5621339e-b326-2233-7f6a-e529001ef110}">
          <p14:sldIdLst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8 · Putting it together" id="{21739330-f80e-2404-7941-b1faaab987ef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  <p14:section name="9 · Final check" id="{43de5d48-a6fb-0663-c539-948aaee4bfc1}">
          <p14:sldIdLst>
            <p14:sldId id="342"/>
            <p14:sldId id="343"/>
            <p14:sldId id="344"/>
          </p14:sldIdLst>
        </p14:section>
        <p14:section name="Results" id="{59ad56a9-9a34-932a-6915-b0780a20ccdd}">
          <p14:sldIdLst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for phys-u3-horizontal-vertical-motion.html. Each reading is here, and every activity or question has a slide without the answer followed by one with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check themselves off in the lesson as students finish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minutes. Section 9 (F) is the final check; Ne is the results page with the CSV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idea of the whole lesson: the two motions are independent (ignoring air).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launch Ball B at 3 different speeds. Take a class vote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every flash the two balls are at the same height. Any launch speed gives the same 0.51 s landing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common wrong answer: A, because B "has farther to go." B does go farther, but sideways, not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v_x is constant because no horizontal force acts after launch (ignoring air).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these one at a time in the lesson. Give 3 to 4 minutes, then advance to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4 and 5 rearrange the equation. Watch for students who multiply instead of divide.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sizes and say "down" so students don't have to manage negative signs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fill in the table with a calculator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explore this with a time slider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these one at a time in the lesson. Give 3 to 4 minutes, then advance to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common mistake on the distance problems: forgetting to square t, or squaring after multiplying.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calculator order out loud: 2 × h, then ÷ 9.8, then square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do we know, and which equation only needs the height?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a faster marble would still take 0.49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these one at a time in the lesson. Give 3 to 4 minutes, then advance to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columns never mix, except for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equation lives on one side. The only thing both sides share is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setup for the two-step method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two-step plan is the heart of every horizontal-launch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calculate the launch speed for each cup, then test it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type the speed and watch the ball fly. Anything within about ±0.06 m lands in the cup.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these one at a time in the lesson. Give 3 to 4 minutes, then advance to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the vectors lesson: same Pythagorean theorem and inverse tangent.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drag a time slider. Have them predict which column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v_x stays 4.0 m/s in every row. Only v_y grows, so v grows and θ gets steeper.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these one at a time in the lesson. Give 3 to 4 minutes, then advance to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 graphs look like constant speed; vertical graphs look like free 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acceleration is a flat line at 9.8 m/s² because g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use their rounded answer from each step in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this table one step at a time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rounded steps gives 53.5°; unrounded gives about 53.6°. The lesson accepts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this table one step at a time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question: where is the plane when the crate lands? Directly above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has one mistake. Have students find it and fix it before you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most common mistakes from the whole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drawn at random, so there are no answer slides for the final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3 failed tries, the lesson shows a one-card review before the next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quick-review card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Horizontal and Vertical Motion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Horizontal and Vertical Motion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Physics · Unit 3: 2D Kinematics &amp; Projectile Motion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Companion slides for the self-taught lesson</a:t>
            </a:r>
            <a:endParaRPr lang="en-US" sz="2000" dirty="0"/>
          </a:p>
        </p:txBody>
      </p:sp>
      <p:sp>
        <p:nvSpPr>
          <p:cNvPr id="4" name="diagram panel"/>
          <p:cNvSpPr/>
          <p:nvPr/>
        </p:nvSpPr>
        <p:spPr>
          <a:xfrm>
            <a:off x="7333488" y="1611957"/>
            <a:ext cx="4535424" cy="3634087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5" name="grid"/>
          <p:cNvSpPr/>
          <p:nvPr/>
        </p:nvSpPr>
        <p:spPr>
          <a:xfrm flipV="1">
            <a:off x="7498080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6" name="grid"/>
          <p:cNvSpPr/>
          <p:nvPr/>
        </p:nvSpPr>
        <p:spPr>
          <a:xfrm flipV="1">
            <a:off x="7998823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7" name="grid"/>
          <p:cNvSpPr/>
          <p:nvPr/>
        </p:nvSpPr>
        <p:spPr>
          <a:xfrm flipV="1">
            <a:off x="8499566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8" name="grid"/>
          <p:cNvSpPr/>
          <p:nvPr/>
        </p:nvSpPr>
        <p:spPr>
          <a:xfrm flipV="1">
            <a:off x="9000309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9" name="grid"/>
          <p:cNvSpPr/>
          <p:nvPr/>
        </p:nvSpPr>
        <p:spPr>
          <a:xfrm flipV="1">
            <a:off x="9501051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0" name="grid"/>
          <p:cNvSpPr/>
          <p:nvPr/>
        </p:nvSpPr>
        <p:spPr>
          <a:xfrm flipV="1">
            <a:off x="10001794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1" name="grid"/>
          <p:cNvSpPr/>
          <p:nvPr/>
        </p:nvSpPr>
        <p:spPr>
          <a:xfrm flipV="1">
            <a:off x="10502537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2" name="grid"/>
          <p:cNvSpPr/>
          <p:nvPr/>
        </p:nvSpPr>
        <p:spPr>
          <a:xfrm flipV="1">
            <a:off x="11003280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3" name="grid"/>
          <p:cNvSpPr/>
          <p:nvPr/>
        </p:nvSpPr>
        <p:spPr>
          <a:xfrm flipV="1">
            <a:off x="11504023" y="1776549"/>
            <a:ext cx="0" cy="3304903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4" name="grid"/>
          <p:cNvSpPr/>
          <p:nvPr/>
        </p:nvSpPr>
        <p:spPr>
          <a:xfrm>
            <a:off x="7498080" y="4781006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5" name="grid"/>
          <p:cNvSpPr/>
          <p:nvPr/>
        </p:nvSpPr>
        <p:spPr>
          <a:xfrm>
            <a:off x="7498080" y="4280263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6" name="grid"/>
          <p:cNvSpPr/>
          <p:nvPr/>
        </p:nvSpPr>
        <p:spPr>
          <a:xfrm>
            <a:off x="7498080" y="3779520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7" name="grid"/>
          <p:cNvSpPr/>
          <p:nvPr/>
        </p:nvSpPr>
        <p:spPr>
          <a:xfrm>
            <a:off x="7498080" y="3278777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8" name="grid"/>
          <p:cNvSpPr/>
          <p:nvPr/>
        </p:nvSpPr>
        <p:spPr>
          <a:xfrm>
            <a:off x="7498080" y="2778034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9" name="grid"/>
          <p:cNvSpPr/>
          <p:nvPr/>
        </p:nvSpPr>
        <p:spPr>
          <a:xfrm>
            <a:off x="7498080" y="2277291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0" name="grid"/>
          <p:cNvSpPr/>
          <p:nvPr/>
        </p:nvSpPr>
        <p:spPr>
          <a:xfrm>
            <a:off x="7498080" y="1776549"/>
            <a:ext cx="420624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1" name="x-axis"/>
          <p:cNvSpPr/>
          <p:nvPr/>
        </p:nvSpPr>
        <p:spPr>
          <a:xfrm>
            <a:off x="7498080" y="4781006"/>
            <a:ext cx="42062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y-axis"/>
          <p:cNvSpPr/>
          <p:nvPr/>
        </p:nvSpPr>
        <p:spPr>
          <a:xfrm flipV="1">
            <a:off x="8499566" y="1776549"/>
            <a:ext cx="0" cy="3304903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3" name="table"/>
          <p:cNvSpPr/>
          <p:nvPr/>
        </p:nvSpPr>
        <p:spPr>
          <a:xfrm>
            <a:off x="7498080" y="2277291"/>
            <a:ext cx="1001486" cy="2503714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3063" y="3383715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1.25 m</a:t>
            </a:r>
            <a:endParaRPr lang="en-US" sz="1100" dirty="0"/>
          </a:p>
        </p:txBody>
      </p:sp>
      <p:sp>
        <p:nvSpPr>
          <p:cNvPr id="25" name="same height"/>
          <p:cNvSpPr/>
          <p:nvPr/>
        </p:nvSpPr>
        <p:spPr>
          <a:xfrm>
            <a:off x="8599714" y="2177143"/>
            <a:ext cx="0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26" name="ball"/>
          <p:cNvSpPr/>
          <p:nvPr/>
        </p:nvSpPr>
        <p:spPr>
          <a:xfrm>
            <a:off x="8535706" y="2113135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27" name="ball"/>
          <p:cNvSpPr/>
          <p:nvPr/>
        </p:nvSpPr>
        <p:spPr>
          <a:xfrm>
            <a:off x="8535706" y="2113135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28" name="same height"/>
          <p:cNvSpPr/>
          <p:nvPr/>
        </p:nvSpPr>
        <p:spPr>
          <a:xfrm>
            <a:off x="8599714" y="2275288"/>
            <a:ext cx="320475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29" name="ball"/>
          <p:cNvSpPr/>
          <p:nvPr/>
        </p:nvSpPr>
        <p:spPr>
          <a:xfrm>
            <a:off x="8535706" y="2211280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0" name="ball"/>
          <p:cNvSpPr/>
          <p:nvPr/>
        </p:nvSpPr>
        <p:spPr>
          <a:xfrm>
            <a:off x="8856182" y="2211280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1" name="same height"/>
          <p:cNvSpPr/>
          <p:nvPr/>
        </p:nvSpPr>
        <p:spPr>
          <a:xfrm>
            <a:off x="8599714" y="2569725"/>
            <a:ext cx="640951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2" name="ball"/>
          <p:cNvSpPr/>
          <p:nvPr/>
        </p:nvSpPr>
        <p:spPr>
          <a:xfrm>
            <a:off x="8535706" y="2505717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3" name="ball"/>
          <p:cNvSpPr/>
          <p:nvPr/>
        </p:nvSpPr>
        <p:spPr>
          <a:xfrm>
            <a:off x="9176657" y="2505717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4" name="same height"/>
          <p:cNvSpPr/>
          <p:nvPr/>
        </p:nvSpPr>
        <p:spPr>
          <a:xfrm>
            <a:off x="8599714" y="3060453"/>
            <a:ext cx="961426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5" name="ball"/>
          <p:cNvSpPr/>
          <p:nvPr/>
        </p:nvSpPr>
        <p:spPr>
          <a:xfrm>
            <a:off x="8535706" y="2996445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6" name="ball"/>
          <p:cNvSpPr/>
          <p:nvPr/>
        </p:nvSpPr>
        <p:spPr>
          <a:xfrm>
            <a:off x="9497133" y="2996445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7" name="same height"/>
          <p:cNvSpPr/>
          <p:nvPr/>
        </p:nvSpPr>
        <p:spPr>
          <a:xfrm>
            <a:off x="8599714" y="3747472"/>
            <a:ext cx="1281902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8" name="ball"/>
          <p:cNvSpPr/>
          <p:nvPr/>
        </p:nvSpPr>
        <p:spPr>
          <a:xfrm>
            <a:off x="8535706" y="3683464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9" name="ball"/>
          <p:cNvSpPr/>
          <p:nvPr/>
        </p:nvSpPr>
        <p:spPr>
          <a:xfrm>
            <a:off x="9817608" y="3683464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40" name="same height"/>
          <p:cNvSpPr/>
          <p:nvPr/>
        </p:nvSpPr>
        <p:spPr>
          <a:xfrm>
            <a:off x="8599714" y="4630783"/>
            <a:ext cx="1602377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41" name="ball"/>
          <p:cNvSpPr/>
          <p:nvPr/>
        </p:nvSpPr>
        <p:spPr>
          <a:xfrm>
            <a:off x="8535706" y="4566775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42" name="ball"/>
          <p:cNvSpPr/>
          <p:nvPr/>
        </p:nvSpPr>
        <p:spPr>
          <a:xfrm>
            <a:off x="10138083" y="4566775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43" name="ball"/>
          <p:cNvSpPr/>
          <p:nvPr/>
        </p:nvSpPr>
        <p:spPr>
          <a:xfrm>
            <a:off x="8517418" y="4598561"/>
            <a:ext cx="164592" cy="1645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ball"/>
          <p:cNvSpPr/>
          <p:nvPr/>
        </p:nvSpPr>
        <p:spPr>
          <a:xfrm>
            <a:off x="10136064" y="4598561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45434" y="47540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 (dropped)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624000" y="47540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 (launched)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are learning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4592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83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 can explain why horizontal and vertical motion are independent, find how long a sideways-launched object is in the air and how far it goes, and find its velocity at any moment.</a:t>
            </a:r>
            <a:endParaRPr lang="en-US" sz="1600" dirty="0"/>
          </a:p>
        </p:txBody>
      </p:sp>
      <p:sp>
        <p:nvSpPr>
          <p:cNvPr id="6" name="panel"/>
          <p:cNvSpPr/>
          <p:nvPr/>
        </p:nvSpPr>
        <p:spPr>
          <a:xfrm>
            <a:off x="6217920" y="1645920"/>
            <a:ext cx="54223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78308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Standards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NGSS HS-PS2-1 (supports)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Describe and predict motion mathematically.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 CCSS A-CED.A.4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Rearrange formulas, like solving d = ½gt² for t.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NGSS SEP 2 and 5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Models; mathematics.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9" name="goal"/>
          <p:cNvSpPr/>
          <p:nvPr/>
        </p:nvSpPr>
        <p:spPr>
          <a:xfrm>
            <a:off x="594360" y="4443984"/>
            <a:ext cx="274320" cy="27432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43891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can explain why horizontal and vertical motion are independent.</a:t>
            </a:r>
            <a:endParaRPr lang="en-US" sz="1800" dirty="0"/>
          </a:p>
        </p:txBody>
      </p:sp>
      <p:sp>
        <p:nvSpPr>
          <p:cNvPr id="11" name="goal"/>
          <p:cNvSpPr/>
          <p:nvPr/>
        </p:nvSpPr>
        <p:spPr>
          <a:xfrm>
            <a:off x="594360" y="4901184"/>
            <a:ext cx="274320" cy="27432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48463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can use x = v</a:t>
            </a:r>
            <a:pPr indent="0" marL="0"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 for horizontal motion and v</a:t>
            </a:r>
            <a:pPr indent="0" marL="0"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gt, d = ½gt² for vertical motion.</a:t>
            </a:r>
            <a:endParaRPr lang="en-US" sz="1800" dirty="0"/>
          </a:p>
        </p:txBody>
      </p:sp>
      <p:sp>
        <p:nvSpPr>
          <p:cNvPr id="13" name="goal"/>
          <p:cNvSpPr/>
          <p:nvPr/>
        </p:nvSpPr>
        <p:spPr>
          <a:xfrm>
            <a:off x="594360" y="5358384"/>
            <a:ext cx="274320" cy="27432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5303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can find the time in the air from the height and use it to find how far a projectile lands.</a:t>
            </a:r>
            <a:endParaRPr lang="en-US" sz="1800" dirty="0"/>
          </a:p>
        </p:txBody>
      </p:sp>
      <p:sp>
        <p:nvSpPr>
          <p:cNvPr id="15" name="goal"/>
          <p:cNvSpPr/>
          <p:nvPr/>
        </p:nvSpPr>
        <p:spPr>
          <a:xfrm>
            <a:off x="594360" y="5815584"/>
            <a:ext cx="274320" cy="27432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5760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can find a projectile's velocity at any moment and read its motion graphs.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lesson works</a:t>
            </a:r>
            <a:endParaRPr lang="en-US" sz="3200" dirty="0"/>
          </a:p>
        </p:txBody>
      </p:sp>
      <p:sp>
        <p:nvSpPr>
          <p:cNvPr id="4" name="section tile Both"/>
          <p:cNvSpPr/>
          <p:nvPr/>
        </p:nvSpPr>
        <p:spPr>
          <a:xfrm>
            <a:off x="548640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</a:t>
            </a:r>
            <a:endParaRPr lang="en-US" sz="900" dirty="0"/>
          </a:p>
        </p:txBody>
      </p:sp>
      <p:pic>
        <p:nvPicPr>
          <p:cNvPr id="6" name="Image 0" descr="Bot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Both</a:t>
            </a:r>
            <a:endParaRPr lang="en-US" sz="900" dirty="0"/>
          </a:p>
        </p:txBody>
      </p:sp>
      <p:sp>
        <p:nvSpPr>
          <p:cNvPr id="8" name="section tile Sideways"/>
          <p:cNvSpPr/>
          <p:nvPr/>
        </p:nvSpPr>
        <p:spPr>
          <a:xfrm>
            <a:off x="1664208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728216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</a:t>
            </a:r>
            <a:endParaRPr lang="en-US" sz="900" dirty="0"/>
          </a:p>
        </p:txBody>
      </p:sp>
      <p:pic>
        <p:nvPicPr>
          <p:cNvPr id="10" name="Image 1" descr="Sideway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18745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64208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Sideways</a:t>
            </a:r>
            <a:endParaRPr lang="en-US" sz="900" dirty="0"/>
          </a:p>
        </p:txBody>
      </p:sp>
      <p:sp>
        <p:nvSpPr>
          <p:cNvPr id="12" name="section tile Falling"/>
          <p:cNvSpPr/>
          <p:nvPr/>
        </p:nvSpPr>
        <p:spPr>
          <a:xfrm>
            <a:off x="2779776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2843784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3</a:t>
            </a:r>
            <a:endParaRPr lang="en-US" sz="900" dirty="0"/>
          </a:p>
        </p:txBody>
      </p:sp>
      <p:pic>
        <p:nvPicPr>
          <p:cNvPr id="14" name="Image 2" descr="Fall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18745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779776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Falling</a:t>
            </a:r>
            <a:endParaRPr lang="en-US" sz="900" dirty="0"/>
          </a:p>
        </p:txBody>
      </p:sp>
      <p:sp>
        <p:nvSpPr>
          <p:cNvPr id="16" name="section tile Time"/>
          <p:cNvSpPr/>
          <p:nvPr/>
        </p:nvSpPr>
        <p:spPr>
          <a:xfrm>
            <a:off x="3895344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3959352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/>
          </a:p>
        </p:txBody>
      </p:sp>
      <p:pic>
        <p:nvPicPr>
          <p:cNvPr id="18" name="Image 3" descr="Tim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18745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895344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Time</a:t>
            </a:r>
            <a:endParaRPr lang="en-US" sz="900" dirty="0"/>
          </a:p>
        </p:txBody>
      </p:sp>
      <p:sp>
        <p:nvSpPr>
          <p:cNvPr id="20" name="section tile How far"/>
          <p:cNvSpPr/>
          <p:nvPr/>
        </p:nvSpPr>
        <p:spPr>
          <a:xfrm>
            <a:off x="5010912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074920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5</a:t>
            </a:r>
            <a:endParaRPr lang="en-US" sz="900" dirty="0"/>
          </a:p>
        </p:txBody>
      </p:sp>
      <p:pic>
        <p:nvPicPr>
          <p:cNvPr id="22" name="Image 4" descr="How f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87452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010912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How far</a:t>
            </a:r>
            <a:endParaRPr lang="en-US" sz="900" dirty="0"/>
          </a:p>
        </p:txBody>
      </p:sp>
      <p:sp>
        <p:nvSpPr>
          <p:cNvPr id="24" name="section tile Velocity"/>
          <p:cNvSpPr/>
          <p:nvPr/>
        </p:nvSpPr>
        <p:spPr>
          <a:xfrm>
            <a:off x="6126480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190488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6</a:t>
            </a:r>
            <a:endParaRPr lang="en-US" sz="900" dirty="0"/>
          </a:p>
        </p:txBody>
      </p:sp>
      <p:pic>
        <p:nvPicPr>
          <p:cNvPr id="26" name="Image 5" descr="Velocit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87452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126480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Velocity</a:t>
            </a:r>
            <a:endParaRPr lang="en-US" sz="900" dirty="0"/>
          </a:p>
        </p:txBody>
      </p:sp>
      <p:sp>
        <p:nvSpPr>
          <p:cNvPr id="28" name="section tile Graphs"/>
          <p:cNvSpPr/>
          <p:nvPr/>
        </p:nvSpPr>
        <p:spPr>
          <a:xfrm>
            <a:off x="7242048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306056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7</a:t>
            </a:r>
            <a:endParaRPr lang="en-US" sz="900" dirty="0"/>
          </a:p>
        </p:txBody>
      </p:sp>
      <p:pic>
        <p:nvPicPr>
          <p:cNvPr id="30" name="Image 6" descr="Graph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48" y="18745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42048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Graphs</a:t>
            </a:r>
            <a:endParaRPr lang="en-US" sz="900" dirty="0"/>
          </a:p>
        </p:txBody>
      </p:sp>
      <p:sp>
        <p:nvSpPr>
          <p:cNvPr id="32" name="section tile Missions"/>
          <p:cNvSpPr/>
          <p:nvPr/>
        </p:nvSpPr>
        <p:spPr>
          <a:xfrm>
            <a:off x="8357616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8421624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8</a:t>
            </a:r>
            <a:endParaRPr lang="en-US" sz="900" dirty="0"/>
          </a:p>
        </p:txBody>
      </p:sp>
      <p:pic>
        <p:nvPicPr>
          <p:cNvPr id="34" name="Image 7" descr="Mission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1874520"/>
            <a:ext cx="457200" cy="4572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357616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Missions</a:t>
            </a:r>
            <a:endParaRPr lang="en-US" sz="900" dirty="0"/>
          </a:p>
        </p:txBody>
      </p:sp>
      <p:sp>
        <p:nvSpPr>
          <p:cNvPr id="36" name="section tile Final"/>
          <p:cNvSpPr/>
          <p:nvPr/>
        </p:nvSpPr>
        <p:spPr>
          <a:xfrm>
            <a:off x="9473184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9537192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9</a:t>
            </a:r>
            <a:endParaRPr lang="en-US" sz="900" dirty="0"/>
          </a:p>
        </p:txBody>
      </p:sp>
      <p:pic>
        <p:nvPicPr>
          <p:cNvPr id="38" name="Image 8" descr="Final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1784" y="1874520"/>
            <a:ext cx="457200" cy="4572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473184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Final</a:t>
            </a:r>
            <a:endParaRPr lang="en-US" sz="900" dirty="0"/>
          </a:p>
        </p:txBody>
      </p:sp>
      <p:sp>
        <p:nvSpPr>
          <p:cNvPr id="40" name="section tile Results"/>
          <p:cNvSpPr/>
          <p:nvPr/>
        </p:nvSpPr>
        <p:spPr>
          <a:xfrm>
            <a:off x="10588752" y="1691640"/>
            <a:ext cx="914400" cy="10058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1" name="Text 29"/>
          <p:cNvSpPr txBox="1"/>
          <p:nvPr/>
        </p:nvSpPr>
        <p:spPr>
          <a:xfrm>
            <a:off x="10652760" y="1737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10</a:t>
            </a:r>
            <a:endParaRPr lang="en-US" sz="900" dirty="0"/>
          </a:p>
        </p:txBody>
      </p:sp>
      <p:pic>
        <p:nvPicPr>
          <p:cNvPr id="42" name="Image 9" descr="Result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7352" y="1874520"/>
            <a:ext cx="457200" cy="4572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10588752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Results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548640" y="2834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Sections 1 to 8 teach and practice (5 practice problems per skill). Section 9 is the final check. Ne is your results page.</a:t>
            </a:r>
            <a:endParaRPr lang="en-US" sz="1600" dirty="0"/>
          </a:p>
        </p:txBody>
      </p:sp>
      <p:sp>
        <p:nvSpPr>
          <p:cNvPr id="45" name="panel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77724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Read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Short readings with diagrams.</a:t>
            </a:r>
            <a:endParaRPr lang="en-US" sz="1700" dirty="0"/>
          </a:p>
        </p:txBody>
      </p:sp>
      <p:sp>
        <p:nvSpPr>
          <p:cNvPr id="47" name="panel"/>
          <p:cNvSpPr/>
          <p:nvPr/>
        </p:nvSpPr>
        <p:spPr>
          <a:xfrm>
            <a:off x="429768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452628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Try it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Simulators, a target game, missions, and practice.</a:t>
            </a:r>
            <a:endParaRPr lang="en-US" sz="1700" dirty="0"/>
          </a:p>
        </p:txBody>
      </p:sp>
      <p:sp>
        <p:nvSpPr>
          <p:cNvPr id="49" name="panel"/>
          <p:cNvSpPr/>
          <p:nvPr/>
        </p:nvSpPr>
        <p:spPr>
          <a:xfrm>
            <a:off x="804672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827532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Quick check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Multiple choice. Answer correctly to unlock.</a:t>
            </a:r>
            <a:endParaRPr lang="en-US" sz="1700" dirty="0"/>
          </a:p>
        </p:txBody>
      </p:sp>
      <p:sp>
        <p:nvSpPr>
          <p:cNvPr id="51" name="panel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749808" y="5230368"/>
            <a:ext cx="106619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Final check: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10 random questions, 8 out of 10 to pass. Use g = 9.8 m/s² and the built-in calculator.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Both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1</a:t>
            </a:r>
            <a:endParaRPr lang="en-US" sz="2340" dirty="0"/>
          </a:p>
        </p:txBody>
      </p:sp>
      <p:pic>
        <p:nvPicPr>
          <p:cNvPr id="4" name="Image 0" descr="Bot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Both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1 of 9 · about 6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Two motions at the same time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Sideways and down, at the same time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ball rolling off a table moves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sideways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(horizontal) and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falls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(vertical) at the same time.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big idea: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the two motions are independent.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sideways motion doesn't change how the ball falls, and the falling doesn't change the sideways motion. (We ignore air resistance.)</a:t>
            </a:r>
            <a:endParaRPr lang="en-US" sz="2000" dirty="0"/>
          </a:p>
        </p:txBody>
      </p:sp>
      <p:sp>
        <p:nvSpPr>
          <p:cNvPr id="7" name="panel"/>
          <p:cNvSpPr/>
          <p:nvPr/>
        </p:nvSpPr>
        <p:spPr>
          <a:xfrm>
            <a:off x="548640" y="4846320"/>
            <a:ext cx="5669280" cy="109728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956048"/>
            <a:ext cx="5266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Predict: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Ball A is dropped. At the same moment, Ball B rolls off the same table sideways. Which hits the floor first?</a:t>
            </a:r>
            <a:endParaRPr lang="en-US" sz="1700" dirty="0"/>
          </a:p>
        </p:txBody>
      </p:sp>
      <p:sp>
        <p:nvSpPr>
          <p:cNvPr id="9" name="diagram panel"/>
          <p:cNvSpPr/>
          <p:nvPr/>
        </p:nvSpPr>
        <p:spPr>
          <a:xfrm>
            <a:off x="6647688" y="1925465"/>
            <a:ext cx="4901184" cy="3921470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0" name="grid"/>
          <p:cNvSpPr/>
          <p:nvPr/>
        </p:nvSpPr>
        <p:spPr>
          <a:xfrm flipV="1">
            <a:off x="681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1" name="grid"/>
          <p:cNvSpPr/>
          <p:nvPr/>
        </p:nvSpPr>
        <p:spPr>
          <a:xfrm flipV="1">
            <a:off x="735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2" name="grid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3" name="grid"/>
          <p:cNvSpPr/>
          <p:nvPr/>
        </p:nvSpPr>
        <p:spPr>
          <a:xfrm flipV="1">
            <a:off x="8445137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4" name="grid"/>
          <p:cNvSpPr/>
          <p:nvPr/>
        </p:nvSpPr>
        <p:spPr>
          <a:xfrm flipV="1">
            <a:off x="8989423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5" name="grid"/>
          <p:cNvSpPr/>
          <p:nvPr/>
        </p:nvSpPr>
        <p:spPr>
          <a:xfrm flipV="1">
            <a:off x="9533709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6" name="grid"/>
          <p:cNvSpPr/>
          <p:nvPr/>
        </p:nvSpPr>
        <p:spPr>
          <a:xfrm flipV="1">
            <a:off x="10077994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7" name="grid"/>
          <p:cNvSpPr/>
          <p:nvPr/>
        </p:nvSpPr>
        <p:spPr>
          <a:xfrm flipV="1">
            <a:off x="1062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8" name="grid"/>
          <p:cNvSpPr/>
          <p:nvPr/>
        </p:nvSpPr>
        <p:spPr>
          <a:xfrm flipV="1">
            <a:off x="1116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9" name="grid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0" name="grid"/>
          <p:cNvSpPr/>
          <p:nvPr/>
        </p:nvSpPr>
        <p:spPr>
          <a:xfrm>
            <a:off x="6812280" y="4811486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1" name="grid"/>
          <p:cNvSpPr/>
          <p:nvPr/>
        </p:nvSpPr>
        <p:spPr>
          <a:xfrm>
            <a:off x="6812280" y="4267200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2" name="grid"/>
          <p:cNvSpPr/>
          <p:nvPr/>
        </p:nvSpPr>
        <p:spPr>
          <a:xfrm>
            <a:off x="6812280" y="3722914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3" name="grid"/>
          <p:cNvSpPr/>
          <p:nvPr/>
        </p:nvSpPr>
        <p:spPr>
          <a:xfrm>
            <a:off x="6812280" y="3178629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4" name="grid"/>
          <p:cNvSpPr/>
          <p:nvPr/>
        </p:nvSpPr>
        <p:spPr>
          <a:xfrm>
            <a:off x="6812280" y="2634343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5" name="grid"/>
          <p:cNvSpPr/>
          <p:nvPr/>
        </p:nvSpPr>
        <p:spPr>
          <a:xfrm>
            <a:off x="6812280" y="2090057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6" name="x-axis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7" name="y-axis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table"/>
          <p:cNvSpPr/>
          <p:nvPr/>
        </p:nvSpPr>
        <p:spPr>
          <a:xfrm>
            <a:off x="6812280" y="2634343"/>
            <a:ext cx="1088571" cy="27214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90806" y="3850495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1.25 m</a:t>
            </a:r>
            <a:endParaRPr lang="en-US" sz="1100" dirty="0"/>
          </a:p>
        </p:txBody>
      </p:sp>
      <p:sp>
        <p:nvSpPr>
          <p:cNvPr id="30" name="ball"/>
          <p:cNvSpPr/>
          <p:nvPr/>
        </p:nvSpPr>
        <p:spPr>
          <a:xfrm>
            <a:off x="7945701" y="246147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ball"/>
          <p:cNvSpPr/>
          <p:nvPr/>
        </p:nvSpPr>
        <p:spPr>
          <a:xfrm>
            <a:off x="8098101" y="246147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89669" y="237003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07829" y="237003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drop vs. launch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Ball A is dropped from a 1.25 m table. At the same moment, Ball B rolls off sideways at 1.8 m/s.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Which hits the floor first?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Does changing Ball B's speed change your answer?</a:t>
            </a:r>
            <a:endParaRPr lang="en-US" sz="2000" dirty="0"/>
          </a:p>
        </p:txBody>
      </p:sp>
      <p:sp>
        <p:nvSpPr>
          <p:cNvPr id="7" name="diagram panel"/>
          <p:cNvSpPr/>
          <p:nvPr/>
        </p:nvSpPr>
        <p:spPr>
          <a:xfrm>
            <a:off x="6647688" y="1925465"/>
            <a:ext cx="4901184" cy="3921470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8" name="grid"/>
          <p:cNvSpPr/>
          <p:nvPr/>
        </p:nvSpPr>
        <p:spPr>
          <a:xfrm flipV="1">
            <a:off x="681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9" name="grid"/>
          <p:cNvSpPr/>
          <p:nvPr/>
        </p:nvSpPr>
        <p:spPr>
          <a:xfrm flipV="1">
            <a:off x="735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0" name="grid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1" name="grid"/>
          <p:cNvSpPr/>
          <p:nvPr/>
        </p:nvSpPr>
        <p:spPr>
          <a:xfrm flipV="1">
            <a:off x="8445137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2" name="grid"/>
          <p:cNvSpPr/>
          <p:nvPr/>
        </p:nvSpPr>
        <p:spPr>
          <a:xfrm flipV="1">
            <a:off x="8989423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3" name="grid"/>
          <p:cNvSpPr/>
          <p:nvPr/>
        </p:nvSpPr>
        <p:spPr>
          <a:xfrm flipV="1">
            <a:off x="9533709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4" name="grid"/>
          <p:cNvSpPr/>
          <p:nvPr/>
        </p:nvSpPr>
        <p:spPr>
          <a:xfrm flipV="1">
            <a:off x="10077994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5" name="grid"/>
          <p:cNvSpPr/>
          <p:nvPr/>
        </p:nvSpPr>
        <p:spPr>
          <a:xfrm flipV="1">
            <a:off x="1062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6" name="grid"/>
          <p:cNvSpPr/>
          <p:nvPr/>
        </p:nvSpPr>
        <p:spPr>
          <a:xfrm flipV="1">
            <a:off x="1116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7" name="grid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8" name="grid"/>
          <p:cNvSpPr/>
          <p:nvPr/>
        </p:nvSpPr>
        <p:spPr>
          <a:xfrm>
            <a:off x="6812280" y="4811486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9" name="grid"/>
          <p:cNvSpPr/>
          <p:nvPr/>
        </p:nvSpPr>
        <p:spPr>
          <a:xfrm>
            <a:off x="6812280" y="4267200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0" name="grid"/>
          <p:cNvSpPr/>
          <p:nvPr/>
        </p:nvSpPr>
        <p:spPr>
          <a:xfrm>
            <a:off x="6812280" y="3722914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1" name="grid"/>
          <p:cNvSpPr/>
          <p:nvPr/>
        </p:nvSpPr>
        <p:spPr>
          <a:xfrm>
            <a:off x="6812280" y="3178629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2" name="grid"/>
          <p:cNvSpPr/>
          <p:nvPr/>
        </p:nvSpPr>
        <p:spPr>
          <a:xfrm>
            <a:off x="6812280" y="2634343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3" name="grid"/>
          <p:cNvSpPr/>
          <p:nvPr/>
        </p:nvSpPr>
        <p:spPr>
          <a:xfrm>
            <a:off x="6812280" y="2090057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4" name="x-axis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y-axis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6" name="table"/>
          <p:cNvSpPr/>
          <p:nvPr/>
        </p:nvSpPr>
        <p:spPr>
          <a:xfrm>
            <a:off x="6812280" y="2634343"/>
            <a:ext cx="1088571" cy="27214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90806" y="3850495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1.25 m</a:t>
            </a:r>
            <a:endParaRPr lang="en-US" sz="1100" dirty="0"/>
          </a:p>
        </p:txBody>
      </p:sp>
      <p:sp>
        <p:nvSpPr>
          <p:cNvPr id="28" name="ball"/>
          <p:cNvSpPr/>
          <p:nvPr/>
        </p:nvSpPr>
        <p:spPr>
          <a:xfrm>
            <a:off x="7945701" y="246147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ball"/>
          <p:cNvSpPr/>
          <p:nvPr/>
        </p:nvSpPr>
        <p:spPr>
          <a:xfrm>
            <a:off x="8098101" y="2461478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89669" y="237003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207829" y="237003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drop vs. launch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Both balls land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at the same time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: 0.51 s, at every launch speed.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dashed lines connect where the balls were at the same moment. They are always at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same height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Ball B just moves sideways too.</a:t>
            </a:r>
            <a:endParaRPr lang="en-US" sz="2000" dirty="0"/>
          </a:p>
        </p:txBody>
      </p:sp>
      <p:sp>
        <p:nvSpPr>
          <p:cNvPr id="7" name="diagram panel"/>
          <p:cNvSpPr/>
          <p:nvPr/>
        </p:nvSpPr>
        <p:spPr>
          <a:xfrm>
            <a:off x="6647688" y="1925465"/>
            <a:ext cx="4901184" cy="3921470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8" name="grid"/>
          <p:cNvSpPr/>
          <p:nvPr/>
        </p:nvSpPr>
        <p:spPr>
          <a:xfrm flipV="1">
            <a:off x="681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9" name="grid"/>
          <p:cNvSpPr/>
          <p:nvPr/>
        </p:nvSpPr>
        <p:spPr>
          <a:xfrm flipV="1">
            <a:off x="735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0" name="grid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1" name="grid"/>
          <p:cNvSpPr/>
          <p:nvPr/>
        </p:nvSpPr>
        <p:spPr>
          <a:xfrm flipV="1">
            <a:off x="8445137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2" name="grid"/>
          <p:cNvSpPr/>
          <p:nvPr/>
        </p:nvSpPr>
        <p:spPr>
          <a:xfrm flipV="1">
            <a:off x="8989423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3" name="grid"/>
          <p:cNvSpPr/>
          <p:nvPr/>
        </p:nvSpPr>
        <p:spPr>
          <a:xfrm flipV="1">
            <a:off x="9533709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4" name="grid"/>
          <p:cNvSpPr/>
          <p:nvPr/>
        </p:nvSpPr>
        <p:spPr>
          <a:xfrm flipV="1">
            <a:off x="10077994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5" name="grid"/>
          <p:cNvSpPr/>
          <p:nvPr/>
        </p:nvSpPr>
        <p:spPr>
          <a:xfrm flipV="1">
            <a:off x="10622280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6" name="grid"/>
          <p:cNvSpPr/>
          <p:nvPr/>
        </p:nvSpPr>
        <p:spPr>
          <a:xfrm flipV="1">
            <a:off x="11166566" y="2090057"/>
            <a:ext cx="0" cy="3592286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7" name="grid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8" name="grid"/>
          <p:cNvSpPr/>
          <p:nvPr/>
        </p:nvSpPr>
        <p:spPr>
          <a:xfrm>
            <a:off x="6812280" y="4811486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9" name="grid"/>
          <p:cNvSpPr/>
          <p:nvPr/>
        </p:nvSpPr>
        <p:spPr>
          <a:xfrm>
            <a:off x="6812280" y="4267200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0" name="grid"/>
          <p:cNvSpPr/>
          <p:nvPr/>
        </p:nvSpPr>
        <p:spPr>
          <a:xfrm>
            <a:off x="6812280" y="3722914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1" name="grid"/>
          <p:cNvSpPr/>
          <p:nvPr/>
        </p:nvSpPr>
        <p:spPr>
          <a:xfrm>
            <a:off x="6812280" y="3178629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2" name="grid"/>
          <p:cNvSpPr/>
          <p:nvPr/>
        </p:nvSpPr>
        <p:spPr>
          <a:xfrm>
            <a:off x="6812280" y="2634343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3" name="grid"/>
          <p:cNvSpPr/>
          <p:nvPr/>
        </p:nvSpPr>
        <p:spPr>
          <a:xfrm>
            <a:off x="6812280" y="2090057"/>
            <a:ext cx="4572000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4" name="x-axis"/>
          <p:cNvSpPr/>
          <p:nvPr/>
        </p:nvSpPr>
        <p:spPr>
          <a:xfrm>
            <a:off x="6812280" y="5355771"/>
            <a:ext cx="457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y-axis"/>
          <p:cNvSpPr/>
          <p:nvPr/>
        </p:nvSpPr>
        <p:spPr>
          <a:xfrm flipV="1">
            <a:off x="7900851" y="2090057"/>
            <a:ext cx="0" cy="359228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6" name="table"/>
          <p:cNvSpPr/>
          <p:nvPr/>
        </p:nvSpPr>
        <p:spPr>
          <a:xfrm>
            <a:off x="6812280" y="2634343"/>
            <a:ext cx="1088571" cy="27214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90806" y="3850495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1.25 m</a:t>
            </a:r>
            <a:endParaRPr lang="en-US" sz="1100" dirty="0"/>
          </a:p>
        </p:txBody>
      </p:sp>
      <p:sp>
        <p:nvSpPr>
          <p:cNvPr id="28" name="same height"/>
          <p:cNvSpPr/>
          <p:nvPr/>
        </p:nvSpPr>
        <p:spPr>
          <a:xfrm>
            <a:off x="8009709" y="2525486"/>
            <a:ext cx="0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29" name="ball"/>
          <p:cNvSpPr/>
          <p:nvPr/>
        </p:nvSpPr>
        <p:spPr>
          <a:xfrm>
            <a:off x="7945701" y="246147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0" name="ball"/>
          <p:cNvSpPr/>
          <p:nvPr/>
        </p:nvSpPr>
        <p:spPr>
          <a:xfrm>
            <a:off x="7945701" y="246147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1" name="same height"/>
          <p:cNvSpPr/>
          <p:nvPr/>
        </p:nvSpPr>
        <p:spPr>
          <a:xfrm>
            <a:off x="8009709" y="2632166"/>
            <a:ext cx="391886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2" name="ball"/>
          <p:cNvSpPr/>
          <p:nvPr/>
        </p:nvSpPr>
        <p:spPr>
          <a:xfrm>
            <a:off x="7945701" y="256815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3" name="ball"/>
          <p:cNvSpPr/>
          <p:nvPr/>
        </p:nvSpPr>
        <p:spPr>
          <a:xfrm>
            <a:off x="8337586" y="256815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4" name="same height"/>
          <p:cNvSpPr/>
          <p:nvPr/>
        </p:nvSpPr>
        <p:spPr>
          <a:xfrm>
            <a:off x="8009709" y="2952206"/>
            <a:ext cx="783771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5" name="ball"/>
          <p:cNvSpPr/>
          <p:nvPr/>
        </p:nvSpPr>
        <p:spPr>
          <a:xfrm>
            <a:off x="7945701" y="288819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6" name="ball"/>
          <p:cNvSpPr/>
          <p:nvPr/>
        </p:nvSpPr>
        <p:spPr>
          <a:xfrm>
            <a:off x="8729472" y="288819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37" name="same height"/>
          <p:cNvSpPr/>
          <p:nvPr/>
        </p:nvSpPr>
        <p:spPr>
          <a:xfrm>
            <a:off x="8009709" y="3485606"/>
            <a:ext cx="1175657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38" name="ball"/>
          <p:cNvSpPr/>
          <p:nvPr/>
        </p:nvSpPr>
        <p:spPr>
          <a:xfrm>
            <a:off x="7945701" y="342159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39" name="ball"/>
          <p:cNvSpPr/>
          <p:nvPr/>
        </p:nvSpPr>
        <p:spPr>
          <a:xfrm>
            <a:off x="9121358" y="342159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40" name="same height"/>
          <p:cNvSpPr/>
          <p:nvPr/>
        </p:nvSpPr>
        <p:spPr>
          <a:xfrm>
            <a:off x="8009709" y="4232366"/>
            <a:ext cx="1567543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41" name="ball"/>
          <p:cNvSpPr/>
          <p:nvPr/>
        </p:nvSpPr>
        <p:spPr>
          <a:xfrm>
            <a:off x="7945701" y="416835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42" name="ball"/>
          <p:cNvSpPr/>
          <p:nvPr/>
        </p:nvSpPr>
        <p:spPr>
          <a:xfrm>
            <a:off x="9513243" y="416835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43" name="same height"/>
          <p:cNvSpPr/>
          <p:nvPr/>
        </p:nvSpPr>
        <p:spPr>
          <a:xfrm>
            <a:off x="8009709" y="5192486"/>
            <a:ext cx="1959429" cy="0"/>
          </a:xfrm>
          <a:prstGeom prst="line">
            <a:avLst/>
          </a:prstGeom>
          <a:noFill/>
          <a:ln w="9525">
            <a:solidFill>
              <a:schemeClr val="tx1">
                <a:alpha val="40000"/>
              </a:schemeClr>
            </a:solidFill>
            <a:prstDash val="dash"/>
          </a:ln>
        </p:spPr>
      </p:sp>
      <p:sp>
        <p:nvSpPr>
          <p:cNvPr id="44" name="ball"/>
          <p:cNvSpPr/>
          <p:nvPr/>
        </p:nvSpPr>
        <p:spPr>
          <a:xfrm>
            <a:off x="7945701" y="5128478"/>
            <a:ext cx="128016" cy="128016"/>
          </a:xfrm>
          <a:prstGeom prst="ellipse">
            <a:avLst/>
          </a:prstGeom>
          <a:solidFill>
            <a:schemeClr val="accent4">
              <a:alpha val="80000"/>
            </a:schemeClr>
          </a:solidFill>
          <a:ln w="12700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45" name="ball"/>
          <p:cNvSpPr/>
          <p:nvPr/>
        </p:nvSpPr>
        <p:spPr>
          <a:xfrm>
            <a:off x="9905129" y="5128478"/>
            <a:ext cx="128016" cy="128016"/>
          </a:xfrm>
          <a:prstGeom prst="ellipse">
            <a:avLst/>
          </a:prstGeom>
          <a:solidFill>
            <a:schemeClr val="accent5">
              <a:alpha val="80000"/>
            </a:scheme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</p:spPr>
      </p:sp>
      <p:sp>
        <p:nvSpPr>
          <p:cNvPr id="46" name="ball"/>
          <p:cNvSpPr/>
          <p:nvPr/>
        </p:nvSpPr>
        <p:spPr>
          <a:xfrm>
            <a:off x="7927413" y="5164618"/>
            <a:ext cx="164592" cy="1645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ball"/>
          <p:cNvSpPr/>
          <p:nvPr/>
        </p:nvSpPr>
        <p:spPr>
          <a:xfrm>
            <a:off x="9906734" y="5164618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55429" y="532006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 (dropped)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9394670" y="532006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 (launched)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Ball A is dropped. At the same moment, Ball B is thrown sideways from the same height. Which hits the ground first?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Ball A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Ball B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They land at the same time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depends on how fast B is thrown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Ball A is dropped. At the same moment, Ball B is thrown sideways from the same height. Which hits the ground first?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Ball A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Ball B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They land at the same time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09651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depends on how fast B is thrown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They fall the same way, because the sideways motion doesn't change the falling.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Ignoring air, what happens to Ball B's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sideways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speed while it falls?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stays the same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speeds up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slows down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becomes zero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Ignoring air, what happens to Ball B's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sideways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speed while it falls?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stays the same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speeds up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slows down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becomes zero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Nothing pushes it sideways after it leaves the table, so its horizontal speed stays constant.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Sideway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2</a:t>
            </a:r>
            <a:endParaRPr lang="en-US" sz="2340" dirty="0"/>
          </a:p>
        </p:txBody>
      </p:sp>
      <p:pic>
        <p:nvPicPr>
          <p:cNvPr id="4" name="Image 0" descr="Sideway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Sideways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2 of 9 · about 6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Horizontal motion: steady speed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Nothing pushes it sideways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Once the ball leaves the table, nothing pushes it sideways (we ignore air). So its horizontal velocity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2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900" baseline="-40000" dirty="0">
                <a:solidFill>
                  <a:schemeClr val="accent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stays the same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the whole time.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horizontal motion is just constant speed:</a:t>
            </a:r>
            <a:endParaRPr lang="en-US" sz="1900" dirty="0"/>
          </a:p>
        </p:txBody>
      </p:sp>
      <p:sp>
        <p:nvSpPr>
          <p:cNvPr id="7" name="panel"/>
          <p:cNvSpPr/>
          <p:nvPr/>
        </p:nvSpPr>
        <p:spPr>
          <a:xfrm>
            <a:off x="548640" y="3794760"/>
            <a:ext cx="56692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7947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x = </a:t>
            </a:r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v</a:t>
            </a:r>
            <a:pPr algn="ctr" indent="0" marL="0">
              <a:buNone/>
            </a:pPr>
            <a:r>
              <a:rPr lang="en-US" sz="2600" baseline="-40000" dirty="0">
                <a:solidFill>
                  <a:schemeClr val="accent2"/>
                </a:solidFill>
              </a:rPr>
              <a:t>x</a:t>
            </a:r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177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 a strobe picture, the ball moves the same distance sideways each time step: the sideways gaps are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equal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0" name="diagram panel"/>
          <p:cNvSpPr/>
          <p:nvPr/>
        </p:nvSpPr>
        <p:spPr>
          <a:xfrm>
            <a:off x="6762725" y="1618488"/>
            <a:ext cx="4671109" cy="4535424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1" name="x-axis"/>
          <p:cNvSpPr/>
          <p:nvPr/>
        </p:nvSpPr>
        <p:spPr>
          <a:xfrm>
            <a:off x="6927317" y="5717950"/>
            <a:ext cx="434192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y-axis"/>
          <p:cNvSpPr/>
          <p:nvPr/>
        </p:nvSpPr>
        <p:spPr>
          <a:xfrm flipV="1">
            <a:off x="7877114" y="1783080"/>
            <a:ext cx="0" cy="4206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table"/>
          <p:cNvSpPr/>
          <p:nvPr/>
        </p:nvSpPr>
        <p:spPr>
          <a:xfrm>
            <a:off x="6927317" y="2325821"/>
            <a:ext cx="949796" cy="33921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guide"/>
          <p:cNvSpPr/>
          <p:nvPr/>
        </p:nvSpPr>
        <p:spPr>
          <a:xfrm>
            <a:off x="7877114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15" name="guide"/>
          <p:cNvSpPr/>
          <p:nvPr/>
        </p:nvSpPr>
        <p:spPr>
          <a:xfrm>
            <a:off x="6927317" y="2325821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16" name="ball"/>
          <p:cNvSpPr/>
          <p:nvPr/>
        </p:nvSpPr>
        <p:spPr>
          <a:xfrm>
            <a:off x="7803962" y="2252669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guide"/>
          <p:cNvSpPr/>
          <p:nvPr/>
        </p:nvSpPr>
        <p:spPr>
          <a:xfrm>
            <a:off x="8419854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18" name="guide"/>
          <p:cNvSpPr/>
          <p:nvPr/>
        </p:nvSpPr>
        <p:spPr>
          <a:xfrm>
            <a:off x="6927317" y="2458792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19" name="ball"/>
          <p:cNvSpPr/>
          <p:nvPr/>
        </p:nvSpPr>
        <p:spPr>
          <a:xfrm>
            <a:off x="8346702" y="238564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guide"/>
          <p:cNvSpPr/>
          <p:nvPr/>
        </p:nvSpPr>
        <p:spPr>
          <a:xfrm>
            <a:off x="8962595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21" name="guide"/>
          <p:cNvSpPr/>
          <p:nvPr/>
        </p:nvSpPr>
        <p:spPr>
          <a:xfrm>
            <a:off x="6927317" y="2857706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22" name="ball"/>
          <p:cNvSpPr/>
          <p:nvPr/>
        </p:nvSpPr>
        <p:spPr>
          <a:xfrm>
            <a:off x="8889443" y="278455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guide"/>
          <p:cNvSpPr/>
          <p:nvPr/>
        </p:nvSpPr>
        <p:spPr>
          <a:xfrm>
            <a:off x="9505335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24" name="guide"/>
          <p:cNvSpPr/>
          <p:nvPr/>
        </p:nvSpPr>
        <p:spPr>
          <a:xfrm>
            <a:off x="6927317" y="3522564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25" name="ball"/>
          <p:cNvSpPr/>
          <p:nvPr/>
        </p:nvSpPr>
        <p:spPr>
          <a:xfrm>
            <a:off x="9432183" y="344941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guide"/>
          <p:cNvSpPr/>
          <p:nvPr/>
        </p:nvSpPr>
        <p:spPr>
          <a:xfrm>
            <a:off x="10048076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27" name="guide"/>
          <p:cNvSpPr/>
          <p:nvPr/>
        </p:nvSpPr>
        <p:spPr>
          <a:xfrm>
            <a:off x="6927317" y="4453364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28" name="ball"/>
          <p:cNvSpPr/>
          <p:nvPr/>
        </p:nvSpPr>
        <p:spPr>
          <a:xfrm>
            <a:off x="9974924" y="438021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guide"/>
          <p:cNvSpPr/>
          <p:nvPr/>
        </p:nvSpPr>
        <p:spPr>
          <a:xfrm>
            <a:off x="10590817" y="2054450"/>
            <a:ext cx="0" cy="3663499"/>
          </a:xfrm>
          <a:prstGeom prst="line">
            <a:avLst/>
          </a:prstGeom>
          <a:noFill/>
          <a:ln w="9525">
            <a:solidFill>
              <a:schemeClr val="accent2">
                <a:alpha val="50000"/>
              </a:schemeClr>
            </a:solidFill>
            <a:prstDash val="dash"/>
          </a:ln>
        </p:spPr>
      </p:sp>
      <p:sp>
        <p:nvSpPr>
          <p:cNvPr id="30" name="guide"/>
          <p:cNvSpPr/>
          <p:nvPr/>
        </p:nvSpPr>
        <p:spPr>
          <a:xfrm>
            <a:off x="6927317" y="5650107"/>
            <a:ext cx="4206240" cy="0"/>
          </a:xfrm>
          <a:prstGeom prst="line">
            <a:avLst/>
          </a:prstGeom>
          <a:noFill/>
          <a:ln w="9525">
            <a:solidFill>
              <a:schemeClr val="accent3">
                <a:alpha val="50000"/>
              </a:schemeClr>
            </a:solidFill>
            <a:prstDash val="dash"/>
          </a:ln>
        </p:spPr>
      </p:sp>
      <p:sp>
        <p:nvSpPr>
          <p:cNvPr id="31" name="ball"/>
          <p:cNvSpPr/>
          <p:nvPr/>
        </p:nvSpPr>
        <p:spPr>
          <a:xfrm>
            <a:off x="10517665" y="5576955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8125" y="19075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equal sideways gaps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853397" y="3951093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vertical gaps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get bigger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horizontal motion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t. To find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or t: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x ÷ t and t = x ÷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4.0 m/s. How far sideways does it go in 0.50 s?</a:t>
            </a:r>
            <a:endParaRPr lang="en-US" sz="17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986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12 m/s. How far sideways does it go in 1.5 s?</a:t>
            </a:r>
            <a:endParaRPr lang="en-US" sz="1700" dirty="0"/>
          </a:p>
        </p:txBody>
      </p:sp>
      <p:sp>
        <p:nvSpPr>
          <p:cNvPr id="13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398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marble rolls off a desk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7.5 m/s and falls for 0.80 s. How far sideways does it land?</a:t>
            </a:r>
            <a:endParaRPr lang="en-US" sz="1700" dirty="0"/>
          </a:p>
        </p:txBody>
      </p:sp>
      <p:sp>
        <p:nvSpPr>
          <p:cNvPr id="16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58114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lands 15 m from a ledge after 2.0 s in the air. What was its horizontal speed?</a:t>
            </a:r>
            <a:endParaRPr lang="en-US" sz="1700" dirty="0"/>
          </a:p>
        </p:txBody>
      </p:sp>
      <p:sp>
        <p:nvSpPr>
          <p:cNvPr id="19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puck slides off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3.2 m/s and lands 9.6 m away. How long was it in the air?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horizontal motion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t. To find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or t: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x ÷ t and t = x ÷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4.0 m/s. How far sideways does it go in 0.50 s?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x = 4.0 × 0.50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2.0 m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8986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12 m/s. How far sideways does it go in 1.5 s?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x = 12 × 1.5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18.0 m</a:t>
            </a:r>
            <a:endParaRPr lang="en-US" sz="1600" dirty="0"/>
          </a:p>
        </p:txBody>
      </p:sp>
      <p:sp>
        <p:nvSpPr>
          <p:cNvPr id="15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7398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marble rolls off a desk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7.5 m/s and falls for 0.80 s. How far sideways does it land?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x = 7.5 × 0.80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6.0 m</a:t>
            </a:r>
            <a:endParaRPr lang="en-US" sz="1600" dirty="0"/>
          </a:p>
        </p:txBody>
      </p:sp>
      <p:sp>
        <p:nvSpPr>
          <p:cNvPr id="19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5811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lands 15 m from a ledge after 2.0 s in the air. What was its horizontal speed?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5811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15 ÷ 2.0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7.5 m/s</a:t>
            </a:r>
            <a:endParaRPr lang="en-US" sz="1600" dirty="0"/>
          </a:p>
        </p:txBody>
      </p:sp>
      <p:sp>
        <p:nvSpPr>
          <p:cNvPr id="23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54223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puck slides off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3.2 m/s and lands 9.6 m away. How long was it in the air?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9.6 ÷ 3.2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3.0 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a strobe picture of a ball rolling off a table, the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sideways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gaps between images are…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equal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getting bigger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getting smaller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zero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a strobe picture of a ball rolling off a table, the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sideways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gaps between images are…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equal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getting bigger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getting smaller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zero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Horizontal speed stays constant, so the ball moves the same distance sideways in each time step.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leaves a table at 3.0 m/s. How far sideways has it moved after 0.40 s?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0.75 m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1.2 m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3.4 m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7.5 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leaves a table at 3.0 m/s. How far sideways has it moved after 0.40 s?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0.75 m</a:t>
            </a:r>
            <a:endParaRPr lang="en-US" sz="2000" dirty="0"/>
          </a:p>
        </p:txBody>
      </p:sp>
      <p:sp>
        <p:nvSpPr>
          <p:cNvPr id="10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1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1.2 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3.4 m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7.5 m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 = 3.0 × 0.40 = 1.2 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Falling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3</a:t>
            </a:r>
            <a:endParaRPr lang="en-US" sz="2340" dirty="0"/>
          </a:p>
        </p:txBody>
      </p:sp>
      <p:pic>
        <p:nvPicPr>
          <p:cNvPr id="4" name="Image 0" descr="Fall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Falling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3 of 9 · about 7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Vertical motion: falling from rest</a:t>
            </a:r>
            <a:endParaRPr 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Starts at zero, speeds up downward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ball launched straight sideways has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 vertical speed at the start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 Vertically, it acts just like a dropped ball.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Gravity speeds it up downward by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 = 9.8 m/s²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: it gains 9.8 m/s of downward speed every second.</a:t>
            </a:r>
            <a:endParaRPr lang="en-US" sz="1900" dirty="0"/>
          </a:p>
        </p:txBody>
      </p:sp>
      <p:sp>
        <p:nvSpPr>
          <p:cNvPr id="7" name="panel"/>
          <p:cNvSpPr/>
          <p:nvPr/>
        </p:nvSpPr>
        <p:spPr>
          <a:xfrm>
            <a:off x="548640" y="4206240"/>
            <a:ext cx="26974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2062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v</a:t>
            </a:r>
            <a:pPr algn="ctr" indent="0" marL="0">
              <a:buNone/>
            </a:pPr>
            <a:r>
              <a:rPr lang="en-US" sz="2400" baseline="-40000" dirty="0">
                <a:solidFill>
                  <a:schemeClr val="accent3"/>
                </a:solidFill>
              </a:rPr>
              <a:t>y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= gt</a:t>
            </a:r>
            <a:endParaRPr lang="en-US" sz="2400" dirty="0"/>
          </a:p>
        </p:txBody>
      </p:sp>
      <p:sp>
        <p:nvSpPr>
          <p:cNvPr id="9" name="panel"/>
          <p:cNvSpPr/>
          <p:nvPr/>
        </p:nvSpPr>
        <p:spPr>
          <a:xfrm>
            <a:off x="3520440" y="4206240"/>
            <a:ext cx="26974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42062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 = ½gt²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377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600" baseline="-40000" dirty="0">
                <a:solidFill>
                  <a:schemeClr val="accent3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= downward speed (m/s), d = distance fallen (m).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822960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Time t (s)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3"/>
                          </a:solidFill>
                        </a:rPr>
                        <a:t>v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chemeClr val="accent3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9.8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19.6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29.4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 (m)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19.6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44.1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panel"/>
          <p:cNvSpPr/>
          <p:nvPr/>
        </p:nvSpPr>
        <p:spPr>
          <a:xfrm>
            <a:off x="6675120" y="420624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76288" y="4315968"/>
            <a:ext cx="4535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Speed grows by the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same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9.8 m/s each second. Distance fallen grows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faster and faster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, so vertical gaps get bigger.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the falling clock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ball falls from rest. Fill in the table using v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gt and d = ½gt².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t (s)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Downward speed v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Distance fallen d (m)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the falling clock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ball falls from rest. Fill in the table using v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gt and d = ½gt².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t (s)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Downward speed v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9.8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14.7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19.6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24.5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Distance fallen d (m)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19.6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30.6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panel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808" y="4864608"/>
            <a:ext cx="10661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goes up by the same 4.9 m/s every half second (a straight line on a graph). d grows faster each time (a curve).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vertical motion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gt and d = ½gt², with g = 9.8 m/s². Square the time first.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roof and falls for 2.0 s. What is its downward speed?</a:t>
            </a:r>
            <a:endParaRPr lang="en-US" sz="17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986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0.50 s. How far has it fallen?</a:t>
            </a:r>
            <a:endParaRPr lang="en-US" sz="1700" dirty="0"/>
          </a:p>
        </p:txBody>
      </p:sp>
      <p:sp>
        <p:nvSpPr>
          <p:cNvPr id="13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398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1.5 s. How far has it fallen?</a:t>
            </a:r>
            <a:endParaRPr lang="en-US" sz="1700" dirty="0"/>
          </a:p>
        </p:txBody>
      </p:sp>
      <p:sp>
        <p:nvSpPr>
          <p:cNvPr id="16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58114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stone falls from a cliff for 3.0 s. What is its downward speed?</a:t>
            </a:r>
            <a:endParaRPr lang="en-US" sz="1700" dirty="0"/>
          </a:p>
        </p:txBody>
      </p:sp>
      <p:sp>
        <p:nvSpPr>
          <p:cNvPr id="19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0.80 s. How far has it fallen?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vertical motion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gt and d = ½gt², with g = 9.8 m/s². Square the time first.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roof and falls for 2.0 s. What is its downward speed?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y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9.8 × 2.0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19.6 m/s</a:t>
            </a:r>
            <a:endParaRPr lang="en-US" sz="1600" dirty="0"/>
          </a:p>
        </p:txBody>
      </p:sp>
      <p:sp>
        <p:nvSpPr>
          <p:cNvPr id="11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8986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0.50 s. How far has it fallen?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 = ½ × 9.8 × 0.25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1.2 m</a:t>
            </a:r>
            <a:endParaRPr lang="en-US" sz="1600" dirty="0"/>
          </a:p>
        </p:txBody>
      </p:sp>
      <p:sp>
        <p:nvSpPr>
          <p:cNvPr id="15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7398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1.5 s. How far has it fallen?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 = ½ × 9.8 × 2.25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11.0 m</a:t>
            </a:r>
            <a:endParaRPr lang="en-US" sz="1600" dirty="0"/>
          </a:p>
        </p:txBody>
      </p:sp>
      <p:sp>
        <p:nvSpPr>
          <p:cNvPr id="19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5811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stone falls from a cliff for 3.0 s. What is its downward speed?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5811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y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9.8 × 3.0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29.4 m/s</a:t>
            </a:r>
            <a:endParaRPr lang="en-US" sz="1600" dirty="0"/>
          </a:p>
        </p:txBody>
      </p:sp>
      <p:sp>
        <p:nvSpPr>
          <p:cNvPr id="23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54223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falls for 0.80 s. How far has it fallen?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 = ½ × 9.8 × 0.64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3.1 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is launched straight sideways off a table. What is its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vertical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speed at the moment it leaves the table?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 m/s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9.8 m/s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same as its sideways speed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depends on the table height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is launched straight sideways off a table. What is its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vertical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speed at the moment it leaves the table?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 m/s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9.8 m/s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same as its sideways speed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depends on the table height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All of the launch speed is sideways, so vertically it starts from rest, like a dropped ball.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 the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vertical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gaps in a strobe picture get bigger as the ball falls?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ball speeds up downward, so it falls farther each time step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ball slows down sideways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camera speeds up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Gravity gets stronger near the floor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 the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vertical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gaps in a strobe picture get bigger as the ball falls?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ball speeds up downward, so it falls farther each time step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ball slows down sideways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camera speeds up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Gravity gets stronger near the floor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Its downward speed grows by 9.8 m/s every second, so each time step covers more distance.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Time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4</a:t>
            </a:r>
            <a:endParaRPr lang="en-US" sz="2340" dirty="0"/>
          </a:p>
        </p:txBody>
      </p:sp>
      <p:pic>
        <p:nvPicPr>
          <p:cNvPr id="4" name="Image 0" descr="Tim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Time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4 of 9 · about 7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How long is it in the air?</a:t>
            </a:r>
            <a:endParaRPr lang="en-US" sz="4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Only the height decides the time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Because the motions are independent, the time in the air depends only on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how high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 starts (and on g). The sideways speed doesn't matter.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Start from d = ½gt², with d = the height h, and solve for t:</a:t>
            </a:r>
            <a:endParaRPr lang="en-US" sz="2000" dirty="0"/>
          </a:p>
        </p:txBody>
      </p:sp>
      <p:sp>
        <p:nvSpPr>
          <p:cNvPr id="7" name="panel"/>
          <p:cNvSpPr/>
          <p:nvPr/>
        </p:nvSpPr>
        <p:spPr>
          <a:xfrm>
            <a:off x="3291840" y="3474720"/>
            <a:ext cx="55778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34747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 = √( 2h ÷ g )</a:t>
            </a:r>
            <a:endParaRPr lang="en-US" sz="3000" dirty="0"/>
          </a:p>
        </p:txBody>
      </p:sp>
      <p:sp>
        <p:nvSpPr>
          <p:cNvPr id="9" name="panel"/>
          <p:cNvSpPr/>
          <p:nvPr/>
        </p:nvSpPr>
        <p:spPr>
          <a:xfrm>
            <a:off x="548640" y="45720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681728"/>
            <a:ext cx="10661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Calculator order: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 × h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then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÷ 9.8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then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√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 In the built-in calculator, type √(2*1.2/9.8).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off the lab bench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63677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Worked example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marble rolls off a lab bench that is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1.2 m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high.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long is it in the air?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What do you know? Which equation do you need?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off the lab bench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Known: h = 1.2 m, g = 9.8 m/s². Only the height matters for time.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 = √(2 × 1.2 ÷ 9.8)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  = √(2.4 ÷ 9.8)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  = √0.245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  =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0.49 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5"/>
                </a:solidFill>
              </a:rPr>
              <a:t>Check: about half a second to fall 1.2 m, like a dropped pencil. A faster marble would take the same 0.49 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time in the air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t = √(2h ÷ 9.8). Round to two decimal places.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ledge 4.9 m high. How long is it in the air?</a:t>
            </a:r>
            <a:endParaRPr lang="en-US" sz="17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986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19.6 m cliff. How long is it in the air?</a:t>
            </a:r>
            <a:endParaRPr lang="en-US" sz="1700" dirty="0"/>
          </a:p>
        </p:txBody>
      </p:sp>
      <p:sp>
        <p:nvSpPr>
          <p:cNvPr id="13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398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toy car drives off a 0.80 m table. How long is it in the air?</a:t>
            </a:r>
            <a:endParaRPr lang="en-US" sz="1700" dirty="0"/>
          </a:p>
        </p:txBody>
      </p:sp>
      <p:sp>
        <p:nvSpPr>
          <p:cNvPr id="16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58114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diver runs straight off a 45 m cliff. How long until the water?</a:t>
            </a:r>
            <a:endParaRPr lang="en-US" sz="1700" dirty="0"/>
          </a:p>
        </p:txBody>
      </p:sp>
      <p:sp>
        <p:nvSpPr>
          <p:cNvPr id="19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skateboard rolls off a 2.5 m wall. How long is it in the air?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time in the air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t = √(2h ÷ 9.8). Round to two decimal places.</a:t>
            </a:r>
            <a:endParaRPr lang="en-US" sz="1700" dirty="0"/>
          </a:p>
        </p:txBody>
      </p:sp>
      <p:sp>
        <p:nvSpPr>
          <p:cNvPr id="6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574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ledge 4.9 m high. How long is it in the air?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√(9.8 ÷ 9.8)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1.00 s</a:t>
            </a:r>
            <a:endParaRPr lang="en-US" sz="16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986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19.6 m cliff. How long is it in the air?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√(39.2 ÷ 9.8) = √4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2.00 s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398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toy car drives off a 0.80 m table. How long is it in the air?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√(1.6 ÷ 9.8)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0.40 s</a:t>
            </a:r>
            <a:endParaRPr lang="en-US" sz="1600" dirty="0"/>
          </a:p>
        </p:txBody>
      </p:sp>
      <p:sp>
        <p:nvSpPr>
          <p:cNvPr id="18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811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diver runs straight off a 45 m cliff. How long until the water?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5811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√(90 ÷ 9.8)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3.03 s</a:t>
            </a:r>
            <a:endParaRPr lang="en-US" sz="1600" dirty="0"/>
          </a:p>
        </p:txBody>
      </p:sp>
      <p:sp>
        <p:nvSpPr>
          <p:cNvPr id="22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223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skateboard rolls off a 2.5 m wall. How long is it in the air?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√(5.0 ÷ 9.8)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0.71 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Ball A rolls off a 1.0 m table at 2 m/s. Ball B rolls off the same table at 6 m/s. Which is in the air longer?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Ball A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Ball B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Same time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Can't tell without the mass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Ball A rolls off a 1.0 m table at 2 m/s. Ball B rolls off the same table at 6 m/s. Which is in the air longer?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Ball A</a:t>
            </a:r>
            <a:endParaRPr lang="en-US" sz="2000" dirty="0"/>
          </a:p>
        </p:txBody>
      </p:sp>
      <p:sp>
        <p:nvSpPr>
          <p:cNvPr id="10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Ball B</a:t>
            </a:r>
            <a:endParaRPr lang="en-US" sz="2000" dirty="0"/>
          </a:p>
        </p:txBody>
      </p:sp>
      <p:sp>
        <p:nvSpPr>
          <p:cNvPr id="14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5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Same time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09651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Can't tell without the mass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Time in the air depends only on the height. B just lands farther away.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change makes a sideways-launched ball stay in the air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longer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Launch it from higher up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Throw it faster sideways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a heavier ball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Throw it slower sideways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change makes a sideways-launched ball stay in the air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longer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Launch it from higher up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Throw it faster sideways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Use a heavier ball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Throw it slower sideways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 = √(2h ÷ g): only a bigger height gives more time.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How far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5</a:t>
            </a:r>
            <a:endParaRPr lang="en-US" sz="2340" dirty="0"/>
          </a:p>
        </p:txBody>
      </p:sp>
      <p:pic>
        <p:nvPicPr>
          <p:cNvPr id="4" name="Image 0" descr="How f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How far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5 of 9 · about 10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How far does it go?</a:t>
            </a:r>
            <a:endParaRPr lang="en-US" sz="4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x side and the y side, together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645920"/>
          <a:ext cx="9601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383280"/>
                <a:gridCol w="3383280"/>
              </a:tblGrid>
              <a:tr h="566928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Horizontal (x)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Vertical (y)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Force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gravity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Acceleration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 = 9.8 m/s² down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Starting velocity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Velocity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stays the same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gt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 = v</a:t>
                      </a:r>
                      <a:pPr algn="ctr" indent="0" marL="0">
                        <a:buNone/>
                      </a:pPr>
                      <a:r>
                        <a:rPr lang="en-US" sz="20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 = ½gt²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Shared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the same t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which side does it go 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Sort each item into the horizontal or vertical column.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x = v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2139696" y="224028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9696" y="22402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 = ½gt²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3368650" y="224028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8650" y="2240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gt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4776826" y="2240280"/>
            <a:ext cx="181782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6826" y="2240280"/>
            <a:ext cx="18178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acceleration = 0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6722669" y="2240280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2669" y="2240280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acceleration = 9.8 m/s² down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731520" y="2770632"/>
            <a:ext cx="235549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770632"/>
            <a:ext cx="2355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velocity never changes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3215030" y="2770632"/>
            <a:ext cx="172821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15030" y="277063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at 0 m/s</a:t>
            </a:r>
            <a:endParaRPr lang="en-US" sz="1500" dirty="0"/>
          </a:p>
        </p:txBody>
      </p:sp>
      <p:sp>
        <p:nvSpPr>
          <p:cNvPr id="22" name="chip"/>
          <p:cNvSpPr/>
          <p:nvPr/>
        </p:nvSpPr>
        <p:spPr>
          <a:xfrm>
            <a:off x="5071262" y="2770632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1262" y="2770632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pulled by gravity</a:t>
            </a:r>
            <a:endParaRPr lang="en-US" sz="1500" dirty="0"/>
          </a:p>
        </p:txBody>
      </p:sp>
      <p:sp>
        <p:nvSpPr>
          <p:cNvPr id="24" name="bin Horizontal (x)"/>
          <p:cNvSpPr/>
          <p:nvPr/>
        </p:nvSpPr>
        <p:spPr>
          <a:xfrm>
            <a:off x="548640" y="3749040"/>
            <a:ext cx="541782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731520" y="38587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Horizontal (x)</a:t>
            </a:r>
            <a:endParaRPr lang="en-US" sz="1900" dirty="0"/>
          </a:p>
        </p:txBody>
      </p:sp>
      <p:sp>
        <p:nvSpPr>
          <p:cNvPr id="26" name="bin Vertical (y)"/>
          <p:cNvSpPr/>
          <p:nvPr/>
        </p:nvSpPr>
        <p:spPr>
          <a:xfrm>
            <a:off x="6195060" y="3749040"/>
            <a:ext cx="541782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377940" y="38587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Vertical (y)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which side does it go 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Sort each item into the horizontal or vertical column.</a:t>
            </a:r>
            <a:endParaRPr lang="en-US" sz="1800" dirty="0"/>
          </a:p>
        </p:txBody>
      </p:sp>
      <p:sp>
        <p:nvSpPr>
          <p:cNvPr id="7" name="bin Horizontal (x)"/>
          <p:cNvSpPr/>
          <p:nvPr/>
        </p:nvSpPr>
        <p:spPr>
          <a:xfrm>
            <a:off x="548640" y="2148840"/>
            <a:ext cx="541782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Horizontal (x)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x = v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2139696" y="2788920"/>
            <a:ext cx="181782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39696" y="2788920"/>
            <a:ext cx="18178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acceleration = 0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731520" y="3319272"/>
            <a:ext cx="235549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19272"/>
            <a:ext cx="2355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velocity never changes</a:t>
            </a:r>
            <a:endParaRPr lang="en-US" sz="1500" dirty="0"/>
          </a:p>
        </p:txBody>
      </p:sp>
      <p:sp>
        <p:nvSpPr>
          <p:cNvPr id="15" name="bin Vertical (y)"/>
          <p:cNvSpPr/>
          <p:nvPr/>
        </p:nvSpPr>
        <p:spPr>
          <a:xfrm>
            <a:off x="6195060" y="2148840"/>
            <a:ext cx="541782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377940" y="22585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Vertical (y)</a:t>
            </a:r>
            <a:endParaRPr lang="en-US" sz="1900" dirty="0"/>
          </a:p>
        </p:txBody>
      </p:sp>
      <p:sp>
        <p:nvSpPr>
          <p:cNvPr id="17" name="chip"/>
          <p:cNvSpPr/>
          <p:nvPr/>
        </p:nvSpPr>
        <p:spPr>
          <a:xfrm>
            <a:off x="6377940" y="278892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7940" y="278892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 = ½gt²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7606894" y="278892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06894" y="2788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gt</a:t>
            </a:r>
            <a:endParaRPr lang="en-US" sz="1500" dirty="0"/>
          </a:p>
        </p:txBody>
      </p:sp>
      <p:sp>
        <p:nvSpPr>
          <p:cNvPr id="21" name="chip"/>
          <p:cNvSpPr/>
          <p:nvPr/>
        </p:nvSpPr>
        <p:spPr>
          <a:xfrm>
            <a:off x="6377940" y="3319272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77940" y="3319272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acceleration = 9.8 m/s² down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9399118" y="3319272"/>
            <a:ext cx="172821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99118" y="33192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at 0 m/s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6377940" y="3849624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77940" y="3849624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pulled by gravity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Which quantity connects them?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Look at both columns. Which quantity appears on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both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sides and connects them?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Time, t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Velocity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Acceleration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Distance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Which quantity connects them?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Look at both columns. Which quantity appears on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both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sides and connects them?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Time, 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Velocity</a:t>
            </a:r>
            <a:endParaRPr lang="en-US" sz="20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Acceleration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Distance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same t goes into 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 and d = ½gt². Find t from one side, then use it on the other.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Time is the link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The two motions are separate, but they share one thing: 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time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. The ball moves sideways for exactly as long as it falls.</a:t>
            </a:r>
            <a:endParaRPr lang="en-US" sz="2100" dirty="0"/>
          </a:p>
        </p:txBody>
      </p:sp>
      <p:sp>
        <p:nvSpPr>
          <p:cNvPr id="7" name="step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834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Vertical: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Use the height to find the time:  t = √(2h ÷ g)</a:t>
            </a:r>
            <a:endParaRPr lang="en-US" sz="2200" dirty="0"/>
          </a:p>
        </p:txBody>
      </p:sp>
      <p:sp>
        <p:nvSpPr>
          <p:cNvPr id="10" name="step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4023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Horizontal: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Use that time with the sideways speed:  x = 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</a:t>
            </a:r>
            <a:endParaRPr lang="en-US" sz="2200" dirty="0"/>
          </a:p>
        </p:txBody>
      </p:sp>
      <p:sp>
        <p:nvSpPr>
          <p:cNvPr id="13" name="panel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5321808"/>
            <a:ext cx="10661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Working backward? Find t from the height, then v</a:t>
            </a:r>
            <a:pPr indent="0" marL="0">
              <a:spcAft>
                <a:spcPts val="600"/>
              </a:spcAft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= x ÷ 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how far?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63677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Worked example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ball rolls off a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1.25 m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table at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2.0 m/s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far from the table does it land?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Which step comes first?</a:t>
            </a:r>
            <a:endParaRPr lang="en-US" sz="2200" dirty="0"/>
          </a:p>
        </p:txBody>
      </p:sp>
      <p:sp>
        <p:nvSpPr>
          <p:cNvPr id="6" name="diagram panel"/>
          <p:cNvSpPr/>
          <p:nvPr/>
        </p:nvSpPr>
        <p:spPr>
          <a:xfrm>
            <a:off x="6849357" y="1618488"/>
            <a:ext cx="4497846" cy="4535424"/>
          </a:xfrm>
          <a:prstGeom prst="roundRect">
            <a:avLst>
              <a:gd name="adj" fmla="val 2440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7" name="ground"/>
          <p:cNvSpPr/>
          <p:nvPr/>
        </p:nvSpPr>
        <p:spPr>
          <a:xfrm>
            <a:off x="7013949" y="5139172"/>
            <a:ext cx="411272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table"/>
          <p:cNvSpPr/>
          <p:nvPr/>
        </p:nvSpPr>
        <p:spPr>
          <a:xfrm>
            <a:off x="7013949" y="2342429"/>
            <a:ext cx="783088" cy="2796743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39733" y="35853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1.25 m</a:t>
            </a:r>
            <a:endParaRPr lang="en-US" sz="1200" dirty="0"/>
          </a:p>
        </p:txBody>
      </p:sp>
      <p:sp>
        <p:nvSpPr>
          <p:cNvPr id="10" name="path"/>
          <p:cNvSpPr/>
          <p:nvPr/>
        </p:nvSpPr>
        <p:spPr>
          <a:xfrm>
            <a:off x="7797037" y="2342429"/>
            <a:ext cx="75337" cy="3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1" name="path"/>
          <p:cNvSpPr/>
          <p:nvPr/>
        </p:nvSpPr>
        <p:spPr>
          <a:xfrm>
            <a:off x="7872374" y="2345536"/>
            <a:ext cx="75337" cy="932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2" name="path"/>
          <p:cNvSpPr/>
          <p:nvPr/>
        </p:nvSpPr>
        <p:spPr>
          <a:xfrm>
            <a:off x="7947711" y="2354859"/>
            <a:ext cx="75337" cy="1553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3" name="path"/>
          <p:cNvSpPr/>
          <p:nvPr/>
        </p:nvSpPr>
        <p:spPr>
          <a:xfrm>
            <a:off x="8023048" y="2370396"/>
            <a:ext cx="75337" cy="217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4" name="path"/>
          <p:cNvSpPr/>
          <p:nvPr/>
        </p:nvSpPr>
        <p:spPr>
          <a:xfrm>
            <a:off x="8098385" y="2392148"/>
            <a:ext cx="75337" cy="2796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8173722" y="2420116"/>
            <a:ext cx="75337" cy="3418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8249059" y="2454298"/>
            <a:ext cx="75337" cy="4039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324396" y="2494696"/>
            <a:ext cx="75337" cy="466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399733" y="2541308"/>
            <a:ext cx="75337" cy="5282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475070" y="2594135"/>
            <a:ext cx="75337" cy="590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550407" y="2653178"/>
            <a:ext cx="75337" cy="6525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625744" y="2718435"/>
            <a:ext cx="75337" cy="714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701081" y="2789908"/>
            <a:ext cx="75337" cy="7768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776418" y="2867595"/>
            <a:ext cx="75337" cy="8390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851755" y="2951497"/>
            <a:ext cx="75337" cy="9011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927092" y="3041614"/>
            <a:ext cx="75337" cy="963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9002429" y="3137947"/>
            <a:ext cx="75337" cy="10254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9077766" y="3240494"/>
            <a:ext cx="75337" cy="10876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9153103" y="3349256"/>
            <a:ext cx="75337" cy="11497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9228440" y="3464233"/>
            <a:ext cx="75337" cy="1211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303777" y="3585426"/>
            <a:ext cx="75337" cy="1274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379114" y="3712833"/>
            <a:ext cx="75337" cy="13362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454451" y="3846455"/>
            <a:ext cx="75337" cy="13983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529788" y="3986292"/>
            <a:ext cx="75337" cy="1460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605125" y="4132344"/>
            <a:ext cx="75337" cy="15226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680462" y="4284611"/>
            <a:ext cx="75337" cy="15848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755799" y="4443093"/>
            <a:ext cx="75337" cy="16469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831136" y="4607790"/>
            <a:ext cx="75337" cy="1709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906473" y="4778703"/>
            <a:ext cx="75337" cy="17712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9981810" y="4955830"/>
            <a:ext cx="75337" cy="1833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vector"/>
          <p:cNvSpPr/>
          <p:nvPr/>
        </p:nvSpPr>
        <p:spPr>
          <a:xfrm>
            <a:off x="7797037" y="2342429"/>
            <a:ext cx="23050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100695" y="200410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2.0 m/s</a:t>
            </a:r>
            <a:endParaRPr lang="en-US" sz="1200" dirty="0"/>
          </a:p>
        </p:txBody>
      </p:sp>
      <p:sp>
        <p:nvSpPr>
          <p:cNvPr id="42" name="ball"/>
          <p:cNvSpPr/>
          <p:nvPr/>
        </p:nvSpPr>
        <p:spPr>
          <a:xfrm>
            <a:off x="7733029" y="2278421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how far?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Step 1, vertical: t = √(2 × 1.25 ÷ 9.8) = √0.255 =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0.51 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Step 2, horizontal: x = v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 = 2.0 × 0.51 =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1.0 m</a:t>
            </a:r>
            <a:endParaRPr lang="en-US" sz="2200" dirty="0"/>
          </a:p>
        </p:txBody>
      </p:sp>
      <p:sp>
        <p:nvSpPr>
          <p:cNvPr id="6" name="diagram panel"/>
          <p:cNvSpPr/>
          <p:nvPr/>
        </p:nvSpPr>
        <p:spPr>
          <a:xfrm>
            <a:off x="6849357" y="1618488"/>
            <a:ext cx="4497846" cy="4535424"/>
          </a:xfrm>
          <a:prstGeom prst="roundRect">
            <a:avLst>
              <a:gd name="adj" fmla="val 2440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7" name="ground"/>
          <p:cNvSpPr/>
          <p:nvPr/>
        </p:nvSpPr>
        <p:spPr>
          <a:xfrm>
            <a:off x="7013949" y="5139172"/>
            <a:ext cx="411272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table"/>
          <p:cNvSpPr/>
          <p:nvPr/>
        </p:nvSpPr>
        <p:spPr>
          <a:xfrm>
            <a:off x="7013949" y="2342429"/>
            <a:ext cx="783088" cy="2796743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39733" y="35853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1.25 m</a:t>
            </a:r>
            <a:endParaRPr lang="en-US" sz="1200" dirty="0"/>
          </a:p>
        </p:txBody>
      </p:sp>
      <p:sp>
        <p:nvSpPr>
          <p:cNvPr id="10" name="path"/>
          <p:cNvSpPr/>
          <p:nvPr/>
        </p:nvSpPr>
        <p:spPr>
          <a:xfrm>
            <a:off x="7797037" y="2342429"/>
            <a:ext cx="75337" cy="3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1" name="path"/>
          <p:cNvSpPr/>
          <p:nvPr/>
        </p:nvSpPr>
        <p:spPr>
          <a:xfrm>
            <a:off x="7872374" y="2345536"/>
            <a:ext cx="75337" cy="932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2" name="path"/>
          <p:cNvSpPr/>
          <p:nvPr/>
        </p:nvSpPr>
        <p:spPr>
          <a:xfrm>
            <a:off x="7947711" y="2354859"/>
            <a:ext cx="75337" cy="1553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3" name="path"/>
          <p:cNvSpPr/>
          <p:nvPr/>
        </p:nvSpPr>
        <p:spPr>
          <a:xfrm>
            <a:off x="8023048" y="2370396"/>
            <a:ext cx="75337" cy="217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4" name="path"/>
          <p:cNvSpPr/>
          <p:nvPr/>
        </p:nvSpPr>
        <p:spPr>
          <a:xfrm>
            <a:off x="8098385" y="2392148"/>
            <a:ext cx="75337" cy="2796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8173722" y="2420116"/>
            <a:ext cx="75337" cy="3418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8249059" y="2454298"/>
            <a:ext cx="75337" cy="4039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324396" y="2494696"/>
            <a:ext cx="75337" cy="466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399733" y="2541308"/>
            <a:ext cx="75337" cy="5282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475070" y="2594135"/>
            <a:ext cx="75337" cy="590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550407" y="2653178"/>
            <a:ext cx="75337" cy="6525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625744" y="2718435"/>
            <a:ext cx="75337" cy="714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701081" y="2789908"/>
            <a:ext cx="75337" cy="7768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776418" y="2867595"/>
            <a:ext cx="75337" cy="8390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851755" y="2951497"/>
            <a:ext cx="75337" cy="9011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927092" y="3041614"/>
            <a:ext cx="75337" cy="963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9002429" y="3137947"/>
            <a:ext cx="75337" cy="10254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9077766" y="3240494"/>
            <a:ext cx="75337" cy="10876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9153103" y="3349256"/>
            <a:ext cx="75337" cy="11497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9228440" y="3464233"/>
            <a:ext cx="75337" cy="1211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303777" y="3585426"/>
            <a:ext cx="75337" cy="1274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379114" y="3712833"/>
            <a:ext cx="75337" cy="13362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454451" y="3846455"/>
            <a:ext cx="75337" cy="13983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529788" y="3986292"/>
            <a:ext cx="75337" cy="1460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605125" y="4132344"/>
            <a:ext cx="75337" cy="15226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680462" y="4284611"/>
            <a:ext cx="75337" cy="15848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755799" y="4443093"/>
            <a:ext cx="75337" cy="16469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831136" y="4607790"/>
            <a:ext cx="75337" cy="1709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906473" y="4778703"/>
            <a:ext cx="75337" cy="17712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9981810" y="4955830"/>
            <a:ext cx="75337" cy="18334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vector"/>
          <p:cNvSpPr/>
          <p:nvPr/>
        </p:nvSpPr>
        <p:spPr>
          <a:xfrm>
            <a:off x="7797037" y="2342429"/>
            <a:ext cx="23050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100695" y="200410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2.0 m/s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53103" y="288616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 = 0.51 s</a:t>
            </a:r>
            <a:endParaRPr lang="en-US" sz="1300" dirty="0"/>
          </a:p>
        </p:txBody>
      </p:sp>
      <p:sp>
        <p:nvSpPr>
          <p:cNvPr id="43" name="x"/>
          <p:cNvSpPr/>
          <p:nvPr/>
        </p:nvSpPr>
        <p:spPr>
          <a:xfrm>
            <a:off x="7797037" y="5230612"/>
            <a:ext cx="226011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69561" y="52397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x = 1.0 m</a:t>
            </a:r>
            <a:endParaRPr lang="en-US" sz="1300" dirty="0"/>
          </a:p>
        </p:txBody>
      </p:sp>
      <p:sp>
        <p:nvSpPr>
          <p:cNvPr id="45" name="vector"/>
          <p:cNvSpPr/>
          <p:nvPr/>
        </p:nvSpPr>
        <p:spPr>
          <a:xfrm>
            <a:off x="10057147" y="5139172"/>
            <a:ext cx="23050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vector"/>
          <p:cNvSpPr/>
          <p:nvPr/>
        </p:nvSpPr>
        <p:spPr>
          <a:xfrm>
            <a:off x="10287653" y="5139172"/>
            <a:ext cx="0" cy="570474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7" name="vector"/>
          <p:cNvSpPr/>
          <p:nvPr/>
        </p:nvSpPr>
        <p:spPr>
          <a:xfrm>
            <a:off x="10057147" y="5139172"/>
            <a:ext cx="230506" cy="57047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10360805" y="5268961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3"/>
                </a:solidFill>
              </a:rPr>
              <a:t>y</a:t>
            </a:r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 = 5.0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234187" y="52397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68°</a:t>
            </a:r>
            <a:endParaRPr lang="en-US" sz="1200" dirty="0"/>
          </a:p>
        </p:txBody>
      </p:sp>
      <p:sp>
        <p:nvSpPr>
          <p:cNvPr id="50" name="ball"/>
          <p:cNvSpPr/>
          <p:nvPr/>
        </p:nvSpPr>
        <p:spPr>
          <a:xfrm>
            <a:off x="9993139" y="5075164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land it in the cup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Each cup sits on the floor past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1.0 m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table. What launch speed lands the ball in each cup?</a:t>
            </a:r>
            <a:endParaRPr lang="en-US" sz="2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3108960"/>
                <a:gridCol w="3566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Cup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Distance from table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in the air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Launch speed 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1.20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2.00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0.70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land it in the cup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Each cup sits on the floor past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1.0 m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table. What launch speed lands the ball in each cup?</a:t>
            </a:r>
            <a:endParaRPr lang="en-US" sz="2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3108960"/>
                <a:gridCol w="3566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Cup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Distance from table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in the air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Launch speed 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1.20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0.45 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2.66 m/s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2.00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0.45 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4.43 m/s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0.70 m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0.45 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1.55 m/s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panel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808" y="5047488"/>
            <a:ext cx="10661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Same table, so the same time (0.45 s) for every cup. Then v</a:t>
            </a:r>
            <a:pPr indent="0" marL="0">
              <a:spcAft>
                <a:spcPts val="600"/>
              </a:spcAft>
              <a:buNone/>
            </a:pPr>
            <a:r>
              <a:rPr lang="en-US" sz="18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= distance ÷ 0.45 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how far?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Two steps each: t from the height, then 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1.0 m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3.0 m/s. How far from the table does it land?</a:t>
            </a:r>
            <a:endParaRPr lang="en-US" sz="17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986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20 m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m/s. How far from the base does it land?</a:t>
            </a:r>
            <a:endParaRPr lang="en-US" sz="1700" dirty="0"/>
          </a:p>
        </p:txBody>
      </p:sp>
      <p:sp>
        <p:nvSpPr>
          <p:cNvPr id="13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398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marble leaves a 1.8 m shelf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5.0 m/s. How far does it land?</a:t>
            </a:r>
            <a:endParaRPr lang="en-US" sz="1700" dirty="0"/>
          </a:p>
        </p:txBody>
      </p:sp>
      <p:sp>
        <p:nvSpPr>
          <p:cNvPr id="16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58114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4.9 m ledge and lands 6.0 m away. How fast was it rolling?</a:t>
            </a:r>
            <a:endParaRPr lang="en-US" sz="1700" dirty="0"/>
          </a:p>
        </p:txBody>
      </p:sp>
      <p:sp>
        <p:nvSpPr>
          <p:cNvPr id="19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toy car drives off a 0.90 m table and lands 1.2 m away. How fast was it going?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how far?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Two steps each: t from the height, then x =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t. Round to one decimal place.</a:t>
            </a:r>
            <a:endParaRPr lang="en-US" sz="1700" dirty="0"/>
          </a:p>
        </p:txBody>
      </p:sp>
      <p:sp>
        <p:nvSpPr>
          <p:cNvPr id="6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574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1.0 m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3.0 m/s. How far from the table does it land?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0.45 s, x = 3.0 × 0.45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1.4 m</a:t>
            </a:r>
            <a:endParaRPr lang="en-US" sz="16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986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rock is kicked off a 20 m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m/s. How far from the base does it land?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2.02 s, x = 8.0 × 2.02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16.2 m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398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marble leaves a 1.8 m shelf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5.0 m/s. How far does it land?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0.61 s, x = 5.0 × 0.61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3.0 m</a:t>
            </a:r>
            <a:endParaRPr lang="en-US" sz="1600" dirty="0"/>
          </a:p>
        </p:txBody>
      </p:sp>
      <p:sp>
        <p:nvSpPr>
          <p:cNvPr id="18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811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rolls off a 4.9 m ledge and lands 6.0 m away. How fast was it rolling?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5811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1.0 s, 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6.0 ÷ 1.0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6.0 m/s</a:t>
            </a:r>
            <a:endParaRPr lang="en-US" sz="1600" dirty="0"/>
          </a:p>
        </p:txBody>
      </p:sp>
      <p:sp>
        <p:nvSpPr>
          <p:cNvPr id="22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223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toy car drives off a 0.90 m table and lands 1.2 m away. How fast was it going?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 = 0.43 s, 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1.2 ÷ 0.43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2.8 m/s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a "how far does it land?" problem, what connects the horizontal motion to the vertical motion?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time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speed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mass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angle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a "how far does it land?" problem, what connects the horizontal motion to the vertical motion?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time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speed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mass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angle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ball moves sideways for exactly as long as it falls, so both motions share the same 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rolls off a table and lands 0.8 m away. If it rolled off the same table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twice as fast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, where would it land?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0.8 m away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1.6 m away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0.4 m away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3.2 m away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rolls off a table and lands 0.8 m away. If it rolled off the same table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twice as fast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, where would it land?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0.8 m away</a:t>
            </a:r>
            <a:endParaRPr lang="en-US" sz="2000" dirty="0"/>
          </a:p>
        </p:txBody>
      </p:sp>
      <p:sp>
        <p:nvSpPr>
          <p:cNvPr id="10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1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1.6 m away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0.4 m away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3.2 m away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Same height means the same time. Twice the speed for the same time gives twice the distance.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Velocity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6</a:t>
            </a:r>
            <a:endParaRPr lang="en-US" sz="2340" dirty="0"/>
          </a:p>
        </p:txBody>
      </p:sp>
      <p:pic>
        <p:nvPicPr>
          <p:cNvPr id="4" name="Image 0" descr="Veloc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Velocity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6 of 9 · about 7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Velocity at any moment</a:t>
            </a:r>
            <a:endParaRPr lang="en-US" sz="4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components, like any vector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At any moment, the velocity has two components: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2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800" baseline="-40000" dirty="0">
                <a:solidFill>
                  <a:schemeClr val="accent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sideways, which never changes, and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3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800" baseline="-40000" dirty="0">
                <a:solidFill>
                  <a:schemeClr val="accent3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= gt downward, which keeps growing.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Combine them like vector components: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3840480"/>
            <a:ext cx="56692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8404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= √( </a:t>
            </a:r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v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accent2"/>
                </a:solidFill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² + </a:t>
            </a:r>
            <a:pPr algn="ctr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v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accent3"/>
                </a:solidFill>
              </a:rPr>
              <a:t>y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² )</a:t>
            </a:r>
            <a:endParaRPr lang="en-US" sz="2200" dirty="0"/>
          </a:p>
        </p:txBody>
      </p:sp>
      <p:sp>
        <p:nvSpPr>
          <p:cNvPr id="9" name="panel"/>
          <p:cNvSpPr/>
          <p:nvPr/>
        </p:nvSpPr>
        <p:spPr>
          <a:xfrm>
            <a:off x="548640" y="4572000"/>
            <a:ext cx="56692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5720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θ = tan⁻¹( </a:t>
            </a:r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v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accent3"/>
                </a:solidFill>
              </a:rPr>
              <a:t>y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÷ </a:t>
            </a:r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v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accent2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)   below horizontal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03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As it falls, the velocity gets longer and steeper.</a:t>
            </a:r>
            <a:endParaRPr lang="en-US" sz="1600" dirty="0"/>
          </a:p>
        </p:txBody>
      </p:sp>
      <p:sp>
        <p:nvSpPr>
          <p:cNvPr id="12" name="diagram panel"/>
          <p:cNvSpPr/>
          <p:nvPr/>
        </p:nvSpPr>
        <p:spPr>
          <a:xfrm>
            <a:off x="7271069" y="1618488"/>
            <a:ext cx="3654422" cy="4535424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3" name="grid"/>
          <p:cNvSpPr/>
          <p:nvPr/>
        </p:nvSpPr>
        <p:spPr>
          <a:xfrm flipV="1">
            <a:off x="7435661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4" name="grid"/>
          <p:cNvSpPr/>
          <p:nvPr/>
        </p:nvSpPr>
        <p:spPr>
          <a:xfrm flipV="1">
            <a:off x="7936404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5" name="grid"/>
          <p:cNvSpPr/>
          <p:nvPr/>
        </p:nvSpPr>
        <p:spPr>
          <a:xfrm flipV="1">
            <a:off x="8437147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6" name="grid"/>
          <p:cNvSpPr/>
          <p:nvPr/>
        </p:nvSpPr>
        <p:spPr>
          <a:xfrm flipV="1">
            <a:off x="8937890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7" name="grid"/>
          <p:cNvSpPr/>
          <p:nvPr/>
        </p:nvSpPr>
        <p:spPr>
          <a:xfrm flipV="1">
            <a:off x="9438632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8" name="grid"/>
          <p:cNvSpPr/>
          <p:nvPr/>
        </p:nvSpPr>
        <p:spPr>
          <a:xfrm flipV="1">
            <a:off x="9939375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19" name="grid"/>
          <p:cNvSpPr/>
          <p:nvPr/>
        </p:nvSpPr>
        <p:spPr>
          <a:xfrm flipV="1">
            <a:off x="10440118" y="1783080"/>
            <a:ext cx="0" cy="420624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0" name="grid"/>
          <p:cNvSpPr/>
          <p:nvPr/>
        </p:nvSpPr>
        <p:spPr>
          <a:xfrm>
            <a:off x="7435661" y="5688874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1" name="grid"/>
          <p:cNvSpPr/>
          <p:nvPr/>
        </p:nvSpPr>
        <p:spPr>
          <a:xfrm>
            <a:off x="7435661" y="5188131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2" name="grid"/>
          <p:cNvSpPr/>
          <p:nvPr/>
        </p:nvSpPr>
        <p:spPr>
          <a:xfrm>
            <a:off x="7435661" y="4687389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3" name="grid"/>
          <p:cNvSpPr/>
          <p:nvPr/>
        </p:nvSpPr>
        <p:spPr>
          <a:xfrm>
            <a:off x="7435661" y="4186646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4" name="grid"/>
          <p:cNvSpPr/>
          <p:nvPr/>
        </p:nvSpPr>
        <p:spPr>
          <a:xfrm>
            <a:off x="7435661" y="3685903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5" name="grid"/>
          <p:cNvSpPr/>
          <p:nvPr/>
        </p:nvSpPr>
        <p:spPr>
          <a:xfrm>
            <a:off x="7435661" y="3185160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6" name="grid"/>
          <p:cNvSpPr/>
          <p:nvPr/>
        </p:nvSpPr>
        <p:spPr>
          <a:xfrm>
            <a:off x="7435661" y="2684417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7" name="grid"/>
          <p:cNvSpPr/>
          <p:nvPr/>
        </p:nvSpPr>
        <p:spPr>
          <a:xfrm>
            <a:off x="7435661" y="2183674"/>
            <a:ext cx="3325238" cy="0"/>
          </a:xfrm>
          <a:prstGeom prst="line">
            <a:avLst/>
          </a:prstGeom>
          <a:noFill/>
          <a:ln w="9525">
            <a:solidFill>
              <a:schemeClr val="tx2">
                <a:alpha val="16000"/>
              </a:schemeClr>
            </a:solidFill>
            <a:prstDash val="solid"/>
          </a:ln>
        </p:spPr>
      </p:sp>
      <p:sp>
        <p:nvSpPr>
          <p:cNvPr id="28" name="x-axis"/>
          <p:cNvSpPr/>
          <p:nvPr/>
        </p:nvSpPr>
        <p:spPr>
          <a:xfrm>
            <a:off x="7435661" y="4687389"/>
            <a:ext cx="332523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9" name="y-axis"/>
          <p:cNvSpPr/>
          <p:nvPr/>
        </p:nvSpPr>
        <p:spPr>
          <a:xfrm flipV="1">
            <a:off x="7936404" y="1783080"/>
            <a:ext cx="0" cy="4206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0" name="table"/>
          <p:cNvSpPr/>
          <p:nvPr/>
        </p:nvSpPr>
        <p:spPr>
          <a:xfrm>
            <a:off x="7435661" y="2183674"/>
            <a:ext cx="500743" cy="2503714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path"/>
          <p:cNvSpPr/>
          <p:nvPr/>
        </p:nvSpPr>
        <p:spPr>
          <a:xfrm>
            <a:off x="7936404" y="2183674"/>
            <a:ext cx="67444" cy="2782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8003847" y="2186456"/>
            <a:ext cx="67444" cy="8346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8071291" y="2194802"/>
            <a:ext cx="67444" cy="13910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8138734" y="2208711"/>
            <a:ext cx="67444" cy="19473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8206178" y="2228185"/>
            <a:ext cx="67444" cy="25037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8273622" y="2253222"/>
            <a:ext cx="67444" cy="30601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8341065" y="2283823"/>
            <a:ext cx="67444" cy="36165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8408509" y="2319988"/>
            <a:ext cx="67444" cy="41729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8475952" y="2361716"/>
            <a:ext cx="67444" cy="47292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0" name="path"/>
          <p:cNvSpPr/>
          <p:nvPr/>
        </p:nvSpPr>
        <p:spPr>
          <a:xfrm>
            <a:off x="8543396" y="2409009"/>
            <a:ext cx="67444" cy="52856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1" name="path"/>
          <p:cNvSpPr/>
          <p:nvPr/>
        </p:nvSpPr>
        <p:spPr>
          <a:xfrm>
            <a:off x="8610839" y="2461865"/>
            <a:ext cx="67444" cy="58420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2" name="path"/>
          <p:cNvSpPr/>
          <p:nvPr/>
        </p:nvSpPr>
        <p:spPr>
          <a:xfrm>
            <a:off x="8678283" y="2520285"/>
            <a:ext cx="67444" cy="63984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3" name="path"/>
          <p:cNvSpPr/>
          <p:nvPr/>
        </p:nvSpPr>
        <p:spPr>
          <a:xfrm>
            <a:off x="8745726" y="2584269"/>
            <a:ext cx="67444" cy="69548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4" name="path"/>
          <p:cNvSpPr/>
          <p:nvPr/>
        </p:nvSpPr>
        <p:spPr>
          <a:xfrm>
            <a:off x="8813170" y="2653816"/>
            <a:ext cx="67444" cy="75111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5" name="path"/>
          <p:cNvSpPr/>
          <p:nvPr/>
        </p:nvSpPr>
        <p:spPr>
          <a:xfrm>
            <a:off x="8880614" y="2728928"/>
            <a:ext cx="67444" cy="80675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6" name="path"/>
          <p:cNvSpPr/>
          <p:nvPr/>
        </p:nvSpPr>
        <p:spPr>
          <a:xfrm>
            <a:off x="8948057" y="2809603"/>
            <a:ext cx="67444" cy="86239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7" name="path"/>
          <p:cNvSpPr/>
          <p:nvPr/>
        </p:nvSpPr>
        <p:spPr>
          <a:xfrm>
            <a:off x="9015501" y="2895842"/>
            <a:ext cx="67444" cy="91803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8" name="path"/>
          <p:cNvSpPr/>
          <p:nvPr/>
        </p:nvSpPr>
        <p:spPr>
          <a:xfrm>
            <a:off x="9082944" y="2987645"/>
            <a:ext cx="67444" cy="97367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49" name="path"/>
          <p:cNvSpPr/>
          <p:nvPr/>
        </p:nvSpPr>
        <p:spPr>
          <a:xfrm>
            <a:off x="9150388" y="3085011"/>
            <a:ext cx="67444" cy="102930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0" name="path"/>
          <p:cNvSpPr/>
          <p:nvPr/>
        </p:nvSpPr>
        <p:spPr>
          <a:xfrm>
            <a:off x="9217831" y="3187942"/>
            <a:ext cx="67444" cy="108494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1" name="path"/>
          <p:cNvSpPr/>
          <p:nvPr/>
        </p:nvSpPr>
        <p:spPr>
          <a:xfrm>
            <a:off x="9285275" y="3296436"/>
            <a:ext cx="67444" cy="114058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2" name="path"/>
          <p:cNvSpPr/>
          <p:nvPr/>
        </p:nvSpPr>
        <p:spPr>
          <a:xfrm>
            <a:off x="9352718" y="3410494"/>
            <a:ext cx="67444" cy="119622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3" name="path"/>
          <p:cNvSpPr/>
          <p:nvPr/>
        </p:nvSpPr>
        <p:spPr>
          <a:xfrm>
            <a:off x="9420162" y="3530116"/>
            <a:ext cx="67444" cy="125186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4" name="path"/>
          <p:cNvSpPr/>
          <p:nvPr/>
        </p:nvSpPr>
        <p:spPr>
          <a:xfrm>
            <a:off x="9487606" y="3655302"/>
            <a:ext cx="67444" cy="130750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5" name="path"/>
          <p:cNvSpPr/>
          <p:nvPr/>
        </p:nvSpPr>
        <p:spPr>
          <a:xfrm>
            <a:off x="9555049" y="3786051"/>
            <a:ext cx="67444" cy="136313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6" name="path"/>
          <p:cNvSpPr/>
          <p:nvPr/>
        </p:nvSpPr>
        <p:spPr>
          <a:xfrm>
            <a:off x="9622493" y="3922365"/>
            <a:ext cx="67444" cy="141877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7" name="path"/>
          <p:cNvSpPr/>
          <p:nvPr/>
        </p:nvSpPr>
        <p:spPr>
          <a:xfrm>
            <a:off x="9689936" y="4064242"/>
            <a:ext cx="67444" cy="147441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8" name="path"/>
          <p:cNvSpPr/>
          <p:nvPr/>
        </p:nvSpPr>
        <p:spPr>
          <a:xfrm>
            <a:off x="9757380" y="4211683"/>
            <a:ext cx="67444" cy="153005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59" name="path"/>
          <p:cNvSpPr/>
          <p:nvPr/>
        </p:nvSpPr>
        <p:spPr>
          <a:xfrm>
            <a:off x="9824823" y="4364688"/>
            <a:ext cx="67444" cy="158569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60" name="path"/>
          <p:cNvSpPr/>
          <p:nvPr/>
        </p:nvSpPr>
        <p:spPr>
          <a:xfrm>
            <a:off x="9892267" y="4523256"/>
            <a:ext cx="67444" cy="164132"/>
          </a:xfrm>
          <a:prstGeom prst="line">
            <a:avLst/>
          </a:prstGeom>
          <a:noFill/>
          <a:ln w="12700">
            <a:solidFill>
              <a:schemeClr val="tx1">
                <a:alpha val="45000"/>
              </a:schemeClr>
            </a:solidFill>
            <a:prstDash val="dash"/>
          </a:ln>
        </p:spPr>
      </p:sp>
      <p:sp>
        <p:nvSpPr>
          <p:cNvPr id="61" name="vector"/>
          <p:cNvSpPr/>
          <p:nvPr/>
        </p:nvSpPr>
        <p:spPr>
          <a:xfrm>
            <a:off x="7936404" y="2183674"/>
            <a:ext cx="32047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2" name="ball"/>
          <p:cNvSpPr/>
          <p:nvPr/>
        </p:nvSpPr>
        <p:spPr>
          <a:xfrm>
            <a:off x="7872396" y="2119666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930564" y="179962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 = 0.0 s</a:t>
            </a:r>
            <a:endParaRPr lang="en-US" sz="1100" dirty="0"/>
          </a:p>
        </p:txBody>
      </p:sp>
      <p:sp>
        <p:nvSpPr>
          <p:cNvPr id="64" name="vector"/>
          <p:cNvSpPr/>
          <p:nvPr/>
        </p:nvSpPr>
        <p:spPr>
          <a:xfrm>
            <a:off x="8937890" y="2797084"/>
            <a:ext cx="32047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5" name="vector"/>
          <p:cNvSpPr/>
          <p:nvPr/>
        </p:nvSpPr>
        <p:spPr>
          <a:xfrm>
            <a:off x="9258365" y="2797084"/>
            <a:ext cx="0" cy="392582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6" name="vector"/>
          <p:cNvSpPr/>
          <p:nvPr/>
        </p:nvSpPr>
        <p:spPr>
          <a:xfrm>
            <a:off x="8937890" y="2797084"/>
            <a:ext cx="320475" cy="392582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7" name="ball"/>
          <p:cNvSpPr/>
          <p:nvPr/>
        </p:nvSpPr>
        <p:spPr>
          <a:xfrm>
            <a:off x="8873882" y="2733076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932050" y="24130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 = 0.5 s</a:t>
            </a:r>
            <a:endParaRPr lang="en-US" sz="1100" dirty="0"/>
          </a:p>
        </p:txBody>
      </p:sp>
      <p:sp>
        <p:nvSpPr>
          <p:cNvPr id="69" name="vector"/>
          <p:cNvSpPr/>
          <p:nvPr/>
        </p:nvSpPr>
        <p:spPr>
          <a:xfrm>
            <a:off x="9739078" y="4171123"/>
            <a:ext cx="32047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0" name="vector"/>
          <p:cNvSpPr/>
          <p:nvPr/>
        </p:nvSpPr>
        <p:spPr>
          <a:xfrm>
            <a:off x="10059554" y="4171123"/>
            <a:ext cx="0" cy="706648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1" name="vector"/>
          <p:cNvSpPr/>
          <p:nvPr/>
        </p:nvSpPr>
        <p:spPr>
          <a:xfrm>
            <a:off x="9739078" y="4171123"/>
            <a:ext cx="320475" cy="70664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2" name="ball"/>
          <p:cNvSpPr/>
          <p:nvPr/>
        </p:nvSpPr>
        <p:spPr>
          <a:xfrm>
            <a:off x="9675070" y="4107115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733238" y="3787075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 = 0.9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velocity viewer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ball leaves a 5.0 m ledge at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4.0 m/s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Find its velocity at each time.</a:t>
            </a:r>
            <a:endParaRPr lang="en-US" sz="2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03120"/>
                <a:gridCol w="29260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θ below horizontal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velocity viewer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ball leaves a 5.0 m ledge at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4.0 m/s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Find its velocity at each time.</a:t>
            </a:r>
            <a:endParaRPr lang="en-US" sz="2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03120"/>
                <a:gridCol w="29260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 (m/s)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θ below horizontal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36.3°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7.1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55.8°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8.8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9.7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65.6°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velocity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gt, then v = √(v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² +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²) and θ = tan⁻¹(v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÷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). Round to one decimal place.</a:t>
            </a:r>
            <a:endParaRPr lang="en-US" sz="1700" dirty="0"/>
          </a:p>
        </p:txBody>
      </p:sp>
      <p:sp>
        <p:nvSpPr>
          <p:cNvPr id="7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6.0 m/s. What is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after 0.50 s?</a:t>
            </a:r>
            <a:endParaRPr lang="en-US" sz="17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986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one moment,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6.0 m/s and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4.9 m/s. What is the speed?</a:t>
            </a:r>
            <a:endParaRPr lang="en-US" sz="1700" dirty="0"/>
          </a:p>
        </p:txBody>
      </p:sp>
      <p:sp>
        <p:nvSpPr>
          <p:cNvPr id="13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398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5.0 m/s. What is its speed after 1.0 s?</a:t>
            </a:r>
            <a:endParaRPr lang="en-US" sz="1700" dirty="0"/>
          </a:p>
        </p:txBody>
      </p:sp>
      <p:sp>
        <p:nvSpPr>
          <p:cNvPr id="16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58114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one moment,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 and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m/s. What angle below horizontal?</a:t>
            </a:r>
            <a:endParaRPr lang="en-US" sz="1700" dirty="0"/>
          </a:p>
        </p:txBody>
      </p:sp>
      <p:sp>
        <p:nvSpPr>
          <p:cNvPr id="19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3.0 m/s. What angle below horizontal after 0.60 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Practice: velocity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= gt, then v = √(v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² +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²) and θ = tan⁻¹(v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÷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2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). Round to one decimal place.</a:t>
            </a:r>
            <a:endParaRPr lang="en-US" sz="1700" dirty="0"/>
          </a:p>
        </p:txBody>
      </p:sp>
      <p:sp>
        <p:nvSpPr>
          <p:cNvPr id="6" name="number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574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6.0 m/s. What is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after 0.50 s?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9.8 × 0.50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4.9 m/s</a:t>
            </a:r>
            <a:endParaRPr lang="en-US" sz="1600" dirty="0"/>
          </a:p>
        </p:txBody>
      </p:sp>
      <p:sp>
        <p:nvSpPr>
          <p:cNvPr id="10" name="number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986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one moment,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6.0 m/s and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4.9 m/s. What is the speed?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√(36 + 24.0)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7.7 m/s</a:t>
            </a:r>
            <a:endParaRPr lang="en-US" sz="1600" dirty="0"/>
          </a:p>
        </p:txBody>
      </p:sp>
      <p:sp>
        <p:nvSpPr>
          <p:cNvPr id="14" name="number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398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cliff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5.0 m/s. What is its speed after 1.0 s?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y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9.8, v = √(25 + 96.0)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11.0 m/s</a:t>
            </a:r>
            <a:endParaRPr lang="en-US" sz="1600" dirty="0"/>
          </a:p>
        </p:txBody>
      </p:sp>
      <p:sp>
        <p:nvSpPr>
          <p:cNvPr id="18" name="number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5811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one moment,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 and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8.0 m/s. What angle below horizontal?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5811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tan⁻¹(8.0 ÷ 8.0)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45°</a:t>
            </a:r>
            <a:endParaRPr lang="en-US" sz="1600" dirty="0"/>
          </a:p>
        </p:txBody>
      </p:sp>
      <p:sp>
        <p:nvSpPr>
          <p:cNvPr id="22" name="number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223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ball leaves a table at v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3.0 m/s. What angle below horizontal after 0.60 s?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4223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</a:t>
            </a:r>
            <a:pPr indent="0" marL="0">
              <a:buNone/>
            </a:pPr>
            <a:r>
              <a:rPr lang="en-US" sz="1600" baseline="-40000" dirty="0">
                <a:solidFill>
                  <a:schemeClr val="accent5"/>
                </a:solidFill>
              </a:rPr>
              <a:t>y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= 5.9, θ = tan⁻¹(5.9 ÷ 3.0) =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63.0°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As a sideways-launched ball falls, its velocity arrow…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gets longer and points more steeply down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stays the same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gets shorter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points more sideways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As a sideways-launched ball falls, its velocity arrow…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gets longer and points more steeply down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stays the same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gets shorter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points more sideways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stays the same while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grows, so the total gets bigger and tips downward.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velocity component changes while a sideways-launched ball is in the air?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Only the vertical component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Only the horizontal component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Both components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Neither component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velocity component changes while a sideways-launched ball is in the air?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Only the vertical component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Only the horizontal component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Both components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Neither component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Gravity only acts downward, so only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changes.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Graph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7</a:t>
            </a:r>
            <a:endParaRPr lang="en-US" sz="2340" dirty="0"/>
          </a:p>
        </p:txBody>
      </p:sp>
      <p:pic>
        <p:nvPicPr>
          <p:cNvPr id="4" name="Image 0" descr="Graph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Graphs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7 of 9 · about 5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Graphs of the motion</a:t>
            </a:r>
            <a:endParaRPr lang="en-US" sz="4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Each direction has its own graphs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panel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xis"/>
          <p:cNvSpPr/>
          <p:nvPr/>
        </p:nvSpPr>
        <p:spPr>
          <a:xfrm>
            <a:off x="822960" y="2011680"/>
            <a:ext cx="0" cy="12801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8" name="axis"/>
          <p:cNvSpPr/>
          <p:nvPr/>
        </p:nvSpPr>
        <p:spPr>
          <a:xfrm>
            <a:off x="822960" y="3291840"/>
            <a:ext cx="155448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9" name="graph"/>
          <p:cNvSpPr/>
          <p:nvPr/>
        </p:nvSpPr>
        <p:spPr>
          <a:xfrm flipV="1">
            <a:off x="947318" y="2139696"/>
            <a:ext cx="1352398" cy="102412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Horizontal position vs. time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Straight line: steady sideways speed</a:t>
            </a:r>
            <a:endParaRPr lang="en-US" sz="1700" dirty="0"/>
          </a:p>
        </p:txBody>
      </p:sp>
      <p:sp>
        <p:nvSpPr>
          <p:cNvPr id="11" name="panel"/>
          <p:cNvSpPr/>
          <p:nvPr/>
        </p:nvSpPr>
        <p:spPr>
          <a:xfrm>
            <a:off x="6172200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xis"/>
          <p:cNvSpPr/>
          <p:nvPr/>
        </p:nvSpPr>
        <p:spPr>
          <a:xfrm>
            <a:off x="6446520" y="2011680"/>
            <a:ext cx="0" cy="12801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3" name="axis"/>
          <p:cNvSpPr/>
          <p:nvPr/>
        </p:nvSpPr>
        <p:spPr>
          <a:xfrm>
            <a:off x="6446520" y="3291840"/>
            <a:ext cx="155448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4" name="graph"/>
          <p:cNvSpPr/>
          <p:nvPr/>
        </p:nvSpPr>
        <p:spPr>
          <a:xfrm>
            <a:off x="6570878" y="2587752"/>
            <a:ext cx="135239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Horizontal velocity vs. time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Flat line: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never changes</a:t>
            </a:r>
            <a:endParaRPr lang="en-US" sz="1700" dirty="0"/>
          </a:p>
        </p:txBody>
      </p:sp>
      <p:sp>
        <p:nvSpPr>
          <p:cNvPr id="16" name="panel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xis"/>
          <p:cNvSpPr/>
          <p:nvPr/>
        </p:nvSpPr>
        <p:spPr>
          <a:xfrm>
            <a:off x="822960" y="4251960"/>
            <a:ext cx="0" cy="12801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8" name="axis"/>
          <p:cNvSpPr/>
          <p:nvPr/>
        </p:nvSpPr>
        <p:spPr>
          <a:xfrm>
            <a:off x="822960" y="5532120"/>
            <a:ext cx="155448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9" name="graph"/>
          <p:cNvSpPr/>
          <p:nvPr/>
        </p:nvSpPr>
        <p:spPr>
          <a:xfrm flipV="1">
            <a:off x="947318" y="5393863"/>
            <a:ext cx="135240" cy="10241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0" name="graph"/>
          <p:cNvSpPr/>
          <p:nvPr/>
        </p:nvSpPr>
        <p:spPr>
          <a:xfrm flipV="1">
            <a:off x="1082558" y="5363139"/>
            <a:ext cx="135240" cy="3072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1" name="graph"/>
          <p:cNvSpPr/>
          <p:nvPr/>
        </p:nvSpPr>
        <p:spPr>
          <a:xfrm flipV="1">
            <a:off x="1217798" y="5311932"/>
            <a:ext cx="135240" cy="51206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2" name="graph"/>
          <p:cNvSpPr/>
          <p:nvPr/>
        </p:nvSpPr>
        <p:spPr>
          <a:xfrm flipV="1">
            <a:off x="1353038" y="5240244"/>
            <a:ext cx="135240" cy="71689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3" name="graph"/>
          <p:cNvSpPr/>
          <p:nvPr/>
        </p:nvSpPr>
        <p:spPr>
          <a:xfrm flipV="1">
            <a:off x="1488277" y="5148072"/>
            <a:ext cx="135240" cy="92172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4" name="graph"/>
          <p:cNvSpPr/>
          <p:nvPr/>
        </p:nvSpPr>
        <p:spPr>
          <a:xfrm flipV="1">
            <a:off x="1623517" y="5035418"/>
            <a:ext cx="135240" cy="11265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5" name="graph"/>
          <p:cNvSpPr/>
          <p:nvPr/>
        </p:nvSpPr>
        <p:spPr>
          <a:xfrm flipV="1">
            <a:off x="1758757" y="4902281"/>
            <a:ext cx="135240" cy="13313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6" name="graph"/>
          <p:cNvSpPr/>
          <p:nvPr/>
        </p:nvSpPr>
        <p:spPr>
          <a:xfrm flipV="1">
            <a:off x="1893997" y="4748662"/>
            <a:ext cx="135240" cy="153619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7" name="graph"/>
          <p:cNvSpPr/>
          <p:nvPr/>
        </p:nvSpPr>
        <p:spPr>
          <a:xfrm flipV="1">
            <a:off x="2029236" y="4574560"/>
            <a:ext cx="135240" cy="174102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8" name="graph"/>
          <p:cNvSpPr/>
          <p:nvPr/>
        </p:nvSpPr>
        <p:spPr>
          <a:xfrm flipV="1">
            <a:off x="2164476" y="4379976"/>
            <a:ext cx="135240" cy="19458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51760" y="4206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Distance fallen vs. time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Curve, getting steeper: speeding up</a:t>
            </a:r>
            <a:endParaRPr lang="en-US" sz="1700" dirty="0"/>
          </a:p>
        </p:txBody>
      </p:sp>
      <p:sp>
        <p:nvSpPr>
          <p:cNvPr id="30" name="panel"/>
          <p:cNvSpPr/>
          <p:nvPr/>
        </p:nvSpPr>
        <p:spPr>
          <a:xfrm>
            <a:off x="617220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axis"/>
          <p:cNvSpPr/>
          <p:nvPr/>
        </p:nvSpPr>
        <p:spPr>
          <a:xfrm>
            <a:off x="6446520" y="4251960"/>
            <a:ext cx="0" cy="128016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32" name="axis"/>
          <p:cNvSpPr/>
          <p:nvPr/>
        </p:nvSpPr>
        <p:spPr>
          <a:xfrm>
            <a:off x="6446520" y="5532120"/>
            <a:ext cx="155448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33" name="graph"/>
          <p:cNvSpPr/>
          <p:nvPr/>
        </p:nvSpPr>
        <p:spPr>
          <a:xfrm flipV="1">
            <a:off x="6570878" y="4379976"/>
            <a:ext cx="1352398" cy="102412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4206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Downward velocity vs. time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Straight line with slope g = 9.8 m/s²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match the graphs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Which shape does each graph have?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position vs. time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3752698" y="2240280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52698" y="2240280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velocity vs. time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6773875" y="2240280"/>
            <a:ext cx="253471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73875" y="2240280"/>
            <a:ext cx="2534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Distance fallen vs. time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731520" y="2770632"/>
            <a:ext cx="2713939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770632"/>
            <a:ext cx="27139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Downward velocity vs. time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3573475" y="2770632"/>
            <a:ext cx="307238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73475" y="27706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Vertical acceleration vs. time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6773875" y="2770632"/>
            <a:ext cx="334121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73875" y="2770632"/>
            <a:ext cx="3341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position (faster ball)</a:t>
            </a:r>
            <a:endParaRPr lang="en-US" sz="1500" dirty="0"/>
          </a:p>
        </p:txBody>
      </p:sp>
      <p:sp>
        <p:nvSpPr>
          <p:cNvPr id="20" name="bin Flat line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Flat line</a:t>
            </a:r>
            <a:endParaRPr lang="en-US" sz="1900" dirty="0"/>
          </a:p>
        </p:txBody>
      </p:sp>
      <p:sp>
        <p:nvSpPr>
          <p:cNvPr id="22" name="bin Straight line sloping up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Straight line sloping up</a:t>
            </a:r>
            <a:endParaRPr lang="en-US" sz="1900" dirty="0"/>
          </a:p>
        </p:txBody>
      </p:sp>
      <p:sp>
        <p:nvSpPr>
          <p:cNvPr id="24" name="bin Curve getting steeper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Curve getting steeper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match the graphs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Which shape does each graph have?</a:t>
            </a:r>
            <a:endParaRPr lang="en-US" sz="1800" dirty="0"/>
          </a:p>
        </p:txBody>
      </p:sp>
      <p:sp>
        <p:nvSpPr>
          <p:cNvPr id="7" name="bin Flat line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Flat line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velocity vs. time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731520" y="3319272"/>
            <a:ext cx="307238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319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Vertical acceleration vs. time</a:t>
            </a:r>
            <a:endParaRPr lang="en-US" sz="1500" dirty="0"/>
          </a:p>
        </p:txBody>
      </p:sp>
      <p:sp>
        <p:nvSpPr>
          <p:cNvPr id="13" name="bin Straight line sloping up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Straight line sloping up</a:t>
            </a:r>
            <a:endParaRPr lang="en-US" sz="1900" dirty="0"/>
          </a:p>
        </p:txBody>
      </p:sp>
      <p:sp>
        <p:nvSpPr>
          <p:cNvPr id="15" name="chip"/>
          <p:cNvSpPr/>
          <p:nvPr/>
        </p:nvSpPr>
        <p:spPr>
          <a:xfrm>
            <a:off x="4495800" y="2788920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95800" y="2788920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position vs. time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4495800" y="3319272"/>
            <a:ext cx="2713939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95800" y="3319272"/>
            <a:ext cx="27139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Downward velocity vs. time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4495800" y="3849624"/>
            <a:ext cx="334121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5800" y="3849624"/>
            <a:ext cx="3341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Horizontal position (faster ball)</a:t>
            </a:r>
            <a:endParaRPr lang="en-US" sz="1500" dirty="0"/>
          </a:p>
        </p:txBody>
      </p:sp>
      <p:sp>
        <p:nvSpPr>
          <p:cNvPr id="21" name="bin Curve getting steeper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Curve getting steeper</a:t>
            </a:r>
            <a:endParaRPr lang="en-US" sz="1900" dirty="0"/>
          </a:p>
        </p:txBody>
      </p:sp>
      <p:sp>
        <p:nvSpPr>
          <p:cNvPr id="23" name="chip"/>
          <p:cNvSpPr/>
          <p:nvPr/>
        </p:nvSpPr>
        <p:spPr>
          <a:xfrm>
            <a:off x="8260080" y="2788920"/>
            <a:ext cx="253471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60080" y="2788920"/>
            <a:ext cx="2534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Distance fallen vs.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the slope of the downward velocity vs. time graph for a falling ball?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9.8 m/s²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horizontal speed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keeps changing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the slope of the downward velocity vs. time graph for a falling ball?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9.8 m/s²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horizontal speed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keeps changing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grows by 9.8 m/s every second, so the slope is 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graph is a flat line for a sideways-launched ball?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Horizontal velocity vs. time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Distance fallen vs. time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Downward velocity vs. time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Horizontal position vs. time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graph is a flat line for a sideways-launched ball?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Horizontal velocity vs. time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Distance fallen vs. time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Downward velocity vs. time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Horizontal position vs. time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stays the same the whole time, so its graph is flat.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Mission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8</a:t>
            </a:r>
            <a:endParaRPr lang="en-US" sz="2340" dirty="0"/>
          </a:p>
        </p:txBody>
      </p:sp>
      <p:pic>
        <p:nvPicPr>
          <p:cNvPr id="4" name="Image 0" descr="Miss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Missions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8 of 9 · about 8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Putting it all together</a:t>
            </a:r>
            <a:endParaRPr lang="en-US" sz="4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whole method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step"/>
          <p:cNvSpPr/>
          <p:nvPr/>
        </p:nvSpPr>
        <p:spPr>
          <a:xfrm>
            <a:off x="548640" y="18013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01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Time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from the height:  t = √(2h ÷ g)</a:t>
            </a:r>
            <a:endParaRPr lang="en-US" sz="2200" dirty="0"/>
          </a:p>
        </p:txBody>
      </p:sp>
      <p:sp>
        <p:nvSpPr>
          <p:cNvPr id="9" name="step"/>
          <p:cNvSpPr/>
          <p:nvPr/>
        </p:nvSpPr>
        <p:spPr>
          <a:xfrm>
            <a:off x="548640" y="282549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25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1576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Distance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from the sideways speed:  x = 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</a:t>
            </a:r>
            <a:endParaRPr lang="en-US" sz="2200" dirty="0"/>
          </a:p>
        </p:txBody>
      </p:sp>
      <p:sp>
        <p:nvSpPr>
          <p:cNvPr id="12" name="step"/>
          <p:cNvSpPr/>
          <p:nvPr/>
        </p:nvSpPr>
        <p:spPr>
          <a:xfrm>
            <a:off x="548640" y="384962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49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73989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Downward speed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at landing:  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= gt</a:t>
            </a:r>
            <a:endParaRPr lang="en-US" sz="2200" dirty="0"/>
          </a:p>
        </p:txBody>
      </p:sp>
      <p:sp>
        <p:nvSpPr>
          <p:cNvPr id="15" name="step"/>
          <p:cNvSpPr/>
          <p:nvPr/>
        </p:nvSpPr>
        <p:spPr>
          <a:xfrm>
            <a:off x="548640" y="48737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873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76402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Landing velocity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v = √(v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² + 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²),  θ = tan⁻¹(v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÷ v</a:t>
            </a:r>
            <a:pPr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Mission 1: the skateboarder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skateboarder rolls straight off a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1.5 m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ledge at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4.0 m/s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943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 Time in the air, t = √(2h ÷ g)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 Landing distance, x =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 Downward speed,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= gt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 Landing speed, v = √(v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 +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 Angle below horizontal, θ = tan⁻¹(v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÷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diagram panel"/>
          <p:cNvSpPr/>
          <p:nvPr/>
        </p:nvSpPr>
        <p:spPr>
          <a:xfrm>
            <a:off x="6922008" y="2272459"/>
            <a:ext cx="4672584" cy="3227483"/>
          </a:xfrm>
          <a:prstGeom prst="roundRect">
            <a:avLst>
              <a:gd name="adj" fmla="val 3400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ground"/>
          <p:cNvSpPr/>
          <p:nvPr/>
        </p:nvSpPr>
        <p:spPr>
          <a:xfrm>
            <a:off x="7086600" y="4640048"/>
            <a:ext cx="42932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table"/>
          <p:cNvSpPr/>
          <p:nvPr/>
        </p:nvSpPr>
        <p:spPr>
          <a:xfrm>
            <a:off x="7086600" y="2939003"/>
            <a:ext cx="702733" cy="1701046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72206" y="363407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1.5 m</a:t>
            </a:r>
            <a:endParaRPr lang="en-US" sz="1200" dirty="0"/>
          </a:p>
        </p:txBody>
      </p:sp>
      <p:sp>
        <p:nvSpPr>
          <p:cNvPr id="12" name="path"/>
          <p:cNvSpPr/>
          <p:nvPr/>
        </p:nvSpPr>
        <p:spPr>
          <a:xfrm>
            <a:off x="7789333" y="2939003"/>
            <a:ext cx="83659" cy="189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3" name="path"/>
          <p:cNvSpPr/>
          <p:nvPr/>
        </p:nvSpPr>
        <p:spPr>
          <a:xfrm>
            <a:off x="7872992" y="2940893"/>
            <a:ext cx="83659" cy="567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4" name="path"/>
          <p:cNvSpPr/>
          <p:nvPr/>
        </p:nvSpPr>
        <p:spPr>
          <a:xfrm>
            <a:off x="7956650" y="2946563"/>
            <a:ext cx="83659" cy="94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8040309" y="2956013"/>
            <a:ext cx="83659" cy="1323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8123968" y="2969244"/>
            <a:ext cx="83659" cy="1701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207626" y="2986254"/>
            <a:ext cx="83659" cy="2079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291285" y="3007045"/>
            <a:ext cx="83659" cy="2457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374944" y="3031615"/>
            <a:ext cx="83659" cy="2835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458602" y="3059966"/>
            <a:ext cx="83659" cy="3213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542261" y="3092097"/>
            <a:ext cx="83659" cy="3591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625920" y="3128008"/>
            <a:ext cx="83659" cy="3969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709578" y="3167699"/>
            <a:ext cx="83659" cy="4347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793237" y="3211170"/>
            <a:ext cx="83659" cy="4725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876896" y="3258421"/>
            <a:ext cx="83659" cy="5103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8960554" y="3309453"/>
            <a:ext cx="83659" cy="5481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9044213" y="3364264"/>
            <a:ext cx="83659" cy="585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9127872" y="3422856"/>
            <a:ext cx="83659" cy="623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9211530" y="3485227"/>
            <a:ext cx="83659" cy="661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295189" y="3551379"/>
            <a:ext cx="83659" cy="699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378848" y="3621311"/>
            <a:ext cx="83659" cy="737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462506" y="3695023"/>
            <a:ext cx="83659" cy="774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546165" y="3772515"/>
            <a:ext cx="83659" cy="812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629824" y="3853787"/>
            <a:ext cx="83659" cy="850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713483" y="3938840"/>
            <a:ext cx="83659" cy="888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797141" y="4027672"/>
            <a:ext cx="83659" cy="926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880800" y="4120284"/>
            <a:ext cx="83659" cy="963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964459" y="4216677"/>
            <a:ext cx="83659" cy="10017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10048117" y="4316850"/>
            <a:ext cx="83659" cy="10395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path"/>
          <p:cNvSpPr/>
          <p:nvPr/>
        </p:nvSpPr>
        <p:spPr>
          <a:xfrm>
            <a:off x="10131776" y="4420802"/>
            <a:ext cx="83659" cy="10773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1" name="path"/>
          <p:cNvSpPr/>
          <p:nvPr/>
        </p:nvSpPr>
        <p:spPr>
          <a:xfrm>
            <a:off x="10215435" y="4528535"/>
            <a:ext cx="83659" cy="11151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2" name="vector"/>
          <p:cNvSpPr/>
          <p:nvPr/>
        </p:nvSpPr>
        <p:spPr>
          <a:xfrm>
            <a:off x="7789333" y="2939003"/>
            <a:ext cx="327783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190268" y="2600675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4.0 m/s</a:t>
            </a:r>
            <a:endParaRPr lang="en-US" sz="1200" dirty="0"/>
          </a:p>
        </p:txBody>
      </p:sp>
      <p:sp>
        <p:nvSpPr>
          <p:cNvPr id="44" name="ball"/>
          <p:cNvSpPr/>
          <p:nvPr/>
        </p:nvSpPr>
        <p:spPr>
          <a:xfrm>
            <a:off x="7725325" y="2874995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Mission 1: the skateboarder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skateboarder rolls straight off a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1.5 m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ledge at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4.0 m/s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943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 Time in the air, t = √(2h ÷ g)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0.55 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 Landing distance, x =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2.2 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 Downward speed,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= gt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5.4 m/s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 Landing speed, v = √(v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 +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6.7 m/s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 Angle below horizontal, θ = tan⁻¹(v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÷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53.5°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diagram panel"/>
          <p:cNvSpPr/>
          <p:nvPr/>
        </p:nvSpPr>
        <p:spPr>
          <a:xfrm>
            <a:off x="6922008" y="2272459"/>
            <a:ext cx="4672584" cy="3227483"/>
          </a:xfrm>
          <a:prstGeom prst="roundRect">
            <a:avLst>
              <a:gd name="adj" fmla="val 3400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ground"/>
          <p:cNvSpPr/>
          <p:nvPr/>
        </p:nvSpPr>
        <p:spPr>
          <a:xfrm>
            <a:off x="7086600" y="4640048"/>
            <a:ext cx="42932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table"/>
          <p:cNvSpPr/>
          <p:nvPr/>
        </p:nvSpPr>
        <p:spPr>
          <a:xfrm>
            <a:off x="7086600" y="2939003"/>
            <a:ext cx="702733" cy="1701046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72206" y="363407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1.5 m</a:t>
            </a:r>
            <a:endParaRPr lang="en-US" sz="1200" dirty="0"/>
          </a:p>
        </p:txBody>
      </p:sp>
      <p:sp>
        <p:nvSpPr>
          <p:cNvPr id="12" name="path"/>
          <p:cNvSpPr/>
          <p:nvPr/>
        </p:nvSpPr>
        <p:spPr>
          <a:xfrm>
            <a:off x="7789333" y="2939003"/>
            <a:ext cx="83659" cy="189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3" name="path"/>
          <p:cNvSpPr/>
          <p:nvPr/>
        </p:nvSpPr>
        <p:spPr>
          <a:xfrm>
            <a:off x="7872992" y="2940893"/>
            <a:ext cx="83659" cy="567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4" name="path"/>
          <p:cNvSpPr/>
          <p:nvPr/>
        </p:nvSpPr>
        <p:spPr>
          <a:xfrm>
            <a:off x="7956650" y="2946563"/>
            <a:ext cx="83659" cy="94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8040309" y="2956013"/>
            <a:ext cx="83659" cy="1323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8123968" y="2969244"/>
            <a:ext cx="83659" cy="1701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207626" y="2986254"/>
            <a:ext cx="83659" cy="2079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291285" y="3007045"/>
            <a:ext cx="83659" cy="2457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374944" y="3031615"/>
            <a:ext cx="83659" cy="2835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458602" y="3059966"/>
            <a:ext cx="83659" cy="3213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542261" y="3092097"/>
            <a:ext cx="83659" cy="3591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625920" y="3128008"/>
            <a:ext cx="83659" cy="3969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709578" y="3167699"/>
            <a:ext cx="83659" cy="4347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793237" y="3211170"/>
            <a:ext cx="83659" cy="4725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876896" y="3258421"/>
            <a:ext cx="83659" cy="5103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8960554" y="3309453"/>
            <a:ext cx="83659" cy="5481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9044213" y="3364264"/>
            <a:ext cx="83659" cy="585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9127872" y="3422856"/>
            <a:ext cx="83659" cy="623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9211530" y="3485227"/>
            <a:ext cx="83659" cy="661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295189" y="3551379"/>
            <a:ext cx="83659" cy="699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378848" y="3621311"/>
            <a:ext cx="83659" cy="737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462506" y="3695023"/>
            <a:ext cx="83659" cy="774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546165" y="3772515"/>
            <a:ext cx="83659" cy="812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629824" y="3853787"/>
            <a:ext cx="83659" cy="8505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713483" y="3938840"/>
            <a:ext cx="83659" cy="888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797141" y="4027672"/>
            <a:ext cx="83659" cy="926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880800" y="4120284"/>
            <a:ext cx="83659" cy="963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964459" y="4216677"/>
            <a:ext cx="83659" cy="10017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10048117" y="4316850"/>
            <a:ext cx="83659" cy="10395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path"/>
          <p:cNvSpPr/>
          <p:nvPr/>
        </p:nvSpPr>
        <p:spPr>
          <a:xfrm>
            <a:off x="10131776" y="4420802"/>
            <a:ext cx="83659" cy="10773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1" name="path"/>
          <p:cNvSpPr/>
          <p:nvPr/>
        </p:nvSpPr>
        <p:spPr>
          <a:xfrm>
            <a:off x="10215435" y="4528535"/>
            <a:ext cx="83659" cy="11151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2" name="vector"/>
          <p:cNvSpPr/>
          <p:nvPr/>
        </p:nvSpPr>
        <p:spPr>
          <a:xfrm>
            <a:off x="7789333" y="2939003"/>
            <a:ext cx="327783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190268" y="2600675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4.0 m/s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9295189" y="32088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 = 0.55 s</a:t>
            </a:r>
            <a:endParaRPr lang="en-US" sz="1300" dirty="0"/>
          </a:p>
        </p:txBody>
      </p:sp>
      <p:sp>
        <p:nvSpPr>
          <p:cNvPr id="45" name="x"/>
          <p:cNvSpPr/>
          <p:nvPr/>
        </p:nvSpPr>
        <p:spPr>
          <a:xfrm>
            <a:off x="7789333" y="4731488"/>
            <a:ext cx="250976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061717" y="4740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x = 2.2 m</a:t>
            </a:r>
            <a:endParaRPr lang="en-US" sz="1300" dirty="0"/>
          </a:p>
        </p:txBody>
      </p:sp>
      <p:sp>
        <p:nvSpPr>
          <p:cNvPr id="47" name="vector"/>
          <p:cNvSpPr/>
          <p:nvPr/>
        </p:nvSpPr>
        <p:spPr>
          <a:xfrm>
            <a:off x="10299093" y="4640048"/>
            <a:ext cx="327783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8" name="vector"/>
          <p:cNvSpPr/>
          <p:nvPr/>
        </p:nvSpPr>
        <p:spPr>
          <a:xfrm>
            <a:off x="10626877" y="4640048"/>
            <a:ext cx="0" cy="444325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9" name="vector"/>
          <p:cNvSpPr/>
          <p:nvPr/>
        </p:nvSpPr>
        <p:spPr>
          <a:xfrm>
            <a:off x="10299093" y="4640048"/>
            <a:ext cx="327783" cy="444325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0" name="Text 46"/>
          <p:cNvSpPr txBox="1"/>
          <p:nvPr/>
        </p:nvSpPr>
        <p:spPr>
          <a:xfrm>
            <a:off x="10700029" y="4706763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3"/>
                </a:solidFill>
              </a:rPr>
              <a:t>y</a:t>
            </a:r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 = 5.4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9476133" y="4740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53.5°</a:t>
            </a:r>
            <a:endParaRPr lang="en-US" sz="1200" dirty="0"/>
          </a:p>
        </p:txBody>
      </p:sp>
      <p:sp>
        <p:nvSpPr>
          <p:cNvPr id="52" name="ball"/>
          <p:cNvSpPr/>
          <p:nvPr/>
        </p:nvSpPr>
        <p:spPr>
          <a:xfrm>
            <a:off x="10235085" y="4576040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Mission 2: the supply drop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plane flying level at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60 m/s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80 m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above the ground, releases a crate. Ignore air resistance.</a:t>
            </a:r>
            <a:endParaRPr lang="en-US" sz="1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943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 Time in the air, t = √(2h ÷ g)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 Landing distance, x =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 Downward speed,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= gt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 Landing speed, v = √(v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 +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 Angle below horizontal, θ = tan⁻¹(v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÷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diagram panel"/>
          <p:cNvSpPr/>
          <p:nvPr/>
        </p:nvSpPr>
        <p:spPr>
          <a:xfrm>
            <a:off x="6922008" y="2807004"/>
            <a:ext cx="4672584" cy="2158392"/>
          </a:xfrm>
          <a:prstGeom prst="roundRect">
            <a:avLst>
              <a:gd name="adj" fmla="val 5084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ground"/>
          <p:cNvSpPr/>
          <p:nvPr/>
        </p:nvSpPr>
        <p:spPr>
          <a:xfrm>
            <a:off x="7086600" y="4262192"/>
            <a:ext cx="429469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height"/>
          <p:cNvSpPr/>
          <p:nvPr/>
        </p:nvSpPr>
        <p:spPr>
          <a:xfrm flipV="1">
            <a:off x="7646688" y="3458629"/>
            <a:ext cx="0" cy="803563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</a:ln>
        </p:spPr>
      </p:sp>
      <p:sp>
        <p:nvSpPr>
          <p:cNvPr id="11" name="plane"/>
          <p:cNvSpPr/>
          <p:nvPr/>
        </p:nvSpPr>
        <p:spPr>
          <a:xfrm>
            <a:off x="7219806" y="3376333"/>
            <a:ext cx="566928" cy="16459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il"/>
          <p:cNvSpPr/>
          <p:nvPr/>
        </p:nvSpPr>
        <p:spPr>
          <a:xfrm>
            <a:off x="7384398" y="3166021"/>
            <a:ext cx="182880" cy="219456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61763" y="370496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80 m</a:t>
            </a:r>
            <a:endParaRPr lang="en-US" sz="1200" dirty="0"/>
          </a:p>
        </p:txBody>
      </p:sp>
      <p:sp>
        <p:nvSpPr>
          <p:cNvPr id="14" name="path"/>
          <p:cNvSpPr/>
          <p:nvPr/>
        </p:nvSpPr>
        <p:spPr>
          <a:xfrm>
            <a:off x="7768446" y="3458629"/>
            <a:ext cx="81172" cy="8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7849618" y="3459522"/>
            <a:ext cx="81172" cy="2679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7930790" y="3462200"/>
            <a:ext cx="81172" cy="44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011962" y="3466664"/>
            <a:ext cx="81172" cy="62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093135" y="3472914"/>
            <a:ext cx="81172" cy="803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174307" y="3480950"/>
            <a:ext cx="81172" cy="98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255479" y="3490771"/>
            <a:ext cx="81172" cy="116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336651" y="3502378"/>
            <a:ext cx="81172" cy="133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417823" y="3515771"/>
            <a:ext cx="81172" cy="151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498995" y="3530950"/>
            <a:ext cx="81172" cy="169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580167" y="3547914"/>
            <a:ext cx="81172" cy="18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661339" y="3566663"/>
            <a:ext cx="81172" cy="2053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8742512" y="3587199"/>
            <a:ext cx="81172" cy="223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8823684" y="3609520"/>
            <a:ext cx="81172" cy="24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8904856" y="3633627"/>
            <a:ext cx="81172" cy="258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8986028" y="3659520"/>
            <a:ext cx="81172" cy="276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067200" y="3687198"/>
            <a:ext cx="81172" cy="294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148372" y="3716662"/>
            <a:ext cx="81172" cy="312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229544" y="3747912"/>
            <a:ext cx="81172" cy="33035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310717" y="3780947"/>
            <a:ext cx="81172" cy="348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391889" y="3815768"/>
            <a:ext cx="81172" cy="366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473061" y="3852375"/>
            <a:ext cx="81172" cy="383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554233" y="3890767"/>
            <a:ext cx="81172" cy="401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635405" y="3930945"/>
            <a:ext cx="81172" cy="419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716577" y="3972909"/>
            <a:ext cx="81172" cy="43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9797749" y="4016659"/>
            <a:ext cx="81172" cy="45535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path"/>
          <p:cNvSpPr/>
          <p:nvPr/>
        </p:nvSpPr>
        <p:spPr>
          <a:xfrm>
            <a:off x="9878922" y="4062194"/>
            <a:ext cx="81172" cy="473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1" name="path"/>
          <p:cNvSpPr/>
          <p:nvPr/>
        </p:nvSpPr>
        <p:spPr>
          <a:xfrm>
            <a:off x="9960094" y="4109515"/>
            <a:ext cx="81172" cy="49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2" name="path"/>
          <p:cNvSpPr/>
          <p:nvPr/>
        </p:nvSpPr>
        <p:spPr>
          <a:xfrm>
            <a:off x="10041266" y="4158622"/>
            <a:ext cx="81172" cy="508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3" name="path"/>
          <p:cNvSpPr/>
          <p:nvPr/>
        </p:nvSpPr>
        <p:spPr>
          <a:xfrm>
            <a:off x="10122438" y="4209514"/>
            <a:ext cx="81172" cy="526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4" name="vector"/>
          <p:cNvSpPr/>
          <p:nvPr/>
        </p:nvSpPr>
        <p:spPr>
          <a:xfrm>
            <a:off x="7768446" y="3458629"/>
            <a:ext cx="447137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Text 41"/>
          <p:cNvSpPr txBox="1"/>
          <p:nvPr/>
        </p:nvSpPr>
        <p:spPr>
          <a:xfrm>
            <a:off x="8288735" y="312030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60.0 m/s</a:t>
            </a:r>
            <a:endParaRPr lang="en-US" sz="1200" dirty="0"/>
          </a:p>
        </p:txBody>
      </p:sp>
      <p:sp>
        <p:nvSpPr>
          <p:cNvPr id="46" name="ball"/>
          <p:cNvSpPr/>
          <p:nvPr/>
        </p:nvSpPr>
        <p:spPr>
          <a:xfrm>
            <a:off x="7704438" y="3394621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Mission 2: the supply drop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plane flying level at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60 m/s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80 m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above the ground, releases a crate. Ignore air resistance.</a:t>
            </a:r>
            <a:endParaRPr lang="en-US" sz="18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943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 Time in the air, t = √(2h ÷ g)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4.04 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 Landing distance, x =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242.4 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 Downward speed,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= gt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39.6 m/s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 Landing speed, v = √(v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 +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²)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71.9 m/s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 Angle below horizontal, θ = tan⁻¹(v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y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÷ v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chemeClr val="tx1"/>
                          </a:solidFill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33.4°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diagram panel"/>
          <p:cNvSpPr/>
          <p:nvPr/>
        </p:nvSpPr>
        <p:spPr>
          <a:xfrm>
            <a:off x="6922008" y="2807004"/>
            <a:ext cx="4672584" cy="2158392"/>
          </a:xfrm>
          <a:prstGeom prst="roundRect">
            <a:avLst>
              <a:gd name="adj" fmla="val 5084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ground"/>
          <p:cNvSpPr/>
          <p:nvPr/>
        </p:nvSpPr>
        <p:spPr>
          <a:xfrm>
            <a:off x="7086600" y="4262192"/>
            <a:ext cx="429469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height"/>
          <p:cNvSpPr/>
          <p:nvPr/>
        </p:nvSpPr>
        <p:spPr>
          <a:xfrm flipV="1">
            <a:off x="7646688" y="3458629"/>
            <a:ext cx="0" cy="803563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</a:ln>
        </p:spPr>
      </p:sp>
      <p:sp>
        <p:nvSpPr>
          <p:cNvPr id="11" name="plane"/>
          <p:cNvSpPr/>
          <p:nvPr/>
        </p:nvSpPr>
        <p:spPr>
          <a:xfrm>
            <a:off x="7219806" y="3376333"/>
            <a:ext cx="566928" cy="16459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il"/>
          <p:cNvSpPr/>
          <p:nvPr/>
        </p:nvSpPr>
        <p:spPr>
          <a:xfrm>
            <a:off x="7384398" y="3166021"/>
            <a:ext cx="182880" cy="219456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61763" y="370496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80 m</a:t>
            </a:r>
            <a:endParaRPr lang="en-US" sz="1200" dirty="0"/>
          </a:p>
        </p:txBody>
      </p:sp>
      <p:sp>
        <p:nvSpPr>
          <p:cNvPr id="14" name="path"/>
          <p:cNvSpPr/>
          <p:nvPr/>
        </p:nvSpPr>
        <p:spPr>
          <a:xfrm>
            <a:off x="7768446" y="3458629"/>
            <a:ext cx="81172" cy="8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5" name="path"/>
          <p:cNvSpPr/>
          <p:nvPr/>
        </p:nvSpPr>
        <p:spPr>
          <a:xfrm>
            <a:off x="7849618" y="3459522"/>
            <a:ext cx="81172" cy="2679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6" name="path"/>
          <p:cNvSpPr/>
          <p:nvPr/>
        </p:nvSpPr>
        <p:spPr>
          <a:xfrm>
            <a:off x="7930790" y="3462200"/>
            <a:ext cx="81172" cy="44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7" name="path"/>
          <p:cNvSpPr/>
          <p:nvPr/>
        </p:nvSpPr>
        <p:spPr>
          <a:xfrm>
            <a:off x="8011962" y="3466664"/>
            <a:ext cx="81172" cy="62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8" name="path"/>
          <p:cNvSpPr/>
          <p:nvPr/>
        </p:nvSpPr>
        <p:spPr>
          <a:xfrm>
            <a:off x="8093135" y="3472914"/>
            <a:ext cx="81172" cy="803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19" name="path"/>
          <p:cNvSpPr/>
          <p:nvPr/>
        </p:nvSpPr>
        <p:spPr>
          <a:xfrm>
            <a:off x="8174307" y="3480950"/>
            <a:ext cx="81172" cy="98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0" name="path"/>
          <p:cNvSpPr/>
          <p:nvPr/>
        </p:nvSpPr>
        <p:spPr>
          <a:xfrm>
            <a:off x="8255479" y="3490771"/>
            <a:ext cx="81172" cy="116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1" name="path"/>
          <p:cNvSpPr/>
          <p:nvPr/>
        </p:nvSpPr>
        <p:spPr>
          <a:xfrm>
            <a:off x="8336651" y="3502378"/>
            <a:ext cx="81172" cy="133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2" name="path"/>
          <p:cNvSpPr/>
          <p:nvPr/>
        </p:nvSpPr>
        <p:spPr>
          <a:xfrm>
            <a:off x="8417823" y="3515771"/>
            <a:ext cx="81172" cy="151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3" name="path"/>
          <p:cNvSpPr/>
          <p:nvPr/>
        </p:nvSpPr>
        <p:spPr>
          <a:xfrm>
            <a:off x="8498995" y="3530950"/>
            <a:ext cx="81172" cy="169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4" name="path"/>
          <p:cNvSpPr/>
          <p:nvPr/>
        </p:nvSpPr>
        <p:spPr>
          <a:xfrm>
            <a:off x="8580167" y="3547914"/>
            <a:ext cx="81172" cy="18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5" name="path"/>
          <p:cNvSpPr/>
          <p:nvPr/>
        </p:nvSpPr>
        <p:spPr>
          <a:xfrm>
            <a:off x="8661339" y="3566663"/>
            <a:ext cx="81172" cy="20536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6" name="path"/>
          <p:cNvSpPr/>
          <p:nvPr/>
        </p:nvSpPr>
        <p:spPr>
          <a:xfrm>
            <a:off x="8742512" y="3587199"/>
            <a:ext cx="81172" cy="223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7" name="path"/>
          <p:cNvSpPr/>
          <p:nvPr/>
        </p:nvSpPr>
        <p:spPr>
          <a:xfrm>
            <a:off x="8823684" y="3609520"/>
            <a:ext cx="81172" cy="24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8" name="path"/>
          <p:cNvSpPr/>
          <p:nvPr/>
        </p:nvSpPr>
        <p:spPr>
          <a:xfrm>
            <a:off x="8904856" y="3633627"/>
            <a:ext cx="81172" cy="25893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29" name="path"/>
          <p:cNvSpPr/>
          <p:nvPr/>
        </p:nvSpPr>
        <p:spPr>
          <a:xfrm>
            <a:off x="8986028" y="3659520"/>
            <a:ext cx="81172" cy="276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0" name="path"/>
          <p:cNvSpPr/>
          <p:nvPr/>
        </p:nvSpPr>
        <p:spPr>
          <a:xfrm>
            <a:off x="9067200" y="3687198"/>
            <a:ext cx="81172" cy="294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1" name="path"/>
          <p:cNvSpPr/>
          <p:nvPr/>
        </p:nvSpPr>
        <p:spPr>
          <a:xfrm>
            <a:off x="9148372" y="3716662"/>
            <a:ext cx="81172" cy="312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2" name="path"/>
          <p:cNvSpPr/>
          <p:nvPr/>
        </p:nvSpPr>
        <p:spPr>
          <a:xfrm>
            <a:off x="9229544" y="3747912"/>
            <a:ext cx="81172" cy="33035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3" name="path"/>
          <p:cNvSpPr/>
          <p:nvPr/>
        </p:nvSpPr>
        <p:spPr>
          <a:xfrm>
            <a:off x="9310717" y="3780947"/>
            <a:ext cx="81172" cy="348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4" name="path"/>
          <p:cNvSpPr/>
          <p:nvPr/>
        </p:nvSpPr>
        <p:spPr>
          <a:xfrm>
            <a:off x="9391889" y="3815768"/>
            <a:ext cx="81172" cy="366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5" name="path"/>
          <p:cNvSpPr/>
          <p:nvPr/>
        </p:nvSpPr>
        <p:spPr>
          <a:xfrm>
            <a:off x="9473061" y="3852375"/>
            <a:ext cx="81172" cy="383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6" name="path"/>
          <p:cNvSpPr/>
          <p:nvPr/>
        </p:nvSpPr>
        <p:spPr>
          <a:xfrm>
            <a:off x="9554233" y="3890767"/>
            <a:ext cx="81172" cy="401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7" name="path"/>
          <p:cNvSpPr/>
          <p:nvPr/>
        </p:nvSpPr>
        <p:spPr>
          <a:xfrm>
            <a:off x="9635405" y="3930945"/>
            <a:ext cx="81172" cy="4196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8" name="path"/>
          <p:cNvSpPr/>
          <p:nvPr/>
        </p:nvSpPr>
        <p:spPr>
          <a:xfrm>
            <a:off x="9716577" y="3972909"/>
            <a:ext cx="81172" cy="4375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39" name="path"/>
          <p:cNvSpPr/>
          <p:nvPr/>
        </p:nvSpPr>
        <p:spPr>
          <a:xfrm>
            <a:off x="9797749" y="4016659"/>
            <a:ext cx="81172" cy="45535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0" name="path"/>
          <p:cNvSpPr/>
          <p:nvPr/>
        </p:nvSpPr>
        <p:spPr>
          <a:xfrm>
            <a:off x="9878922" y="4062194"/>
            <a:ext cx="81172" cy="47321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1" name="path"/>
          <p:cNvSpPr/>
          <p:nvPr/>
        </p:nvSpPr>
        <p:spPr>
          <a:xfrm>
            <a:off x="9960094" y="4109515"/>
            <a:ext cx="81172" cy="49107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2" name="path"/>
          <p:cNvSpPr/>
          <p:nvPr/>
        </p:nvSpPr>
        <p:spPr>
          <a:xfrm>
            <a:off x="10041266" y="4158622"/>
            <a:ext cx="81172" cy="508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3" name="path"/>
          <p:cNvSpPr/>
          <p:nvPr/>
        </p:nvSpPr>
        <p:spPr>
          <a:xfrm>
            <a:off x="10122438" y="4209514"/>
            <a:ext cx="81172" cy="5267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dash"/>
          </a:ln>
        </p:spPr>
      </p:sp>
      <p:sp>
        <p:nvSpPr>
          <p:cNvPr id="44" name="vector"/>
          <p:cNvSpPr/>
          <p:nvPr/>
        </p:nvSpPr>
        <p:spPr>
          <a:xfrm>
            <a:off x="7768446" y="3458629"/>
            <a:ext cx="447137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Text 41"/>
          <p:cNvSpPr txBox="1"/>
          <p:nvPr/>
        </p:nvSpPr>
        <p:spPr>
          <a:xfrm>
            <a:off x="8288735" y="312030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2"/>
                </a:solidFill>
              </a:rPr>
              <a:t>x</a:t>
            </a:r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 = 60.0 m/s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9229544" y="35040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 = 4.04 s</a:t>
            </a:r>
            <a:endParaRPr lang="en-US" sz="1300" dirty="0"/>
          </a:p>
        </p:txBody>
      </p:sp>
      <p:sp>
        <p:nvSpPr>
          <p:cNvPr id="47" name="x"/>
          <p:cNvSpPr/>
          <p:nvPr/>
        </p:nvSpPr>
        <p:spPr>
          <a:xfrm>
            <a:off x="7768446" y="4353632"/>
            <a:ext cx="243516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010992" y="4362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x = 242.4 m</a:t>
            </a:r>
            <a:endParaRPr lang="en-US" sz="1300" dirty="0"/>
          </a:p>
        </p:txBody>
      </p:sp>
      <p:sp>
        <p:nvSpPr>
          <p:cNvPr id="49" name="vector"/>
          <p:cNvSpPr/>
          <p:nvPr/>
        </p:nvSpPr>
        <p:spPr>
          <a:xfrm>
            <a:off x="10203610" y="4262192"/>
            <a:ext cx="447137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vector"/>
          <p:cNvSpPr/>
          <p:nvPr/>
        </p:nvSpPr>
        <p:spPr>
          <a:xfrm>
            <a:off x="10650747" y="4262192"/>
            <a:ext cx="0" cy="295096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1" name="vector"/>
          <p:cNvSpPr/>
          <p:nvPr/>
        </p:nvSpPr>
        <p:spPr>
          <a:xfrm>
            <a:off x="10203610" y="4262192"/>
            <a:ext cx="447137" cy="295096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2" name="Text 48"/>
          <p:cNvSpPr txBox="1"/>
          <p:nvPr/>
        </p:nvSpPr>
        <p:spPr>
          <a:xfrm>
            <a:off x="10723899" y="42542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</a:t>
            </a:r>
            <a:pPr algn="l" indent="0" marL="0">
              <a:buNone/>
            </a:pPr>
            <a:r>
              <a:rPr lang="en-US" sz="1200" b="1" baseline="-40000" dirty="0">
                <a:solidFill>
                  <a:schemeClr val="accent3"/>
                </a:solidFill>
              </a:rPr>
              <a:t>y</a:t>
            </a:r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 = 39.6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9380650" y="43627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33.4°</a:t>
            </a:r>
            <a:endParaRPr lang="en-US" sz="1200" dirty="0"/>
          </a:p>
        </p:txBody>
      </p:sp>
      <p:sp>
        <p:nvSpPr>
          <p:cNvPr id="54" name="ball"/>
          <p:cNvSpPr/>
          <p:nvPr/>
        </p:nvSpPr>
        <p:spPr>
          <a:xfrm>
            <a:off x="10139602" y="4198184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mission 2, the plane keeps flying at 60 m/s. Ignoring air, where is the crate when it hits the ground?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Directly below the plane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Behind the plane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 front of the plane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Right where it was released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In mission 2, the plane keeps flying at 60 m/s. Ignoring air, where is the crate when it hits the ground?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Directly below the plane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Behind the plane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In front of the plane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Right where it was released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crate keeps the plane's 60 m/s sideways speed, so it stays under the plane the whole way down.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rolls off a 1.25 m table and lands 1.5 m away. About how fast was it rolling?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3.0 m/s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1.2 m/s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1.9 m/s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0.34 m/s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 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ball rolls off a 1.25 m table and lands 1.5 m away. About how fast was it rolling?</a:t>
            </a:r>
            <a:endParaRPr lang="en-US" sz="2400" dirty="0"/>
          </a:p>
        </p:txBody>
      </p:sp>
      <p:sp>
        <p:nvSpPr>
          <p:cNvPr id="6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3.0 m/s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1.2 m/s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1.9 m/s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0.34 m/s</a:t>
            </a:r>
            <a:endParaRPr lang="en-US" sz="2000" dirty="0"/>
          </a:p>
        </p:txBody>
      </p:sp>
      <p:sp>
        <p:nvSpPr>
          <p:cNvPr id="23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 = √(2 × 1.25 ÷ 9.8) = 0.51 s, so v</a:t>
            </a:r>
            <a:pPr indent="0" marL="0">
              <a:spcAft>
                <a:spcPts val="600"/>
              </a:spcAft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= 1.5 ÷ 0.51 = 3.0 m/s.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spot the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Each student made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one mistake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. What went wrong? What is the correct answer?</a:t>
            </a:r>
            <a:endParaRPr lang="en-US" sz="1800" dirty="0"/>
          </a:p>
        </p:txBody>
      </p:sp>
      <p:sp>
        <p:nvSpPr>
          <p:cNvPr id="7" name="student work"/>
          <p:cNvSpPr/>
          <p:nvPr/>
        </p:nvSpPr>
        <p:spPr>
          <a:xfrm>
            <a:off x="548640" y="20574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 1.25 m table at 3.0 m/s. Time in the air?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15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Jordan's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t = 1.25 ÷ 3.0 = 0.42 s</a:t>
            </a:r>
            <a:endParaRPr lang="en-US" sz="1500" dirty="0"/>
          </a:p>
        </p:txBody>
      </p:sp>
      <p:sp>
        <p:nvSpPr>
          <p:cNvPr id="10" name="student work"/>
          <p:cNvSpPr/>
          <p:nvPr/>
        </p:nvSpPr>
        <p:spPr>
          <a:xfrm>
            <a:off x="6172200" y="20574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5508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 How far does a ball fall in 2.0 s?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715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Sam's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d = ½ × 9.8 × 2.0 = 9.8 m</a:t>
            </a:r>
            <a:endParaRPr lang="en-US" sz="1500" dirty="0"/>
          </a:p>
        </p:txBody>
      </p:sp>
      <p:sp>
        <p:nvSpPr>
          <p:cNvPr id="13" name="student work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 v</a:t>
            </a:r>
            <a:pPr indent="0" marL="0">
              <a:spcAft>
                <a:spcPts val="600"/>
              </a:spcAft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 = 6.0 m/s, v</a:t>
            </a:r>
            <a:pPr indent="0" marL="0">
              <a:spcAft>
                <a:spcPts val="600"/>
              </a:spcAft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 = 8.0 m/s. Speed?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910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Alex's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v = 6.0 + 8.0 = 14.0 m/s</a:t>
            </a:r>
            <a:endParaRPr lang="en-US" sz="1500" dirty="0"/>
          </a:p>
        </p:txBody>
      </p:sp>
      <p:sp>
        <p:nvSpPr>
          <p:cNvPr id="16" name="student work"/>
          <p:cNvSpPr/>
          <p:nvPr/>
        </p:nvSpPr>
        <p:spPr>
          <a:xfrm>
            <a:off x="617220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35508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4. 1.0 m table at 2.0 m/s. Landing distance?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4910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Riley's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t = 0.45 s, x = ½ × 2.0 × 0.45² = 0.20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spot the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What went wrong, and the fix:</a:t>
            </a:r>
            <a:endParaRPr lang="en-US" sz="1800" dirty="0"/>
          </a:p>
        </p:txBody>
      </p:sp>
      <p:sp>
        <p:nvSpPr>
          <p:cNvPr id="7" name="student work"/>
          <p:cNvSpPr/>
          <p:nvPr/>
        </p:nvSpPr>
        <p:spPr>
          <a:xfrm>
            <a:off x="548640" y="20574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 1.25 m table at 3.0 m/s. Time in the air?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15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Jordan's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t = 1.25 ÷ 3.0 = 0.42 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Mistake: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used the sideways speed; time depends only on height.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Fix: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t = √(2 × 1.25 ÷ 9.8) =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0.51 s</a:t>
            </a:r>
            <a:endParaRPr lang="en-US" sz="1350" dirty="0"/>
          </a:p>
        </p:txBody>
      </p:sp>
      <p:sp>
        <p:nvSpPr>
          <p:cNvPr id="11" name="student work"/>
          <p:cNvSpPr/>
          <p:nvPr/>
        </p:nvSpPr>
        <p:spPr>
          <a:xfrm>
            <a:off x="6172200" y="20574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 How far does a ball fall in 2.0 s?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715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Sam's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d = ½ × 9.8 × 2.0 = 9.8 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Mistake: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forgot to square t.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Fix: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d = ½ × 9.8 × 2.0² =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19.6 m</a:t>
            </a:r>
            <a:endParaRPr lang="en-US" sz="1350" dirty="0"/>
          </a:p>
        </p:txBody>
      </p:sp>
      <p:sp>
        <p:nvSpPr>
          <p:cNvPr id="15" name="student work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 v</a:t>
            </a:r>
            <a:pPr indent="0" marL="0">
              <a:spcAft>
                <a:spcPts val="600"/>
              </a:spcAft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 = 6.0 m/s, v</a:t>
            </a:r>
            <a:pPr indent="0" marL="0">
              <a:spcAft>
                <a:spcPts val="600"/>
              </a:spcAft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 = 8.0 m/s. Speed?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910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Alex's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v = 6.0 + 8.0 = 14.0 m/s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440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Mistake: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added the components.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Fix: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v = √(36 + 64) =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10.0 m/s</a:t>
            </a:r>
            <a:endParaRPr lang="en-US" sz="1350" dirty="0"/>
          </a:p>
        </p:txBody>
      </p:sp>
      <p:sp>
        <p:nvSpPr>
          <p:cNvPr id="19" name="student work"/>
          <p:cNvSpPr/>
          <p:nvPr/>
        </p:nvSpPr>
        <p:spPr>
          <a:xfrm>
            <a:off x="617220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4. 1.0 m table at 2.0 m/s. Landing distance?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4910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Riley's work: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t = 0.45 s, x = ½ × 2.0 × 0.45² = 0.20 m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5440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Mistake: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used a falling equation sideways.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Fix: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 x = v</a:t>
            </a:r>
            <a:pPr indent="0" marL="0">
              <a:spcAft>
                <a:spcPts val="200"/>
              </a:spcAft>
              <a:buNone/>
            </a:pPr>
            <a:r>
              <a:rPr lang="en-US" sz="1350" baseline="-40000" dirty="0">
                <a:solidFill>
                  <a:schemeClr val="accent5"/>
                </a:solidFill>
              </a:rPr>
              <a:t>x</a:t>
            </a:r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t = 2.0 × 0.45 =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chemeClr val="accent5"/>
                </a:solidFill>
              </a:rPr>
              <a:t>0.90 m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Final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9</a:t>
            </a:r>
            <a:endParaRPr lang="en-US" sz="2340" dirty="0"/>
          </a:p>
        </p:txBody>
      </p:sp>
      <p:pic>
        <p:nvPicPr>
          <p:cNvPr id="4" name="Image 0" descr="Fin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Final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9 of 9 · about 8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Final check</a:t>
            </a:r>
            <a:endParaRPr lang="en-US" sz="4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final check works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87452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10 questions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Picked at random: multiple choice and calculations.</a:t>
            </a:r>
            <a:endParaRPr lang="en-US" sz="1900" dirty="0"/>
          </a:p>
        </p:txBody>
      </p:sp>
      <p:sp>
        <p:nvSpPr>
          <p:cNvPr id="6" name="panel"/>
          <p:cNvSpPr/>
          <p:nvPr/>
        </p:nvSpPr>
        <p:spPr>
          <a:xfrm>
            <a:off x="3364992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66160" y="187452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8 out of 10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needed to pass.</a:t>
            </a:r>
            <a:endParaRPr lang="en-US" sz="1900" dirty="0"/>
          </a:p>
        </p:txBody>
      </p:sp>
      <p:sp>
        <p:nvSpPr>
          <p:cNvPr id="8" name="panel"/>
          <p:cNvSpPr/>
          <p:nvPr/>
        </p:nvSpPr>
        <p:spPr>
          <a:xfrm>
            <a:off x="6181344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82512" y="187452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New questions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on every retake.</a:t>
            </a:r>
            <a:endParaRPr lang="en-US" sz="1900" dirty="0"/>
          </a:p>
        </p:txBody>
      </p:sp>
      <p:sp>
        <p:nvSpPr>
          <p:cNvPr id="10" name="panel"/>
          <p:cNvSpPr/>
          <p:nvPr/>
        </p:nvSpPr>
        <p:spPr>
          <a:xfrm>
            <a:off x="8997696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98864" y="187452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Quick review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appears after 3 tries that don't pass.</a:t>
            </a:r>
            <a:endParaRPr lang="en-US" sz="1900" dirty="0"/>
          </a:p>
        </p:txBody>
      </p:sp>
      <p:sp>
        <p:nvSpPr>
          <p:cNvPr id="12" name="panel"/>
          <p:cNvSpPr/>
          <p:nvPr/>
        </p:nvSpPr>
        <p:spPr>
          <a:xfrm>
            <a:off x="548640" y="443484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544568"/>
            <a:ext cx="106619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You won't see right or wrong until you submit. Use g = 9.8 m/s², round to one decimal place (two for times), and use the built-in calculator.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whole lesson on one slide</a:t>
            </a:r>
            <a:endParaRPr lang="en-US" sz="3200" dirty="0"/>
          </a:p>
        </p:txBody>
      </p:sp>
      <p:sp>
        <p:nvSpPr>
          <p:cNvPr id="4" name="step"/>
          <p:cNvSpPr/>
          <p:nvPr/>
        </p:nvSpPr>
        <p:spPr>
          <a:xfrm>
            <a:off x="548640" y="17556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4592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Independent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  Sideways speed never changes; downward speed starts at 0 and grows 9.8 m/s each second.</a:t>
            </a:r>
            <a:endParaRPr lang="en-US" sz="1900" dirty="0"/>
          </a:p>
        </p:txBody>
      </p:sp>
      <p:sp>
        <p:nvSpPr>
          <p:cNvPr id="7" name="step"/>
          <p:cNvSpPr/>
          <p:nvPr/>
        </p:nvSpPr>
        <p:spPr>
          <a:xfrm>
            <a:off x="548640" y="2651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54203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Horizontal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  x = 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</a:t>
            </a:r>
            <a:endParaRPr lang="en-US" sz="1900" dirty="0"/>
          </a:p>
        </p:txBody>
      </p:sp>
      <p:sp>
        <p:nvSpPr>
          <p:cNvPr id="10" name="step"/>
          <p:cNvSpPr/>
          <p:nvPr/>
        </p:nvSpPr>
        <p:spPr>
          <a:xfrm>
            <a:off x="548640" y="354787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438144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Vertical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  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gt   and   d = ½gt²</a:t>
            </a:r>
            <a:endParaRPr lang="en-US" sz="1900" dirty="0"/>
          </a:p>
        </p:txBody>
      </p:sp>
      <p:sp>
        <p:nvSpPr>
          <p:cNvPr id="13" name="step"/>
          <p:cNvSpPr/>
          <p:nvPr/>
        </p:nvSpPr>
        <p:spPr>
          <a:xfrm>
            <a:off x="548640" y="444398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334256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Time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  t = √(2h ÷ g). The same t works for both directions.</a:t>
            </a:r>
            <a:endParaRPr lang="en-US" sz="1900" dirty="0"/>
          </a:p>
        </p:txBody>
      </p:sp>
      <p:sp>
        <p:nvSpPr>
          <p:cNvPr id="16" name="step"/>
          <p:cNvSpPr/>
          <p:nvPr/>
        </p:nvSpPr>
        <p:spPr>
          <a:xfrm>
            <a:off x="548640" y="534009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340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5230368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Velocity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  v = √(v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² + 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²),  θ = tan⁻¹(v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÷ v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) below horizontal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Result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10</a:t>
            </a:r>
            <a:endParaRPr lang="en-US" sz="2340" dirty="0"/>
          </a:p>
        </p:txBody>
      </p:sp>
      <p:pic>
        <p:nvPicPr>
          <p:cNvPr id="4" name="Image 0" descr="Resul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Results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Results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Finish and turn in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39776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Your results page shows your lesson score and final check score. Your scores are sent to your teacher automatically when you pass. You can also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download the CSV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2"/>
                </a:solidFill>
              </a:rPr>
              <a:t> or print.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s Night Grid">
  <a:themeElements>
    <a:clrScheme name="Vectors Night Grid">
      <a:dk1>
        <a:srgbClr val="E8EEF8"/>
      </a:dk1>
      <a:lt1>
        <a:srgbClr val="0D1626"/>
      </a:lt1>
      <a:dk2>
        <a:srgbClr val="A3B4CF"/>
      </a:dk2>
      <a:lt2>
        <a:srgbClr val="16243B"/>
      </a:lt2>
      <a:accent1>
        <a:srgbClr val="FFD35C"/>
      </a:accent1>
      <a:accent2>
        <a:srgbClr val="FF7D6E"/>
      </a:accent2>
      <a:accent3>
        <a:srgbClr val="45C8F0"/>
      </a:accent3>
      <a:accent4>
        <a:srgbClr val="B996FF"/>
      </a:accent4>
      <a:accent5>
        <a:srgbClr val="5FE3A9"/>
      </a:accent5>
      <a:accent6>
        <a:srgbClr val="F5A524"/>
      </a:accent6>
      <a:hlink>
        <a:srgbClr val="45C8F0"/>
      </a:hlink>
      <a:folHlink>
        <a:srgbClr val="B996FF"/>
      </a:folHlink>
    </a:clrScheme>
    <a:fontScheme name="Vectors Night Gri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Horizontal and Vertical Motion</dc:title>
  <dc:subject>Physics Unit 3: 2D Kinematics and Projectile Motion</dc:subject>
  <dc:creator>PptxGenJS</dc:creator>
  <cp:lastModifiedBy>PptxGenJS</cp:lastModifiedBy>
  <cp:revision>1</cp:revision>
  <dcterms:created xsi:type="dcterms:W3CDTF">2026-10-19T22:14:33Z</dcterms:created>
  <dcterms:modified xsi:type="dcterms:W3CDTF">2026-10-19T22:14:33Z</dcterms:modified>
</cp:coreProperties>
</file>