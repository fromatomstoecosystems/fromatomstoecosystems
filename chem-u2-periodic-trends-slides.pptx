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3.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e8fd6209-8e6b-37f9-3bde-f9c11cc67c39}">
          <p14:sldIdLst>
            <p14:sldId id="256"/>
            <p14:sldId id="257"/>
            <p14:sldId id="258"/>
            <p14:sldId id="259"/>
          </p14:sldIdLst>
        </p14:section>
        <p14:section name="Section 1" id="{766ec07e-5618-2180-6c9a-4f2b8d07a35f}">
          <p14:sldIdLst>
            <p14:sldId id="260"/>
            <p14:sldId id="261"/>
            <p14:sldId id="262"/>
            <p14:sldId id="263"/>
            <p14:sldId id="264"/>
            <p14:sldId id="265"/>
          </p14:sldIdLst>
        </p14:section>
        <p14:section name="Section 2" id="{88276a18-9519-aaaa-89d6-5df462979a13}">
          <p14:sldIdLst>
            <p14:sldId id="266"/>
            <p14:sldId id="267"/>
            <p14:sldId id="268"/>
            <p14:sldId id="269"/>
            <p14:sldId id="270"/>
            <p14:sldId id="271"/>
            <p14:sldId id="272"/>
            <p14:sldId id="273"/>
          </p14:sldIdLst>
        </p14:section>
        <p14:section name="Section 3" id="{e7a16212-73e6-8c86-e92a-6769b33ad191}">
          <p14:sldIdLst>
            <p14:sldId id="274"/>
            <p14:sldId id="275"/>
            <p14:sldId id="276"/>
            <p14:sldId id="277"/>
            <p14:sldId id="278"/>
            <p14:sldId id="279"/>
            <p14:sldId id="280"/>
            <p14:sldId id="281"/>
            <p14:sldId id="282"/>
            <p14:sldId id="283"/>
          </p14:sldIdLst>
        </p14:section>
        <p14:section name="Section 4" id="{1e06c393-de4a-5995-ec65-455130b7d134}">
          <p14:sldIdLst>
            <p14:sldId id="284"/>
            <p14:sldId id="285"/>
            <p14:sldId id="286"/>
            <p14:sldId id="287"/>
            <p14:sldId id="288"/>
            <p14:sldId id="289"/>
            <p14:sldId id="290"/>
            <p14:sldId id="291"/>
          </p14:sldIdLst>
        </p14:section>
        <p14:section name="Section 5" id="{6ca4207a-f61a-b4d1-4ac4-ef24ff7f6747}">
          <p14:sldIdLst>
            <p14:sldId id="292"/>
            <p14:sldId id="293"/>
            <p14:sldId id="294"/>
            <p14:sldId id="295"/>
            <p14:sldId id="296"/>
            <p14:sldId id="297"/>
          </p14:sldIdLst>
        </p14:section>
        <p14:section name="Section 6" id="{c9594f2e-6c30-6fa4-cb92-5e4898fee134}">
          <p14:sldIdLst>
            <p14:sldId id="298"/>
            <p14:sldId id="299"/>
            <p14:sldId id="300"/>
            <p14:sldId id="301"/>
            <p14:sldId id="302"/>
            <p14:sldId id="303"/>
            <p14:sldId id="304"/>
            <p14:sldId id="305"/>
          </p14:sldIdLst>
        </p14:section>
        <p14:section name="Section 7" id="{b20899a9-1ec4-d540-ee26-3a10555c78ca}">
          <p14:sldIdLst>
            <p14:sldId id="306"/>
            <p14:sldId id="307"/>
            <p14:sldId id="308"/>
            <p14:sldId id="309"/>
            <p14:sldId id="310"/>
            <p14:sldId id="311"/>
          </p14:sldIdLst>
        </p14:section>
        <p14:section name="Section 8" id="{bcdf1605-c99c-3eb7-3b5c-3709ddcbd353}">
          <p14:sldIdLst>
            <p14:sldId id="312"/>
            <p14:sldId id="313"/>
            <p14:sldId id="314"/>
            <p14:sldId id="315"/>
            <p14:sldId id="316"/>
            <p14:sldId id="317"/>
          </p14:sldIdLst>
        </p14:section>
        <p14:section name="Section 9" id="{1c386e66-26aa-83a2-598c-eb7c74e832f6}">
          <p14:sldIdLst>
            <p14:sldId id="318"/>
            <p14:sldId id="319"/>
            <p14:sldId id="320"/>
          </p14:sldIdLst>
        </p14:section>
        <p14:section name="Wrap-up" id="{10f61778-069b-f3c0-a02e-89e1b1a2e45c}">
          <p14:sldIdLst>
            <p14:sldId id="321"/>
            <p14:sldId id="322"/>
            <p14:sldId id="32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First ionization energy (kJ/mol)</c:v>
                </c:pt>
              </c:strCache>
            </c:strRef>
          </c:tx>
          <c:spPr>
            <a:solidFill>
              <a:srgbClr val="F6B93B"/>
            </a:solidFill>
            <a:ln w="25400" cap="flat">
              <a:solidFill>
                <a:srgbClr val="F6B9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6B93B"/>
              </a:solidFill>
              <a:ln w="9525" cap="flat">
                <a:solidFill>
                  <a:srgbClr val="F6B93B"/>
                </a:solidFill>
                <a:prstDash val="solid"/>
                <a:round/>
              </a:ln>
              <a:effectLst/>
            </c:spPr>
          </c:marker>
          <c:cat>
            <c:multiLvlStrRef>
              <c:f>Sheet1!$A$2:$A$21</c:f>
              <c:multiLvlStrCache>
                <c:ptCount val="20"/>
                <c:lvl>
                  <c:pt idx="0">
                    <c:v>H</c:v>
                  </c:pt>
                  <c:pt idx="1">
                    <c:v>He</c:v>
                  </c:pt>
                  <c:pt idx="2">
                    <c:v>Li</c:v>
                  </c:pt>
                  <c:pt idx="3">
                    <c:v>Be</c:v>
                  </c:pt>
                  <c:pt idx="4">
                    <c:v>B</c:v>
                  </c:pt>
                  <c:pt idx="5">
                    <c:v>C</c:v>
                  </c:pt>
                  <c:pt idx="6">
                    <c:v>N</c:v>
                  </c:pt>
                  <c:pt idx="7">
                    <c:v>O</c:v>
                  </c:pt>
                  <c:pt idx="8">
                    <c:v>F</c:v>
                  </c:pt>
                  <c:pt idx="9">
                    <c:v>Ne</c:v>
                  </c:pt>
                  <c:pt idx="10">
                    <c:v>Na</c:v>
                  </c:pt>
                  <c:pt idx="11">
                    <c:v>Mg</c:v>
                  </c:pt>
                  <c:pt idx="12">
                    <c:v>Al</c:v>
                  </c:pt>
                  <c:pt idx="13">
                    <c:v>Si</c:v>
                  </c:pt>
                  <c:pt idx="14">
                    <c:v>P</c:v>
                  </c:pt>
                  <c:pt idx="15">
                    <c:v>S</c:v>
                  </c:pt>
                  <c:pt idx="16">
                    <c:v>Cl</c:v>
                  </c:pt>
                  <c:pt idx="17">
                    <c:v>Ar</c:v>
                  </c:pt>
                  <c:pt idx="18">
                    <c:v>K</c:v>
                  </c:pt>
                  <c:pt idx="19">
                    <c:v>Ca</c:v>
                  </c:pt>
                </c:lvl>
              </c:multiLvlStrCache>
            </c:multiLvlStrRef>
          </c:cat>
          <c:val>
            <c:numRef>
              <c:f>Sheet1!$B$2:$B$21</c:f>
              <c:numCache>
                <c:formatCode>General</c:formatCode>
                <c:ptCount val="20"/>
                <c:pt idx="0">
                  <c:v>1312</c:v>
                </c:pt>
                <c:pt idx="1">
                  <c:v>2372</c:v>
                </c:pt>
                <c:pt idx="2">
                  <c:v>520</c:v>
                </c:pt>
                <c:pt idx="3">
                  <c:v>900</c:v>
                </c:pt>
                <c:pt idx="4">
                  <c:v>801</c:v>
                </c:pt>
                <c:pt idx="5">
                  <c:v>1086</c:v>
                </c:pt>
                <c:pt idx="6">
                  <c:v>1402</c:v>
                </c:pt>
                <c:pt idx="7">
                  <c:v>1314</c:v>
                </c:pt>
                <c:pt idx="8">
                  <c:v>1681</c:v>
                </c:pt>
                <c:pt idx="9">
                  <c:v>2081</c:v>
                </c:pt>
                <c:pt idx="10">
                  <c:v>496</c:v>
                </c:pt>
                <c:pt idx="11">
                  <c:v>738</c:v>
                </c:pt>
                <c:pt idx="12">
                  <c:v>578</c:v>
                </c:pt>
                <c:pt idx="13">
                  <c:v>787</c:v>
                </c:pt>
                <c:pt idx="14">
                  <c:v>1012</c:v>
                </c:pt>
                <c:pt idx="15">
                  <c:v>1000</c:v>
                </c:pt>
                <c:pt idx="16">
                  <c:v>1251</c:v>
                </c:pt>
                <c:pt idx="17">
                  <c:v>1521</c:v>
                </c:pt>
                <c:pt idx="18">
                  <c:v>419</c:v>
                </c:pt>
                <c:pt idx="19">
                  <c:v>590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A9BAD6"/>
                </a:solidFill>
                <a:latin typeface="Arial"/>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6350" cap="flat">
              <a:solidFill>
                <a:srgbClr val="2A3B5E"/>
              </a:solidFill>
              <a:prstDash val="solid"/>
              <a:round/>
            </a:ln>
          </c:spPr>
        </c:majorGridlines>
        <c:title>
          <c:tx>
            <c:rich>
              <a:bodyPr/>
              <a:lstStyle/>
              <a:p>
                <a:pPr>
                  <a:defRPr sz="900" b="0" i="0" u="none" strike="noStrike">
                    <a:solidFill>
                      <a:srgbClr val="A9BAD6"/>
                    </a:solidFill>
                    <a:latin typeface="Arial"/>
                  </a:defRPr>
                </a:pPr>
                <a:r>
                  <a:rPr sz="900" b="0" i="0" u="none" strike="noStrike">
                    <a:solidFill>
                      <a:srgbClr val="A9BAD6"/>
                    </a:solidFill>
                    <a:latin typeface="Arial"/>
                  </a:rPr>
                  <a:t>kJ/mol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A9BAD6"/>
                </a:solidFill>
                <a:latin typeface="Arial"/>
              </a:defRPr>
            </a:pPr>
            <a:endParaRPr lang="en-US"/>
          </a:p>
        </c:txPr>
        <c:crossAx val="2094734554"/>
        <c:crosses val="autoZero"/>
        <c:crossBetween val="between"/>
        <c:majorUnit val="500"/>
      </c:valAx>
      <c:spPr>
        <a:solidFill>
          <a:srgbClr val="101B30"/>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First ionization energy (kJ/mol)</c:v>
                </c:pt>
              </c:strCache>
            </c:strRef>
          </c:tx>
          <c:spPr>
            <a:solidFill>
              <a:srgbClr val="F6B93B"/>
            </a:solidFill>
            <a:ln w="25400" cap="flat">
              <a:solidFill>
                <a:srgbClr val="F6B9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6B93B"/>
              </a:solidFill>
              <a:ln w="9525" cap="flat">
                <a:solidFill>
                  <a:srgbClr val="F6B93B"/>
                </a:solidFill>
                <a:prstDash val="solid"/>
                <a:round/>
              </a:ln>
              <a:effectLst/>
            </c:spPr>
          </c:marker>
          <c:cat>
            <c:multiLvlStrRef>
              <c:f>Sheet1!$A$2:$A$21</c:f>
              <c:multiLvlStrCache>
                <c:ptCount val="20"/>
                <c:lvl>
                  <c:pt idx="0">
                    <c:v>H</c:v>
                  </c:pt>
                  <c:pt idx="1">
                    <c:v>He</c:v>
                  </c:pt>
                  <c:pt idx="2">
                    <c:v>Li</c:v>
                  </c:pt>
                  <c:pt idx="3">
                    <c:v>Be</c:v>
                  </c:pt>
                  <c:pt idx="4">
                    <c:v>B</c:v>
                  </c:pt>
                  <c:pt idx="5">
                    <c:v>C</c:v>
                  </c:pt>
                  <c:pt idx="6">
                    <c:v>N</c:v>
                  </c:pt>
                  <c:pt idx="7">
                    <c:v>O</c:v>
                  </c:pt>
                  <c:pt idx="8">
                    <c:v>F</c:v>
                  </c:pt>
                  <c:pt idx="9">
                    <c:v>Ne</c:v>
                  </c:pt>
                  <c:pt idx="10">
                    <c:v>Na</c:v>
                  </c:pt>
                  <c:pt idx="11">
                    <c:v>Mg</c:v>
                  </c:pt>
                  <c:pt idx="12">
                    <c:v>Al</c:v>
                  </c:pt>
                  <c:pt idx="13">
                    <c:v>Si</c:v>
                  </c:pt>
                  <c:pt idx="14">
                    <c:v>P</c:v>
                  </c:pt>
                  <c:pt idx="15">
                    <c:v>S</c:v>
                  </c:pt>
                  <c:pt idx="16">
                    <c:v>Cl</c:v>
                  </c:pt>
                  <c:pt idx="17">
                    <c:v>Ar</c:v>
                  </c:pt>
                  <c:pt idx="18">
                    <c:v>K</c:v>
                  </c:pt>
                  <c:pt idx="19">
                    <c:v>Ca</c:v>
                  </c:pt>
                </c:lvl>
              </c:multiLvlStrCache>
            </c:multiLvlStrRef>
          </c:cat>
          <c:val>
            <c:numRef>
              <c:f>Sheet1!$B$2:$B$21</c:f>
              <c:numCache>
                <c:formatCode>General</c:formatCode>
                <c:ptCount val="20"/>
                <c:pt idx="0">
                  <c:v>1312</c:v>
                </c:pt>
                <c:pt idx="1">
                  <c:v>2372</c:v>
                </c:pt>
                <c:pt idx="2">
                  <c:v>520</c:v>
                </c:pt>
                <c:pt idx="3">
                  <c:v>900</c:v>
                </c:pt>
                <c:pt idx="4">
                  <c:v>801</c:v>
                </c:pt>
                <c:pt idx="5">
                  <c:v>1086</c:v>
                </c:pt>
                <c:pt idx="6">
                  <c:v>1402</c:v>
                </c:pt>
                <c:pt idx="7">
                  <c:v>1314</c:v>
                </c:pt>
                <c:pt idx="8">
                  <c:v>1681</c:v>
                </c:pt>
                <c:pt idx="9">
                  <c:v>2081</c:v>
                </c:pt>
                <c:pt idx="10">
                  <c:v>496</c:v>
                </c:pt>
                <c:pt idx="11">
                  <c:v>738</c:v>
                </c:pt>
                <c:pt idx="12">
                  <c:v>578</c:v>
                </c:pt>
                <c:pt idx="13">
                  <c:v>787</c:v>
                </c:pt>
                <c:pt idx="14">
                  <c:v>1012</c:v>
                </c:pt>
                <c:pt idx="15">
                  <c:v>1000</c:v>
                </c:pt>
                <c:pt idx="16">
                  <c:v>1251</c:v>
                </c:pt>
                <c:pt idx="17">
                  <c:v>1521</c:v>
                </c:pt>
                <c:pt idx="18">
                  <c:v>419</c:v>
                </c:pt>
                <c:pt idx="19">
                  <c:v>590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A9BAD6"/>
                </a:solidFill>
                <a:latin typeface="Arial"/>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6350" cap="flat">
              <a:solidFill>
                <a:srgbClr val="2A3B5E"/>
              </a:solidFill>
              <a:prstDash val="solid"/>
              <a:round/>
            </a:ln>
          </c:spPr>
        </c:majorGridlines>
        <c:title>
          <c:tx>
            <c:rich>
              <a:bodyPr/>
              <a:lstStyle/>
              <a:p>
                <a:pPr>
                  <a:defRPr sz="900" b="0" i="0" u="none" strike="noStrike">
                    <a:solidFill>
                      <a:srgbClr val="A9BAD6"/>
                    </a:solidFill>
                    <a:latin typeface="Arial"/>
                  </a:defRPr>
                </a:pPr>
                <a:r>
                  <a:rPr sz="900" b="0" i="0" u="none" strike="noStrike">
                    <a:solidFill>
                      <a:srgbClr val="A9BAD6"/>
                    </a:solidFill>
                    <a:latin typeface="Arial"/>
                  </a:rPr>
                  <a:t>kJ/mol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A9BAD6"/>
                </a:solidFill>
                <a:latin typeface="Arial"/>
              </a:defRPr>
            </a:pPr>
            <a:endParaRPr lang="en-US"/>
          </a:p>
        </c:txPr>
        <c:crossAx val="2094734554"/>
        <c:crosses val="autoZero"/>
        <c:crossBetween val="between"/>
        <c:majorUnit val="500"/>
      </c:valAx>
      <c:spPr>
        <a:solidFill>
          <a:srgbClr val="101B30"/>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First ionization energy (kJ/mol)</c:v>
                </c:pt>
              </c:strCache>
            </c:strRef>
          </c:tx>
          <c:spPr>
            <a:solidFill>
              <a:srgbClr val="F6B93B"/>
            </a:solidFill>
            <a:ln w="25400" cap="flat">
              <a:solidFill>
                <a:srgbClr val="F6B9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6B93B"/>
              </a:solidFill>
              <a:ln w="9525" cap="flat">
                <a:solidFill>
                  <a:srgbClr val="F6B93B"/>
                </a:solidFill>
                <a:prstDash val="solid"/>
                <a:round/>
              </a:ln>
              <a:effectLst/>
            </c:spPr>
          </c:marker>
          <c:cat>
            <c:multiLvlStrRef>
              <c:f>Sheet1!$A$2:$A$21</c:f>
              <c:multiLvlStrCache>
                <c:ptCount val="20"/>
                <c:lvl>
                  <c:pt idx="0">
                    <c:v>H</c:v>
                  </c:pt>
                  <c:pt idx="1">
                    <c:v>He</c:v>
                  </c:pt>
                  <c:pt idx="2">
                    <c:v>Li</c:v>
                  </c:pt>
                  <c:pt idx="3">
                    <c:v>Be</c:v>
                  </c:pt>
                  <c:pt idx="4">
                    <c:v>B</c:v>
                  </c:pt>
                  <c:pt idx="5">
                    <c:v>C</c:v>
                  </c:pt>
                  <c:pt idx="6">
                    <c:v>N</c:v>
                  </c:pt>
                  <c:pt idx="7">
                    <c:v>O</c:v>
                  </c:pt>
                  <c:pt idx="8">
                    <c:v>F</c:v>
                  </c:pt>
                  <c:pt idx="9">
                    <c:v>Ne</c:v>
                  </c:pt>
                  <c:pt idx="10">
                    <c:v>Na</c:v>
                  </c:pt>
                  <c:pt idx="11">
                    <c:v>Mg</c:v>
                  </c:pt>
                  <c:pt idx="12">
                    <c:v>Al</c:v>
                  </c:pt>
                  <c:pt idx="13">
                    <c:v>Si</c:v>
                  </c:pt>
                  <c:pt idx="14">
                    <c:v>P</c:v>
                  </c:pt>
                  <c:pt idx="15">
                    <c:v>S</c:v>
                  </c:pt>
                  <c:pt idx="16">
                    <c:v>Cl</c:v>
                  </c:pt>
                  <c:pt idx="17">
                    <c:v>Ar</c:v>
                  </c:pt>
                  <c:pt idx="18">
                    <c:v>K</c:v>
                  </c:pt>
                  <c:pt idx="19">
                    <c:v>Ca</c:v>
                  </c:pt>
                </c:lvl>
              </c:multiLvlStrCache>
            </c:multiLvlStrRef>
          </c:cat>
          <c:val>
            <c:numRef>
              <c:f>Sheet1!$B$2:$B$21</c:f>
              <c:numCache>
                <c:formatCode>General</c:formatCode>
                <c:ptCount val="20"/>
                <c:pt idx="0">
                  <c:v>1312</c:v>
                </c:pt>
                <c:pt idx="1">
                  <c:v>2372</c:v>
                </c:pt>
                <c:pt idx="2">
                  <c:v>520</c:v>
                </c:pt>
                <c:pt idx="3">
                  <c:v>900</c:v>
                </c:pt>
                <c:pt idx="4">
                  <c:v>801</c:v>
                </c:pt>
                <c:pt idx="5">
                  <c:v>1086</c:v>
                </c:pt>
                <c:pt idx="6">
                  <c:v>1402</c:v>
                </c:pt>
                <c:pt idx="7">
                  <c:v>1314</c:v>
                </c:pt>
                <c:pt idx="8">
                  <c:v>1681</c:v>
                </c:pt>
                <c:pt idx="9">
                  <c:v>2081</c:v>
                </c:pt>
                <c:pt idx="10">
                  <c:v>496</c:v>
                </c:pt>
                <c:pt idx="11">
                  <c:v>738</c:v>
                </c:pt>
                <c:pt idx="12">
                  <c:v>578</c:v>
                </c:pt>
                <c:pt idx="13">
                  <c:v>787</c:v>
                </c:pt>
                <c:pt idx="14">
                  <c:v>1012</c:v>
                </c:pt>
                <c:pt idx="15">
                  <c:v>1000</c:v>
                </c:pt>
                <c:pt idx="16">
                  <c:v>1251</c:v>
                </c:pt>
                <c:pt idx="17">
                  <c:v>1521</c:v>
                </c:pt>
                <c:pt idx="18">
                  <c:v>419</c:v>
                </c:pt>
                <c:pt idx="19">
                  <c:v>590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A9BAD6"/>
                </a:solidFill>
                <a:latin typeface="Arial"/>
              </a:defRPr>
            </a:pPr>
            <a:endParaRPr lang="en-US"/>
          </a:p>
        </c:txPr>
        <c:crossAx val="2094734552"/>
        <c:crosses val="autoZero"/>
        <c:auto val="1"/>
        <c:lblAlgn val="ctr"/>
        <c:noMultiLvlLbl val="1"/>
      </c:catAx>
      <c:valAx>
        <c:axId val="2094734552"/>
        <c:scaling>
          <c:orientation val="minMax"/>
          <c:max val="2500"/>
          <c:min val="0"/>
        </c:scaling>
        <c:delete val="0"/>
        <c:axPos val="l"/>
        <c:majorGridlines>
          <c:spPr>
            <a:ln w="6350" cap="flat">
              <a:solidFill>
                <a:srgbClr val="2A3B5E"/>
              </a:solidFill>
              <a:prstDash val="solid"/>
              <a:round/>
            </a:ln>
          </c:spPr>
        </c:majorGridlines>
        <c:title>
          <c:tx>
            <c:rich>
              <a:bodyPr/>
              <a:lstStyle/>
              <a:p>
                <a:pPr>
                  <a:defRPr sz="900" b="0" i="0" u="none" strike="noStrike">
                    <a:solidFill>
                      <a:srgbClr val="A9BAD6"/>
                    </a:solidFill>
                    <a:latin typeface="Arial"/>
                  </a:defRPr>
                </a:pPr>
                <a:r>
                  <a:rPr sz="900" b="0" i="0" u="none" strike="noStrike">
                    <a:solidFill>
                      <a:srgbClr val="A9BAD6"/>
                    </a:solidFill>
                    <a:latin typeface="Arial"/>
                  </a:rPr>
                  <a:t>kJ/mol</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A9BAD6"/>
                </a:solidFill>
                <a:latin typeface="Arial"/>
              </a:defRPr>
            </a:pPr>
            <a:endParaRPr lang="en-US"/>
          </a:p>
        </c:txPr>
        <c:crossAx val="2094734554"/>
        <c:crosses val="autoZero"/>
        <c:crossBetween val="between"/>
        <c:majorUnit val="500"/>
      </c:valAx>
      <c:spPr>
        <a:solidFill>
          <a:srgbClr val="101B30"/>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slides follow the Periodic Trends self-taught lesson section by section. Every activity and quick check has a slide without the answer, then a slide with the answer. Atoms on the slides are drawn to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together. The three trend cards are the whole lesson in one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signs in and picks their teacher from the dropdown, which is how scores reach the right gradebook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sections, about 65 minutes. Each tile shows an atom drawn to scale. The He tile is the results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takes about 4 minutes: periods, groups, and what a trend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Words in blue are word-help chips in the lesson. Point out rows vs. columns on the mini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find each one on their own table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Sodium, fluorine, calcium, oxygen, argon. Rows are periods, columns are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1.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Sodium and chlorine are both in period 3, so it is moving across a period (left to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takes about 7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 a group atoms get larger; across a period they get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corner holds the largest atoms?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Lithium, hydrogen, potassium, argon, bromine. The heat map shows larger atoms brighter, toward the bottom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period: farther left is larger. Same group: lower is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Lithium, potassium, magnesium, bromine, silicon.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2.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Fluorine is farthest right and highest up, so it is the smallest (42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takes about 7 minutes: the reasons behind the radius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number of shells, more protons: chlorine pulls its electrons in tighter, so it is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also slide down group 1 (H, Li, Na, K) in the lesson: shells increase, so atoms get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Protons go up, shells stay at 3, the radius shrinks from 190 to 71 pm. Down group 1, the shell count goes up and the radius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shells and shielding push electrons out; more protons pull them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Larger: adding a shell, moving down a group, more shielding. Smaller: more protons with the same shells, moving right, a stronger 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write the order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show each atom's radius in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3.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Both have 3 shells. Chlorine has 17 protons instead of 11, so it pulls its electrons in tighter.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takes about 7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drops at Li, Na, and K: a new shell starts, so the electron is easy to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tap points on the graph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Helium (2372), sodium (496), neon (2081) kJ/mol.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smaller atom holds its electrons tighter.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Chlorine, lithium, fluorine, magnesium, silicon.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4.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Group 1 atoms are the largest in each period, so their outer electron is easiest to remove.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takes about 7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Electronegativity follows the same pattern as ionization energy: higher toward the top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revealing, ask which atom is smaller in each bond.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Chlorine, oxygen, nitrogen, fluorine, oxygen. The pink pair moves toward the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5.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Fluorine is the most electronegative element (3.98). Neon is a noble gas, so it is left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takes about 9 minutes. This is the key idea of the lesson: atomic radius explains the other two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four-step chain. Students will use it to explain, not just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an element in each of three rows, then finish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larger atom wins radius; the smaller atom wins ionization energy and electronegativity, because its outer electrons are closer and pulled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two or three minutes to write. The lesson checks that they mention size, distance, and 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complete answer names the size, where the outer electrons are, and how hard the nucleus pulls.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6.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The smaller atom, Y, holds electrons tighter, so it has the higher ionization energy and the higher electronegativity.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7 takes about 7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Radius first, then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tap the elements in order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answer lists the values for that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7.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Going up group 1 (K → Na → Li), atoms get smaller, so ionization energy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takes about 6 minutes. Students decide whether each claim is correct, and if not, choose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plus reason makes a complete claim. Either part can be the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claim: is the direction right? Is the reason right? If not, how would you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1, 3, and 5 have the wrong direction. Claim 4 has the right direction but the wrong reason. Claim 2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check students answer in Section 8. Give them time to answer on their screens first, or have the class vote (1 = A, 2 = B, 3 = C, 4 = D). The next slide shows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Same period: sulfur has more protons pulling the same 3 shells, so it is smaller and holds its electrons tighter.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is the final check. The quick review slide is what students see after 3 failed 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quick review students see if they fail the final check 3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GitHub site the check runs full screen. Leaving the page or pressing Esc locks it until you enter the teacher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that each student's results page says 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early finishers. Students write one sentence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answer uses size to explain the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6002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971800"/>
            <a:ext cx="4572000" cy="822960"/>
          </a:xfrm>
          <a:prstGeom prst="rect">
            <a:avLst/>
          </a:prstGeom>
          <a:noFill/>
          <a:ln/>
        </p:spPr>
        <p:txBody>
          <a:bodyPr wrap="square" rtlCol="0"/>
          <a:lstStyle>
            <a:lvl1pPr algn="l" indent="0" marL="0">
              <a:buNone/>
              <a:defRPr lang="en-US" sz="1600" dirty="0">
                <a:solidFill>
                  <a:schemeClr val="bg2"/>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66928"/>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PE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417320" y="329184"/>
            <a:ext cx="7223760" cy="256032"/>
          </a:xfrm>
          <a:prstGeom prst="rect">
            <a:avLst/>
          </a:prstGeom>
          <a:noFill/>
          <a:ln/>
        </p:spPr>
        <p:txBody>
          <a:bodyPr wrap="square" rtlCol="0"/>
          <a:lstStyle>
            <a:lvl1pPr algn="l" indent="0" marL="0">
              <a:buNone/>
              <a:defRPr lang="en-US" sz="1200" dirty="0">
                <a:solidFill>
                  <a:schemeClr val="bg2"/>
                </a:solidFill>
              </a:defRPr>
            </a:lvl1pPr>
          </a:lstStyle>
          <a:p>
            <a:pPr algn="l" indent="0" marL="0">
              <a:buNone/>
            </a:pPr>
            <a:endParaRPr lang="en-US" sz="1200" dirty="0"/>
          </a:p>
        </p:txBody>
      </p:sp>
      <p:sp>
        <p:nvSpPr>
          <p:cNvPr id="3" name="Text 0"/>
          <p:cNvSpPr/>
          <p:nvPr>
            <p:ph idx="101" type="title" hasCustomPrompt="1"/>
          </p:nvPr>
        </p:nvSpPr>
        <p:spPr>
          <a:xfrm>
            <a:off x="1417320" y="603504"/>
            <a:ext cx="7223760" cy="53035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PEN_SM">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417320" y="329184"/>
            <a:ext cx="7223760" cy="256032"/>
          </a:xfrm>
          <a:prstGeom prst="rect">
            <a:avLst/>
          </a:prstGeom>
          <a:noFill/>
          <a:ln/>
        </p:spPr>
        <p:txBody>
          <a:bodyPr wrap="square" rtlCol="0"/>
          <a:lstStyle>
            <a:lvl1pPr algn="l" indent="0" marL="0">
              <a:buNone/>
              <a:defRPr lang="en-US" sz="1200" dirty="0">
                <a:solidFill>
                  <a:schemeClr val="bg2"/>
                </a:solidFill>
              </a:defRPr>
            </a:lvl1pPr>
          </a:lstStyle>
          <a:p>
            <a:pPr algn="l" indent="0" marL="0">
              <a:buNone/>
            </a:pPr>
            <a:endParaRPr lang="en-US" sz="1200" dirty="0"/>
          </a:p>
        </p:txBody>
      </p:sp>
      <p:sp>
        <p:nvSpPr>
          <p:cNvPr id="3" name="Text 0"/>
          <p:cNvSpPr/>
          <p:nvPr>
            <p:ph idx="101" type="title" hasCustomPrompt="1"/>
          </p:nvPr>
        </p:nvSpPr>
        <p:spPr>
          <a:xfrm>
            <a:off x="1417320" y="603504"/>
            <a:ext cx="7269480" cy="530352"/>
          </a:xfrm>
          <a:prstGeom prst="rect">
            <a:avLst/>
          </a:prstGeom>
          <a:noFill/>
          <a:ln/>
        </p:spPr>
        <p:txBody>
          <a:bodyPr wrap="square" rtlCol="0"/>
          <a:lstStyle>
            <a:lvl1pPr algn="l" indent="0" marL="0">
              <a:buNone/>
              <a:defRPr lang="en-US" sz="2500" b="1" dirty="0">
                <a:solidFill>
                  <a:schemeClr val="bg1"/>
                </a:solidFill>
              </a:defRPr>
            </a:lvl1pPr>
          </a:lstStyle>
          <a:p>
            <a:pPr algn="l" indent="0" marL="0">
              <a:buNone/>
            </a:pPr>
            <a:endParaRPr lang="en-US" sz="2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417320" y="621792"/>
            <a:ext cx="7269480" cy="512064"/>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QC">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417320" y="658368"/>
            <a:ext cx="7269480" cy="841248"/>
          </a:xfrm>
          <a:prstGeom prst="rect">
            <a:avLst/>
          </a:prstGeom>
          <a:noFill/>
          <a:ln/>
        </p:spPr>
        <p:txBody>
          <a:bodyPr wrap="square" rtlCol="0"/>
          <a:lstStyle>
            <a:lvl1pPr algn="l" indent="0" marL="0">
              <a:buNone/>
              <a:defRPr lang="en-US" sz="2000" b="1" dirty="0">
                <a:solidFill>
                  <a:schemeClr val="bg1"/>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6.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6.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6.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572000" cy="1600200"/>
          </a:xfrm>
          <a:prstGeom prst="rect">
            <a:avLst/>
          </a:prstGeom>
          <a:noFill/>
          <a:ln/>
        </p:spPr>
        <p:txBody>
          <a:bodyPr wrap="square" lIns="0" tIns="0" rIns="0" bIns="0" rtlCol="0" anchor="b"/>
          <a:lstStyle/>
          <a:p>
            <a:pPr algn="l" indent="0" marL="0">
              <a:buNone/>
            </a:pPr>
            <a:r>
              <a:rPr lang="en-US" sz="4400" b="1" dirty="0">
                <a:solidFill>
                  <a:schemeClr val="bg1"/>
                </a:solidFill>
              </a:rPr>
              <a:t>Periodic Trends</a:t>
            </a:r>
            <a:endParaRPr lang="en-US" sz="4400" dirty="0"/>
          </a:p>
        </p:txBody>
      </p:sp>
      <p:sp>
        <p:nvSpPr>
          <p:cNvPr id="3" name="Text 0"/>
          <p:cNvSpPr/>
          <p:nvPr>
            <p:ph idx="101" type="body" hasCustomPrompt="1"/>
          </p:nvPr>
        </p:nvSpPr>
        <p:spPr>
          <a:xfrm>
            <a:off x="548640" y="2971800"/>
            <a:ext cx="4572000" cy="822960"/>
          </a:xfrm>
          <a:prstGeom prst="rect">
            <a:avLst/>
          </a:prstGeom>
          <a:noFill/>
          <a:ln/>
        </p:spPr>
        <p:txBody>
          <a:bodyPr wrap="square" lIns="0" tIns="0" rIns="0" bIns="0" rtlCol="0" anchor="t"/>
          <a:lstStyle/>
          <a:p>
            <a:pPr algn="l" indent="0" marL="0">
              <a:buNone/>
            </a:pPr>
            <a:r>
              <a:rPr lang="en-US" sz="1600" dirty="0">
                <a:solidFill>
                  <a:schemeClr val="bg2"/>
                </a:solidFill>
              </a:rPr>
              <a:t>Chemistry, Unit 2</a:t>
            </a:r>
            <a:endParaRPr lang="en-US" sz="1600" dirty="0"/>
          </a:p>
          <a:p>
            <a:pPr algn="l" indent="0" marL="0">
              <a:buNone/>
            </a:pPr>
            <a:r>
              <a:rPr lang="en-US" sz="1600" dirty="0">
                <a:solidFill>
                  <a:schemeClr val="bg2"/>
                </a:solidFill>
              </a:rPr>
              <a:t>Self-taught lesson walkthrough</a:t>
            </a:r>
            <a:endParaRPr lang="en-US" sz="1600" dirty="0"/>
          </a:p>
        </p:txBody>
      </p:sp>
      <p:sp>
        <p:nvSpPr>
          <p:cNvPr id="4" name="Lithium atom"/>
          <p:cNvSpPr/>
          <p:nvPr/>
        </p:nvSpPr>
        <p:spPr>
          <a:xfrm>
            <a:off x="5029200" y="1416588"/>
            <a:ext cx="732983" cy="732983"/>
          </a:xfrm>
          <a:prstGeom prst="ellipse">
            <a:avLst/>
          </a:prstGeom>
          <a:solidFill>
            <a:schemeClr val="accent1">
              <a:alpha val="20000"/>
            </a:schemeClr>
          </a:solidFill>
          <a:ln w="12700">
            <a:solidFill>
              <a:schemeClr val="accent1">
                <a:alpha val="70000"/>
              </a:schemeClr>
            </a:solidFill>
            <a:prstDash val="dash"/>
          </a:ln>
        </p:spPr>
      </p:sp>
      <p:sp>
        <p:nvSpPr>
          <p:cNvPr id="5" name="Nucleus"/>
          <p:cNvSpPr/>
          <p:nvPr/>
        </p:nvSpPr>
        <p:spPr>
          <a:xfrm>
            <a:off x="5359116" y="1746504"/>
            <a:ext cx="73152" cy="73152"/>
          </a:xfrm>
          <a:prstGeom prst="ellipse">
            <a:avLst/>
          </a:prstGeom>
          <a:solidFill>
            <a:srgbClr val="E0654F"/>
          </a:solidFill>
          <a:ln w="6350">
            <a:solidFill>
              <a:srgbClr val="E0654F"/>
            </a:solidFill>
            <a:prstDash val="solid"/>
          </a:ln>
        </p:spPr>
      </p:sp>
      <p:sp>
        <p:nvSpPr>
          <p:cNvPr id="6" name="Text 4"/>
          <p:cNvSpPr txBox="1"/>
          <p:nvPr/>
        </p:nvSpPr>
        <p:spPr>
          <a:xfrm>
            <a:off x="5212812" y="2194560"/>
            <a:ext cx="365760" cy="201168"/>
          </a:xfrm>
          <a:prstGeom prst="rect">
            <a:avLst/>
          </a:prstGeom>
          <a:noFill/>
          <a:ln/>
        </p:spPr>
        <p:txBody>
          <a:bodyPr wrap="square" lIns="0" tIns="0" rIns="0" bIns="0" rtlCol="0" anchor="t"/>
          <a:lstStyle/>
          <a:p>
            <a:pPr algn="ctr" indent="0" marL="0">
              <a:buNone/>
            </a:pPr>
            <a:r>
              <a:rPr lang="en-US" sz="1000" dirty="0">
                <a:solidFill>
                  <a:schemeClr val="bg2"/>
                </a:solidFill>
              </a:rPr>
              <a:t>Li</a:t>
            </a:r>
            <a:endParaRPr lang="en-US" sz="1000" dirty="0"/>
          </a:p>
        </p:txBody>
      </p:sp>
      <p:sp>
        <p:nvSpPr>
          <p:cNvPr id="7" name="Beryllium atom"/>
          <p:cNvSpPr/>
          <p:nvPr/>
        </p:nvSpPr>
        <p:spPr>
          <a:xfrm>
            <a:off x="5908487" y="1537289"/>
            <a:ext cx="491581" cy="491581"/>
          </a:xfrm>
          <a:prstGeom prst="ellipse">
            <a:avLst/>
          </a:prstGeom>
          <a:solidFill>
            <a:schemeClr val="accent1">
              <a:alpha val="20000"/>
            </a:schemeClr>
          </a:solidFill>
          <a:ln w="12700">
            <a:solidFill>
              <a:schemeClr val="accent1">
                <a:alpha val="70000"/>
              </a:schemeClr>
            </a:solidFill>
            <a:prstDash val="dash"/>
          </a:ln>
        </p:spPr>
      </p:sp>
      <p:sp>
        <p:nvSpPr>
          <p:cNvPr id="8" name="Nucleus"/>
          <p:cNvSpPr/>
          <p:nvPr/>
        </p:nvSpPr>
        <p:spPr>
          <a:xfrm>
            <a:off x="6117702" y="1746504"/>
            <a:ext cx="73152" cy="73152"/>
          </a:xfrm>
          <a:prstGeom prst="ellipse">
            <a:avLst/>
          </a:prstGeom>
          <a:solidFill>
            <a:srgbClr val="E0654F"/>
          </a:solidFill>
          <a:ln w="6350">
            <a:solidFill>
              <a:srgbClr val="E0654F"/>
            </a:solidFill>
            <a:prstDash val="solid"/>
          </a:ln>
        </p:spPr>
      </p:sp>
      <p:sp>
        <p:nvSpPr>
          <p:cNvPr id="9" name="Text 7"/>
          <p:cNvSpPr txBox="1"/>
          <p:nvPr/>
        </p:nvSpPr>
        <p:spPr>
          <a:xfrm>
            <a:off x="5971398" y="2194560"/>
            <a:ext cx="365760" cy="201168"/>
          </a:xfrm>
          <a:prstGeom prst="rect">
            <a:avLst/>
          </a:prstGeom>
          <a:noFill/>
          <a:ln/>
        </p:spPr>
        <p:txBody>
          <a:bodyPr wrap="square" lIns="0" tIns="0" rIns="0" bIns="0" rtlCol="0" anchor="t"/>
          <a:lstStyle/>
          <a:p>
            <a:pPr algn="ctr" indent="0" marL="0">
              <a:buNone/>
            </a:pPr>
            <a:r>
              <a:rPr lang="en-US" sz="1000" dirty="0">
                <a:solidFill>
                  <a:schemeClr val="bg2"/>
                </a:solidFill>
              </a:rPr>
              <a:t>Be</a:t>
            </a:r>
            <a:endParaRPr lang="en-US" sz="1000" dirty="0"/>
          </a:p>
        </p:txBody>
      </p:sp>
      <p:sp>
        <p:nvSpPr>
          <p:cNvPr id="10" name="Boron atom"/>
          <p:cNvSpPr/>
          <p:nvPr/>
        </p:nvSpPr>
        <p:spPr>
          <a:xfrm>
            <a:off x="6546372" y="1592153"/>
            <a:ext cx="381853" cy="381853"/>
          </a:xfrm>
          <a:prstGeom prst="ellipse">
            <a:avLst/>
          </a:prstGeom>
          <a:solidFill>
            <a:schemeClr val="accent1">
              <a:alpha val="20000"/>
            </a:schemeClr>
          </a:solidFill>
          <a:ln w="12700">
            <a:solidFill>
              <a:schemeClr val="accent1">
                <a:alpha val="70000"/>
              </a:schemeClr>
            </a:solidFill>
            <a:prstDash val="dash"/>
          </a:ln>
        </p:spPr>
      </p:sp>
      <p:sp>
        <p:nvSpPr>
          <p:cNvPr id="11" name="Nucleus"/>
          <p:cNvSpPr/>
          <p:nvPr/>
        </p:nvSpPr>
        <p:spPr>
          <a:xfrm>
            <a:off x="6700723" y="1746504"/>
            <a:ext cx="73152" cy="73152"/>
          </a:xfrm>
          <a:prstGeom prst="ellipse">
            <a:avLst/>
          </a:prstGeom>
          <a:solidFill>
            <a:srgbClr val="E0654F"/>
          </a:solidFill>
          <a:ln w="6350">
            <a:solidFill>
              <a:srgbClr val="E0654F"/>
            </a:solidFill>
            <a:prstDash val="solid"/>
          </a:ln>
        </p:spPr>
      </p:sp>
      <p:sp>
        <p:nvSpPr>
          <p:cNvPr id="12" name="Text 10"/>
          <p:cNvSpPr txBox="1"/>
          <p:nvPr/>
        </p:nvSpPr>
        <p:spPr>
          <a:xfrm>
            <a:off x="6554419" y="2194560"/>
            <a:ext cx="365760" cy="201168"/>
          </a:xfrm>
          <a:prstGeom prst="rect">
            <a:avLst/>
          </a:prstGeom>
          <a:noFill/>
          <a:ln/>
        </p:spPr>
        <p:txBody>
          <a:bodyPr wrap="square" lIns="0" tIns="0" rIns="0" bIns="0" rtlCol="0" anchor="t"/>
          <a:lstStyle/>
          <a:p>
            <a:pPr algn="ctr" indent="0" marL="0">
              <a:buNone/>
            </a:pPr>
            <a:r>
              <a:rPr lang="en-US" sz="1000" dirty="0">
                <a:solidFill>
                  <a:schemeClr val="bg2"/>
                </a:solidFill>
              </a:rPr>
              <a:t>B</a:t>
            </a:r>
            <a:endParaRPr lang="en-US" sz="1000" dirty="0"/>
          </a:p>
        </p:txBody>
      </p:sp>
      <p:sp>
        <p:nvSpPr>
          <p:cNvPr id="13" name="Carbon atom"/>
          <p:cNvSpPr/>
          <p:nvPr/>
        </p:nvSpPr>
        <p:spPr>
          <a:xfrm>
            <a:off x="7074530" y="1636044"/>
            <a:ext cx="294071" cy="294071"/>
          </a:xfrm>
          <a:prstGeom prst="ellipse">
            <a:avLst/>
          </a:prstGeom>
          <a:solidFill>
            <a:schemeClr val="accent1">
              <a:alpha val="20000"/>
            </a:schemeClr>
          </a:solidFill>
          <a:ln w="12700">
            <a:solidFill>
              <a:schemeClr val="accent1">
                <a:alpha val="70000"/>
              </a:schemeClr>
            </a:solidFill>
            <a:prstDash val="dash"/>
          </a:ln>
        </p:spPr>
      </p:sp>
      <p:sp>
        <p:nvSpPr>
          <p:cNvPr id="14" name="Nucleus"/>
          <p:cNvSpPr/>
          <p:nvPr/>
        </p:nvSpPr>
        <p:spPr>
          <a:xfrm>
            <a:off x="7184989" y="1746504"/>
            <a:ext cx="73152" cy="73152"/>
          </a:xfrm>
          <a:prstGeom prst="ellipse">
            <a:avLst/>
          </a:prstGeom>
          <a:solidFill>
            <a:srgbClr val="E0654F"/>
          </a:solidFill>
          <a:ln w="6350">
            <a:solidFill>
              <a:srgbClr val="E0654F"/>
            </a:solidFill>
            <a:prstDash val="solid"/>
          </a:ln>
        </p:spPr>
      </p:sp>
      <p:sp>
        <p:nvSpPr>
          <p:cNvPr id="15" name="Text 13"/>
          <p:cNvSpPr txBox="1"/>
          <p:nvPr/>
        </p:nvSpPr>
        <p:spPr>
          <a:xfrm>
            <a:off x="7038685" y="2194560"/>
            <a:ext cx="365760" cy="201168"/>
          </a:xfrm>
          <a:prstGeom prst="rect">
            <a:avLst/>
          </a:prstGeom>
          <a:noFill/>
          <a:ln/>
        </p:spPr>
        <p:txBody>
          <a:bodyPr wrap="square" lIns="0" tIns="0" rIns="0" bIns="0" rtlCol="0" anchor="t"/>
          <a:lstStyle/>
          <a:p>
            <a:pPr algn="ctr" indent="0" marL="0">
              <a:buNone/>
            </a:pPr>
            <a:r>
              <a:rPr lang="en-US" sz="1000" dirty="0">
                <a:solidFill>
                  <a:schemeClr val="bg2"/>
                </a:solidFill>
              </a:rPr>
              <a:t>C</a:t>
            </a:r>
            <a:endParaRPr lang="en-US" sz="1000" dirty="0"/>
          </a:p>
        </p:txBody>
      </p:sp>
      <p:sp>
        <p:nvSpPr>
          <p:cNvPr id="16" name="Nitrogen atom"/>
          <p:cNvSpPr/>
          <p:nvPr/>
        </p:nvSpPr>
        <p:spPr>
          <a:xfrm>
            <a:off x="7514905" y="1660185"/>
            <a:ext cx="245791" cy="245791"/>
          </a:xfrm>
          <a:prstGeom prst="ellipse">
            <a:avLst/>
          </a:prstGeom>
          <a:solidFill>
            <a:schemeClr val="accent1">
              <a:alpha val="20000"/>
            </a:schemeClr>
          </a:solidFill>
          <a:ln w="12700">
            <a:solidFill>
              <a:schemeClr val="accent1">
                <a:alpha val="70000"/>
              </a:schemeClr>
            </a:solidFill>
            <a:prstDash val="dash"/>
          </a:ln>
        </p:spPr>
      </p:sp>
      <p:sp>
        <p:nvSpPr>
          <p:cNvPr id="17" name="Nucleus"/>
          <p:cNvSpPr/>
          <p:nvPr/>
        </p:nvSpPr>
        <p:spPr>
          <a:xfrm>
            <a:off x="7601224" y="1746504"/>
            <a:ext cx="73152" cy="73152"/>
          </a:xfrm>
          <a:prstGeom prst="ellipse">
            <a:avLst/>
          </a:prstGeom>
          <a:solidFill>
            <a:srgbClr val="E0654F"/>
          </a:solidFill>
          <a:ln w="6350">
            <a:solidFill>
              <a:srgbClr val="E0654F"/>
            </a:solidFill>
            <a:prstDash val="solid"/>
          </a:ln>
        </p:spPr>
      </p:sp>
      <p:sp>
        <p:nvSpPr>
          <p:cNvPr id="18" name="Text 16"/>
          <p:cNvSpPr txBox="1"/>
          <p:nvPr/>
        </p:nvSpPr>
        <p:spPr>
          <a:xfrm>
            <a:off x="7454920" y="2194560"/>
            <a:ext cx="365760" cy="201168"/>
          </a:xfrm>
          <a:prstGeom prst="rect">
            <a:avLst/>
          </a:prstGeom>
          <a:noFill/>
          <a:ln/>
        </p:spPr>
        <p:txBody>
          <a:bodyPr wrap="square" lIns="0" tIns="0" rIns="0" bIns="0" rtlCol="0" anchor="t"/>
          <a:lstStyle/>
          <a:p>
            <a:pPr algn="ctr" indent="0" marL="0">
              <a:buNone/>
            </a:pPr>
            <a:r>
              <a:rPr lang="en-US" sz="1000" dirty="0">
                <a:solidFill>
                  <a:schemeClr val="bg2"/>
                </a:solidFill>
              </a:rPr>
              <a:t>N</a:t>
            </a:r>
            <a:endParaRPr lang="en-US" sz="1000" dirty="0"/>
          </a:p>
        </p:txBody>
      </p:sp>
      <p:sp>
        <p:nvSpPr>
          <p:cNvPr id="19" name="Oxygen atom"/>
          <p:cNvSpPr/>
          <p:nvPr/>
        </p:nvSpPr>
        <p:spPr>
          <a:xfrm>
            <a:off x="7907000" y="1677741"/>
            <a:ext cx="210678" cy="210678"/>
          </a:xfrm>
          <a:prstGeom prst="ellipse">
            <a:avLst/>
          </a:prstGeom>
          <a:solidFill>
            <a:schemeClr val="accent1">
              <a:alpha val="20000"/>
            </a:schemeClr>
          </a:solidFill>
          <a:ln w="12700">
            <a:solidFill>
              <a:schemeClr val="accent1">
                <a:alpha val="70000"/>
              </a:schemeClr>
            </a:solidFill>
            <a:prstDash val="dash"/>
          </a:ln>
        </p:spPr>
      </p:sp>
      <p:sp>
        <p:nvSpPr>
          <p:cNvPr id="20" name="Nucleus"/>
          <p:cNvSpPr/>
          <p:nvPr/>
        </p:nvSpPr>
        <p:spPr>
          <a:xfrm>
            <a:off x="7975763" y="1746504"/>
            <a:ext cx="73152" cy="73152"/>
          </a:xfrm>
          <a:prstGeom prst="ellipse">
            <a:avLst/>
          </a:prstGeom>
          <a:solidFill>
            <a:srgbClr val="E0654F"/>
          </a:solidFill>
          <a:ln w="6350">
            <a:solidFill>
              <a:srgbClr val="E0654F"/>
            </a:solidFill>
            <a:prstDash val="solid"/>
          </a:ln>
        </p:spPr>
      </p:sp>
      <p:sp>
        <p:nvSpPr>
          <p:cNvPr id="21" name="Text 19"/>
          <p:cNvSpPr txBox="1"/>
          <p:nvPr/>
        </p:nvSpPr>
        <p:spPr>
          <a:xfrm>
            <a:off x="7829459" y="2194560"/>
            <a:ext cx="365760" cy="201168"/>
          </a:xfrm>
          <a:prstGeom prst="rect">
            <a:avLst/>
          </a:prstGeom>
          <a:noFill/>
          <a:ln/>
        </p:spPr>
        <p:txBody>
          <a:bodyPr wrap="square" lIns="0" tIns="0" rIns="0" bIns="0" rtlCol="0" anchor="t"/>
          <a:lstStyle/>
          <a:p>
            <a:pPr algn="ctr" indent="0" marL="0">
              <a:buNone/>
            </a:pPr>
            <a:r>
              <a:rPr lang="en-US" sz="1000" dirty="0">
                <a:solidFill>
                  <a:schemeClr val="bg2"/>
                </a:solidFill>
              </a:rPr>
              <a:t>O</a:t>
            </a:r>
            <a:endParaRPr lang="en-US" sz="1000" dirty="0"/>
          </a:p>
        </p:txBody>
      </p:sp>
      <p:sp>
        <p:nvSpPr>
          <p:cNvPr id="22" name="Fluorine atom"/>
          <p:cNvSpPr/>
          <p:nvPr/>
        </p:nvSpPr>
        <p:spPr>
          <a:xfrm>
            <a:off x="8263981" y="1690908"/>
            <a:ext cx="184343" cy="184343"/>
          </a:xfrm>
          <a:prstGeom prst="ellipse">
            <a:avLst/>
          </a:prstGeom>
          <a:solidFill>
            <a:schemeClr val="accent1">
              <a:alpha val="20000"/>
            </a:schemeClr>
          </a:solidFill>
          <a:ln w="12700">
            <a:solidFill>
              <a:schemeClr val="accent1">
                <a:alpha val="70000"/>
              </a:schemeClr>
            </a:solidFill>
            <a:prstDash val="dash"/>
          </a:ln>
        </p:spPr>
      </p:sp>
      <p:sp>
        <p:nvSpPr>
          <p:cNvPr id="23" name="Nucleus"/>
          <p:cNvSpPr/>
          <p:nvPr/>
        </p:nvSpPr>
        <p:spPr>
          <a:xfrm>
            <a:off x="8319577" y="1746504"/>
            <a:ext cx="73152" cy="73152"/>
          </a:xfrm>
          <a:prstGeom prst="ellipse">
            <a:avLst/>
          </a:prstGeom>
          <a:solidFill>
            <a:srgbClr val="E0654F"/>
          </a:solidFill>
          <a:ln w="6350">
            <a:solidFill>
              <a:srgbClr val="E0654F"/>
            </a:solidFill>
            <a:prstDash val="solid"/>
          </a:ln>
        </p:spPr>
      </p:sp>
      <p:sp>
        <p:nvSpPr>
          <p:cNvPr id="24" name="Text 22"/>
          <p:cNvSpPr txBox="1"/>
          <p:nvPr/>
        </p:nvSpPr>
        <p:spPr>
          <a:xfrm>
            <a:off x="8173273" y="2194560"/>
            <a:ext cx="365760" cy="201168"/>
          </a:xfrm>
          <a:prstGeom prst="rect">
            <a:avLst/>
          </a:prstGeom>
          <a:noFill/>
          <a:ln/>
        </p:spPr>
        <p:txBody>
          <a:bodyPr wrap="square" lIns="0" tIns="0" rIns="0" bIns="0" rtlCol="0" anchor="t"/>
          <a:lstStyle/>
          <a:p>
            <a:pPr algn="ctr" indent="0" marL="0">
              <a:buNone/>
            </a:pPr>
            <a:r>
              <a:rPr lang="en-US" sz="1000" dirty="0">
                <a:solidFill>
                  <a:schemeClr val="bg2"/>
                </a:solidFill>
              </a:rPr>
              <a:t>F</a:t>
            </a:r>
            <a:endParaRPr lang="en-US" sz="1000" dirty="0"/>
          </a:p>
        </p:txBody>
      </p:sp>
      <p:sp>
        <p:nvSpPr>
          <p:cNvPr id="25" name="Text 23"/>
          <p:cNvSpPr txBox="1"/>
          <p:nvPr/>
        </p:nvSpPr>
        <p:spPr>
          <a:xfrm>
            <a:off x="5029200" y="1097280"/>
            <a:ext cx="3657600" cy="228600"/>
          </a:xfrm>
          <a:prstGeom prst="rect">
            <a:avLst/>
          </a:prstGeom>
          <a:noFill/>
          <a:ln/>
        </p:spPr>
        <p:txBody>
          <a:bodyPr wrap="square" lIns="0" tIns="0" rIns="0" bIns="0" rtlCol="0" anchor="t"/>
          <a:lstStyle/>
          <a:p>
            <a:pPr indent="0" marL="0">
              <a:buNone/>
            </a:pPr>
            <a:r>
              <a:rPr lang="en-US" sz="1100" dirty="0">
                <a:solidFill>
                  <a:schemeClr val="bg2"/>
                </a:solidFill>
              </a:rPr>
              <a:t>Across period 2: atoms get smaller</a:t>
            </a:r>
            <a:endParaRPr lang="en-US" sz="1100" dirty="0"/>
          </a:p>
        </p:txBody>
      </p:sp>
      <p:sp>
        <p:nvSpPr>
          <p:cNvPr id="26" name="Hydrogen atom"/>
          <p:cNvSpPr/>
          <p:nvPr/>
        </p:nvSpPr>
        <p:spPr>
          <a:xfrm>
            <a:off x="5029200" y="3129808"/>
            <a:ext cx="232623" cy="232623"/>
          </a:xfrm>
          <a:prstGeom prst="ellipse">
            <a:avLst/>
          </a:prstGeom>
          <a:solidFill>
            <a:schemeClr val="accent1">
              <a:alpha val="20000"/>
            </a:schemeClr>
          </a:solidFill>
          <a:ln w="12700">
            <a:solidFill>
              <a:schemeClr val="accent1">
                <a:alpha val="70000"/>
              </a:schemeClr>
            </a:solidFill>
            <a:prstDash val="dash"/>
          </a:ln>
        </p:spPr>
      </p:sp>
      <p:sp>
        <p:nvSpPr>
          <p:cNvPr id="27" name="Nucleus"/>
          <p:cNvSpPr/>
          <p:nvPr/>
        </p:nvSpPr>
        <p:spPr>
          <a:xfrm>
            <a:off x="5108936" y="3209544"/>
            <a:ext cx="73152" cy="73152"/>
          </a:xfrm>
          <a:prstGeom prst="ellipse">
            <a:avLst/>
          </a:prstGeom>
          <a:solidFill>
            <a:srgbClr val="E0654F"/>
          </a:solidFill>
          <a:ln w="6350">
            <a:solidFill>
              <a:srgbClr val="E0654F"/>
            </a:solidFill>
            <a:prstDash val="solid"/>
          </a:ln>
        </p:spPr>
      </p:sp>
      <p:sp>
        <p:nvSpPr>
          <p:cNvPr id="28" name="Text 26"/>
          <p:cNvSpPr txBox="1"/>
          <p:nvPr/>
        </p:nvSpPr>
        <p:spPr>
          <a:xfrm>
            <a:off x="4962632" y="3840480"/>
            <a:ext cx="365760" cy="201168"/>
          </a:xfrm>
          <a:prstGeom prst="rect">
            <a:avLst/>
          </a:prstGeom>
          <a:noFill/>
          <a:ln/>
        </p:spPr>
        <p:txBody>
          <a:bodyPr wrap="square" lIns="0" tIns="0" rIns="0" bIns="0" rtlCol="0" anchor="t"/>
          <a:lstStyle/>
          <a:p>
            <a:pPr algn="ctr" indent="0" marL="0">
              <a:buNone/>
            </a:pPr>
            <a:r>
              <a:rPr lang="en-US" sz="1000" dirty="0">
                <a:solidFill>
                  <a:schemeClr val="bg2"/>
                </a:solidFill>
              </a:rPr>
              <a:t>H</a:t>
            </a:r>
            <a:endParaRPr lang="en-US" sz="1000" dirty="0"/>
          </a:p>
        </p:txBody>
      </p:sp>
      <p:sp>
        <p:nvSpPr>
          <p:cNvPr id="29" name="Lithium atom"/>
          <p:cNvSpPr/>
          <p:nvPr/>
        </p:nvSpPr>
        <p:spPr>
          <a:xfrm>
            <a:off x="5444703" y="2879628"/>
            <a:ext cx="732983" cy="732983"/>
          </a:xfrm>
          <a:prstGeom prst="ellipse">
            <a:avLst/>
          </a:prstGeom>
          <a:solidFill>
            <a:schemeClr val="accent1">
              <a:alpha val="20000"/>
            </a:schemeClr>
          </a:solidFill>
          <a:ln w="12700">
            <a:solidFill>
              <a:schemeClr val="accent1">
                <a:alpha val="70000"/>
              </a:schemeClr>
            </a:solidFill>
            <a:prstDash val="dash"/>
          </a:ln>
        </p:spPr>
      </p:sp>
      <p:sp>
        <p:nvSpPr>
          <p:cNvPr id="30" name="Nucleus"/>
          <p:cNvSpPr/>
          <p:nvPr/>
        </p:nvSpPr>
        <p:spPr>
          <a:xfrm>
            <a:off x="5774619" y="3209544"/>
            <a:ext cx="73152" cy="73152"/>
          </a:xfrm>
          <a:prstGeom prst="ellipse">
            <a:avLst/>
          </a:prstGeom>
          <a:solidFill>
            <a:srgbClr val="E0654F"/>
          </a:solidFill>
          <a:ln w="6350">
            <a:solidFill>
              <a:srgbClr val="E0654F"/>
            </a:solidFill>
            <a:prstDash val="solid"/>
          </a:ln>
        </p:spPr>
      </p:sp>
      <p:sp>
        <p:nvSpPr>
          <p:cNvPr id="31" name="Text 29"/>
          <p:cNvSpPr txBox="1"/>
          <p:nvPr/>
        </p:nvSpPr>
        <p:spPr>
          <a:xfrm>
            <a:off x="5628315" y="3840480"/>
            <a:ext cx="365760" cy="201168"/>
          </a:xfrm>
          <a:prstGeom prst="rect">
            <a:avLst/>
          </a:prstGeom>
          <a:noFill/>
          <a:ln/>
        </p:spPr>
        <p:txBody>
          <a:bodyPr wrap="square" lIns="0" tIns="0" rIns="0" bIns="0" rtlCol="0" anchor="t"/>
          <a:lstStyle/>
          <a:p>
            <a:pPr algn="ctr" indent="0" marL="0">
              <a:buNone/>
            </a:pPr>
            <a:r>
              <a:rPr lang="en-US" sz="1000" dirty="0">
                <a:solidFill>
                  <a:schemeClr val="bg2"/>
                </a:solidFill>
              </a:rPr>
              <a:t>Li</a:t>
            </a:r>
            <a:endParaRPr lang="en-US" sz="1000" dirty="0"/>
          </a:p>
        </p:txBody>
      </p:sp>
      <p:sp>
        <p:nvSpPr>
          <p:cNvPr id="32" name="Sodium atom"/>
          <p:cNvSpPr/>
          <p:nvPr/>
        </p:nvSpPr>
        <p:spPr>
          <a:xfrm>
            <a:off x="6360566" y="2829154"/>
            <a:ext cx="833933" cy="833933"/>
          </a:xfrm>
          <a:prstGeom prst="ellipse">
            <a:avLst/>
          </a:prstGeom>
          <a:solidFill>
            <a:schemeClr val="accent1">
              <a:alpha val="20000"/>
            </a:schemeClr>
          </a:solidFill>
          <a:ln w="12700">
            <a:solidFill>
              <a:schemeClr val="accent1">
                <a:alpha val="70000"/>
              </a:schemeClr>
            </a:solidFill>
            <a:prstDash val="dash"/>
          </a:ln>
        </p:spPr>
      </p:sp>
      <p:sp>
        <p:nvSpPr>
          <p:cNvPr id="33" name="Nucleus"/>
          <p:cNvSpPr/>
          <p:nvPr/>
        </p:nvSpPr>
        <p:spPr>
          <a:xfrm>
            <a:off x="6740957" y="3209544"/>
            <a:ext cx="73152" cy="73152"/>
          </a:xfrm>
          <a:prstGeom prst="ellipse">
            <a:avLst/>
          </a:prstGeom>
          <a:solidFill>
            <a:srgbClr val="E0654F"/>
          </a:solidFill>
          <a:ln w="6350">
            <a:solidFill>
              <a:srgbClr val="E0654F"/>
            </a:solidFill>
            <a:prstDash val="solid"/>
          </a:ln>
        </p:spPr>
      </p:sp>
      <p:sp>
        <p:nvSpPr>
          <p:cNvPr id="34" name="Text 32"/>
          <p:cNvSpPr txBox="1"/>
          <p:nvPr/>
        </p:nvSpPr>
        <p:spPr>
          <a:xfrm>
            <a:off x="6594653" y="3840480"/>
            <a:ext cx="365760" cy="201168"/>
          </a:xfrm>
          <a:prstGeom prst="rect">
            <a:avLst/>
          </a:prstGeom>
          <a:noFill/>
          <a:ln/>
        </p:spPr>
        <p:txBody>
          <a:bodyPr wrap="square" lIns="0" tIns="0" rIns="0" bIns="0" rtlCol="0" anchor="t"/>
          <a:lstStyle/>
          <a:p>
            <a:pPr algn="ctr" indent="0" marL="0">
              <a:buNone/>
            </a:pPr>
            <a:r>
              <a:rPr lang="en-US" sz="1000" dirty="0">
                <a:solidFill>
                  <a:schemeClr val="bg2"/>
                </a:solidFill>
              </a:rPr>
              <a:t>Na</a:t>
            </a:r>
            <a:endParaRPr lang="en-US" sz="1000" dirty="0"/>
          </a:p>
        </p:txBody>
      </p:sp>
      <p:sp>
        <p:nvSpPr>
          <p:cNvPr id="35" name="Potassium atom"/>
          <p:cNvSpPr/>
          <p:nvPr/>
        </p:nvSpPr>
        <p:spPr>
          <a:xfrm>
            <a:off x="7377379" y="2712842"/>
            <a:ext cx="1066556" cy="1066556"/>
          </a:xfrm>
          <a:prstGeom prst="ellipse">
            <a:avLst/>
          </a:prstGeom>
          <a:solidFill>
            <a:schemeClr val="accent1">
              <a:alpha val="20000"/>
            </a:schemeClr>
          </a:solidFill>
          <a:ln w="12700">
            <a:solidFill>
              <a:schemeClr val="accent1">
                <a:alpha val="70000"/>
              </a:schemeClr>
            </a:solidFill>
            <a:prstDash val="dash"/>
          </a:ln>
        </p:spPr>
      </p:sp>
      <p:sp>
        <p:nvSpPr>
          <p:cNvPr id="36" name="Nucleus"/>
          <p:cNvSpPr/>
          <p:nvPr/>
        </p:nvSpPr>
        <p:spPr>
          <a:xfrm>
            <a:off x="7874081" y="3209544"/>
            <a:ext cx="73152" cy="73152"/>
          </a:xfrm>
          <a:prstGeom prst="ellipse">
            <a:avLst/>
          </a:prstGeom>
          <a:solidFill>
            <a:srgbClr val="E0654F"/>
          </a:solidFill>
          <a:ln w="6350">
            <a:solidFill>
              <a:srgbClr val="E0654F"/>
            </a:solidFill>
            <a:prstDash val="solid"/>
          </a:ln>
        </p:spPr>
      </p:sp>
      <p:sp>
        <p:nvSpPr>
          <p:cNvPr id="37" name="Text 35"/>
          <p:cNvSpPr txBox="1"/>
          <p:nvPr/>
        </p:nvSpPr>
        <p:spPr>
          <a:xfrm>
            <a:off x="7727777" y="3840480"/>
            <a:ext cx="365760" cy="201168"/>
          </a:xfrm>
          <a:prstGeom prst="rect">
            <a:avLst/>
          </a:prstGeom>
          <a:noFill/>
          <a:ln/>
        </p:spPr>
        <p:txBody>
          <a:bodyPr wrap="square" lIns="0" tIns="0" rIns="0" bIns="0" rtlCol="0" anchor="t"/>
          <a:lstStyle/>
          <a:p>
            <a:pPr algn="ctr" indent="0" marL="0">
              <a:buNone/>
            </a:pPr>
            <a:r>
              <a:rPr lang="en-US" sz="1000" dirty="0">
                <a:solidFill>
                  <a:schemeClr val="bg2"/>
                </a:solidFill>
              </a:rPr>
              <a:t>K</a:t>
            </a:r>
            <a:endParaRPr lang="en-US" sz="1000" dirty="0"/>
          </a:p>
        </p:txBody>
      </p:sp>
      <p:sp>
        <p:nvSpPr>
          <p:cNvPr id="38" name="Text 36"/>
          <p:cNvSpPr txBox="1"/>
          <p:nvPr/>
        </p:nvSpPr>
        <p:spPr>
          <a:xfrm>
            <a:off x="5029200" y="2514600"/>
            <a:ext cx="3657600" cy="228600"/>
          </a:xfrm>
          <a:prstGeom prst="rect">
            <a:avLst/>
          </a:prstGeom>
          <a:noFill/>
          <a:ln/>
        </p:spPr>
        <p:txBody>
          <a:bodyPr wrap="square" lIns="0" tIns="0" rIns="0" bIns="0" rtlCol="0" anchor="t"/>
          <a:lstStyle/>
          <a:p>
            <a:pPr indent="0" marL="0">
              <a:buNone/>
            </a:pPr>
            <a:r>
              <a:rPr lang="en-US" sz="1100" dirty="0">
                <a:solidFill>
                  <a:schemeClr val="bg2"/>
                </a:solidFill>
              </a:rPr>
              <a:t>Down group 1: atoms get larger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000" b="1" dirty="0">
                <a:solidFill>
                  <a:schemeClr val="bg1"/>
                </a:solidFill>
              </a:rPr>
              <a:t>Objective and standard</a:t>
            </a:r>
            <a:endParaRPr lang="en-US" sz="3000" dirty="0"/>
          </a:p>
        </p:txBody>
      </p:sp>
      <p:sp>
        <p:nvSpPr>
          <p:cNvPr id="3" name="Objective card"/>
          <p:cNvSpPr/>
          <p:nvPr/>
        </p:nvSpPr>
        <p:spPr>
          <a:xfrm>
            <a:off x="457200" y="1234440"/>
            <a:ext cx="3977640" cy="2194560"/>
          </a:xfrm>
          <a:prstGeom prst="roundRect">
            <a:avLst>
              <a:gd name="adj" fmla="val 4167"/>
            </a:avLst>
          </a:prstGeom>
          <a:solidFill>
            <a:schemeClr val="tx2"/>
          </a:solidFill>
          <a:ln w="9525">
            <a:solidFill>
              <a:schemeClr val="bg2">
                <a:alpha val="30000"/>
              </a:schemeClr>
            </a:solidFill>
            <a:prstDash val="solid"/>
          </a:ln>
        </p:spPr>
      </p:sp>
      <p:sp>
        <p:nvSpPr>
          <p:cNvPr id="4" name="Text 2"/>
          <p:cNvSpPr txBox="1"/>
          <p:nvPr/>
        </p:nvSpPr>
        <p:spPr>
          <a:xfrm>
            <a:off x="685800" y="1417320"/>
            <a:ext cx="3566160" cy="274320"/>
          </a:xfrm>
          <a:prstGeom prst="rect">
            <a:avLst/>
          </a:prstGeom>
          <a:noFill/>
          <a:ln/>
        </p:spPr>
        <p:txBody>
          <a:bodyPr wrap="square" lIns="0" tIns="0" rIns="0" bIns="0" rtlCol="0" anchor="t"/>
          <a:lstStyle/>
          <a:p>
            <a:pPr indent="0" marL="0">
              <a:buNone/>
            </a:pPr>
            <a:r>
              <a:rPr lang="en-US" sz="1300" b="1" dirty="0">
                <a:solidFill>
                  <a:schemeClr val="accent1"/>
                </a:solidFill>
              </a:rPr>
              <a:t>Objective</a:t>
            </a:r>
            <a:endParaRPr lang="en-US" sz="1300" dirty="0"/>
          </a:p>
        </p:txBody>
      </p:sp>
      <p:sp>
        <p:nvSpPr>
          <p:cNvPr id="5" name="Text 3"/>
          <p:cNvSpPr txBox="1"/>
          <p:nvPr/>
        </p:nvSpPr>
        <p:spPr>
          <a:xfrm>
            <a:off x="685800" y="1755648"/>
            <a:ext cx="3566160" cy="1600200"/>
          </a:xfrm>
          <a:prstGeom prst="rect">
            <a:avLst/>
          </a:prstGeom>
          <a:noFill/>
          <a:ln/>
        </p:spPr>
        <p:txBody>
          <a:bodyPr wrap="square" lIns="0" tIns="0" rIns="0" bIns="0" rtlCol="0" anchor="t"/>
          <a:lstStyle/>
          <a:p>
            <a:pPr indent="0" marL="0">
              <a:buNone/>
            </a:pPr>
            <a:r>
              <a:rPr lang="en-US" sz="1600" dirty="0">
                <a:solidFill>
                  <a:schemeClr val="bg1"/>
                </a:solidFill>
              </a:rPr>
              <a:t>I can predict and explain the trends in atomic radius, ionization energy, and electronegativity, and use atomic radius to predict the other two.</a:t>
            </a:r>
            <a:endParaRPr lang="en-US" sz="1600" dirty="0"/>
          </a:p>
        </p:txBody>
      </p:sp>
      <p:sp>
        <p:nvSpPr>
          <p:cNvPr id="6" name="Standard card"/>
          <p:cNvSpPr/>
          <p:nvPr/>
        </p:nvSpPr>
        <p:spPr>
          <a:xfrm>
            <a:off x="4709160" y="1234440"/>
            <a:ext cx="3977640" cy="2194560"/>
          </a:xfrm>
          <a:prstGeom prst="roundRect">
            <a:avLst>
              <a:gd name="adj" fmla="val 4167"/>
            </a:avLst>
          </a:prstGeom>
          <a:solidFill>
            <a:schemeClr val="tx2"/>
          </a:solidFill>
          <a:ln w="9525">
            <a:solidFill>
              <a:schemeClr val="bg2">
                <a:alpha val="30000"/>
              </a:schemeClr>
            </a:solidFill>
            <a:prstDash val="solid"/>
          </a:ln>
        </p:spPr>
      </p:sp>
      <p:sp>
        <p:nvSpPr>
          <p:cNvPr id="7" name="Text 5"/>
          <p:cNvSpPr txBox="1"/>
          <p:nvPr/>
        </p:nvSpPr>
        <p:spPr>
          <a:xfrm>
            <a:off x="4937760" y="1417320"/>
            <a:ext cx="3566160" cy="274320"/>
          </a:xfrm>
          <a:prstGeom prst="rect">
            <a:avLst/>
          </a:prstGeom>
          <a:noFill/>
          <a:ln/>
        </p:spPr>
        <p:txBody>
          <a:bodyPr wrap="square" lIns="0" tIns="0" rIns="0" bIns="0" rtlCol="0" anchor="t"/>
          <a:lstStyle/>
          <a:p>
            <a:pPr indent="0" marL="0">
              <a:buNone/>
            </a:pPr>
            <a:r>
              <a:rPr lang="en-US" sz="1300" b="1" dirty="0">
                <a:solidFill>
                  <a:schemeClr val="accent5"/>
                </a:solidFill>
              </a:rPr>
              <a:t>Standard: NGSS HS-PS1-1</a:t>
            </a:r>
            <a:endParaRPr lang="en-US" sz="1300" dirty="0"/>
          </a:p>
        </p:txBody>
      </p:sp>
      <p:sp>
        <p:nvSpPr>
          <p:cNvPr id="8" name="Text 6"/>
          <p:cNvSpPr txBox="1"/>
          <p:nvPr/>
        </p:nvSpPr>
        <p:spPr>
          <a:xfrm>
            <a:off x="4937760" y="1755648"/>
            <a:ext cx="3566160" cy="1554480"/>
          </a:xfrm>
          <a:prstGeom prst="rect">
            <a:avLst/>
          </a:prstGeom>
          <a:noFill/>
          <a:ln/>
        </p:spPr>
        <p:txBody>
          <a:bodyPr wrap="square" lIns="0" tIns="0" rIns="0" bIns="0" rtlCol="0" anchor="t"/>
          <a:lstStyle/>
          <a:p>
            <a:pPr indent="0" marL="0">
              <a:buNone/>
            </a:pPr>
            <a:r>
              <a:rPr lang="en-US" sz="1500" dirty="0">
                <a:solidFill>
                  <a:schemeClr val="bg1"/>
                </a:solidFill>
              </a:rPr>
              <a:t>Use the periodic table as a model to predict the relative properties of elements based on the patterns of electrons in the outermost energy level of atoms.</a:t>
            </a:r>
            <a:endParaRPr lang="en-US" sz="1500" dirty="0"/>
          </a:p>
        </p:txBody>
      </p:sp>
      <p:sp>
        <p:nvSpPr>
          <p:cNvPr id="9" name="Atomic radius trend"/>
          <p:cNvSpPr/>
          <p:nvPr/>
        </p:nvSpPr>
        <p:spPr>
          <a:xfrm>
            <a:off x="457200" y="3657600"/>
            <a:ext cx="2651760" cy="1005840"/>
          </a:xfrm>
          <a:prstGeom prst="roundRect">
            <a:avLst>
              <a:gd name="adj" fmla="val 9091"/>
            </a:avLst>
          </a:prstGeom>
          <a:solidFill>
            <a:schemeClr val="tx2"/>
          </a:solidFill>
          <a:ln w="9525">
            <a:solidFill>
              <a:schemeClr val="bg2">
                <a:alpha val="30000"/>
              </a:schemeClr>
            </a:solidFill>
            <a:prstDash val="solid"/>
          </a:ln>
        </p:spPr>
      </p:sp>
      <p:sp>
        <p:nvSpPr>
          <p:cNvPr id="10" name="Trend bar"/>
          <p:cNvSpPr/>
          <p:nvPr/>
        </p:nvSpPr>
        <p:spPr>
          <a:xfrm>
            <a:off x="457200" y="3703320"/>
            <a:ext cx="64008" cy="914400"/>
          </a:xfrm>
          <a:prstGeom prst="rect">
            <a:avLst/>
          </a:prstGeom>
          <a:solidFill>
            <a:schemeClr val="accent1"/>
          </a:solidFill>
          <a:ln w="6350">
            <a:solidFill>
              <a:schemeClr val="accent1"/>
            </a:solidFill>
            <a:prstDash val="solid"/>
          </a:ln>
        </p:spPr>
      </p:sp>
      <p:sp>
        <p:nvSpPr>
          <p:cNvPr id="11" name="Text 9"/>
          <p:cNvSpPr txBox="1"/>
          <p:nvPr/>
        </p:nvSpPr>
        <p:spPr>
          <a:xfrm>
            <a:off x="640080" y="3657600"/>
            <a:ext cx="2377440" cy="1005840"/>
          </a:xfrm>
          <a:prstGeom prst="rect">
            <a:avLst/>
          </a:prstGeom>
          <a:noFill/>
          <a:ln/>
        </p:spPr>
        <p:txBody>
          <a:bodyPr wrap="square" lIns="0" tIns="0" rIns="0" bIns="0" rtlCol="0" anchor="ctr"/>
          <a:lstStyle/>
          <a:p>
            <a:pPr indent="0" marL="0">
              <a:buNone/>
            </a:pPr>
            <a:r>
              <a:rPr lang="en-US" sz="1100" b="1" dirty="0">
                <a:solidFill>
                  <a:schemeClr val="accent1"/>
                </a:solidFill>
              </a:rPr>
              <a:t>Atomic radius</a:t>
            </a:r>
            <a:endParaRPr lang="en-US" sz="1100" dirty="0"/>
          </a:p>
          <a:p>
            <a:pPr indent="0" marL="0">
              <a:buNone/>
            </a:pPr>
            <a:r>
              <a:rPr lang="en-US" sz="1100" dirty="0">
                <a:solidFill>
                  <a:schemeClr val="bg2"/>
                </a:solidFill>
              </a:rPr>
              <a:t>Across a period: </a:t>
            </a:r>
            <a:pPr indent="0" marL="0">
              <a:buNone/>
            </a:pPr>
            <a:r>
              <a:rPr lang="en-US" sz="1100" b="1" dirty="0">
                <a:solidFill>
                  <a:schemeClr val="bg1"/>
                </a:solidFill>
              </a:rPr>
              <a:t>gets smaller →</a:t>
            </a:r>
            <a:endParaRPr lang="en-US" sz="1100" dirty="0"/>
          </a:p>
          <a:p>
            <a:pPr indent="0" marL="0">
              <a:buNone/>
            </a:pPr>
            <a:r>
              <a:rPr lang="en-US" sz="1100" dirty="0">
                <a:solidFill>
                  <a:schemeClr val="bg2"/>
                </a:solidFill>
              </a:rPr>
              <a:t>Down a group: </a:t>
            </a:r>
            <a:pPr indent="0" marL="0">
              <a:buNone/>
            </a:pPr>
            <a:r>
              <a:rPr lang="en-US" sz="1100" b="1" dirty="0">
                <a:solidFill>
                  <a:schemeClr val="bg1"/>
                </a:solidFill>
              </a:rPr>
              <a:t>gets larger ↓</a:t>
            </a:r>
            <a:endParaRPr lang="en-US" sz="1100" dirty="0"/>
          </a:p>
        </p:txBody>
      </p:sp>
      <p:sp>
        <p:nvSpPr>
          <p:cNvPr id="12" name="Ionization energy trend"/>
          <p:cNvSpPr/>
          <p:nvPr/>
        </p:nvSpPr>
        <p:spPr>
          <a:xfrm>
            <a:off x="3246120" y="3657600"/>
            <a:ext cx="2651760" cy="1005840"/>
          </a:xfrm>
          <a:prstGeom prst="roundRect">
            <a:avLst>
              <a:gd name="adj" fmla="val 9091"/>
            </a:avLst>
          </a:prstGeom>
          <a:solidFill>
            <a:schemeClr val="tx2"/>
          </a:solidFill>
          <a:ln w="9525">
            <a:solidFill>
              <a:schemeClr val="bg2">
                <a:alpha val="30000"/>
              </a:schemeClr>
            </a:solidFill>
            <a:prstDash val="solid"/>
          </a:ln>
        </p:spPr>
      </p:sp>
      <p:sp>
        <p:nvSpPr>
          <p:cNvPr id="13" name="Trend bar"/>
          <p:cNvSpPr/>
          <p:nvPr/>
        </p:nvSpPr>
        <p:spPr>
          <a:xfrm>
            <a:off x="3246120" y="3703320"/>
            <a:ext cx="64008" cy="914400"/>
          </a:xfrm>
          <a:prstGeom prst="rect">
            <a:avLst/>
          </a:prstGeom>
          <a:solidFill>
            <a:schemeClr val="accent2"/>
          </a:solidFill>
          <a:ln w="6350">
            <a:solidFill>
              <a:schemeClr val="accent2"/>
            </a:solidFill>
            <a:prstDash val="solid"/>
          </a:ln>
        </p:spPr>
      </p:sp>
      <p:sp>
        <p:nvSpPr>
          <p:cNvPr id="14" name="Text 12"/>
          <p:cNvSpPr txBox="1"/>
          <p:nvPr/>
        </p:nvSpPr>
        <p:spPr>
          <a:xfrm>
            <a:off x="3429000" y="3657600"/>
            <a:ext cx="2377440" cy="1005840"/>
          </a:xfrm>
          <a:prstGeom prst="rect">
            <a:avLst/>
          </a:prstGeom>
          <a:noFill/>
          <a:ln/>
        </p:spPr>
        <p:txBody>
          <a:bodyPr wrap="square" lIns="0" tIns="0" rIns="0" bIns="0" rtlCol="0" anchor="ctr"/>
          <a:lstStyle/>
          <a:p>
            <a:pPr indent="0" marL="0">
              <a:buNone/>
            </a:pPr>
            <a:r>
              <a:rPr lang="en-US" sz="1100" b="1" dirty="0">
                <a:solidFill>
                  <a:schemeClr val="accent2"/>
                </a:solidFill>
              </a:rPr>
              <a:t>Ionization energy</a:t>
            </a:r>
            <a:endParaRPr lang="en-US" sz="1100" dirty="0"/>
          </a:p>
          <a:p>
            <a:pPr indent="0" marL="0">
              <a:buNone/>
            </a:pPr>
            <a:r>
              <a:rPr lang="en-US" sz="1100" dirty="0">
                <a:solidFill>
                  <a:schemeClr val="bg2"/>
                </a:solidFill>
              </a:rPr>
              <a:t>Across a period: </a:t>
            </a:r>
            <a:pPr indent="0" marL="0">
              <a:buNone/>
            </a:pPr>
            <a:r>
              <a:rPr lang="en-US" sz="1100" b="1" dirty="0">
                <a:solidFill>
                  <a:schemeClr val="bg1"/>
                </a:solidFill>
              </a:rPr>
              <a:t>gets higher →</a:t>
            </a:r>
            <a:endParaRPr lang="en-US" sz="1100" dirty="0"/>
          </a:p>
          <a:p>
            <a:pPr indent="0" marL="0">
              <a:buNone/>
            </a:pPr>
            <a:r>
              <a:rPr lang="en-US" sz="1100" dirty="0">
                <a:solidFill>
                  <a:schemeClr val="bg2"/>
                </a:solidFill>
              </a:rPr>
              <a:t>Down a group: </a:t>
            </a:r>
            <a:pPr indent="0" marL="0">
              <a:buNone/>
            </a:pPr>
            <a:r>
              <a:rPr lang="en-US" sz="1100" b="1" dirty="0">
                <a:solidFill>
                  <a:schemeClr val="bg1"/>
                </a:solidFill>
              </a:rPr>
              <a:t>gets lower ↓</a:t>
            </a:r>
            <a:endParaRPr lang="en-US" sz="1100" dirty="0"/>
          </a:p>
        </p:txBody>
      </p:sp>
      <p:sp>
        <p:nvSpPr>
          <p:cNvPr id="15" name="Electronegativity trend"/>
          <p:cNvSpPr/>
          <p:nvPr/>
        </p:nvSpPr>
        <p:spPr>
          <a:xfrm>
            <a:off x="6035040" y="3657600"/>
            <a:ext cx="2651760" cy="1005840"/>
          </a:xfrm>
          <a:prstGeom prst="roundRect">
            <a:avLst>
              <a:gd name="adj" fmla="val 9091"/>
            </a:avLst>
          </a:prstGeom>
          <a:solidFill>
            <a:schemeClr val="tx2"/>
          </a:solidFill>
          <a:ln w="9525">
            <a:solidFill>
              <a:schemeClr val="bg2">
                <a:alpha val="30000"/>
              </a:schemeClr>
            </a:solidFill>
            <a:prstDash val="solid"/>
          </a:ln>
        </p:spPr>
      </p:sp>
      <p:sp>
        <p:nvSpPr>
          <p:cNvPr id="16" name="Trend bar"/>
          <p:cNvSpPr/>
          <p:nvPr/>
        </p:nvSpPr>
        <p:spPr>
          <a:xfrm>
            <a:off x="6035040" y="3703320"/>
            <a:ext cx="64008" cy="914400"/>
          </a:xfrm>
          <a:prstGeom prst="rect">
            <a:avLst/>
          </a:prstGeom>
          <a:solidFill>
            <a:schemeClr val="accent6"/>
          </a:solidFill>
          <a:ln w="6350">
            <a:solidFill>
              <a:schemeClr val="accent6"/>
            </a:solidFill>
            <a:prstDash val="solid"/>
          </a:ln>
        </p:spPr>
      </p:sp>
      <p:sp>
        <p:nvSpPr>
          <p:cNvPr id="17" name="Text 15"/>
          <p:cNvSpPr txBox="1"/>
          <p:nvPr/>
        </p:nvSpPr>
        <p:spPr>
          <a:xfrm>
            <a:off x="6217920" y="3657600"/>
            <a:ext cx="2377440" cy="1005840"/>
          </a:xfrm>
          <a:prstGeom prst="rect">
            <a:avLst/>
          </a:prstGeom>
          <a:noFill/>
          <a:ln/>
        </p:spPr>
        <p:txBody>
          <a:bodyPr wrap="square" lIns="0" tIns="0" rIns="0" bIns="0" rtlCol="0" anchor="ctr"/>
          <a:lstStyle/>
          <a:p>
            <a:pPr indent="0" marL="0">
              <a:buNone/>
            </a:pPr>
            <a:r>
              <a:rPr lang="en-US" sz="1100" b="1" dirty="0">
                <a:solidFill>
                  <a:schemeClr val="accent6"/>
                </a:solidFill>
              </a:rPr>
              <a:t>Electronegativity</a:t>
            </a:r>
            <a:endParaRPr lang="en-US" sz="1100" dirty="0"/>
          </a:p>
          <a:p>
            <a:pPr indent="0" marL="0">
              <a:buNone/>
            </a:pPr>
            <a:r>
              <a:rPr lang="en-US" sz="1100" dirty="0">
                <a:solidFill>
                  <a:schemeClr val="bg2"/>
                </a:solidFill>
              </a:rPr>
              <a:t>Across a period: </a:t>
            </a:r>
            <a:pPr indent="0" marL="0">
              <a:buNone/>
            </a:pPr>
            <a:r>
              <a:rPr lang="en-US" sz="1100" b="1" dirty="0">
                <a:solidFill>
                  <a:schemeClr val="bg1"/>
                </a:solidFill>
              </a:rPr>
              <a:t>gets higher →</a:t>
            </a:r>
            <a:endParaRPr lang="en-US" sz="1100" dirty="0"/>
          </a:p>
          <a:p>
            <a:pPr indent="0" marL="0">
              <a:buNone/>
            </a:pPr>
            <a:r>
              <a:rPr lang="en-US" sz="1100" dirty="0">
                <a:solidFill>
                  <a:schemeClr val="bg2"/>
                </a:solidFill>
              </a:rPr>
              <a:t>Down a group: </a:t>
            </a:r>
            <a:pPr indent="0" marL="0">
              <a:buNone/>
            </a:pPr>
            <a:r>
              <a:rPr lang="en-US" sz="1100" b="1" dirty="0">
                <a:solidFill>
                  <a:schemeClr val="bg1"/>
                </a:solidFill>
              </a:rPr>
              <a:t>gets lower ↓</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000" b="1" dirty="0">
                <a:solidFill>
                  <a:schemeClr val="bg1"/>
                </a:solidFill>
              </a:rPr>
              <a:t>Before you start</a:t>
            </a:r>
            <a:endParaRPr lang="en-US" sz="3000" dirty="0"/>
          </a:p>
        </p:txBody>
      </p:sp>
      <p:sp>
        <p:nvSpPr>
          <p:cNvPr id="3" name="Text 1"/>
          <p:cNvSpPr txBox="1"/>
          <p:nvPr/>
        </p:nvSpPr>
        <p:spPr>
          <a:xfrm>
            <a:off x="457200" y="1097280"/>
            <a:ext cx="8229600" cy="457200"/>
          </a:xfrm>
          <a:prstGeom prst="rect">
            <a:avLst/>
          </a:prstGeom>
          <a:noFill/>
          <a:ln/>
        </p:spPr>
        <p:txBody>
          <a:bodyPr wrap="square" lIns="0" tIns="0" rIns="0" bIns="0" rtlCol="0" anchor="t"/>
          <a:lstStyle/>
          <a:p>
            <a:pPr indent="0" marL="0">
              <a:buNone/>
            </a:pPr>
            <a:r>
              <a:rPr lang="en-US" sz="1400" dirty="0">
                <a:solidFill>
                  <a:schemeClr val="bg2"/>
                </a:solidFill>
              </a:rPr>
              <a:t>Open Periodic Trends on the class site (Chemistry → Unit 2 → Self-Taught Lessons).</a:t>
            </a:r>
            <a:endParaRPr lang="en-US" sz="1400" dirty="0"/>
          </a:p>
        </p:txBody>
      </p:sp>
      <p:sp>
        <p:nvSpPr>
          <p:cNvPr id="4" name="Sign-in card"/>
          <p:cNvSpPr/>
          <p:nvPr/>
        </p:nvSpPr>
        <p:spPr>
          <a:xfrm>
            <a:off x="457200" y="1691640"/>
            <a:ext cx="3977640" cy="2834640"/>
          </a:xfrm>
          <a:prstGeom prst="roundRect">
            <a:avLst>
              <a:gd name="adj" fmla="val 3226"/>
            </a:avLst>
          </a:prstGeom>
          <a:solidFill>
            <a:schemeClr val="tx2"/>
          </a:solidFill>
          <a:ln w="9525">
            <a:solidFill>
              <a:schemeClr val="bg2">
                <a:alpha val="30000"/>
              </a:schemeClr>
            </a:solidFill>
            <a:prstDash val="solid"/>
          </a:ln>
        </p:spPr>
      </p:sp>
      <p:sp>
        <p:nvSpPr>
          <p:cNvPr id="5" name="Text 3"/>
          <p:cNvSpPr txBox="1"/>
          <p:nvPr/>
        </p:nvSpPr>
        <p:spPr>
          <a:xfrm>
            <a:off x="685800" y="1828800"/>
            <a:ext cx="3566160" cy="274320"/>
          </a:xfrm>
          <a:prstGeom prst="rect">
            <a:avLst/>
          </a:prstGeom>
          <a:noFill/>
          <a:ln/>
        </p:spPr>
        <p:txBody>
          <a:bodyPr wrap="square" lIns="0" tIns="0" rIns="0" bIns="0" rtlCol="0" anchor="t"/>
          <a:lstStyle/>
          <a:p>
            <a:pPr indent="0" marL="0">
              <a:buNone/>
            </a:pPr>
            <a:r>
              <a:rPr lang="en-US" sz="1400" b="1" dirty="0">
                <a:solidFill>
                  <a:schemeClr val="accent1"/>
                </a:solidFill>
              </a:rPr>
              <a:t>Fill in your information</a:t>
            </a:r>
            <a:endParaRPr lang="en-US" sz="1400" dirty="0"/>
          </a:p>
        </p:txBody>
      </p:sp>
      <p:sp>
        <p:nvSpPr>
          <p:cNvPr id="6" name="Text 4"/>
          <p:cNvSpPr txBox="1"/>
          <p:nvPr/>
        </p:nvSpPr>
        <p:spPr>
          <a:xfrm>
            <a:off x="685800" y="2212848"/>
            <a:ext cx="1371600" cy="347472"/>
          </a:xfrm>
          <a:prstGeom prst="rect">
            <a:avLst/>
          </a:prstGeom>
          <a:noFill/>
          <a:ln/>
        </p:spPr>
        <p:txBody>
          <a:bodyPr wrap="square" lIns="0" tIns="0" rIns="0" bIns="0" rtlCol="0" anchor="ctr"/>
          <a:lstStyle/>
          <a:p>
            <a:pPr indent="0" marL="0">
              <a:buNone/>
            </a:pPr>
            <a:r>
              <a:rPr lang="en-US" sz="1300" dirty="0">
                <a:solidFill>
                  <a:schemeClr val="bg1"/>
                </a:solidFill>
              </a:rPr>
              <a:t>First name</a:t>
            </a:r>
            <a:endParaRPr lang="en-US" sz="1300" dirty="0"/>
          </a:p>
        </p:txBody>
      </p:sp>
      <p:sp>
        <p:nvSpPr>
          <p:cNvPr id="7" name="First name box"/>
          <p:cNvSpPr/>
          <p:nvPr/>
        </p:nvSpPr>
        <p:spPr>
          <a:xfrm>
            <a:off x="2103120" y="2240280"/>
            <a:ext cx="2103120" cy="292608"/>
          </a:xfrm>
          <a:prstGeom prst="roundRect">
            <a:avLst>
              <a:gd name="adj" fmla="val 18750"/>
            </a:avLst>
          </a:prstGeom>
          <a:solidFill>
            <a:schemeClr val="tx1"/>
          </a:solidFill>
          <a:ln w="9525">
            <a:solidFill>
              <a:schemeClr val="bg2">
                <a:alpha val="60000"/>
              </a:schemeClr>
            </a:solidFill>
            <a:prstDash val="solid"/>
          </a:ln>
        </p:spPr>
      </p:sp>
      <p:sp>
        <p:nvSpPr>
          <p:cNvPr id="8" name="Text 6"/>
          <p:cNvSpPr txBox="1"/>
          <p:nvPr/>
        </p:nvSpPr>
        <p:spPr>
          <a:xfrm>
            <a:off x="685800" y="2651760"/>
            <a:ext cx="1371600" cy="347472"/>
          </a:xfrm>
          <a:prstGeom prst="rect">
            <a:avLst/>
          </a:prstGeom>
          <a:noFill/>
          <a:ln/>
        </p:spPr>
        <p:txBody>
          <a:bodyPr wrap="square" lIns="0" tIns="0" rIns="0" bIns="0" rtlCol="0" anchor="ctr"/>
          <a:lstStyle/>
          <a:p>
            <a:pPr indent="0" marL="0">
              <a:buNone/>
            </a:pPr>
            <a:r>
              <a:rPr lang="en-US" sz="1300" dirty="0">
                <a:solidFill>
                  <a:schemeClr val="bg1"/>
                </a:solidFill>
              </a:rPr>
              <a:t>Last name</a:t>
            </a:r>
            <a:endParaRPr lang="en-US" sz="1300" dirty="0"/>
          </a:p>
        </p:txBody>
      </p:sp>
      <p:sp>
        <p:nvSpPr>
          <p:cNvPr id="9" name="Last name box"/>
          <p:cNvSpPr/>
          <p:nvPr/>
        </p:nvSpPr>
        <p:spPr>
          <a:xfrm>
            <a:off x="2103120" y="2679192"/>
            <a:ext cx="2103120" cy="292608"/>
          </a:xfrm>
          <a:prstGeom prst="roundRect">
            <a:avLst>
              <a:gd name="adj" fmla="val 18750"/>
            </a:avLst>
          </a:prstGeom>
          <a:solidFill>
            <a:schemeClr val="tx1"/>
          </a:solidFill>
          <a:ln w="9525">
            <a:solidFill>
              <a:schemeClr val="bg2">
                <a:alpha val="60000"/>
              </a:schemeClr>
            </a:solidFill>
            <a:prstDash val="solid"/>
          </a:ln>
        </p:spPr>
      </p:sp>
      <p:sp>
        <p:nvSpPr>
          <p:cNvPr id="10" name="Text 8"/>
          <p:cNvSpPr txBox="1"/>
          <p:nvPr/>
        </p:nvSpPr>
        <p:spPr>
          <a:xfrm>
            <a:off x="685800" y="3090672"/>
            <a:ext cx="1371600" cy="347472"/>
          </a:xfrm>
          <a:prstGeom prst="rect">
            <a:avLst/>
          </a:prstGeom>
          <a:noFill/>
          <a:ln/>
        </p:spPr>
        <p:txBody>
          <a:bodyPr wrap="square" lIns="0" tIns="0" rIns="0" bIns="0" rtlCol="0" anchor="ctr"/>
          <a:lstStyle/>
          <a:p>
            <a:pPr indent="0" marL="0">
              <a:buNone/>
            </a:pPr>
            <a:r>
              <a:rPr lang="en-US" sz="1300" dirty="0">
                <a:solidFill>
                  <a:schemeClr val="bg1"/>
                </a:solidFill>
              </a:rPr>
              <a:t>Period</a:t>
            </a:r>
            <a:endParaRPr lang="en-US" sz="1300" dirty="0"/>
          </a:p>
        </p:txBody>
      </p:sp>
      <p:sp>
        <p:nvSpPr>
          <p:cNvPr id="11" name="Period box"/>
          <p:cNvSpPr/>
          <p:nvPr/>
        </p:nvSpPr>
        <p:spPr>
          <a:xfrm>
            <a:off x="2103120" y="3118104"/>
            <a:ext cx="2103120" cy="292608"/>
          </a:xfrm>
          <a:prstGeom prst="roundRect">
            <a:avLst>
              <a:gd name="adj" fmla="val 18750"/>
            </a:avLst>
          </a:prstGeom>
          <a:solidFill>
            <a:schemeClr val="tx1"/>
          </a:solidFill>
          <a:ln w="9525">
            <a:solidFill>
              <a:schemeClr val="bg2">
                <a:alpha val="60000"/>
              </a:schemeClr>
            </a:solidFill>
            <a:prstDash val="solid"/>
          </a:ln>
        </p:spPr>
      </p:sp>
      <p:sp>
        <p:nvSpPr>
          <p:cNvPr id="12" name="Text 10"/>
          <p:cNvSpPr txBox="1"/>
          <p:nvPr/>
        </p:nvSpPr>
        <p:spPr>
          <a:xfrm>
            <a:off x="685800" y="3529584"/>
            <a:ext cx="1371600" cy="347472"/>
          </a:xfrm>
          <a:prstGeom prst="rect">
            <a:avLst/>
          </a:prstGeom>
          <a:noFill/>
          <a:ln/>
        </p:spPr>
        <p:txBody>
          <a:bodyPr wrap="square" lIns="0" tIns="0" rIns="0" bIns="0" rtlCol="0" anchor="ctr"/>
          <a:lstStyle/>
          <a:p>
            <a:pPr indent="0" marL="0">
              <a:buNone/>
            </a:pPr>
            <a:r>
              <a:rPr lang="en-US" sz="1300" dirty="0">
                <a:solidFill>
                  <a:schemeClr val="bg1"/>
                </a:solidFill>
              </a:rPr>
              <a:t>Teacher's name</a:t>
            </a:r>
            <a:endParaRPr lang="en-US" sz="1300" dirty="0"/>
          </a:p>
        </p:txBody>
      </p:sp>
      <p:sp>
        <p:nvSpPr>
          <p:cNvPr id="13" name="Teacher's name box"/>
          <p:cNvSpPr/>
          <p:nvPr/>
        </p:nvSpPr>
        <p:spPr>
          <a:xfrm>
            <a:off x="2103120" y="3557016"/>
            <a:ext cx="2103120" cy="292608"/>
          </a:xfrm>
          <a:prstGeom prst="roundRect">
            <a:avLst>
              <a:gd name="adj" fmla="val 18750"/>
            </a:avLst>
          </a:prstGeom>
          <a:solidFill>
            <a:schemeClr val="tx1"/>
          </a:solidFill>
          <a:ln w="9525">
            <a:solidFill>
              <a:schemeClr val="bg2">
                <a:alpha val="60000"/>
              </a:schemeClr>
            </a:solidFill>
            <a:prstDash val="solid"/>
          </a:ln>
        </p:spPr>
      </p:sp>
      <p:sp>
        <p:nvSpPr>
          <p:cNvPr id="14" name="Text 12"/>
          <p:cNvSpPr txBox="1"/>
          <p:nvPr/>
        </p:nvSpPr>
        <p:spPr>
          <a:xfrm>
            <a:off x="2194560" y="3557016"/>
            <a:ext cx="1965960" cy="292608"/>
          </a:xfrm>
          <a:prstGeom prst="rect">
            <a:avLst/>
          </a:prstGeom>
          <a:noFill/>
          <a:ln/>
        </p:spPr>
        <p:txBody>
          <a:bodyPr wrap="square" lIns="0" tIns="0" rIns="0" bIns="0" rtlCol="0" anchor="ctr"/>
          <a:lstStyle/>
          <a:p>
            <a:pPr indent="0" marL="0">
              <a:buNone/>
            </a:pPr>
            <a:r>
              <a:rPr lang="en-US" sz="1100" dirty="0">
                <a:solidFill>
                  <a:schemeClr val="bg2"/>
                </a:solidFill>
              </a:rPr>
              <a:t>Choose from the list  ▾</a:t>
            </a:r>
            <a:endParaRPr lang="en-US" sz="1100" dirty="0"/>
          </a:p>
        </p:txBody>
      </p:sp>
      <p:sp>
        <p:nvSpPr>
          <p:cNvPr id="15" name="Text 13"/>
          <p:cNvSpPr txBox="1"/>
          <p:nvPr/>
        </p:nvSpPr>
        <p:spPr>
          <a:xfrm>
            <a:off x="685800" y="3968496"/>
            <a:ext cx="1371600" cy="347472"/>
          </a:xfrm>
          <a:prstGeom prst="rect">
            <a:avLst/>
          </a:prstGeom>
          <a:noFill/>
          <a:ln/>
        </p:spPr>
        <p:txBody>
          <a:bodyPr wrap="square" lIns="0" tIns="0" rIns="0" bIns="0" rtlCol="0" anchor="ctr"/>
          <a:lstStyle/>
          <a:p>
            <a:pPr indent="0" marL="0">
              <a:buNone/>
            </a:pPr>
            <a:r>
              <a:rPr lang="en-US" sz="1300" dirty="0">
                <a:solidFill>
                  <a:schemeClr val="bg1"/>
                </a:solidFill>
              </a:rPr>
              <a:t>Student ID</a:t>
            </a:r>
            <a:endParaRPr lang="en-US" sz="1300" dirty="0"/>
          </a:p>
        </p:txBody>
      </p:sp>
      <p:sp>
        <p:nvSpPr>
          <p:cNvPr id="16" name="Student ID box"/>
          <p:cNvSpPr/>
          <p:nvPr/>
        </p:nvSpPr>
        <p:spPr>
          <a:xfrm>
            <a:off x="2103120" y="3995928"/>
            <a:ext cx="2103120" cy="292608"/>
          </a:xfrm>
          <a:prstGeom prst="roundRect">
            <a:avLst>
              <a:gd name="adj" fmla="val 18750"/>
            </a:avLst>
          </a:prstGeom>
          <a:solidFill>
            <a:schemeClr val="tx1"/>
          </a:solidFill>
          <a:ln w="9525">
            <a:solidFill>
              <a:schemeClr val="bg2">
                <a:alpha val="60000"/>
              </a:schemeClr>
            </a:solidFill>
            <a:prstDash val="solid"/>
          </a:ln>
        </p:spPr>
      </p:sp>
      <p:sp>
        <p:nvSpPr>
          <p:cNvPr id="17" name="Goals card"/>
          <p:cNvSpPr/>
          <p:nvPr/>
        </p:nvSpPr>
        <p:spPr>
          <a:xfrm>
            <a:off x="4709160" y="1691640"/>
            <a:ext cx="3977640" cy="2834640"/>
          </a:xfrm>
          <a:prstGeom prst="roundRect">
            <a:avLst>
              <a:gd name="adj" fmla="val 3226"/>
            </a:avLst>
          </a:prstGeom>
          <a:solidFill>
            <a:schemeClr val="tx2"/>
          </a:solidFill>
          <a:ln w="9525">
            <a:solidFill>
              <a:schemeClr val="bg2">
                <a:alpha val="30000"/>
              </a:schemeClr>
            </a:solidFill>
            <a:prstDash val="solid"/>
          </a:ln>
        </p:spPr>
      </p:sp>
      <p:sp>
        <p:nvSpPr>
          <p:cNvPr id="18" name="Text 16"/>
          <p:cNvSpPr txBox="1"/>
          <p:nvPr/>
        </p:nvSpPr>
        <p:spPr>
          <a:xfrm>
            <a:off x="4937760" y="1828800"/>
            <a:ext cx="3566160" cy="274320"/>
          </a:xfrm>
          <a:prstGeom prst="rect">
            <a:avLst/>
          </a:prstGeom>
          <a:noFill/>
          <a:ln/>
        </p:spPr>
        <p:txBody>
          <a:bodyPr wrap="square" lIns="0" tIns="0" rIns="0" bIns="0" rtlCol="0" anchor="t"/>
          <a:lstStyle/>
          <a:p>
            <a:pPr indent="0" marL="0">
              <a:buNone/>
            </a:pPr>
            <a:r>
              <a:rPr lang="en-US" sz="1400" b="1" dirty="0">
                <a:solidFill>
                  <a:schemeClr val="accent4"/>
                </a:solidFill>
              </a:rPr>
              <a:t>Your goals</a:t>
            </a:r>
            <a:endParaRPr lang="en-US" sz="1400" dirty="0"/>
          </a:p>
        </p:txBody>
      </p:sp>
      <p:sp>
        <p:nvSpPr>
          <p:cNvPr id="19" name="Text 17"/>
          <p:cNvSpPr/>
          <p:nvPr/>
        </p:nvSpPr>
        <p:spPr>
          <a:xfrm>
            <a:off x="4937760" y="2231136"/>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0" name="Text 18"/>
          <p:cNvSpPr txBox="1"/>
          <p:nvPr/>
        </p:nvSpPr>
        <p:spPr>
          <a:xfrm>
            <a:off x="5321808" y="2194560"/>
            <a:ext cx="3246120" cy="365760"/>
          </a:xfrm>
          <a:prstGeom prst="rect">
            <a:avLst/>
          </a:prstGeom>
          <a:noFill/>
          <a:ln/>
        </p:spPr>
        <p:txBody>
          <a:bodyPr wrap="square" lIns="0" tIns="0" rIns="0" bIns="0" rtlCol="0" anchor="ctr"/>
          <a:lstStyle/>
          <a:p>
            <a:pPr indent="0" marL="0">
              <a:buNone/>
            </a:pPr>
            <a:r>
              <a:rPr lang="en-US" sz="1200" dirty="0">
                <a:solidFill>
                  <a:schemeClr val="bg1"/>
                </a:solidFill>
              </a:rPr>
              <a:t>Find periods and groups and describe a periodic trend</a:t>
            </a:r>
            <a:endParaRPr lang="en-US" sz="1200" dirty="0"/>
          </a:p>
        </p:txBody>
      </p:sp>
      <p:sp>
        <p:nvSpPr>
          <p:cNvPr id="21" name="Text 19"/>
          <p:cNvSpPr/>
          <p:nvPr/>
        </p:nvSpPr>
        <p:spPr>
          <a:xfrm>
            <a:off x="4937760" y="261518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2" name="Text 20"/>
          <p:cNvSpPr txBox="1"/>
          <p:nvPr/>
        </p:nvSpPr>
        <p:spPr>
          <a:xfrm>
            <a:off x="5321808" y="2578608"/>
            <a:ext cx="3246120" cy="365760"/>
          </a:xfrm>
          <a:prstGeom prst="rect">
            <a:avLst/>
          </a:prstGeom>
          <a:noFill/>
          <a:ln/>
        </p:spPr>
        <p:txBody>
          <a:bodyPr wrap="square" lIns="0" tIns="0" rIns="0" bIns="0" rtlCol="0" anchor="ctr"/>
          <a:lstStyle/>
          <a:p>
            <a:pPr indent="0" marL="0">
              <a:buNone/>
            </a:pPr>
            <a:r>
              <a:rPr lang="en-US" sz="1200" dirty="0">
                <a:solidFill>
                  <a:schemeClr val="bg1"/>
                </a:solidFill>
              </a:rPr>
              <a:t>Predict atomic radius and explain why it changes</a:t>
            </a:r>
            <a:endParaRPr lang="en-US" sz="1200" dirty="0"/>
          </a:p>
        </p:txBody>
      </p:sp>
      <p:sp>
        <p:nvSpPr>
          <p:cNvPr id="23" name="Text 21"/>
          <p:cNvSpPr/>
          <p:nvPr/>
        </p:nvSpPr>
        <p:spPr>
          <a:xfrm>
            <a:off x="4937760" y="299923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4" name="Text 22"/>
          <p:cNvSpPr txBox="1"/>
          <p:nvPr/>
        </p:nvSpPr>
        <p:spPr>
          <a:xfrm>
            <a:off x="5321808" y="2962656"/>
            <a:ext cx="3246120" cy="365760"/>
          </a:xfrm>
          <a:prstGeom prst="rect">
            <a:avLst/>
          </a:prstGeom>
          <a:noFill/>
          <a:ln/>
        </p:spPr>
        <p:txBody>
          <a:bodyPr wrap="square" lIns="0" tIns="0" rIns="0" bIns="0" rtlCol="0" anchor="ctr"/>
          <a:lstStyle/>
          <a:p>
            <a:pPr indent="0" marL="0">
              <a:buNone/>
            </a:pPr>
            <a:r>
              <a:rPr lang="en-US" sz="1200" dirty="0">
                <a:solidFill>
                  <a:schemeClr val="bg1"/>
                </a:solidFill>
              </a:rPr>
              <a:t>Predict ionization energy</a:t>
            </a:r>
            <a:endParaRPr lang="en-US" sz="1200" dirty="0"/>
          </a:p>
        </p:txBody>
      </p:sp>
      <p:sp>
        <p:nvSpPr>
          <p:cNvPr id="25" name="Text 23"/>
          <p:cNvSpPr/>
          <p:nvPr/>
        </p:nvSpPr>
        <p:spPr>
          <a:xfrm>
            <a:off x="4937760" y="338328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6" name="Text 24"/>
          <p:cNvSpPr txBox="1"/>
          <p:nvPr/>
        </p:nvSpPr>
        <p:spPr>
          <a:xfrm>
            <a:off x="5321808" y="3346704"/>
            <a:ext cx="3246120" cy="365760"/>
          </a:xfrm>
          <a:prstGeom prst="rect">
            <a:avLst/>
          </a:prstGeom>
          <a:noFill/>
          <a:ln/>
        </p:spPr>
        <p:txBody>
          <a:bodyPr wrap="square" lIns="0" tIns="0" rIns="0" bIns="0" rtlCol="0" anchor="ctr"/>
          <a:lstStyle/>
          <a:p>
            <a:pPr indent="0" marL="0">
              <a:buNone/>
            </a:pPr>
            <a:r>
              <a:rPr lang="en-US" sz="1200" dirty="0">
                <a:solidFill>
                  <a:schemeClr val="bg1"/>
                </a:solidFill>
              </a:rPr>
              <a:t>Predict electronegativity</a:t>
            </a:r>
            <a:endParaRPr lang="en-US" sz="1200" dirty="0"/>
          </a:p>
        </p:txBody>
      </p:sp>
      <p:sp>
        <p:nvSpPr>
          <p:cNvPr id="27" name="Text 25"/>
          <p:cNvSpPr/>
          <p:nvPr/>
        </p:nvSpPr>
        <p:spPr>
          <a:xfrm>
            <a:off x="4937760" y="3767328"/>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8" name="Text 26"/>
          <p:cNvSpPr txBox="1"/>
          <p:nvPr/>
        </p:nvSpPr>
        <p:spPr>
          <a:xfrm>
            <a:off x="5321808" y="3730752"/>
            <a:ext cx="3246120" cy="365760"/>
          </a:xfrm>
          <a:prstGeom prst="rect">
            <a:avLst/>
          </a:prstGeom>
          <a:noFill/>
          <a:ln/>
        </p:spPr>
        <p:txBody>
          <a:bodyPr wrap="square" lIns="0" tIns="0" rIns="0" bIns="0" rtlCol="0" anchor="ctr"/>
          <a:lstStyle/>
          <a:p>
            <a:pPr indent="0" marL="0">
              <a:buNone/>
            </a:pPr>
            <a:r>
              <a:rPr lang="en-US" sz="1200" dirty="0">
                <a:solidFill>
                  <a:schemeClr val="bg1"/>
                </a:solidFill>
              </a:rPr>
              <a:t>Use atomic radius to explain all three trends</a:t>
            </a:r>
            <a:endParaRPr lang="en-US" sz="1200" dirty="0"/>
          </a:p>
        </p:txBody>
      </p:sp>
      <p:sp>
        <p:nvSpPr>
          <p:cNvPr id="29" name="Text 27"/>
          <p:cNvSpPr/>
          <p:nvPr/>
        </p:nvSpPr>
        <p:spPr>
          <a:xfrm>
            <a:off x="4937760" y="4151376"/>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30" name="Text 28"/>
          <p:cNvSpPr txBox="1"/>
          <p:nvPr/>
        </p:nvSpPr>
        <p:spPr>
          <a:xfrm>
            <a:off x="5321808" y="4114800"/>
            <a:ext cx="3246120" cy="365760"/>
          </a:xfrm>
          <a:prstGeom prst="rect">
            <a:avLst/>
          </a:prstGeom>
          <a:noFill/>
          <a:ln/>
        </p:spPr>
        <p:txBody>
          <a:bodyPr wrap="square" lIns="0" tIns="0" rIns="0" bIns="0" rtlCol="0" anchor="ctr"/>
          <a:lstStyle/>
          <a:p>
            <a:pPr indent="0" marL="0">
              <a:buNone/>
            </a:pPr>
            <a:r>
              <a:rPr lang="en-US" sz="1200" dirty="0">
                <a:solidFill>
                  <a:schemeClr val="bg1"/>
                </a:solidFill>
              </a:rPr>
              <a:t>Pass the final check (8 out of 10)</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8229600" cy="566928"/>
          </a:xfrm>
          <a:prstGeom prst="rect">
            <a:avLst/>
          </a:prstGeom>
          <a:noFill/>
          <a:ln/>
        </p:spPr>
        <p:txBody>
          <a:bodyPr wrap="square" lIns="0" tIns="0" rIns="0" bIns="0" rtlCol="0" anchor="ctr"/>
          <a:lstStyle/>
          <a:p>
            <a:pPr algn="l" indent="0" marL="0">
              <a:buNone/>
            </a:pPr>
            <a:r>
              <a:rPr lang="en-US" sz="3000" b="1" dirty="0">
                <a:solidFill>
                  <a:schemeClr val="bg1"/>
                </a:solidFill>
              </a:rPr>
              <a:t>How the lesson works</a:t>
            </a:r>
            <a:endParaRPr lang="en-US" sz="3000" dirty="0"/>
          </a:p>
        </p:txBody>
      </p:sp>
      <p:sp>
        <p:nvSpPr>
          <p:cNvPr id="3" name="Section tile 1"/>
          <p:cNvSpPr/>
          <p:nvPr/>
        </p:nvSpPr>
        <p:spPr>
          <a:xfrm>
            <a:off x="457200" y="1234440"/>
            <a:ext cx="658368" cy="731520"/>
          </a:xfrm>
          <a:prstGeom prst="roundRect">
            <a:avLst>
              <a:gd name="adj" fmla="val 12000"/>
            </a:avLst>
          </a:prstGeom>
          <a:solidFill>
            <a:schemeClr val="accent1">
              <a:alpha val="18000"/>
            </a:schemeClr>
          </a:solidFill>
          <a:ln w="19050">
            <a:solidFill>
              <a:schemeClr val="accent1"/>
            </a:solidFill>
            <a:prstDash val="solid"/>
          </a:ln>
        </p:spPr>
      </p:sp>
      <p:sp>
        <p:nvSpPr>
          <p:cNvPr id="4" name="Atom Li"/>
          <p:cNvSpPr/>
          <p:nvPr/>
        </p:nvSpPr>
        <p:spPr>
          <a:xfrm>
            <a:off x="583035" y="1440742"/>
            <a:ext cx="406698" cy="406698"/>
          </a:xfrm>
          <a:prstGeom prst="ellipse">
            <a:avLst/>
          </a:prstGeom>
          <a:solidFill>
            <a:schemeClr val="accent1">
              <a:alpha val="30000"/>
            </a:schemeClr>
          </a:solidFill>
          <a:ln w="9525">
            <a:solidFill>
              <a:srgbClr val="A0F0FF"/>
            </a:solidFill>
            <a:prstDash val="dash"/>
          </a:ln>
        </p:spPr>
      </p:sp>
      <p:sp>
        <p:nvSpPr>
          <p:cNvPr id="5" name="Text 3"/>
          <p:cNvSpPr txBox="1"/>
          <p:nvPr/>
        </p:nvSpPr>
        <p:spPr>
          <a:xfrm>
            <a:off x="509869" y="1271016"/>
            <a:ext cx="395021" cy="175565"/>
          </a:xfrm>
          <a:prstGeom prst="rect">
            <a:avLst/>
          </a:prstGeom>
          <a:noFill/>
          <a:ln/>
        </p:spPr>
        <p:txBody>
          <a:bodyPr wrap="square" lIns="0" tIns="0" rIns="0" bIns="0" rtlCol="0" anchor="t"/>
          <a:lstStyle/>
          <a:p>
            <a:pPr indent="0" marL="0">
              <a:buNone/>
            </a:pPr>
            <a:r>
              <a:rPr lang="en-US" sz="1000" dirty="0">
                <a:solidFill>
                  <a:schemeClr val="bg2"/>
                </a:solidFill>
              </a:rPr>
              <a:t>1</a:t>
            </a:r>
            <a:endParaRPr lang="en-US" sz="1000" dirty="0"/>
          </a:p>
        </p:txBody>
      </p:sp>
      <p:sp>
        <p:nvSpPr>
          <p:cNvPr id="6" name="Text 4"/>
          <p:cNvSpPr txBox="1"/>
          <p:nvPr/>
        </p:nvSpPr>
        <p:spPr>
          <a:xfrm>
            <a:off x="457200" y="1461211"/>
            <a:ext cx="658368" cy="365760"/>
          </a:xfrm>
          <a:prstGeom prst="rect">
            <a:avLst/>
          </a:prstGeom>
          <a:noFill/>
          <a:ln/>
        </p:spPr>
        <p:txBody>
          <a:bodyPr wrap="square" lIns="0" tIns="0" rIns="0" bIns="0" rtlCol="0" anchor="ctr"/>
          <a:lstStyle/>
          <a:p>
            <a:pPr algn="ctr" indent="0" marL="0">
              <a:buNone/>
            </a:pPr>
            <a:r>
              <a:rPr lang="en-US" sz="2100" b="1" dirty="0">
                <a:solidFill>
                  <a:schemeClr val="bg1"/>
                </a:solidFill>
              </a:rPr>
              <a:t>Li</a:t>
            </a:r>
            <a:endParaRPr lang="en-US" sz="2100" dirty="0"/>
          </a:p>
        </p:txBody>
      </p:sp>
      <p:sp>
        <p:nvSpPr>
          <p:cNvPr id="7" name="Text 5"/>
          <p:cNvSpPr txBox="1"/>
          <p:nvPr/>
        </p:nvSpPr>
        <p:spPr>
          <a:xfrm>
            <a:off x="365760" y="2011680"/>
            <a:ext cx="841248" cy="274320"/>
          </a:xfrm>
          <a:prstGeom prst="rect">
            <a:avLst/>
          </a:prstGeom>
          <a:noFill/>
          <a:ln/>
        </p:spPr>
        <p:txBody>
          <a:bodyPr wrap="square" lIns="0" tIns="0" rIns="0" bIns="0" rtlCol="0" anchor="t"/>
          <a:lstStyle/>
          <a:p>
            <a:pPr algn="ctr" indent="0" marL="0">
              <a:buNone/>
            </a:pPr>
            <a:r>
              <a:rPr lang="en-US" sz="900" dirty="0">
                <a:solidFill>
                  <a:schemeClr val="bg2"/>
                </a:solidFill>
              </a:rPr>
              <a:t>Trends</a:t>
            </a:r>
            <a:endParaRPr lang="en-US" sz="900" dirty="0"/>
          </a:p>
        </p:txBody>
      </p:sp>
      <p:sp>
        <p:nvSpPr>
          <p:cNvPr id="8" name="Section tile 2"/>
          <p:cNvSpPr/>
          <p:nvPr/>
        </p:nvSpPr>
        <p:spPr>
          <a:xfrm>
            <a:off x="1298448" y="1234440"/>
            <a:ext cx="658368" cy="731520"/>
          </a:xfrm>
          <a:prstGeom prst="roundRect">
            <a:avLst>
              <a:gd name="adj" fmla="val 12000"/>
            </a:avLst>
          </a:prstGeom>
          <a:solidFill>
            <a:schemeClr val="accent1">
              <a:alpha val="18000"/>
            </a:schemeClr>
          </a:solidFill>
          <a:ln w="19050">
            <a:solidFill>
              <a:schemeClr val="accent1"/>
            </a:solidFill>
            <a:prstDash val="solid"/>
          </a:ln>
        </p:spPr>
      </p:sp>
      <p:sp>
        <p:nvSpPr>
          <p:cNvPr id="9" name="Atom K"/>
          <p:cNvSpPr/>
          <p:nvPr/>
        </p:nvSpPr>
        <p:spPr>
          <a:xfrm>
            <a:off x="1351117" y="1367577"/>
            <a:ext cx="553029" cy="553029"/>
          </a:xfrm>
          <a:prstGeom prst="ellipse">
            <a:avLst/>
          </a:prstGeom>
          <a:solidFill>
            <a:schemeClr val="accent1">
              <a:alpha val="30000"/>
            </a:schemeClr>
          </a:solidFill>
          <a:ln w="9525">
            <a:solidFill>
              <a:srgbClr val="A0F0FF"/>
            </a:solidFill>
            <a:prstDash val="dash"/>
          </a:ln>
        </p:spPr>
      </p:sp>
      <p:sp>
        <p:nvSpPr>
          <p:cNvPr id="10" name="Text 8"/>
          <p:cNvSpPr txBox="1"/>
          <p:nvPr/>
        </p:nvSpPr>
        <p:spPr>
          <a:xfrm>
            <a:off x="1351117" y="1271016"/>
            <a:ext cx="395021" cy="175565"/>
          </a:xfrm>
          <a:prstGeom prst="rect">
            <a:avLst/>
          </a:prstGeom>
          <a:noFill/>
          <a:ln/>
        </p:spPr>
        <p:txBody>
          <a:bodyPr wrap="square" lIns="0" tIns="0" rIns="0" bIns="0" rtlCol="0" anchor="t"/>
          <a:lstStyle/>
          <a:p>
            <a:pPr indent="0" marL="0">
              <a:buNone/>
            </a:pPr>
            <a:r>
              <a:rPr lang="en-US" sz="1000" dirty="0">
                <a:solidFill>
                  <a:schemeClr val="bg2"/>
                </a:solidFill>
              </a:rPr>
              <a:t>2</a:t>
            </a:r>
            <a:endParaRPr lang="en-US" sz="1000" dirty="0"/>
          </a:p>
        </p:txBody>
      </p:sp>
      <p:sp>
        <p:nvSpPr>
          <p:cNvPr id="11" name="Text 9"/>
          <p:cNvSpPr txBox="1"/>
          <p:nvPr/>
        </p:nvSpPr>
        <p:spPr>
          <a:xfrm>
            <a:off x="1298448" y="1461211"/>
            <a:ext cx="658368" cy="365760"/>
          </a:xfrm>
          <a:prstGeom prst="rect">
            <a:avLst/>
          </a:prstGeom>
          <a:noFill/>
          <a:ln/>
        </p:spPr>
        <p:txBody>
          <a:bodyPr wrap="square" lIns="0" tIns="0" rIns="0" bIns="0" rtlCol="0" anchor="ctr"/>
          <a:lstStyle/>
          <a:p>
            <a:pPr algn="ctr" indent="0" marL="0">
              <a:buNone/>
            </a:pPr>
            <a:r>
              <a:rPr lang="en-US" sz="2100" b="1" dirty="0">
                <a:solidFill>
                  <a:schemeClr val="bg1"/>
                </a:solidFill>
              </a:rPr>
              <a:t>K</a:t>
            </a:r>
            <a:endParaRPr lang="en-US" sz="2100" dirty="0"/>
          </a:p>
        </p:txBody>
      </p:sp>
      <p:sp>
        <p:nvSpPr>
          <p:cNvPr id="12" name="Text 10"/>
          <p:cNvSpPr txBox="1"/>
          <p:nvPr/>
        </p:nvSpPr>
        <p:spPr>
          <a:xfrm>
            <a:off x="1207008" y="2011680"/>
            <a:ext cx="841248" cy="274320"/>
          </a:xfrm>
          <a:prstGeom prst="rect">
            <a:avLst/>
          </a:prstGeom>
          <a:noFill/>
          <a:ln/>
        </p:spPr>
        <p:txBody>
          <a:bodyPr wrap="square" lIns="0" tIns="0" rIns="0" bIns="0" rtlCol="0" anchor="t"/>
          <a:lstStyle/>
          <a:p>
            <a:pPr algn="ctr" indent="0" marL="0">
              <a:buNone/>
            </a:pPr>
            <a:r>
              <a:rPr lang="en-US" sz="900" dirty="0">
                <a:solidFill>
                  <a:schemeClr val="bg2"/>
                </a:solidFill>
              </a:rPr>
              <a:t>Radius</a:t>
            </a:r>
            <a:endParaRPr lang="en-US" sz="900" dirty="0"/>
          </a:p>
        </p:txBody>
      </p:sp>
      <p:sp>
        <p:nvSpPr>
          <p:cNvPr id="13" name="Section tile 3"/>
          <p:cNvSpPr/>
          <p:nvPr/>
        </p:nvSpPr>
        <p:spPr>
          <a:xfrm>
            <a:off x="2139696" y="1234440"/>
            <a:ext cx="658368" cy="731520"/>
          </a:xfrm>
          <a:prstGeom prst="roundRect">
            <a:avLst>
              <a:gd name="adj" fmla="val 12000"/>
            </a:avLst>
          </a:prstGeom>
          <a:solidFill>
            <a:schemeClr val="accent1">
              <a:alpha val="18000"/>
            </a:schemeClr>
          </a:solidFill>
          <a:ln w="19050">
            <a:solidFill>
              <a:schemeClr val="accent1"/>
            </a:solidFill>
            <a:prstDash val="solid"/>
          </a:ln>
        </p:spPr>
      </p:sp>
      <p:sp>
        <p:nvSpPr>
          <p:cNvPr id="14" name="Atom Na"/>
          <p:cNvSpPr/>
          <p:nvPr/>
        </p:nvSpPr>
        <p:spPr>
          <a:xfrm>
            <a:off x="2243389" y="1418600"/>
            <a:ext cx="450982" cy="450982"/>
          </a:xfrm>
          <a:prstGeom prst="ellipse">
            <a:avLst/>
          </a:prstGeom>
          <a:solidFill>
            <a:schemeClr val="accent1">
              <a:alpha val="30000"/>
            </a:schemeClr>
          </a:solidFill>
          <a:ln w="9525">
            <a:solidFill>
              <a:srgbClr val="A0F0FF"/>
            </a:solidFill>
            <a:prstDash val="dash"/>
          </a:ln>
        </p:spPr>
      </p:sp>
      <p:sp>
        <p:nvSpPr>
          <p:cNvPr id="15" name="Text 13"/>
          <p:cNvSpPr txBox="1"/>
          <p:nvPr/>
        </p:nvSpPr>
        <p:spPr>
          <a:xfrm>
            <a:off x="2192365" y="1271016"/>
            <a:ext cx="395021" cy="175565"/>
          </a:xfrm>
          <a:prstGeom prst="rect">
            <a:avLst/>
          </a:prstGeom>
          <a:noFill/>
          <a:ln/>
        </p:spPr>
        <p:txBody>
          <a:bodyPr wrap="square" lIns="0" tIns="0" rIns="0" bIns="0" rtlCol="0" anchor="t"/>
          <a:lstStyle/>
          <a:p>
            <a:pPr indent="0" marL="0">
              <a:buNone/>
            </a:pPr>
            <a:r>
              <a:rPr lang="en-US" sz="1000" dirty="0">
                <a:solidFill>
                  <a:schemeClr val="bg2"/>
                </a:solidFill>
              </a:rPr>
              <a:t>3</a:t>
            </a:r>
            <a:endParaRPr lang="en-US" sz="1000" dirty="0"/>
          </a:p>
        </p:txBody>
      </p:sp>
      <p:sp>
        <p:nvSpPr>
          <p:cNvPr id="16" name="Text 14"/>
          <p:cNvSpPr txBox="1"/>
          <p:nvPr/>
        </p:nvSpPr>
        <p:spPr>
          <a:xfrm>
            <a:off x="2139696" y="1461211"/>
            <a:ext cx="658368" cy="365760"/>
          </a:xfrm>
          <a:prstGeom prst="rect">
            <a:avLst/>
          </a:prstGeom>
          <a:noFill/>
          <a:ln/>
        </p:spPr>
        <p:txBody>
          <a:bodyPr wrap="square" lIns="0" tIns="0" rIns="0" bIns="0" rtlCol="0" anchor="ctr"/>
          <a:lstStyle/>
          <a:p>
            <a:pPr algn="ctr" indent="0" marL="0">
              <a:buNone/>
            </a:pPr>
            <a:r>
              <a:rPr lang="en-US" sz="2100" b="1" dirty="0">
                <a:solidFill>
                  <a:schemeClr val="bg1"/>
                </a:solidFill>
              </a:rPr>
              <a:t>Na</a:t>
            </a:r>
            <a:endParaRPr lang="en-US" sz="2100" dirty="0"/>
          </a:p>
        </p:txBody>
      </p:sp>
      <p:sp>
        <p:nvSpPr>
          <p:cNvPr id="17" name="Text 15"/>
          <p:cNvSpPr txBox="1"/>
          <p:nvPr/>
        </p:nvSpPr>
        <p:spPr>
          <a:xfrm>
            <a:off x="2048256" y="2011680"/>
            <a:ext cx="841248" cy="274320"/>
          </a:xfrm>
          <a:prstGeom prst="rect">
            <a:avLst/>
          </a:prstGeom>
          <a:noFill/>
          <a:ln/>
        </p:spPr>
        <p:txBody>
          <a:bodyPr wrap="square" lIns="0" tIns="0" rIns="0" bIns="0" rtlCol="0" anchor="t"/>
          <a:lstStyle/>
          <a:p>
            <a:pPr algn="ctr" indent="0" marL="0">
              <a:buNone/>
            </a:pPr>
            <a:r>
              <a:rPr lang="en-US" sz="900" dirty="0">
                <a:solidFill>
                  <a:schemeClr val="bg2"/>
                </a:solidFill>
              </a:rPr>
              <a:t>Why size</a:t>
            </a:r>
            <a:endParaRPr lang="en-US" sz="900" dirty="0"/>
          </a:p>
        </p:txBody>
      </p:sp>
      <p:sp>
        <p:nvSpPr>
          <p:cNvPr id="18" name="Section tile 4"/>
          <p:cNvSpPr/>
          <p:nvPr/>
        </p:nvSpPr>
        <p:spPr>
          <a:xfrm>
            <a:off x="2980944" y="1234440"/>
            <a:ext cx="658368" cy="731520"/>
          </a:xfrm>
          <a:prstGeom prst="roundRect">
            <a:avLst>
              <a:gd name="adj" fmla="val 12000"/>
            </a:avLst>
          </a:prstGeom>
          <a:solidFill>
            <a:schemeClr val="accent1">
              <a:alpha val="18000"/>
            </a:schemeClr>
          </a:solidFill>
          <a:ln w="19050">
            <a:solidFill>
              <a:schemeClr val="accent1"/>
            </a:solidFill>
            <a:prstDash val="solid"/>
          </a:ln>
        </p:spPr>
      </p:sp>
      <p:sp>
        <p:nvSpPr>
          <p:cNvPr id="19" name="Atom Ne"/>
          <p:cNvSpPr/>
          <p:nvPr/>
        </p:nvSpPr>
        <p:spPr>
          <a:xfrm>
            <a:off x="3230969" y="1564932"/>
            <a:ext cx="158319" cy="158319"/>
          </a:xfrm>
          <a:prstGeom prst="ellipse">
            <a:avLst/>
          </a:prstGeom>
          <a:solidFill>
            <a:schemeClr val="accent1">
              <a:alpha val="30000"/>
            </a:schemeClr>
          </a:solidFill>
          <a:ln w="9525">
            <a:solidFill>
              <a:srgbClr val="A0F0FF"/>
            </a:solidFill>
            <a:prstDash val="dash"/>
          </a:ln>
        </p:spPr>
      </p:sp>
      <p:sp>
        <p:nvSpPr>
          <p:cNvPr id="20" name="Text 18"/>
          <p:cNvSpPr txBox="1"/>
          <p:nvPr/>
        </p:nvSpPr>
        <p:spPr>
          <a:xfrm>
            <a:off x="3033613" y="1271016"/>
            <a:ext cx="395021" cy="175565"/>
          </a:xfrm>
          <a:prstGeom prst="rect">
            <a:avLst/>
          </a:prstGeom>
          <a:noFill/>
          <a:ln/>
        </p:spPr>
        <p:txBody>
          <a:bodyPr wrap="square" lIns="0" tIns="0" rIns="0" bIns="0" rtlCol="0" anchor="t"/>
          <a:lstStyle/>
          <a:p>
            <a:pPr indent="0" marL="0">
              <a:buNone/>
            </a:pPr>
            <a:r>
              <a:rPr lang="en-US" sz="1000" dirty="0">
                <a:solidFill>
                  <a:schemeClr val="bg2"/>
                </a:solidFill>
              </a:rPr>
              <a:t>4</a:t>
            </a:r>
            <a:endParaRPr lang="en-US" sz="1000" dirty="0"/>
          </a:p>
        </p:txBody>
      </p:sp>
      <p:sp>
        <p:nvSpPr>
          <p:cNvPr id="21" name="Text 19"/>
          <p:cNvSpPr txBox="1"/>
          <p:nvPr/>
        </p:nvSpPr>
        <p:spPr>
          <a:xfrm>
            <a:off x="2980944" y="1461211"/>
            <a:ext cx="658368" cy="365760"/>
          </a:xfrm>
          <a:prstGeom prst="rect">
            <a:avLst/>
          </a:prstGeom>
          <a:noFill/>
          <a:ln/>
        </p:spPr>
        <p:txBody>
          <a:bodyPr wrap="square" lIns="0" tIns="0" rIns="0" bIns="0" rtlCol="0" anchor="ctr"/>
          <a:lstStyle/>
          <a:p>
            <a:pPr algn="ctr" indent="0" marL="0">
              <a:buNone/>
            </a:pPr>
            <a:r>
              <a:rPr lang="en-US" sz="2100" b="1" dirty="0">
                <a:solidFill>
                  <a:schemeClr val="bg1"/>
                </a:solidFill>
              </a:rPr>
              <a:t>Ne</a:t>
            </a:r>
            <a:endParaRPr lang="en-US" sz="2100" dirty="0"/>
          </a:p>
        </p:txBody>
      </p:sp>
      <p:sp>
        <p:nvSpPr>
          <p:cNvPr id="22" name="Text 20"/>
          <p:cNvSpPr txBox="1"/>
          <p:nvPr/>
        </p:nvSpPr>
        <p:spPr>
          <a:xfrm>
            <a:off x="2889504" y="2011680"/>
            <a:ext cx="841248" cy="274320"/>
          </a:xfrm>
          <a:prstGeom prst="rect">
            <a:avLst/>
          </a:prstGeom>
          <a:noFill/>
          <a:ln/>
        </p:spPr>
        <p:txBody>
          <a:bodyPr wrap="square" lIns="0" tIns="0" rIns="0" bIns="0" rtlCol="0" anchor="t"/>
          <a:lstStyle/>
          <a:p>
            <a:pPr algn="ctr" indent="0" marL="0">
              <a:buNone/>
            </a:pPr>
            <a:r>
              <a:rPr lang="en-US" sz="900" dirty="0">
                <a:solidFill>
                  <a:schemeClr val="bg2"/>
                </a:solidFill>
              </a:rPr>
              <a:t>Ionization</a:t>
            </a:r>
            <a:endParaRPr lang="en-US" sz="900" dirty="0"/>
          </a:p>
        </p:txBody>
      </p:sp>
      <p:sp>
        <p:nvSpPr>
          <p:cNvPr id="23" name="Section tile 5"/>
          <p:cNvSpPr/>
          <p:nvPr/>
        </p:nvSpPr>
        <p:spPr>
          <a:xfrm>
            <a:off x="3822192" y="1234440"/>
            <a:ext cx="658368" cy="731520"/>
          </a:xfrm>
          <a:prstGeom prst="roundRect">
            <a:avLst>
              <a:gd name="adj" fmla="val 12000"/>
            </a:avLst>
          </a:prstGeom>
          <a:solidFill>
            <a:schemeClr val="accent1">
              <a:alpha val="18000"/>
            </a:schemeClr>
          </a:solidFill>
          <a:ln w="19050">
            <a:solidFill>
              <a:schemeClr val="accent1"/>
            </a:solidFill>
            <a:prstDash val="solid"/>
          </a:ln>
        </p:spPr>
      </p:sp>
      <p:sp>
        <p:nvSpPr>
          <p:cNvPr id="24" name="Atom F"/>
          <p:cNvSpPr/>
          <p:nvPr/>
        </p:nvSpPr>
        <p:spPr>
          <a:xfrm>
            <a:off x="4068366" y="1561081"/>
            <a:ext cx="166021" cy="166021"/>
          </a:xfrm>
          <a:prstGeom prst="ellipse">
            <a:avLst/>
          </a:prstGeom>
          <a:solidFill>
            <a:schemeClr val="accent1">
              <a:alpha val="30000"/>
            </a:schemeClr>
          </a:solidFill>
          <a:ln w="9525">
            <a:solidFill>
              <a:srgbClr val="A0F0FF"/>
            </a:solidFill>
            <a:prstDash val="dash"/>
          </a:ln>
        </p:spPr>
      </p:sp>
      <p:sp>
        <p:nvSpPr>
          <p:cNvPr id="25" name="Text 23"/>
          <p:cNvSpPr txBox="1"/>
          <p:nvPr/>
        </p:nvSpPr>
        <p:spPr>
          <a:xfrm>
            <a:off x="3874861" y="1271016"/>
            <a:ext cx="395021" cy="175565"/>
          </a:xfrm>
          <a:prstGeom prst="rect">
            <a:avLst/>
          </a:prstGeom>
          <a:noFill/>
          <a:ln/>
        </p:spPr>
        <p:txBody>
          <a:bodyPr wrap="square" lIns="0" tIns="0" rIns="0" bIns="0" rtlCol="0" anchor="t"/>
          <a:lstStyle/>
          <a:p>
            <a:pPr indent="0" marL="0">
              <a:buNone/>
            </a:pPr>
            <a:r>
              <a:rPr lang="en-US" sz="1000" dirty="0">
                <a:solidFill>
                  <a:schemeClr val="bg2"/>
                </a:solidFill>
              </a:rPr>
              <a:t>5</a:t>
            </a:r>
            <a:endParaRPr lang="en-US" sz="1000" dirty="0"/>
          </a:p>
        </p:txBody>
      </p:sp>
      <p:sp>
        <p:nvSpPr>
          <p:cNvPr id="26" name="Text 24"/>
          <p:cNvSpPr txBox="1"/>
          <p:nvPr/>
        </p:nvSpPr>
        <p:spPr>
          <a:xfrm>
            <a:off x="3822192" y="1461211"/>
            <a:ext cx="658368" cy="365760"/>
          </a:xfrm>
          <a:prstGeom prst="rect">
            <a:avLst/>
          </a:prstGeom>
          <a:noFill/>
          <a:ln/>
        </p:spPr>
        <p:txBody>
          <a:bodyPr wrap="square" lIns="0" tIns="0" rIns="0" bIns="0" rtlCol="0" anchor="ctr"/>
          <a:lstStyle/>
          <a:p>
            <a:pPr algn="ctr" indent="0" marL="0">
              <a:buNone/>
            </a:pPr>
            <a:r>
              <a:rPr lang="en-US" sz="2100" b="1" dirty="0">
                <a:solidFill>
                  <a:schemeClr val="bg1"/>
                </a:solidFill>
              </a:rPr>
              <a:t>F</a:t>
            </a:r>
            <a:endParaRPr lang="en-US" sz="2100" dirty="0"/>
          </a:p>
        </p:txBody>
      </p:sp>
      <p:sp>
        <p:nvSpPr>
          <p:cNvPr id="27" name="Text 25"/>
          <p:cNvSpPr txBox="1"/>
          <p:nvPr/>
        </p:nvSpPr>
        <p:spPr>
          <a:xfrm>
            <a:off x="3730752" y="2011680"/>
            <a:ext cx="841248" cy="274320"/>
          </a:xfrm>
          <a:prstGeom prst="rect">
            <a:avLst/>
          </a:prstGeom>
          <a:noFill/>
          <a:ln/>
        </p:spPr>
        <p:txBody>
          <a:bodyPr wrap="square" lIns="0" tIns="0" rIns="0" bIns="0" rtlCol="0" anchor="t"/>
          <a:lstStyle/>
          <a:p>
            <a:pPr algn="ctr" indent="0" marL="0">
              <a:buNone/>
            </a:pPr>
            <a:r>
              <a:rPr lang="en-US" sz="900" dirty="0">
                <a:solidFill>
                  <a:schemeClr val="bg2"/>
                </a:solidFill>
              </a:rPr>
              <a:t>Electroneg.</a:t>
            </a:r>
            <a:endParaRPr lang="en-US" sz="900" dirty="0"/>
          </a:p>
        </p:txBody>
      </p:sp>
      <p:sp>
        <p:nvSpPr>
          <p:cNvPr id="28" name="Section tile 6"/>
          <p:cNvSpPr/>
          <p:nvPr/>
        </p:nvSpPr>
        <p:spPr>
          <a:xfrm>
            <a:off x="4663440" y="1234440"/>
            <a:ext cx="658368" cy="731520"/>
          </a:xfrm>
          <a:prstGeom prst="roundRect">
            <a:avLst>
              <a:gd name="adj" fmla="val 12000"/>
            </a:avLst>
          </a:prstGeom>
          <a:solidFill>
            <a:schemeClr val="accent1">
              <a:alpha val="18000"/>
            </a:schemeClr>
          </a:solidFill>
          <a:ln w="19050">
            <a:solidFill>
              <a:schemeClr val="accent1"/>
            </a:solidFill>
            <a:prstDash val="solid"/>
          </a:ln>
        </p:spPr>
      </p:sp>
      <p:sp>
        <p:nvSpPr>
          <p:cNvPr id="29" name="Atom Cl"/>
          <p:cNvSpPr/>
          <p:nvPr/>
        </p:nvSpPr>
        <p:spPr>
          <a:xfrm>
            <a:off x="4873994" y="1525461"/>
            <a:ext cx="237261" cy="237261"/>
          </a:xfrm>
          <a:prstGeom prst="ellipse">
            <a:avLst/>
          </a:prstGeom>
          <a:solidFill>
            <a:schemeClr val="accent1">
              <a:alpha val="30000"/>
            </a:schemeClr>
          </a:solidFill>
          <a:ln w="9525">
            <a:solidFill>
              <a:srgbClr val="A0F0FF"/>
            </a:solidFill>
            <a:prstDash val="dash"/>
          </a:ln>
        </p:spPr>
      </p:sp>
      <p:sp>
        <p:nvSpPr>
          <p:cNvPr id="30" name="Text 28"/>
          <p:cNvSpPr txBox="1"/>
          <p:nvPr/>
        </p:nvSpPr>
        <p:spPr>
          <a:xfrm>
            <a:off x="4716109" y="1271016"/>
            <a:ext cx="395021" cy="175565"/>
          </a:xfrm>
          <a:prstGeom prst="rect">
            <a:avLst/>
          </a:prstGeom>
          <a:noFill/>
          <a:ln/>
        </p:spPr>
        <p:txBody>
          <a:bodyPr wrap="square" lIns="0" tIns="0" rIns="0" bIns="0" rtlCol="0" anchor="t"/>
          <a:lstStyle/>
          <a:p>
            <a:pPr indent="0" marL="0">
              <a:buNone/>
            </a:pPr>
            <a:r>
              <a:rPr lang="en-US" sz="1000" dirty="0">
                <a:solidFill>
                  <a:schemeClr val="bg2"/>
                </a:solidFill>
              </a:rPr>
              <a:t>6</a:t>
            </a:r>
            <a:endParaRPr lang="en-US" sz="1000" dirty="0"/>
          </a:p>
        </p:txBody>
      </p:sp>
      <p:sp>
        <p:nvSpPr>
          <p:cNvPr id="31" name="Text 29"/>
          <p:cNvSpPr txBox="1"/>
          <p:nvPr/>
        </p:nvSpPr>
        <p:spPr>
          <a:xfrm>
            <a:off x="4663440" y="1461211"/>
            <a:ext cx="658368" cy="365760"/>
          </a:xfrm>
          <a:prstGeom prst="rect">
            <a:avLst/>
          </a:prstGeom>
          <a:noFill/>
          <a:ln/>
        </p:spPr>
        <p:txBody>
          <a:bodyPr wrap="square" lIns="0" tIns="0" rIns="0" bIns="0" rtlCol="0" anchor="ctr"/>
          <a:lstStyle/>
          <a:p>
            <a:pPr algn="ctr" indent="0" marL="0">
              <a:buNone/>
            </a:pPr>
            <a:r>
              <a:rPr lang="en-US" sz="2100" b="1" dirty="0">
                <a:solidFill>
                  <a:schemeClr val="bg1"/>
                </a:solidFill>
              </a:rPr>
              <a:t>Cl</a:t>
            </a:r>
            <a:endParaRPr lang="en-US" sz="2100" dirty="0"/>
          </a:p>
        </p:txBody>
      </p:sp>
      <p:sp>
        <p:nvSpPr>
          <p:cNvPr id="32" name="Text 30"/>
          <p:cNvSpPr txBox="1"/>
          <p:nvPr/>
        </p:nvSpPr>
        <p:spPr>
          <a:xfrm>
            <a:off x="4572000" y="2011680"/>
            <a:ext cx="841248" cy="274320"/>
          </a:xfrm>
          <a:prstGeom prst="rect">
            <a:avLst/>
          </a:prstGeom>
          <a:noFill/>
          <a:ln/>
        </p:spPr>
        <p:txBody>
          <a:bodyPr wrap="square" lIns="0" tIns="0" rIns="0" bIns="0" rtlCol="0" anchor="t"/>
          <a:lstStyle/>
          <a:p>
            <a:pPr algn="ctr" indent="0" marL="0">
              <a:buNone/>
            </a:pPr>
            <a:r>
              <a:rPr lang="en-US" sz="900" dirty="0">
                <a:solidFill>
                  <a:schemeClr val="bg2"/>
                </a:solidFill>
              </a:rPr>
              <a:t>Explain</a:t>
            </a:r>
            <a:endParaRPr lang="en-US" sz="900" dirty="0"/>
          </a:p>
        </p:txBody>
      </p:sp>
      <p:sp>
        <p:nvSpPr>
          <p:cNvPr id="33" name="Section tile 7"/>
          <p:cNvSpPr/>
          <p:nvPr/>
        </p:nvSpPr>
        <p:spPr>
          <a:xfrm>
            <a:off x="5504688" y="1234440"/>
            <a:ext cx="658368" cy="731520"/>
          </a:xfrm>
          <a:prstGeom prst="roundRect">
            <a:avLst>
              <a:gd name="adj" fmla="val 12000"/>
            </a:avLst>
          </a:prstGeom>
          <a:solidFill>
            <a:schemeClr val="accent1">
              <a:alpha val="18000"/>
            </a:schemeClr>
          </a:solidFill>
          <a:ln w="19050">
            <a:solidFill>
              <a:schemeClr val="accent1"/>
            </a:solidFill>
            <a:prstDash val="solid"/>
          </a:ln>
        </p:spPr>
      </p:sp>
      <p:sp>
        <p:nvSpPr>
          <p:cNvPr id="34" name="Atom Mg"/>
          <p:cNvSpPr/>
          <p:nvPr/>
        </p:nvSpPr>
        <p:spPr>
          <a:xfrm>
            <a:off x="5651703" y="1461922"/>
            <a:ext cx="364338" cy="364338"/>
          </a:xfrm>
          <a:prstGeom prst="ellipse">
            <a:avLst/>
          </a:prstGeom>
          <a:solidFill>
            <a:schemeClr val="accent1">
              <a:alpha val="30000"/>
            </a:schemeClr>
          </a:solidFill>
          <a:ln w="9525">
            <a:solidFill>
              <a:srgbClr val="A0F0FF"/>
            </a:solidFill>
            <a:prstDash val="dash"/>
          </a:ln>
        </p:spPr>
      </p:sp>
      <p:sp>
        <p:nvSpPr>
          <p:cNvPr id="35" name="Text 33"/>
          <p:cNvSpPr txBox="1"/>
          <p:nvPr/>
        </p:nvSpPr>
        <p:spPr>
          <a:xfrm>
            <a:off x="5557357" y="1271016"/>
            <a:ext cx="395021" cy="175565"/>
          </a:xfrm>
          <a:prstGeom prst="rect">
            <a:avLst/>
          </a:prstGeom>
          <a:noFill/>
          <a:ln/>
        </p:spPr>
        <p:txBody>
          <a:bodyPr wrap="square" lIns="0" tIns="0" rIns="0" bIns="0" rtlCol="0" anchor="t"/>
          <a:lstStyle/>
          <a:p>
            <a:pPr indent="0" marL="0">
              <a:buNone/>
            </a:pPr>
            <a:r>
              <a:rPr lang="en-US" sz="1000" dirty="0">
                <a:solidFill>
                  <a:schemeClr val="bg2"/>
                </a:solidFill>
              </a:rPr>
              <a:t>7</a:t>
            </a:r>
            <a:endParaRPr lang="en-US" sz="1000" dirty="0"/>
          </a:p>
        </p:txBody>
      </p:sp>
      <p:sp>
        <p:nvSpPr>
          <p:cNvPr id="36" name="Text 34"/>
          <p:cNvSpPr txBox="1"/>
          <p:nvPr/>
        </p:nvSpPr>
        <p:spPr>
          <a:xfrm>
            <a:off x="5504688" y="1461211"/>
            <a:ext cx="658368" cy="365760"/>
          </a:xfrm>
          <a:prstGeom prst="rect">
            <a:avLst/>
          </a:prstGeom>
          <a:noFill/>
          <a:ln/>
        </p:spPr>
        <p:txBody>
          <a:bodyPr wrap="square" lIns="0" tIns="0" rIns="0" bIns="0" rtlCol="0" anchor="ctr"/>
          <a:lstStyle/>
          <a:p>
            <a:pPr algn="ctr" indent="0" marL="0">
              <a:buNone/>
            </a:pPr>
            <a:r>
              <a:rPr lang="en-US" sz="2100" b="1" dirty="0">
                <a:solidFill>
                  <a:schemeClr val="bg1"/>
                </a:solidFill>
              </a:rPr>
              <a:t>Mg</a:t>
            </a:r>
            <a:endParaRPr lang="en-US" sz="2100" dirty="0"/>
          </a:p>
        </p:txBody>
      </p:sp>
      <p:sp>
        <p:nvSpPr>
          <p:cNvPr id="37" name="Text 35"/>
          <p:cNvSpPr txBox="1"/>
          <p:nvPr/>
        </p:nvSpPr>
        <p:spPr>
          <a:xfrm>
            <a:off x="5413248" y="2011680"/>
            <a:ext cx="841248" cy="274320"/>
          </a:xfrm>
          <a:prstGeom prst="rect">
            <a:avLst/>
          </a:prstGeom>
          <a:noFill/>
          <a:ln/>
        </p:spPr>
        <p:txBody>
          <a:bodyPr wrap="square" lIns="0" tIns="0" rIns="0" bIns="0" rtlCol="0" anchor="t"/>
          <a:lstStyle/>
          <a:p>
            <a:pPr algn="ctr" indent="0" marL="0">
              <a:buNone/>
            </a:pPr>
            <a:r>
              <a:rPr lang="en-US" sz="900" dirty="0">
                <a:solidFill>
                  <a:schemeClr val="bg2"/>
                </a:solidFill>
              </a:rPr>
              <a:t>Ranking</a:t>
            </a:r>
            <a:endParaRPr lang="en-US" sz="900" dirty="0"/>
          </a:p>
        </p:txBody>
      </p:sp>
      <p:sp>
        <p:nvSpPr>
          <p:cNvPr id="38" name="Section tile 8"/>
          <p:cNvSpPr/>
          <p:nvPr/>
        </p:nvSpPr>
        <p:spPr>
          <a:xfrm>
            <a:off x="6345936" y="1234440"/>
            <a:ext cx="658368" cy="731520"/>
          </a:xfrm>
          <a:prstGeom prst="roundRect">
            <a:avLst>
              <a:gd name="adj" fmla="val 12000"/>
            </a:avLst>
          </a:prstGeom>
          <a:solidFill>
            <a:schemeClr val="accent1">
              <a:alpha val="18000"/>
            </a:schemeClr>
          </a:solidFill>
          <a:ln w="19050">
            <a:solidFill>
              <a:schemeClr val="accent1"/>
            </a:solidFill>
            <a:prstDash val="solid"/>
          </a:ln>
        </p:spPr>
      </p:sp>
      <p:sp>
        <p:nvSpPr>
          <p:cNvPr id="39" name="Atom O"/>
          <p:cNvSpPr/>
          <p:nvPr/>
        </p:nvSpPr>
        <p:spPr>
          <a:xfrm>
            <a:off x="6586333" y="1555305"/>
            <a:ext cx="177573" cy="177573"/>
          </a:xfrm>
          <a:prstGeom prst="ellipse">
            <a:avLst/>
          </a:prstGeom>
          <a:solidFill>
            <a:schemeClr val="accent1">
              <a:alpha val="30000"/>
            </a:schemeClr>
          </a:solidFill>
          <a:ln w="9525">
            <a:solidFill>
              <a:srgbClr val="A0F0FF"/>
            </a:solidFill>
            <a:prstDash val="dash"/>
          </a:ln>
        </p:spPr>
      </p:sp>
      <p:sp>
        <p:nvSpPr>
          <p:cNvPr id="40" name="Text 38"/>
          <p:cNvSpPr txBox="1"/>
          <p:nvPr/>
        </p:nvSpPr>
        <p:spPr>
          <a:xfrm>
            <a:off x="6398605" y="1271016"/>
            <a:ext cx="395021" cy="175565"/>
          </a:xfrm>
          <a:prstGeom prst="rect">
            <a:avLst/>
          </a:prstGeom>
          <a:noFill/>
          <a:ln/>
        </p:spPr>
        <p:txBody>
          <a:bodyPr wrap="square" lIns="0" tIns="0" rIns="0" bIns="0" rtlCol="0" anchor="t"/>
          <a:lstStyle/>
          <a:p>
            <a:pPr indent="0" marL="0">
              <a:buNone/>
            </a:pPr>
            <a:r>
              <a:rPr lang="en-US" sz="1000" dirty="0">
                <a:solidFill>
                  <a:schemeClr val="bg2"/>
                </a:solidFill>
              </a:rPr>
              <a:t>8</a:t>
            </a:r>
            <a:endParaRPr lang="en-US" sz="1000" dirty="0"/>
          </a:p>
        </p:txBody>
      </p:sp>
      <p:sp>
        <p:nvSpPr>
          <p:cNvPr id="41" name="Text 39"/>
          <p:cNvSpPr txBox="1"/>
          <p:nvPr/>
        </p:nvSpPr>
        <p:spPr>
          <a:xfrm>
            <a:off x="6345936" y="1461211"/>
            <a:ext cx="658368" cy="365760"/>
          </a:xfrm>
          <a:prstGeom prst="rect">
            <a:avLst/>
          </a:prstGeom>
          <a:noFill/>
          <a:ln/>
        </p:spPr>
        <p:txBody>
          <a:bodyPr wrap="square" lIns="0" tIns="0" rIns="0" bIns="0" rtlCol="0" anchor="ctr"/>
          <a:lstStyle/>
          <a:p>
            <a:pPr algn="ctr" indent="0" marL="0">
              <a:buNone/>
            </a:pPr>
            <a:r>
              <a:rPr lang="en-US" sz="2100" b="1" dirty="0">
                <a:solidFill>
                  <a:schemeClr val="bg1"/>
                </a:solidFill>
              </a:rPr>
              <a:t>O</a:t>
            </a:r>
            <a:endParaRPr lang="en-US" sz="2100" dirty="0"/>
          </a:p>
        </p:txBody>
      </p:sp>
      <p:sp>
        <p:nvSpPr>
          <p:cNvPr id="42" name="Text 40"/>
          <p:cNvSpPr txBox="1"/>
          <p:nvPr/>
        </p:nvSpPr>
        <p:spPr>
          <a:xfrm>
            <a:off x="6254496" y="2011680"/>
            <a:ext cx="841248" cy="274320"/>
          </a:xfrm>
          <a:prstGeom prst="rect">
            <a:avLst/>
          </a:prstGeom>
          <a:noFill/>
          <a:ln/>
        </p:spPr>
        <p:txBody>
          <a:bodyPr wrap="square" lIns="0" tIns="0" rIns="0" bIns="0" rtlCol="0" anchor="t"/>
          <a:lstStyle/>
          <a:p>
            <a:pPr algn="ctr" indent="0" marL="0">
              <a:buNone/>
            </a:pPr>
            <a:r>
              <a:rPr lang="en-US" sz="900" dirty="0">
                <a:solidFill>
                  <a:schemeClr val="bg2"/>
                </a:solidFill>
              </a:rPr>
              <a:t>Fix claims</a:t>
            </a:r>
            <a:endParaRPr lang="en-US" sz="900" dirty="0"/>
          </a:p>
        </p:txBody>
      </p:sp>
      <p:sp>
        <p:nvSpPr>
          <p:cNvPr id="43" name="Section tile 9"/>
          <p:cNvSpPr/>
          <p:nvPr/>
        </p:nvSpPr>
        <p:spPr>
          <a:xfrm>
            <a:off x="7187184" y="1234440"/>
            <a:ext cx="658368" cy="731520"/>
          </a:xfrm>
          <a:prstGeom prst="roundRect">
            <a:avLst>
              <a:gd name="adj" fmla="val 12000"/>
            </a:avLst>
          </a:prstGeom>
          <a:solidFill>
            <a:schemeClr val="accent1">
              <a:alpha val="18000"/>
            </a:schemeClr>
          </a:solidFill>
          <a:ln w="19050">
            <a:solidFill>
              <a:schemeClr val="accent1"/>
            </a:solidFill>
            <a:prstDash val="solid"/>
          </a:ln>
        </p:spPr>
      </p:sp>
      <p:sp>
        <p:nvSpPr>
          <p:cNvPr id="44" name="Atom Ca"/>
          <p:cNvSpPr/>
          <p:nvPr/>
        </p:nvSpPr>
        <p:spPr>
          <a:xfrm>
            <a:off x="7287026" y="1414749"/>
            <a:ext cx="458684" cy="458684"/>
          </a:xfrm>
          <a:prstGeom prst="ellipse">
            <a:avLst/>
          </a:prstGeom>
          <a:solidFill>
            <a:schemeClr val="accent1">
              <a:alpha val="30000"/>
            </a:schemeClr>
          </a:solidFill>
          <a:ln w="9525">
            <a:solidFill>
              <a:srgbClr val="A0F0FF"/>
            </a:solidFill>
            <a:prstDash val="dash"/>
          </a:ln>
        </p:spPr>
      </p:sp>
      <p:sp>
        <p:nvSpPr>
          <p:cNvPr id="45" name="Text 43"/>
          <p:cNvSpPr txBox="1"/>
          <p:nvPr/>
        </p:nvSpPr>
        <p:spPr>
          <a:xfrm>
            <a:off x="7239853" y="1271016"/>
            <a:ext cx="395021" cy="175565"/>
          </a:xfrm>
          <a:prstGeom prst="rect">
            <a:avLst/>
          </a:prstGeom>
          <a:noFill/>
          <a:ln/>
        </p:spPr>
        <p:txBody>
          <a:bodyPr wrap="square" lIns="0" tIns="0" rIns="0" bIns="0" rtlCol="0" anchor="t"/>
          <a:lstStyle/>
          <a:p>
            <a:pPr indent="0" marL="0">
              <a:buNone/>
            </a:pPr>
            <a:r>
              <a:rPr lang="en-US" sz="1000" dirty="0">
                <a:solidFill>
                  <a:schemeClr val="bg2"/>
                </a:solidFill>
              </a:rPr>
              <a:t>9</a:t>
            </a:r>
            <a:endParaRPr lang="en-US" sz="1000" dirty="0"/>
          </a:p>
        </p:txBody>
      </p:sp>
      <p:sp>
        <p:nvSpPr>
          <p:cNvPr id="46" name="Text 44"/>
          <p:cNvSpPr txBox="1"/>
          <p:nvPr/>
        </p:nvSpPr>
        <p:spPr>
          <a:xfrm>
            <a:off x="7187184" y="1461211"/>
            <a:ext cx="658368" cy="365760"/>
          </a:xfrm>
          <a:prstGeom prst="rect">
            <a:avLst/>
          </a:prstGeom>
          <a:noFill/>
          <a:ln/>
        </p:spPr>
        <p:txBody>
          <a:bodyPr wrap="square" lIns="0" tIns="0" rIns="0" bIns="0" rtlCol="0" anchor="ctr"/>
          <a:lstStyle/>
          <a:p>
            <a:pPr algn="ctr" indent="0" marL="0">
              <a:buNone/>
            </a:pPr>
            <a:r>
              <a:rPr lang="en-US" sz="2100" b="1" dirty="0">
                <a:solidFill>
                  <a:schemeClr val="bg1"/>
                </a:solidFill>
              </a:rPr>
              <a:t>Ca</a:t>
            </a:r>
            <a:endParaRPr lang="en-US" sz="2100" dirty="0"/>
          </a:p>
        </p:txBody>
      </p:sp>
      <p:sp>
        <p:nvSpPr>
          <p:cNvPr id="47" name="Text 45"/>
          <p:cNvSpPr txBox="1"/>
          <p:nvPr/>
        </p:nvSpPr>
        <p:spPr>
          <a:xfrm>
            <a:off x="7095744" y="2011680"/>
            <a:ext cx="841248" cy="274320"/>
          </a:xfrm>
          <a:prstGeom prst="rect">
            <a:avLst/>
          </a:prstGeom>
          <a:noFill/>
          <a:ln/>
        </p:spPr>
        <p:txBody>
          <a:bodyPr wrap="square" lIns="0" tIns="0" rIns="0" bIns="0" rtlCol="0" anchor="t"/>
          <a:lstStyle/>
          <a:p>
            <a:pPr algn="ctr" indent="0" marL="0">
              <a:buNone/>
            </a:pPr>
            <a:r>
              <a:rPr lang="en-US" sz="900" dirty="0">
                <a:solidFill>
                  <a:schemeClr val="bg2"/>
                </a:solidFill>
              </a:rPr>
              <a:t>Final</a:t>
            </a:r>
            <a:endParaRPr lang="en-US" sz="900" dirty="0"/>
          </a:p>
        </p:txBody>
      </p:sp>
      <p:sp>
        <p:nvSpPr>
          <p:cNvPr id="48" name="Section tile 10"/>
          <p:cNvSpPr/>
          <p:nvPr/>
        </p:nvSpPr>
        <p:spPr>
          <a:xfrm>
            <a:off x="8028432" y="1234440"/>
            <a:ext cx="658368" cy="731520"/>
          </a:xfrm>
          <a:prstGeom prst="roundRect">
            <a:avLst>
              <a:gd name="adj" fmla="val 12000"/>
            </a:avLst>
          </a:prstGeom>
          <a:solidFill>
            <a:schemeClr val="accent1">
              <a:alpha val="18000"/>
            </a:schemeClr>
          </a:solidFill>
          <a:ln w="19050">
            <a:solidFill>
              <a:schemeClr val="accent1"/>
            </a:solidFill>
            <a:prstDash val="solid"/>
          </a:ln>
        </p:spPr>
      </p:sp>
      <p:sp>
        <p:nvSpPr>
          <p:cNvPr id="49" name="Atom He"/>
          <p:cNvSpPr/>
          <p:nvPr/>
        </p:nvSpPr>
        <p:spPr>
          <a:xfrm>
            <a:off x="8285196" y="1571671"/>
            <a:ext cx="144841" cy="144841"/>
          </a:xfrm>
          <a:prstGeom prst="ellipse">
            <a:avLst/>
          </a:prstGeom>
          <a:solidFill>
            <a:schemeClr val="accent1">
              <a:alpha val="30000"/>
            </a:schemeClr>
          </a:solidFill>
          <a:ln w="9525">
            <a:solidFill>
              <a:srgbClr val="A0F0FF"/>
            </a:solidFill>
            <a:prstDash val="dash"/>
          </a:ln>
        </p:spPr>
      </p:sp>
      <p:sp>
        <p:nvSpPr>
          <p:cNvPr id="50" name="Text 48"/>
          <p:cNvSpPr txBox="1"/>
          <p:nvPr/>
        </p:nvSpPr>
        <p:spPr>
          <a:xfrm>
            <a:off x="8081101" y="1271016"/>
            <a:ext cx="395021" cy="175565"/>
          </a:xfrm>
          <a:prstGeom prst="rect">
            <a:avLst/>
          </a:prstGeom>
          <a:noFill/>
          <a:ln/>
        </p:spPr>
        <p:txBody>
          <a:bodyPr wrap="square" lIns="0" tIns="0" rIns="0" bIns="0" rtlCol="0" anchor="t"/>
          <a:lstStyle/>
          <a:p>
            <a:pPr indent="0" marL="0">
              <a:buNone/>
            </a:pPr>
            <a:r>
              <a:rPr lang="en-US" sz="1000" dirty="0">
                <a:solidFill>
                  <a:schemeClr val="bg2"/>
                </a:solidFill>
              </a:rPr>
              <a:t>10</a:t>
            </a:r>
            <a:endParaRPr lang="en-US" sz="1000" dirty="0"/>
          </a:p>
        </p:txBody>
      </p:sp>
      <p:sp>
        <p:nvSpPr>
          <p:cNvPr id="51" name="Text 49"/>
          <p:cNvSpPr txBox="1"/>
          <p:nvPr/>
        </p:nvSpPr>
        <p:spPr>
          <a:xfrm>
            <a:off x="8028432" y="1461211"/>
            <a:ext cx="658368" cy="365760"/>
          </a:xfrm>
          <a:prstGeom prst="rect">
            <a:avLst/>
          </a:prstGeom>
          <a:noFill/>
          <a:ln/>
        </p:spPr>
        <p:txBody>
          <a:bodyPr wrap="square" lIns="0" tIns="0" rIns="0" bIns="0" rtlCol="0" anchor="ctr"/>
          <a:lstStyle/>
          <a:p>
            <a:pPr algn="ctr" indent="0" marL="0">
              <a:buNone/>
            </a:pPr>
            <a:r>
              <a:rPr lang="en-US" sz="2100" b="1" dirty="0">
                <a:solidFill>
                  <a:schemeClr val="bg1"/>
                </a:solidFill>
              </a:rPr>
              <a:t>He</a:t>
            </a:r>
            <a:endParaRPr lang="en-US" sz="2100" dirty="0"/>
          </a:p>
        </p:txBody>
      </p:sp>
      <p:sp>
        <p:nvSpPr>
          <p:cNvPr id="52" name="Text 50"/>
          <p:cNvSpPr txBox="1"/>
          <p:nvPr/>
        </p:nvSpPr>
        <p:spPr>
          <a:xfrm>
            <a:off x="7936992" y="2011680"/>
            <a:ext cx="841248" cy="274320"/>
          </a:xfrm>
          <a:prstGeom prst="rect">
            <a:avLst/>
          </a:prstGeom>
          <a:noFill/>
          <a:ln/>
        </p:spPr>
        <p:txBody>
          <a:bodyPr wrap="square" lIns="0" tIns="0" rIns="0" bIns="0" rtlCol="0" anchor="t"/>
          <a:lstStyle/>
          <a:p>
            <a:pPr algn="ctr" indent="0" marL="0">
              <a:buNone/>
            </a:pPr>
            <a:r>
              <a:rPr lang="en-US" sz="900" dirty="0">
                <a:solidFill>
                  <a:schemeClr val="bg2"/>
                </a:solidFill>
              </a:rPr>
              <a:t>Results</a:t>
            </a:r>
            <a:endParaRPr lang="en-US" sz="900" dirty="0"/>
          </a:p>
        </p:txBody>
      </p:sp>
      <p:sp>
        <p:nvSpPr>
          <p:cNvPr id="53" name="Rule card"/>
          <p:cNvSpPr/>
          <p:nvPr/>
        </p:nvSpPr>
        <p:spPr>
          <a:xfrm>
            <a:off x="457200" y="2743200"/>
            <a:ext cx="2651760" cy="1554480"/>
          </a:xfrm>
          <a:prstGeom prst="roundRect">
            <a:avLst>
              <a:gd name="adj" fmla="val 5882"/>
            </a:avLst>
          </a:prstGeom>
          <a:solidFill>
            <a:schemeClr val="tx2"/>
          </a:solidFill>
          <a:ln w="9525">
            <a:solidFill>
              <a:schemeClr val="bg2">
                <a:alpha val="30000"/>
              </a:schemeClr>
            </a:solidFill>
            <a:prstDash val="solid"/>
          </a:ln>
        </p:spPr>
      </p:sp>
      <p:sp>
        <p:nvSpPr>
          <p:cNvPr id="54" name="Text 52"/>
          <p:cNvSpPr txBox="1"/>
          <p:nvPr/>
        </p:nvSpPr>
        <p:spPr>
          <a:xfrm>
            <a:off x="640080" y="2880360"/>
            <a:ext cx="2286000" cy="320040"/>
          </a:xfrm>
          <a:prstGeom prst="rect">
            <a:avLst/>
          </a:prstGeom>
          <a:noFill/>
          <a:ln/>
        </p:spPr>
        <p:txBody>
          <a:bodyPr wrap="square" lIns="0" tIns="0" rIns="0" bIns="0" rtlCol="0" anchor="t"/>
          <a:lstStyle/>
          <a:p>
            <a:pPr indent="0" marL="0">
              <a:buNone/>
            </a:pPr>
            <a:r>
              <a:rPr lang="en-US" sz="1400" b="1" dirty="0">
                <a:solidFill>
                  <a:schemeClr val="accent1"/>
                </a:solidFill>
              </a:rPr>
              <a:t>Three parts per section</a:t>
            </a:r>
            <a:endParaRPr lang="en-US" sz="1400" dirty="0"/>
          </a:p>
        </p:txBody>
      </p:sp>
      <p:sp>
        <p:nvSpPr>
          <p:cNvPr id="55" name="Text 53"/>
          <p:cNvSpPr txBox="1"/>
          <p:nvPr/>
        </p:nvSpPr>
        <p:spPr>
          <a:xfrm>
            <a:off x="640080" y="3246120"/>
            <a:ext cx="2286000" cy="914400"/>
          </a:xfrm>
          <a:prstGeom prst="rect">
            <a:avLst/>
          </a:prstGeom>
          <a:noFill/>
          <a:ln/>
        </p:spPr>
        <p:txBody>
          <a:bodyPr wrap="square" lIns="0" tIns="0" rIns="0" bIns="0" rtlCol="0" anchor="t"/>
          <a:lstStyle/>
          <a:p>
            <a:pPr indent="0" marL="0">
              <a:buNone/>
            </a:pPr>
            <a:r>
              <a:rPr lang="en-US" sz="1300" dirty="0">
                <a:solidFill>
                  <a:schemeClr val="bg1"/>
                </a:solidFill>
              </a:rPr>
              <a:t>Read, Try it, and a Quick check.</a:t>
            </a:r>
            <a:endParaRPr lang="en-US" sz="1300" dirty="0"/>
          </a:p>
        </p:txBody>
      </p:sp>
      <p:sp>
        <p:nvSpPr>
          <p:cNvPr id="56" name="Rule card"/>
          <p:cNvSpPr/>
          <p:nvPr/>
        </p:nvSpPr>
        <p:spPr>
          <a:xfrm>
            <a:off x="3246120" y="2743200"/>
            <a:ext cx="2651760" cy="1554480"/>
          </a:xfrm>
          <a:prstGeom prst="roundRect">
            <a:avLst>
              <a:gd name="adj" fmla="val 5882"/>
            </a:avLst>
          </a:prstGeom>
          <a:solidFill>
            <a:schemeClr val="tx2"/>
          </a:solidFill>
          <a:ln w="9525">
            <a:solidFill>
              <a:schemeClr val="bg2">
                <a:alpha val="30000"/>
              </a:schemeClr>
            </a:solidFill>
            <a:prstDash val="solid"/>
          </a:ln>
        </p:spPr>
      </p:sp>
      <p:sp>
        <p:nvSpPr>
          <p:cNvPr id="57" name="Text 55"/>
          <p:cNvSpPr txBox="1"/>
          <p:nvPr/>
        </p:nvSpPr>
        <p:spPr>
          <a:xfrm>
            <a:off x="3429000" y="2880360"/>
            <a:ext cx="2286000" cy="320040"/>
          </a:xfrm>
          <a:prstGeom prst="rect">
            <a:avLst/>
          </a:prstGeom>
          <a:noFill/>
          <a:ln/>
        </p:spPr>
        <p:txBody>
          <a:bodyPr wrap="square" lIns="0" tIns="0" rIns="0" bIns="0" rtlCol="0" anchor="t"/>
          <a:lstStyle/>
          <a:p>
            <a:pPr indent="0" marL="0">
              <a:buNone/>
            </a:pPr>
            <a:r>
              <a:rPr lang="en-US" sz="1400" b="1" dirty="0">
                <a:solidFill>
                  <a:schemeClr val="accent1"/>
                </a:solidFill>
              </a:rPr>
              <a:t>Practice in rounds</a:t>
            </a:r>
            <a:endParaRPr lang="en-US" sz="1400" dirty="0"/>
          </a:p>
        </p:txBody>
      </p:sp>
      <p:sp>
        <p:nvSpPr>
          <p:cNvPr id="58" name="Text 56"/>
          <p:cNvSpPr txBox="1"/>
          <p:nvPr/>
        </p:nvSpPr>
        <p:spPr>
          <a:xfrm>
            <a:off x="3429000" y="3246120"/>
            <a:ext cx="2286000" cy="914400"/>
          </a:xfrm>
          <a:prstGeom prst="rect">
            <a:avLst/>
          </a:prstGeom>
          <a:noFill/>
          <a:ln/>
        </p:spPr>
        <p:txBody>
          <a:bodyPr wrap="square" lIns="0" tIns="0" rIns="0" bIns="0" rtlCol="0" anchor="t"/>
          <a:lstStyle/>
          <a:p>
            <a:pPr indent="0" marL="0">
              <a:buNone/>
            </a:pPr>
            <a:r>
              <a:rPr lang="en-US" sz="1300" dirty="0">
                <a:solidFill>
                  <a:schemeClr val="bg1"/>
                </a:solidFill>
              </a:rPr>
              <a:t>Most activities have 5 rounds before you move on.</a:t>
            </a:r>
            <a:endParaRPr lang="en-US" sz="1300" dirty="0"/>
          </a:p>
        </p:txBody>
      </p:sp>
      <p:sp>
        <p:nvSpPr>
          <p:cNvPr id="59" name="Rule card"/>
          <p:cNvSpPr/>
          <p:nvPr/>
        </p:nvSpPr>
        <p:spPr>
          <a:xfrm>
            <a:off x="6035040" y="2743200"/>
            <a:ext cx="2651760" cy="1554480"/>
          </a:xfrm>
          <a:prstGeom prst="roundRect">
            <a:avLst>
              <a:gd name="adj" fmla="val 5882"/>
            </a:avLst>
          </a:prstGeom>
          <a:solidFill>
            <a:schemeClr val="tx2"/>
          </a:solidFill>
          <a:ln w="9525">
            <a:solidFill>
              <a:schemeClr val="bg2">
                <a:alpha val="30000"/>
              </a:schemeClr>
            </a:solidFill>
            <a:prstDash val="solid"/>
          </a:ln>
        </p:spPr>
      </p:sp>
      <p:sp>
        <p:nvSpPr>
          <p:cNvPr id="60" name="Text 58"/>
          <p:cNvSpPr txBox="1"/>
          <p:nvPr/>
        </p:nvSpPr>
        <p:spPr>
          <a:xfrm>
            <a:off x="6217920" y="2880360"/>
            <a:ext cx="2286000" cy="320040"/>
          </a:xfrm>
          <a:prstGeom prst="rect">
            <a:avLst/>
          </a:prstGeom>
          <a:noFill/>
          <a:ln/>
        </p:spPr>
        <p:txBody>
          <a:bodyPr wrap="square" lIns="0" tIns="0" rIns="0" bIns="0" rtlCol="0" anchor="t"/>
          <a:lstStyle/>
          <a:p>
            <a:pPr indent="0" marL="0">
              <a:buNone/>
            </a:pPr>
            <a:r>
              <a:rPr lang="en-US" sz="1400" b="1" dirty="0">
                <a:solidFill>
                  <a:schemeClr val="accent1"/>
                </a:solidFill>
              </a:rPr>
              <a:t>Final check at the end</a:t>
            </a:r>
            <a:endParaRPr lang="en-US" sz="1400" dirty="0"/>
          </a:p>
        </p:txBody>
      </p:sp>
      <p:sp>
        <p:nvSpPr>
          <p:cNvPr id="61" name="Text 59"/>
          <p:cNvSpPr txBox="1"/>
          <p:nvPr/>
        </p:nvSpPr>
        <p:spPr>
          <a:xfrm>
            <a:off x="6217920" y="3246120"/>
            <a:ext cx="2286000" cy="914400"/>
          </a:xfrm>
          <a:prstGeom prst="rect">
            <a:avLst/>
          </a:prstGeom>
          <a:noFill/>
          <a:ln/>
        </p:spPr>
        <p:txBody>
          <a:bodyPr wrap="square" lIns="0" tIns="0" rIns="0" bIns="0" rtlCol="0" anchor="t"/>
          <a:lstStyle/>
          <a:p>
            <a:pPr indent="0" marL="0">
              <a:buNone/>
            </a:pPr>
            <a:r>
              <a:rPr lang="en-US" sz="1300" dirty="0">
                <a:solidFill>
                  <a:schemeClr val="bg1"/>
                </a:solidFill>
              </a:rPr>
              <a:t>10 questions. Score 8 to pass. Scores go to your teacher's sheet.</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tile 1"/>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Li"/>
          <p:cNvSpPr/>
          <p:nvPr/>
        </p:nvSpPr>
        <p:spPr>
          <a:xfrm>
            <a:off x="600512" y="541259"/>
            <a:ext cx="463183" cy="463183"/>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Li</a:t>
            </a:r>
            <a:endParaRPr lang="en-US" sz="2400" dirty="0"/>
          </a:p>
        </p:txBody>
      </p:sp>
      <p:sp>
        <p:nvSpPr>
          <p:cNvPr id="6"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1 of 9 · about 4 min</a:t>
            </a:r>
            <a:endParaRPr lang="en-US" sz="1200" dirty="0"/>
          </a:p>
        </p:txBody>
      </p:sp>
      <p:sp>
        <p:nvSpPr>
          <p:cNvPr id="7"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What is a periodic trend?</a:t>
            </a:r>
            <a:endParaRPr lang="en-US" sz="3000" dirty="0"/>
          </a:p>
        </p:txBody>
      </p:sp>
      <p:sp>
        <p:nvSpPr>
          <p:cNvPr id="8"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9" name="Text 7"/>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10" name="Text 8"/>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1" name="Text 9"/>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Patterns that repeat</a:t>
            </a:r>
            <a:endParaRPr lang="en-US" sz="1400" dirty="0"/>
          </a:p>
        </p:txBody>
      </p:sp>
      <p:sp>
        <p:nvSpPr>
          <p:cNvPr id="12" name="Text 10"/>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3" name="Text 11"/>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Table missions</a:t>
            </a:r>
            <a:endParaRPr lang="en-US" sz="1400" dirty="0"/>
          </a:p>
        </p:txBody>
      </p:sp>
      <p:sp>
        <p:nvSpPr>
          <p:cNvPr id="14" name="Text 12"/>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5" name="Text 13"/>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Sodium to chlorine</a:t>
            </a:r>
            <a:endParaRPr lang="en-US" sz="1400" dirty="0"/>
          </a:p>
        </p:txBody>
      </p:sp>
      <p:sp>
        <p:nvSpPr>
          <p:cNvPr id="16"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7" name="Text 15"/>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8" name="Text 16"/>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9" name="Text 17"/>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Finish the 5 table missions</a:t>
            </a:r>
            <a:endParaRPr lang="en-US" sz="1400" dirty="0"/>
          </a:p>
        </p:txBody>
      </p:sp>
      <p:sp>
        <p:nvSpPr>
          <p:cNvPr id="20" name="Text 18"/>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1" name="Text 19"/>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tile 1"/>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Li"/>
          <p:cNvSpPr/>
          <p:nvPr/>
        </p:nvSpPr>
        <p:spPr>
          <a:xfrm>
            <a:off x="600512" y="541259"/>
            <a:ext cx="463183" cy="463183"/>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Li</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Patterns that repeat</a:t>
            </a:r>
            <a:endParaRPr lang="en-US" sz="2800" dirty="0"/>
          </a:p>
        </p:txBody>
      </p:sp>
      <p:sp>
        <p:nvSpPr>
          <p:cNvPr id="9" name="Text 7"/>
          <p:cNvSpPr txBox="1"/>
          <p:nvPr/>
        </p:nvSpPr>
        <p:spPr>
          <a:xfrm>
            <a:off x="457200" y="1325880"/>
            <a:ext cx="4206240" cy="3017520"/>
          </a:xfrm>
          <a:prstGeom prst="rect">
            <a:avLst/>
          </a:prstGeom>
          <a:noFill/>
          <a:ln/>
        </p:spPr>
        <p:txBody>
          <a:bodyPr wrap="square" lIns="0" tIns="0" rIns="0" bIns="0" rtlCol="0" anchor="t"/>
          <a:lstStyle/>
          <a:p>
            <a:pPr indent="0" marL="0">
              <a:spcAft>
                <a:spcPts val="800"/>
              </a:spcAft>
              <a:buNone/>
            </a:pPr>
            <a:r>
              <a:rPr lang="en-US" sz="1400" dirty="0">
                <a:solidFill>
                  <a:schemeClr val="bg1"/>
                </a:solidFill>
              </a:rPr>
              <a:t>A </a:t>
            </a:r>
            <a:pPr indent="0" marL="0">
              <a:spcAft>
                <a:spcPts val="800"/>
              </a:spcAft>
              <a:buNone/>
            </a:pPr>
            <a:r>
              <a:rPr lang="en-US" sz="1400" b="1" dirty="0">
                <a:solidFill>
                  <a:schemeClr val="accent1"/>
                </a:solidFill>
              </a:rPr>
              <a:t>periodic trend</a:t>
            </a:r>
            <a:pPr indent="0" marL="0">
              <a:spcAft>
                <a:spcPts val="800"/>
              </a:spcAft>
              <a:buNone/>
            </a:pPr>
            <a:r>
              <a:rPr lang="en-US" sz="1400" dirty="0">
                <a:solidFill>
                  <a:schemeClr val="bg1"/>
                </a:solidFill>
              </a:rPr>
              <a:t> is a pattern in a property that changes in a predictable way across the periodic table. The same pattern repeats in every row.</a:t>
            </a:r>
            <a:endParaRPr lang="en-US" sz="1400" dirty="0"/>
          </a:p>
          <a:p>
            <a:pPr indent="0" marL="0">
              <a:spcAft>
                <a:spcPts val="800"/>
              </a:spcAft>
              <a:buNone/>
            </a:pPr>
            <a:r>
              <a:rPr lang="en-US" sz="1400" dirty="0">
                <a:solidFill>
                  <a:schemeClr val="bg1"/>
                </a:solidFill>
              </a:rPr>
              <a:t>A </a:t>
            </a:r>
            <a:pPr indent="0" marL="0">
              <a:spcAft>
                <a:spcPts val="800"/>
              </a:spcAft>
              <a:buNone/>
            </a:pPr>
            <a:r>
              <a:rPr lang="en-US" sz="1400" b="1" dirty="0">
                <a:solidFill>
                  <a:schemeClr val="accent1"/>
                </a:solidFill>
              </a:rPr>
              <a:t>period</a:t>
            </a:r>
            <a:pPr indent="0" marL="0">
              <a:spcAft>
                <a:spcPts val="800"/>
              </a:spcAft>
              <a:buNone/>
            </a:pPr>
            <a:r>
              <a:rPr lang="en-US" sz="1400" dirty="0">
                <a:solidFill>
                  <a:schemeClr val="bg1"/>
                </a:solidFill>
              </a:rPr>
              <a:t> is a row (left to right). A </a:t>
            </a:r>
            <a:pPr indent="0" marL="0">
              <a:spcAft>
                <a:spcPts val="800"/>
              </a:spcAft>
              <a:buNone/>
            </a:pPr>
            <a:r>
              <a:rPr lang="en-US" sz="1400" b="1" dirty="0">
                <a:solidFill>
                  <a:schemeClr val="accent1"/>
                </a:solidFill>
              </a:rPr>
              <a:t>group</a:t>
            </a:r>
            <a:pPr indent="0" marL="0">
              <a:spcAft>
                <a:spcPts val="800"/>
              </a:spcAft>
              <a:buNone/>
            </a:pPr>
            <a:r>
              <a:rPr lang="en-US" sz="1400" dirty="0">
                <a:solidFill>
                  <a:schemeClr val="bg1"/>
                </a:solidFill>
              </a:rPr>
              <a:t> is a column (top to bottom). Every trend has two directions: across a period and down a group.</a:t>
            </a:r>
            <a:endParaRPr lang="en-US" sz="1400" dirty="0"/>
          </a:p>
          <a:p>
            <a:pPr indent="0" marL="0">
              <a:spcAft>
                <a:spcPts val="800"/>
              </a:spcAft>
              <a:buNone/>
            </a:pPr>
            <a:r>
              <a:rPr lang="en-US" sz="1400" dirty="0">
                <a:solidFill>
                  <a:schemeClr val="bg1"/>
                </a:solidFill>
              </a:rPr>
              <a:t>We study three trends: </a:t>
            </a:r>
            <a:pPr indent="0" marL="0">
              <a:spcAft>
                <a:spcPts val="800"/>
              </a:spcAft>
              <a:buNone/>
            </a:pPr>
            <a:r>
              <a:rPr lang="en-US" sz="1400" b="1" dirty="0">
                <a:solidFill>
                  <a:schemeClr val="accent1"/>
                </a:solidFill>
              </a:rPr>
              <a:t>atomic radius</a:t>
            </a:r>
            <a:pPr indent="0" marL="0">
              <a:spcAft>
                <a:spcPts val="800"/>
              </a:spcAft>
              <a:buNone/>
            </a:pPr>
            <a:r>
              <a:rPr lang="en-US" sz="1400" dirty="0">
                <a:solidFill>
                  <a:schemeClr val="bg1"/>
                </a:solidFill>
              </a:rPr>
              <a:t>, </a:t>
            </a:r>
            <a:pPr indent="0" marL="0">
              <a:spcAft>
                <a:spcPts val="800"/>
              </a:spcAft>
              <a:buNone/>
            </a:pPr>
            <a:r>
              <a:rPr lang="en-US" sz="1400" b="1" dirty="0">
                <a:solidFill>
                  <a:schemeClr val="accent1"/>
                </a:solidFill>
              </a:rPr>
              <a:t>ionization energy</a:t>
            </a:r>
            <a:pPr indent="0" marL="0">
              <a:spcAft>
                <a:spcPts val="800"/>
              </a:spcAft>
              <a:buNone/>
            </a:pPr>
            <a:r>
              <a:rPr lang="en-US" sz="1400" dirty="0">
                <a:solidFill>
                  <a:schemeClr val="bg1"/>
                </a:solidFill>
              </a:rPr>
              <a:t>, and </a:t>
            </a:r>
            <a:pPr indent="0" marL="0">
              <a:spcAft>
                <a:spcPts val="800"/>
              </a:spcAft>
              <a:buNone/>
            </a:pPr>
            <a:r>
              <a:rPr lang="en-US" sz="1400" b="1" dirty="0">
                <a:solidFill>
                  <a:schemeClr val="accent1"/>
                </a:solidFill>
              </a:rPr>
              <a:t>electronegativity</a:t>
            </a:r>
            <a:pPr indent="0" marL="0">
              <a:spcAft>
                <a:spcPts val="800"/>
              </a:spcAft>
              <a:buNone/>
            </a:pPr>
            <a:r>
              <a:rPr lang="en-US" sz="1400" dirty="0">
                <a:solidFill>
                  <a:schemeClr val="bg1"/>
                </a:solidFill>
              </a:rPr>
              <a:t>.</a:t>
            </a:r>
            <a:endParaRPr lang="en-US" sz="1400" dirty="0"/>
          </a:p>
        </p:txBody>
      </p:sp>
      <p:sp>
        <p:nvSpPr>
          <p:cNvPr id="10" name="Text 8"/>
          <p:cNvSpPr txBox="1"/>
          <p:nvPr/>
        </p:nvSpPr>
        <p:spPr>
          <a:xfrm>
            <a:off x="4937760" y="1463040"/>
            <a:ext cx="420624" cy="164592"/>
          </a:xfrm>
          <a:prstGeom prst="rect">
            <a:avLst/>
          </a:prstGeom>
          <a:noFill/>
          <a:ln/>
        </p:spPr>
        <p:txBody>
          <a:bodyPr wrap="square" lIns="0" tIns="0" rIns="0" bIns="0" rtlCol="0" anchor="ctr"/>
          <a:lstStyle/>
          <a:p>
            <a:pPr algn="ctr" indent="0" marL="0">
              <a:buNone/>
            </a:pPr>
            <a:r>
              <a:rPr lang="en-US" sz="800" dirty="0">
                <a:solidFill>
                  <a:schemeClr val="bg2"/>
                </a:solidFill>
              </a:rPr>
              <a:t>1</a:t>
            </a:r>
            <a:endParaRPr lang="en-US" sz="800" dirty="0"/>
          </a:p>
        </p:txBody>
      </p:sp>
      <p:sp>
        <p:nvSpPr>
          <p:cNvPr id="11" name="Text 9"/>
          <p:cNvSpPr txBox="1"/>
          <p:nvPr/>
        </p:nvSpPr>
        <p:spPr>
          <a:xfrm>
            <a:off x="5400446" y="1463040"/>
            <a:ext cx="420624" cy="164592"/>
          </a:xfrm>
          <a:prstGeom prst="rect">
            <a:avLst/>
          </a:prstGeom>
          <a:noFill/>
          <a:ln/>
        </p:spPr>
        <p:txBody>
          <a:bodyPr wrap="square" lIns="0" tIns="0" rIns="0" bIns="0" rtlCol="0" anchor="ctr"/>
          <a:lstStyle/>
          <a:p>
            <a:pPr algn="ctr" indent="0" marL="0">
              <a:buNone/>
            </a:pPr>
            <a:r>
              <a:rPr lang="en-US" sz="800" dirty="0">
                <a:solidFill>
                  <a:schemeClr val="bg2"/>
                </a:solidFill>
              </a:rPr>
              <a:t>2</a:t>
            </a:r>
            <a:endParaRPr lang="en-US" sz="800" dirty="0"/>
          </a:p>
        </p:txBody>
      </p:sp>
      <p:sp>
        <p:nvSpPr>
          <p:cNvPr id="12" name="Text 10"/>
          <p:cNvSpPr txBox="1"/>
          <p:nvPr/>
        </p:nvSpPr>
        <p:spPr>
          <a:xfrm>
            <a:off x="5863133" y="1463040"/>
            <a:ext cx="420624" cy="164592"/>
          </a:xfrm>
          <a:prstGeom prst="rect">
            <a:avLst/>
          </a:prstGeom>
          <a:noFill/>
          <a:ln/>
        </p:spPr>
        <p:txBody>
          <a:bodyPr wrap="square" lIns="0" tIns="0" rIns="0" bIns="0" rtlCol="0" anchor="ctr"/>
          <a:lstStyle/>
          <a:p>
            <a:pPr algn="ctr" indent="0" marL="0">
              <a:buNone/>
            </a:pPr>
            <a:r>
              <a:rPr lang="en-US" sz="800" dirty="0">
                <a:solidFill>
                  <a:schemeClr val="bg2"/>
                </a:solidFill>
              </a:rPr>
              <a:t>13</a:t>
            </a:r>
            <a:endParaRPr lang="en-US" sz="800" dirty="0"/>
          </a:p>
        </p:txBody>
      </p:sp>
      <p:sp>
        <p:nvSpPr>
          <p:cNvPr id="13" name="Text 11"/>
          <p:cNvSpPr txBox="1"/>
          <p:nvPr/>
        </p:nvSpPr>
        <p:spPr>
          <a:xfrm>
            <a:off x="6325819" y="1463040"/>
            <a:ext cx="420624" cy="164592"/>
          </a:xfrm>
          <a:prstGeom prst="rect">
            <a:avLst/>
          </a:prstGeom>
          <a:noFill/>
          <a:ln/>
        </p:spPr>
        <p:txBody>
          <a:bodyPr wrap="square" lIns="0" tIns="0" rIns="0" bIns="0" rtlCol="0" anchor="ctr"/>
          <a:lstStyle/>
          <a:p>
            <a:pPr algn="ctr" indent="0" marL="0">
              <a:buNone/>
            </a:pPr>
            <a:r>
              <a:rPr lang="en-US" sz="800" dirty="0">
                <a:solidFill>
                  <a:schemeClr val="bg2"/>
                </a:solidFill>
              </a:rPr>
              <a:t>14</a:t>
            </a:r>
            <a:endParaRPr lang="en-US" sz="800" dirty="0"/>
          </a:p>
        </p:txBody>
      </p:sp>
      <p:sp>
        <p:nvSpPr>
          <p:cNvPr id="14" name="Text 12"/>
          <p:cNvSpPr txBox="1"/>
          <p:nvPr/>
        </p:nvSpPr>
        <p:spPr>
          <a:xfrm>
            <a:off x="6788506" y="1463040"/>
            <a:ext cx="420624" cy="164592"/>
          </a:xfrm>
          <a:prstGeom prst="rect">
            <a:avLst/>
          </a:prstGeom>
          <a:noFill/>
          <a:ln/>
        </p:spPr>
        <p:txBody>
          <a:bodyPr wrap="square" lIns="0" tIns="0" rIns="0" bIns="0" rtlCol="0" anchor="ctr"/>
          <a:lstStyle/>
          <a:p>
            <a:pPr algn="ctr" indent="0" marL="0">
              <a:buNone/>
            </a:pPr>
            <a:r>
              <a:rPr lang="en-US" sz="800" dirty="0">
                <a:solidFill>
                  <a:schemeClr val="bg2"/>
                </a:solidFill>
              </a:rPr>
              <a:t>15</a:t>
            </a:r>
            <a:endParaRPr lang="en-US" sz="800" dirty="0"/>
          </a:p>
        </p:txBody>
      </p:sp>
      <p:sp>
        <p:nvSpPr>
          <p:cNvPr id="15" name="Text 13"/>
          <p:cNvSpPr txBox="1"/>
          <p:nvPr/>
        </p:nvSpPr>
        <p:spPr>
          <a:xfrm>
            <a:off x="7251192" y="1463040"/>
            <a:ext cx="420624" cy="164592"/>
          </a:xfrm>
          <a:prstGeom prst="rect">
            <a:avLst/>
          </a:prstGeom>
          <a:noFill/>
          <a:ln/>
        </p:spPr>
        <p:txBody>
          <a:bodyPr wrap="square" lIns="0" tIns="0" rIns="0" bIns="0" rtlCol="0" anchor="ctr"/>
          <a:lstStyle/>
          <a:p>
            <a:pPr algn="ctr" indent="0" marL="0">
              <a:buNone/>
            </a:pPr>
            <a:r>
              <a:rPr lang="en-US" sz="800" dirty="0">
                <a:solidFill>
                  <a:schemeClr val="bg2"/>
                </a:solidFill>
              </a:rPr>
              <a:t>16</a:t>
            </a:r>
            <a:endParaRPr lang="en-US" sz="800" dirty="0"/>
          </a:p>
        </p:txBody>
      </p:sp>
      <p:sp>
        <p:nvSpPr>
          <p:cNvPr id="16" name="Text 14"/>
          <p:cNvSpPr txBox="1"/>
          <p:nvPr/>
        </p:nvSpPr>
        <p:spPr>
          <a:xfrm>
            <a:off x="7713878" y="1463040"/>
            <a:ext cx="420624" cy="164592"/>
          </a:xfrm>
          <a:prstGeom prst="rect">
            <a:avLst/>
          </a:prstGeom>
          <a:noFill/>
          <a:ln/>
        </p:spPr>
        <p:txBody>
          <a:bodyPr wrap="square" lIns="0" tIns="0" rIns="0" bIns="0" rtlCol="0" anchor="ctr"/>
          <a:lstStyle/>
          <a:p>
            <a:pPr algn="ctr" indent="0" marL="0">
              <a:buNone/>
            </a:pPr>
            <a:r>
              <a:rPr lang="en-US" sz="800" dirty="0">
                <a:solidFill>
                  <a:schemeClr val="bg2"/>
                </a:solidFill>
              </a:rPr>
              <a:t>17</a:t>
            </a:r>
            <a:endParaRPr lang="en-US" sz="800" dirty="0"/>
          </a:p>
        </p:txBody>
      </p:sp>
      <p:sp>
        <p:nvSpPr>
          <p:cNvPr id="17" name="Text 15"/>
          <p:cNvSpPr txBox="1"/>
          <p:nvPr/>
        </p:nvSpPr>
        <p:spPr>
          <a:xfrm>
            <a:off x="8176565" y="1463040"/>
            <a:ext cx="420624" cy="164592"/>
          </a:xfrm>
          <a:prstGeom prst="rect">
            <a:avLst/>
          </a:prstGeom>
          <a:noFill/>
          <a:ln/>
        </p:spPr>
        <p:txBody>
          <a:bodyPr wrap="square" lIns="0" tIns="0" rIns="0" bIns="0" rtlCol="0" anchor="ctr"/>
          <a:lstStyle/>
          <a:p>
            <a:pPr algn="ctr" indent="0" marL="0">
              <a:buNone/>
            </a:pPr>
            <a:r>
              <a:rPr lang="en-US" sz="800" dirty="0">
                <a:solidFill>
                  <a:schemeClr val="bg2"/>
                </a:solidFill>
              </a:rPr>
              <a:t>18</a:t>
            </a:r>
            <a:endParaRPr lang="en-US" sz="800" dirty="0"/>
          </a:p>
        </p:txBody>
      </p:sp>
      <p:sp>
        <p:nvSpPr>
          <p:cNvPr id="18" name="Tile H"/>
          <p:cNvSpPr/>
          <p:nvPr/>
        </p:nvSpPr>
        <p:spPr>
          <a:xfrm>
            <a:off x="4937760" y="1645920"/>
            <a:ext cx="420624" cy="441655"/>
          </a:xfrm>
          <a:prstGeom prst="roundRect">
            <a:avLst>
              <a:gd name="adj" fmla="val 12000"/>
            </a:avLst>
          </a:prstGeom>
          <a:solidFill>
            <a:srgbClr val="45C08F">
              <a:alpha val="30000"/>
            </a:srgbClr>
          </a:solidFill>
          <a:ln w="19050">
            <a:solidFill>
              <a:srgbClr val="45C08F"/>
            </a:solidFill>
            <a:prstDash val="solid"/>
          </a:ln>
        </p:spPr>
      </p:sp>
      <p:sp>
        <p:nvSpPr>
          <p:cNvPr id="19" name="Text 17"/>
          <p:cNvSpPr txBox="1"/>
          <p:nvPr/>
        </p:nvSpPr>
        <p:spPr>
          <a:xfrm>
            <a:off x="4971410" y="1668003"/>
            <a:ext cx="252374" cy="105997"/>
          </a:xfrm>
          <a:prstGeom prst="rect">
            <a:avLst/>
          </a:prstGeom>
          <a:noFill/>
          <a:ln/>
        </p:spPr>
        <p:txBody>
          <a:bodyPr wrap="square" lIns="0" tIns="0" rIns="0" bIns="0" rtlCol="0" anchor="t"/>
          <a:lstStyle/>
          <a:p>
            <a:pPr indent="0" marL="0">
              <a:buNone/>
            </a:pPr>
            <a:r>
              <a:rPr lang="en-US" sz="600" dirty="0">
                <a:solidFill>
                  <a:schemeClr val="bg2"/>
                </a:solidFill>
              </a:rPr>
              <a:t>1</a:t>
            </a:r>
            <a:endParaRPr lang="en-US" sz="600" dirty="0"/>
          </a:p>
        </p:txBody>
      </p:sp>
      <p:sp>
        <p:nvSpPr>
          <p:cNvPr id="20" name="Text 18"/>
          <p:cNvSpPr txBox="1"/>
          <p:nvPr/>
        </p:nvSpPr>
        <p:spPr>
          <a:xfrm>
            <a:off x="4937760" y="1716585"/>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H</a:t>
            </a:r>
            <a:endParaRPr lang="en-US" sz="1400" dirty="0"/>
          </a:p>
        </p:txBody>
      </p:sp>
      <p:sp>
        <p:nvSpPr>
          <p:cNvPr id="21" name="Tile He"/>
          <p:cNvSpPr/>
          <p:nvPr/>
        </p:nvSpPr>
        <p:spPr>
          <a:xfrm>
            <a:off x="8176565" y="1645920"/>
            <a:ext cx="420624" cy="441655"/>
          </a:xfrm>
          <a:prstGeom prst="roundRect">
            <a:avLst>
              <a:gd name="adj" fmla="val 12000"/>
            </a:avLst>
          </a:prstGeom>
          <a:solidFill>
            <a:srgbClr val="A084FF">
              <a:alpha val="30000"/>
            </a:srgbClr>
          </a:solidFill>
          <a:ln w="19050">
            <a:solidFill>
              <a:srgbClr val="A084FF"/>
            </a:solidFill>
            <a:prstDash val="solid"/>
          </a:ln>
        </p:spPr>
      </p:sp>
      <p:sp>
        <p:nvSpPr>
          <p:cNvPr id="22" name="Text 20"/>
          <p:cNvSpPr txBox="1"/>
          <p:nvPr/>
        </p:nvSpPr>
        <p:spPr>
          <a:xfrm>
            <a:off x="8210215" y="1668003"/>
            <a:ext cx="252374" cy="105997"/>
          </a:xfrm>
          <a:prstGeom prst="rect">
            <a:avLst/>
          </a:prstGeom>
          <a:noFill/>
          <a:ln/>
        </p:spPr>
        <p:txBody>
          <a:bodyPr wrap="square" lIns="0" tIns="0" rIns="0" bIns="0" rtlCol="0" anchor="t"/>
          <a:lstStyle/>
          <a:p>
            <a:pPr indent="0" marL="0">
              <a:buNone/>
            </a:pPr>
            <a:r>
              <a:rPr lang="en-US" sz="600" dirty="0">
                <a:solidFill>
                  <a:schemeClr val="bg2"/>
                </a:solidFill>
              </a:rPr>
              <a:t>2</a:t>
            </a:r>
            <a:endParaRPr lang="en-US" sz="600" dirty="0"/>
          </a:p>
        </p:txBody>
      </p:sp>
      <p:sp>
        <p:nvSpPr>
          <p:cNvPr id="23" name="Text 21"/>
          <p:cNvSpPr txBox="1"/>
          <p:nvPr/>
        </p:nvSpPr>
        <p:spPr>
          <a:xfrm>
            <a:off x="8176565" y="1716585"/>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He</a:t>
            </a:r>
            <a:endParaRPr lang="en-US" sz="1400" dirty="0"/>
          </a:p>
        </p:txBody>
      </p:sp>
      <p:sp>
        <p:nvSpPr>
          <p:cNvPr id="24" name="Tile Li"/>
          <p:cNvSpPr/>
          <p:nvPr/>
        </p:nvSpPr>
        <p:spPr>
          <a:xfrm>
            <a:off x="4937760" y="2129638"/>
            <a:ext cx="420624" cy="441655"/>
          </a:xfrm>
          <a:prstGeom prst="roundRect">
            <a:avLst>
              <a:gd name="adj" fmla="val 12000"/>
            </a:avLst>
          </a:prstGeom>
          <a:solidFill>
            <a:srgbClr val="FF8F5E">
              <a:alpha val="30000"/>
            </a:srgbClr>
          </a:solidFill>
          <a:ln w="19050">
            <a:solidFill>
              <a:srgbClr val="FF8F5E"/>
            </a:solidFill>
            <a:prstDash val="solid"/>
          </a:ln>
        </p:spPr>
      </p:sp>
      <p:sp>
        <p:nvSpPr>
          <p:cNvPr id="25" name="Text 23"/>
          <p:cNvSpPr txBox="1"/>
          <p:nvPr/>
        </p:nvSpPr>
        <p:spPr>
          <a:xfrm>
            <a:off x="4971410" y="2151720"/>
            <a:ext cx="252374" cy="105997"/>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26" name="Text 24"/>
          <p:cNvSpPr txBox="1"/>
          <p:nvPr/>
        </p:nvSpPr>
        <p:spPr>
          <a:xfrm>
            <a:off x="4937760" y="2200302"/>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Li</a:t>
            </a:r>
            <a:endParaRPr lang="en-US" sz="1400" dirty="0"/>
          </a:p>
        </p:txBody>
      </p:sp>
      <p:sp>
        <p:nvSpPr>
          <p:cNvPr id="27" name="Tile Be"/>
          <p:cNvSpPr/>
          <p:nvPr/>
        </p:nvSpPr>
        <p:spPr>
          <a:xfrm>
            <a:off x="5400446" y="2129638"/>
            <a:ext cx="420624" cy="441655"/>
          </a:xfrm>
          <a:prstGeom prst="roundRect">
            <a:avLst>
              <a:gd name="adj" fmla="val 12000"/>
            </a:avLst>
          </a:prstGeom>
          <a:solidFill>
            <a:srgbClr val="FFCB5C">
              <a:alpha val="30000"/>
            </a:srgbClr>
          </a:solidFill>
          <a:ln w="19050">
            <a:solidFill>
              <a:srgbClr val="FFCB5C"/>
            </a:solidFill>
            <a:prstDash val="solid"/>
          </a:ln>
        </p:spPr>
      </p:sp>
      <p:sp>
        <p:nvSpPr>
          <p:cNvPr id="28" name="Text 26"/>
          <p:cNvSpPr txBox="1"/>
          <p:nvPr/>
        </p:nvSpPr>
        <p:spPr>
          <a:xfrm>
            <a:off x="5434096" y="2151720"/>
            <a:ext cx="252374" cy="105997"/>
          </a:xfrm>
          <a:prstGeom prst="rect">
            <a:avLst/>
          </a:prstGeom>
          <a:noFill/>
          <a:ln/>
        </p:spPr>
        <p:txBody>
          <a:bodyPr wrap="square" lIns="0" tIns="0" rIns="0" bIns="0" rtlCol="0" anchor="t"/>
          <a:lstStyle/>
          <a:p>
            <a:pPr indent="0" marL="0">
              <a:buNone/>
            </a:pPr>
            <a:r>
              <a:rPr lang="en-US" sz="600" dirty="0">
                <a:solidFill>
                  <a:schemeClr val="bg2"/>
                </a:solidFill>
              </a:rPr>
              <a:t>4</a:t>
            </a:r>
            <a:endParaRPr lang="en-US" sz="600" dirty="0"/>
          </a:p>
        </p:txBody>
      </p:sp>
      <p:sp>
        <p:nvSpPr>
          <p:cNvPr id="29" name="Text 27"/>
          <p:cNvSpPr txBox="1"/>
          <p:nvPr/>
        </p:nvSpPr>
        <p:spPr>
          <a:xfrm>
            <a:off x="5400446" y="2200302"/>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Be</a:t>
            </a:r>
            <a:endParaRPr lang="en-US" sz="1400" dirty="0"/>
          </a:p>
        </p:txBody>
      </p:sp>
      <p:sp>
        <p:nvSpPr>
          <p:cNvPr id="30" name="Tile B"/>
          <p:cNvSpPr/>
          <p:nvPr/>
        </p:nvSpPr>
        <p:spPr>
          <a:xfrm>
            <a:off x="5863133" y="2129638"/>
            <a:ext cx="420624" cy="441655"/>
          </a:xfrm>
          <a:prstGeom prst="roundRect">
            <a:avLst>
              <a:gd name="adj" fmla="val 12000"/>
            </a:avLst>
          </a:prstGeom>
          <a:solidFill>
            <a:srgbClr val="46C7D8">
              <a:alpha val="30000"/>
            </a:srgbClr>
          </a:solidFill>
          <a:ln w="19050">
            <a:solidFill>
              <a:srgbClr val="46C7D8"/>
            </a:solidFill>
            <a:prstDash val="solid"/>
          </a:ln>
        </p:spPr>
      </p:sp>
      <p:sp>
        <p:nvSpPr>
          <p:cNvPr id="31" name="Text 29"/>
          <p:cNvSpPr txBox="1"/>
          <p:nvPr/>
        </p:nvSpPr>
        <p:spPr>
          <a:xfrm>
            <a:off x="5896783" y="2151720"/>
            <a:ext cx="252374" cy="105997"/>
          </a:xfrm>
          <a:prstGeom prst="rect">
            <a:avLst/>
          </a:prstGeom>
          <a:noFill/>
          <a:ln/>
        </p:spPr>
        <p:txBody>
          <a:bodyPr wrap="square" lIns="0" tIns="0" rIns="0" bIns="0" rtlCol="0" anchor="t"/>
          <a:lstStyle/>
          <a:p>
            <a:pPr indent="0" marL="0">
              <a:buNone/>
            </a:pPr>
            <a:r>
              <a:rPr lang="en-US" sz="600" dirty="0">
                <a:solidFill>
                  <a:schemeClr val="bg2"/>
                </a:solidFill>
              </a:rPr>
              <a:t>5</a:t>
            </a:r>
            <a:endParaRPr lang="en-US" sz="600" dirty="0"/>
          </a:p>
        </p:txBody>
      </p:sp>
      <p:sp>
        <p:nvSpPr>
          <p:cNvPr id="32" name="Text 30"/>
          <p:cNvSpPr txBox="1"/>
          <p:nvPr/>
        </p:nvSpPr>
        <p:spPr>
          <a:xfrm>
            <a:off x="5863133" y="2200302"/>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33" name="Tile C"/>
          <p:cNvSpPr/>
          <p:nvPr/>
        </p:nvSpPr>
        <p:spPr>
          <a:xfrm>
            <a:off x="6325819" y="2129638"/>
            <a:ext cx="420624" cy="441655"/>
          </a:xfrm>
          <a:prstGeom prst="roundRect">
            <a:avLst>
              <a:gd name="adj" fmla="val 12000"/>
            </a:avLst>
          </a:prstGeom>
          <a:solidFill>
            <a:srgbClr val="45C08F">
              <a:alpha val="30000"/>
            </a:srgbClr>
          </a:solidFill>
          <a:ln w="19050">
            <a:solidFill>
              <a:srgbClr val="45C08F"/>
            </a:solidFill>
            <a:prstDash val="solid"/>
          </a:ln>
        </p:spPr>
      </p:sp>
      <p:sp>
        <p:nvSpPr>
          <p:cNvPr id="34" name="Text 32"/>
          <p:cNvSpPr txBox="1"/>
          <p:nvPr/>
        </p:nvSpPr>
        <p:spPr>
          <a:xfrm>
            <a:off x="6359469" y="2151720"/>
            <a:ext cx="252374" cy="105997"/>
          </a:xfrm>
          <a:prstGeom prst="rect">
            <a:avLst/>
          </a:prstGeom>
          <a:noFill/>
          <a:ln/>
        </p:spPr>
        <p:txBody>
          <a:bodyPr wrap="square" lIns="0" tIns="0" rIns="0" bIns="0" rtlCol="0" anchor="t"/>
          <a:lstStyle/>
          <a:p>
            <a:pPr indent="0" marL="0">
              <a:buNone/>
            </a:pPr>
            <a:r>
              <a:rPr lang="en-US" sz="600" dirty="0">
                <a:solidFill>
                  <a:schemeClr val="bg2"/>
                </a:solidFill>
              </a:rPr>
              <a:t>6</a:t>
            </a:r>
            <a:endParaRPr lang="en-US" sz="600" dirty="0"/>
          </a:p>
        </p:txBody>
      </p:sp>
      <p:sp>
        <p:nvSpPr>
          <p:cNvPr id="35" name="Text 33"/>
          <p:cNvSpPr txBox="1"/>
          <p:nvPr/>
        </p:nvSpPr>
        <p:spPr>
          <a:xfrm>
            <a:off x="6325819" y="2200302"/>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36" name="Tile N"/>
          <p:cNvSpPr/>
          <p:nvPr/>
        </p:nvSpPr>
        <p:spPr>
          <a:xfrm>
            <a:off x="6788506" y="2129638"/>
            <a:ext cx="420624" cy="441655"/>
          </a:xfrm>
          <a:prstGeom prst="roundRect">
            <a:avLst>
              <a:gd name="adj" fmla="val 12000"/>
            </a:avLst>
          </a:prstGeom>
          <a:solidFill>
            <a:srgbClr val="45C08F">
              <a:alpha val="30000"/>
            </a:srgbClr>
          </a:solidFill>
          <a:ln w="19050">
            <a:solidFill>
              <a:srgbClr val="45C08F"/>
            </a:solidFill>
            <a:prstDash val="solid"/>
          </a:ln>
        </p:spPr>
      </p:sp>
      <p:sp>
        <p:nvSpPr>
          <p:cNvPr id="37" name="Text 35"/>
          <p:cNvSpPr txBox="1"/>
          <p:nvPr/>
        </p:nvSpPr>
        <p:spPr>
          <a:xfrm>
            <a:off x="6822156" y="2151720"/>
            <a:ext cx="252374" cy="105997"/>
          </a:xfrm>
          <a:prstGeom prst="rect">
            <a:avLst/>
          </a:prstGeom>
          <a:noFill/>
          <a:ln/>
        </p:spPr>
        <p:txBody>
          <a:bodyPr wrap="square" lIns="0" tIns="0" rIns="0" bIns="0" rtlCol="0" anchor="t"/>
          <a:lstStyle/>
          <a:p>
            <a:pPr indent="0" marL="0">
              <a:buNone/>
            </a:pPr>
            <a:r>
              <a:rPr lang="en-US" sz="600" dirty="0">
                <a:solidFill>
                  <a:schemeClr val="bg2"/>
                </a:solidFill>
              </a:rPr>
              <a:t>7</a:t>
            </a:r>
            <a:endParaRPr lang="en-US" sz="600" dirty="0"/>
          </a:p>
        </p:txBody>
      </p:sp>
      <p:sp>
        <p:nvSpPr>
          <p:cNvPr id="38" name="Text 36"/>
          <p:cNvSpPr txBox="1"/>
          <p:nvPr/>
        </p:nvSpPr>
        <p:spPr>
          <a:xfrm>
            <a:off x="6788506" y="2200302"/>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N</a:t>
            </a:r>
            <a:endParaRPr lang="en-US" sz="1400" dirty="0"/>
          </a:p>
        </p:txBody>
      </p:sp>
      <p:sp>
        <p:nvSpPr>
          <p:cNvPr id="39" name="Tile O"/>
          <p:cNvSpPr/>
          <p:nvPr/>
        </p:nvSpPr>
        <p:spPr>
          <a:xfrm>
            <a:off x="7251192" y="2129638"/>
            <a:ext cx="420624" cy="441655"/>
          </a:xfrm>
          <a:prstGeom prst="roundRect">
            <a:avLst>
              <a:gd name="adj" fmla="val 12000"/>
            </a:avLst>
          </a:prstGeom>
          <a:solidFill>
            <a:srgbClr val="45C08F">
              <a:alpha val="30000"/>
            </a:srgbClr>
          </a:solidFill>
          <a:ln w="19050">
            <a:solidFill>
              <a:srgbClr val="45C08F"/>
            </a:solidFill>
            <a:prstDash val="solid"/>
          </a:ln>
        </p:spPr>
      </p:sp>
      <p:sp>
        <p:nvSpPr>
          <p:cNvPr id="40" name="Text 38"/>
          <p:cNvSpPr txBox="1"/>
          <p:nvPr/>
        </p:nvSpPr>
        <p:spPr>
          <a:xfrm>
            <a:off x="7284842" y="2151720"/>
            <a:ext cx="252374" cy="105997"/>
          </a:xfrm>
          <a:prstGeom prst="rect">
            <a:avLst/>
          </a:prstGeom>
          <a:noFill/>
          <a:ln/>
        </p:spPr>
        <p:txBody>
          <a:bodyPr wrap="square" lIns="0" tIns="0" rIns="0" bIns="0" rtlCol="0" anchor="t"/>
          <a:lstStyle/>
          <a:p>
            <a:pPr indent="0" marL="0">
              <a:buNone/>
            </a:pPr>
            <a:r>
              <a:rPr lang="en-US" sz="600" dirty="0">
                <a:solidFill>
                  <a:schemeClr val="bg2"/>
                </a:solidFill>
              </a:rPr>
              <a:t>8</a:t>
            </a:r>
            <a:endParaRPr lang="en-US" sz="600" dirty="0"/>
          </a:p>
        </p:txBody>
      </p:sp>
      <p:sp>
        <p:nvSpPr>
          <p:cNvPr id="41" name="Text 39"/>
          <p:cNvSpPr txBox="1"/>
          <p:nvPr/>
        </p:nvSpPr>
        <p:spPr>
          <a:xfrm>
            <a:off x="7251192" y="2200302"/>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O</a:t>
            </a:r>
            <a:endParaRPr lang="en-US" sz="1400" dirty="0"/>
          </a:p>
        </p:txBody>
      </p:sp>
      <p:sp>
        <p:nvSpPr>
          <p:cNvPr id="42" name="Tile F"/>
          <p:cNvSpPr/>
          <p:nvPr/>
        </p:nvSpPr>
        <p:spPr>
          <a:xfrm>
            <a:off x="7713878" y="2129638"/>
            <a:ext cx="420624" cy="441655"/>
          </a:xfrm>
          <a:prstGeom prst="roundRect">
            <a:avLst>
              <a:gd name="adj" fmla="val 12000"/>
            </a:avLst>
          </a:prstGeom>
          <a:solidFill>
            <a:srgbClr val="F477B8">
              <a:alpha val="30000"/>
            </a:srgbClr>
          </a:solidFill>
          <a:ln w="19050">
            <a:solidFill>
              <a:srgbClr val="F477B8"/>
            </a:solidFill>
            <a:prstDash val="solid"/>
          </a:ln>
        </p:spPr>
      </p:sp>
      <p:sp>
        <p:nvSpPr>
          <p:cNvPr id="43" name="Text 41"/>
          <p:cNvSpPr txBox="1"/>
          <p:nvPr/>
        </p:nvSpPr>
        <p:spPr>
          <a:xfrm>
            <a:off x="7747528" y="2151720"/>
            <a:ext cx="252374" cy="105997"/>
          </a:xfrm>
          <a:prstGeom prst="rect">
            <a:avLst/>
          </a:prstGeom>
          <a:noFill/>
          <a:ln/>
        </p:spPr>
        <p:txBody>
          <a:bodyPr wrap="square" lIns="0" tIns="0" rIns="0" bIns="0" rtlCol="0" anchor="t"/>
          <a:lstStyle/>
          <a:p>
            <a:pPr indent="0" marL="0">
              <a:buNone/>
            </a:pPr>
            <a:r>
              <a:rPr lang="en-US" sz="600" dirty="0">
                <a:solidFill>
                  <a:schemeClr val="bg2"/>
                </a:solidFill>
              </a:rPr>
              <a:t>9</a:t>
            </a:r>
            <a:endParaRPr lang="en-US" sz="600" dirty="0"/>
          </a:p>
        </p:txBody>
      </p:sp>
      <p:sp>
        <p:nvSpPr>
          <p:cNvPr id="44" name="Text 42"/>
          <p:cNvSpPr txBox="1"/>
          <p:nvPr/>
        </p:nvSpPr>
        <p:spPr>
          <a:xfrm>
            <a:off x="7713878" y="2200302"/>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45" name="Tile Ne"/>
          <p:cNvSpPr/>
          <p:nvPr/>
        </p:nvSpPr>
        <p:spPr>
          <a:xfrm>
            <a:off x="8176565" y="2129638"/>
            <a:ext cx="420624" cy="441655"/>
          </a:xfrm>
          <a:prstGeom prst="roundRect">
            <a:avLst>
              <a:gd name="adj" fmla="val 12000"/>
            </a:avLst>
          </a:prstGeom>
          <a:solidFill>
            <a:srgbClr val="A084FF">
              <a:alpha val="30000"/>
            </a:srgbClr>
          </a:solidFill>
          <a:ln w="19050">
            <a:solidFill>
              <a:srgbClr val="A084FF"/>
            </a:solidFill>
            <a:prstDash val="solid"/>
          </a:ln>
        </p:spPr>
      </p:sp>
      <p:sp>
        <p:nvSpPr>
          <p:cNvPr id="46" name="Text 44"/>
          <p:cNvSpPr txBox="1"/>
          <p:nvPr/>
        </p:nvSpPr>
        <p:spPr>
          <a:xfrm>
            <a:off x="8210215" y="2151720"/>
            <a:ext cx="252374" cy="105997"/>
          </a:xfrm>
          <a:prstGeom prst="rect">
            <a:avLst/>
          </a:prstGeom>
          <a:noFill/>
          <a:ln/>
        </p:spPr>
        <p:txBody>
          <a:bodyPr wrap="square" lIns="0" tIns="0" rIns="0" bIns="0" rtlCol="0" anchor="t"/>
          <a:lstStyle/>
          <a:p>
            <a:pPr indent="0" marL="0">
              <a:buNone/>
            </a:pPr>
            <a:r>
              <a:rPr lang="en-US" sz="600" dirty="0">
                <a:solidFill>
                  <a:schemeClr val="bg2"/>
                </a:solidFill>
              </a:rPr>
              <a:t>10</a:t>
            </a:r>
            <a:endParaRPr lang="en-US" sz="600" dirty="0"/>
          </a:p>
        </p:txBody>
      </p:sp>
      <p:sp>
        <p:nvSpPr>
          <p:cNvPr id="47" name="Text 45"/>
          <p:cNvSpPr txBox="1"/>
          <p:nvPr/>
        </p:nvSpPr>
        <p:spPr>
          <a:xfrm>
            <a:off x="8176565" y="2200302"/>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Ne</a:t>
            </a:r>
            <a:endParaRPr lang="en-US" sz="1400" dirty="0"/>
          </a:p>
        </p:txBody>
      </p:sp>
      <p:sp>
        <p:nvSpPr>
          <p:cNvPr id="48" name="Tile Na"/>
          <p:cNvSpPr/>
          <p:nvPr/>
        </p:nvSpPr>
        <p:spPr>
          <a:xfrm>
            <a:off x="4937760" y="2613355"/>
            <a:ext cx="420624" cy="441655"/>
          </a:xfrm>
          <a:prstGeom prst="roundRect">
            <a:avLst>
              <a:gd name="adj" fmla="val 12000"/>
            </a:avLst>
          </a:prstGeom>
          <a:solidFill>
            <a:srgbClr val="FF8F5E">
              <a:alpha val="30000"/>
            </a:srgbClr>
          </a:solidFill>
          <a:ln w="19050">
            <a:solidFill>
              <a:srgbClr val="FF8F5E"/>
            </a:solidFill>
            <a:prstDash val="solid"/>
          </a:ln>
        </p:spPr>
      </p:sp>
      <p:sp>
        <p:nvSpPr>
          <p:cNvPr id="49" name="Text 47"/>
          <p:cNvSpPr txBox="1"/>
          <p:nvPr/>
        </p:nvSpPr>
        <p:spPr>
          <a:xfrm>
            <a:off x="4971410" y="2635438"/>
            <a:ext cx="252374" cy="105997"/>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50" name="Text 48"/>
          <p:cNvSpPr txBox="1"/>
          <p:nvPr/>
        </p:nvSpPr>
        <p:spPr>
          <a:xfrm>
            <a:off x="4937760" y="2684020"/>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Na</a:t>
            </a:r>
            <a:endParaRPr lang="en-US" sz="1400" dirty="0"/>
          </a:p>
        </p:txBody>
      </p:sp>
      <p:sp>
        <p:nvSpPr>
          <p:cNvPr id="51" name="Tile Mg"/>
          <p:cNvSpPr/>
          <p:nvPr/>
        </p:nvSpPr>
        <p:spPr>
          <a:xfrm>
            <a:off x="5400446" y="2613355"/>
            <a:ext cx="420624" cy="441655"/>
          </a:xfrm>
          <a:prstGeom prst="roundRect">
            <a:avLst>
              <a:gd name="adj" fmla="val 12000"/>
            </a:avLst>
          </a:prstGeom>
          <a:solidFill>
            <a:srgbClr val="FFCB5C">
              <a:alpha val="30000"/>
            </a:srgbClr>
          </a:solidFill>
          <a:ln w="19050">
            <a:solidFill>
              <a:srgbClr val="FFCB5C"/>
            </a:solidFill>
            <a:prstDash val="solid"/>
          </a:ln>
        </p:spPr>
      </p:sp>
      <p:sp>
        <p:nvSpPr>
          <p:cNvPr id="52" name="Text 50"/>
          <p:cNvSpPr txBox="1"/>
          <p:nvPr/>
        </p:nvSpPr>
        <p:spPr>
          <a:xfrm>
            <a:off x="5434096" y="2635438"/>
            <a:ext cx="252374" cy="105997"/>
          </a:xfrm>
          <a:prstGeom prst="rect">
            <a:avLst/>
          </a:prstGeom>
          <a:noFill/>
          <a:ln/>
        </p:spPr>
        <p:txBody>
          <a:bodyPr wrap="square" lIns="0" tIns="0" rIns="0" bIns="0" rtlCol="0" anchor="t"/>
          <a:lstStyle/>
          <a:p>
            <a:pPr indent="0" marL="0">
              <a:buNone/>
            </a:pPr>
            <a:r>
              <a:rPr lang="en-US" sz="600" dirty="0">
                <a:solidFill>
                  <a:schemeClr val="bg2"/>
                </a:solidFill>
              </a:rPr>
              <a:t>12</a:t>
            </a:r>
            <a:endParaRPr lang="en-US" sz="600" dirty="0"/>
          </a:p>
        </p:txBody>
      </p:sp>
      <p:sp>
        <p:nvSpPr>
          <p:cNvPr id="53" name="Text 51"/>
          <p:cNvSpPr txBox="1"/>
          <p:nvPr/>
        </p:nvSpPr>
        <p:spPr>
          <a:xfrm>
            <a:off x="5400446" y="2684020"/>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Mg</a:t>
            </a:r>
            <a:endParaRPr lang="en-US" sz="1400" dirty="0"/>
          </a:p>
        </p:txBody>
      </p:sp>
      <p:sp>
        <p:nvSpPr>
          <p:cNvPr id="54" name="Tile Al"/>
          <p:cNvSpPr/>
          <p:nvPr/>
        </p:nvSpPr>
        <p:spPr>
          <a:xfrm>
            <a:off x="5863133" y="2613355"/>
            <a:ext cx="420624" cy="441655"/>
          </a:xfrm>
          <a:prstGeom prst="roundRect">
            <a:avLst>
              <a:gd name="adj" fmla="val 12000"/>
            </a:avLst>
          </a:prstGeom>
          <a:solidFill>
            <a:srgbClr val="8EA8CC">
              <a:alpha val="30000"/>
            </a:srgbClr>
          </a:solidFill>
          <a:ln w="19050">
            <a:solidFill>
              <a:srgbClr val="8EA8CC"/>
            </a:solidFill>
            <a:prstDash val="solid"/>
          </a:ln>
        </p:spPr>
      </p:sp>
      <p:sp>
        <p:nvSpPr>
          <p:cNvPr id="55" name="Text 53"/>
          <p:cNvSpPr txBox="1"/>
          <p:nvPr/>
        </p:nvSpPr>
        <p:spPr>
          <a:xfrm>
            <a:off x="5896783" y="2635438"/>
            <a:ext cx="252374" cy="105997"/>
          </a:xfrm>
          <a:prstGeom prst="rect">
            <a:avLst/>
          </a:prstGeom>
          <a:noFill/>
          <a:ln/>
        </p:spPr>
        <p:txBody>
          <a:bodyPr wrap="square" lIns="0" tIns="0" rIns="0" bIns="0" rtlCol="0" anchor="t"/>
          <a:lstStyle/>
          <a:p>
            <a:pPr indent="0" marL="0">
              <a:buNone/>
            </a:pPr>
            <a:r>
              <a:rPr lang="en-US" sz="600" dirty="0">
                <a:solidFill>
                  <a:schemeClr val="bg2"/>
                </a:solidFill>
              </a:rPr>
              <a:t>13</a:t>
            </a:r>
            <a:endParaRPr lang="en-US" sz="600" dirty="0"/>
          </a:p>
        </p:txBody>
      </p:sp>
      <p:sp>
        <p:nvSpPr>
          <p:cNvPr id="56" name="Text 54"/>
          <p:cNvSpPr txBox="1"/>
          <p:nvPr/>
        </p:nvSpPr>
        <p:spPr>
          <a:xfrm>
            <a:off x="5863133" y="2684020"/>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Al</a:t>
            </a:r>
            <a:endParaRPr lang="en-US" sz="1400" dirty="0"/>
          </a:p>
        </p:txBody>
      </p:sp>
      <p:sp>
        <p:nvSpPr>
          <p:cNvPr id="57" name="Tile Si"/>
          <p:cNvSpPr/>
          <p:nvPr/>
        </p:nvSpPr>
        <p:spPr>
          <a:xfrm>
            <a:off x="6325819" y="2613355"/>
            <a:ext cx="420624" cy="441655"/>
          </a:xfrm>
          <a:prstGeom prst="roundRect">
            <a:avLst>
              <a:gd name="adj" fmla="val 12000"/>
            </a:avLst>
          </a:prstGeom>
          <a:solidFill>
            <a:srgbClr val="46C7D8">
              <a:alpha val="30000"/>
            </a:srgbClr>
          </a:solidFill>
          <a:ln w="19050">
            <a:solidFill>
              <a:srgbClr val="46C7D8"/>
            </a:solidFill>
            <a:prstDash val="solid"/>
          </a:ln>
        </p:spPr>
      </p:sp>
      <p:sp>
        <p:nvSpPr>
          <p:cNvPr id="58" name="Text 56"/>
          <p:cNvSpPr txBox="1"/>
          <p:nvPr/>
        </p:nvSpPr>
        <p:spPr>
          <a:xfrm>
            <a:off x="6359469" y="2635438"/>
            <a:ext cx="252374" cy="105997"/>
          </a:xfrm>
          <a:prstGeom prst="rect">
            <a:avLst/>
          </a:prstGeom>
          <a:noFill/>
          <a:ln/>
        </p:spPr>
        <p:txBody>
          <a:bodyPr wrap="square" lIns="0" tIns="0" rIns="0" bIns="0" rtlCol="0" anchor="t"/>
          <a:lstStyle/>
          <a:p>
            <a:pPr indent="0" marL="0">
              <a:buNone/>
            </a:pPr>
            <a:r>
              <a:rPr lang="en-US" sz="600" dirty="0">
                <a:solidFill>
                  <a:schemeClr val="bg2"/>
                </a:solidFill>
              </a:rPr>
              <a:t>14</a:t>
            </a:r>
            <a:endParaRPr lang="en-US" sz="600" dirty="0"/>
          </a:p>
        </p:txBody>
      </p:sp>
      <p:sp>
        <p:nvSpPr>
          <p:cNvPr id="59" name="Text 57"/>
          <p:cNvSpPr txBox="1"/>
          <p:nvPr/>
        </p:nvSpPr>
        <p:spPr>
          <a:xfrm>
            <a:off x="6325819" y="2684020"/>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Si</a:t>
            </a:r>
            <a:endParaRPr lang="en-US" sz="1400" dirty="0"/>
          </a:p>
        </p:txBody>
      </p:sp>
      <p:sp>
        <p:nvSpPr>
          <p:cNvPr id="60" name="Tile P"/>
          <p:cNvSpPr/>
          <p:nvPr/>
        </p:nvSpPr>
        <p:spPr>
          <a:xfrm>
            <a:off x="6788506" y="2613355"/>
            <a:ext cx="420624" cy="441655"/>
          </a:xfrm>
          <a:prstGeom prst="roundRect">
            <a:avLst>
              <a:gd name="adj" fmla="val 12000"/>
            </a:avLst>
          </a:prstGeom>
          <a:solidFill>
            <a:srgbClr val="45C08F">
              <a:alpha val="30000"/>
            </a:srgbClr>
          </a:solidFill>
          <a:ln w="19050">
            <a:solidFill>
              <a:srgbClr val="45C08F"/>
            </a:solidFill>
            <a:prstDash val="solid"/>
          </a:ln>
        </p:spPr>
      </p:sp>
      <p:sp>
        <p:nvSpPr>
          <p:cNvPr id="61" name="Text 59"/>
          <p:cNvSpPr txBox="1"/>
          <p:nvPr/>
        </p:nvSpPr>
        <p:spPr>
          <a:xfrm>
            <a:off x="6822156" y="2635438"/>
            <a:ext cx="252374" cy="105997"/>
          </a:xfrm>
          <a:prstGeom prst="rect">
            <a:avLst/>
          </a:prstGeom>
          <a:noFill/>
          <a:ln/>
        </p:spPr>
        <p:txBody>
          <a:bodyPr wrap="square" lIns="0" tIns="0" rIns="0" bIns="0" rtlCol="0" anchor="t"/>
          <a:lstStyle/>
          <a:p>
            <a:pPr indent="0" marL="0">
              <a:buNone/>
            </a:pPr>
            <a:r>
              <a:rPr lang="en-US" sz="600" dirty="0">
                <a:solidFill>
                  <a:schemeClr val="bg2"/>
                </a:solidFill>
              </a:rPr>
              <a:t>15</a:t>
            </a:r>
            <a:endParaRPr lang="en-US" sz="600" dirty="0"/>
          </a:p>
        </p:txBody>
      </p:sp>
      <p:sp>
        <p:nvSpPr>
          <p:cNvPr id="62" name="Text 60"/>
          <p:cNvSpPr txBox="1"/>
          <p:nvPr/>
        </p:nvSpPr>
        <p:spPr>
          <a:xfrm>
            <a:off x="6788506" y="2684020"/>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P</a:t>
            </a:r>
            <a:endParaRPr lang="en-US" sz="1400" dirty="0"/>
          </a:p>
        </p:txBody>
      </p:sp>
      <p:sp>
        <p:nvSpPr>
          <p:cNvPr id="63" name="Tile S"/>
          <p:cNvSpPr/>
          <p:nvPr/>
        </p:nvSpPr>
        <p:spPr>
          <a:xfrm>
            <a:off x="7251192" y="2613355"/>
            <a:ext cx="420624" cy="441655"/>
          </a:xfrm>
          <a:prstGeom prst="roundRect">
            <a:avLst>
              <a:gd name="adj" fmla="val 12000"/>
            </a:avLst>
          </a:prstGeom>
          <a:solidFill>
            <a:srgbClr val="45C08F">
              <a:alpha val="30000"/>
            </a:srgbClr>
          </a:solidFill>
          <a:ln w="19050">
            <a:solidFill>
              <a:srgbClr val="45C08F"/>
            </a:solidFill>
            <a:prstDash val="solid"/>
          </a:ln>
        </p:spPr>
      </p:sp>
      <p:sp>
        <p:nvSpPr>
          <p:cNvPr id="64" name="Text 62"/>
          <p:cNvSpPr txBox="1"/>
          <p:nvPr/>
        </p:nvSpPr>
        <p:spPr>
          <a:xfrm>
            <a:off x="7284842" y="2635438"/>
            <a:ext cx="252374" cy="105997"/>
          </a:xfrm>
          <a:prstGeom prst="rect">
            <a:avLst/>
          </a:prstGeom>
          <a:noFill/>
          <a:ln/>
        </p:spPr>
        <p:txBody>
          <a:bodyPr wrap="square" lIns="0" tIns="0" rIns="0" bIns="0" rtlCol="0" anchor="t"/>
          <a:lstStyle/>
          <a:p>
            <a:pPr indent="0" marL="0">
              <a:buNone/>
            </a:pPr>
            <a:r>
              <a:rPr lang="en-US" sz="600" dirty="0">
                <a:solidFill>
                  <a:schemeClr val="bg2"/>
                </a:solidFill>
              </a:rPr>
              <a:t>16</a:t>
            </a:r>
            <a:endParaRPr lang="en-US" sz="600" dirty="0"/>
          </a:p>
        </p:txBody>
      </p:sp>
      <p:sp>
        <p:nvSpPr>
          <p:cNvPr id="65" name="Text 63"/>
          <p:cNvSpPr txBox="1"/>
          <p:nvPr/>
        </p:nvSpPr>
        <p:spPr>
          <a:xfrm>
            <a:off x="7251192" y="2684020"/>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S</a:t>
            </a:r>
            <a:endParaRPr lang="en-US" sz="1400" dirty="0"/>
          </a:p>
        </p:txBody>
      </p:sp>
      <p:sp>
        <p:nvSpPr>
          <p:cNvPr id="66" name="Tile Cl"/>
          <p:cNvSpPr/>
          <p:nvPr/>
        </p:nvSpPr>
        <p:spPr>
          <a:xfrm>
            <a:off x="7713878" y="2613355"/>
            <a:ext cx="420624" cy="441655"/>
          </a:xfrm>
          <a:prstGeom prst="roundRect">
            <a:avLst>
              <a:gd name="adj" fmla="val 12000"/>
            </a:avLst>
          </a:prstGeom>
          <a:solidFill>
            <a:srgbClr val="F477B8">
              <a:alpha val="30000"/>
            </a:srgbClr>
          </a:solidFill>
          <a:ln w="19050">
            <a:solidFill>
              <a:srgbClr val="F477B8"/>
            </a:solidFill>
            <a:prstDash val="solid"/>
          </a:ln>
        </p:spPr>
      </p:sp>
      <p:sp>
        <p:nvSpPr>
          <p:cNvPr id="67" name="Text 65"/>
          <p:cNvSpPr txBox="1"/>
          <p:nvPr/>
        </p:nvSpPr>
        <p:spPr>
          <a:xfrm>
            <a:off x="7747528" y="2635438"/>
            <a:ext cx="252374" cy="105997"/>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68" name="Text 66"/>
          <p:cNvSpPr txBox="1"/>
          <p:nvPr/>
        </p:nvSpPr>
        <p:spPr>
          <a:xfrm>
            <a:off x="7713878" y="2684020"/>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Cl</a:t>
            </a:r>
            <a:endParaRPr lang="en-US" sz="1400" dirty="0"/>
          </a:p>
        </p:txBody>
      </p:sp>
      <p:sp>
        <p:nvSpPr>
          <p:cNvPr id="69" name="Tile Ar"/>
          <p:cNvSpPr/>
          <p:nvPr/>
        </p:nvSpPr>
        <p:spPr>
          <a:xfrm>
            <a:off x="8176565" y="2613355"/>
            <a:ext cx="420624" cy="441655"/>
          </a:xfrm>
          <a:prstGeom prst="roundRect">
            <a:avLst>
              <a:gd name="adj" fmla="val 12000"/>
            </a:avLst>
          </a:prstGeom>
          <a:solidFill>
            <a:srgbClr val="A084FF">
              <a:alpha val="30000"/>
            </a:srgbClr>
          </a:solidFill>
          <a:ln w="19050">
            <a:solidFill>
              <a:srgbClr val="A084FF"/>
            </a:solidFill>
            <a:prstDash val="solid"/>
          </a:ln>
        </p:spPr>
      </p:sp>
      <p:sp>
        <p:nvSpPr>
          <p:cNvPr id="70" name="Text 68"/>
          <p:cNvSpPr txBox="1"/>
          <p:nvPr/>
        </p:nvSpPr>
        <p:spPr>
          <a:xfrm>
            <a:off x="8210215" y="2635438"/>
            <a:ext cx="252374" cy="105997"/>
          </a:xfrm>
          <a:prstGeom prst="rect">
            <a:avLst/>
          </a:prstGeom>
          <a:noFill/>
          <a:ln/>
        </p:spPr>
        <p:txBody>
          <a:bodyPr wrap="square" lIns="0" tIns="0" rIns="0" bIns="0" rtlCol="0" anchor="t"/>
          <a:lstStyle/>
          <a:p>
            <a:pPr indent="0" marL="0">
              <a:buNone/>
            </a:pPr>
            <a:r>
              <a:rPr lang="en-US" sz="600" dirty="0">
                <a:solidFill>
                  <a:schemeClr val="bg2"/>
                </a:solidFill>
              </a:rPr>
              <a:t>18</a:t>
            </a:r>
            <a:endParaRPr lang="en-US" sz="600" dirty="0"/>
          </a:p>
        </p:txBody>
      </p:sp>
      <p:sp>
        <p:nvSpPr>
          <p:cNvPr id="71" name="Text 69"/>
          <p:cNvSpPr txBox="1"/>
          <p:nvPr/>
        </p:nvSpPr>
        <p:spPr>
          <a:xfrm>
            <a:off x="8176565" y="2684020"/>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Ar</a:t>
            </a:r>
            <a:endParaRPr lang="en-US" sz="1400" dirty="0"/>
          </a:p>
        </p:txBody>
      </p:sp>
      <p:sp>
        <p:nvSpPr>
          <p:cNvPr id="72" name="Tile K"/>
          <p:cNvSpPr/>
          <p:nvPr/>
        </p:nvSpPr>
        <p:spPr>
          <a:xfrm>
            <a:off x="4937760" y="3097073"/>
            <a:ext cx="420624" cy="441655"/>
          </a:xfrm>
          <a:prstGeom prst="roundRect">
            <a:avLst>
              <a:gd name="adj" fmla="val 12000"/>
            </a:avLst>
          </a:prstGeom>
          <a:solidFill>
            <a:srgbClr val="FF8F5E">
              <a:alpha val="30000"/>
            </a:srgbClr>
          </a:solidFill>
          <a:ln w="19050">
            <a:solidFill>
              <a:srgbClr val="FF8F5E"/>
            </a:solidFill>
            <a:prstDash val="solid"/>
          </a:ln>
        </p:spPr>
      </p:sp>
      <p:sp>
        <p:nvSpPr>
          <p:cNvPr id="73" name="Text 71"/>
          <p:cNvSpPr txBox="1"/>
          <p:nvPr/>
        </p:nvSpPr>
        <p:spPr>
          <a:xfrm>
            <a:off x="4971410" y="3119156"/>
            <a:ext cx="252374" cy="105997"/>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74" name="Text 72"/>
          <p:cNvSpPr txBox="1"/>
          <p:nvPr/>
        </p:nvSpPr>
        <p:spPr>
          <a:xfrm>
            <a:off x="4937760" y="3167738"/>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K</a:t>
            </a:r>
            <a:endParaRPr lang="en-US" sz="1400" dirty="0"/>
          </a:p>
        </p:txBody>
      </p:sp>
      <p:sp>
        <p:nvSpPr>
          <p:cNvPr id="75" name="Tile Ca"/>
          <p:cNvSpPr/>
          <p:nvPr/>
        </p:nvSpPr>
        <p:spPr>
          <a:xfrm>
            <a:off x="5400446" y="3097073"/>
            <a:ext cx="420624" cy="441655"/>
          </a:xfrm>
          <a:prstGeom prst="roundRect">
            <a:avLst>
              <a:gd name="adj" fmla="val 12000"/>
            </a:avLst>
          </a:prstGeom>
          <a:solidFill>
            <a:srgbClr val="FFCB5C">
              <a:alpha val="30000"/>
            </a:srgbClr>
          </a:solidFill>
          <a:ln w="19050">
            <a:solidFill>
              <a:srgbClr val="FFCB5C"/>
            </a:solidFill>
            <a:prstDash val="solid"/>
          </a:ln>
        </p:spPr>
      </p:sp>
      <p:sp>
        <p:nvSpPr>
          <p:cNvPr id="76" name="Text 74"/>
          <p:cNvSpPr txBox="1"/>
          <p:nvPr/>
        </p:nvSpPr>
        <p:spPr>
          <a:xfrm>
            <a:off x="5434096" y="3119156"/>
            <a:ext cx="252374" cy="105997"/>
          </a:xfrm>
          <a:prstGeom prst="rect">
            <a:avLst/>
          </a:prstGeom>
          <a:noFill/>
          <a:ln/>
        </p:spPr>
        <p:txBody>
          <a:bodyPr wrap="square" lIns="0" tIns="0" rIns="0" bIns="0" rtlCol="0" anchor="t"/>
          <a:lstStyle/>
          <a:p>
            <a:pPr indent="0" marL="0">
              <a:buNone/>
            </a:pPr>
            <a:r>
              <a:rPr lang="en-US" sz="600" dirty="0">
                <a:solidFill>
                  <a:schemeClr val="bg2"/>
                </a:solidFill>
              </a:rPr>
              <a:t>20</a:t>
            </a:r>
            <a:endParaRPr lang="en-US" sz="600" dirty="0"/>
          </a:p>
        </p:txBody>
      </p:sp>
      <p:sp>
        <p:nvSpPr>
          <p:cNvPr id="77" name="Text 75"/>
          <p:cNvSpPr txBox="1"/>
          <p:nvPr/>
        </p:nvSpPr>
        <p:spPr>
          <a:xfrm>
            <a:off x="5400446" y="3167738"/>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Ca</a:t>
            </a:r>
            <a:endParaRPr lang="en-US" sz="1400" dirty="0"/>
          </a:p>
        </p:txBody>
      </p:sp>
      <p:sp>
        <p:nvSpPr>
          <p:cNvPr id="78" name="Tile Ga"/>
          <p:cNvSpPr/>
          <p:nvPr/>
        </p:nvSpPr>
        <p:spPr>
          <a:xfrm>
            <a:off x="5863133" y="3097073"/>
            <a:ext cx="420624" cy="441655"/>
          </a:xfrm>
          <a:prstGeom prst="roundRect">
            <a:avLst>
              <a:gd name="adj" fmla="val 12000"/>
            </a:avLst>
          </a:prstGeom>
          <a:solidFill>
            <a:srgbClr val="8EA8CC">
              <a:alpha val="30000"/>
            </a:srgbClr>
          </a:solidFill>
          <a:ln w="19050">
            <a:solidFill>
              <a:srgbClr val="8EA8CC"/>
            </a:solidFill>
            <a:prstDash val="solid"/>
          </a:ln>
        </p:spPr>
      </p:sp>
      <p:sp>
        <p:nvSpPr>
          <p:cNvPr id="79" name="Text 77"/>
          <p:cNvSpPr txBox="1"/>
          <p:nvPr/>
        </p:nvSpPr>
        <p:spPr>
          <a:xfrm>
            <a:off x="5896783" y="3119156"/>
            <a:ext cx="252374" cy="105997"/>
          </a:xfrm>
          <a:prstGeom prst="rect">
            <a:avLst/>
          </a:prstGeom>
          <a:noFill/>
          <a:ln/>
        </p:spPr>
        <p:txBody>
          <a:bodyPr wrap="square" lIns="0" tIns="0" rIns="0" bIns="0" rtlCol="0" anchor="t"/>
          <a:lstStyle/>
          <a:p>
            <a:pPr indent="0" marL="0">
              <a:buNone/>
            </a:pPr>
            <a:r>
              <a:rPr lang="en-US" sz="600" dirty="0">
                <a:solidFill>
                  <a:schemeClr val="bg2"/>
                </a:solidFill>
              </a:rPr>
              <a:t>31</a:t>
            </a:r>
            <a:endParaRPr lang="en-US" sz="600" dirty="0"/>
          </a:p>
        </p:txBody>
      </p:sp>
      <p:sp>
        <p:nvSpPr>
          <p:cNvPr id="80" name="Text 78"/>
          <p:cNvSpPr txBox="1"/>
          <p:nvPr/>
        </p:nvSpPr>
        <p:spPr>
          <a:xfrm>
            <a:off x="5863133" y="3167738"/>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Ga</a:t>
            </a:r>
            <a:endParaRPr lang="en-US" sz="1400" dirty="0"/>
          </a:p>
        </p:txBody>
      </p:sp>
      <p:sp>
        <p:nvSpPr>
          <p:cNvPr id="81" name="Tile Ge"/>
          <p:cNvSpPr/>
          <p:nvPr/>
        </p:nvSpPr>
        <p:spPr>
          <a:xfrm>
            <a:off x="6325819" y="3097073"/>
            <a:ext cx="420624" cy="441655"/>
          </a:xfrm>
          <a:prstGeom prst="roundRect">
            <a:avLst>
              <a:gd name="adj" fmla="val 12000"/>
            </a:avLst>
          </a:prstGeom>
          <a:solidFill>
            <a:srgbClr val="46C7D8">
              <a:alpha val="30000"/>
            </a:srgbClr>
          </a:solidFill>
          <a:ln w="19050">
            <a:solidFill>
              <a:srgbClr val="46C7D8"/>
            </a:solidFill>
            <a:prstDash val="solid"/>
          </a:ln>
        </p:spPr>
      </p:sp>
      <p:sp>
        <p:nvSpPr>
          <p:cNvPr id="82" name="Text 80"/>
          <p:cNvSpPr txBox="1"/>
          <p:nvPr/>
        </p:nvSpPr>
        <p:spPr>
          <a:xfrm>
            <a:off x="6359469" y="3119156"/>
            <a:ext cx="252374" cy="105997"/>
          </a:xfrm>
          <a:prstGeom prst="rect">
            <a:avLst/>
          </a:prstGeom>
          <a:noFill/>
          <a:ln/>
        </p:spPr>
        <p:txBody>
          <a:bodyPr wrap="square" lIns="0" tIns="0" rIns="0" bIns="0" rtlCol="0" anchor="t"/>
          <a:lstStyle/>
          <a:p>
            <a:pPr indent="0" marL="0">
              <a:buNone/>
            </a:pPr>
            <a:r>
              <a:rPr lang="en-US" sz="600" dirty="0">
                <a:solidFill>
                  <a:schemeClr val="bg2"/>
                </a:solidFill>
              </a:rPr>
              <a:t>32</a:t>
            </a:r>
            <a:endParaRPr lang="en-US" sz="600" dirty="0"/>
          </a:p>
        </p:txBody>
      </p:sp>
      <p:sp>
        <p:nvSpPr>
          <p:cNvPr id="83" name="Text 81"/>
          <p:cNvSpPr txBox="1"/>
          <p:nvPr/>
        </p:nvSpPr>
        <p:spPr>
          <a:xfrm>
            <a:off x="6325819" y="3167738"/>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Ge</a:t>
            </a:r>
            <a:endParaRPr lang="en-US" sz="1400" dirty="0"/>
          </a:p>
        </p:txBody>
      </p:sp>
      <p:sp>
        <p:nvSpPr>
          <p:cNvPr id="84" name="Tile As"/>
          <p:cNvSpPr/>
          <p:nvPr/>
        </p:nvSpPr>
        <p:spPr>
          <a:xfrm>
            <a:off x="6788506" y="3097073"/>
            <a:ext cx="420624" cy="441655"/>
          </a:xfrm>
          <a:prstGeom prst="roundRect">
            <a:avLst>
              <a:gd name="adj" fmla="val 12000"/>
            </a:avLst>
          </a:prstGeom>
          <a:solidFill>
            <a:srgbClr val="46C7D8">
              <a:alpha val="30000"/>
            </a:srgbClr>
          </a:solidFill>
          <a:ln w="19050">
            <a:solidFill>
              <a:srgbClr val="46C7D8"/>
            </a:solidFill>
            <a:prstDash val="solid"/>
          </a:ln>
        </p:spPr>
      </p:sp>
      <p:sp>
        <p:nvSpPr>
          <p:cNvPr id="85" name="Text 83"/>
          <p:cNvSpPr txBox="1"/>
          <p:nvPr/>
        </p:nvSpPr>
        <p:spPr>
          <a:xfrm>
            <a:off x="6822156" y="3119156"/>
            <a:ext cx="252374" cy="105997"/>
          </a:xfrm>
          <a:prstGeom prst="rect">
            <a:avLst/>
          </a:prstGeom>
          <a:noFill/>
          <a:ln/>
        </p:spPr>
        <p:txBody>
          <a:bodyPr wrap="square" lIns="0" tIns="0" rIns="0" bIns="0" rtlCol="0" anchor="t"/>
          <a:lstStyle/>
          <a:p>
            <a:pPr indent="0" marL="0">
              <a:buNone/>
            </a:pPr>
            <a:r>
              <a:rPr lang="en-US" sz="600" dirty="0">
                <a:solidFill>
                  <a:schemeClr val="bg2"/>
                </a:solidFill>
              </a:rPr>
              <a:t>33</a:t>
            </a:r>
            <a:endParaRPr lang="en-US" sz="600" dirty="0"/>
          </a:p>
        </p:txBody>
      </p:sp>
      <p:sp>
        <p:nvSpPr>
          <p:cNvPr id="86" name="Text 84"/>
          <p:cNvSpPr txBox="1"/>
          <p:nvPr/>
        </p:nvSpPr>
        <p:spPr>
          <a:xfrm>
            <a:off x="6788506" y="3167738"/>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As</a:t>
            </a:r>
            <a:endParaRPr lang="en-US" sz="1400" dirty="0"/>
          </a:p>
        </p:txBody>
      </p:sp>
      <p:sp>
        <p:nvSpPr>
          <p:cNvPr id="87" name="Tile Se"/>
          <p:cNvSpPr/>
          <p:nvPr/>
        </p:nvSpPr>
        <p:spPr>
          <a:xfrm>
            <a:off x="7251192" y="3097073"/>
            <a:ext cx="420624" cy="441655"/>
          </a:xfrm>
          <a:prstGeom prst="roundRect">
            <a:avLst>
              <a:gd name="adj" fmla="val 12000"/>
            </a:avLst>
          </a:prstGeom>
          <a:solidFill>
            <a:srgbClr val="45C08F">
              <a:alpha val="30000"/>
            </a:srgbClr>
          </a:solidFill>
          <a:ln w="19050">
            <a:solidFill>
              <a:srgbClr val="45C08F"/>
            </a:solidFill>
            <a:prstDash val="solid"/>
          </a:ln>
        </p:spPr>
      </p:sp>
      <p:sp>
        <p:nvSpPr>
          <p:cNvPr id="88" name="Text 86"/>
          <p:cNvSpPr txBox="1"/>
          <p:nvPr/>
        </p:nvSpPr>
        <p:spPr>
          <a:xfrm>
            <a:off x="7284842" y="3119156"/>
            <a:ext cx="252374" cy="105997"/>
          </a:xfrm>
          <a:prstGeom prst="rect">
            <a:avLst/>
          </a:prstGeom>
          <a:noFill/>
          <a:ln/>
        </p:spPr>
        <p:txBody>
          <a:bodyPr wrap="square" lIns="0" tIns="0" rIns="0" bIns="0" rtlCol="0" anchor="t"/>
          <a:lstStyle/>
          <a:p>
            <a:pPr indent="0" marL="0">
              <a:buNone/>
            </a:pPr>
            <a:r>
              <a:rPr lang="en-US" sz="600" dirty="0">
                <a:solidFill>
                  <a:schemeClr val="bg2"/>
                </a:solidFill>
              </a:rPr>
              <a:t>34</a:t>
            </a:r>
            <a:endParaRPr lang="en-US" sz="600" dirty="0"/>
          </a:p>
        </p:txBody>
      </p:sp>
      <p:sp>
        <p:nvSpPr>
          <p:cNvPr id="89" name="Text 87"/>
          <p:cNvSpPr txBox="1"/>
          <p:nvPr/>
        </p:nvSpPr>
        <p:spPr>
          <a:xfrm>
            <a:off x="7251192" y="3167738"/>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Se</a:t>
            </a:r>
            <a:endParaRPr lang="en-US" sz="1400" dirty="0"/>
          </a:p>
        </p:txBody>
      </p:sp>
      <p:sp>
        <p:nvSpPr>
          <p:cNvPr id="90" name="Tile Br"/>
          <p:cNvSpPr/>
          <p:nvPr/>
        </p:nvSpPr>
        <p:spPr>
          <a:xfrm>
            <a:off x="7713878" y="3097073"/>
            <a:ext cx="420624" cy="441655"/>
          </a:xfrm>
          <a:prstGeom prst="roundRect">
            <a:avLst>
              <a:gd name="adj" fmla="val 12000"/>
            </a:avLst>
          </a:prstGeom>
          <a:solidFill>
            <a:srgbClr val="F477B8">
              <a:alpha val="30000"/>
            </a:srgbClr>
          </a:solidFill>
          <a:ln w="19050">
            <a:solidFill>
              <a:srgbClr val="F477B8"/>
            </a:solidFill>
            <a:prstDash val="solid"/>
          </a:ln>
        </p:spPr>
      </p:sp>
      <p:sp>
        <p:nvSpPr>
          <p:cNvPr id="91" name="Text 89"/>
          <p:cNvSpPr txBox="1"/>
          <p:nvPr/>
        </p:nvSpPr>
        <p:spPr>
          <a:xfrm>
            <a:off x="7747528" y="3119156"/>
            <a:ext cx="252374" cy="105997"/>
          </a:xfrm>
          <a:prstGeom prst="rect">
            <a:avLst/>
          </a:prstGeom>
          <a:noFill/>
          <a:ln/>
        </p:spPr>
        <p:txBody>
          <a:bodyPr wrap="square" lIns="0" tIns="0" rIns="0" bIns="0" rtlCol="0" anchor="t"/>
          <a:lstStyle/>
          <a:p>
            <a:pPr indent="0" marL="0">
              <a:buNone/>
            </a:pPr>
            <a:r>
              <a:rPr lang="en-US" sz="600" dirty="0">
                <a:solidFill>
                  <a:schemeClr val="bg2"/>
                </a:solidFill>
              </a:rPr>
              <a:t>35</a:t>
            </a:r>
            <a:endParaRPr lang="en-US" sz="600" dirty="0"/>
          </a:p>
        </p:txBody>
      </p:sp>
      <p:sp>
        <p:nvSpPr>
          <p:cNvPr id="92" name="Text 90"/>
          <p:cNvSpPr txBox="1"/>
          <p:nvPr/>
        </p:nvSpPr>
        <p:spPr>
          <a:xfrm>
            <a:off x="7713878" y="3167738"/>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Br</a:t>
            </a:r>
            <a:endParaRPr lang="en-US" sz="1400" dirty="0"/>
          </a:p>
        </p:txBody>
      </p:sp>
      <p:sp>
        <p:nvSpPr>
          <p:cNvPr id="93" name="Tile Kr"/>
          <p:cNvSpPr/>
          <p:nvPr/>
        </p:nvSpPr>
        <p:spPr>
          <a:xfrm>
            <a:off x="8176565" y="3097073"/>
            <a:ext cx="420624" cy="441655"/>
          </a:xfrm>
          <a:prstGeom prst="roundRect">
            <a:avLst>
              <a:gd name="adj" fmla="val 12000"/>
            </a:avLst>
          </a:prstGeom>
          <a:solidFill>
            <a:srgbClr val="A084FF">
              <a:alpha val="30000"/>
            </a:srgbClr>
          </a:solidFill>
          <a:ln w="19050">
            <a:solidFill>
              <a:srgbClr val="A084FF"/>
            </a:solidFill>
            <a:prstDash val="solid"/>
          </a:ln>
        </p:spPr>
      </p:sp>
      <p:sp>
        <p:nvSpPr>
          <p:cNvPr id="94" name="Text 92"/>
          <p:cNvSpPr txBox="1"/>
          <p:nvPr/>
        </p:nvSpPr>
        <p:spPr>
          <a:xfrm>
            <a:off x="8210215" y="3119156"/>
            <a:ext cx="252374" cy="105997"/>
          </a:xfrm>
          <a:prstGeom prst="rect">
            <a:avLst/>
          </a:prstGeom>
          <a:noFill/>
          <a:ln/>
        </p:spPr>
        <p:txBody>
          <a:bodyPr wrap="square" lIns="0" tIns="0" rIns="0" bIns="0" rtlCol="0" anchor="t"/>
          <a:lstStyle/>
          <a:p>
            <a:pPr indent="0" marL="0">
              <a:buNone/>
            </a:pPr>
            <a:r>
              <a:rPr lang="en-US" sz="600" dirty="0">
                <a:solidFill>
                  <a:schemeClr val="bg2"/>
                </a:solidFill>
              </a:rPr>
              <a:t>36</a:t>
            </a:r>
            <a:endParaRPr lang="en-US" sz="600" dirty="0"/>
          </a:p>
        </p:txBody>
      </p:sp>
      <p:sp>
        <p:nvSpPr>
          <p:cNvPr id="95" name="Text 93"/>
          <p:cNvSpPr txBox="1"/>
          <p:nvPr/>
        </p:nvSpPr>
        <p:spPr>
          <a:xfrm>
            <a:off x="8176565" y="3167738"/>
            <a:ext cx="420624" cy="353324"/>
          </a:xfrm>
          <a:prstGeom prst="rect">
            <a:avLst/>
          </a:prstGeom>
          <a:noFill/>
          <a:ln/>
        </p:spPr>
        <p:txBody>
          <a:bodyPr wrap="square" lIns="0" tIns="0" rIns="0" bIns="0" rtlCol="0" anchor="ctr"/>
          <a:lstStyle/>
          <a:p>
            <a:pPr algn="ctr" indent="0" marL="0">
              <a:buNone/>
            </a:pPr>
            <a:r>
              <a:rPr lang="en-US" sz="1400" b="1" dirty="0">
                <a:solidFill>
                  <a:schemeClr val="bg1"/>
                </a:solidFill>
              </a:rPr>
              <a:t>Kr</a:t>
            </a:r>
            <a:endParaRPr lang="en-US" sz="1400" dirty="0"/>
          </a:p>
        </p:txBody>
      </p:sp>
      <p:sp>
        <p:nvSpPr>
          <p:cNvPr id="96" name="Text 94"/>
          <p:cNvSpPr txBox="1"/>
          <p:nvPr/>
        </p:nvSpPr>
        <p:spPr>
          <a:xfrm>
            <a:off x="4937760" y="3840480"/>
            <a:ext cx="2011680" cy="274320"/>
          </a:xfrm>
          <a:prstGeom prst="rect">
            <a:avLst/>
          </a:prstGeom>
          <a:noFill/>
          <a:ln/>
        </p:spPr>
        <p:txBody>
          <a:bodyPr wrap="square" lIns="0" tIns="0" rIns="0" bIns="0" rtlCol="0" anchor="ctr"/>
          <a:lstStyle/>
          <a:p>
            <a:pPr indent="0" marL="0">
              <a:buNone/>
            </a:pPr>
            <a:r>
              <a:rPr lang="en-US" sz="1300" b="1" dirty="0">
                <a:solidFill>
                  <a:schemeClr val="accent1"/>
                </a:solidFill>
              </a:rPr>
              <a:t>Across a period →</a:t>
            </a:r>
            <a:endParaRPr lang="en-US" sz="1300" dirty="0"/>
          </a:p>
        </p:txBody>
      </p:sp>
      <p:sp>
        <p:nvSpPr>
          <p:cNvPr id="97" name="Text 95"/>
          <p:cNvSpPr txBox="1"/>
          <p:nvPr/>
        </p:nvSpPr>
        <p:spPr>
          <a:xfrm>
            <a:off x="6949440" y="3840480"/>
            <a:ext cx="1737360" cy="274320"/>
          </a:xfrm>
          <a:prstGeom prst="rect">
            <a:avLst/>
          </a:prstGeom>
          <a:noFill/>
          <a:ln/>
        </p:spPr>
        <p:txBody>
          <a:bodyPr wrap="square" lIns="0" tIns="0" rIns="0" bIns="0" rtlCol="0" anchor="ctr"/>
          <a:lstStyle/>
          <a:p>
            <a:pPr algn="r" indent="0" marL="0">
              <a:buNone/>
            </a:pPr>
            <a:r>
              <a:rPr lang="en-US" sz="1300" b="1" dirty="0">
                <a:solidFill>
                  <a:schemeClr val="accent2"/>
                </a:solidFill>
              </a:rPr>
              <a:t>Down a group ↓</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tile 1"/>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Li"/>
          <p:cNvSpPr/>
          <p:nvPr/>
        </p:nvSpPr>
        <p:spPr>
          <a:xfrm>
            <a:off x="600512" y="541259"/>
            <a:ext cx="463183" cy="463183"/>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Li</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Table missions</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Find each element using periods (rows) and groups (columns).</a:t>
            </a:r>
            <a:endParaRPr lang="en-US" sz="1300" dirty="0"/>
          </a:p>
        </p:txBody>
      </p:sp>
      <p:sp>
        <p:nvSpPr>
          <p:cNvPr id="10" name="Mission 1"/>
          <p:cNvSpPr/>
          <p:nvPr/>
        </p:nvSpPr>
        <p:spPr>
          <a:xfrm>
            <a:off x="457200" y="1691640"/>
            <a:ext cx="3931920" cy="457200"/>
          </a:xfrm>
          <a:prstGeom prst="roundRect">
            <a:avLst>
              <a:gd name="adj" fmla="val 20000"/>
            </a:avLst>
          </a:prstGeom>
          <a:solidFill>
            <a:schemeClr val="tx2"/>
          </a:solidFill>
          <a:ln w="9525">
            <a:solidFill>
              <a:schemeClr val="bg2">
                <a:alpha val="30000"/>
              </a:schemeClr>
            </a:solidFill>
            <a:prstDash val="solid"/>
          </a:ln>
        </p:spPr>
      </p:sp>
      <p:sp>
        <p:nvSpPr>
          <p:cNvPr id="11" name="Text 9"/>
          <p:cNvSpPr txBox="1"/>
          <p:nvPr/>
        </p:nvSpPr>
        <p:spPr>
          <a:xfrm>
            <a:off x="594360" y="1691640"/>
            <a:ext cx="2743200" cy="457200"/>
          </a:xfrm>
          <a:prstGeom prst="rect">
            <a:avLst/>
          </a:prstGeom>
          <a:noFill/>
          <a:ln/>
        </p:spPr>
        <p:txBody>
          <a:bodyPr wrap="square" lIns="0" tIns="0" rIns="0" bIns="0" rtlCol="0" anchor="ctr"/>
          <a:lstStyle/>
          <a:p>
            <a:pPr indent="0" marL="0">
              <a:buNone/>
            </a:pPr>
            <a:r>
              <a:rPr lang="en-US" sz="1400" dirty="0">
                <a:solidFill>
                  <a:schemeClr val="bg1"/>
                </a:solidFill>
              </a:rPr>
              <a:t>1. Period 3, group 1</a:t>
            </a:r>
            <a:endParaRPr lang="en-US" sz="1400" dirty="0"/>
          </a:p>
        </p:txBody>
      </p:sp>
      <p:sp>
        <p:nvSpPr>
          <p:cNvPr id="12" name="Text 10"/>
          <p:cNvSpPr txBox="1"/>
          <p:nvPr/>
        </p:nvSpPr>
        <p:spPr>
          <a:xfrm>
            <a:off x="3840480" y="1691640"/>
            <a:ext cx="384048" cy="457200"/>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sp>
        <p:nvSpPr>
          <p:cNvPr id="13" name="Mission 2"/>
          <p:cNvSpPr/>
          <p:nvPr/>
        </p:nvSpPr>
        <p:spPr>
          <a:xfrm>
            <a:off x="457200" y="2240280"/>
            <a:ext cx="3931920" cy="457200"/>
          </a:xfrm>
          <a:prstGeom prst="roundRect">
            <a:avLst>
              <a:gd name="adj" fmla="val 20000"/>
            </a:avLst>
          </a:prstGeom>
          <a:solidFill>
            <a:schemeClr val="tx2"/>
          </a:solidFill>
          <a:ln w="9525">
            <a:solidFill>
              <a:schemeClr val="bg2">
                <a:alpha val="30000"/>
              </a:schemeClr>
            </a:solidFill>
            <a:prstDash val="solid"/>
          </a:ln>
        </p:spPr>
      </p:sp>
      <p:sp>
        <p:nvSpPr>
          <p:cNvPr id="14" name="Text 12"/>
          <p:cNvSpPr txBox="1"/>
          <p:nvPr/>
        </p:nvSpPr>
        <p:spPr>
          <a:xfrm>
            <a:off x="594360" y="2240280"/>
            <a:ext cx="2743200" cy="457200"/>
          </a:xfrm>
          <a:prstGeom prst="rect">
            <a:avLst/>
          </a:prstGeom>
          <a:noFill/>
          <a:ln/>
        </p:spPr>
        <p:txBody>
          <a:bodyPr wrap="square" lIns="0" tIns="0" rIns="0" bIns="0" rtlCol="0" anchor="ctr"/>
          <a:lstStyle/>
          <a:p>
            <a:pPr indent="0" marL="0">
              <a:buNone/>
            </a:pPr>
            <a:r>
              <a:rPr lang="en-US" sz="1400" dirty="0">
                <a:solidFill>
                  <a:schemeClr val="bg1"/>
                </a:solidFill>
              </a:rPr>
              <a:t>2. Period 2, group 17</a:t>
            </a:r>
            <a:endParaRPr lang="en-US" sz="1400" dirty="0"/>
          </a:p>
        </p:txBody>
      </p:sp>
      <p:sp>
        <p:nvSpPr>
          <p:cNvPr id="15" name="Text 13"/>
          <p:cNvSpPr txBox="1"/>
          <p:nvPr/>
        </p:nvSpPr>
        <p:spPr>
          <a:xfrm>
            <a:off x="3840480" y="2240280"/>
            <a:ext cx="384048" cy="457200"/>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sp>
        <p:nvSpPr>
          <p:cNvPr id="16" name="Mission 3"/>
          <p:cNvSpPr/>
          <p:nvPr/>
        </p:nvSpPr>
        <p:spPr>
          <a:xfrm>
            <a:off x="457200" y="2788920"/>
            <a:ext cx="3931920" cy="457200"/>
          </a:xfrm>
          <a:prstGeom prst="roundRect">
            <a:avLst>
              <a:gd name="adj" fmla="val 20000"/>
            </a:avLst>
          </a:prstGeom>
          <a:solidFill>
            <a:schemeClr val="tx2"/>
          </a:solidFill>
          <a:ln w="9525">
            <a:solidFill>
              <a:schemeClr val="bg2">
                <a:alpha val="30000"/>
              </a:schemeClr>
            </a:solidFill>
            <a:prstDash val="solid"/>
          </a:ln>
        </p:spPr>
      </p:sp>
      <p:sp>
        <p:nvSpPr>
          <p:cNvPr id="17" name="Text 15"/>
          <p:cNvSpPr txBox="1"/>
          <p:nvPr/>
        </p:nvSpPr>
        <p:spPr>
          <a:xfrm>
            <a:off x="594360" y="2788920"/>
            <a:ext cx="2743200" cy="457200"/>
          </a:xfrm>
          <a:prstGeom prst="rect">
            <a:avLst/>
          </a:prstGeom>
          <a:noFill/>
          <a:ln/>
        </p:spPr>
        <p:txBody>
          <a:bodyPr wrap="square" lIns="0" tIns="0" rIns="0" bIns="0" rtlCol="0" anchor="ctr"/>
          <a:lstStyle/>
          <a:p>
            <a:pPr indent="0" marL="0">
              <a:buNone/>
            </a:pPr>
            <a:r>
              <a:rPr lang="en-US" sz="1400" dirty="0">
                <a:solidFill>
                  <a:schemeClr val="bg1"/>
                </a:solidFill>
              </a:rPr>
              <a:t>3. Period 4, group 2</a:t>
            </a:r>
            <a:endParaRPr lang="en-US" sz="1400" dirty="0"/>
          </a:p>
        </p:txBody>
      </p:sp>
      <p:sp>
        <p:nvSpPr>
          <p:cNvPr id="18" name="Text 16"/>
          <p:cNvSpPr txBox="1"/>
          <p:nvPr/>
        </p:nvSpPr>
        <p:spPr>
          <a:xfrm>
            <a:off x="3840480" y="2788920"/>
            <a:ext cx="384048" cy="457200"/>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sp>
        <p:nvSpPr>
          <p:cNvPr id="19" name="Mission 4"/>
          <p:cNvSpPr/>
          <p:nvPr/>
        </p:nvSpPr>
        <p:spPr>
          <a:xfrm>
            <a:off x="457200" y="3337560"/>
            <a:ext cx="3931920" cy="457200"/>
          </a:xfrm>
          <a:prstGeom prst="roundRect">
            <a:avLst>
              <a:gd name="adj" fmla="val 20000"/>
            </a:avLst>
          </a:prstGeom>
          <a:solidFill>
            <a:schemeClr val="tx2"/>
          </a:solidFill>
          <a:ln w="9525">
            <a:solidFill>
              <a:schemeClr val="bg2">
                <a:alpha val="30000"/>
              </a:schemeClr>
            </a:solidFill>
            <a:prstDash val="solid"/>
          </a:ln>
        </p:spPr>
      </p:sp>
      <p:sp>
        <p:nvSpPr>
          <p:cNvPr id="20" name="Text 18"/>
          <p:cNvSpPr txBox="1"/>
          <p:nvPr/>
        </p:nvSpPr>
        <p:spPr>
          <a:xfrm>
            <a:off x="594360" y="3337560"/>
            <a:ext cx="2743200" cy="457200"/>
          </a:xfrm>
          <a:prstGeom prst="rect">
            <a:avLst/>
          </a:prstGeom>
          <a:noFill/>
          <a:ln/>
        </p:spPr>
        <p:txBody>
          <a:bodyPr wrap="square" lIns="0" tIns="0" rIns="0" bIns="0" rtlCol="0" anchor="ctr"/>
          <a:lstStyle/>
          <a:p>
            <a:pPr indent="0" marL="0">
              <a:buNone/>
            </a:pPr>
            <a:r>
              <a:rPr lang="en-US" sz="1400" dirty="0">
                <a:solidFill>
                  <a:schemeClr val="bg1"/>
                </a:solidFill>
              </a:rPr>
              <a:t>4. Top of group 16</a:t>
            </a:r>
            <a:endParaRPr lang="en-US" sz="1400" dirty="0"/>
          </a:p>
        </p:txBody>
      </p:sp>
      <p:sp>
        <p:nvSpPr>
          <p:cNvPr id="21" name="Text 19"/>
          <p:cNvSpPr txBox="1"/>
          <p:nvPr/>
        </p:nvSpPr>
        <p:spPr>
          <a:xfrm>
            <a:off x="3840480" y="3337560"/>
            <a:ext cx="384048" cy="457200"/>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sp>
        <p:nvSpPr>
          <p:cNvPr id="22" name="Mission 5"/>
          <p:cNvSpPr/>
          <p:nvPr/>
        </p:nvSpPr>
        <p:spPr>
          <a:xfrm>
            <a:off x="457200" y="3886200"/>
            <a:ext cx="3931920" cy="457200"/>
          </a:xfrm>
          <a:prstGeom prst="roundRect">
            <a:avLst>
              <a:gd name="adj" fmla="val 20000"/>
            </a:avLst>
          </a:prstGeom>
          <a:solidFill>
            <a:schemeClr val="tx2"/>
          </a:solidFill>
          <a:ln w="9525">
            <a:solidFill>
              <a:schemeClr val="bg2">
                <a:alpha val="30000"/>
              </a:schemeClr>
            </a:solidFill>
            <a:prstDash val="solid"/>
          </a:ln>
        </p:spPr>
      </p:sp>
      <p:sp>
        <p:nvSpPr>
          <p:cNvPr id="23" name="Text 21"/>
          <p:cNvSpPr txBox="1"/>
          <p:nvPr/>
        </p:nvSpPr>
        <p:spPr>
          <a:xfrm>
            <a:off x="594360" y="3886200"/>
            <a:ext cx="2743200" cy="457200"/>
          </a:xfrm>
          <a:prstGeom prst="rect">
            <a:avLst/>
          </a:prstGeom>
          <a:noFill/>
          <a:ln/>
        </p:spPr>
        <p:txBody>
          <a:bodyPr wrap="square" lIns="0" tIns="0" rIns="0" bIns="0" rtlCol="0" anchor="ctr"/>
          <a:lstStyle/>
          <a:p>
            <a:pPr indent="0" marL="0">
              <a:buNone/>
            </a:pPr>
            <a:r>
              <a:rPr lang="en-US" sz="1400" dirty="0">
                <a:solidFill>
                  <a:schemeClr val="bg1"/>
                </a:solidFill>
              </a:rPr>
              <a:t>5. Last element in period 3</a:t>
            </a:r>
            <a:endParaRPr lang="en-US" sz="1400" dirty="0"/>
          </a:p>
        </p:txBody>
      </p:sp>
      <p:sp>
        <p:nvSpPr>
          <p:cNvPr id="24" name="Text 22"/>
          <p:cNvSpPr txBox="1"/>
          <p:nvPr/>
        </p:nvSpPr>
        <p:spPr>
          <a:xfrm>
            <a:off x="3840480" y="3886200"/>
            <a:ext cx="384048" cy="457200"/>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sp>
        <p:nvSpPr>
          <p:cNvPr id="25" name="Text 23"/>
          <p:cNvSpPr txBox="1"/>
          <p:nvPr/>
        </p:nvSpPr>
        <p:spPr>
          <a:xfrm>
            <a:off x="4754880"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a:t>
            </a:r>
            <a:endParaRPr lang="en-US" sz="800" dirty="0"/>
          </a:p>
        </p:txBody>
      </p:sp>
      <p:sp>
        <p:nvSpPr>
          <p:cNvPr id="26" name="Text 24"/>
          <p:cNvSpPr txBox="1"/>
          <p:nvPr/>
        </p:nvSpPr>
        <p:spPr>
          <a:xfrm>
            <a:off x="5237683"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2</a:t>
            </a:r>
            <a:endParaRPr lang="en-US" sz="800" dirty="0"/>
          </a:p>
        </p:txBody>
      </p:sp>
      <p:sp>
        <p:nvSpPr>
          <p:cNvPr id="27" name="Text 25"/>
          <p:cNvSpPr txBox="1"/>
          <p:nvPr/>
        </p:nvSpPr>
        <p:spPr>
          <a:xfrm>
            <a:off x="5720486"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13</a:t>
            </a:r>
            <a:endParaRPr lang="en-US" sz="800" dirty="0"/>
          </a:p>
        </p:txBody>
      </p:sp>
      <p:sp>
        <p:nvSpPr>
          <p:cNvPr id="28" name="Text 26"/>
          <p:cNvSpPr txBox="1"/>
          <p:nvPr/>
        </p:nvSpPr>
        <p:spPr>
          <a:xfrm>
            <a:off x="6203290"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14</a:t>
            </a:r>
            <a:endParaRPr lang="en-US" sz="800" dirty="0"/>
          </a:p>
        </p:txBody>
      </p:sp>
      <p:sp>
        <p:nvSpPr>
          <p:cNvPr id="29" name="Text 27"/>
          <p:cNvSpPr txBox="1"/>
          <p:nvPr/>
        </p:nvSpPr>
        <p:spPr>
          <a:xfrm>
            <a:off x="6686093"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15</a:t>
            </a:r>
            <a:endParaRPr lang="en-US" sz="800" dirty="0"/>
          </a:p>
        </p:txBody>
      </p:sp>
      <p:sp>
        <p:nvSpPr>
          <p:cNvPr id="30" name="Text 28"/>
          <p:cNvSpPr txBox="1"/>
          <p:nvPr/>
        </p:nvSpPr>
        <p:spPr>
          <a:xfrm>
            <a:off x="7168896"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16</a:t>
            </a:r>
            <a:endParaRPr lang="en-US" sz="800" dirty="0"/>
          </a:p>
        </p:txBody>
      </p:sp>
      <p:sp>
        <p:nvSpPr>
          <p:cNvPr id="31" name="Text 29"/>
          <p:cNvSpPr txBox="1"/>
          <p:nvPr/>
        </p:nvSpPr>
        <p:spPr>
          <a:xfrm>
            <a:off x="7651699"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17</a:t>
            </a:r>
            <a:endParaRPr lang="en-US" sz="800" dirty="0"/>
          </a:p>
        </p:txBody>
      </p:sp>
      <p:sp>
        <p:nvSpPr>
          <p:cNvPr id="32" name="Text 30"/>
          <p:cNvSpPr txBox="1"/>
          <p:nvPr/>
        </p:nvSpPr>
        <p:spPr>
          <a:xfrm>
            <a:off x="8134502"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18</a:t>
            </a:r>
            <a:endParaRPr lang="en-US" sz="800" dirty="0"/>
          </a:p>
        </p:txBody>
      </p:sp>
      <p:sp>
        <p:nvSpPr>
          <p:cNvPr id="33" name="Tile H"/>
          <p:cNvSpPr/>
          <p:nvPr/>
        </p:nvSpPr>
        <p:spPr>
          <a:xfrm>
            <a:off x="4754880" y="1783080"/>
            <a:ext cx="438912" cy="460858"/>
          </a:xfrm>
          <a:prstGeom prst="roundRect">
            <a:avLst>
              <a:gd name="adj" fmla="val 12000"/>
            </a:avLst>
          </a:prstGeom>
          <a:solidFill>
            <a:srgbClr val="45C08F">
              <a:alpha val="30000"/>
            </a:srgbClr>
          </a:solidFill>
          <a:ln w="19050">
            <a:solidFill>
              <a:srgbClr val="45C08F"/>
            </a:solidFill>
            <a:prstDash val="solid"/>
          </a:ln>
        </p:spPr>
      </p:sp>
      <p:sp>
        <p:nvSpPr>
          <p:cNvPr id="34" name="Text 32"/>
          <p:cNvSpPr txBox="1"/>
          <p:nvPr/>
        </p:nvSpPr>
        <p:spPr>
          <a:xfrm>
            <a:off x="4789993" y="1806123"/>
            <a:ext cx="263347" cy="110606"/>
          </a:xfrm>
          <a:prstGeom prst="rect">
            <a:avLst/>
          </a:prstGeom>
          <a:noFill/>
          <a:ln/>
        </p:spPr>
        <p:txBody>
          <a:bodyPr wrap="square" lIns="0" tIns="0" rIns="0" bIns="0" rtlCol="0" anchor="t"/>
          <a:lstStyle/>
          <a:p>
            <a:pPr indent="0" marL="0">
              <a:buNone/>
            </a:pPr>
            <a:r>
              <a:rPr lang="en-US" sz="600" dirty="0">
                <a:solidFill>
                  <a:schemeClr val="bg2"/>
                </a:solidFill>
              </a:rPr>
              <a:t>1</a:t>
            </a:r>
            <a:endParaRPr lang="en-US" sz="600" dirty="0"/>
          </a:p>
        </p:txBody>
      </p:sp>
      <p:sp>
        <p:nvSpPr>
          <p:cNvPr id="35" name="Text 33"/>
          <p:cNvSpPr txBox="1"/>
          <p:nvPr/>
        </p:nvSpPr>
        <p:spPr>
          <a:xfrm>
            <a:off x="4754880" y="1856817"/>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H</a:t>
            </a:r>
            <a:endParaRPr lang="en-US" sz="1400" dirty="0"/>
          </a:p>
        </p:txBody>
      </p:sp>
      <p:sp>
        <p:nvSpPr>
          <p:cNvPr id="36" name="Tile He"/>
          <p:cNvSpPr/>
          <p:nvPr/>
        </p:nvSpPr>
        <p:spPr>
          <a:xfrm>
            <a:off x="8134502" y="1783080"/>
            <a:ext cx="438912" cy="460858"/>
          </a:xfrm>
          <a:prstGeom prst="roundRect">
            <a:avLst>
              <a:gd name="adj" fmla="val 12000"/>
            </a:avLst>
          </a:prstGeom>
          <a:solidFill>
            <a:srgbClr val="A084FF">
              <a:alpha val="30000"/>
            </a:srgbClr>
          </a:solidFill>
          <a:ln w="19050">
            <a:solidFill>
              <a:srgbClr val="A084FF"/>
            </a:solidFill>
            <a:prstDash val="solid"/>
          </a:ln>
        </p:spPr>
      </p:sp>
      <p:sp>
        <p:nvSpPr>
          <p:cNvPr id="37" name="Text 35"/>
          <p:cNvSpPr txBox="1"/>
          <p:nvPr/>
        </p:nvSpPr>
        <p:spPr>
          <a:xfrm>
            <a:off x="8169615" y="1806123"/>
            <a:ext cx="263347" cy="110606"/>
          </a:xfrm>
          <a:prstGeom prst="rect">
            <a:avLst/>
          </a:prstGeom>
          <a:noFill/>
          <a:ln/>
        </p:spPr>
        <p:txBody>
          <a:bodyPr wrap="square" lIns="0" tIns="0" rIns="0" bIns="0" rtlCol="0" anchor="t"/>
          <a:lstStyle/>
          <a:p>
            <a:pPr indent="0" marL="0">
              <a:buNone/>
            </a:pPr>
            <a:r>
              <a:rPr lang="en-US" sz="600" dirty="0">
                <a:solidFill>
                  <a:schemeClr val="bg2"/>
                </a:solidFill>
              </a:rPr>
              <a:t>2</a:t>
            </a:r>
            <a:endParaRPr lang="en-US" sz="600" dirty="0"/>
          </a:p>
        </p:txBody>
      </p:sp>
      <p:sp>
        <p:nvSpPr>
          <p:cNvPr id="38" name="Text 36"/>
          <p:cNvSpPr txBox="1"/>
          <p:nvPr/>
        </p:nvSpPr>
        <p:spPr>
          <a:xfrm>
            <a:off x="8134502" y="1856817"/>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He</a:t>
            </a:r>
            <a:endParaRPr lang="en-US" sz="1400" dirty="0"/>
          </a:p>
        </p:txBody>
      </p:sp>
      <p:sp>
        <p:nvSpPr>
          <p:cNvPr id="39" name="Tile Li"/>
          <p:cNvSpPr/>
          <p:nvPr/>
        </p:nvSpPr>
        <p:spPr>
          <a:xfrm>
            <a:off x="4754880" y="2287829"/>
            <a:ext cx="438912" cy="460858"/>
          </a:xfrm>
          <a:prstGeom prst="roundRect">
            <a:avLst>
              <a:gd name="adj" fmla="val 12000"/>
            </a:avLst>
          </a:prstGeom>
          <a:solidFill>
            <a:srgbClr val="FF8F5E">
              <a:alpha val="30000"/>
            </a:srgbClr>
          </a:solidFill>
          <a:ln w="19050">
            <a:solidFill>
              <a:srgbClr val="FF8F5E"/>
            </a:solidFill>
            <a:prstDash val="solid"/>
          </a:ln>
        </p:spPr>
      </p:sp>
      <p:sp>
        <p:nvSpPr>
          <p:cNvPr id="40" name="Text 38"/>
          <p:cNvSpPr txBox="1"/>
          <p:nvPr/>
        </p:nvSpPr>
        <p:spPr>
          <a:xfrm>
            <a:off x="4789993"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41" name="Text 39"/>
          <p:cNvSpPr txBox="1"/>
          <p:nvPr/>
        </p:nvSpPr>
        <p:spPr>
          <a:xfrm>
            <a:off x="4754880"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Li</a:t>
            </a:r>
            <a:endParaRPr lang="en-US" sz="1400" dirty="0"/>
          </a:p>
        </p:txBody>
      </p:sp>
      <p:sp>
        <p:nvSpPr>
          <p:cNvPr id="42" name="Tile Be"/>
          <p:cNvSpPr/>
          <p:nvPr/>
        </p:nvSpPr>
        <p:spPr>
          <a:xfrm>
            <a:off x="5237683" y="2287829"/>
            <a:ext cx="438912" cy="460858"/>
          </a:xfrm>
          <a:prstGeom prst="roundRect">
            <a:avLst>
              <a:gd name="adj" fmla="val 12000"/>
            </a:avLst>
          </a:prstGeom>
          <a:solidFill>
            <a:srgbClr val="FFCB5C">
              <a:alpha val="30000"/>
            </a:srgbClr>
          </a:solidFill>
          <a:ln w="19050">
            <a:solidFill>
              <a:srgbClr val="FFCB5C"/>
            </a:solidFill>
            <a:prstDash val="solid"/>
          </a:ln>
        </p:spPr>
      </p:sp>
      <p:sp>
        <p:nvSpPr>
          <p:cNvPr id="43" name="Text 41"/>
          <p:cNvSpPr txBox="1"/>
          <p:nvPr/>
        </p:nvSpPr>
        <p:spPr>
          <a:xfrm>
            <a:off x="5272796"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4</a:t>
            </a:r>
            <a:endParaRPr lang="en-US" sz="600" dirty="0"/>
          </a:p>
        </p:txBody>
      </p:sp>
      <p:sp>
        <p:nvSpPr>
          <p:cNvPr id="44" name="Text 42"/>
          <p:cNvSpPr txBox="1"/>
          <p:nvPr/>
        </p:nvSpPr>
        <p:spPr>
          <a:xfrm>
            <a:off x="5237683"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Be</a:t>
            </a:r>
            <a:endParaRPr lang="en-US" sz="1400" dirty="0"/>
          </a:p>
        </p:txBody>
      </p:sp>
      <p:sp>
        <p:nvSpPr>
          <p:cNvPr id="45" name="Tile B"/>
          <p:cNvSpPr/>
          <p:nvPr/>
        </p:nvSpPr>
        <p:spPr>
          <a:xfrm>
            <a:off x="5720486" y="2287829"/>
            <a:ext cx="438912" cy="460858"/>
          </a:xfrm>
          <a:prstGeom prst="roundRect">
            <a:avLst>
              <a:gd name="adj" fmla="val 12000"/>
            </a:avLst>
          </a:prstGeom>
          <a:solidFill>
            <a:srgbClr val="46C7D8">
              <a:alpha val="30000"/>
            </a:srgbClr>
          </a:solidFill>
          <a:ln w="19050">
            <a:solidFill>
              <a:srgbClr val="46C7D8"/>
            </a:solidFill>
            <a:prstDash val="solid"/>
          </a:ln>
        </p:spPr>
      </p:sp>
      <p:sp>
        <p:nvSpPr>
          <p:cNvPr id="46" name="Text 44"/>
          <p:cNvSpPr txBox="1"/>
          <p:nvPr/>
        </p:nvSpPr>
        <p:spPr>
          <a:xfrm>
            <a:off x="5755599"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5</a:t>
            </a:r>
            <a:endParaRPr lang="en-US" sz="600" dirty="0"/>
          </a:p>
        </p:txBody>
      </p:sp>
      <p:sp>
        <p:nvSpPr>
          <p:cNvPr id="47" name="Text 45"/>
          <p:cNvSpPr txBox="1"/>
          <p:nvPr/>
        </p:nvSpPr>
        <p:spPr>
          <a:xfrm>
            <a:off x="5720486"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48" name="Tile C"/>
          <p:cNvSpPr/>
          <p:nvPr/>
        </p:nvSpPr>
        <p:spPr>
          <a:xfrm>
            <a:off x="6203290" y="2287829"/>
            <a:ext cx="438912" cy="460858"/>
          </a:xfrm>
          <a:prstGeom prst="roundRect">
            <a:avLst>
              <a:gd name="adj" fmla="val 12000"/>
            </a:avLst>
          </a:prstGeom>
          <a:solidFill>
            <a:srgbClr val="45C08F">
              <a:alpha val="30000"/>
            </a:srgbClr>
          </a:solidFill>
          <a:ln w="19050">
            <a:solidFill>
              <a:srgbClr val="45C08F"/>
            </a:solidFill>
            <a:prstDash val="solid"/>
          </a:ln>
        </p:spPr>
      </p:sp>
      <p:sp>
        <p:nvSpPr>
          <p:cNvPr id="49" name="Text 47"/>
          <p:cNvSpPr txBox="1"/>
          <p:nvPr/>
        </p:nvSpPr>
        <p:spPr>
          <a:xfrm>
            <a:off x="6238403"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6</a:t>
            </a:r>
            <a:endParaRPr lang="en-US" sz="600" dirty="0"/>
          </a:p>
        </p:txBody>
      </p:sp>
      <p:sp>
        <p:nvSpPr>
          <p:cNvPr id="50" name="Text 48"/>
          <p:cNvSpPr txBox="1"/>
          <p:nvPr/>
        </p:nvSpPr>
        <p:spPr>
          <a:xfrm>
            <a:off x="6203290"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51" name="Tile N"/>
          <p:cNvSpPr/>
          <p:nvPr/>
        </p:nvSpPr>
        <p:spPr>
          <a:xfrm>
            <a:off x="6686093" y="2287829"/>
            <a:ext cx="438912" cy="460858"/>
          </a:xfrm>
          <a:prstGeom prst="roundRect">
            <a:avLst>
              <a:gd name="adj" fmla="val 12000"/>
            </a:avLst>
          </a:prstGeom>
          <a:solidFill>
            <a:srgbClr val="45C08F">
              <a:alpha val="30000"/>
            </a:srgbClr>
          </a:solidFill>
          <a:ln w="19050">
            <a:solidFill>
              <a:srgbClr val="45C08F"/>
            </a:solidFill>
            <a:prstDash val="solid"/>
          </a:ln>
        </p:spPr>
      </p:sp>
      <p:sp>
        <p:nvSpPr>
          <p:cNvPr id="52" name="Text 50"/>
          <p:cNvSpPr txBox="1"/>
          <p:nvPr/>
        </p:nvSpPr>
        <p:spPr>
          <a:xfrm>
            <a:off x="6721206"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7</a:t>
            </a:r>
            <a:endParaRPr lang="en-US" sz="600" dirty="0"/>
          </a:p>
        </p:txBody>
      </p:sp>
      <p:sp>
        <p:nvSpPr>
          <p:cNvPr id="53" name="Text 51"/>
          <p:cNvSpPr txBox="1"/>
          <p:nvPr/>
        </p:nvSpPr>
        <p:spPr>
          <a:xfrm>
            <a:off x="6686093"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N</a:t>
            </a:r>
            <a:endParaRPr lang="en-US" sz="1400" dirty="0"/>
          </a:p>
        </p:txBody>
      </p:sp>
      <p:sp>
        <p:nvSpPr>
          <p:cNvPr id="54" name="Tile O"/>
          <p:cNvSpPr/>
          <p:nvPr/>
        </p:nvSpPr>
        <p:spPr>
          <a:xfrm>
            <a:off x="7168896" y="2287829"/>
            <a:ext cx="438912" cy="460858"/>
          </a:xfrm>
          <a:prstGeom prst="roundRect">
            <a:avLst>
              <a:gd name="adj" fmla="val 12000"/>
            </a:avLst>
          </a:prstGeom>
          <a:solidFill>
            <a:srgbClr val="45C08F">
              <a:alpha val="30000"/>
            </a:srgbClr>
          </a:solidFill>
          <a:ln w="19050">
            <a:solidFill>
              <a:srgbClr val="45C08F"/>
            </a:solidFill>
            <a:prstDash val="solid"/>
          </a:ln>
        </p:spPr>
      </p:sp>
      <p:sp>
        <p:nvSpPr>
          <p:cNvPr id="55" name="Text 53"/>
          <p:cNvSpPr txBox="1"/>
          <p:nvPr/>
        </p:nvSpPr>
        <p:spPr>
          <a:xfrm>
            <a:off x="7204009"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8</a:t>
            </a:r>
            <a:endParaRPr lang="en-US" sz="600" dirty="0"/>
          </a:p>
        </p:txBody>
      </p:sp>
      <p:sp>
        <p:nvSpPr>
          <p:cNvPr id="56" name="Text 54"/>
          <p:cNvSpPr txBox="1"/>
          <p:nvPr/>
        </p:nvSpPr>
        <p:spPr>
          <a:xfrm>
            <a:off x="7168896"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O</a:t>
            </a:r>
            <a:endParaRPr lang="en-US" sz="1400" dirty="0"/>
          </a:p>
        </p:txBody>
      </p:sp>
      <p:sp>
        <p:nvSpPr>
          <p:cNvPr id="57" name="Tile F"/>
          <p:cNvSpPr/>
          <p:nvPr/>
        </p:nvSpPr>
        <p:spPr>
          <a:xfrm>
            <a:off x="7651699" y="2287829"/>
            <a:ext cx="438912" cy="460858"/>
          </a:xfrm>
          <a:prstGeom prst="roundRect">
            <a:avLst>
              <a:gd name="adj" fmla="val 12000"/>
            </a:avLst>
          </a:prstGeom>
          <a:solidFill>
            <a:srgbClr val="F477B8">
              <a:alpha val="30000"/>
            </a:srgbClr>
          </a:solidFill>
          <a:ln w="19050">
            <a:solidFill>
              <a:srgbClr val="F477B8"/>
            </a:solidFill>
            <a:prstDash val="solid"/>
          </a:ln>
        </p:spPr>
      </p:sp>
      <p:sp>
        <p:nvSpPr>
          <p:cNvPr id="58" name="Text 56"/>
          <p:cNvSpPr txBox="1"/>
          <p:nvPr/>
        </p:nvSpPr>
        <p:spPr>
          <a:xfrm>
            <a:off x="7686812"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9</a:t>
            </a:r>
            <a:endParaRPr lang="en-US" sz="600" dirty="0"/>
          </a:p>
        </p:txBody>
      </p:sp>
      <p:sp>
        <p:nvSpPr>
          <p:cNvPr id="59" name="Text 57"/>
          <p:cNvSpPr txBox="1"/>
          <p:nvPr/>
        </p:nvSpPr>
        <p:spPr>
          <a:xfrm>
            <a:off x="7651699"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60" name="Tile Ne"/>
          <p:cNvSpPr/>
          <p:nvPr/>
        </p:nvSpPr>
        <p:spPr>
          <a:xfrm>
            <a:off x="8134502" y="2287829"/>
            <a:ext cx="438912" cy="460858"/>
          </a:xfrm>
          <a:prstGeom prst="roundRect">
            <a:avLst>
              <a:gd name="adj" fmla="val 12000"/>
            </a:avLst>
          </a:prstGeom>
          <a:solidFill>
            <a:srgbClr val="A084FF">
              <a:alpha val="30000"/>
            </a:srgbClr>
          </a:solidFill>
          <a:ln w="19050">
            <a:solidFill>
              <a:srgbClr val="A084FF"/>
            </a:solidFill>
            <a:prstDash val="solid"/>
          </a:ln>
        </p:spPr>
      </p:sp>
      <p:sp>
        <p:nvSpPr>
          <p:cNvPr id="61" name="Text 59"/>
          <p:cNvSpPr txBox="1"/>
          <p:nvPr/>
        </p:nvSpPr>
        <p:spPr>
          <a:xfrm>
            <a:off x="8169615"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10</a:t>
            </a:r>
            <a:endParaRPr lang="en-US" sz="600" dirty="0"/>
          </a:p>
        </p:txBody>
      </p:sp>
      <p:sp>
        <p:nvSpPr>
          <p:cNvPr id="62" name="Text 60"/>
          <p:cNvSpPr txBox="1"/>
          <p:nvPr/>
        </p:nvSpPr>
        <p:spPr>
          <a:xfrm>
            <a:off x="8134502"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Ne</a:t>
            </a:r>
            <a:endParaRPr lang="en-US" sz="1400" dirty="0"/>
          </a:p>
        </p:txBody>
      </p:sp>
      <p:sp>
        <p:nvSpPr>
          <p:cNvPr id="63" name="Tile Na"/>
          <p:cNvSpPr/>
          <p:nvPr/>
        </p:nvSpPr>
        <p:spPr>
          <a:xfrm>
            <a:off x="4754880" y="2792578"/>
            <a:ext cx="438912" cy="460858"/>
          </a:xfrm>
          <a:prstGeom prst="roundRect">
            <a:avLst>
              <a:gd name="adj" fmla="val 12000"/>
            </a:avLst>
          </a:prstGeom>
          <a:solidFill>
            <a:srgbClr val="FF8F5E">
              <a:alpha val="30000"/>
            </a:srgbClr>
          </a:solidFill>
          <a:ln w="19050">
            <a:solidFill>
              <a:srgbClr val="FF8F5E"/>
            </a:solidFill>
            <a:prstDash val="solid"/>
          </a:ln>
        </p:spPr>
      </p:sp>
      <p:sp>
        <p:nvSpPr>
          <p:cNvPr id="64" name="Text 62"/>
          <p:cNvSpPr txBox="1"/>
          <p:nvPr/>
        </p:nvSpPr>
        <p:spPr>
          <a:xfrm>
            <a:off x="4789993"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65" name="Text 63"/>
          <p:cNvSpPr txBox="1"/>
          <p:nvPr/>
        </p:nvSpPr>
        <p:spPr>
          <a:xfrm>
            <a:off x="4754880"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Na</a:t>
            </a:r>
            <a:endParaRPr lang="en-US" sz="1400" dirty="0"/>
          </a:p>
        </p:txBody>
      </p:sp>
      <p:sp>
        <p:nvSpPr>
          <p:cNvPr id="66" name="Tile Mg"/>
          <p:cNvSpPr/>
          <p:nvPr/>
        </p:nvSpPr>
        <p:spPr>
          <a:xfrm>
            <a:off x="5237683" y="2792578"/>
            <a:ext cx="438912" cy="460858"/>
          </a:xfrm>
          <a:prstGeom prst="roundRect">
            <a:avLst>
              <a:gd name="adj" fmla="val 12000"/>
            </a:avLst>
          </a:prstGeom>
          <a:solidFill>
            <a:srgbClr val="FFCB5C">
              <a:alpha val="30000"/>
            </a:srgbClr>
          </a:solidFill>
          <a:ln w="19050">
            <a:solidFill>
              <a:srgbClr val="FFCB5C"/>
            </a:solidFill>
            <a:prstDash val="solid"/>
          </a:ln>
        </p:spPr>
      </p:sp>
      <p:sp>
        <p:nvSpPr>
          <p:cNvPr id="67" name="Text 65"/>
          <p:cNvSpPr txBox="1"/>
          <p:nvPr/>
        </p:nvSpPr>
        <p:spPr>
          <a:xfrm>
            <a:off x="5272796"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12</a:t>
            </a:r>
            <a:endParaRPr lang="en-US" sz="600" dirty="0"/>
          </a:p>
        </p:txBody>
      </p:sp>
      <p:sp>
        <p:nvSpPr>
          <p:cNvPr id="68" name="Text 66"/>
          <p:cNvSpPr txBox="1"/>
          <p:nvPr/>
        </p:nvSpPr>
        <p:spPr>
          <a:xfrm>
            <a:off x="5237683"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Mg</a:t>
            </a:r>
            <a:endParaRPr lang="en-US" sz="1400" dirty="0"/>
          </a:p>
        </p:txBody>
      </p:sp>
      <p:sp>
        <p:nvSpPr>
          <p:cNvPr id="69" name="Tile Al"/>
          <p:cNvSpPr/>
          <p:nvPr/>
        </p:nvSpPr>
        <p:spPr>
          <a:xfrm>
            <a:off x="5720486" y="2792578"/>
            <a:ext cx="438912" cy="460858"/>
          </a:xfrm>
          <a:prstGeom prst="roundRect">
            <a:avLst>
              <a:gd name="adj" fmla="val 12000"/>
            </a:avLst>
          </a:prstGeom>
          <a:solidFill>
            <a:srgbClr val="8EA8CC">
              <a:alpha val="30000"/>
            </a:srgbClr>
          </a:solidFill>
          <a:ln w="19050">
            <a:solidFill>
              <a:srgbClr val="8EA8CC"/>
            </a:solidFill>
            <a:prstDash val="solid"/>
          </a:ln>
        </p:spPr>
      </p:sp>
      <p:sp>
        <p:nvSpPr>
          <p:cNvPr id="70" name="Text 68"/>
          <p:cNvSpPr txBox="1"/>
          <p:nvPr/>
        </p:nvSpPr>
        <p:spPr>
          <a:xfrm>
            <a:off x="5755599"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13</a:t>
            </a:r>
            <a:endParaRPr lang="en-US" sz="600" dirty="0"/>
          </a:p>
        </p:txBody>
      </p:sp>
      <p:sp>
        <p:nvSpPr>
          <p:cNvPr id="71" name="Text 69"/>
          <p:cNvSpPr txBox="1"/>
          <p:nvPr/>
        </p:nvSpPr>
        <p:spPr>
          <a:xfrm>
            <a:off x="5720486"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Al</a:t>
            </a:r>
            <a:endParaRPr lang="en-US" sz="1400" dirty="0"/>
          </a:p>
        </p:txBody>
      </p:sp>
      <p:sp>
        <p:nvSpPr>
          <p:cNvPr id="72" name="Tile Si"/>
          <p:cNvSpPr/>
          <p:nvPr/>
        </p:nvSpPr>
        <p:spPr>
          <a:xfrm>
            <a:off x="6203290" y="2792578"/>
            <a:ext cx="438912" cy="460858"/>
          </a:xfrm>
          <a:prstGeom prst="roundRect">
            <a:avLst>
              <a:gd name="adj" fmla="val 12000"/>
            </a:avLst>
          </a:prstGeom>
          <a:solidFill>
            <a:srgbClr val="46C7D8">
              <a:alpha val="30000"/>
            </a:srgbClr>
          </a:solidFill>
          <a:ln w="19050">
            <a:solidFill>
              <a:srgbClr val="46C7D8"/>
            </a:solidFill>
            <a:prstDash val="solid"/>
          </a:ln>
        </p:spPr>
      </p:sp>
      <p:sp>
        <p:nvSpPr>
          <p:cNvPr id="73" name="Text 71"/>
          <p:cNvSpPr txBox="1"/>
          <p:nvPr/>
        </p:nvSpPr>
        <p:spPr>
          <a:xfrm>
            <a:off x="6238403"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14</a:t>
            </a:r>
            <a:endParaRPr lang="en-US" sz="600" dirty="0"/>
          </a:p>
        </p:txBody>
      </p:sp>
      <p:sp>
        <p:nvSpPr>
          <p:cNvPr id="74" name="Text 72"/>
          <p:cNvSpPr txBox="1"/>
          <p:nvPr/>
        </p:nvSpPr>
        <p:spPr>
          <a:xfrm>
            <a:off x="6203290"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Si</a:t>
            </a:r>
            <a:endParaRPr lang="en-US" sz="1400" dirty="0"/>
          </a:p>
        </p:txBody>
      </p:sp>
      <p:sp>
        <p:nvSpPr>
          <p:cNvPr id="75" name="Tile P"/>
          <p:cNvSpPr/>
          <p:nvPr/>
        </p:nvSpPr>
        <p:spPr>
          <a:xfrm>
            <a:off x="6686093" y="2792578"/>
            <a:ext cx="438912" cy="460858"/>
          </a:xfrm>
          <a:prstGeom prst="roundRect">
            <a:avLst>
              <a:gd name="adj" fmla="val 12000"/>
            </a:avLst>
          </a:prstGeom>
          <a:solidFill>
            <a:srgbClr val="45C08F">
              <a:alpha val="30000"/>
            </a:srgbClr>
          </a:solidFill>
          <a:ln w="19050">
            <a:solidFill>
              <a:srgbClr val="45C08F"/>
            </a:solidFill>
            <a:prstDash val="solid"/>
          </a:ln>
        </p:spPr>
      </p:sp>
      <p:sp>
        <p:nvSpPr>
          <p:cNvPr id="76" name="Text 74"/>
          <p:cNvSpPr txBox="1"/>
          <p:nvPr/>
        </p:nvSpPr>
        <p:spPr>
          <a:xfrm>
            <a:off x="6721206"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15</a:t>
            </a:r>
            <a:endParaRPr lang="en-US" sz="600" dirty="0"/>
          </a:p>
        </p:txBody>
      </p:sp>
      <p:sp>
        <p:nvSpPr>
          <p:cNvPr id="77" name="Text 75"/>
          <p:cNvSpPr txBox="1"/>
          <p:nvPr/>
        </p:nvSpPr>
        <p:spPr>
          <a:xfrm>
            <a:off x="6686093"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P</a:t>
            </a:r>
            <a:endParaRPr lang="en-US" sz="1400" dirty="0"/>
          </a:p>
        </p:txBody>
      </p:sp>
      <p:sp>
        <p:nvSpPr>
          <p:cNvPr id="78" name="Tile S"/>
          <p:cNvSpPr/>
          <p:nvPr/>
        </p:nvSpPr>
        <p:spPr>
          <a:xfrm>
            <a:off x="7168896" y="2792578"/>
            <a:ext cx="438912" cy="460858"/>
          </a:xfrm>
          <a:prstGeom prst="roundRect">
            <a:avLst>
              <a:gd name="adj" fmla="val 12000"/>
            </a:avLst>
          </a:prstGeom>
          <a:solidFill>
            <a:srgbClr val="45C08F">
              <a:alpha val="30000"/>
            </a:srgbClr>
          </a:solidFill>
          <a:ln w="19050">
            <a:solidFill>
              <a:srgbClr val="45C08F"/>
            </a:solidFill>
            <a:prstDash val="solid"/>
          </a:ln>
        </p:spPr>
      </p:sp>
      <p:sp>
        <p:nvSpPr>
          <p:cNvPr id="79" name="Text 77"/>
          <p:cNvSpPr txBox="1"/>
          <p:nvPr/>
        </p:nvSpPr>
        <p:spPr>
          <a:xfrm>
            <a:off x="7204009"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16</a:t>
            </a:r>
            <a:endParaRPr lang="en-US" sz="600" dirty="0"/>
          </a:p>
        </p:txBody>
      </p:sp>
      <p:sp>
        <p:nvSpPr>
          <p:cNvPr id="80" name="Text 78"/>
          <p:cNvSpPr txBox="1"/>
          <p:nvPr/>
        </p:nvSpPr>
        <p:spPr>
          <a:xfrm>
            <a:off x="7168896"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S</a:t>
            </a:r>
            <a:endParaRPr lang="en-US" sz="1400" dirty="0"/>
          </a:p>
        </p:txBody>
      </p:sp>
      <p:sp>
        <p:nvSpPr>
          <p:cNvPr id="81" name="Tile Cl"/>
          <p:cNvSpPr/>
          <p:nvPr/>
        </p:nvSpPr>
        <p:spPr>
          <a:xfrm>
            <a:off x="7651699" y="2792578"/>
            <a:ext cx="438912" cy="460858"/>
          </a:xfrm>
          <a:prstGeom prst="roundRect">
            <a:avLst>
              <a:gd name="adj" fmla="val 12000"/>
            </a:avLst>
          </a:prstGeom>
          <a:solidFill>
            <a:srgbClr val="F477B8">
              <a:alpha val="30000"/>
            </a:srgbClr>
          </a:solidFill>
          <a:ln w="19050">
            <a:solidFill>
              <a:srgbClr val="F477B8"/>
            </a:solidFill>
            <a:prstDash val="solid"/>
          </a:ln>
        </p:spPr>
      </p:sp>
      <p:sp>
        <p:nvSpPr>
          <p:cNvPr id="82" name="Text 80"/>
          <p:cNvSpPr txBox="1"/>
          <p:nvPr/>
        </p:nvSpPr>
        <p:spPr>
          <a:xfrm>
            <a:off x="7686812"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83" name="Text 81"/>
          <p:cNvSpPr txBox="1"/>
          <p:nvPr/>
        </p:nvSpPr>
        <p:spPr>
          <a:xfrm>
            <a:off x="7651699"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Cl</a:t>
            </a:r>
            <a:endParaRPr lang="en-US" sz="1400" dirty="0"/>
          </a:p>
        </p:txBody>
      </p:sp>
      <p:sp>
        <p:nvSpPr>
          <p:cNvPr id="84" name="Tile Ar"/>
          <p:cNvSpPr/>
          <p:nvPr/>
        </p:nvSpPr>
        <p:spPr>
          <a:xfrm>
            <a:off x="8134502" y="2792578"/>
            <a:ext cx="438912" cy="460858"/>
          </a:xfrm>
          <a:prstGeom prst="roundRect">
            <a:avLst>
              <a:gd name="adj" fmla="val 12000"/>
            </a:avLst>
          </a:prstGeom>
          <a:solidFill>
            <a:srgbClr val="A084FF">
              <a:alpha val="30000"/>
            </a:srgbClr>
          </a:solidFill>
          <a:ln w="19050">
            <a:solidFill>
              <a:srgbClr val="A084FF"/>
            </a:solidFill>
            <a:prstDash val="solid"/>
          </a:ln>
        </p:spPr>
      </p:sp>
      <p:sp>
        <p:nvSpPr>
          <p:cNvPr id="85" name="Text 83"/>
          <p:cNvSpPr txBox="1"/>
          <p:nvPr/>
        </p:nvSpPr>
        <p:spPr>
          <a:xfrm>
            <a:off x="8169615"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18</a:t>
            </a:r>
            <a:endParaRPr lang="en-US" sz="600" dirty="0"/>
          </a:p>
        </p:txBody>
      </p:sp>
      <p:sp>
        <p:nvSpPr>
          <p:cNvPr id="86" name="Text 84"/>
          <p:cNvSpPr txBox="1"/>
          <p:nvPr/>
        </p:nvSpPr>
        <p:spPr>
          <a:xfrm>
            <a:off x="8134502"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Ar</a:t>
            </a:r>
            <a:endParaRPr lang="en-US" sz="1400" dirty="0"/>
          </a:p>
        </p:txBody>
      </p:sp>
      <p:sp>
        <p:nvSpPr>
          <p:cNvPr id="87" name="Tile K"/>
          <p:cNvSpPr/>
          <p:nvPr/>
        </p:nvSpPr>
        <p:spPr>
          <a:xfrm>
            <a:off x="4754880" y="3297326"/>
            <a:ext cx="438912" cy="460858"/>
          </a:xfrm>
          <a:prstGeom prst="roundRect">
            <a:avLst>
              <a:gd name="adj" fmla="val 12000"/>
            </a:avLst>
          </a:prstGeom>
          <a:solidFill>
            <a:srgbClr val="FF8F5E">
              <a:alpha val="30000"/>
            </a:srgbClr>
          </a:solidFill>
          <a:ln w="19050">
            <a:solidFill>
              <a:srgbClr val="FF8F5E"/>
            </a:solidFill>
            <a:prstDash val="solid"/>
          </a:ln>
        </p:spPr>
      </p:sp>
      <p:sp>
        <p:nvSpPr>
          <p:cNvPr id="88" name="Text 86"/>
          <p:cNvSpPr txBox="1"/>
          <p:nvPr/>
        </p:nvSpPr>
        <p:spPr>
          <a:xfrm>
            <a:off x="4789993"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89" name="Text 87"/>
          <p:cNvSpPr txBox="1"/>
          <p:nvPr/>
        </p:nvSpPr>
        <p:spPr>
          <a:xfrm>
            <a:off x="4754880"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K</a:t>
            </a:r>
            <a:endParaRPr lang="en-US" sz="1400" dirty="0"/>
          </a:p>
        </p:txBody>
      </p:sp>
      <p:sp>
        <p:nvSpPr>
          <p:cNvPr id="90" name="Tile Ca"/>
          <p:cNvSpPr/>
          <p:nvPr/>
        </p:nvSpPr>
        <p:spPr>
          <a:xfrm>
            <a:off x="5237683" y="3297326"/>
            <a:ext cx="438912" cy="460858"/>
          </a:xfrm>
          <a:prstGeom prst="roundRect">
            <a:avLst>
              <a:gd name="adj" fmla="val 12000"/>
            </a:avLst>
          </a:prstGeom>
          <a:solidFill>
            <a:srgbClr val="FFCB5C">
              <a:alpha val="30000"/>
            </a:srgbClr>
          </a:solidFill>
          <a:ln w="19050">
            <a:solidFill>
              <a:srgbClr val="FFCB5C"/>
            </a:solidFill>
            <a:prstDash val="solid"/>
          </a:ln>
        </p:spPr>
      </p:sp>
      <p:sp>
        <p:nvSpPr>
          <p:cNvPr id="91" name="Text 89"/>
          <p:cNvSpPr txBox="1"/>
          <p:nvPr/>
        </p:nvSpPr>
        <p:spPr>
          <a:xfrm>
            <a:off x="5272796"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20</a:t>
            </a:r>
            <a:endParaRPr lang="en-US" sz="600" dirty="0"/>
          </a:p>
        </p:txBody>
      </p:sp>
      <p:sp>
        <p:nvSpPr>
          <p:cNvPr id="92" name="Text 90"/>
          <p:cNvSpPr txBox="1"/>
          <p:nvPr/>
        </p:nvSpPr>
        <p:spPr>
          <a:xfrm>
            <a:off x="5237683"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Ca</a:t>
            </a:r>
            <a:endParaRPr lang="en-US" sz="1400" dirty="0"/>
          </a:p>
        </p:txBody>
      </p:sp>
      <p:sp>
        <p:nvSpPr>
          <p:cNvPr id="93" name="Tile Ga"/>
          <p:cNvSpPr/>
          <p:nvPr/>
        </p:nvSpPr>
        <p:spPr>
          <a:xfrm>
            <a:off x="5720486" y="3297326"/>
            <a:ext cx="438912" cy="460858"/>
          </a:xfrm>
          <a:prstGeom prst="roundRect">
            <a:avLst>
              <a:gd name="adj" fmla="val 12000"/>
            </a:avLst>
          </a:prstGeom>
          <a:solidFill>
            <a:srgbClr val="8EA8CC">
              <a:alpha val="30000"/>
            </a:srgbClr>
          </a:solidFill>
          <a:ln w="19050">
            <a:solidFill>
              <a:srgbClr val="8EA8CC"/>
            </a:solidFill>
            <a:prstDash val="solid"/>
          </a:ln>
        </p:spPr>
      </p:sp>
      <p:sp>
        <p:nvSpPr>
          <p:cNvPr id="94" name="Text 92"/>
          <p:cNvSpPr txBox="1"/>
          <p:nvPr/>
        </p:nvSpPr>
        <p:spPr>
          <a:xfrm>
            <a:off x="5755599"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31</a:t>
            </a:r>
            <a:endParaRPr lang="en-US" sz="600" dirty="0"/>
          </a:p>
        </p:txBody>
      </p:sp>
      <p:sp>
        <p:nvSpPr>
          <p:cNvPr id="95" name="Text 93"/>
          <p:cNvSpPr txBox="1"/>
          <p:nvPr/>
        </p:nvSpPr>
        <p:spPr>
          <a:xfrm>
            <a:off x="5720486"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Ga</a:t>
            </a:r>
            <a:endParaRPr lang="en-US" sz="1400" dirty="0"/>
          </a:p>
        </p:txBody>
      </p:sp>
      <p:sp>
        <p:nvSpPr>
          <p:cNvPr id="96" name="Tile Ge"/>
          <p:cNvSpPr/>
          <p:nvPr/>
        </p:nvSpPr>
        <p:spPr>
          <a:xfrm>
            <a:off x="6203290" y="3297326"/>
            <a:ext cx="438912" cy="460858"/>
          </a:xfrm>
          <a:prstGeom prst="roundRect">
            <a:avLst>
              <a:gd name="adj" fmla="val 12000"/>
            </a:avLst>
          </a:prstGeom>
          <a:solidFill>
            <a:srgbClr val="46C7D8">
              <a:alpha val="30000"/>
            </a:srgbClr>
          </a:solidFill>
          <a:ln w="19050">
            <a:solidFill>
              <a:srgbClr val="46C7D8"/>
            </a:solidFill>
            <a:prstDash val="solid"/>
          </a:ln>
        </p:spPr>
      </p:sp>
      <p:sp>
        <p:nvSpPr>
          <p:cNvPr id="97" name="Text 95"/>
          <p:cNvSpPr txBox="1"/>
          <p:nvPr/>
        </p:nvSpPr>
        <p:spPr>
          <a:xfrm>
            <a:off x="6238403"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32</a:t>
            </a:r>
            <a:endParaRPr lang="en-US" sz="600" dirty="0"/>
          </a:p>
        </p:txBody>
      </p:sp>
      <p:sp>
        <p:nvSpPr>
          <p:cNvPr id="98" name="Text 96"/>
          <p:cNvSpPr txBox="1"/>
          <p:nvPr/>
        </p:nvSpPr>
        <p:spPr>
          <a:xfrm>
            <a:off x="6203290"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Ge</a:t>
            </a:r>
            <a:endParaRPr lang="en-US" sz="1400" dirty="0"/>
          </a:p>
        </p:txBody>
      </p:sp>
      <p:sp>
        <p:nvSpPr>
          <p:cNvPr id="99" name="Tile As"/>
          <p:cNvSpPr/>
          <p:nvPr/>
        </p:nvSpPr>
        <p:spPr>
          <a:xfrm>
            <a:off x="6686093" y="3297326"/>
            <a:ext cx="438912" cy="460858"/>
          </a:xfrm>
          <a:prstGeom prst="roundRect">
            <a:avLst>
              <a:gd name="adj" fmla="val 12000"/>
            </a:avLst>
          </a:prstGeom>
          <a:solidFill>
            <a:srgbClr val="46C7D8">
              <a:alpha val="30000"/>
            </a:srgbClr>
          </a:solidFill>
          <a:ln w="19050">
            <a:solidFill>
              <a:srgbClr val="46C7D8"/>
            </a:solidFill>
            <a:prstDash val="solid"/>
          </a:ln>
        </p:spPr>
      </p:sp>
      <p:sp>
        <p:nvSpPr>
          <p:cNvPr id="100" name="Text 98"/>
          <p:cNvSpPr txBox="1"/>
          <p:nvPr/>
        </p:nvSpPr>
        <p:spPr>
          <a:xfrm>
            <a:off x="6721206"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33</a:t>
            </a:r>
            <a:endParaRPr lang="en-US" sz="600" dirty="0"/>
          </a:p>
        </p:txBody>
      </p:sp>
      <p:sp>
        <p:nvSpPr>
          <p:cNvPr id="101" name="Text 99"/>
          <p:cNvSpPr txBox="1"/>
          <p:nvPr/>
        </p:nvSpPr>
        <p:spPr>
          <a:xfrm>
            <a:off x="6686093"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As</a:t>
            </a:r>
            <a:endParaRPr lang="en-US" sz="1400" dirty="0"/>
          </a:p>
        </p:txBody>
      </p:sp>
      <p:sp>
        <p:nvSpPr>
          <p:cNvPr id="102" name="Tile Se"/>
          <p:cNvSpPr/>
          <p:nvPr/>
        </p:nvSpPr>
        <p:spPr>
          <a:xfrm>
            <a:off x="7168896" y="3297326"/>
            <a:ext cx="438912" cy="460858"/>
          </a:xfrm>
          <a:prstGeom prst="roundRect">
            <a:avLst>
              <a:gd name="adj" fmla="val 12000"/>
            </a:avLst>
          </a:prstGeom>
          <a:solidFill>
            <a:srgbClr val="45C08F">
              <a:alpha val="30000"/>
            </a:srgbClr>
          </a:solidFill>
          <a:ln w="19050">
            <a:solidFill>
              <a:srgbClr val="45C08F"/>
            </a:solidFill>
            <a:prstDash val="solid"/>
          </a:ln>
        </p:spPr>
      </p:sp>
      <p:sp>
        <p:nvSpPr>
          <p:cNvPr id="103" name="Text 101"/>
          <p:cNvSpPr txBox="1"/>
          <p:nvPr/>
        </p:nvSpPr>
        <p:spPr>
          <a:xfrm>
            <a:off x="7204009"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34</a:t>
            </a:r>
            <a:endParaRPr lang="en-US" sz="600" dirty="0"/>
          </a:p>
        </p:txBody>
      </p:sp>
      <p:sp>
        <p:nvSpPr>
          <p:cNvPr id="104" name="Text 102"/>
          <p:cNvSpPr txBox="1"/>
          <p:nvPr/>
        </p:nvSpPr>
        <p:spPr>
          <a:xfrm>
            <a:off x="7168896"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Se</a:t>
            </a:r>
            <a:endParaRPr lang="en-US" sz="1400" dirty="0"/>
          </a:p>
        </p:txBody>
      </p:sp>
      <p:sp>
        <p:nvSpPr>
          <p:cNvPr id="105" name="Tile Br"/>
          <p:cNvSpPr/>
          <p:nvPr/>
        </p:nvSpPr>
        <p:spPr>
          <a:xfrm>
            <a:off x="7651699" y="3297326"/>
            <a:ext cx="438912" cy="460858"/>
          </a:xfrm>
          <a:prstGeom prst="roundRect">
            <a:avLst>
              <a:gd name="adj" fmla="val 12000"/>
            </a:avLst>
          </a:prstGeom>
          <a:solidFill>
            <a:srgbClr val="F477B8">
              <a:alpha val="30000"/>
            </a:srgbClr>
          </a:solidFill>
          <a:ln w="19050">
            <a:solidFill>
              <a:srgbClr val="F477B8"/>
            </a:solidFill>
            <a:prstDash val="solid"/>
          </a:ln>
        </p:spPr>
      </p:sp>
      <p:sp>
        <p:nvSpPr>
          <p:cNvPr id="106" name="Text 104"/>
          <p:cNvSpPr txBox="1"/>
          <p:nvPr/>
        </p:nvSpPr>
        <p:spPr>
          <a:xfrm>
            <a:off x="7686812"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35</a:t>
            </a:r>
            <a:endParaRPr lang="en-US" sz="600" dirty="0"/>
          </a:p>
        </p:txBody>
      </p:sp>
      <p:sp>
        <p:nvSpPr>
          <p:cNvPr id="107" name="Text 105"/>
          <p:cNvSpPr txBox="1"/>
          <p:nvPr/>
        </p:nvSpPr>
        <p:spPr>
          <a:xfrm>
            <a:off x="7651699"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Br</a:t>
            </a:r>
            <a:endParaRPr lang="en-US" sz="1400" dirty="0"/>
          </a:p>
        </p:txBody>
      </p:sp>
      <p:sp>
        <p:nvSpPr>
          <p:cNvPr id="108" name="Tile Kr"/>
          <p:cNvSpPr/>
          <p:nvPr/>
        </p:nvSpPr>
        <p:spPr>
          <a:xfrm>
            <a:off x="8134502" y="3297326"/>
            <a:ext cx="438912" cy="460858"/>
          </a:xfrm>
          <a:prstGeom prst="roundRect">
            <a:avLst>
              <a:gd name="adj" fmla="val 12000"/>
            </a:avLst>
          </a:prstGeom>
          <a:solidFill>
            <a:srgbClr val="A084FF">
              <a:alpha val="30000"/>
            </a:srgbClr>
          </a:solidFill>
          <a:ln w="19050">
            <a:solidFill>
              <a:srgbClr val="A084FF"/>
            </a:solidFill>
            <a:prstDash val="solid"/>
          </a:ln>
        </p:spPr>
      </p:sp>
      <p:sp>
        <p:nvSpPr>
          <p:cNvPr id="109" name="Text 107"/>
          <p:cNvSpPr txBox="1"/>
          <p:nvPr/>
        </p:nvSpPr>
        <p:spPr>
          <a:xfrm>
            <a:off x="8169615"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36</a:t>
            </a:r>
            <a:endParaRPr lang="en-US" sz="600" dirty="0"/>
          </a:p>
        </p:txBody>
      </p:sp>
      <p:sp>
        <p:nvSpPr>
          <p:cNvPr id="110" name="Text 108"/>
          <p:cNvSpPr txBox="1"/>
          <p:nvPr/>
        </p:nvSpPr>
        <p:spPr>
          <a:xfrm>
            <a:off x="8134502"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Kr</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tile 1"/>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Li"/>
          <p:cNvSpPr/>
          <p:nvPr/>
        </p:nvSpPr>
        <p:spPr>
          <a:xfrm>
            <a:off x="600512" y="541259"/>
            <a:ext cx="463183" cy="463183"/>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Li</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Table missions</a:t>
            </a:r>
            <a:endParaRPr lang="en-US" sz="2800" dirty="0"/>
          </a:p>
        </p:txBody>
      </p:sp>
      <p:sp>
        <p:nvSpPr>
          <p:cNvPr id="10" name="Text 8"/>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Find each element using periods (rows) and groups (columns).</a:t>
            </a:r>
            <a:endParaRPr lang="en-US" sz="1300" dirty="0"/>
          </a:p>
        </p:txBody>
      </p:sp>
      <p:sp>
        <p:nvSpPr>
          <p:cNvPr id="11" name="Mission 1"/>
          <p:cNvSpPr/>
          <p:nvPr/>
        </p:nvSpPr>
        <p:spPr>
          <a:xfrm>
            <a:off x="457200" y="1691640"/>
            <a:ext cx="3931920" cy="457200"/>
          </a:xfrm>
          <a:prstGeom prst="roundRect">
            <a:avLst>
              <a:gd name="adj" fmla="val 20000"/>
            </a:avLst>
          </a:prstGeom>
          <a:solidFill>
            <a:schemeClr val="tx2"/>
          </a:solidFill>
          <a:ln w="9525">
            <a:solidFill>
              <a:schemeClr val="bg2">
                <a:alpha val="30000"/>
              </a:schemeClr>
            </a:solidFill>
            <a:prstDash val="solid"/>
          </a:ln>
        </p:spPr>
      </p:sp>
      <p:sp>
        <p:nvSpPr>
          <p:cNvPr id="12" name="Text 10"/>
          <p:cNvSpPr txBox="1"/>
          <p:nvPr/>
        </p:nvSpPr>
        <p:spPr>
          <a:xfrm>
            <a:off x="594360" y="1691640"/>
            <a:ext cx="2743200" cy="457200"/>
          </a:xfrm>
          <a:prstGeom prst="rect">
            <a:avLst/>
          </a:prstGeom>
          <a:noFill/>
          <a:ln/>
        </p:spPr>
        <p:txBody>
          <a:bodyPr wrap="square" lIns="0" tIns="0" rIns="0" bIns="0" rtlCol="0" anchor="ctr"/>
          <a:lstStyle/>
          <a:p>
            <a:pPr indent="0" marL="0">
              <a:buNone/>
            </a:pPr>
            <a:r>
              <a:rPr lang="en-US" sz="1400" dirty="0">
                <a:solidFill>
                  <a:schemeClr val="bg1"/>
                </a:solidFill>
              </a:rPr>
              <a:t>1. Period 3, group 1</a:t>
            </a:r>
            <a:endParaRPr lang="en-US" sz="1400" dirty="0"/>
          </a:p>
        </p:txBody>
      </p:sp>
      <p:sp>
        <p:nvSpPr>
          <p:cNvPr id="13" name="Tile Na"/>
          <p:cNvSpPr/>
          <p:nvPr/>
        </p:nvSpPr>
        <p:spPr>
          <a:xfrm>
            <a:off x="3840480" y="1737360"/>
            <a:ext cx="384048" cy="384048"/>
          </a:xfrm>
          <a:prstGeom prst="roundRect">
            <a:avLst>
              <a:gd name="adj" fmla="val 12000"/>
            </a:avLst>
          </a:prstGeom>
          <a:solidFill>
            <a:srgbClr val="FF8F5E">
              <a:alpha val="30000"/>
            </a:srgbClr>
          </a:solidFill>
          <a:ln w="19050">
            <a:solidFill>
              <a:srgbClr val="FF8F5E"/>
            </a:solidFill>
            <a:prstDash val="solid"/>
          </a:ln>
        </p:spPr>
      </p:sp>
      <p:sp>
        <p:nvSpPr>
          <p:cNvPr id="14" name="Text 12"/>
          <p:cNvSpPr txBox="1"/>
          <p:nvPr/>
        </p:nvSpPr>
        <p:spPr>
          <a:xfrm>
            <a:off x="3871204" y="1756562"/>
            <a:ext cx="230429" cy="92172"/>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15" name="Text 13"/>
          <p:cNvSpPr txBox="1"/>
          <p:nvPr/>
        </p:nvSpPr>
        <p:spPr>
          <a:xfrm>
            <a:off x="3840480" y="179880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Na</a:t>
            </a:r>
            <a:endParaRPr lang="en-US" sz="1400" dirty="0"/>
          </a:p>
        </p:txBody>
      </p:sp>
      <p:sp>
        <p:nvSpPr>
          <p:cNvPr id="16" name="Mission 2"/>
          <p:cNvSpPr/>
          <p:nvPr/>
        </p:nvSpPr>
        <p:spPr>
          <a:xfrm>
            <a:off x="457200" y="2240280"/>
            <a:ext cx="3931920" cy="457200"/>
          </a:xfrm>
          <a:prstGeom prst="roundRect">
            <a:avLst>
              <a:gd name="adj" fmla="val 20000"/>
            </a:avLst>
          </a:prstGeom>
          <a:solidFill>
            <a:schemeClr val="tx2"/>
          </a:solidFill>
          <a:ln w="9525">
            <a:solidFill>
              <a:schemeClr val="bg2">
                <a:alpha val="30000"/>
              </a:schemeClr>
            </a:solidFill>
            <a:prstDash val="solid"/>
          </a:ln>
        </p:spPr>
      </p:sp>
      <p:sp>
        <p:nvSpPr>
          <p:cNvPr id="17" name="Text 15"/>
          <p:cNvSpPr txBox="1"/>
          <p:nvPr/>
        </p:nvSpPr>
        <p:spPr>
          <a:xfrm>
            <a:off x="594360" y="2240280"/>
            <a:ext cx="2743200" cy="457200"/>
          </a:xfrm>
          <a:prstGeom prst="rect">
            <a:avLst/>
          </a:prstGeom>
          <a:noFill/>
          <a:ln/>
        </p:spPr>
        <p:txBody>
          <a:bodyPr wrap="square" lIns="0" tIns="0" rIns="0" bIns="0" rtlCol="0" anchor="ctr"/>
          <a:lstStyle/>
          <a:p>
            <a:pPr indent="0" marL="0">
              <a:buNone/>
            </a:pPr>
            <a:r>
              <a:rPr lang="en-US" sz="1400" dirty="0">
                <a:solidFill>
                  <a:schemeClr val="bg1"/>
                </a:solidFill>
              </a:rPr>
              <a:t>2. Period 2, group 17</a:t>
            </a:r>
            <a:endParaRPr lang="en-US" sz="1400" dirty="0"/>
          </a:p>
        </p:txBody>
      </p:sp>
      <p:sp>
        <p:nvSpPr>
          <p:cNvPr id="18" name="Tile F"/>
          <p:cNvSpPr/>
          <p:nvPr/>
        </p:nvSpPr>
        <p:spPr>
          <a:xfrm>
            <a:off x="3840480" y="2286000"/>
            <a:ext cx="384048" cy="384048"/>
          </a:xfrm>
          <a:prstGeom prst="roundRect">
            <a:avLst>
              <a:gd name="adj" fmla="val 12000"/>
            </a:avLst>
          </a:prstGeom>
          <a:solidFill>
            <a:srgbClr val="F477B8">
              <a:alpha val="30000"/>
            </a:srgbClr>
          </a:solidFill>
          <a:ln w="19050">
            <a:solidFill>
              <a:srgbClr val="F477B8"/>
            </a:solidFill>
            <a:prstDash val="solid"/>
          </a:ln>
        </p:spPr>
      </p:sp>
      <p:sp>
        <p:nvSpPr>
          <p:cNvPr id="19" name="Text 17"/>
          <p:cNvSpPr txBox="1"/>
          <p:nvPr/>
        </p:nvSpPr>
        <p:spPr>
          <a:xfrm>
            <a:off x="3871204" y="2305202"/>
            <a:ext cx="230429" cy="92172"/>
          </a:xfrm>
          <a:prstGeom prst="rect">
            <a:avLst/>
          </a:prstGeom>
          <a:noFill/>
          <a:ln/>
        </p:spPr>
        <p:txBody>
          <a:bodyPr wrap="square" lIns="0" tIns="0" rIns="0" bIns="0" rtlCol="0" anchor="t"/>
          <a:lstStyle/>
          <a:p>
            <a:pPr indent="0" marL="0">
              <a:buNone/>
            </a:pPr>
            <a:r>
              <a:rPr lang="en-US" sz="600" dirty="0">
                <a:solidFill>
                  <a:schemeClr val="bg2"/>
                </a:solidFill>
              </a:rPr>
              <a:t>9</a:t>
            </a:r>
            <a:endParaRPr lang="en-US" sz="600" dirty="0"/>
          </a:p>
        </p:txBody>
      </p:sp>
      <p:sp>
        <p:nvSpPr>
          <p:cNvPr id="20" name="Text 18"/>
          <p:cNvSpPr txBox="1"/>
          <p:nvPr/>
        </p:nvSpPr>
        <p:spPr>
          <a:xfrm>
            <a:off x="3840480" y="234744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21" name="Mission 3"/>
          <p:cNvSpPr/>
          <p:nvPr/>
        </p:nvSpPr>
        <p:spPr>
          <a:xfrm>
            <a:off x="457200" y="2788920"/>
            <a:ext cx="3931920" cy="457200"/>
          </a:xfrm>
          <a:prstGeom prst="roundRect">
            <a:avLst>
              <a:gd name="adj" fmla="val 20000"/>
            </a:avLst>
          </a:prstGeom>
          <a:solidFill>
            <a:schemeClr val="tx2"/>
          </a:solidFill>
          <a:ln w="9525">
            <a:solidFill>
              <a:schemeClr val="bg2">
                <a:alpha val="30000"/>
              </a:schemeClr>
            </a:solidFill>
            <a:prstDash val="solid"/>
          </a:ln>
        </p:spPr>
      </p:sp>
      <p:sp>
        <p:nvSpPr>
          <p:cNvPr id="22" name="Text 20"/>
          <p:cNvSpPr txBox="1"/>
          <p:nvPr/>
        </p:nvSpPr>
        <p:spPr>
          <a:xfrm>
            <a:off x="594360" y="2788920"/>
            <a:ext cx="2743200" cy="457200"/>
          </a:xfrm>
          <a:prstGeom prst="rect">
            <a:avLst/>
          </a:prstGeom>
          <a:noFill/>
          <a:ln/>
        </p:spPr>
        <p:txBody>
          <a:bodyPr wrap="square" lIns="0" tIns="0" rIns="0" bIns="0" rtlCol="0" anchor="ctr"/>
          <a:lstStyle/>
          <a:p>
            <a:pPr indent="0" marL="0">
              <a:buNone/>
            </a:pPr>
            <a:r>
              <a:rPr lang="en-US" sz="1400" dirty="0">
                <a:solidFill>
                  <a:schemeClr val="bg1"/>
                </a:solidFill>
              </a:rPr>
              <a:t>3. Period 4, group 2</a:t>
            </a:r>
            <a:endParaRPr lang="en-US" sz="1400" dirty="0"/>
          </a:p>
        </p:txBody>
      </p:sp>
      <p:sp>
        <p:nvSpPr>
          <p:cNvPr id="23" name="Tile Ca"/>
          <p:cNvSpPr/>
          <p:nvPr/>
        </p:nvSpPr>
        <p:spPr>
          <a:xfrm>
            <a:off x="3840480" y="2834640"/>
            <a:ext cx="384048" cy="384048"/>
          </a:xfrm>
          <a:prstGeom prst="roundRect">
            <a:avLst>
              <a:gd name="adj" fmla="val 12000"/>
            </a:avLst>
          </a:prstGeom>
          <a:solidFill>
            <a:srgbClr val="FFCB5C">
              <a:alpha val="30000"/>
            </a:srgbClr>
          </a:solidFill>
          <a:ln w="19050">
            <a:solidFill>
              <a:srgbClr val="FFCB5C"/>
            </a:solidFill>
            <a:prstDash val="solid"/>
          </a:ln>
        </p:spPr>
      </p:sp>
      <p:sp>
        <p:nvSpPr>
          <p:cNvPr id="24" name="Text 22"/>
          <p:cNvSpPr txBox="1"/>
          <p:nvPr/>
        </p:nvSpPr>
        <p:spPr>
          <a:xfrm>
            <a:off x="3871204" y="2853842"/>
            <a:ext cx="230429" cy="92172"/>
          </a:xfrm>
          <a:prstGeom prst="rect">
            <a:avLst/>
          </a:prstGeom>
          <a:noFill/>
          <a:ln/>
        </p:spPr>
        <p:txBody>
          <a:bodyPr wrap="square" lIns="0" tIns="0" rIns="0" bIns="0" rtlCol="0" anchor="t"/>
          <a:lstStyle/>
          <a:p>
            <a:pPr indent="0" marL="0">
              <a:buNone/>
            </a:pPr>
            <a:r>
              <a:rPr lang="en-US" sz="600" dirty="0">
                <a:solidFill>
                  <a:schemeClr val="bg2"/>
                </a:solidFill>
              </a:rPr>
              <a:t>20</a:t>
            </a:r>
            <a:endParaRPr lang="en-US" sz="600" dirty="0"/>
          </a:p>
        </p:txBody>
      </p:sp>
      <p:sp>
        <p:nvSpPr>
          <p:cNvPr id="25" name="Text 23"/>
          <p:cNvSpPr txBox="1"/>
          <p:nvPr/>
        </p:nvSpPr>
        <p:spPr>
          <a:xfrm>
            <a:off x="3840480" y="289608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Ca</a:t>
            </a:r>
            <a:endParaRPr lang="en-US" sz="1400" dirty="0"/>
          </a:p>
        </p:txBody>
      </p:sp>
      <p:sp>
        <p:nvSpPr>
          <p:cNvPr id="26" name="Mission 4"/>
          <p:cNvSpPr/>
          <p:nvPr/>
        </p:nvSpPr>
        <p:spPr>
          <a:xfrm>
            <a:off x="457200" y="3337560"/>
            <a:ext cx="3931920" cy="457200"/>
          </a:xfrm>
          <a:prstGeom prst="roundRect">
            <a:avLst>
              <a:gd name="adj" fmla="val 20000"/>
            </a:avLst>
          </a:prstGeom>
          <a:solidFill>
            <a:schemeClr val="tx2"/>
          </a:solidFill>
          <a:ln w="9525">
            <a:solidFill>
              <a:schemeClr val="bg2">
                <a:alpha val="30000"/>
              </a:schemeClr>
            </a:solidFill>
            <a:prstDash val="solid"/>
          </a:ln>
        </p:spPr>
      </p:sp>
      <p:sp>
        <p:nvSpPr>
          <p:cNvPr id="27" name="Text 25"/>
          <p:cNvSpPr txBox="1"/>
          <p:nvPr/>
        </p:nvSpPr>
        <p:spPr>
          <a:xfrm>
            <a:off x="594360" y="3337560"/>
            <a:ext cx="2743200" cy="457200"/>
          </a:xfrm>
          <a:prstGeom prst="rect">
            <a:avLst/>
          </a:prstGeom>
          <a:noFill/>
          <a:ln/>
        </p:spPr>
        <p:txBody>
          <a:bodyPr wrap="square" lIns="0" tIns="0" rIns="0" bIns="0" rtlCol="0" anchor="ctr"/>
          <a:lstStyle/>
          <a:p>
            <a:pPr indent="0" marL="0">
              <a:buNone/>
            </a:pPr>
            <a:r>
              <a:rPr lang="en-US" sz="1400" dirty="0">
                <a:solidFill>
                  <a:schemeClr val="bg1"/>
                </a:solidFill>
              </a:rPr>
              <a:t>4. Top of group 16</a:t>
            </a:r>
            <a:endParaRPr lang="en-US" sz="1400" dirty="0"/>
          </a:p>
        </p:txBody>
      </p:sp>
      <p:sp>
        <p:nvSpPr>
          <p:cNvPr id="28" name="Tile O"/>
          <p:cNvSpPr/>
          <p:nvPr/>
        </p:nvSpPr>
        <p:spPr>
          <a:xfrm>
            <a:off x="3840480" y="3383280"/>
            <a:ext cx="384048" cy="384048"/>
          </a:xfrm>
          <a:prstGeom prst="roundRect">
            <a:avLst>
              <a:gd name="adj" fmla="val 12000"/>
            </a:avLst>
          </a:prstGeom>
          <a:solidFill>
            <a:srgbClr val="45C08F">
              <a:alpha val="30000"/>
            </a:srgbClr>
          </a:solidFill>
          <a:ln w="19050">
            <a:solidFill>
              <a:srgbClr val="45C08F"/>
            </a:solidFill>
            <a:prstDash val="solid"/>
          </a:ln>
        </p:spPr>
      </p:sp>
      <p:sp>
        <p:nvSpPr>
          <p:cNvPr id="29" name="Text 27"/>
          <p:cNvSpPr txBox="1"/>
          <p:nvPr/>
        </p:nvSpPr>
        <p:spPr>
          <a:xfrm>
            <a:off x="3871204" y="3402482"/>
            <a:ext cx="230429" cy="92172"/>
          </a:xfrm>
          <a:prstGeom prst="rect">
            <a:avLst/>
          </a:prstGeom>
          <a:noFill/>
          <a:ln/>
        </p:spPr>
        <p:txBody>
          <a:bodyPr wrap="square" lIns="0" tIns="0" rIns="0" bIns="0" rtlCol="0" anchor="t"/>
          <a:lstStyle/>
          <a:p>
            <a:pPr indent="0" marL="0">
              <a:buNone/>
            </a:pPr>
            <a:r>
              <a:rPr lang="en-US" sz="600" dirty="0">
                <a:solidFill>
                  <a:schemeClr val="bg2"/>
                </a:solidFill>
              </a:rPr>
              <a:t>8</a:t>
            </a:r>
            <a:endParaRPr lang="en-US" sz="600" dirty="0"/>
          </a:p>
        </p:txBody>
      </p:sp>
      <p:sp>
        <p:nvSpPr>
          <p:cNvPr id="30" name="Text 28"/>
          <p:cNvSpPr txBox="1"/>
          <p:nvPr/>
        </p:nvSpPr>
        <p:spPr>
          <a:xfrm>
            <a:off x="3840480" y="344472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O</a:t>
            </a:r>
            <a:endParaRPr lang="en-US" sz="1400" dirty="0"/>
          </a:p>
        </p:txBody>
      </p:sp>
      <p:sp>
        <p:nvSpPr>
          <p:cNvPr id="31" name="Mission 5"/>
          <p:cNvSpPr/>
          <p:nvPr/>
        </p:nvSpPr>
        <p:spPr>
          <a:xfrm>
            <a:off x="457200" y="3886200"/>
            <a:ext cx="3931920" cy="457200"/>
          </a:xfrm>
          <a:prstGeom prst="roundRect">
            <a:avLst>
              <a:gd name="adj" fmla="val 20000"/>
            </a:avLst>
          </a:prstGeom>
          <a:solidFill>
            <a:schemeClr val="tx2"/>
          </a:solidFill>
          <a:ln w="9525">
            <a:solidFill>
              <a:schemeClr val="bg2">
                <a:alpha val="30000"/>
              </a:schemeClr>
            </a:solidFill>
            <a:prstDash val="solid"/>
          </a:ln>
        </p:spPr>
      </p:sp>
      <p:sp>
        <p:nvSpPr>
          <p:cNvPr id="32" name="Text 30"/>
          <p:cNvSpPr txBox="1"/>
          <p:nvPr/>
        </p:nvSpPr>
        <p:spPr>
          <a:xfrm>
            <a:off x="594360" y="3886200"/>
            <a:ext cx="2743200" cy="457200"/>
          </a:xfrm>
          <a:prstGeom prst="rect">
            <a:avLst/>
          </a:prstGeom>
          <a:noFill/>
          <a:ln/>
        </p:spPr>
        <p:txBody>
          <a:bodyPr wrap="square" lIns="0" tIns="0" rIns="0" bIns="0" rtlCol="0" anchor="ctr"/>
          <a:lstStyle/>
          <a:p>
            <a:pPr indent="0" marL="0">
              <a:buNone/>
            </a:pPr>
            <a:r>
              <a:rPr lang="en-US" sz="1400" dirty="0">
                <a:solidFill>
                  <a:schemeClr val="bg1"/>
                </a:solidFill>
              </a:rPr>
              <a:t>5. Last element in period 3</a:t>
            </a:r>
            <a:endParaRPr lang="en-US" sz="1400" dirty="0"/>
          </a:p>
        </p:txBody>
      </p:sp>
      <p:sp>
        <p:nvSpPr>
          <p:cNvPr id="33" name="Tile Ar"/>
          <p:cNvSpPr/>
          <p:nvPr/>
        </p:nvSpPr>
        <p:spPr>
          <a:xfrm>
            <a:off x="3840480" y="3931920"/>
            <a:ext cx="384048" cy="384048"/>
          </a:xfrm>
          <a:prstGeom prst="roundRect">
            <a:avLst>
              <a:gd name="adj" fmla="val 12000"/>
            </a:avLst>
          </a:prstGeom>
          <a:solidFill>
            <a:srgbClr val="A084FF">
              <a:alpha val="30000"/>
            </a:srgbClr>
          </a:solidFill>
          <a:ln w="19050">
            <a:solidFill>
              <a:srgbClr val="A084FF"/>
            </a:solidFill>
            <a:prstDash val="solid"/>
          </a:ln>
        </p:spPr>
      </p:sp>
      <p:sp>
        <p:nvSpPr>
          <p:cNvPr id="34" name="Text 32"/>
          <p:cNvSpPr txBox="1"/>
          <p:nvPr/>
        </p:nvSpPr>
        <p:spPr>
          <a:xfrm>
            <a:off x="3871204" y="3951122"/>
            <a:ext cx="230429" cy="92172"/>
          </a:xfrm>
          <a:prstGeom prst="rect">
            <a:avLst/>
          </a:prstGeom>
          <a:noFill/>
          <a:ln/>
        </p:spPr>
        <p:txBody>
          <a:bodyPr wrap="square" lIns="0" tIns="0" rIns="0" bIns="0" rtlCol="0" anchor="t"/>
          <a:lstStyle/>
          <a:p>
            <a:pPr indent="0" marL="0">
              <a:buNone/>
            </a:pPr>
            <a:r>
              <a:rPr lang="en-US" sz="600" dirty="0">
                <a:solidFill>
                  <a:schemeClr val="bg2"/>
                </a:solidFill>
              </a:rPr>
              <a:t>18</a:t>
            </a:r>
            <a:endParaRPr lang="en-US" sz="600" dirty="0"/>
          </a:p>
        </p:txBody>
      </p:sp>
      <p:sp>
        <p:nvSpPr>
          <p:cNvPr id="35" name="Text 33"/>
          <p:cNvSpPr txBox="1"/>
          <p:nvPr/>
        </p:nvSpPr>
        <p:spPr>
          <a:xfrm>
            <a:off x="3840480" y="399336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Ar</a:t>
            </a:r>
            <a:endParaRPr lang="en-US" sz="1400" dirty="0"/>
          </a:p>
        </p:txBody>
      </p:sp>
      <p:sp>
        <p:nvSpPr>
          <p:cNvPr id="36" name="Text 34"/>
          <p:cNvSpPr txBox="1"/>
          <p:nvPr/>
        </p:nvSpPr>
        <p:spPr>
          <a:xfrm>
            <a:off x="4754880"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a:t>
            </a:r>
            <a:endParaRPr lang="en-US" sz="800" dirty="0"/>
          </a:p>
        </p:txBody>
      </p:sp>
      <p:sp>
        <p:nvSpPr>
          <p:cNvPr id="37" name="Text 35"/>
          <p:cNvSpPr txBox="1"/>
          <p:nvPr/>
        </p:nvSpPr>
        <p:spPr>
          <a:xfrm>
            <a:off x="5237683"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2</a:t>
            </a:r>
            <a:endParaRPr lang="en-US" sz="800" dirty="0"/>
          </a:p>
        </p:txBody>
      </p:sp>
      <p:sp>
        <p:nvSpPr>
          <p:cNvPr id="38" name="Text 36"/>
          <p:cNvSpPr txBox="1"/>
          <p:nvPr/>
        </p:nvSpPr>
        <p:spPr>
          <a:xfrm>
            <a:off x="5720486"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13</a:t>
            </a:r>
            <a:endParaRPr lang="en-US" sz="800" dirty="0"/>
          </a:p>
        </p:txBody>
      </p:sp>
      <p:sp>
        <p:nvSpPr>
          <p:cNvPr id="39" name="Text 37"/>
          <p:cNvSpPr txBox="1"/>
          <p:nvPr/>
        </p:nvSpPr>
        <p:spPr>
          <a:xfrm>
            <a:off x="6203290"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14</a:t>
            </a:r>
            <a:endParaRPr lang="en-US" sz="800" dirty="0"/>
          </a:p>
        </p:txBody>
      </p:sp>
      <p:sp>
        <p:nvSpPr>
          <p:cNvPr id="40" name="Text 38"/>
          <p:cNvSpPr txBox="1"/>
          <p:nvPr/>
        </p:nvSpPr>
        <p:spPr>
          <a:xfrm>
            <a:off x="6686093"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15</a:t>
            </a:r>
            <a:endParaRPr lang="en-US" sz="800" dirty="0"/>
          </a:p>
        </p:txBody>
      </p:sp>
      <p:sp>
        <p:nvSpPr>
          <p:cNvPr id="41" name="Text 39"/>
          <p:cNvSpPr txBox="1"/>
          <p:nvPr/>
        </p:nvSpPr>
        <p:spPr>
          <a:xfrm>
            <a:off x="7168896"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16</a:t>
            </a:r>
            <a:endParaRPr lang="en-US" sz="800" dirty="0"/>
          </a:p>
        </p:txBody>
      </p:sp>
      <p:sp>
        <p:nvSpPr>
          <p:cNvPr id="42" name="Text 40"/>
          <p:cNvSpPr txBox="1"/>
          <p:nvPr/>
        </p:nvSpPr>
        <p:spPr>
          <a:xfrm>
            <a:off x="7651699"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17</a:t>
            </a:r>
            <a:endParaRPr lang="en-US" sz="800" dirty="0"/>
          </a:p>
        </p:txBody>
      </p:sp>
      <p:sp>
        <p:nvSpPr>
          <p:cNvPr id="43" name="Text 41"/>
          <p:cNvSpPr txBox="1"/>
          <p:nvPr/>
        </p:nvSpPr>
        <p:spPr>
          <a:xfrm>
            <a:off x="8134502"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18</a:t>
            </a:r>
            <a:endParaRPr lang="en-US" sz="800" dirty="0"/>
          </a:p>
        </p:txBody>
      </p:sp>
      <p:sp>
        <p:nvSpPr>
          <p:cNvPr id="44" name="Tile H"/>
          <p:cNvSpPr/>
          <p:nvPr/>
        </p:nvSpPr>
        <p:spPr>
          <a:xfrm>
            <a:off x="4754880" y="1783080"/>
            <a:ext cx="438912" cy="460858"/>
          </a:xfrm>
          <a:prstGeom prst="roundRect">
            <a:avLst>
              <a:gd name="adj" fmla="val 12000"/>
            </a:avLst>
          </a:prstGeom>
          <a:solidFill>
            <a:srgbClr val="45C08F">
              <a:alpha val="30000"/>
            </a:srgbClr>
          </a:solidFill>
          <a:ln w="19050">
            <a:solidFill>
              <a:srgbClr val="45C08F"/>
            </a:solidFill>
            <a:prstDash val="solid"/>
          </a:ln>
        </p:spPr>
      </p:sp>
      <p:sp>
        <p:nvSpPr>
          <p:cNvPr id="45" name="Text 43"/>
          <p:cNvSpPr txBox="1"/>
          <p:nvPr/>
        </p:nvSpPr>
        <p:spPr>
          <a:xfrm>
            <a:off x="4789993" y="1806123"/>
            <a:ext cx="263347" cy="110606"/>
          </a:xfrm>
          <a:prstGeom prst="rect">
            <a:avLst/>
          </a:prstGeom>
          <a:noFill/>
          <a:ln/>
        </p:spPr>
        <p:txBody>
          <a:bodyPr wrap="square" lIns="0" tIns="0" rIns="0" bIns="0" rtlCol="0" anchor="t"/>
          <a:lstStyle/>
          <a:p>
            <a:pPr indent="0" marL="0">
              <a:buNone/>
            </a:pPr>
            <a:r>
              <a:rPr lang="en-US" sz="600" dirty="0">
                <a:solidFill>
                  <a:schemeClr val="bg2"/>
                </a:solidFill>
              </a:rPr>
              <a:t>1</a:t>
            </a:r>
            <a:endParaRPr lang="en-US" sz="600" dirty="0"/>
          </a:p>
        </p:txBody>
      </p:sp>
      <p:sp>
        <p:nvSpPr>
          <p:cNvPr id="46" name="Text 44"/>
          <p:cNvSpPr txBox="1"/>
          <p:nvPr/>
        </p:nvSpPr>
        <p:spPr>
          <a:xfrm>
            <a:off x="4754880" y="1856817"/>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H</a:t>
            </a:r>
            <a:endParaRPr lang="en-US" sz="1400" dirty="0"/>
          </a:p>
        </p:txBody>
      </p:sp>
      <p:sp>
        <p:nvSpPr>
          <p:cNvPr id="47" name="Tile He"/>
          <p:cNvSpPr/>
          <p:nvPr/>
        </p:nvSpPr>
        <p:spPr>
          <a:xfrm>
            <a:off x="8134502" y="1783080"/>
            <a:ext cx="438912" cy="460858"/>
          </a:xfrm>
          <a:prstGeom prst="roundRect">
            <a:avLst>
              <a:gd name="adj" fmla="val 12000"/>
            </a:avLst>
          </a:prstGeom>
          <a:solidFill>
            <a:srgbClr val="A084FF">
              <a:alpha val="30000"/>
            </a:srgbClr>
          </a:solidFill>
          <a:ln w="19050">
            <a:solidFill>
              <a:srgbClr val="A084FF"/>
            </a:solidFill>
            <a:prstDash val="solid"/>
          </a:ln>
        </p:spPr>
      </p:sp>
      <p:sp>
        <p:nvSpPr>
          <p:cNvPr id="48" name="Text 46"/>
          <p:cNvSpPr txBox="1"/>
          <p:nvPr/>
        </p:nvSpPr>
        <p:spPr>
          <a:xfrm>
            <a:off x="8169615" y="1806123"/>
            <a:ext cx="263347" cy="110606"/>
          </a:xfrm>
          <a:prstGeom prst="rect">
            <a:avLst/>
          </a:prstGeom>
          <a:noFill/>
          <a:ln/>
        </p:spPr>
        <p:txBody>
          <a:bodyPr wrap="square" lIns="0" tIns="0" rIns="0" bIns="0" rtlCol="0" anchor="t"/>
          <a:lstStyle/>
          <a:p>
            <a:pPr indent="0" marL="0">
              <a:buNone/>
            </a:pPr>
            <a:r>
              <a:rPr lang="en-US" sz="600" dirty="0">
                <a:solidFill>
                  <a:schemeClr val="bg2"/>
                </a:solidFill>
              </a:rPr>
              <a:t>2</a:t>
            </a:r>
            <a:endParaRPr lang="en-US" sz="600" dirty="0"/>
          </a:p>
        </p:txBody>
      </p:sp>
      <p:sp>
        <p:nvSpPr>
          <p:cNvPr id="49" name="Text 47"/>
          <p:cNvSpPr txBox="1"/>
          <p:nvPr/>
        </p:nvSpPr>
        <p:spPr>
          <a:xfrm>
            <a:off x="8134502" y="1856817"/>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He</a:t>
            </a:r>
            <a:endParaRPr lang="en-US" sz="1400" dirty="0"/>
          </a:p>
        </p:txBody>
      </p:sp>
      <p:sp>
        <p:nvSpPr>
          <p:cNvPr id="50" name="Tile Li"/>
          <p:cNvSpPr/>
          <p:nvPr/>
        </p:nvSpPr>
        <p:spPr>
          <a:xfrm>
            <a:off x="4754880" y="2287829"/>
            <a:ext cx="438912" cy="460858"/>
          </a:xfrm>
          <a:prstGeom prst="roundRect">
            <a:avLst>
              <a:gd name="adj" fmla="val 12000"/>
            </a:avLst>
          </a:prstGeom>
          <a:solidFill>
            <a:srgbClr val="FF8F5E">
              <a:alpha val="30000"/>
            </a:srgbClr>
          </a:solidFill>
          <a:ln w="19050">
            <a:solidFill>
              <a:srgbClr val="FF8F5E"/>
            </a:solidFill>
            <a:prstDash val="solid"/>
          </a:ln>
        </p:spPr>
      </p:sp>
      <p:sp>
        <p:nvSpPr>
          <p:cNvPr id="51" name="Text 49"/>
          <p:cNvSpPr txBox="1"/>
          <p:nvPr/>
        </p:nvSpPr>
        <p:spPr>
          <a:xfrm>
            <a:off x="4789993"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52" name="Text 50"/>
          <p:cNvSpPr txBox="1"/>
          <p:nvPr/>
        </p:nvSpPr>
        <p:spPr>
          <a:xfrm>
            <a:off x="4754880"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Li</a:t>
            </a:r>
            <a:endParaRPr lang="en-US" sz="1400" dirty="0"/>
          </a:p>
        </p:txBody>
      </p:sp>
      <p:sp>
        <p:nvSpPr>
          <p:cNvPr id="53" name="Tile Be"/>
          <p:cNvSpPr/>
          <p:nvPr/>
        </p:nvSpPr>
        <p:spPr>
          <a:xfrm>
            <a:off x="5237683" y="2287829"/>
            <a:ext cx="438912" cy="460858"/>
          </a:xfrm>
          <a:prstGeom prst="roundRect">
            <a:avLst>
              <a:gd name="adj" fmla="val 12000"/>
            </a:avLst>
          </a:prstGeom>
          <a:solidFill>
            <a:srgbClr val="FFCB5C">
              <a:alpha val="30000"/>
            </a:srgbClr>
          </a:solidFill>
          <a:ln w="19050">
            <a:solidFill>
              <a:srgbClr val="FFCB5C"/>
            </a:solidFill>
            <a:prstDash val="solid"/>
          </a:ln>
        </p:spPr>
      </p:sp>
      <p:sp>
        <p:nvSpPr>
          <p:cNvPr id="54" name="Text 52"/>
          <p:cNvSpPr txBox="1"/>
          <p:nvPr/>
        </p:nvSpPr>
        <p:spPr>
          <a:xfrm>
            <a:off x="5272796"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4</a:t>
            </a:r>
            <a:endParaRPr lang="en-US" sz="600" dirty="0"/>
          </a:p>
        </p:txBody>
      </p:sp>
      <p:sp>
        <p:nvSpPr>
          <p:cNvPr id="55" name="Text 53"/>
          <p:cNvSpPr txBox="1"/>
          <p:nvPr/>
        </p:nvSpPr>
        <p:spPr>
          <a:xfrm>
            <a:off x="5237683"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Be</a:t>
            </a:r>
            <a:endParaRPr lang="en-US" sz="1400" dirty="0"/>
          </a:p>
        </p:txBody>
      </p:sp>
      <p:sp>
        <p:nvSpPr>
          <p:cNvPr id="56" name="Tile B"/>
          <p:cNvSpPr/>
          <p:nvPr/>
        </p:nvSpPr>
        <p:spPr>
          <a:xfrm>
            <a:off x="5720486" y="2287829"/>
            <a:ext cx="438912" cy="460858"/>
          </a:xfrm>
          <a:prstGeom prst="roundRect">
            <a:avLst>
              <a:gd name="adj" fmla="val 12000"/>
            </a:avLst>
          </a:prstGeom>
          <a:solidFill>
            <a:srgbClr val="46C7D8">
              <a:alpha val="30000"/>
            </a:srgbClr>
          </a:solidFill>
          <a:ln w="19050">
            <a:solidFill>
              <a:srgbClr val="46C7D8"/>
            </a:solidFill>
            <a:prstDash val="solid"/>
          </a:ln>
        </p:spPr>
      </p:sp>
      <p:sp>
        <p:nvSpPr>
          <p:cNvPr id="57" name="Text 55"/>
          <p:cNvSpPr txBox="1"/>
          <p:nvPr/>
        </p:nvSpPr>
        <p:spPr>
          <a:xfrm>
            <a:off x="5755599"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5</a:t>
            </a:r>
            <a:endParaRPr lang="en-US" sz="600" dirty="0"/>
          </a:p>
        </p:txBody>
      </p:sp>
      <p:sp>
        <p:nvSpPr>
          <p:cNvPr id="58" name="Text 56"/>
          <p:cNvSpPr txBox="1"/>
          <p:nvPr/>
        </p:nvSpPr>
        <p:spPr>
          <a:xfrm>
            <a:off x="5720486"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59" name="Tile C"/>
          <p:cNvSpPr/>
          <p:nvPr/>
        </p:nvSpPr>
        <p:spPr>
          <a:xfrm>
            <a:off x="6203290" y="2287829"/>
            <a:ext cx="438912" cy="460858"/>
          </a:xfrm>
          <a:prstGeom prst="roundRect">
            <a:avLst>
              <a:gd name="adj" fmla="val 12000"/>
            </a:avLst>
          </a:prstGeom>
          <a:solidFill>
            <a:srgbClr val="45C08F">
              <a:alpha val="30000"/>
            </a:srgbClr>
          </a:solidFill>
          <a:ln w="19050">
            <a:solidFill>
              <a:srgbClr val="45C08F"/>
            </a:solidFill>
            <a:prstDash val="solid"/>
          </a:ln>
        </p:spPr>
      </p:sp>
      <p:sp>
        <p:nvSpPr>
          <p:cNvPr id="60" name="Text 58"/>
          <p:cNvSpPr txBox="1"/>
          <p:nvPr/>
        </p:nvSpPr>
        <p:spPr>
          <a:xfrm>
            <a:off x="6238403"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6</a:t>
            </a:r>
            <a:endParaRPr lang="en-US" sz="600" dirty="0"/>
          </a:p>
        </p:txBody>
      </p:sp>
      <p:sp>
        <p:nvSpPr>
          <p:cNvPr id="61" name="Text 59"/>
          <p:cNvSpPr txBox="1"/>
          <p:nvPr/>
        </p:nvSpPr>
        <p:spPr>
          <a:xfrm>
            <a:off x="6203290"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62" name="Tile N"/>
          <p:cNvSpPr/>
          <p:nvPr/>
        </p:nvSpPr>
        <p:spPr>
          <a:xfrm>
            <a:off x="6686093" y="2287829"/>
            <a:ext cx="438912" cy="460858"/>
          </a:xfrm>
          <a:prstGeom prst="roundRect">
            <a:avLst>
              <a:gd name="adj" fmla="val 12000"/>
            </a:avLst>
          </a:prstGeom>
          <a:solidFill>
            <a:srgbClr val="45C08F">
              <a:alpha val="30000"/>
            </a:srgbClr>
          </a:solidFill>
          <a:ln w="19050">
            <a:solidFill>
              <a:srgbClr val="45C08F"/>
            </a:solidFill>
            <a:prstDash val="solid"/>
          </a:ln>
        </p:spPr>
      </p:sp>
      <p:sp>
        <p:nvSpPr>
          <p:cNvPr id="63" name="Text 61"/>
          <p:cNvSpPr txBox="1"/>
          <p:nvPr/>
        </p:nvSpPr>
        <p:spPr>
          <a:xfrm>
            <a:off x="6721206"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7</a:t>
            </a:r>
            <a:endParaRPr lang="en-US" sz="600" dirty="0"/>
          </a:p>
        </p:txBody>
      </p:sp>
      <p:sp>
        <p:nvSpPr>
          <p:cNvPr id="64" name="Text 62"/>
          <p:cNvSpPr txBox="1"/>
          <p:nvPr/>
        </p:nvSpPr>
        <p:spPr>
          <a:xfrm>
            <a:off x="6686093"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N</a:t>
            </a:r>
            <a:endParaRPr lang="en-US" sz="1400" dirty="0"/>
          </a:p>
        </p:txBody>
      </p:sp>
      <p:sp>
        <p:nvSpPr>
          <p:cNvPr id="65" name="Tile O"/>
          <p:cNvSpPr/>
          <p:nvPr/>
        </p:nvSpPr>
        <p:spPr>
          <a:xfrm>
            <a:off x="7168896" y="2287829"/>
            <a:ext cx="438912" cy="460858"/>
          </a:xfrm>
          <a:prstGeom prst="roundRect">
            <a:avLst>
              <a:gd name="adj" fmla="val 12000"/>
            </a:avLst>
          </a:prstGeom>
          <a:solidFill>
            <a:srgbClr val="45C08F">
              <a:alpha val="30000"/>
            </a:srgbClr>
          </a:solidFill>
          <a:ln w="19050">
            <a:solidFill>
              <a:srgbClr val="45C08F"/>
            </a:solidFill>
            <a:prstDash val="solid"/>
          </a:ln>
        </p:spPr>
      </p:sp>
      <p:sp>
        <p:nvSpPr>
          <p:cNvPr id="66" name="Text 64"/>
          <p:cNvSpPr txBox="1"/>
          <p:nvPr/>
        </p:nvSpPr>
        <p:spPr>
          <a:xfrm>
            <a:off x="7204009"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8</a:t>
            </a:r>
            <a:endParaRPr lang="en-US" sz="600" dirty="0"/>
          </a:p>
        </p:txBody>
      </p:sp>
      <p:sp>
        <p:nvSpPr>
          <p:cNvPr id="67" name="Text 65"/>
          <p:cNvSpPr txBox="1"/>
          <p:nvPr/>
        </p:nvSpPr>
        <p:spPr>
          <a:xfrm>
            <a:off x="7168896"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O</a:t>
            </a:r>
            <a:endParaRPr lang="en-US" sz="1400" dirty="0"/>
          </a:p>
        </p:txBody>
      </p:sp>
      <p:sp>
        <p:nvSpPr>
          <p:cNvPr id="68" name="Highlight O"/>
          <p:cNvSpPr/>
          <p:nvPr/>
        </p:nvSpPr>
        <p:spPr>
          <a:xfrm>
            <a:off x="7132320" y="2251253"/>
            <a:ext cx="512064" cy="534010"/>
          </a:xfrm>
          <a:prstGeom prst="roundRect">
            <a:avLst>
              <a:gd name="adj" fmla="val 12857"/>
            </a:avLst>
          </a:prstGeom>
          <a:ln w="31750">
            <a:solidFill>
              <a:schemeClr val="accent2"/>
            </a:solidFill>
            <a:prstDash val="solid"/>
          </a:ln>
        </p:spPr>
      </p:sp>
      <p:sp>
        <p:nvSpPr>
          <p:cNvPr id="69" name="Tile F"/>
          <p:cNvSpPr/>
          <p:nvPr/>
        </p:nvSpPr>
        <p:spPr>
          <a:xfrm>
            <a:off x="7651699" y="2287829"/>
            <a:ext cx="438912" cy="460858"/>
          </a:xfrm>
          <a:prstGeom prst="roundRect">
            <a:avLst>
              <a:gd name="adj" fmla="val 12000"/>
            </a:avLst>
          </a:prstGeom>
          <a:solidFill>
            <a:srgbClr val="F477B8">
              <a:alpha val="30000"/>
            </a:srgbClr>
          </a:solidFill>
          <a:ln w="19050">
            <a:solidFill>
              <a:srgbClr val="F477B8"/>
            </a:solidFill>
            <a:prstDash val="solid"/>
          </a:ln>
        </p:spPr>
      </p:sp>
      <p:sp>
        <p:nvSpPr>
          <p:cNvPr id="70" name="Text 68"/>
          <p:cNvSpPr txBox="1"/>
          <p:nvPr/>
        </p:nvSpPr>
        <p:spPr>
          <a:xfrm>
            <a:off x="7686812"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9</a:t>
            </a:r>
            <a:endParaRPr lang="en-US" sz="600" dirty="0"/>
          </a:p>
        </p:txBody>
      </p:sp>
      <p:sp>
        <p:nvSpPr>
          <p:cNvPr id="71" name="Text 69"/>
          <p:cNvSpPr txBox="1"/>
          <p:nvPr/>
        </p:nvSpPr>
        <p:spPr>
          <a:xfrm>
            <a:off x="7651699"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72" name="Highlight F"/>
          <p:cNvSpPr/>
          <p:nvPr/>
        </p:nvSpPr>
        <p:spPr>
          <a:xfrm>
            <a:off x="7615123" y="2251253"/>
            <a:ext cx="512064" cy="534010"/>
          </a:xfrm>
          <a:prstGeom prst="roundRect">
            <a:avLst>
              <a:gd name="adj" fmla="val 12857"/>
            </a:avLst>
          </a:prstGeom>
          <a:ln w="31750">
            <a:solidFill>
              <a:schemeClr val="accent2"/>
            </a:solidFill>
            <a:prstDash val="solid"/>
          </a:ln>
        </p:spPr>
      </p:sp>
      <p:sp>
        <p:nvSpPr>
          <p:cNvPr id="73" name="Tile Ne"/>
          <p:cNvSpPr/>
          <p:nvPr/>
        </p:nvSpPr>
        <p:spPr>
          <a:xfrm>
            <a:off x="8134502" y="2287829"/>
            <a:ext cx="438912" cy="460858"/>
          </a:xfrm>
          <a:prstGeom prst="roundRect">
            <a:avLst>
              <a:gd name="adj" fmla="val 12000"/>
            </a:avLst>
          </a:prstGeom>
          <a:solidFill>
            <a:srgbClr val="A084FF">
              <a:alpha val="30000"/>
            </a:srgbClr>
          </a:solidFill>
          <a:ln w="19050">
            <a:solidFill>
              <a:srgbClr val="A084FF"/>
            </a:solidFill>
            <a:prstDash val="solid"/>
          </a:ln>
        </p:spPr>
      </p:sp>
      <p:sp>
        <p:nvSpPr>
          <p:cNvPr id="74" name="Text 72"/>
          <p:cNvSpPr txBox="1"/>
          <p:nvPr/>
        </p:nvSpPr>
        <p:spPr>
          <a:xfrm>
            <a:off x="8169615"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10</a:t>
            </a:r>
            <a:endParaRPr lang="en-US" sz="600" dirty="0"/>
          </a:p>
        </p:txBody>
      </p:sp>
      <p:sp>
        <p:nvSpPr>
          <p:cNvPr id="75" name="Text 73"/>
          <p:cNvSpPr txBox="1"/>
          <p:nvPr/>
        </p:nvSpPr>
        <p:spPr>
          <a:xfrm>
            <a:off x="8134502"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Ne</a:t>
            </a:r>
            <a:endParaRPr lang="en-US" sz="1400" dirty="0"/>
          </a:p>
        </p:txBody>
      </p:sp>
      <p:sp>
        <p:nvSpPr>
          <p:cNvPr id="76" name="Tile Na"/>
          <p:cNvSpPr/>
          <p:nvPr/>
        </p:nvSpPr>
        <p:spPr>
          <a:xfrm>
            <a:off x="4754880" y="2792578"/>
            <a:ext cx="438912" cy="460858"/>
          </a:xfrm>
          <a:prstGeom prst="roundRect">
            <a:avLst>
              <a:gd name="adj" fmla="val 12000"/>
            </a:avLst>
          </a:prstGeom>
          <a:solidFill>
            <a:srgbClr val="FF8F5E">
              <a:alpha val="30000"/>
            </a:srgbClr>
          </a:solidFill>
          <a:ln w="19050">
            <a:solidFill>
              <a:srgbClr val="FF8F5E"/>
            </a:solidFill>
            <a:prstDash val="solid"/>
          </a:ln>
        </p:spPr>
      </p:sp>
      <p:sp>
        <p:nvSpPr>
          <p:cNvPr id="77" name="Text 75"/>
          <p:cNvSpPr txBox="1"/>
          <p:nvPr/>
        </p:nvSpPr>
        <p:spPr>
          <a:xfrm>
            <a:off x="4789993"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78" name="Text 76"/>
          <p:cNvSpPr txBox="1"/>
          <p:nvPr/>
        </p:nvSpPr>
        <p:spPr>
          <a:xfrm>
            <a:off x="4754880"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Na</a:t>
            </a:r>
            <a:endParaRPr lang="en-US" sz="1400" dirty="0"/>
          </a:p>
        </p:txBody>
      </p:sp>
      <p:sp>
        <p:nvSpPr>
          <p:cNvPr id="79" name="Highlight Na"/>
          <p:cNvSpPr/>
          <p:nvPr/>
        </p:nvSpPr>
        <p:spPr>
          <a:xfrm>
            <a:off x="4718304" y="2756002"/>
            <a:ext cx="512064" cy="534010"/>
          </a:xfrm>
          <a:prstGeom prst="roundRect">
            <a:avLst>
              <a:gd name="adj" fmla="val 12857"/>
            </a:avLst>
          </a:prstGeom>
          <a:ln w="31750">
            <a:solidFill>
              <a:schemeClr val="accent2"/>
            </a:solidFill>
            <a:prstDash val="solid"/>
          </a:ln>
        </p:spPr>
      </p:sp>
      <p:sp>
        <p:nvSpPr>
          <p:cNvPr id="80" name="Tile Mg"/>
          <p:cNvSpPr/>
          <p:nvPr/>
        </p:nvSpPr>
        <p:spPr>
          <a:xfrm>
            <a:off x="5237683" y="2792578"/>
            <a:ext cx="438912" cy="460858"/>
          </a:xfrm>
          <a:prstGeom prst="roundRect">
            <a:avLst>
              <a:gd name="adj" fmla="val 12000"/>
            </a:avLst>
          </a:prstGeom>
          <a:solidFill>
            <a:srgbClr val="FFCB5C">
              <a:alpha val="30000"/>
            </a:srgbClr>
          </a:solidFill>
          <a:ln w="19050">
            <a:solidFill>
              <a:srgbClr val="FFCB5C"/>
            </a:solidFill>
            <a:prstDash val="solid"/>
          </a:ln>
        </p:spPr>
      </p:sp>
      <p:sp>
        <p:nvSpPr>
          <p:cNvPr id="81" name="Text 79"/>
          <p:cNvSpPr txBox="1"/>
          <p:nvPr/>
        </p:nvSpPr>
        <p:spPr>
          <a:xfrm>
            <a:off x="5272796"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12</a:t>
            </a:r>
            <a:endParaRPr lang="en-US" sz="600" dirty="0"/>
          </a:p>
        </p:txBody>
      </p:sp>
      <p:sp>
        <p:nvSpPr>
          <p:cNvPr id="82" name="Text 80"/>
          <p:cNvSpPr txBox="1"/>
          <p:nvPr/>
        </p:nvSpPr>
        <p:spPr>
          <a:xfrm>
            <a:off x="5237683"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Mg</a:t>
            </a:r>
            <a:endParaRPr lang="en-US" sz="1400" dirty="0"/>
          </a:p>
        </p:txBody>
      </p:sp>
      <p:sp>
        <p:nvSpPr>
          <p:cNvPr id="83" name="Tile Al"/>
          <p:cNvSpPr/>
          <p:nvPr/>
        </p:nvSpPr>
        <p:spPr>
          <a:xfrm>
            <a:off x="5720486" y="2792578"/>
            <a:ext cx="438912" cy="460858"/>
          </a:xfrm>
          <a:prstGeom prst="roundRect">
            <a:avLst>
              <a:gd name="adj" fmla="val 12000"/>
            </a:avLst>
          </a:prstGeom>
          <a:solidFill>
            <a:srgbClr val="8EA8CC">
              <a:alpha val="30000"/>
            </a:srgbClr>
          </a:solidFill>
          <a:ln w="19050">
            <a:solidFill>
              <a:srgbClr val="8EA8CC"/>
            </a:solidFill>
            <a:prstDash val="solid"/>
          </a:ln>
        </p:spPr>
      </p:sp>
      <p:sp>
        <p:nvSpPr>
          <p:cNvPr id="84" name="Text 82"/>
          <p:cNvSpPr txBox="1"/>
          <p:nvPr/>
        </p:nvSpPr>
        <p:spPr>
          <a:xfrm>
            <a:off x="5755599"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13</a:t>
            </a:r>
            <a:endParaRPr lang="en-US" sz="600" dirty="0"/>
          </a:p>
        </p:txBody>
      </p:sp>
      <p:sp>
        <p:nvSpPr>
          <p:cNvPr id="85" name="Text 83"/>
          <p:cNvSpPr txBox="1"/>
          <p:nvPr/>
        </p:nvSpPr>
        <p:spPr>
          <a:xfrm>
            <a:off x="5720486"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Al</a:t>
            </a:r>
            <a:endParaRPr lang="en-US" sz="1400" dirty="0"/>
          </a:p>
        </p:txBody>
      </p:sp>
      <p:sp>
        <p:nvSpPr>
          <p:cNvPr id="86" name="Tile Si"/>
          <p:cNvSpPr/>
          <p:nvPr/>
        </p:nvSpPr>
        <p:spPr>
          <a:xfrm>
            <a:off x="6203290" y="2792578"/>
            <a:ext cx="438912" cy="460858"/>
          </a:xfrm>
          <a:prstGeom prst="roundRect">
            <a:avLst>
              <a:gd name="adj" fmla="val 12000"/>
            </a:avLst>
          </a:prstGeom>
          <a:solidFill>
            <a:srgbClr val="46C7D8">
              <a:alpha val="30000"/>
            </a:srgbClr>
          </a:solidFill>
          <a:ln w="19050">
            <a:solidFill>
              <a:srgbClr val="46C7D8"/>
            </a:solidFill>
            <a:prstDash val="solid"/>
          </a:ln>
        </p:spPr>
      </p:sp>
      <p:sp>
        <p:nvSpPr>
          <p:cNvPr id="87" name="Text 85"/>
          <p:cNvSpPr txBox="1"/>
          <p:nvPr/>
        </p:nvSpPr>
        <p:spPr>
          <a:xfrm>
            <a:off x="6238403"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14</a:t>
            </a:r>
            <a:endParaRPr lang="en-US" sz="600" dirty="0"/>
          </a:p>
        </p:txBody>
      </p:sp>
      <p:sp>
        <p:nvSpPr>
          <p:cNvPr id="88" name="Text 86"/>
          <p:cNvSpPr txBox="1"/>
          <p:nvPr/>
        </p:nvSpPr>
        <p:spPr>
          <a:xfrm>
            <a:off x="6203290"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Si</a:t>
            </a:r>
            <a:endParaRPr lang="en-US" sz="1400" dirty="0"/>
          </a:p>
        </p:txBody>
      </p:sp>
      <p:sp>
        <p:nvSpPr>
          <p:cNvPr id="89" name="Tile P"/>
          <p:cNvSpPr/>
          <p:nvPr/>
        </p:nvSpPr>
        <p:spPr>
          <a:xfrm>
            <a:off x="6686093" y="2792578"/>
            <a:ext cx="438912" cy="460858"/>
          </a:xfrm>
          <a:prstGeom prst="roundRect">
            <a:avLst>
              <a:gd name="adj" fmla="val 12000"/>
            </a:avLst>
          </a:prstGeom>
          <a:solidFill>
            <a:srgbClr val="45C08F">
              <a:alpha val="30000"/>
            </a:srgbClr>
          </a:solidFill>
          <a:ln w="19050">
            <a:solidFill>
              <a:srgbClr val="45C08F"/>
            </a:solidFill>
            <a:prstDash val="solid"/>
          </a:ln>
        </p:spPr>
      </p:sp>
      <p:sp>
        <p:nvSpPr>
          <p:cNvPr id="90" name="Text 88"/>
          <p:cNvSpPr txBox="1"/>
          <p:nvPr/>
        </p:nvSpPr>
        <p:spPr>
          <a:xfrm>
            <a:off x="6721206"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15</a:t>
            </a:r>
            <a:endParaRPr lang="en-US" sz="600" dirty="0"/>
          </a:p>
        </p:txBody>
      </p:sp>
      <p:sp>
        <p:nvSpPr>
          <p:cNvPr id="91" name="Text 89"/>
          <p:cNvSpPr txBox="1"/>
          <p:nvPr/>
        </p:nvSpPr>
        <p:spPr>
          <a:xfrm>
            <a:off x="6686093"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P</a:t>
            </a:r>
            <a:endParaRPr lang="en-US" sz="1400" dirty="0"/>
          </a:p>
        </p:txBody>
      </p:sp>
      <p:sp>
        <p:nvSpPr>
          <p:cNvPr id="92" name="Tile S"/>
          <p:cNvSpPr/>
          <p:nvPr/>
        </p:nvSpPr>
        <p:spPr>
          <a:xfrm>
            <a:off x="7168896" y="2792578"/>
            <a:ext cx="438912" cy="460858"/>
          </a:xfrm>
          <a:prstGeom prst="roundRect">
            <a:avLst>
              <a:gd name="adj" fmla="val 12000"/>
            </a:avLst>
          </a:prstGeom>
          <a:solidFill>
            <a:srgbClr val="45C08F">
              <a:alpha val="30000"/>
            </a:srgbClr>
          </a:solidFill>
          <a:ln w="19050">
            <a:solidFill>
              <a:srgbClr val="45C08F"/>
            </a:solidFill>
            <a:prstDash val="solid"/>
          </a:ln>
        </p:spPr>
      </p:sp>
      <p:sp>
        <p:nvSpPr>
          <p:cNvPr id="93" name="Text 91"/>
          <p:cNvSpPr txBox="1"/>
          <p:nvPr/>
        </p:nvSpPr>
        <p:spPr>
          <a:xfrm>
            <a:off x="7204009"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16</a:t>
            </a:r>
            <a:endParaRPr lang="en-US" sz="600" dirty="0"/>
          </a:p>
        </p:txBody>
      </p:sp>
      <p:sp>
        <p:nvSpPr>
          <p:cNvPr id="94" name="Text 92"/>
          <p:cNvSpPr txBox="1"/>
          <p:nvPr/>
        </p:nvSpPr>
        <p:spPr>
          <a:xfrm>
            <a:off x="7168896"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S</a:t>
            </a:r>
            <a:endParaRPr lang="en-US" sz="1400" dirty="0"/>
          </a:p>
        </p:txBody>
      </p:sp>
      <p:sp>
        <p:nvSpPr>
          <p:cNvPr id="95" name="Tile Cl"/>
          <p:cNvSpPr/>
          <p:nvPr/>
        </p:nvSpPr>
        <p:spPr>
          <a:xfrm>
            <a:off x="7651699" y="2792578"/>
            <a:ext cx="438912" cy="460858"/>
          </a:xfrm>
          <a:prstGeom prst="roundRect">
            <a:avLst>
              <a:gd name="adj" fmla="val 12000"/>
            </a:avLst>
          </a:prstGeom>
          <a:solidFill>
            <a:srgbClr val="F477B8">
              <a:alpha val="30000"/>
            </a:srgbClr>
          </a:solidFill>
          <a:ln w="19050">
            <a:solidFill>
              <a:srgbClr val="F477B8"/>
            </a:solidFill>
            <a:prstDash val="solid"/>
          </a:ln>
        </p:spPr>
      </p:sp>
      <p:sp>
        <p:nvSpPr>
          <p:cNvPr id="96" name="Text 94"/>
          <p:cNvSpPr txBox="1"/>
          <p:nvPr/>
        </p:nvSpPr>
        <p:spPr>
          <a:xfrm>
            <a:off x="7686812"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97" name="Text 95"/>
          <p:cNvSpPr txBox="1"/>
          <p:nvPr/>
        </p:nvSpPr>
        <p:spPr>
          <a:xfrm>
            <a:off x="7651699"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Cl</a:t>
            </a:r>
            <a:endParaRPr lang="en-US" sz="1400" dirty="0"/>
          </a:p>
        </p:txBody>
      </p:sp>
      <p:sp>
        <p:nvSpPr>
          <p:cNvPr id="98" name="Tile Ar"/>
          <p:cNvSpPr/>
          <p:nvPr/>
        </p:nvSpPr>
        <p:spPr>
          <a:xfrm>
            <a:off x="8134502" y="2792578"/>
            <a:ext cx="438912" cy="460858"/>
          </a:xfrm>
          <a:prstGeom prst="roundRect">
            <a:avLst>
              <a:gd name="adj" fmla="val 12000"/>
            </a:avLst>
          </a:prstGeom>
          <a:solidFill>
            <a:srgbClr val="A084FF">
              <a:alpha val="30000"/>
            </a:srgbClr>
          </a:solidFill>
          <a:ln w="19050">
            <a:solidFill>
              <a:srgbClr val="A084FF"/>
            </a:solidFill>
            <a:prstDash val="solid"/>
          </a:ln>
        </p:spPr>
      </p:sp>
      <p:sp>
        <p:nvSpPr>
          <p:cNvPr id="99" name="Text 97"/>
          <p:cNvSpPr txBox="1"/>
          <p:nvPr/>
        </p:nvSpPr>
        <p:spPr>
          <a:xfrm>
            <a:off x="8169615"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18</a:t>
            </a:r>
            <a:endParaRPr lang="en-US" sz="600" dirty="0"/>
          </a:p>
        </p:txBody>
      </p:sp>
      <p:sp>
        <p:nvSpPr>
          <p:cNvPr id="100" name="Text 98"/>
          <p:cNvSpPr txBox="1"/>
          <p:nvPr/>
        </p:nvSpPr>
        <p:spPr>
          <a:xfrm>
            <a:off x="8134502"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Ar</a:t>
            </a:r>
            <a:endParaRPr lang="en-US" sz="1400" dirty="0"/>
          </a:p>
        </p:txBody>
      </p:sp>
      <p:sp>
        <p:nvSpPr>
          <p:cNvPr id="101" name="Highlight Ar"/>
          <p:cNvSpPr/>
          <p:nvPr/>
        </p:nvSpPr>
        <p:spPr>
          <a:xfrm>
            <a:off x="8097926" y="2756002"/>
            <a:ext cx="512064" cy="534010"/>
          </a:xfrm>
          <a:prstGeom prst="roundRect">
            <a:avLst>
              <a:gd name="adj" fmla="val 12857"/>
            </a:avLst>
          </a:prstGeom>
          <a:ln w="31750">
            <a:solidFill>
              <a:schemeClr val="accent2"/>
            </a:solidFill>
            <a:prstDash val="solid"/>
          </a:ln>
        </p:spPr>
      </p:sp>
      <p:sp>
        <p:nvSpPr>
          <p:cNvPr id="102" name="Tile K"/>
          <p:cNvSpPr/>
          <p:nvPr/>
        </p:nvSpPr>
        <p:spPr>
          <a:xfrm>
            <a:off x="4754880" y="3297326"/>
            <a:ext cx="438912" cy="460858"/>
          </a:xfrm>
          <a:prstGeom prst="roundRect">
            <a:avLst>
              <a:gd name="adj" fmla="val 12000"/>
            </a:avLst>
          </a:prstGeom>
          <a:solidFill>
            <a:srgbClr val="FF8F5E">
              <a:alpha val="30000"/>
            </a:srgbClr>
          </a:solidFill>
          <a:ln w="19050">
            <a:solidFill>
              <a:srgbClr val="FF8F5E"/>
            </a:solidFill>
            <a:prstDash val="solid"/>
          </a:ln>
        </p:spPr>
      </p:sp>
      <p:sp>
        <p:nvSpPr>
          <p:cNvPr id="103" name="Text 101"/>
          <p:cNvSpPr txBox="1"/>
          <p:nvPr/>
        </p:nvSpPr>
        <p:spPr>
          <a:xfrm>
            <a:off x="4789993"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104" name="Text 102"/>
          <p:cNvSpPr txBox="1"/>
          <p:nvPr/>
        </p:nvSpPr>
        <p:spPr>
          <a:xfrm>
            <a:off x="4754880"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K</a:t>
            </a:r>
            <a:endParaRPr lang="en-US" sz="1400" dirty="0"/>
          </a:p>
        </p:txBody>
      </p:sp>
      <p:sp>
        <p:nvSpPr>
          <p:cNvPr id="105" name="Tile Ca"/>
          <p:cNvSpPr/>
          <p:nvPr/>
        </p:nvSpPr>
        <p:spPr>
          <a:xfrm>
            <a:off x="5237683" y="3297326"/>
            <a:ext cx="438912" cy="460858"/>
          </a:xfrm>
          <a:prstGeom prst="roundRect">
            <a:avLst>
              <a:gd name="adj" fmla="val 12000"/>
            </a:avLst>
          </a:prstGeom>
          <a:solidFill>
            <a:srgbClr val="FFCB5C">
              <a:alpha val="30000"/>
            </a:srgbClr>
          </a:solidFill>
          <a:ln w="19050">
            <a:solidFill>
              <a:srgbClr val="FFCB5C"/>
            </a:solidFill>
            <a:prstDash val="solid"/>
          </a:ln>
        </p:spPr>
      </p:sp>
      <p:sp>
        <p:nvSpPr>
          <p:cNvPr id="106" name="Text 104"/>
          <p:cNvSpPr txBox="1"/>
          <p:nvPr/>
        </p:nvSpPr>
        <p:spPr>
          <a:xfrm>
            <a:off x="5272796"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20</a:t>
            </a:r>
            <a:endParaRPr lang="en-US" sz="600" dirty="0"/>
          </a:p>
        </p:txBody>
      </p:sp>
      <p:sp>
        <p:nvSpPr>
          <p:cNvPr id="107" name="Text 105"/>
          <p:cNvSpPr txBox="1"/>
          <p:nvPr/>
        </p:nvSpPr>
        <p:spPr>
          <a:xfrm>
            <a:off x="5237683"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Ca</a:t>
            </a:r>
            <a:endParaRPr lang="en-US" sz="1400" dirty="0"/>
          </a:p>
        </p:txBody>
      </p:sp>
      <p:sp>
        <p:nvSpPr>
          <p:cNvPr id="108" name="Highlight Ca"/>
          <p:cNvSpPr/>
          <p:nvPr/>
        </p:nvSpPr>
        <p:spPr>
          <a:xfrm>
            <a:off x="5201107" y="3260750"/>
            <a:ext cx="512064" cy="534010"/>
          </a:xfrm>
          <a:prstGeom prst="roundRect">
            <a:avLst>
              <a:gd name="adj" fmla="val 12857"/>
            </a:avLst>
          </a:prstGeom>
          <a:ln w="31750">
            <a:solidFill>
              <a:schemeClr val="accent2"/>
            </a:solidFill>
            <a:prstDash val="solid"/>
          </a:ln>
        </p:spPr>
      </p:sp>
      <p:sp>
        <p:nvSpPr>
          <p:cNvPr id="109" name="Tile Ga"/>
          <p:cNvSpPr/>
          <p:nvPr/>
        </p:nvSpPr>
        <p:spPr>
          <a:xfrm>
            <a:off x="5720486" y="3297326"/>
            <a:ext cx="438912" cy="460858"/>
          </a:xfrm>
          <a:prstGeom prst="roundRect">
            <a:avLst>
              <a:gd name="adj" fmla="val 12000"/>
            </a:avLst>
          </a:prstGeom>
          <a:solidFill>
            <a:srgbClr val="8EA8CC">
              <a:alpha val="30000"/>
            </a:srgbClr>
          </a:solidFill>
          <a:ln w="19050">
            <a:solidFill>
              <a:srgbClr val="8EA8CC"/>
            </a:solidFill>
            <a:prstDash val="solid"/>
          </a:ln>
        </p:spPr>
      </p:sp>
      <p:sp>
        <p:nvSpPr>
          <p:cNvPr id="110" name="Text 108"/>
          <p:cNvSpPr txBox="1"/>
          <p:nvPr/>
        </p:nvSpPr>
        <p:spPr>
          <a:xfrm>
            <a:off x="5755599"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31</a:t>
            </a:r>
            <a:endParaRPr lang="en-US" sz="600" dirty="0"/>
          </a:p>
        </p:txBody>
      </p:sp>
      <p:sp>
        <p:nvSpPr>
          <p:cNvPr id="111" name="Text 109"/>
          <p:cNvSpPr txBox="1"/>
          <p:nvPr/>
        </p:nvSpPr>
        <p:spPr>
          <a:xfrm>
            <a:off x="5720486"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Ga</a:t>
            </a:r>
            <a:endParaRPr lang="en-US" sz="1400" dirty="0"/>
          </a:p>
        </p:txBody>
      </p:sp>
      <p:sp>
        <p:nvSpPr>
          <p:cNvPr id="112" name="Tile Ge"/>
          <p:cNvSpPr/>
          <p:nvPr/>
        </p:nvSpPr>
        <p:spPr>
          <a:xfrm>
            <a:off x="6203290" y="3297326"/>
            <a:ext cx="438912" cy="460858"/>
          </a:xfrm>
          <a:prstGeom prst="roundRect">
            <a:avLst>
              <a:gd name="adj" fmla="val 12000"/>
            </a:avLst>
          </a:prstGeom>
          <a:solidFill>
            <a:srgbClr val="46C7D8">
              <a:alpha val="30000"/>
            </a:srgbClr>
          </a:solidFill>
          <a:ln w="19050">
            <a:solidFill>
              <a:srgbClr val="46C7D8"/>
            </a:solidFill>
            <a:prstDash val="solid"/>
          </a:ln>
        </p:spPr>
      </p:sp>
      <p:sp>
        <p:nvSpPr>
          <p:cNvPr id="113" name="Text 111"/>
          <p:cNvSpPr txBox="1"/>
          <p:nvPr/>
        </p:nvSpPr>
        <p:spPr>
          <a:xfrm>
            <a:off x="6238403"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32</a:t>
            </a:r>
            <a:endParaRPr lang="en-US" sz="600" dirty="0"/>
          </a:p>
        </p:txBody>
      </p:sp>
      <p:sp>
        <p:nvSpPr>
          <p:cNvPr id="114" name="Text 112"/>
          <p:cNvSpPr txBox="1"/>
          <p:nvPr/>
        </p:nvSpPr>
        <p:spPr>
          <a:xfrm>
            <a:off x="6203290"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Ge</a:t>
            </a:r>
            <a:endParaRPr lang="en-US" sz="1400" dirty="0"/>
          </a:p>
        </p:txBody>
      </p:sp>
      <p:sp>
        <p:nvSpPr>
          <p:cNvPr id="115" name="Tile As"/>
          <p:cNvSpPr/>
          <p:nvPr/>
        </p:nvSpPr>
        <p:spPr>
          <a:xfrm>
            <a:off x="6686093" y="3297326"/>
            <a:ext cx="438912" cy="460858"/>
          </a:xfrm>
          <a:prstGeom prst="roundRect">
            <a:avLst>
              <a:gd name="adj" fmla="val 12000"/>
            </a:avLst>
          </a:prstGeom>
          <a:solidFill>
            <a:srgbClr val="46C7D8">
              <a:alpha val="30000"/>
            </a:srgbClr>
          </a:solidFill>
          <a:ln w="19050">
            <a:solidFill>
              <a:srgbClr val="46C7D8"/>
            </a:solidFill>
            <a:prstDash val="solid"/>
          </a:ln>
        </p:spPr>
      </p:sp>
      <p:sp>
        <p:nvSpPr>
          <p:cNvPr id="116" name="Text 114"/>
          <p:cNvSpPr txBox="1"/>
          <p:nvPr/>
        </p:nvSpPr>
        <p:spPr>
          <a:xfrm>
            <a:off x="6721206"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33</a:t>
            </a:r>
            <a:endParaRPr lang="en-US" sz="600" dirty="0"/>
          </a:p>
        </p:txBody>
      </p:sp>
      <p:sp>
        <p:nvSpPr>
          <p:cNvPr id="117" name="Text 115"/>
          <p:cNvSpPr txBox="1"/>
          <p:nvPr/>
        </p:nvSpPr>
        <p:spPr>
          <a:xfrm>
            <a:off x="6686093"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As</a:t>
            </a:r>
            <a:endParaRPr lang="en-US" sz="1400" dirty="0"/>
          </a:p>
        </p:txBody>
      </p:sp>
      <p:sp>
        <p:nvSpPr>
          <p:cNvPr id="118" name="Tile Se"/>
          <p:cNvSpPr/>
          <p:nvPr/>
        </p:nvSpPr>
        <p:spPr>
          <a:xfrm>
            <a:off x="7168896" y="3297326"/>
            <a:ext cx="438912" cy="460858"/>
          </a:xfrm>
          <a:prstGeom prst="roundRect">
            <a:avLst>
              <a:gd name="adj" fmla="val 12000"/>
            </a:avLst>
          </a:prstGeom>
          <a:solidFill>
            <a:srgbClr val="45C08F">
              <a:alpha val="30000"/>
            </a:srgbClr>
          </a:solidFill>
          <a:ln w="19050">
            <a:solidFill>
              <a:srgbClr val="45C08F"/>
            </a:solidFill>
            <a:prstDash val="solid"/>
          </a:ln>
        </p:spPr>
      </p:sp>
      <p:sp>
        <p:nvSpPr>
          <p:cNvPr id="119" name="Text 117"/>
          <p:cNvSpPr txBox="1"/>
          <p:nvPr/>
        </p:nvSpPr>
        <p:spPr>
          <a:xfrm>
            <a:off x="7204009"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34</a:t>
            </a:r>
            <a:endParaRPr lang="en-US" sz="600" dirty="0"/>
          </a:p>
        </p:txBody>
      </p:sp>
      <p:sp>
        <p:nvSpPr>
          <p:cNvPr id="120" name="Text 118"/>
          <p:cNvSpPr txBox="1"/>
          <p:nvPr/>
        </p:nvSpPr>
        <p:spPr>
          <a:xfrm>
            <a:off x="7168896"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Se</a:t>
            </a:r>
            <a:endParaRPr lang="en-US" sz="1400" dirty="0"/>
          </a:p>
        </p:txBody>
      </p:sp>
      <p:sp>
        <p:nvSpPr>
          <p:cNvPr id="121" name="Tile Br"/>
          <p:cNvSpPr/>
          <p:nvPr/>
        </p:nvSpPr>
        <p:spPr>
          <a:xfrm>
            <a:off x="7651699" y="3297326"/>
            <a:ext cx="438912" cy="460858"/>
          </a:xfrm>
          <a:prstGeom prst="roundRect">
            <a:avLst>
              <a:gd name="adj" fmla="val 12000"/>
            </a:avLst>
          </a:prstGeom>
          <a:solidFill>
            <a:srgbClr val="F477B8">
              <a:alpha val="30000"/>
            </a:srgbClr>
          </a:solidFill>
          <a:ln w="19050">
            <a:solidFill>
              <a:srgbClr val="F477B8"/>
            </a:solidFill>
            <a:prstDash val="solid"/>
          </a:ln>
        </p:spPr>
      </p:sp>
      <p:sp>
        <p:nvSpPr>
          <p:cNvPr id="122" name="Text 120"/>
          <p:cNvSpPr txBox="1"/>
          <p:nvPr/>
        </p:nvSpPr>
        <p:spPr>
          <a:xfrm>
            <a:off x="7686812"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35</a:t>
            </a:r>
            <a:endParaRPr lang="en-US" sz="600" dirty="0"/>
          </a:p>
        </p:txBody>
      </p:sp>
      <p:sp>
        <p:nvSpPr>
          <p:cNvPr id="123" name="Text 121"/>
          <p:cNvSpPr txBox="1"/>
          <p:nvPr/>
        </p:nvSpPr>
        <p:spPr>
          <a:xfrm>
            <a:off x="7651699"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Br</a:t>
            </a:r>
            <a:endParaRPr lang="en-US" sz="1400" dirty="0"/>
          </a:p>
        </p:txBody>
      </p:sp>
      <p:sp>
        <p:nvSpPr>
          <p:cNvPr id="124" name="Tile Kr"/>
          <p:cNvSpPr/>
          <p:nvPr/>
        </p:nvSpPr>
        <p:spPr>
          <a:xfrm>
            <a:off x="8134502" y="3297326"/>
            <a:ext cx="438912" cy="460858"/>
          </a:xfrm>
          <a:prstGeom prst="roundRect">
            <a:avLst>
              <a:gd name="adj" fmla="val 12000"/>
            </a:avLst>
          </a:prstGeom>
          <a:solidFill>
            <a:srgbClr val="A084FF">
              <a:alpha val="30000"/>
            </a:srgbClr>
          </a:solidFill>
          <a:ln w="19050">
            <a:solidFill>
              <a:srgbClr val="A084FF"/>
            </a:solidFill>
            <a:prstDash val="solid"/>
          </a:ln>
        </p:spPr>
      </p:sp>
      <p:sp>
        <p:nvSpPr>
          <p:cNvPr id="125" name="Text 123"/>
          <p:cNvSpPr txBox="1"/>
          <p:nvPr/>
        </p:nvSpPr>
        <p:spPr>
          <a:xfrm>
            <a:off x="8169615"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36</a:t>
            </a:r>
            <a:endParaRPr lang="en-US" sz="600" dirty="0"/>
          </a:p>
        </p:txBody>
      </p:sp>
      <p:sp>
        <p:nvSpPr>
          <p:cNvPr id="126" name="Text 124"/>
          <p:cNvSpPr txBox="1"/>
          <p:nvPr/>
        </p:nvSpPr>
        <p:spPr>
          <a:xfrm>
            <a:off x="8134502"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Kr</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tile 1"/>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Li"/>
          <p:cNvSpPr/>
          <p:nvPr/>
        </p:nvSpPr>
        <p:spPr>
          <a:xfrm>
            <a:off x="600512" y="541259"/>
            <a:ext cx="463183" cy="463183"/>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Li</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Moving from sodium to chlorine is moving…</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down a group</a:t>
            </a:r>
            <a:endParaRPr lang="en-US" sz="1600" dirty="0"/>
          </a:p>
        </p:txBody>
      </p:sp>
      <p:sp>
        <p:nvSpPr>
          <p:cNvPr id="12"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3" name="Text 11"/>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across a period</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up a group</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between two periods</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tile 1"/>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Li"/>
          <p:cNvSpPr/>
          <p:nvPr/>
        </p:nvSpPr>
        <p:spPr>
          <a:xfrm>
            <a:off x="600512" y="541259"/>
            <a:ext cx="463183" cy="463183"/>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Li</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1 of 9</a:t>
            </a:r>
            <a:endParaRPr lang="en-US" sz="1200" dirty="0"/>
          </a:p>
        </p:txBody>
      </p:sp>
      <p:sp>
        <p:nvSpPr>
          <p:cNvPr id="9"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Moving from sodium to chlorine is moving…</a:t>
            </a:r>
            <a:endParaRPr lang="en-US" sz="2000" dirty="0"/>
          </a:p>
        </p:txBody>
      </p:sp>
      <p:sp>
        <p:nvSpPr>
          <p:cNvPr id="10"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1" name="Text 9"/>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2" name="Text 10"/>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down a group</a:t>
            </a:r>
            <a:endParaRPr lang="en-US" sz="1600" dirty="0"/>
          </a:p>
        </p:txBody>
      </p:sp>
      <p:sp>
        <p:nvSpPr>
          <p:cNvPr id="13"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4" name="Text 12"/>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5" name="Text 13"/>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across a period</a:t>
            </a:r>
            <a:endParaRPr lang="en-US" sz="1600" dirty="0"/>
          </a:p>
        </p:txBody>
      </p:sp>
      <p:sp>
        <p:nvSpPr>
          <p:cNvPr id="16"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7" name="Text 15"/>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8" name="Text 16"/>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up a group</a:t>
            </a:r>
            <a:endParaRPr lang="en-US" sz="1600" dirty="0"/>
          </a:p>
        </p:txBody>
      </p:sp>
      <p:sp>
        <p:nvSpPr>
          <p:cNvPr id="19"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20" name="Text 18"/>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1" name="Text 19"/>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between two periods</a:t>
            </a:r>
            <a:endParaRPr lang="en-US" sz="1600" dirty="0"/>
          </a:p>
        </p:txBody>
      </p:sp>
      <p:sp>
        <p:nvSpPr>
          <p:cNvPr id="22"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3" name="Text 21"/>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Sodium and chlorine are both in period 3, so it is moving across a period (left to right).</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K"/>
          <p:cNvSpPr/>
          <p:nvPr/>
        </p:nvSpPr>
        <p:spPr>
          <a:xfrm>
            <a:off x="517185" y="457932"/>
            <a:ext cx="629839" cy="62983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K</a:t>
            </a:r>
            <a:endParaRPr lang="en-US" sz="2400" dirty="0"/>
          </a:p>
        </p:txBody>
      </p:sp>
      <p:sp>
        <p:nvSpPr>
          <p:cNvPr id="6"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2 of 9 · about 7 min</a:t>
            </a:r>
            <a:endParaRPr lang="en-US" sz="1200" dirty="0"/>
          </a:p>
        </p:txBody>
      </p:sp>
      <p:sp>
        <p:nvSpPr>
          <p:cNvPr id="7"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Atomic radius</a:t>
            </a:r>
            <a:endParaRPr lang="en-US" sz="3000" dirty="0"/>
          </a:p>
        </p:txBody>
      </p:sp>
      <p:sp>
        <p:nvSpPr>
          <p:cNvPr id="8"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9" name="Text 7"/>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10" name="Text 8"/>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1" name="Text 9"/>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How big is an atom?</a:t>
            </a:r>
            <a:endParaRPr lang="en-US" sz="1400" dirty="0"/>
          </a:p>
        </p:txBody>
      </p:sp>
      <p:sp>
        <p:nvSpPr>
          <p:cNvPr id="12" name="Text 10"/>
          <p:cNvSpPr/>
          <p:nvPr/>
        </p:nvSpPr>
        <p:spPr>
          <a:xfrm>
            <a:off x="685800" y="2624328"/>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3" name="Text 11"/>
          <p:cNvSpPr txBox="1"/>
          <p:nvPr/>
        </p:nvSpPr>
        <p:spPr>
          <a:xfrm>
            <a:off x="1554480" y="2532888"/>
            <a:ext cx="2697480" cy="457200"/>
          </a:xfrm>
          <a:prstGeom prst="rect">
            <a:avLst/>
          </a:prstGeom>
          <a:noFill/>
          <a:ln/>
        </p:spPr>
        <p:txBody>
          <a:bodyPr wrap="square" lIns="0" tIns="0" rIns="0" bIns="0" rtlCol="0" anchor="ctr"/>
          <a:lstStyle/>
          <a:p>
            <a:pPr indent="0" marL="0">
              <a:buNone/>
            </a:pPr>
            <a:r>
              <a:rPr lang="en-US" sz="1400" dirty="0">
                <a:solidFill>
                  <a:schemeClr val="bg1"/>
                </a:solidFill>
              </a:rPr>
              <a:t>Atom size missions</a:t>
            </a:r>
            <a:endParaRPr lang="en-US" sz="1400" dirty="0"/>
          </a:p>
        </p:txBody>
      </p:sp>
      <p:sp>
        <p:nvSpPr>
          <p:cNvPr id="14" name="Text 12"/>
          <p:cNvSpPr/>
          <p:nvPr/>
        </p:nvSpPr>
        <p:spPr>
          <a:xfrm>
            <a:off x="685800" y="32095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5" name="Text 13"/>
          <p:cNvSpPr txBox="1"/>
          <p:nvPr/>
        </p:nvSpPr>
        <p:spPr>
          <a:xfrm>
            <a:off x="1554480" y="3118104"/>
            <a:ext cx="2697480" cy="457200"/>
          </a:xfrm>
          <a:prstGeom prst="rect">
            <a:avLst/>
          </a:prstGeom>
          <a:noFill/>
          <a:ln/>
        </p:spPr>
        <p:txBody>
          <a:bodyPr wrap="square" lIns="0" tIns="0" rIns="0" bIns="0" rtlCol="0" anchor="ctr"/>
          <a:lstStyle/>
          <a:p>
            <a:pPr indent="0" marL="0">
              <a:buNone/>
            </a:pPr>
            <a:r>
              <a:rPr lang="en-US" sz="1400" dirty="0">
                <a:solidFill>
                  <a:schemeClr val="bg1"/>
                </a:solidFill>
              </a:rPr>
              <a:t>Which atom is larger?</a:t>
            </a:r>
            <a:endParaRPr lang="en-US" sz="1400" dirty="0"/>
          </a:p>
        </p:txBody>
      </p:sp>
      <p:sp>
        <p:nvSpPr>
          <p:cNvPr id="16" name="Text 14"/>
          <p:cNvSpPr/>
          <p:nvPr/>
        </p:nvSpPr>
        <p:spPr>
          <a:xfrm>
            <a:off x="685800" y="3794760"/>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7" name="Text 15"/>
          <p:cNvSpPr txBox="1"/>
          <p:nvPr/>
        </p:nvSpPr>
        <p:spPr>
          <a:xfrm>
            <a:off x="1874520" y="3703320"/>
            <a:ext cx="2377440" cy="457200"/>
          </a:xfrm>
          <a:prstGeom prst="rect">
            <a:avLst/>
          </a:prstGeom>
          <a:noFill/>
          <a:ln/>
        </p:spPr>
        <p:txBody>
          <a:bodyPr wrap="square" lIns="0" tIns="0" rIns="0" bIns="0" rtlCol="0" anchor="ctr"/>
          <a:lstStyle/>
          <a:p>
            <a:pPr indent="0" marL="0">
              <a:buNone/>
            </a:pPr>
            <a:r>
              <a:rPr lang="en-US" sz="1400" dirty="0">
                <a:solidFill>
                  <a:schemeClr val="bg1"/>
                </a:solidFill>
              </a:rPr>
              <a:t>The smallest atom</a:t>
            </a:r>
            <a:endParaRPr lang="en-US" sz="1400" dirty="0"/>
          </a:p>
        </p:txBody>
      </p:sp>
      <p:sp>
        <p:nvSpPr>
          <p:cNvPr id="18"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9" name="Text 17"/>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20" name="Text 18"/>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1" name="Text 19"/>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Finish the 5 atom size missions</a:t>
            </a:r>
            <a:endParaRPr lang="en-US" sz="1400" dirty="0"/>
          </a:p>
        </p:txBody>
      </p:sp>
      <p:sp>
        <p:nvSpPr>
          <p:cNvPr id="22" name="Text 20"/>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3" name="Text 21"/>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Pick the larger atom 5 times</a:t>
            </a:r>
            <a:endParaRPr lang="en-US" sz="1400" dirty="0"/>
          </a:p>
        </p:txBody>
      </p:sp>
      <p:sp>
        <p:nvSpPr>
          <p:cNvPr id="24" name="Text 22"/>
          <p:cNvSpPr/>
          <p:nvPr/>
        </p:nvSpPr>
        <p:spPr>
          <a:xfrm>
            <a:off x="4892040" y="320040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5" name="Text 23"/>
          <p:cNvSpPr txBox="1"/>
          <p:nvPr/>
        </p:nvSpPr>
        <p:spPr>
          <a:xfrm>
            <a:off x="5303520" y="3127248"/>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K"/>
          <p:cNvSpPr/>
          <p:nvPr/>
        </p:nvSpPr>
        <p:spPr>
          <a:xfrm>
            <a:off x="517185" y="457932"/>
            <a:ext cx="629839" cy="62983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K</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How big is an atom?</a:t>
            </a:r>
            <a:endParaRPr lang="en-US" sz="2800" dirty="0"/>
          </a:p>
        </p:txBody>
      </p:sp>
      <p:sp>
        <p:nvSpPr>
          <p:cNvPr id="9" name="Text 7"/>
          <p:cNvSpPr txBox="1"/>
          <p:nvPr/>
        </p:nvSpPr>
        <p:spPr>
          <a:xfrm>
            <a:off x="457200" y="1325880"/>
            <a:ext cx="4206240" cy="731520"/>
          </a:xfrm>
          <a:prstGeom prst="rect">
            <a:avLst/>
          </a:prstGeom>
          <a:noFill/>
          <a:ln/>
        </p:spPr>
        <p:txBody>
          <a:bodyPr wrap="square" lIns="0" tIns="0" rIns="0" bIns="0" rtlCol="0" anchor="t"/>
          <a:lstStyle/>
          <a:p>
            <a:pPr indent="0" marL="0">
              <a:spcAft>
                <a:spcPts val="800"/>
              </a:spcAft>
              <a:buNone/>
            </a:pPr>
            <a:r>
              <a:rPr lang="en-US" sz="1400" dirty="0">
                <a:solidFill>
                  <a:schemeClr val="bg1"/>
                </a:solidFill>
              </a:rPr>
              <a:t>The </a:t>
            </a:r>
            <a:pPr indent="0" marL="0">
              <a:spcAft>
                <a:spcPts val="800"/>
              </a:spcAft>
              <a:buNone/>
            </a:pPr>
            <a:r>
              <a:rPr lang="en-US" sz="1400" b="1" dirty="0">
                <a:solidFill>
                  <a:schemeClr val="accent1"/>
                </a:solidFill>
              </a:rPr>
              <a:t>atomic radius</a:t>
            </a:r>
            <a:pPr indent="0" marL="0">
              <a:spcAft>
                <a:spcPts val="800"/>
              </a:spcAft>
              <a:buNone/>
            </a:pPr>
            <a:r>
              <a:rPr lang="en-US" sz="1400" dirty="0">
                <a:solidFill>
                  <a:schemeClr val="bg1"/>
                </a:solidFill>
              </a:rPr>
              <a:t> is the distance from the center of the nucleus to the outer electrons, measured in picometers (pm).</a:t>
            </a:r>
            <a:endParaRPr lang="en-US" sz="1400" dirty="0"/>
          </a:p>
        </p:txBody>
      </p:sp>
      <p:sp>
        <p:nvSpPr>
          <p:cNvPr id="10" name="Atomic radius trend"/>
          <p:cNvSpPr/>
          <p:nvPr/>
        </p:nvSpPr>
        <p:spPr>
          <a:xfrm>
            <a:off x="457200" y="2103120"/>
            <a:ext cx="4023360" cy="868680"/>
          </a:xfrm>
          <a:prstGeom prst="roundRect">
            <a:avLst>
              <a:gd name="adj" fmla="val 10526"/>
            </a:avLst>
          </a:prstGeom>
          <a:solidFill>
            <a:schemeClr val="tx2"/>
          </a:solidFill>
          <a:ln w="9525">
            <a:solidFill>
              <a:schemeClr val="bg2">
                <a:alpha val="30000"/>
              </a:schemeClr>
            </a:solidFill>
            <a:prstDash val="solid"/>
          </a:ln>
        </p:spPr>
      </p:sp>
      <p:sp>
        <p:nvSpPr>
          <p:cNvPr id="11" name="Trend bar"/>
          <p:cNvSpPr/>
          <p:nvPr/>
        </p:nvSpPr>
        <p:spPr>
          <a:xfrm>
            <a:off x="457200" y="2148840"/>
            <a:ext cx="64008" cy="777240"/>
          </a:xfrm>
          <a:prstGeom prst="rect">
            <a:avLst/>
          </a:prstGeom>
          <a:solidFill>
            <a:schemeClr val="accent1"/>
          </a:solidFill>
          <a:ln w="6350">
            <a:solidFill>
              <a:schemeClr val="accent1"/>
            </a:solidFill>
            <a:prstDash val="solid"/>
          </a:ln>
        </p:spPr>
      </p:sp>
      <p:sp>
        <p:nvSpPr>
          <p:cNvPr id="12" name="Text 10"/>
          <p:cNvSpPr txBox="1"/>
          <p:nvPr/>
        </p:nvSpPr>
        <p:spPr>
          <a:xfrm>
            <a:off x="640080" y="2103120"/>
            <a:ext cx="3749040" cy="868680"/>
          </a:xfrm>
          <a:prstGeom prst="rect">
            <a:avLst/>
          </a:prstGeom>
          <a:noFill/>
          <a:ln/>
        </p:spPr>
        <p:txBody>
          <a:bodyPr wrap="square" lIns="0" tIns="0" rIns="0" bIns="0" rtlCol="0" anchor="ctr"/>
          <a:lstStyle/>
          <a:p>
            <a:pPr indent="0" marL="0">
              <a:buNone/>
            </a:pPr>
            <a:r>
              <a:rPr lang="en-US" sz="1300" b="1" dirty="0">
                <a:solidFill>
                  <a:schemeClr val="accent1"/>
                </a:solidFill>
              </a:rPr>
              <a:t>Atomic radius</a:t>
            </a:r>
            <a:endParaRPr lang="en-US" sz="1300" dirty="0"/>
          </a:p>
          <a:p>
            <a:pPr indent="0" marL="0">
              <a:buNone/>
            </a:pPr>
            <a:r>
              <a:rPr lang="en-US" sz="1300" dirty="0">
                <a:solidFill>
                  <a:schemeClr val="bg2"/>
                </a:solidFill>
              </a:rPr>
              <a:t>Across a period: </a:t>
            </a:r>
            <a:pPr indent="0" marL="0">
              <a:buNone/>
            </a:pPr>
            <a:r>
              <a:rPr lang="en-US" sz="1300" b="1" dirty="0">
                <a:solidFill>
                  <a:schemeClr val="bg1"/>
                </a:solidFill>
              </a:rPr>
              <a:t>gets smaller →</a:t>
            </a:r>
            <a:endParaRPr lang="en-US" sz="1300" dirty="0"/>
          </a:p>
          <a:p>
            <a:pPr indent="0" marL="0">
              <a:buNone/>
            </a:pPr>
            <a:r>
              <a:rPr lang="en-US" sz="1300" dirty="0">
                <a:solidFill>
                  <a:schemeClr val="bg2"/>
                </a:solidFill>
              </a:rPr>
              <a:t>Down a group: </a:t>
            </a:r>
            <a:pPr indent="0" marL="0">
              <a:buNone/>
            </a:pPr>
            <a:r>
              <a:rPr lang="en-US" sz="1300" b="1" dirty="0">
                <a:solidFill>
                  <a:schemeClr val="bg1"/>
                </a:solidFill>
              </a:rPr>
              <a:t>gets larger ↓</a:t>
            </a:r>
            <a:endParaRPr lang="en-US" sz="1300" dirty="0"/>
          </a:p>
        </p:txBody>
      </p:sp>
      <p:sp>
        <p:nvSpPr>
          <p:cNvPr id="13" name="Text 11"/>
          <p:cNvSpPr txBox="1"/>
          <p:nvPr/>
        </p:nvSpPr>
        <p:spPr>
          <a:xfrm>
            <a:off x="457200" y="3154680"/>
            <a:ext cx="4023360" cy="640080"/>
          </a:xfrm>
          <a:prstGeom prst="rect">
            <a:avLst/>
          </a:prstGeom>
          <a:noFill/>
          <a:ln/>
        </p:spPr>
        <p:txBody>
          <a:bodyPr wrap="square" lIns="0" tIns="0" rIns="0" bIns="0" rtlCol="0" anchor="t"/>
          <a:lstStyle/>
          <a:p>
            <a:pPr indent="0" marL="0">
              <a:spcAft>
                <a:spcPts val="800"/>
              </a:spcAft>
              <a:buNone/>
            </a:pPr>
            <a:r>
              <a:rPr lang="en-US" sz="1400" dirty="0">
                <a:solidFill>
                  <a:schemeClr val="bg1"/>
                </a:solidFill>
              </a:rPr>
              <a:t>The largest atoms are in the bottom left. The smallest are in the top right.</a:t>
            </a:r>
            <a:endParaRPr lang="en-US" sz="1400" dirty="0"/>
          </a:p>
        </p:txBody>
      </p:sp>
      <p:sp>
        <p:nvSpPr>
          <p:cNvPr id="14" name="Lithium atom"/>
          <p:cNvSpPr/>
          <p:nvPr/>
        </p:nvSpPr>
        <p:spPr>
          <a:xfrm>
            <a:off x="5027920" y="1736080"/>
            <a:ext cx="1282720" cy="1282720"/>
          </a:xfrm>
          <a:prstGeom prst="ellipse">
            <a:avLst/>
          </a:prstGeom>
          <a:solidFill>
            <a:schemeClr val="accent1">
              <a:alpha val="20000"/>
            </a:schemeClr>
          </a:solidFill>
          <a:ln w="12700">
            <a:solidFill>
              <a:schemeClr val="accent1">
                <a:alpha val="70000"/>
              </a:schemeClr>
            </a:solidFill>
            <a:prstDash val="dash"/>
          </a:ln>
        </p:spPr>
      </p:sp>
      <p:sp>
        <p:nvSpPr>
          <p:cNvPr id="15" name="Nucleus"/>
          <p:cNvSpPr/>
          <p:nvPr/>
        </p:nvSpPr>
        <p:spPr>
          <a:xfrm>
            <a:off x="5632704" y="2340864"/>
            <a:ext cx="73152" cy="73152"/>
          </a:xfrm>
          <a:prstGeom prst="ellipse">
            <a:avLst/>
          </a:prstGeom>
          <a:solidFill>
            <a:srgbClr val="E0654F"/>
          </a:solidFill>
          <a:ln w="6350">
            <a:solidFill>
              <a:srgbClr val="E0654F"/>
            </a:solidFill>
            <a:prstDash val="solid"/>
          </a:ln>
        </p:spPr>
      </p:sp>
      <p:sp>
        <p:nvSpPr>
          <p:cNvPr id="16" name="Text 14"/>
          <p:cNvSpPr txBox="1"/>
          <p:nvPr/>
        </p:nvSpPr>
        <p:spPr>
          <a:xfrm>
            <a:off x="4846320" y="3055376"/>
            <a:ext cx="1645920" cy="219456"/>
          </a:xfrm>
          <a:prstGeom prst="rect">
            <a:avLst/>
          </a:prstGeom>
          <a:noFill/>
          <a:ln/>
        </p:spPr>
        <p:txBody>
          <a:bodyPr wrap="square" lIns="0" tIns="0" rIns="0" bIns="0" rtlCol="0" anchor="ctr"/>
          <a:lstStyle/>
          <a:p>
            <a:pPr algn="ctr" indent="0" marL="0">
              <a:buNone/>
            </a:pPr>
            <a:r>
              <a:rPr lang="en-US" sz="1100" dirty="0">
                <a:solidFill>
                  <a:schemeClr val="bg2"/>
                </a:solidFill>
              </a:rPr>
              <a:t>Li · 167 pm</a:t>
            </a:r>
            <a:endParaRPr lang="en-US" sz="1100" dirty="0"/>
          </a:p>
        </p:txBody>
      </p:sp>
      <p:sp>
        <p:nvSpPr>
          <p:cNvPr id="17" name="Carbon atom"/>
          <p:cNvSpPr/>
          <p:nvPr/>
        </p:nvSpPr>
        <p:spPr>
          <a:xfrm>
            <a:off x="6692128" y="2120128"/>
            <a:ext cx="514624" cy="514624"/>
          </a:xfrm>
          <a:prstGeom prst="ellipse">
            <a:avLst/>
          </a:prstGeom>
          <a:solidFill>
            <a:schemeClr val="accent1">
              <a:alpha val="20000"/>
            </a:schemeClr>
          </a:solidFill>
          <a:ln w="12700">
            <a:solidFill>
              <a:schemeClr val="accent1">
                <a:alpha val="70000"/>
              </a:schemeClr>
            </a:solidFill>
            <a:prstDash val="dash"/>
          </a:ln>
        </p:spPr>
      </p:sp>
      <p:sp>
        <p:nvSpPr>
          <p:cNvPr id="18" name="Nucleus"/>
          <p:cNvSpPr/>
          <p:nvPr/>
        </p:nvSpPr>
        <p:spPr>
          <a:xfrm>
            <a:off x="6912864" y="2340864"/>
            <a:ext cx="73152" cy="73152"/>
          </a:xfrm>
          <a:prstGeom prst="ellipse">
            <a:avLst/>
          </a:prstGeom>
          <a:solidFill>
            <a:srgbClr val="E0654F"/>
          </a:solidFill>
          <a:ln w="6350">
            <a:solidFill>
              <a:srgbClr val="E0654F"/>
            </a:solidFill>
            <a:prstDash val="solid"/>
          </a:ln>
        </p:spPr>
      </p:sp>
      <p:sp>
        <p:nvSpPr>
          <p:cNvPr id="19" name="Text 17"/>
          <p:cNvSpPr txBox="1"/>
          <p:nvPr/>
        </p:nvSpPr>
        <p:spPr>
          <a:xfrm>
            <a:off x="6126480" y="2671328"/>
            <a:ext cx="1645920" cy="219456"/>
          </a:xfrm>
          <a:prstGeom prst="rect">
            <a:avLst/>
          </a:prstGeom>
          <a:noFill/>
          <a:ln/>
        </p:spPr>
        <p:txBody>
          <a:bodyPr wrap="square" lIns="0" tIns="0" rIns="0" bIns="0" rtlCol="0" anchor="ctr"/>
          <a:lstStyle/>
          <a:p>
            <a:pPr algn="ctr" indent="0" marL="0">
              <a:buNone/>
            </a:pPr>
            <a:r>
              <a:rPr lang="en-US" sz="1100" dirty="0">
                <a:solidFill>
                  <a:schemeClr val="bg2"/>
                </a:solidFill>
              </a:rPr>
              <a:t>C · 67 pm</a:t>
            </a:r>
            <a:endParaRPr lang="en-US" sz="1100" dirty="0"/>
          </a:p>
        </p:txBody>
      </p:sp>
      <p:sp>
        <p:nvSpPr>
          <p:cNvPr id="20" name="Fluorine atom"/>
          <p:cNvSpPr/>
          <p:nvPr/>
        </p:nvSpPr>
        <p:spPr>
          <a:xfrm>
            <a:off x="7702540" y="2216140"/>
            <a:ext cx="322600" cy="322600"/>
          </a:xfrm>
          <a:prstGeom prst="ellipse">
            <a:avLst/>
          </a:prstGeom>
          <a:solidFill>
            <a:schemeClr val="accent1">
              <a:alpha val="20000"/>
            </a:schemeClr>
          </a:solidFill>
          <a:ln w="12700">
            <a:solidFill>
              <a:schemeClr val="accent1">
                <a:alpha val="70000"/>
              </a:schemeClr>
            </a:solidFill>
            <a:prstDash val="dash"/>
          </a:ln>
        </p:spPr>
      </p:sp>
      <p:sp>
        <p:nvSpPr>
          <p:cNvPr id="21" name="Nucleus"/>
          <p:cNvSpPr/>
          <p:nvPr/>
        </p:nvSpPr>
        <p:spPr>
          <a:xfrm>
            <a:off x="7827264" y="2340864"/>
            <a:ext cx="73152" cy="73152"/>
          </a:xfrm>
          <a:prstGeom prst="ellipse">
            <a:avLst/>
          </a:prstGeom>
          <a:solidFill>
            <a:srgbClr val="E0654F"/>
          </a:solidFill>
          <a:ln w="6350">
            <a:solidFill>
              <a:srgbClr val="E0654F"/>
            </a:solidFill>
            <a:prstDash val="solid"/>
          </a:ln>
        </p:spPr>
      </p:sp>
      <p:sp>
        <p:nvSpPr>
          <p:cNvPr id="22" name="Text 20"/>
          <p:cNvSpPr txBox="1"/>
          <p:nvPr/>
        </p:nvSpPr>
        <p:spPr>
          <a:xfrm>
            <a:off x="7040880" y="2575316"/>
            <a:ext cx="1645920" cy="219456"/>
          </a:xfrm>
          <a:prstGeom prst="rect">
            <a:avLst/>
          </a:prstGeom>
          <a:noFill/>
          <a:ln/>
        </p:spPr>
        <p:txBody>
          <a:bodyPr wrap="square" lIns="0" tIns="0" rIns="0" bIns="0" rtlCol="0" anchor="ctr"/>
          <a:lstStyle/>
          <a:p>
            <a:pPr algn="ctr" indent="0" marL="0">
              <a:buNone/>
            </a:pPr>
            <a:r>
              <a:rPr lang="en-US" sz="1100" dirty="0">
                <a:solidFill>
                  <a:schemeClr val="bg2"/>
                </a:solidFill>
              </a:rPr>
              <a:t>F · 42 pm</a:t>
            </a:r>
            <a:endParaRPr lang="en-US" sz="1100" dirty="0"/>
          </a:p>
        </p:txBody>
      </p:sp>
      <p:sp>
        <p:nvSpPr>
          <p:cNvPr id="23" name="Text 21"/>
          <p:cNvSpPr txBox="1"/>
          <p:nvPr/>
        </p:nvSpPr>
        <p:spPr>
          <a:xfrm>
            <a:off x="4846320" y="3566160"/>
            <a:ext cx="3840480" cy="274320"/>
          </a:xfrm>
          <a:prstGeom prst="rect">
            <a:avLst/>
          </a:prstGeom>
          <a:noFill/>
          <a:ln/>
        </p:spPr>
        <p:txBody>
          <a:bodyPr wrap="square" lIns="0" tIns="0" rIns="0" bIns="0" rtlCol="0" anchor="t"/>
          <a:lstStyle/>
          <a:p>
            <a:pPr algn="ctr" indent="0" marL="0">
              <a:buNone/>
            </a:pPr>
            <a:r>
              <a:rPr lang="en-US" sz="1200" dirty="0">
                <a:solidFill>
                  <a:schemeClr val="bg2"/>
                </a:solidFill>
              </a:rPr>
              <a:t>Across period 2, drawn to scale</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K"/>
          <p:cNvSpPr/>
          <p:nvPr/>
        </p:nvSpPr>
        <p:spPr>
          <a:xfrm>
            <a:off x="517185" y="457932"/>
            <a:ext cx="629839" cy="62983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K</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Atom size missions</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Use the trend to find each atom.</a:t>
            </a:r>
            <a:endParaRPr lang="en-US" sz="1300" dirty="0"/>
          </a:p>
        </p:txBody>
      </p:sp>
      <p:sp>
        <p:nvSpPr>
          <p:cNvPr id="10" name="Mission 1"/>
          <p:cNvSpPr/>
          <p:nvPr/>
        </p:nvSpPr>
        <p:spPr>
          <a:xfrm>
            <a:off x="457200" y="1691640"/>
            <a:ext cx="3931920" cy="457200"/>
          </a:xfrm>
          <a:prstGeom prst="roundRect">
            <a:avLst>
              <a:gd name="adj" fmla="val 20000"/>
            </a:avLst>
          </a:prstGeom>
          <a:solidFill>
            <a:schemeClr val="tx2"/>
          </a:solidFill>
          <a:ln w="9525">
            <a:solidFill>
              <a:schemeClr val="bg2">
                <a:alpha val="30000"/>
              </a:schemeClr>
            </a:solidFill>
            <a:prstDash val="solid"/>
          </a:ln>
        </p:spPr>
      </p:sp>
      <p:sp>
        <p:nvSpPr>
          <p:cNvPr id="11" name="Text 9"/>
          <p:cNvSpPr txBox="1"/>
          <p:nvPr/>
        </p:nvSpPr>
        <p:spPr>
          <a:xfrm>
            <a:off x="594360" y="1691640"/>
            <a:ext cx="2743200" cy="457200"/>
          </a:xfrm>
          <a:prstGeom prst="rect">
            <a:avLst/>
          </a:prstGeom>
          <a:noFill/>
          <a:ln/>
        </p:spPr>
        <p:txBody>
          <a:bodyPr wrap="square" lIns="0" tIns="0" rIns="0" bIns="0" rtlCol="0" anchor="ctr"/>
          <a:lstStyle/>
          <a:p>
            <a:pPr indent="0" marL="0">
              <a:buNone/>
            </a:pPr>
            <a:r>
              <a:rPr lang="en-US" sz="1400" dirty="0">
                <a:solidFill>
                  <a:schemeClr val="bg1"/>
                </a:solidFill>
              </a:rPr>
              <a:t>1. Largest in period 2</a:t>
            </a:r>
            <a:endParaRPr lang="en-US" sz="1400" dirty="0"/>
          </a:p>
        </p:txBody>
      </p:sp>
      <p:sp>
        <p:nvSpPr>
          <p:cNvPr id="12" name="Text 10"/>
          <p:cNvSpPr txBox="1"/>
          <p:nvPr/>
        </p:nvSpPr>
        <p:spPr>
          <a:xfrm>
            <a:off x="3291840" y="1691640"/>
            <a:ext cx="384048" cy="457200"/>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sp>
        <p:nvSpPr>
          <p:cNvPr id="13" name="Mission 2"/>
          <p:cNvSpPr/>
          <p:nvPr/>
        </p:nvSpPr>
        <p:spPr>
          <a:xfrm>
            <a:off x="457200" y="2240280"/>
            <a:ext cx="3931920" cy="457200"/>
          </a:xfrm>
          <a:prstGeom prst="roundRect">
            <a:avLst>
              <a:gd name="adj" fmla="val 20000"/>
            </a:avLst>
          </a:prstGeom>
          <a:solidFill>
            <a:schemeClr val="tx2"/>
          </a:solidFill>
          <a:ln w="9525">
            <a:solidFill>
              <a:schemeClr val="bg2">
                <a:alpha val="30000"/>
              </a:schemeClr>
            </a:solidFill>
            <a:prstDash val="solid"/>
          </a:ln>
        </p:spPr>
      </p:sp>
      <p:sp>
        <p:nvSpPr>
          <p:cNvPr id="14" name="Text 12"/>
          <p:cNvSpPr txBox="1"/>
          <p:nvPr/>
        </p:nvSpPr>
        <p:spPr>
          <a:xfrm>
            <a:off x="594360" y="2240280"/>
            <a:ext cx="2743200" cy="457200"/>
          </a:xfrm>
          <a:prstGeom prst="rect">
            <a:avLst/>
          </a:prstGeom>
          <a:noFill/>
          <a:ln/>
        </p:spPr>
        <p:txBody>
          <a:bodyPr wrap="square" lIns="0" tIns="0" rIns="0" bIns="0" rtlCol="0" anchor="ctr"/>
          <a:lstStyle/>
          <a:p>
            <a:pPr indent="0" marL="0">
              <a:buNone/>
            </a:pPr>
            <a:r>
              <a:rPr lang="en-US" sz="1400" dirty="0">
                <a:solidFill>
                  <a:schemeClr val="bg1"/>
                </a:solidFill>
              </a:rPr>
              <a:t>2. Smallest in group 1</a:t>
            </a:r>
            <a:endParaRPr lang="en-US" sz="1400" dirty="0"/>
          </a:p>
        </p:txBody>
      </p:sp>
      <p:sp>
        <p:nvSpPr>
          <p:cNvPr id="15" name="Text 13"/>
          <p:cNvSpPr txBox="1"/>
          <p:nvPr/>
        </p:nvSpPr>
        <p:spPr>
          <a:xfrm>
            <a:off x="3291840" y="2240280"/>
            <a:ext cx="384048" cy="457200"/>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sp>
        <p:nvSpPr>
          <p:cNvPr id="16" name="Mission 3"/>
          <p:cNvSpPr/>
          <p:nvPr/>
        </p:nvSpPr>
        <p:spPr>
          <a:xfrm>
            <a:off x="457200" y="2788920"/>
            <a:ext cx="3931920" cy="457200"/>
          </a:xfrm>
          <a:prstGeom prst="roundRect">
            <a:avLst>
              <a:gd name="adj" fmla="val 20000"/>
            </a:avLst>
          </a:prstGeom>
          <a:solidFill>
            <a:schemeClr val="tx2"/>
          </a:solidFill>
          <a:ln w="9525">
            <a:solidFill>
              <a:schemeClr val="bg2">
                <a:alpha val="30000"/>
              </a:schemeClr>
            </a:solidFill>
            <a:prstDash val="solid"/>
          </a:ln>
        </p:spPr>
      </p:sp>
      <p:sp>
        <p:nvSpPr>
          <p:cNvPr id="17" name="Text 15"/>
          <p:cNvSpPr txBox="1"/>
          <p:nvPr/>
        </p:nvSpPr>
        <p:spPr>
          <a:xfrm>
            <a:off x="594360" y="2788920"/>
            <a:ext cx="2743200" cy="457200"/>
          </a:xfrm>
          <a:prstGeom prst="rect">
            <a:avLst/>
          </a:prstGeom>
          <a:noFill/>
          <a:ln/>
        </p:spPr>
        <p:txBody>
          <a:bodyPr wrap="square" lIns="0" tIns="0" rIns="0" bIns="0" rtlCol="0" anchor="ctr"/>
          <a:lstStyle/>
          <a:p>
            <a:pPr indent="0" marL="0">
              <a:buNone/>
            </a:pPr>
            <a:r>
              <a:rPr lang="en-US" sz="1400" dirty="0">
                <a:solidFill>
                  <a:schemeClr val="bg1"/>
                </a:solidFill>
              </a:rPr>
              <a:t>3. Largest on the table</a:t>
            </a:r>
            <a:endParaRPr lang="en-US" sz="1400" dirty="0"/>
          </a:p>
        </p:txBody>
      </p:sp>
      <p:sp>
        <p:nvSpPr>
          <p:cNvPr id="18" name="Text 16"/>
          <p:cNvSpPr txBox="1"/>
          <p:nvPr/>
        </p:nvSpPr>
        <p:spPr>
          <a:xfrm>
            <a:off x="3291840" y="2788920"/>
            <a:ext cx="384048" cy="457200"/>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sp>
        <p:nvSpPr>
          <p:cNvPr id="19" name="Mission 4"/>
          <p:cNvSpPr/>
          <p:nvPr/>
        </p:nvSpPr>
        <p:spPr>
          <a:xfrm>
            <a:off x="457200" y="3337560"/>
            <a:ext cx="3931920" cy="457200"/>
          </a:xfrm>
          <a:prstGeom prst="roundRect">
            <a:avLst>
              <a:gd name="adj" fmla="val 20000"/>
            </a:avLst>
          </a:prstGeom>
          <a:solidFill>
            <a:schemeClr val="tx2"/>
          </a:solidFill>
          <a:ln w="9525">
            <a:solidFill>
              <a:schemeClr val="bg2">
                <a:alpha val="30000"/>
              </a:schemeClr>
            </a:solidFill>
            <a:prstDash val="solid"/>
          </a:ln>
        </p:spPr>
      </p:sp>
      <p:sp>
        <p:nvSpPr>
          <p:cNvPr id="20" name="Text 18"/>
          <p:cNvSpPr txBox="1"/>
          <p:nvPr/>
        </p:nvSpPr>
        <p:spPr>
          <a:xfrm>
            <a:off x="594360" y="3337560"/>
            <a:ext cx="2743200" cy="457200"/>
          </a:xfrm>
          <a:prstGeom prst="rect">
            <a:avLst/>
          </a:prstGeom>
          <a:noFill/>
          <a:ln/>
        </p:spPr>
        <p:txBody>
          <a:bodyPr wrap="square" lIns="0" tIns="0" rIns="0" bIns="0" rtlCol="0" anchor="ctr"/>
          <a:lstStyle/>
          <a:p>
            <a:pPr indent="0" marL="0">
              <a:buNone/>
            </a:pPr>
            <a:r>
              <a:rPr lang="en-US" sz="1400" dirty="0">
                <a:solidFill>
                  <a:schemeClr val="bg1"/>
                </a:solidFill>
              </a:rPr>
              <a:t>4. Smallest in period 3</a:t>
            </a:r>
            <a:endParaRPr lang="en-US" sz="1400" dirty="0"/>
          </a:p>
        </p:txBody>
      </p:sp>
      <p:sp>
        <p:nvSpPr>
          <p:cNvPr id="21" name="Text 19"/>
          <p:cNvSpPr txBox="1"/>
          <p:nvPr/>
        </p:nvSpPr>
        <p:spPr>
          <a:xfrm>
            <a:off x="3291840" y="3337560"/>
            <a:ext cx="384048" cy="457200"/>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sp>
        <p:nvSpPr>
          <p:cNvPr id="22" name="Mission 5"/>
          <p:cNvSpPr/>
          <p:nvPr/>
        </p:nvSpPr>
        <p:spPr>
          <a:xfrm>
            <a:off x="457200" y="3886200"/>
            <a:ext cx="3931920" cy="457200"/>
          </a:xfrm>
          <a:prstGeom prst="roundRect">
            <a:avLst>
              <a:gd name="adj" fmla="val 20000"/>
            </a:avLst>
          </a:prstGeom>
          <a:solidFill>
            <a:schemeClr val="tx2"/>
          </a:solidFill>
          <a:ln w="9525">
            <a:solidFill>
              <a:schemeClr val="bg2">
                <a:alpha val="30000"/>
              </a:schemeClr>
            </a:solidFill>
            <a:prstDash val="solid"/>
          </a:ln>
        </p:spPr>
      </p:sp>
      <p:sp>
        <p:nvSpPr>
          <p:cNvPr id="23" name="Text 21"/>
          <p:cNvSpPr txBox="1"/>
          <p:nvPr/>
        </p:nvSpPr>
        <p:spPr>
          <a:xfrm>
            <a:off x="594360" y="3886200"/>
            <a:ext cx="2743200" cy="457200"/>
          </a:xfrm>
          <a:prstGeom prst="rect">
            <a:avLst/>
          </a:prstGeom>
          <a:noFill/>
          <a:ln/>
        </p:spPr>
        <p:txBody>
          <a:bodyPr wrap="square" lIns="0" tIns="0" rIns="0" bIns="0" rtlCol="0" anchor="ctr"/>
          <a:lstStyle/>
          <a:p>
            <a:pPr indent="0" marL="0">
              <a:buNone/>
            </a:pPr>
            <a:r>
              <a:rPr lang="en-US" sz="1400" dirty="0">
                <a:solidFill>
                  <a:schemeClr val="bg1"/>
                </a:solidFill>
              </a:rPr>
              <a:t>5. Largest in group 17</a:t>
            </a:r>
            <a:endParaRPr lang="en-US" sz="1400" dirty="0"/>
          </a:p>
        </p:txBody>
      </p:sp>
      <p:sp>
        <p:nvSpPr>
          <p:cNvPr id="24" name="Text 22"/>
          <p:cNvSpPr txBox="1"/>
          <p:nvPr/>
        </p:nvSpPr>
        <p:spPr>
          <a:xfrm>
            <a:off x="3291840" y="3886200"/>
            <a:ext cx="384048" cy="457200"/>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sp>
        <p:nvSpPr>
          <p:cNvPr id="25" name="Text 23"/>
          <p:cNvSpPr txBox="1"/>
          <p:nvPr/>
        </p:nvSpPr>
        <p:spPr>
          <a:xfrm>
            <a:off x="4754880"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a:t>
            </a:r>
            <a:endParaRPr lang="en-US" sz="800" dirty="0"/>
          </a:p>
        </p:txBody>
      </p:sp>
      <p:sp>
        <p:nvSpPr>
          <p:cNvPr id="26" name="Text 24"/>
          <p:cNvSpPr txBox="1"/>
          <p:nvPr/>
        </p:nvSpPr>
        <p:spPr>
          <a:xfrm>
            <a:off x="5237683"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2</a:t>
            </a:r>
            <a:endParaRPr lang="en-US" sz="800" dirty="0"/>
          </a:p>
        </p:txBody>
      </p:sp>
      <p:sp>
        <p:nvSpPr>
          <p:cNvPr id="27" name="Text 25"/>
          <p:cNvSpPr txBox="1"/>
          <p:nvPr/>
        </p:nvSpPr>
        <p:spPr>
          <a:xfrm>
            <a:off x="5720486"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13</a:t>
            </a:r>
            <a:endParaRPr lang="en-US" sz="800" dirty="0"/>
          </a:p>
        </p:txBody>
      </p:sp>
      <p:sp>
        <p:nvSpPr>
          <p:cNvPr id="28" name="Text 26"/>
          <p:cNvSpPr txBox="1"/>
          <p:nvPr/>
        </p:nvSpPr>
        <p:spPr>
          <a:xfrm>
            <a:off x="6203290"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14</a:t>
            </a:r>
            <a:endParaRPr lang="en-US" sz="800" dirty="0"/>
          </a:p>
        </p:txBody>
      </p:sp>
      <p:sp>
        <p:nvSpPr>
          <p:cNvPr id="29" name="Text 27"/>
          <p:cNvSpPr txBox="1"/>
          <p:nvPr/>
        </p:nvSpPr>
        <p:spPr>
          <a:xfrm>
            <a:off x="6686093"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15</a:t>
            </a:r>
            <a:endParaRPr lang="en-US" sz="800" dirty="0"/>
          </a:p>
        </p:txBody>
      </p:sp>
      <p:sp>
        <p:nvSpPr>
          <p:cNvPr id="30" name="Text 28"/>
          <p:cNvSpPr txBox="1"/>
          <p:nvPr/>
        </p:nvSpPr>
        <p:spPr>
          <a:xfrm>
            <a:off x="7168896"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16</a:t>
            </a:r>
            <a:endParaRPr lang="en-US" sz="800" dirty="0"/>
          </a:p>
        </p:txBody>
      </p:sp>
      <p:sp>
        <p:nvSpPr>
          <p:cNvPr id="31" name="Text 29"/>
          <p:cNvSpPr txBox="1"/>
          <p:nvPr/>
        </p:nvSpPr>
        <p:spPr>
          <a:xfrm>
            <a:off x="7651699"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17</a:t>
            </a:r>
            <a:endParaRPr lang="en-US" sz="800" dirty="0"/>
          </a:p>
        </p:txBody>
      </p:sp>
      <p:sp>
        <p:nvSpPr>
          <p:cNvPr id="32" name="Text 30"/>
          <p:cNvSpPr txBox="1"/>
          <p:nvPr/>
        </p:nvSpPr>
        <p:spPr>
          <a:xfrm>
            <a:off x="8134502"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18</a:t>
            </a:r>
            <a:endParaRPr lang="en-US" sz="800" dirty="0"/>
          </a:p>
        </p:txBody>
      </p:sp>
      <p:sp>
        <p:nvSpPr>
          <p:cNvPr id="33" name="Tile H"/>
          <p:cNvSpPr/>
          <p:nvPr/>
        </p:nvSpPr>
        <p:spPr>
          <a:xfrm>
            <a:off x="4754880" y="1783080"/>
            <a:ext cx="438912" cy="460858"/>
          </a:xfrm>
          <a:prstGeom prst="roundRect">
            <a:avLst>
              <a:gd name="adj" fmla="val 12000"/>
            </a:avLst>
          </a:prstGeom>
          <a:solidFill>
            <a:srgbClr val="45C08F">
              <a:alpha val="30000"/>
            </a:srgbClr>
          </a:solidFill>
          <a:ln w="19050">
            <a:solidFill>
              <a:srgbClr val="45C08F"/>
            </a:solidFill>
            <a:prstDash val="solid"/>
          </a:ln>
        </p:spPr>
      </p:sp>
      <p:sp>
        <p:nvSpPr>
          <p:cNvPr id="34" name="Text 32"/>
          <p:cNvSpPr txBox="1"/>
          <p:nvPr/>
        </p:nvSpPr>
        <p:spPr>
          <a:xfrm>
            <a:off x="4789993" y="1806123"/>
            <a:ext cx="263347" cy="110606"/>
          </a:xfrm>
          <a:prstGeom prst="rect">
            <a:avLst/>
          </a:prstGeom>
          <a:noFill/>
          <a:ln/>
        </p:spPr>
        <p:txBody>
          <a:bodyPr wrap="square" lIns="0" tIns="0" rIns="0" bIns="0" rtlCol="0" anchor="t"/>
          <a:lstStyle/>
          <a:p>
            <a:pPr indent="0" marL="0">
              <a:buNone/>
            </a:pPr>
            <a:r>
              <a:rPr lang="en-US" sz="600" dirty="0">
                <a:solidFill>
                  <a:schemeClr val="bg2"/>
                </a:solidFill>
              </a:rPr>
              <a:t>1</a:t>
            </a:r>
            <a:endParaRPr lang="en-US" sz="600" dirty="0"/>
          </a:p>
        </p:txBody>
      </p:sp>
      <p:sp>
        <p:nvSpPr>
          <p:cNvPr id="35" name="Text 33"/>
          <p:cNvSpPr txBox="1"/>
          <p:nvPr/>
        </p:nvSpPr>
        <p:spPr>
          <a:xfrm>
            <a:off x="4754880" y="1856817"/>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H</a:t>
            </a:r>
            <a:endParaRPr lang="en-US" sz="1400" dirty="0"/>
          </a:p>
        </p:txBody>
      </p:sp>
      <p:sp>
        <p:nvSpPr>
          <p:cNvPr id="36" name="Tile He"/>
          <p:cNvSpPr/>
          <p:nvPr/>
        </p:nvSpPr>
        <p:spPr>
          <a:xfrm>
            <a:off x="8134502" y="1783080"/>
            <a:ext cx="438912" cy="460858"/>
          </a:xfrm>
          <a:prstGeom prst="roundRect">
            <a:avLst>
              <a:gd name="adj" fmla="val 12000"/>
            </a:avLst>
          </a:prstGeom>
          <a:solidFill>
            <a:srgbClr val="A084FF">
              <a:alpha val="30000"/>
            </a:srgbClr>
          </a:solidFill>
          <a:ln w="19050">
            <a:solidFill>
              <a:srgbClr val="A084FF"/>
            </a:solidFill>
            <a:prstDash val="solid"/>
          </a:ln>
        </p:spPr>
      </p:sp>
      <p:sp>
        <p:nvSpPr>
          <p:cNvPr id="37" name="Text 35"/>
          <p:cNvSpPr txBox="1"/>
          <p:nvPr/>
        </p:nvSpPr>
        <p:spPr>
          <a:xfrm>
            <a:off x="8169615" y="1806123"/>
            <a:ext cx="263347" cy="110606"/>
          </a:xfrm>
          <a:prstGeom prst="rect">
            <a:avLst/>
          </a:prstGeom>
          <a:noFill/>
          <a:ln/>
        </p:spPr>
        <p:txBody>
          <a:bodyPr wrap="square" lIns="0" tIns="0" rIns="0" bIns="0" rtlCol="0" anchor="t"/>
          <a:lstStyle/>
          <a:p>
            <a:pPr indent="0" marL="0">
              <a:buNone/>
            </a:pPr>
            <a:r>
              <a:rPr lang="en-US" sz="600" dirty="0">
                <a:solidFill>
                  <a:schemeClr val="bg2"/>
                </a:solidFill>
              </a:rPr>
              <a:t>2</a:t>
            </a:r>
            <a:endParaRPr lang="en-US" sz="600" dirty="0"/>
          </a:p>
        </p:txBody>
      </p:sp>
      <p:sp>
        <p:nvSpPr>
          <p:cNvPr id="38" name="Text 36"/>
          <p:cNvSpPr txBox="1"/>
          <p:nvPr/>
        </p:nvSpPr>
        <p:spPr>
          <a:xfrm>
            <a:off x="8134502" y="1856817"/>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He</a:t>
            </a:r>
            <a:endParaRPr lang="en-US" sz="1400" dirty="0"/>
          </a:p>
        </p:txBody>
      </p:sp>
      <p:sp>
        <p:nvSpPr>
          <p:cNvPr id="39" name="Tile Li"/>
          <p:cNvSpPr/>
          <p:nvPr/>
        </p:nvSpPr>
        <p:spPr>
          <a:xfrm>
            <a:off x="4754880" y="2287829"/>
            <a:ext cx="438912" cy="460858"/>
          </a:xfrm>
          <a:prstGeom prst="roundRect">
            <a:avLst>
              <a:gd name="adj" fmla="val 12000"/>
            </a:avLst>
          </a:prstGeom>
          <a:solidFill>
            <a:srgbClr val="FF8F5E">
              <a:alpha val="30000"/>
            </a:srgbClr>
          </a:solidFill>
          <a:ln w="19050">
            <a:solidFill>
              <a:srgbClr val="FF8F5E"/>
            </a:solidFill>
            <a:prstDash val="solid"/>
          </a:ln>
        </p:spPr>
      </p:sp>
      <p:sp>
        <p:nvSpPr>
          <p:cNvPr id="40" name="Text 38"/>
          <p:cNvSpPr txBox="1"/>
          <p:nvPr/>
        </p:nvSpPr>
        <p:spPr>
          <a:xfrm>
            <a:off x="4789993"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41" name="Text 39"/>
          <p:cNvSpPr txBox="1"/>
          <p:nvPr/>
        </p:nvSpPr>
        <p:spPr>
          <a:xfrm>
            <a:off x="4754880"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Li</a:t>
            </a:r>
            <a:endParaRPr lang="en-US" sz="1400" dirty="0"/>
          </a:p>
        </p:txBody>
      </p:sp>
      <p:sp>
        <p:nvSpPr>
          <p:cNvPr id="42" name="Tile Be"/>
          <p:cNvSpPr/>
          <p:nvPr/>
        </p:nvSpPr>
        <p:spPr>
          <a:xfrm>
            <a:off x="5237683" y="2287829"/>
            <a:ext cx="438912" cy="460858"/>
          </a:xfrm>
          <a:prstGeom prst="roundRect">
            <a:avLst>
              <a:gd name="adj" fmla="val 12000"/>
            </a:avLst>
          </a:prstGeom>
          <a:solidFill>
            <a:srgbClr val="FFCB5C">
              <a:alpha val="30000"/>
            </a:srgbClr>
          </a:solidFill>
          <a:ln w="19050">
            <a:solidFill>
              <a:srgbClr val="FFCB5C"/>
            </a:solidFill>
            <a:prstDash val="solid"/>
          </a:ln>
        </p:spPr>
      </p:sp>
      <p:sp>
        <p:nvSpPr>
          <p:cNvPr id="43" name="Text 41"/>
          <p:cNvSpPr txBox="1"/>
          <p:nvPr/>
        </p:nvSpPr>
        <p:spPr>
          <a:xfrm>
            <a:off x="5272796"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4</a:t>
            </a:r>
            <a:endParaRPr lang="en-US" sz="600" dirty="0"/>
          </a:p>
        </p:txBody>
      </p:sp>
      <p:sp>
        <p:nvSpPr>
          <p:cNvPr id="44" name="Text 42"/>
          <p:cNvSpPr txBox="1"/>
          <p:nvPr/>
        </p:nvSpPr>
        <p:spPr>
          <a:xfrm>
            <a:off x="5237683"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Be</a:t>
            </a:r>
            <a:endParaRPr lang="en-US" sz="1400" dirty="0"/>
          </a:p>
        </p:txBody>
      </p:sp>
      <p:sp>
        <p:nvSpPr>
          <p:cNvPr id="45" name="Tile B"/>
          <p:cNvSpPr/>
          <p:nvPr/>
        </p:nvSpPr>
        <p:spPr>
          <a:xfrm>
            <a:off x="5720486" y="2287829"/>
            <a:ext cx="438912" cy="460858"/>
          </a:xfrm>
          <a:prstGeom prst="roundRect">
            <a:avLst>
              <a:gd name="adj" fmla="val 12000"/>
            </a:avLst>
          </a:prstGeom>
          <a:solidFill>
            <a:srgbClr val="46C7D8">
              <a:alpha val="30000"/>
            </a:srgbClr>
          </a:solidFill>
          <a:ln w="19050">
            <a:solidFill>
              <a:srgbClr val="46C7D8"/>
            </a:solidFill>
            <a:prstDash val="solid"/>
          </a:ln>
        </p:spPr>
      </p:sp>
      <p:sp>
        <p:nvSpPr>
          <p:cNvPr id="46" name="Text 44"/>
          <p:cNvSpPr txBox="1"/>
          <p:nvPr/>
        </p:nvSpPr>
        <p:spPr>
          <a:xfrm>
            <a:off x="5755599"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5</a:t>
            </a:r>
            <a:endParaRPr lang="en-US" sz="600" dirty="0"/>
          </a:p>
        </p:txBody>
      </p:sp>
      <p:sp>
        <p:nvSpPr>
          <p:cNvPr id="47" name="Text 45"/>
          <p:cNvSpPr txBox="1"/>
          <p:nvPr/>
        </p:nvSpPr>
        <p:spPr>
          <a:xfrm>
            <a:off x="5720486"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48" name="Tile C"/>
          <p:cNvSpPr/>
          <p:nvPr/>
        </p:nvSpPr>
        <p:spPr>
          <a:xfrm>
            <a:off x="6203290" y="2287829"/>
            <a:ext cx="438912" cy="460858"/>
          </a:xfrm>
          <a:prstGeom prst="roundRect">
            <a:avLst>
              <a:gd name="adj" fmla="val 12000"/>
            </a:avLst>
          </a:prstGeom>
          <a:solidFill>
            <a:srgbClr val="45C08F">
              <a:alpha val="30000"/>
            </a:srgbClr>
          </a:solidFill>
          <a:ln w="19050">
            <a:solidFill>
              <a:srgbClr val="45C08F"/>
            </a:solidFill>
            <a:prstDash val="solid"/>
          </a:ln>
        </p:spPr>
      </p:sp>
      <p:sp>
        <p:nvSpPr>
          <p:cNvPr id="49" name="Text 47"/>
          <p:cNvSpPr txBox="1"/>
          <p:nvPr/>
        </p:nvSpPr>
        <p:spPr>
          <a:xfrm>
            <a:off x="6238403"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6</a:t>
            </a:r>
            <a:endParaRPr lang="en-US" sz="600" dirty="0"/>
          </a:p>
        </p:txBody>
      </p:sp>
      <p:sp>
        <p:nvSpPr>
          <p:cNvPr id="50" name="Text 48"/>
          <p:cNvSpPr txBox="1"/>
          <p:nvPr/>
        </p:nvSpPr>
        <p:spPr>
          <a:xfrm>
            <a:off x="6203290"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51" name="Tile N"/>
          <p:cNvSpPr/>
          <p:nvPr/>
        </p:nvSpPr>
        <p:spPr>
          <a:xfrm>
            <a:off x="6686093" y="2287829"/>
            <a:ext cx="438912" cy="460858"/>
          </a:xfrm>
          <a:prstGeom prst="roundRect">
            <a:avLst>
              <a:gd name="adj" fmla="val 12000"/>
            </a:avLst>
          </a:prstGeom>
          <a:solidFill>
            <a:srgbClr val="45C08F">
              <a:alpha val="30000"/>
            </a:srgbClr>
          </a:solidFill>
          <a:ln w="19050">
            <a:solidFill>
              <a:srgbClr val="45C08F"/>
            </a:solidFill>
            <a:prstDash val="solid"/>
          </a:ln>
        </p:spPr>
      </p:sp>
      <p:sp>
        <p:nvSpPr>
          <p:cNvPr id="52" name="Text 50"/>
          <p:cNvSpPr txBox="1"/>
          <p:nvPr/>
        </p:nvSpPr>
        <p:spPr>
          <a:xfrm>
            <a:off x="6721206"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7</a:t>
            </a:r>
            <a:endParaRPr lang="en-US" sz="600" dirty="0"/>
          </a:p>
        </p:txBody>
      </p:sp>
      <p:sp>
        <p:nvSpPr>
          <p:cNvPr id="53" name="Text 51"/>
          <p:cNvSpPr txBox="1"/>
          <p:nvPr/>
        </p:nvSpPr>
        <p:spPr>
          <a:xfrm>
            <a:off x="6686093"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N</a:t>
            </a:r>
            <a:endParaRPr lang="en-US" sz="1400" dirty="0"/>
          </a:p>
        </p:txBody>
      </p:sp>
      <p:sp>
        <p:nvSpPr>
          <p:cNvPr id="54" name="Tile O"/>
          <p:cNvSpPr/>
          <p:nvPr/>
        </p:nvSpPr>
        <p:spPr>
          <a:xfrm>
            <a:off x="7168896" y="2287829"/>
            <a:ext cx="438912" cy="460858"/>
          </a:xfrm>
          <a:prstGeom prst="roundRect">
            <a:avLst>
              <a:gd name="adj" fmla="val 12000"/>
            </a:avLst>
          </a:prstGeom>
          <a:solidFill>
            <a:srgbClr val="45C08F">
              <a:alpha val="30000"/>
            </a:srgbClr>
          </a:solidFill>
          <a:ln w="19050">
            <a:solidFill>
              <a:srgbClr val="45C08F"/>
            </a:solidFill>
            <a:prstDash val="solid"/>
          </a:ln>
        </p:spPr>
      </p:sp>
      <p:sp>
        <p:nvSpPr>
          <p:cNvPr id="55" name="Text 53"/>
          <p:cNvSpPr txBox="1"/>
          <p:nvPr/>
        </p:nvSpPr>
        <p:spPr>
          <a:xfrm>
            <a:off x="7204009"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8</a:t>
            </a:r>
            <a:endParaRPr lang="en-US" sz="600" dirty="0"/>
          </a:p>
        </p:txBody>
      </p:sp>
      <p:sp>
        <p:nvSpPr>
          <p:cNvPr id="56" name="Text 54"/>
          <p:cNvSpPr txBox="1"/>
          <p:nvPr/>
        </p:nvSpPr>
        <p:spPr>
          <a:xfrm>
            <a:off x="7168896"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O</a:t>
            </a:r>
            <a:endParaRPr lang="en-US" sz="1400" dirty="0"/>
          </a:p>
        </p:txBody>
      </p:sp>
      <p:sp>
        <p:nvSpPr>
          <p:cNvPr id="57" name="Tile F"/>
          <p:cNvSpPr/>
          <p:nvPr/>
        </p:nvSpPr>
        <p:spPr>
          <a:xfrm>
            <a:off x="7651699" y="2287829"/>
            <a:ext cx="438912" cy="460858"/>
          </a:xfrm>
          <a:prstGeom prst="roundRect">
            <a:avLst>
              <a:gd name="adj" fmla="val 12000"/>
            </a:avLst>
          </a:prstGeom>
          <a:solidFill>
            <a:srgbClr val="F477B8">
              <a:alpha val="30000"/>
            </a:srgbClr>
          </a:solidFill>
          <a:ln w="19050">
            <a:solidFill>
              <a:srgbClr val="F477B8"/>
            </a:solidFill>
            <a:prstDash val="solid"/>
          </a:ln>
        </p:spPr>
      </p:sp>
      <p:sp>
        <p:nvSpPr>
          <p:cNvPr id="58" name="Text 56"/>
          <p:cNvSpPr txBox="1"/>
          <p:nvPr/>
        </p:nvSpPr>
        <p:spPr>
          <a:xfrm>
            <a:off x="7686812"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9</a:t>
            </a:r>
            <a:endParaRPr lang="en-US" sz="600" dirty="0"/>
          </a:p>
        </p:txBody>
      </p:sp>
      <p:sp>
        <p:nvSpPr>
          <p:cNvPr id="59" name="Text 57"/>
          <p:cNvSpPr txBox="1"/>
          <p:nvPr/>
        </p:nvSpPr>
        <p:spPr>
          <a:xfrm>
            <a:off x="7651699"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60" name="Tile Ne"/>
          <p:cNvSpPr/>
          <p:nvPr/>
        </p:nvSpPr>
        <p:spPr>
          <a:xfrm>
            <a:off x="8134502" y="2287829"/>
            <a:ext cx="438912" cy="460858"/>
          </a:xfrm>
          <a:prstGeom prst="roundRect">
            <a:avLst>
              <a:gd name="adj" fmla="val 12000"/>
            </a:avLst>
          </a:prstGeom>
          <a:solidFill>
            <a:srgbClr val="A084FF">
              <a:alpha val="30000"/>
            </a:srgbClr>
          </a:solidFill>
          <a:ln w="19050">
            <a:solidFill>
              <a:srgbClr val="A084FF"/>
            </a:solidFill>
            <a:prstDash val="solid"/>
          </a:ln>
        </p:spPr>
      </p:sp>
      <p:sp>
        <p:nvSpPr>
          <p:cNvPr id="61" name="Text 59"/>
          <p:cNvSpPr txBox="1"/>
          <p:nvPr/>
        </p:nvSpPr>
        <p:spPr>
          <a:xfrm>
            <a:off x="8169615" y="2310872"/>
            <a:ext cx="263347" cy="110606"/>
          </a:xfrm>
          <a:prstGeom prst="rect">
            <a:avLst/>
          </a:prstGeom>
          <a:noFill/>
          <a:ln/>
        </p:spPr>
        <p:txBody>
          <a:bodyPr wrap="square" lIns="0" tIns="0" rIns="0" bIns="0" rtlCol="0" anchor="t"/>
          <a:lstStyle/>
          <a:p>
            <a:pPr indent="0" marL="0">
              <a:buNone/>
            </a:pPr>
            <a:r>
              <a:rPr lang="en-US" sz="600" dirty="0">
                <a:solidFill>
                  <a:schemeClr val="bg2"/>
                </a:solidFill>
              </a:rPr>
              <a:t>10</a:t>
            </a:r>
            <a:endParaRPr lang="en-US" sz="600" dirty="0"/>
          </a:p>
        </p:txBody>
      </p:sp>
      <p:sp>
        <p:nvSpPr>
          <p:cNvPr id="62" name="Text 60"/>
          <p:cNvSpPr txBox="1"/>
          <p:nvPr/>
        </p:nvSpPr>
        <p:spPr>
          <a:xfrm>
            <a:off x="8134502" y="2361566"/>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Ne</a:t>
            </a:r>
            <a:endParaRPr lang="en-US" sz="1400" dirty="0"/>
          </a:p>
        </p:txBody>
      </p:sp>
      <p:sp>
        <p:nvSpPr>
          <p:cNvPr id="63" name="Tile Na"/>
          <p:cNvSpPr/>
          <p:nvPr/>
        </p:nvSpPr>
        <p:spPr>
          <a:xfrm>
            <a:off x="4754880" y="2792578"/>
            <a:ext cx="438912" cy="460858"/>
          </a:xfrm>
          <a:prstGeom prst="roundRect">
            <a:avLst>
              <a:gd name="adj" fmla="val 12000"/>
            </a:avLst>
          </a:prstGeom>
          <a:solidFill>
            <a:srgbClr val="FF8F5E">
              <a:alpha val="30000"/>
            </a:srgbClr>
          </a:solidFill>
          <a:ln w="19050">
            <a:solidFill>
              <a:srgbClr val="FF8F5E"/>
            </a:solidFill>
            <a:prstDash val="solid"/>
          </a:ln>
        </p:spPr>
      </p:sp>
      <p:sp>
        <p:nvSpPr>
          <p:cNvPr id="64" name="Text 62"/>
          <p:cNvSpPr txBox="1"/>
          <p:nvPr/>
        </p:nvSpPr>
        <p:spPr>
          <a:xfrm>
            <a:off x="4789993"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65" name="Text 63"/>
          <p:cNvSpPr txBox="1"/>
          <p:nvPr/>
        </p:nvSpPr>
        <p:spPr>
          <a:xfrm>
            <a:off x="4754880"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Na</a:t>
            </a:r>
            <a:endParaRPr lang="en-US" sz="1400" dirty="0"/>
          </a:p>
        </p:txBody>
      </p:sp>
      <p:sp>
        <p:nvSpPr>
          <p:cNvPr id="66" name="Tile Mg"/>
          <p:cNvSpPr/>
          <p:nvPr/>
        </p:nvSpPr>
        <p:spPr>
          <a:xfrm>
            <a:off x="5237683" y="2792578"/>
            <a:ext cx="438912" cy="460858"/>
          </a:xfrm>
          <a:prstGeom prst="roundRect">
            <a:avLst>
              <a:gd name="adj" fmla="val 12000"/>
            </a:avLst>
          </a:prstGeom>
          <a:solidFill>
            <a:srgbClr val="FFCB5C">
              <a:alpha val="30000"/>
            </a:srgbClr>
          </a:solidFill>
          <a:ln w="19050">
            <a:solidFill>
              <a:srgbClr val="FFCB5C"/>
            </a:solidFill>
            <a:prstDash val="solid"/>
          </a:ln>
        </p:spPr>
      </p:sp>
      <p:sp>
        <p:nvSpPr>
          <p:cNvPr id="67" name="Text 65"/>
          <p:cNvSpPr txBox="1"/>
          <p:nvPr/>
        </p:nvSpPr>
        <p:spPr>
          <a:xfrm>
            <a:off x="5272796"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12</a:t>
            </a:r>
            <a:endParaRPr lang="en-US" sz="600" dirty="0"/>
          </a:p>
        </p:txBody>
      </p:sp>
      <p:sp>
        <p:nvSpPr>
          <p:cNvPr id="68" name="Text 66"/>
          <p:cNvSpPr txBox="1"/>
          <p:nvPr/>
        </p:nvSpPr>
        <p:spPr>
          <a:xfrm>
            <a:off x="5237683"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Mg</a:t>
            </a:r>
            <a:endParaRPr lang="en-US" sz="1400" dirty="0"/>
          </a:p>
        </p:txBody>
      </p:sp>
      <p:sp>
        <p:nvSpPr>
          <p:cNvPr id="69" name="Tile Al"/>
          <p:cNvSpPr/>
          <p:nvPr/>
        </p:nvSpPr>
        <p:spPr>
          <a:xfrm>
            <a:off x="5720486" y="2792578"/>
            <a:ext cx="438912" cy="460858"/>
          </a:xfrm>
          <a:prstGeom prst="roundRect">
            <a:avLst>
              <a:gd name="adj" fmla="val 12000"/>
            </a:avLst>
          </a:prstGeom>
          <a:solidFill>
            <a:srgbClr val="8EA8CC">
              <a:alpha val="30000"/>
            </a:srgbClr>
          </a:solidFill>
          <a:ln w="19050">
            <a:solidFill>
              <a:srgbClr val="8EA8CC"/>
            </a:solidFill>
            <a:prstDash val="solid"/>
          </a:ln>
        </p:spPr>
      </p:sp>
      <p:sp>
        <p:nvSpPr>
          <p:cNvPr id="70" name="Text 68"/>
          <p:cNvSpPr txBox="1"/>
          <p:nvPr/>
        </p:nvSpPr>
        <p:spPr>
          <a:xfrm>
            <a:off x="5755599"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13</a:t>
            </a:r>
            <a:endParaRPr lang="en-US" sz="600" dirty="0"/>
          </a:p>
        </p:txBody>
      </p:sp>
      <p:sp>
        <p:nvSpPr>
          <p:cNvPr id="71" name="Text 69"/>
          <p:cNvSpPr txBox="1"/>
          <p:nvPr/>
        </p:nvSpPr>
        <p:spPr>
          <a:xfrm>
            <a:off x="5720486"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Al</a:t>
            </a:r>
            <a:endParaRPr lang="en-US" sz="1400" dirty="0"/>
          </a:p>
        </p:txBody>
      </p:sp>
      <p:sp>
        <p:nvSpPr>
          <p:cNvPr id="72" name="Tile Si"/>
          <p:cNvSpPr/>
          <p:nvPr/>
        </p:nvSpPr>
        <p:spPr>
          <a:xfrm>
            <a:off x="6203290" y="2792578"/>
            <a:ext cx="438912" cy="460858"/>
          </a:xfrm>
          <a:prstGeom prst="roundRect">
            <a:avLst>
              <a:gd name="adj" fmla="val 12000"/>
            </a:avLst>
          </a:prstGeom>
          <a:solidFill>
            <a:srgbClr val="46C7D8">
              <a:alpha val="30000"/>
            </a:srgbClr>
          </a:solidFill>
          <a:ln w="19050">
            <a:solidFill>
              <a:srgbClr val="46C7D8"/>
            </a:solidFill>
            <a:prstDash val="solid"/>
          </a:ln>
        </p:spPr>
      </p:sp>
      <p:sp>
        <p:nvSpPr>
          <p:cNvPr id="73" name="Text 71"/>
          <p:cNvSpPr txBox="1"/>
          <p:nvPr/>
        </p:nvSpPr>
        <p:spPr>
          <a:xfrm>
            <a:off x="6238403"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14</a:t>
            </a:r>
            <a:endParaRPr lang="en-US" sz="600" dirty="0"/>
          </a:p>
        </p:txBody>
      </p:sp>
      <p:sp>
        <p:nvSpPr>
          <p:cNvPr id="74" name="Text 72"/>
          <p:cNvSpPr txBox="1"/>
          <p:nvPr/>
        </p:nvSpPr>
        <p:spPr>
          <a:xfrm>
            <a:off x="6203290"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Si</a:t>
            </a:r>
            <a:endParaRPr lang="en-US" sz="1400" dirty="0"/>
          </a:p>
        </p:txBody>
      </p:sp>
      <p:sp>
        <p:nvSpPr>
          <p:cNvPr id="75" name="Tile P"/>
          <p:cNvSpPr/>
          <p:nvPr/>
        </p:nvSpPr>
        <p:spPr>
          <a:xfrm>
            <a:off x="6686093" y="2792578"/>
            <a:ext cx="438912" cy="460858"/>
          </a:xfrm>
          <a:prstGeom prst="roundRect">
            <a:avLst>
              <a:gd name="adj" fmla="val 12000"/>
            </a:avLst>
          </a:prstGeom>
          <a:solidFill>
            <a:srgbClr val="45C08F">
              <a:alpha val="30000"/>
            </a:srgbClr>
          </a:solidFill>
          <a:ln w="19050">
            <a:solidFill>
              <a:srgbClr val="45C08F"/>
            </a:solidFill>
            <a:prstDash val="solid"/>
          </a:ln>
        </p:spPr>
      </p:sp>
      <p:sp>
        <p:nvSpPr>
          <p:cNvPr id="76" name="Text 74"/>
          <p:cNvSpPr txBox="1"/>
          <p:nvPr/>
        </p:nvSpPr>
        <p:spPr>
          <a:xfrm>
            <a:off x="6721206"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15</a:t>
            </a:r>
            <a:endParaRPr lang="en-US" sz="600" dirty="0"/>
          </a:p>
        </p:txBody>
      </p:sp>
      <p:sp>
        <p:nvSpPr>
          <p:cNvPr id="77" name="Text 75"/>
          <p:cNvSpPr txBox="1"/>
          <p:nvPr/>
        </p:nvSpPr>
        <p:spPr>
          <a:xfrm>
            <a:off x="6686093"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P</a:t>
            </a:r>
            <a:endParaRPr lang="en-US" sz="1400" dirty="0"/>
          </a:p>
        </p:txBody>
      </p:sp>
      <p:sp>
        <p:nvSpPr>
          <p:cNvPr id="78" name="Tile S"/>
          <p:cNvSpPr/>
          <p:nvPr/>
        </p:nvSpPr>
        <p:spPr>
          <a:xfrm>
            <a:off x="7168896" y="2792578"/>
            <a:ext cx="438912" cy="460858"/>
          </a:xfrm>
          <a:prstGeom prst="roundRect">
            <a:avLst>
              <a:gd name="adj" fmla="val 12000"/>
            </a:avLst>
          </a:prstGeom>
          <a:solidFill>
            <a:srgbClr val="45C08F">
              <a:alpha val="30000"/>
            </a:srgbClr>
          </a:solidFill>
          <a:ln w="19050">
            <a:solidFill>
              <a:srgbClr val="45C08F"/>
            </a:solidFill>
            <a:prstDash val="solid"/>
          </a:ln>
        </p:spPr>
      </p:sp>
      <p:sp>
        <p:nvSpPr>
          <p:cNvPr id="79" name="Text 77"/>
          <p:cNvSpPr txBox="1"/>
          <p:nvPr/>
        </p:nvSpPr>
        <p:spPr>
          <a:xfrm>
            <a:off x="7204009"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16</a:t>
            </a:r>
            <a:endParaRPr lang="en-US" sz="600" dirty="0"/>
          </a:p>
        </p:txBody>
      </p:sp>
      <p:sp>
        <p:nvSpPr>
          <p:cNvPr id="80" name="Text 78"/>
          <p:cNvSpPr txBox="1"/>
          <p:nvPr/>
        </p:nvSpPr>
        <p:spPr>
          <a:xfrm>
            <a:off x="7168896"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S</a:t>
            </a:r>
            <a:endParaRPr lang="en-US" sz="1400" dirty="0"/>
          </a:p>
        </p:txBody>
      </p:sp>
      <p:sp>
        <p:nvSpPr>
          <p:cNvPr id="81" name="Tile Cl"/>
          <p:cNvSpPr/>
          <p:nvPr/>
        </p:nvSpPr>
        <p:spPr>
          <a:xfrm>
            <a:off x="7651699" y="2792578"/>
            <a:ext cx="438912" cy="460858"/>
          </a:xfrm>
          <a:prstGeom prst="roundRect">
            <a:avLst>
              <a:gd name="adj" fmla="val 12000"/>
            </a:avLst>
          </a:prstGeom>
          <a:solidFill>
            <a:srgbClr val="F477B8">
              <a:alpha val="30000"/>
            </a:srgbClr>
          </a:solidFill>
          <a:ln w="19050">
            <a:solidFill>
              <a:srgbClr val="F477B8"/>
            </a:solidFill>
            <a:prstDash val="solid"/>
          </a:ln>
        </p:spPr>
      </p:sp>
      <p:sp>
        <p:nvSpPr>
          <p:cNvPr id="82" name="Text 80"/>
          <p:cNvSpPr txBox="1"/>
          <p:nvPr/>
        </p:nvSpPr>
        <p:spPr>
          <a:xfrm>
            <a:off x="7686812"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83" name="Text 81"/>
          <p:cNvSpPr txBox="1"/>
          <p:nvPr/>
        </p:nvSpPr>
        <p:spPr>
          <a:xfrm>
            <a:off x="7651699"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Cl</a:t>
            </a:r>
            <a:endParaRPr lang="en-US" sz="1400" dirty="0"/>
          </a:p>
        </p:txBody>
      </p:sp>
      <p:sp>
        <p:nvSpPr>
          <p:cNvPr id="84" name="Tile Ar"/>
          <p:cNvSpPr/>
          <p:nvPr/>
        </p:nvSpPr>
        <p:spPr>
          <a:xfrm>
            <a:off x="8134502" y="2792578"/>
            <a:ext cx="438912" cy="460858"/>
          </a:xfrm>
          <a:prstGeom prst="roundRect">
            <a:avLst>
              <a:gd name="adj" fmla="val 12000"/>
            </a:avLst>
          </a:prstGeom>
          <a:solidFill>
            <a:srgbClr val="A084FF">
              <a:alpha val="30000"/>
            </a:srgbClr>
          </a:solidFill>
          <a:ln w="19050">
            <a:solidFill>
              <a:srgbClr val="A084FF"/>
            </a:solidFill>
            <a:prstDash val="solid"/>
          </a:ln>
        </p:spPr>
      </p:sp>
      <p:sp>
        <p:nvSpPr>
          <p:cNvPr id="85" name="Text 83"/>
          <p:cNvSpPr txBox="1"/>
          <p:nvPr/>
        </p:nvSpPr>
        <p:spPr>
          <a:xfrm>
            <a:off x="8169615" y="2815620"/>
            <a:ext cx="263347" cy="110606"/>
          </a:xfrm>
          <a:prstGeom prst="rect">
            <a:avLst/>
          </a:prstGeom>
          <a:noFill/>
          <a:ln/>
        </p:spPr>
        <p:txBody>
          <a:bodyPr wrap="square" lIns="0" tIns="0" rIns="0" bIns="0" rtlCol="0" anchor="t"/>
          <a:lstStyle/>
          <a:p>
            <a:pPr indent="0" marL="0">
              <a:buNone/>
            </a:pPr>
            <a:r>
              <a:rPr lang="en-US" sz="600" dirty="0">
                <a:solidFill>
                  <a:schemeClr val="bg2"/>
                </a:solidFill>
              </a:rPr>
              <a:t>18</a:t>
            </a:r>
            <a:endParaRPr lang="en-US" sz="600" dirty="0"/>
          </a:p>
        </p:txBody>
      </p:sp>
      <p:sp>
        <p:nvSpPr>
          <p:cNvPr id="86" name="Text 84"/>
          <p:cNvSpPr txBox="1"/>
          <p:nvPr/>
        </p:nvSpPr>
        <p:spPr>
          <a:xfrm>
            <a:off x="8134502" y="2866315"/>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Ar</a:t>
            </a:r>
            <a:endParaRPr lang="en-US" sz="1400" dirty="0"/>
          </a:p>
        </p:txBody>
      </p:sp>
      <p:sp>
        <p:nvSpPr>
          <p:cNvPr id="87" name="Tile K"/>
          <p:cNvSpPr/>
          <p:nvPr/>
        </p:nvSpPr>
        <p:spPr>
          <a:xfrm>
            <a:off x="4754880" y="3297326"/>
            <a:ext cx="438912" cy="460858"/>
          </a:xfrm>
          <a:prstGeom prst="roundRect">
            <a:avLst>
              <a:gd name="adj" fmla="val 12000"/>
            </a:avLst>
          </a:prstGeom>
          <a:solidFill>
            <a:srgbClr val="FF8F5E">
              <a:alpha val="30000"/>
            </a:srgbClr>
          </a:solidFill>
          <a:ln w="19050">
            <a:solidFill>
              <a:srgbClr val="FF8F5E"/>
            </a:solidFill>
            <a:prstDash val="solid"/>
          </a:ln>
        </p:spPr>
      </p:sp>
      <p:sp>
        <p:nvSpPr>
          <p:cNvPr id="88" name="Text 86"/>
          <p:cNvSpPr txBox="1"/>
          <p:nvPr/>
        </p:nvSpPr>
        <p:spPr>
          <a:xfrm>
            <a:off x="4789993"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89" name="Text 87"/>
          <p:cNvSpPr txBox="1"/>
          <p:nvPr/>
        </p:nvSpPr>
        <p:spPr>
          <a:xfrm>
            <a:off x="4754880"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K</a:t>
            </a:r>
            <a:endParaRPr lang="en-US" sz="1400" dirty="0"/>
          </a:p>
        </p:txBody>
      </p:sp>
      <p:sp>
        <p:nvSpPr>
          <p:cNvPr id="90" name="Tile Ca"/>
          <p:cNvSpPr/>
          <p:nvPr/>
        </p:nvSpPr>
        <p:spPr>
          <a:xfrm>
            <a:off x="5237683" y="3297326"/>
            <a:ext cx="438912" cy="460858"/>
          </a:xfrm>
          <a:prstGeom prst="roundRect">
            <a:avLst>
              <a:gd name="adj" fmla="val 12000"/>
            </a:avLst>
          </a:prstGeom>
          <a:solidFill>
            <a:srgbClr val="FFCB5C">
              <a:alpha val="30000"/>
            </a:srgbClr>
          </a:solidFill>
          <a:ln w="19050">
            <a:solidFill>
              <a:srgbClr val="FFCB5C"/>
            </a:solidFill>
            <a:prstDash val="solid"/>
          </a:ln>
        </p:spPr>
      </p:sp>
      <p:sp>
        <p:nvSpPr>
          <p:cNvPr id="91" name="Text 89"/>
          <p:cNvSpPr txBox="1"/>
          <p:nvPr/>
        </p:nvSpPr>
        <p:spPr>
          <a:xfrm>
            <a:off x="5272796"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20</a:t>
            </a:r>
            <a:endParaRPr lang="en-US" sz="600" dirty="0"/>
          </a:p>
        </p:txBody>
      </p:sp>
      <p:sp>
        <p:nvSpPr>
          <p:cNvPr id="92" name="Text 90"/>
          <p:cNvSpPr txBox="1"/>
          <p:nvPr/>
        </p:nvSpPr>
        <p:spPr>
          <a:xfrm>
            <a:off x="5237683"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Ca</a:t>
            </a:r>
            <a:endParaRPr lang="en-US" sz="1400" dirty="0"/>
          </a:p>
        </p:txBody>
      </p:sp>
      <p:sp>
        <p:nvSpPr>
          <p:cNvPr id="93" name="Tile Ga"/>
          <p:cNvSpPr/>
          <p:nvPr/>
        </p:nvSpPr>
        <p:spPr>
          <a:xfrm>
            <a:off x="5720486" y="3297326"/>
            <a:ext cx="438912" cy="460858"/>
          </a:xfrm>
          <a:prstGeom prst="roundRect">
            <a:avLst>
              <a:gd name="adj" fmla="val 12000"/>
            </a:avLst>
          </a:prstGeom>
          <a:solidFill>
            <a:srgbClr val="8EA8CC">
              <a:alpha val="30000"/>
            </a:srgbClr>
          </a:solidFill>
          <a:ln w="19050">
            <a:solidFill>
              <a:srgbClr val="8EA8CC"/>
            </a:solidFill>
            <a:prstDash val="solid"/>
          </a:ln>
        </p:spPr>
      </p:sp>
      <p:sp>
        <p:nvSpPr>
          <p:cNvPr id="94" name="Text 92"/>
          <p:cNvSpPr txBox="1"/>
          <p:nvPr/>
        </p:nvSpPr>
        <p:spPr>
          <a:xfrm>
            <a:off x="5755599"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31</a:t>
            </a:r>
            <a:endParaRPr lang="en-US" sz="600" dirty="0"/>
          </a:p>
        </p:txBody>
      </p:sp>
      <p:sp>
        <p:nvSpPr>
          <p:cNvPr id="95" name="Text 93"/>
          <p:cNvSpPr txBox="1"/>
          <p:nvPr/>
        </p:nvSpPr>
        <p:spPr>
          <a:xfrm>
            <a:off x="5720486"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Ga</a:t>
            </a:r>
            <a:endParaRPr lang="en-US" sz="1400" dirty="0"/>
          </a:p>
        </p:txBody>
      </p:sp>
      <p:sp>
        <p:nvSpPr>
          <p:cNvPr id="96" name="Tile Ge"/>
          <p:cNvSpPr/>
          <p:nvPr/>
        </p:nvSpPr>
        <p:spPr>
          <a:xfrm>
            <a:off x="6203290" y="3297326"/>
            <a:ext cx="438912" cy="460858"/>
          </a:xfrm>
          <a:prstGeom prst="roundRect">
            <a:avLst>
              <a:gd name="adj" fmla="val 12000"/>
            </a:avLst>
          </a:prstGeom>
          <a:solidFill>
            <a:srgbClr val="46C7D8">
              <a:alpha val="30000"/>
            </a:srgbClr>
          </a:solidFill>
          <a:ln w="19050">
            <a:solidFill>
              <a:srgbClr val="46C7D8"/>
            </a:solidFill>
            <a:prstDash val="solid"/>
          </a:ln>
        </p:spPr>
      </p:sp>
      <p:sp>
        <p:nvSpPr>
          <p:cNvPr id="97" name="Text 95"/>
          <p:cNvSpPr txBox="1"/>
          <p:nvPr/>
        </p:nvSpPr>
        <p:spPr>
          <a:xfrm>
            <a:off x="6238403"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32</a:t>
            </a:r>
            <a:endParaRPr lang="en-US" sz="600" dirty="0"/>
          </a:p>
        </p:txBody>
      </p:sp>
      <p:sp>
        <p:nvSpPr>
          <p:cNvPr id="98" name="Text 96"/>
          <p:cNvSpPr txBox="1"/>
          <p:nvPr/>
        </p:nvSpPr>
        <p:spPr>
          <a:xfrm>
            <a:off x="6203290"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Ge</a:t>
            </a:r>
            <a:endParaRPr lang="en-US" sz="1400" dirty="0"/>
          </a:p>
        </p:txBody>
      </p:sp>
      <p:sp>
        <p:nvSpPr>
          <p:cNvPr id="99" name="Tile As"/>
          <p:cNvSpPr/>
          <p:nvPr/>
        </p:nvSpPr>
        <p:spPr>
          <a:xfrm>
            <a:off x="6686093" y="3297326"/>
            <a:ext cx="438912" cy="460858"/>
          </a:xfrm>
          <a:prstGeom prst="roundRect">
            <a:avLst>
              <a:gd name="adj" fmla="val 12000"/>
            </a:avLst>
          </a:prstGeom>
          <a:solidFill>
            <a:srgbClr val="46C7D8">
              <a:alpha val="30000"/>
            </a:srgbClr>
          </a:solidFill>
          <a:ln w="19050">
            <a:solidFill>
              <a:srgbClr val="46C7D8"/>
            </a:solidFill>
            <a:prstDash val="solid"/>
          </a:ln>
        </p:spPr>
      </p:sp>
      <p:sp>
        <p:nvSpPr>
          <p:cNvPr id="100" name="Text 98"/>
          <p:cNvSpPr txBox="1"/>
          <p:nvPr/>
        </p:nvSpPr>
        <p:spPr>
          <a:xfrm>
            <a:off x="6721206"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33</a:t>
            </a:r>
            <a:endParaRPr lang="en-US" sz="600" dirty="0"/>
          </a:p>
        </p:txBody>
      </p:sp>
      <p:sp>
        <p:nvSpPr>
          <p:cNvPr id="101" name="Text 99"/>
          <p:cNvSpPr txBox="1"/>
          <p:nvPr/>
        </p:nvSpPr>
        <p:spPr>
          <a:xfrm>
            <a:off x="6686093"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As</a:t>
            </a:r>
            <a:endParaRPr lang="en-US" sz="1400" dirty="0"/>
          </a:p>
        </p:txBody>
      </p:sp>
      <p:sp>
        <p:nvSpPr>
          <p:cNvPr id="102" name="Tile Se"/>
          <p:cNvSpPr/>
          <p:nvPr/>
        </p:nvSpPr>
        <p:spPr>
          <a:xfrm>
            <a:off x="7168896" y="3297326"/>
            <a:ext cx="438912" cy="460858"/>
          </a:xfrm>
          <a:prstGeom prst="roundRect">
            <a:avLst>
              <a:gd name="adj" fmla="val 12000"/>
            </a:avLst>
          </a:prstGeom>
          <a:solidFill>
            <a:srgbClr val="45C08F">
              <a:alpha val="30000"/>
            </a:srgbClr>
          </a:solidFill>
          <a:ln w="19050">
            <a:solidFill>
              <a:srgbClr val="45C08F"/>
            </a:solidFill>
            <a:prstDash val="solid"/>
          </a:ln>
        </p:spPr>
      </p:sp>
      <p:sp>
        <p:nvSpPr>
          <p:cNvPr id="103" name="Text 101"/>
          <p:cNvSpPr txBox="1"/>
          <p:nvPr/>
        </p:nvSpPr>
        <p:spPr>
          <a:xfrm>
            <a:off x="7204009"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34</a:t>
            </a:r>
            <a:endParaRPr lang="en-US" sz="600" dirty="0"/>
          </a:p>
        </p:txBody>
      </p:sp>
      <p:sp>
        <p:nvSpPr>
          <p:cNvPr id="104" name="Text 102"/>
          <p:cNvSpPr txBox="1"/>
          <p:nvPr/>
        </p:nvSpPr>
        <p:spPr>
          <a:xfrm>
            <a:off x="7168896"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Se</a:t>
            </a:r>
            <a:endParaRPr lang="en-US" sz="1400" dirty="0"/>
          </a:p>
        </p:txBody>
      </p:sp>
      <p:sp>
        <p:nvSpPr>
          <p:cNvPr id="105" name="Tile Br"/>
          <p:cNvSpPr/>
          <p:nvPr/>
        </p:nvSpPr>
        <p:spPr>
          <a:xfrm>
            <a:off x="7651699" y="3297326"/>
            <a:ext cx="438912" cy="460858"/>
          </a:xfrm>
          <a:prstGeom prst="roundRect">
            <a:avLst>
              <a:gd name="adj" fmla="val 12000"/>
            </a:avLst>
          </a:prstGeom>
          <a:solidFill>
            <a:srgbClr val="F477B8">
              <a:alpha val="30000"/>
            </a:srgbClr>
          </a:solidFill>
          <a:ln w="19050">
            <a:solidFill>
              <a:srgbClr val="F477B8"/>
            </a:solidFill>
            <a:prstDash val="solid"/>
          </a:ln>
        </p:spPr>
      </p:sp>
      <p:sp>
        <p:nvSpPr>
          <p:cNvPr id="106" name="Text 104"/>
          <p:cNvSpPr txBox="1"/>
          <p:nvPr/>
        </p:nvSpPr>
        <p:spPr>
          <a:xfrm>
            <a:off x="7686812"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35</a:t>
            </a:r>
            <a:endParaRPr lang="en-US" sz="600" dirty="0"/>
          </a:p>
        </p:txBody>
      </p:sp>
      <p:sp>
        <p:nvSpPr>
          <p:cNvPr id="107" name="Text 105"/>
          <p:cNvSpPr txBox="1"/>
          <p:nvPr/>
        </p:nvSpPr>
        <p:spPr>
          <a:xfrm>
            <a:off x="7651699"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Br</a:t>
            </a:r>
            <a:endParaRPr lang="en-US" sz="1400" dirty="0"/>
          </a:p>
        </p:txBody>
      </p:sp>
      <p:sp>
        <p:nvSpPr>
          <p:cNvPr id="108" name="Tile Kr"/>
          <p:cNvSpPr/>
          <p:nvPr/>
        </p:nvSpPr>
        <p:spPr>
          <a:xfrm>
            <a:off x="8134502" y="3297326"/>
            <a:ext cx="438912" cy="460858"/>
          </a:xfrm>
          <a:prstGeom prst="roundRect">
            <a:avLst>
              <a:gd name="adj" fmla="val 12000"/>
            </a:avLst>
          </a:prstGeom>
          <a:solidFill>
            <a:srgbClr val="A084FF">
              <a:alpha val="30000"/>
            </a:srgbClr>
          </a:solidFill>
          <a:ln w="19050">
            <a:solidFill>
              <a:srgbClr val="A084FF"/>
            </a:solidFill>
            <a:prstDash val="solid"/>
          </a:ln>
        </p:spPr>
      </p:sp>
      <p:sp>
        <p:nvSpPr>
          <p:cNvPr id="109" name="Text 107"/>
          <p:cNvSpPr txBox="1"/>
          <p:nvPr/>
        </p:nvSpPr>
        <p:spPr>
          <a:xfrm>
            <a:off x="8169615" y="3320369"/>
            <a:ext cx="263347" cy="110606"/>
          </a:xfrm>
          <a:prstGeom prst="rect">
            <a:avLst/>
          </a:prstGeom>
          <a:noFill/>
          <a:ln/>
        </p:spPr>
        <p:txBody>
          <a:bodyPr wrap="square" lIns="0" tIns="0" rIns="0" bIns="0" rtlCol="0" anchor="t"/>
          <a:lstStyle/>
          <a:p>
            <a:pPr indent="0" marL="0">
              <a:buNone/>
            </a:pPr>
            <a:r>
              <a:rPr lang="en-US" sz="600" dirty="0">
                <a:solidFill>
                  <a:schemeClr val="bg2"/>
                </a:solidFill>
              </a:rPr>
              <a:t>36</a:t>
            </a:r>
            <a:endParaRPr lang="en-US" sz="600" dirty="0"/>
          </a:p>
        </p:txBody>
      </p:sp>
      <p:sp>
        <p:nvSpPr>
          <p:cNvPr id="110" name="Text 108"/>
          <p:cNvSpPr txBox="1"/>
          <p:nvPr/>
        </p:nvSpPr>
        <p:spPr>
          <a:xfrm>
            <a:off x="8134502" y="3371064"/>
            <a:ext cx="438912" cy="368686"/>
          </a:xfrm>
          <a:prstGeom prst="rect">
            <a:avLst/>
          </a:prstGeom>
          <a:noFill/>
          <a:ln/>
        </p:spPr>
        <p:txBody>
          <a:bodyPr wrap="square" lIns="0" tIns="0" rIns="0" bIns="0" rtlCol="0" anchor="ctr"/>
          <a:lstStyle/>
          <a:p>
            <a:pPr algn="ctr" indent="0" marL="0">
              <a:buNone/>
            </a:pPr>
            <a:r>
              <a:rPr lang="en-US" sz="1400" b="1" dirty="0">
                <a:solidFill>
                  <a:schemeClr val="bg1"/>
                </a:solidFill>
              </a:rPr>
              <a:t>Kr</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K"/>
          <p:cNvSpPr/>
          <p:nvPr/>
        </p:nvSpPr>
        <p:spPr>
          <a:xfrm>
            <a:off x="517185" y="457932"/>
            <a:ext cx="629839" cy="62983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K</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Atom size missions</a:t>
            </a:r>
            <a:endParaRPr lang="en-US" sz="2800" dirty="0"/>
          </a:p>
        </p:txBody>
      </p:sp>
      <p:sp>
        <p:nvSpPr>
          <p:cNvPr id="10" name="Text 8"/>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Use the trend to find each atom.</a:t>
            </a:r>
            <a:endParaRPr lang="en-US" sz="1300" dirty="0"/>
          </a:p>
        </p:txBody>
      </p:sp>
      <p:sp>
        <p:nvSpPr>
          <p:cNvPr id="11" name="Mission 1"/>
          <p:cNvSpPr/>
          <p:nvPr/>
        </p:nvSpPr>
        <p:spPr>
          <a:xfrm>
            <a:off x="457200" y="1691640"/>
            <a:ext cx="3931920" cy="457200"/>
          </a:xfrm>
          <a:prstGeom prst="roundRect">
            <a:avLst>
              <a:gd name="adj" fmla="val 20000"/>
            </a:avLst>
          </a:prstGeom>
          <a:solidFill>
            <a:schemeClr val="tx2"/>
          </a:solidFill>
          <a:ln w="9525">
            <a:solidFill>
              <a:schemeClr val="bg2">
                <a:alpha val="30000"/>
              </a:schemeClr>
            </a:solidFill>
            <a:prstDash val="solid"/>
          </a:ln>
        </p:spPr>
      </p:sp>
      <p:sp>
        <p:nvSpPr>
          <p:cNvPr id="12" name="Text 10"/>
          <p:cNvSpPr txBox="1"/>
          <p:nvPr/>
        </p:nvSpPr>
        <p:spPr>
          <a:xfrm>
            <a:off x="594360" y="1691640"/>
            <a:ext cx="2743200" cy="457200"/>
          </a:xfrm>
          <a:prstGeom prst="rect">
            <a:avLst/>
          </a:prstGeom>
          <a:noFill/>
          <a:ln/>
        </p:spPr>
        <p:txBody>
          <a:bodyPr wrap="square" lIns="0" tIns="0" rIns="0" bIns="0" rtlCol="0" anchor="ctr"/>
          <a:lstStyle/>
          <a:p>
            <a:pPr indent="0" marL="0">
              <a:buNone/>
            </a:pPr>
            <a:r>
              <a:rPr lang="en-US" sz="1400" dirty="0">
                <a:solidFill>
                  <a:schemeClr val="bg1"/>
                </a:solidFill>
              </a:rPr>
              <a:t>1. Largest in period 2</a:t>
            </a:r>
            <a:endParaRPr lang="en-US" sz="1400" dirty="0"/>
          </a:p>
        </p:txBody>
      </p:sp>
      <p:sp>
        <p:nvSpPr>
          <p:cNvPr id="13" name="Tile Li"/>
          <p:cNvSpPr/>
          <p:nvPr/>
        </p:nvSpPr>
        <p:spPr>
          <a:xfrm>
            <a:off x="3291840" y="1737360"/>
            <a:ext cx="384048" cy="384048"/>
          </a:xfrm>
          <a:prstGeom prst="roundRect">
            <a:avLst>
              <a:gd name="adj" fmla="val 12000"/>
            </a:avLst>
          </a:prstGeom>
          <a:solidFill>
            <a:srgbClr val="FF8F5E">
              <a:alpha val="30000"/>
            </a:srgbClr>
          </a:solidFill>
          <a:ln w="19050">
            <a:solidFill>
              <a:srgbClr val="FF8F5E"/>
            </a:solidFill>
            <a:prstDash val="solid"/>
          </a:ln>
        </p:spPr>
      </p:sp>
      <p:sp>
        <p:nvSpPr>
          <p:cNvPr id="14" name="Text 12"/>
          <p:cNvSpPr txBox="1"/>
          <p:nvPr/>
        </p:nvSpPr>
        <p:spPr>
          <a:xfrm>
            <a:off x="3322564" y="1756562"/>
            <a:ext cx="230429" cy="92172"/>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15" name="Text 13"/>
          <p:cNvSpPr txBox="1"/>
          <p:nvPr/>
        </p:nvSpPr>
        <p:spPr>
          <a:xfrm>
            <a:off x="3291840" y="179880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Li</a:t>
            </a:r>
            <a:endParaRPr lang="en-US" sz="1400" dirty="0"/>
          </a:p>
        </p:txBody>
      </p:sp>
      <p:sp>
        <p:nvSpPr>
          <p:cNvPr id="16" name="Text 14"/>
          <p:cNvSpPr txBox="1"/>
          <p:nvPr/>
        </p:nvSpPr>
        <p:spPr>
          <a:xfrm>
            <a:off x="3712464" y="1691640"/>
            <a:ext cx="640080" cy="457200"/>
          </a:xfrm>
          <a:prstGeom prst="rect">
            <a:avLst/>
          </a:prstGeom>
          <a:noFill/>
          <a:ln/>
        </p:spPr>
        <p:txBody>
          <a:bodyPr wrap="square" lIns="0" tIns="0" rIns="0" bIns="0" rtlCol="0" anchor="ctr"/>
          <a:lstStyle/>
          <a:p>
            <a:pPr indent="0" marL="0">
              <a:buNone/>
            </a:pPr>
            <a:r>
              <a:rPr lang="en-US" sz="1100" dirty="0">
                <a:solidFill>
                  <a:schemeClr val="bg2"/>
                </a:solidFill>
              </a:rPr>
              <a:t>167 pm</a:t>
            </a:r>
            <a:endParaRPr lang="en-US" sz="1100" dirty="0"/>
          </a:p>
        </p:txBody>
      </p:sp>
      <p:sp>
        <p:nvSpPr>
          <p:cNvPr id="17" name="Mission 2"/>
          <p:cNvSpPr/>
          <p:nvPr/>
        </p:nvSpPr>
        <p:spPr>
          <a:xfrm>
            <a:off x="457200" y="2240280"/>
            <a:ext cx="3931920" cy="457200"/>
          </a:xfrm>
          <a:prstGeom prst="roundRect">
            <a:avLst>
              <a:gd name="adj" fmla="val 20000"/>
            </a:avLst>
          </a:prstGeom>
          <a:solidFill>
            <a:schemeClr val="tx2"/>
          </a:solidFill>
          <a:ln w="9525">
            <a:solidFill>
              <a:schemeClr val="bg2">
                <a:alpha val="30000"/>
              </a:schemeClr>
            </a:solidFill>
            <a:prstDash val="solid"/>
          </a:ln>
        </p:spPr>
      </p:sp>
      <p:sp>
        <p:nvSpPr>
          <p:cNvPr id="18" name="Text 16"/>
          <p:cNvSpPr txBox="1"/>
          <p:nvPr/>
        </p:nvSpPr>
        <p:spPr>
          <a:xfrm>
            <a:off x="594360" y="2240280"/>
            <a:ext cx="2743200" cy="457200"/>
          </a:xfrm>
          <a:prstGeom prst="rect">
            <a:avLst/>
          </a:prstGeom>
          <a:noFill/>
          <a:ln/>
        </p:spPr>
        <p:txBody>
          <a:bodyPr wrap="square" lIns="0" tIns="0" rIns="0" bIns="0" rtlCol="0" anchor="ctr"/>
          <a:lstStyle/>
          <a:p>
            <a:pPr indent="0" marL="0">
              <a:buNone/>
            </a:pPr>
            <a:r>
              <a:rPr lang="en-US" sz="1400" dirty="0">
                <a:solidFill>
                  <a:schemeClr val="bg1"/>
                </a:solidFill>
              </a:rPr>
              <a:t>2. Smallest in group 1</a:t>
            </a:r>
            <a:endParaRPr lang="en-US" sz="1400" dirty="0"/>
          </a:p>
        </p:txBody>
      </p:sp>
      <p:sp>
        <p:nvSpPr>
          <p:cNvPr id="19" name="Tile H"/>
          <p:cNvSpPr/>
          <p:nvPr/>
        </p:nvSpPr>
        <p:spPr>
          <a:xfrm>
            <a:off x="3291840" y="2286000"/>
            <a:ext cx="384048" cy="384048"/>
          </a:xfrm>
          <a:prstGeom prst="roundRect">
            <a:avLst>
              <a:gd name="adj" fmla="val 12000"/>
            </a:avLst>
          </a:prstGeom>
          <a:solidFill>
            <a:srgbClr val="45C08F">
              <a:alpha val="30000"/>
            </a:srgbClr>
          </a:solidFill>
          <a:ln w="19050">
            <a:solidFill>
              <a:srgbClr val="45C08F"/>
            </a:solidFill>
            <a:prstDash val="solid"/>
          </a:ln>
        </p:spPr>
      </p:sp>
      <p:sp>
        <p:nvSpPr>
          <p:cNvPr id="20" name="Text 18"/>
          <p:cNvSpPr txBox="1"/>
          <p:nvPr/>
        </p:nvSpPr>
        <p:spPr>
          <a:xfrm>
            <a:off x="3322564" y="2305202"/>
            <a:ext cx="230429" cy="92172"/>
          </a:xfrm>
          <a:prstGeom prst="rect">
            <a:avLst/>
          </a:prstGeom>
          <a:noFill/>
          <a:ln/>
        </p:spPr>
        <p:txBody>
          <a:bodyPr wrap="square" lIns="0" tIns="0" rIns="0" bIns="0" rtlCol="0" anchor="t"/>
          <a:lstStyle/>
          <a:p>
            <a:pPr indent="0" marL="0">
              <a:buNone/>
            </a:pPr>
            <a:r>
              <a:rPr lang="en-US" sz="600" dirty="0">
                <a:solidFill>
                  <a:schemeClr val="bg2"/>
                </a:solidFill>
              </a:rPr>
              <a:t>1</a:t>
            </a:r>
            <a:endParaRPr lang="en-US" sz="600" dirty="0"/>
          </a:p>
        </p:txBody>
      </p:sp>
      <p:sp>
        <p:nvSpPr>
          <p:cNvPr id="21" name="Text 19"/>
          <p:cNvSpPr txBox="1"/>
          <p:nvPr/>
        </p:nvSpPr>
        <p:spPr>
          <a:xfrm>
            <a:off x="3291840" y="234744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H</a:t>
            </a:r>
            <a:endParaRPr lang="en-US" sz="1400" dirty="0"/>
          </a:p>
        </p:txBody>
      </p:sp>
      <p:sp>
        <p:nvSpPr>
          <p:cNvPr id="22" name="Text 20"/>
          <p:cNvSpPr txBox="1"/>
          <p:nvPr/>
        </p:nvSpPr>
        <p:spPr>
          <a:xfrm>
            <a:off x="3712464" y="2240280"/>
            <a:ext cx="640080" cy="457200"/>
          </a:xfrm>
          <a:prstGeom prst="rect">
            <a:avLst/>
          </a:prstGeom>
          <a:noFill/>
          <a:ln/>
        </p:spPr>
        <p:txBody>
          <a:bodyPr wrap="square" lIns="0" tIns="0" rIns="0" bIns="0" rtlCol="0" anchor="ctr"/>
          <a:lstStyle/>
          <a:p>
            <a:pPr indent="0" marL="0">
              <a:buNone/>
            </a:pPr>
            <a:r>
              <a:rPr lang="en-US" sz="1100" dirty="0">
                <a:solidFill>
                  <a:schemeClr val="bg2"/>
                </a:solidFill>
              </a:rPr>
              <a:t>53 pm</a:t>
            </a:r>
            <a:endParaRPr lang="en-US" sz="1100" dirty="0"/>
          </a:p>
        </p:txBody>
      </p:sp>
      <p:sp>
        <p:nvSpPr>
          <p:cNvPr id="23" name="Mission 3"/>
          <p:cNvSpPr/>
          <p:nvPr/>
        </p:nvSpPr>
        <p:spPr>
          <a:xfrm>
            <a:off x="457200" y="2788920"/>
            <a:ext cx="3931920" cy="457200"/>
          </a:xfrm>
          <a:prstGeom prst="roundRect">
            <a:avLst>
              <a:gd name="adj" fmla="val 20000"/>
            </a:avLst>
          </a:prstGeom>
          <a:solidFill>
            <a:schemeClr val="tx2"/>
          </a:solidFill>
          <a:ln w="9525">
            <a:solidFill>
              <a:schemeClr val="bg2">
                <a:alpha val="30000"/>
              </a:schemeClr>
            </a:solidFill>
            <a:prstDash val="solid"/>
          </a:ln>
        </p:spPr>
      </p:sp>
      <p:sp>
        <p:nvSpPr>
          <p:cNvPr id="24" name="Text 22"/>
          <p:cNvSpPr txBox="1"/>
          <p:nvPr/>
        </p:nvSpPr>
        <p:spPr>
          <a:xfrm>
            <a:off x="594360" y="2788920"/>
            <a:ext cx="2743200" cy="457200"/>
          </a:xfrm>
          <a:prstGeom prst="rect">
            <a:avLst/>
          </a:prstGeom>
          <a:noFill/>
          <a:ln/>
        </p:spPr>
        <p:txBody>
          <a:bodyPr wrap="square" lIns="0" tIns="0" rIns="0" bIns="0" rtlCol="0" anchor="ctr"/>
          <a:lstStyle/>
          <a:p>
            <a:pPr indent="0" marL="0">
              <a:buNone/>
            </a:pPr>
            <a:r>
              <a:rPr lang="en-US" sz="1400" dirty="0">
                <a:solidFill>
                  <a:schemeClr val="bg1"/>
                </a:solidFill>
              </a:rPr>
              <a:t>3. Largest on the table</a:t>
            </a:r>
            <a:endParaRPr lang="en-US" sz="1400" dirty="0"/>
          </a:p>
        </p:txBody>
      </p:sp>
      <p:sp>
        <p:nvSpPr>
          <p:cNvPr id="25" name="Tile K"/>
          <p:cNvSpPr/>
          <p:nvPr/>
        </p:nvSpPr>
        <p:spPr>
          <a:xfrm>
            <a:off x="3291840" y="2834640"/>
            <a:ext cx="384048" cy="384048"/>
          </a:xfrm>
          <a:prstGeom prst="roundRect">
            <a:avLst>
              <a:gd name="adj" fmla="val 12000"/>
            </a:avLst>
          </a:prstGeom>
          <a:solidFill>
            <a:srgbClr val="FF8F5E">
              <a:alpha val="30000"/>
            </a:srgbClr>
          </a:solidFill>
          <a:ln w="19050">
            <a:solidFill>
              <a:srgbClr val="FF8F5E"/>
            </a:solidFill>
            <a:prstDash val="solid"/>
          </a:ln>
        </p:spPr>
      </p:sp>
      <p:sp>
        <p:nvSpPr>
          <p:cNvPr id="26" name="Text 24"/>
          <p:cNvSpPr txBox="1"/>
          <p:nvPr/>
        </p:nvSpPr>
        <p:spPr>
          <a:xfrm>
            <a:off x="3322564" y="2853842"/>
            <a:ext cx="230429" cy="92172"/>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27" name="Text 25"/>
          <p:cNvSpPr txBox="1"/>
          <p:nvPr/>
        </p:nvSpPr>
        <p:spPr>
          <a:xfrm>
            <a:off x="3291840" y="289608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K</a:t>
            </a:r>
            <a:endParaRPr lang="en-US" sz="1400" dirty="0"/>
          </a:p>
        </p:txBody>
      </p:sp>
      <p:sp>
        <p:nvSpPr>
          <p:cNvPr id="28" name="Text 26"/>
          <p:cNvSpPr txBox="1"/>
          <p:nvPr/>
        </p:nvSpPr>
        <p:spPr>
          <a:xfrm>
            <a:off x="3712464" y="2788920"/>
            <a:ext cx="640080" cy="457200"/>
          </a:xfrm>
          <a:prstGeom prst="rect">
            <a:avLst/>
          </a:prstGeom>
          <a:noFill/>
          <a:ln/>
        </p:spPr>
        <p:txBody>
          <a:bodyPr wrap="square" lIns="0" tIns="0" rIns="0" bIns="0" rtlCol="0" anchor="ctr"/>
          <a:lstStyle/>
          <a:p>
            <a:pPr indent="0" marL="0">
              <a:buNone/>
            </a:pPr>
            <a:r>
              <a:rPr lang="en-US" sz="1100" dirty="0">
                <a:solidFill>
                  <a:schemeClr val="bg2"/>
                </a:solidFill>
              </a:rPr>
              <a:t>243 pm</a:t>
            </a:r>
            <a:endParaRPr lang="en-US" sz="1100" dirty="0"/>
          </a:p>
        </p:txBody>
      </p:sp>
      <p:sp>
        <p:nvSpPr>
          <p:cNvPr id="29" name="Mission 4"/>
          <p:cNvSpPr/>
          <p:nvPr/>
        </p:nvSpPr>
        <p:spPr>
          <a:xfrm>
            <a:off x="457200" y="3337560"/>
            <a:ext cx="3931920" cy="457200"/>
          </a:xfrm>
          <a:prstGeom prst="roundRect">
            <a:avLst>
              <a:gd name="adj" fmla="val 20000"/>
            </a:avLst>
          </a:prstGeom>
          <a:solidFill>
            <a:schemeClr val="tx2"/>
          </a:solidFill>
          <a:ln w="9525">
            <a:solidFill>
              <a:schemeClr val="bg2">
                <a:alpha val="30000"/>
              </a:schemeClr>
            </a:solidFill>
            <a:prstDash val="solid"/>
          </a:ln>
        </p:spPr>
      </p:sp>
      <p:sp>
        <p:nvSpPr>
          <p:cNvPr id="30" name="Text 28"/>
          <p:cNvSpPr txBox="1"/>
          <p:nvPr/>
        </p:nvSpPr>
        <p:spPr>
          <a:xfrm>
            <a:off x="594360" y="3337560"/>
            <a:ext cx="2743200" cy="457200"/>
          </a:xfrm>
          <a:prstGeom prst="rect">
            <a:avLst/>
          </a:prstGeom>
          <a:noFill/>
          <a:ln/>
        </p:spPr>
        <p:txBody>
          <a:bodyPr wrap="square" lIns="0" tIns="0" rIns="0" bIns="0" rtlCol="0" anchor="ctr"/>
          <a:lstStyle/>
          <a:p>
            <a:pPr indent="0" marL="0">
              <a:buNone/>
            </a:pPr>
            <a:r>
              <a:rPr lang="en-US" sz="1400" dirty="0">
                <a:solidFill>
                  <a:schemeClr val="bg1"/>
                </a:solidFill>
              </a:rPr>
              <a:t>4. Smallest in period 3</a:t>
            </a:r>
            <a:endParaRPr lang="en-US" sz="1400" dirty="0"/>
          </a:p>
        </p:txBody>
      </p:sp>
      <p:sp>
        <p:nvSpPr>
          <p:cNvPr id="31" name="Tile Ar"/>
          <p:cNvSpPr/>
          <p:nvPr/>
        </p:nvSpPr>
        <p:spPr>
          <a:xfrm>
            <a:off x="3291840" y="3383280"/>
            <a:ext cx="384048" cy="384048"/>
          </a:xfrm>
          <a:prstGeom prst="roundRect">
            <a:avLst>
              <a:gd name="adj" fmla="val 12000"/>
            </a:avLst>
          </a:prstGeom>
          <a:solidFill>
            <a:srgbClr val="A084FF">
              <a:alpha val="30000"/>
            </a:srgbClr>
          </a:solidFill>
          <a:ln w="19050">
            <a:solidFill>
              <a:srgbClr val="A084FF"/>
            </a:solidFill>
            <a:prstDash val="solid"/>
          </a:ln>
        </p:spPr>
      </p:sp>
      <p:sp>
        <p:nvSpPr>
          <p:cNvPr id="32" name="Text 30"/>
          <p:cNvSpPr txBox="1"/>
          <p:nvPr/>
        </p:nvSpPr>
        <p:spPr>
          <a:xfrm>
            <a:off x="3322564" y="3402482"/>
            <a:ext cx="230429" cy="92172"/>
          </a:xfrm>
          <a:prstGeom prst="rect">
            <a:avLst/>
          </a:prstGeom>
          <a:noFill/>
          <a:ln/>
        </p:spPr>
        <p:txBody>
          <a:bodyPr wrap="square" lIns="0" tIns="0" rIns="0" bIns="0" rtlCol="0" anchor="t"/>
          <a:lstStyle/>
          <a:p>
            <a:pPr indent="0" marL="0">
              <a:buNone/>
            </a:pPr>
            <a:r>
              <a:rPr lang="en-US" sz="600" dirty="0">
                <a:solidFill>
                  <a:schemeClr val="bg2"/>
                </a:solidFill>
              </a:rPr>
              <a:t>18</a:t>
            </a:r>
            <a:endParaRPr lang="en-US" sz="600" dirty="0"/>
          </a:p>
        </p:txBody>
      </p:sp>
      <p:sp>
        <p:nvSpPr>
          <p:cNvPr id="33" name="Text 31"/>
          <p:cNvSpPr txBox="1"/>
          <p:nvPr/>
        </p:nvSpPr>
        <p:spPr>
          <a:xfrm>
            <a:off x="3291840" y="344472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Ar</a:t>
            </a:r>
            <a:endParaRPr lang="en-US" sz="1400" dirty="0"/>
          </a:p>
        </p:txBody>
      </p:sp>
      <p:sp>
        <p:nvSpPr>
          <p:cNvPr id="34" name="Text 32"/>
          <p:cNvSpPr txBox="1"/>
          <p:nvPr/>
        </p:nvSpPr>
        <p:spPr>
          <a:xfrm>
            <a:off x="3712464" y="3337560"/>
            <a:ext cx="640080" cy="457200"/>
          </a:xfrm>
          <a:prstGeom prst="rect">
            <a:avLst/>
          </a:prstGeom>
          <a:noFill/>
          <a:ln/>
        </p:spPr>
        <p:txBody>
          <a:bodyPr wrap="square" lIns="0" tIns="0" rIns="0" bIns="0" rtlCol="0" anchor="ctr"/>
          <a:lstStyle/>
          <a:p>
            <a:pPr indent="0" marL="0">
              <a:buNone/>
            </a:pPr>
            <a:r>
              <a:rPr lang="en-US" sz="1100" dirty="0">
                <a:solidFill>
                  <a:schemeClr val="bg2"/>
                </a:solidFill>
              </a:rPr>
              <a:t>71 pm</a:t>
            </a:r>
            <a:endParaRPr lang="en-US" sz="1100" dirty="0"/>
          </a:p>
        </p:txBody>
      </p:sp>
      <p:sp>
        <p:nvSpPr>
          <p:cNvPr id="35" name="Mission 5"/>
          <p:cNvSpPr/>
          <p:nvPr/>
        </p:nvSpPr>
        <p:spPr>
          <a:xfrm>
            <a:off x="457200" y="3886200"/>
            <a:ext cx="3931920" cy="457200"/>
          </a:xfrm>
          <a:prstGeom prst="roundRect">
            <a:avLst>
              <a:gd name="adj" fmla="val 20000"/>
            </a:avLst>
          </a:prstGeom>
          <a:solidFill>
            <a:schemeClr val="tx2"/>
          </a:solidFill>
          <a:ln w="9525">
            <a:solidFill>
              <a:schemeClr val="bg2">
                <a:alpha val="30000"/>
              </a:schemeClr>
            </a:solidFill>
            <a:prstDash val="solid"/>
          </a:ln>
        </p:spPr>
      </p:sp>
      <p:sp>
        <p:nvSpPr>
          <p:cNvPr id="36" name="Text 34"/>
          <p:cNvSpPr txBox="1"/>
          <p:nvPr/>
        </p:nvSpPr>
        <p:spPr>
          <a:xfrm>
            <a:off x="594360" y="3886200"/>
            <a:ext cx="2743200" cy="457200"/>
          </a:xfrm>
          <a:prstGeom prst="rect">
            <a:avLst/>
          </a:prstGeom>
          <a:noFill/>
          <a:ln/>
        </p:spPr>
        <p:txBody>
          <a:bodyPr wrap="square" lIns="0" tIns="0" rIns="0" bIns="0" rtlCol="0" anchor="ctr"/>
          <a:lstStyle/>
          <a:p>
            <a:pPr indent="0" marL="0">
              <a:buNone/>
            </a:pPr>
            <a:r>
              <a:rPr lang="en-US" sz="1400" dirty="0">
                <a:solidFill>
                  <a:schemeClr val="bg1"/>
                </a:solidFill>
              </a:rPr>
              <a:t>5. Largest in group 17</a:t>
            </a:r>
            <a:endParaRPr lang="en-US" sz="1400" dirty="0"/>
          </a:p>
        </p:txBody>
      </p:sp>
      <p:sp>
        <p:nvSpPr>
          <p:cNvPr id="37" name="Tile Br"/>
          <p:cNvSpPr/>
          <p:nvPr/>
        </p:nvSpPr>
        <p:spPr>
          <a:xfrm>
            <a:off x="3291840" y="3931920"/>
            <a:ext cx="384048" cy="384048"/>
          </a:xfrm>
          <a:prstGeom prst="roundRect">
            <a:avLst>
              <a:gd name="adj" fmla="val 12000"/>
            </a:avLst>
          </a:prstGeom>
          <a:solidFill>
            <a:srgbClr val="F477B8">
              <a:alpha val="30000"/>
            </a:srgbClr>
          </a:solidFill>
          <a:ln w="19050">
            <a:solidFill>
              <a:srgbClr val="F477B8"/>
            </a:solidFill>
            <a:prstDash val="solid"/>
          </a:ln>
        </p:spPr>
      </p:sp>
      <p:sp>
        <p:nvSpPr>
          <p:cNvPr id="38" name="Text 36"/>
          <p:cNvSpPr txBox="1"/>
          <p:nvPr/>
        </p:nvSpPr>
        <p:spPr>
          <a:xfrm>
            <a:off x="3322564" y="3951122"/>
            <a:ext cx="230429" cy="92172"/>
          </a:xfrm>
          <a:prstGeom prst="rect">
            <a:avLst/>
          </a:prstGeom>
          <a:noFill/>
          <a:ln/>
        </p:spPr>
        <p:txBody>
          <a:bodyPr wrap="square" lIns="0" tIns="0" rIns="0" bIns="0" rtlCol="0" anchor="t"/>
          <a:lstStyle/>
          <a:p>
            <a:pPr indent="0" marL="0">
              <a:buNone/>
            </a:pPr>
            <a:r>
              <a:rPr lang="en-US" sz="600" dirty="0">
                <a:solidFill>
                  <a:schemeClr val="bg2"/>
                </a:solidFill>
              </a:rPr>
              <a:t>35</a:t>
            </a:r>
            <a:endParaRPr lang="en-US" sz="600" dirty="0"/>
          </a:p>
        </p:txBody>
      </p:sp>
      <p:sp>
        <p:nvSpPr>
          <p:cNvPr id="39" name="Text 37"/>
          <p:cNvSpPr txBox="1"/>
          <p:nvPr/>
        </p:nvSpPr>
        <p:spPr>
          <a:xfrm>
            <a:off x="3291840" y="399336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Br</a:t>
            </a:r>
            <a:endParaRPr lang="en-US" sz="1400" dirty="0"/>
          </a:p>
        </p:txBody>
      </p:sp>
      <p:sp>
        <p:nvSpPr>
          <p:cNvPr id="40" name="Text 38"/>
          <p:cNvSpPr txBox="1"/>
          <p:nvPr/>
        </p:nvSpPr>
        <p:spPr>
          <a:xfrm>
            <a:off x="3712464" y="3886200"/>
            <a:ext cx="640080" cy="457200"/>
          </a:xfrm>
          <a:prstGeom prst="rect">
            <a:avLst/>
          </a:prstGeom>
          <a:noFill/>
          <a:ln/>
        </p:spPr>
        <p:txBody>
          <a:bodyPr wrap="square" lIns="0" tIns="0" rIns="0" bIns="0" rtlCol="0" anchor="ctr"/>
          <a:lstStyle/>
          <a:p>
            <a:pPr indent="0" marL="0">
              <a:buNone/>
            </a:pPr>
            <a:r>
              <a:rPr lang="en-US" sz="1100" dirty="0">
                <a:solidFill>
                  <a:schemeClr val="bg2"/>
                </a:solidFill>
              </a:rPr>
              <a:t>94 pm</a:t>
            </a:r>
            <a:endParaRPr lang="en-US" sz="1100" dirty="0"/>
          </a:p>
        </p:txBody>
      </p:sp>
      <p:sp>
        <p:nvSpPr>
          <p:cNvPr id="41" name="Text 39"/>
          <p:cNvSpPr txBox="1"/>
          <p:nvPr/>
        </p:nvSpPr>
        <p:spPr>
          <a:xfrm>
            <a:off x="4754880"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a:t>
            </a:r>
            <a:endParaRPr lang="en-US" sz="800" dirty="0"/>
          </a:p>
        </p:txBody>
      </p:sp>
      <p:sp>
        <p:nvSpPr>
          <p:cNvPr id="42" name="Text 40"/>
          <p:cNvSpPr txBox="1"/>
          <p:nvPr/>
        </p:nvSpPr>
        <p:spPr>
          <a:xfrm>
            <a:off x="5237683"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2</a:t>
            </a:r>
            <a:endParaRPr lang="en-US" sz="800" dirty="0"/>
          </a:p>
        </p:txBody>
      </p:sp>
      <p:sp>
        <p:nvSpPr>
          <p:cNvPr id="43" name="Text 41"/>
          <p:cNvSpPr txBox="1"/>
          <p:nvPr/>
        </p:nvSpPr>
        <p:spPr>
          <a:xfrm>
            <a:off x="5720486"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13</a:t>
            </a:r>
            <a:endParaRPr lang="en-US" sz="800" dirty="0"/>
          </a:p>
        </p:txBody>
      </p:sp>
      <p:sp>
        <p:nvSpPr>
          <p:cNvPr id="44" name="Text 42"/>
          <p:cNvSpPr txBox="1"/>
          <p:nvPr/>
        </p:nvSpPr>
        <p:spPr>
          <a:xfrm>
            <a:off x="6203290"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14</a:t>
            </a:r>
            <a:endParaRPr lang="en-US" sz="800" dirty="0"/>
          </a:p>
        </p:txBody>
      </p:sp>
      <p:sp>
        <p:nvSpPr>
          <p:cNvPr id="45" name="Text 43"/>
          <p:cNvSpPr txBox="1"/>
          <p:nvPr/>
        </p:nvSpPr>
        <p:spPr>
          <a:xfrm>
            <a:off x="6686093"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15</a:t>
            </a:r>
            <a:endParaRPr lang="en-US" sz="800" dirty="0"/>
          </a:p>
        </p:txBody>
      </p:sp>
      <p:sp>
        <p:nvSpPr>
          <p:cNvPr id="46" name="Text 44"/>
          <p:cNvSpPr txBox="1"/>
          <p:nvPr/>
        </p:nvSpPr>
        <p:spPr>
          <a:xfrm>
            <a:off x="7168896"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16</a:t>
            </a:r>
            <a:endParaRPr lang="en-US" sz="800" dirty="0"/>
          </a:p>
        </p:txBody>
      </p:sp>
      <p:sp>
        <p:nvSpPr>
          <p:cNvPr id="47" name="Text 45"/>
          <p:cNvSpPr txBox="1"/>
          <p:nvPr/>
        </p:nvSpPr>
        <p:spPr>
          <a:xfrm>
            <a:off x="7651699"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17</a:t>
            </a:r>
            <a:endParaRPr lang="en-US" sz="800" dirty="0"/>
          </a:p>
        </p:txBody>
      </p:sp>
      <p:sp>
        <p:nvSpPr>
          <p:cNvPr id="48" name="Text 46"/>
          <p:cNvSpPr txBox="1"/>
          <p:nvPr/>
        </p:nvSpPr>
        <p:spPr>
          <a:xfrm>
            <a:off x="8134502" y="1600200"/>
            <a:ext cx="438912" cy="164592"/>
          </a:xfrm>
          <a:prstGeom prst="rect">
            <a:avLst/>
          </a:prstGeom>
          <a:noFill/>
          <a:ln/>
        </p:spPr>
        <p:txBody>
          <a:bodyPr wrap="square" lIns="0" tIns="0" rIns="0" bIns="0" rtlCol="0" anchor="ctr"/>
          <a:lstStyle/>
          <a:p>
            <a:pPr algn="ctr" indent="0" marL="0">
              <a:buNone/>
            </a:pPr>
            <a:r>
              <a:rPr lang="en-US" sz="800" dirty="0">
                <a:solidFill>
                  <a:schemeClr val="bg2"/>
                </a:solidFill>
              </a:rPr>
              <a:t>18</a:t>
            </a:r>
            <a:endParaRPr lang="en-US" sz="800" dirty="0"/>
          </a:p>
        </p:txBody>
      </p:sp>
      <p:sp>
        <p:nvSpPr>
          <p:cNvPr id="49" name="Heat H"/>
          <p:cNvSpPr/>
          <p:nvPr/>
        </p:nvSpPr>
        <p:spPr>
          <a:xfrm>
            <a:off x="4754880" y="1783080"/>
            <a:ext cx="438912" cy="460858"/>
          </a:xfrm>
          <a:prstGeom prst="roundRect">
            <a:avLst>
              <a:gd name="adj" fmla="val 12000"/>
            </a:avLst>
          </a:prstGeom>
          <a:solidFill>
            <a:schemeClr val="accent1">
              <a:alpha val="24000"/>
            </a:schemeClr>
          </a:solidFill>
          <a:ln w="9525">
            <a:solidFill>
              <a:schemeClr val="accent1">
                <a:alpha val="60000"/>
              </a:schemeClr>
            </a:solidFill>
            <a:prstDash val="solid"/>
          </a:ln>
        </p:spPr>
      </p:sp>
      <p:sp>
        <p:nvSpPr>
          <p:cNvPr id="50" name="Text 48"/>
          <p:cNvSpPr txBox="1"/>
          <p:nvPr/>
        </p:nvSpPr>
        <p:spPr>
          <a:xfrm>
            <a:off x="4754880" y="1783080"/>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H</a:t>
            </a:r>
            <a:endParaRPr lang="en-US" sz="1400" dirty="0"/>
          </a:p>
        </p:txBody>
      </p:sp>
      <p:sp>
        <p:nvSpPr>
          <p:cNvPr id="51" name="Highlight H"/>
          <p:cNvSpPr/>
          <p:nvPr/>
        </p:nvSpPr>
        <p:spPr>
          <a:xfrm>
            <a:off x="4718304" y="1746504"/>
            <a:ext cx="512064" cy="534010"/>
          </a:xfrm>
          <a:prstGeom prst="roundRect">
            <a:avLst>
              <a:gd name="adj" fmla="val 12857"/>
            </a:avLst>
          </a:prstGeom>
          <a:ln w="31750">
            <a:solidFill>
              <a:schemeClr val="accent2"/>
            </a:solidFill>
            <a:prstDash val="solid"/>
          </a:ln>
        </p:spPr>
      </p:sp>
      <p:sp>
        <p:nvSpPr>
          <p:cNvPr id="52" name="Heat He"/>
          <p:cNvSpPr/>
          <p:nvPr/>
        </p:nvSpPr>
        <p:spPr>
          <a:xfrm>
            <a:off x="8134502" y="1783080"/>
            <a:ext cx="438912" cy="460858"/>
          </a:xfrm>
          <a:prstGeom prst="roundRect">
            <a:avLst>
              <a:gd name="adj" fmla="val 12000"/>
            </a:avLst>
          </a:prstGeom>
          <a:solidFill>
            <a:schemeClr val="accent1">
              <a:alpha val="17000"/>
            </a:schemeClr>
          </a:solidFill>
          <a:ln w="9525">
            <a:solidFill>
              <a:schemeClr val="accent1">
                <a:alpha val="60000"/>
              </a:schemeClr>
            </a:solidFill>
            <a:prstDash val="solid"/>
          </a:ln>
        </p:spPr>
      </p:sp>
      <p:sp>
        <p:nvSpPr>
          <p:cNvPr id="53" name="Text 51"/>
          <p:cNvSpPr txBox="1"/>
          <p:nvPr/>
        </p:nvSpPr>
        <p:spPr>
          <a:xfrm>
            <a:off x="8134502" y="1783080"/>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He</a:t>
            </a:r>
            <a:endParaRPr lang="en-US" sz="1400" dirty="0"/>
          </a:p>
        </p:txBody>
      </p:sp>
      <p:sp>
        <p:nvSpPr>
          <p:cNvPr id="54" name="Heat Li"/>
          <p:cNvSpPr/>
          <p:nvPr/>
        </p:nvSpPr>
        <p:spPr>
          <a:xfrm>
            <a:off x="4754880" y="2287829"/>
            <a:ext cx="438912" cy="460858"/>
          </a:xfrm>
          <a:prstGeom prst="roundRect">
            <a:avLst>
              <a:gd name="adj" fmla="val 12000"/>
            </a:avLst>
          </a:prstGeom>
          <a:solidFill>
            <a:schemeClr val="accent1">
              <a:alpha val="57000"/>
            </a:schemeClr>
          </a:solidFill>
          <a:ln w="9525">
            <a:solidFill>
              <a:schemeClr val="accent1">
                <a:alpha val="60000"/>
              </a:schemeClr>
            </a:solidFill>
            <a:prstDash val="solid"/>
          </a:ln>
        </p:spPr>
      </p:sp>
      <p:sp>
        <p:nvSpPr>
          <p:cNvPr id="55" name="Text 53"/>
          <p:cNvSpPr txBox="1"/>
          <p:nvPr/>
        </p:nvSpPr>
        <p:spPr>
          <a:xfrm>
            <a:off x="4754880" y="2287829"/>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Li</a:t>
            </a:r>
            <a:endParaRPr lang="en-US" sz="1400" dirty="0"/>
          </a:p>
        </p:txBody>
      </p:sp>
      <p:sp>
        <p:nvSpPr>
          <p:cNvPr id="56" name="Highlight Li"/>
          <p:cNvSpPr/>
          <p:nvPr/>
        </p:nvSpPr>
        <p:spPr>
          <a:xfrm>
            <a:off x="4718304" y="2251253"/>
            <a:ext cx="512064" cy="534010"/>
          </a:xfrm>
          <a:prstGeom prst="roundRect">
            <a:avLst>
              <a:gd name="adj" fmla="val 12857"/>
            </a:avLst>
          </a:prstGeom>
          <a:ln w="31750">
            <a:solidFill>
              <a:schemeClr val="accent2"/>
            </a:solidFill>
            <a:prstDash val="solid"/>
          </a:ln>
        </p:spPr>
      </p:sp>
      <p:sp>
        <p:nvSpPr>
          <p:cNvPr id="57" name="Heat Be"/>
          <p:cNvSpPr/>
          <p:nvPr/>
        </p:nvSpPr>
        <p:spPr>
          <a:xfrm>
            <a:off x="5237683" y="2287829"/>
            <a:ext cx="438912" cy="460858"/>
          </a:xfrm>
          <a:prstGeom prst="roundRect">
            <a:avLst>
              <a:gd name="adj" fmla="val 12000"/>
            </a:avLst>
          </a:prstGeom>
          <a:solidFill>
            <a:schemeClr val="accent1">
              <a:alpha val="41000"/>
            </a:schemeClr>
          </a:solidFill>
          <a:ln w="9525">
            <a:solidFill>
              <a:schemeClr val="accent1">
                <a:alpha val="60000"/>
              </a:schemeClr>
            </a:solidFill>
            <a:prstDash val="solid"/>
          </a:ln>
        </p:spPr>
      </p:sp>
      <p:sp>
        <p:nvSpPr>
          <p:cNvPr id="58" name="Text 56"/>
          <p:cNvSpPr txBox="1"/>
          <p:nvPr/>
        </p:nvSpPr>
        <p:spPr>
          <a:xfrm>
            <a:off x="5237683" y="2287829"/>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Be</a:t>
            </a:r>
            <a:endParaRPr lang="en-US" sz="1400" dirty="0"/>
          </a:p>
        </p:txBody>
      </p:sp>
      <p:sp>
        <p:nvSpPr>
          <p:cNvPr id="59" name="Heat B"/>
          <p:cNvSpPr/>
          <p:nvPr/>
        </p:nvSpPr>
        <p:spPr>
          <a:xfrm>
            <a:off x="5720486" y="2287829"/>
            <a:ext cx="438912" cy="460858"/>
          </a:xfrm>
          <a:prstGeom prst="roundRect">
            <a:avLst>
              <a:gd name="adj" fmla="val 12000"/>
            </a:avLst>
          </a:prstGeom>
          <a:solidFill>
            <a:schemeClr val="accent1">
              <a:alpha val="34000"/>
            </a:schemeClr>
          </a:solidFill>
          <a:ln w="9525">
            <a:solidFill>
              <a:schemeClr val="accent1">
                <a:alpha val="60000"/>
              </a:schemeClr>
            </a:solidFill>
            <a:prstDash val="solid"/>
          </a:ln>
        </p:spPr>
      </p:sp>
      <p:sp>
        <p:nvSpPr>
          <p:cNvPr id="60" name="Text 58"/>
          <p:cNvSpPr txBox="1"/>
          <p:nvPr/>
        </p:nvSpPr>
        <p:spPr>
          <a:xfrm>
            <a:off x="5720486" y="2287829"/>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61" name="Heat C"/>
          <p:cNvSpPr/>
          <p:nvPr/>
        </p:nvSpPr>
        <p:spPr>
          <a:xfrm>
            <a:off x="6203290" y="2287829"/>
            <a:ext cx="438912" cy="460858"/>
          </a:xfrm>
          <a:prstGeom prst="roundRect">
            <a:avLst>
              <a:gd name="adj" fmla="val 12000"/>
            </a:avLst>
          </a:prstGeom>
          <a:solidFill>
            <a:schemeClr val="accent1">
              <a:alpha val="28000"/>
            </a:schemeClr>
          </a:solidFill>
          <a:ln w="9525">
            <a:solidFill>
              <a:schemeClr val="accent1">
                <a:alpha val="60000"/>
              </a:schemeClr>
            </a:solidFill>
            <a:prstDash val="solid"/>
          </a:ln>
        </p:spPr>
      </p:sp>
      <p:sp>
        <p:nvSpPr>
          <p:cNvPr id="62" name="Text 60"/>
          <p:cNvSpPr txBox="1"/>
          <p:nvPr/>
        </p:nvSpPr>
        <p:spPr>
          <a:xfrm>
            <a:off x="6203290" y="2287829"/>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63" name="Heat N"/>
          <p:cNvSpPr/>
          <p:nvPr/>
        </p:nvSpPr>
        <p:spPr>
          <a:xfrm>
            <a:off x="6686093" y="2287829"/>
            <a:ext cx="438912" cy="460858"/>
          </a:xfrm>
          <a:prstGeom prst="roundRect">
            <a:avLst>
              <a:gd name="adj" fmla="val 12000"/>
            </a:avLst>
          </a:prstGeom>
          <a:solidFill>
            <a:schemeClr val="accent1">
              <a:alpha val="25000"/>
            </a:schemeClr>
          </a:solidFill>
          <a:ln w="9525">
            <a:solidFill>
              <a:schemeClr val="accent1">
                <a:alpha val="60000"/>
              </a:schemeClr>
            </a:solidFill>
            <a:prstDash val="solid"/>
          </a:ln>
        </p:spPr>
      </p:sp>
      <p:sp>
        <p:nvSpPr>
          <p:cNvPr id="64" name="Text 62"/>
          <p:cNvSpPr txBox="1"/>
          <p:nvPr/>
        </p:nvSpPr>
        <p:spPr>
          <a:xfrm>
            <a:off x="6686093" y="2287829"/>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N</a:t>
            </a:r>
            <a:endParaRPr lang="en-US" sz="1400" dirty="0"/>
          </a:p>
        </p:txBody>
      </p:sp>
      <p:sp>
        <p:nvSpPr>
          <p:cNvPr id="65" name="Heat O"/>
          <p:cNvSpPr/>
          <p:nvPr/>
        </p:nvSpPr>
        <p:spPr>
          <a:xfrm>
            <a:off x="7168896" y="2287829"/>
            <a:ext cx="438912" cy="460858"/>
          </a:xfrm>
          <a:prstGeom prst="roundRect">
            <a:avLst>
              <a:gd name="adj" fmla="val 12000"/>
            </a:avLst>
          </a:prstGeom>
          <a:solidFill>
            <a:schemeClr val="accent1">
              <a:alpha val="22000"/>
            </a:schemeClr>
          </a:solidFill>
          <a:ln w="9525">
            <a:solidFill>
              <a:schemeClr val="accent1">
                <a:alpha val="60000"/>
              </a:schemeClr>
            </a:solidFill>
            <a:prstDash val="solid"/>
          </a:ln>
        </p:spPr>
      </p:sp>
      <p:sp>
        <p:nvSpPr>
          <p:cNvPr id="66" name="Text 64"/>
          <p:cNvSpPr txBox="1"/>
          <p:nvPr/>
        </p:nvSpPr>
        <p:spPr>
          <a:xfrm>
            <a:off x="7168896" y="2287829"/>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O</a:t>
            </a:r>
            <a:endParaRPr lang="en-US" sz="1400" dirty="0"/>
          </a:p>
        </p:txBody>
      </p:sp>
      <p:sp>
        <p:nvSpPr>
          <p:cNvPr id="67" name="Heat F"/>
          <p:cNvSpPr/>
          <p:nvPr/>
        </p:nvSpPr>
        <p:spPr>
          <a:xfrm>
            <a:off x="7651699" y="2287829"/>
            <a:ext cx="438912" cy="460858"/>
          </a:xfrm>
          <a:prstGeom prst="roundRect">
            <a:avLst>
              <a:gd name="adj" fmla="val 12000"/>
            </a:avLst>
          </a:prstGeom>
          <a:solidFill>
            <a:schemeClr val="accent1">
              <a:alpha val="20000"/>
            </a:schemeClr>
          </a:solidFill>
          <a:ln w="9525">
            <a:solidFill>
              <a:schemeClr val="accent1">
                <a:alpha val="60000"/>
              </a:schemeClr>
            </a:solidFill>
            <a:prstDash val="solid"/>
          </a:ln>
        </p:spPr>
      </p:sp>
      <p:sp>
        <p:nvSpPr>
          <p:cNvPr id="68" name="Text 66"/>
          <p:cNvSpPr txBox="1"/>
          <p:nvPr/>
        </p:nvSpPr>
        <p:spPr>
          <a:xfrm>
            <a:off x="7651699" y="2287829"/>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69" name="Heat Ne"/>
          <p:cNvSpPr/>
          <p:nvPr/>
        </p:nvSpPr>
        <p:spPr>
          <a:xfrm>
            <a:off x="8134502" y="2287829"/>
            <a:ext cx="438912" cy="460858"/>
          </a:xfrm>
          <a:prstGeom prst="roundRect">
            <a:avLst>
              <a:gd name="adj" fmla="val 12000"/>
            </a:avLst>
          </a:prstGeom>
          <a:solidFill>
            <a:schemeClr val="accent1">
              <a:alpha val="19000"/>
            </a:schemeClr>
          </a:solidFill>
          <a:ln w="9525">
            <a:solidFill>
              <a:schemeClr val="accent1">
                <a:alpha val="60000"/>
              </a:schemeClr>
            </a:solidFill>
            <a:prstDash val="solid"/>
          </a:ln>
        </p:spPr>
      </p:sp>
      <p:sp>
        <p:nvSpPr>
          <p:cNvPr id="70" name="Text 68"/>
          <p:cNvSpPr txBox="1"/>
          <p:nvPr/>
        </p:nvSpPr>
        <p:spPr>
          <a:xfrm>
            <a:off x="8134502" y="2287829"/>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Ne</a:t>
            </a:r>
            <a:endParaRPr lang="en-US" sz="1400" dirty="0"/>
          </a:p>
        </p:txBody>
      </p:sp>
      <p:sp>
        <p:nvSpPr>
          <p:cNvPr id="71" name="Heat Na"/>
          <p:cNvSpPr/>
          <p:nvPr/>
        </p:nvSpPr>
        <p:spPr>
          <a:xfrm>
            <a:off x="4754880" y="2792578"/>
            <a:ext cx="438912" cy="460858"/>
          </a:xfrm>
          <a:prstGeom prst="roundRect">
            <a:avLst>
              <a:gd name="adj" fmla="val 12000"/>
            </a:avLst>
          </a:prstGeom>
          <a:solidFill>
            <a:schemeClr val="accent1">
              <a:alpha val="64000"/>
            </a:schemeClr>
          </a:solidFill>
          <a:ln w="9525">
            <a:solidFill>
              <a:schemeClr val="accent1">
                <a:alpha val="60000"/>
              </a:schemeClr>
            </a:solidFill>
            <a:prstDash val="solid"/>
          </a:ln>
        </p:spPr>
      </p:sp>
      <p:sp>
        <p:nvSpPr>
          <p:cNvPr id="72" name="Text 70"/>
          <p:cNvSpPr txBox="1"/>
          <p:nvPr/>
        </p:nvSpPr>
        <p:spPr>
          <a:xfrm>
            <a:off x="4754880" y="2792578"/>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Na</a:t>
            </a:r>
            <a:endParaRPr lang="en-US" sz="1400" dirty="0"/>
          </a:p>
        </p:txBody>
      </p:sp>
      <p:sp>
        <p:nvSpPr>
          <p:cNvPr id="73" name="Heat Mg"/>
          <p:cNvSpPr/>
          <p:nvPr/>
        </p:nvSpPr>
        <p:spPr>
          <a:xfrm>
            <a:off x="5237683" y="2792578"/>
            <a:ext cx="438912" cy="460858"/>
          </a:xfrm>
          <a:prstGeom prst="roundRect">
            <a:avLst>
              <a:gd name="adj" fmla="val 12000"/>
            </a:avLst>
          </a:prstGeom>
          <a:solidFill>
            <a:schemeClr val="accent1">
              <a:alpha val="51000"/>
            </a:schemeClr>
          </a:solidFill>
          <a:ln w="9525">
            <a:solidFill>
              <a:schemeClr val="accent1">
                <a:alpha val="60000"/>
              </a:schemeClr>
            </a:solidFill>
            <a:prstDash val="solid"/>
          </a:ln>
        </p:spPr>
      </p:sp>
      <p:sp>
        <p:nvSpPr>
          <p:cNvPr id="74" name="Text 72"/>
          <p:cNvSpPr txBox="1"/>
          <p:nvPr/>
        </p:nvSpPr>
        <p:spPr>
          <a:xfrm>
            <a:off x="5237683" y="2792578"/>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Mg</a:t>
            </a:r>
            <a:endParaRPr lang="en-US" sz="1400" dirty="0"/>
          </a:p>
        </p:txBody>
      </p:sp>
      <p:sp>
        <p:nvSpPr>
          <p:cNvPr id="75" name="Heat Al"/>
          <p:cNvSpPr/>
          <p:nvPr/>
        </p:nvSpPr>
        <p:spPr>
          <a:xfrm>
            <a:off x="5720486" y="2792578"/>
            <a:ext cx="438912" cy="460858"/>
          </a:xfrm>
          <a:prstGeom prst="roundRect">
            <a:avLst>
              <a:gd name="adj" fmla="val 12000"/>
            </a:avLst>
          </a:prstGeom>
          <a:solidFill>
            <a:schemeClr val="accent1">
              <a:alpha val="43000"/>
            </a:schemeClr>
          </a:solidFill>
          <a:ln w="9525">
            <a:solidFill>
              <a:schemeClr val="accent1">
                <a:alpha val="60000"/>
              </a:schemeClr>
            </a:solidFill>
            <a:prstDash val="solid"/>
          </a:ln>
        </p:spPr>
      </p:sp>
      <p:sp>
        <p:nvSpPr>
          <p:cNvPr id="76" name="Text 74"/>
          <p:cNvSpPr txBox="1"/>
          <p:nvPr/>
        </p:nvSpPr>
        <p:spPr>
          <a:xfrm>
            <a:off x="5720486" y="2792578"/>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Al</a:t>
            </a:r>
            <a:endParaRPr lang="en-US" sz="1400" dirty="0"/>
          </a:p>
        </p:txBody>
      </p:sp>
      <p:sp>
        <p:nvSpPr>
          <p:cNvPr id="77" name="Heat Si"/>
          <p:cNvSpPr/>
          <p:nvPr/>
        </p:nvSpPr>
        <p:spPr>
          <a:xfrm>
            <a:off x="6203290" y="2792578"/>
            <a:ext cx="438912" cy="460858"/>
          </a:xfrm>
          <a:prstGeom prst="roundRect">
            <a:avLst>
              <a:gd name="adj" fmla="val 12000"/>
            </a:avLst>
          </a:prstGeom>
          <a:solidFill>
            <a:schemeClr val="accent1">
              <a:alpha val="41000"/>
            </a:schemeClr>
          </a:solidFill>
          <a:ln w="9525">
            <a:solidFill>
              <a:schemeClr val="accent1">
                <a:alpha val="60000"/>
              </a:schemeClr>
            </a:solidFill>
            <a:prstDash val="solid"/>
          </a:ln>
        </p:spPr>
      </p:sp>
      <p:sp>
        <p:nvSpPr>
          <p:cNvPr id="78" name="Text 76"/>
          <p:cNvSpPr txBox="1"/>
          <p:nvPr/>
        </p:nvSpPr>
        <p:spPr>
          <a:xfrm>
            <a:off x="6203290" y="2792578"/>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Si</a:t>
            </a:r>
            <a:endParaRPr lang="en-US" sz="1400" dirty="0"/>
          </a:p>
        </p:txBody>
      </p:sp>
      <p:sp>
        <p:nvSpPr>
          <p:cNvPr id="79" name="Heat P"/>
          <p:cNvSpPr/>
          <p:nvPr/>
        </p:nvSpPr>
        <p:spPr>
          <a:xfrm>
            <a:off x="6686093" y="2792578"/>
            <a:ext cx="438912" cy="460858"/>
          </a:xfrm>
          <a:prstGeom prst="roundRect">
            <a:avLst>
              <a:gd name="adj" fmla="val 12000"/>
            </a:avLst>
          </a:prstGeom>
          <a:solidFill>
            <a:schemeClr val="accent1">
              <a:alpha val="37000"/>
            </a:schemeClr>
          </a:solidFill>
          <a:ln w="9525">
            <a:solidFill>
              <a:schemeClr val="accent1">
                <a:alpha val="60000"/>
              </a:schemeClr>
            </a:solidFill>
            <a:prstDash val="solid"/>
          </a:ln>
        </p:spPr>
      </p:sp>
      <p:sp>
        <p:nvSpPr>
          <p:cNvPr id="80" name="Text 78"/>
          <p:cNvSpPr txBox="1"/>
          <p:nvPr/>
        </p:nvSpPr>
        <p:spPr>
          <a:xfrm>
            <a:off x="6686093" y="2792578"/>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P</a:t>
            </a:r>
            <a:endParaRPr lang="en-US" sz="1400" dirty="0"/>
          </a:p>
        </p:txBody>
      </p:sp>
      <p:sp>
        <p:nvSpPr>
          <p:cNvPr id="81" name="Heat S"/>
          <p:cNvSpPr/>
          <p:nvPr/>
        </p:nvSpPr>
        <p:spPr>
          <a:xfrm>
            <a:off x="7168896" y="2792578"/>
            <a:ext cx="438912" cy="460858"/>
          </a:xfrm>
          <a:prstGeom prst="roundRect">
            <a:avLst>
              <a:gd name="adj" fmla="val 12000"/>
            </a:avLst>
          </a:prstGeom>
          <a:solidFill>
            <a:schemeClr val="accent1">
              <a:alpha val="34000"/>
            </a:schemeClr>
          </a:solidFill>
          <a:ln w="9525">
            <a:solidFill>
              <a:schemeClr val="accent1">
                <a:alpha val="60000"/>
              </a:schemeClr>
            </a:solidFill>
            <a:prstDash val="solid"/>
          </a:ln>
        </p:spPr>
      </p:sp>
      <p:sp>
        <p:nvSpPr>
          <p:cNvPr id="82" name="Text 80"/>
          <p:cNvSpPr txBox="1"/>
          <p:nvPr/>
        </p:nvSpPr>
        <p:spPr>
          <a:xfrm>
            <a:off x="7168896" y="2792578"/>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S</a:t>
            </a:r>
            <a:endParaRPr lang="en-US" sz="1400" dirty="0"/>
          </a:p>
        </p:txBody>
      </p:sp>
      <p:sp>
        <p:nvSpPr>
          <p:cNvPr id="83" name="Heat Cl"/>
          <p:cNvSpPr/>
          <p:nvPr/>
        </p:nvSpPr>
        <p:spPr>
          <a:xfrm>
            <a:off x="7651699" y="2792578"/>
            <a:ext cx="438912" cy="460858"/>
          </a:xfrm>
          <a:prstGeom prst="roundRect">
            <a:avLst>
              <a:gd name="adj" fmla="val 12000"/>
            </a:avLst>
          </a:prstGeom>
          <a:solidFill>
            <a:schemeClr val="accent1">
              <a:alpha val="31000"/>
            </a:schemeClr>
          </a:solidFill>
          <a:ln w="9525">
            <a:solidFill>
              <a:schemeClr val="accent1">
                <a:alpha val="60000"/>
              </a:schemeClr>
            </a:solidFill>
            <a:prstDash val="solid"/>
          </a:ln>
        </p:spPr>
      </p:sp>
      <p:sp>
        <p:nvSpPr>
          <p:cNvPr id="84" name="Text 82"/>
          <p:cNvSpPr txBox="1"/>
          <p:nvPr/>
        </p:nvSpPr>
        <p:spPr>
          <a:xfrm>
            <a:off x="7651699" y="2792578"/>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Cl</a:t>
            </a:r>
            <a:endParaRPr lang="en-US" sz="1400" dirty="0"/>
          </a:p>
        </p:txBody>
      </p:sp>
      <p:sp>
        <p:nvSpPr>
          <p:cNvPr id="85" name="Heat Ar"/>
          <p:cNvSpPr/>
          <p:nvPr/>
        </p:nvSpPr>
        <p:spPr>
          <a:xfrm>
            <a:off x="8134502" y="2792578"/>
            <a:ext cx="438912" cy="460858"/>
          </a:xfrm>
          <a:prstGeom prst="roundRect">
            <a:avLst>
              <a:gd name="adj" fmla="val 12000"/>
            </a:avLst>
          </a:prstGeom>
          <a:solidFill>
            <a:schemeClr val="accent1">
              <a:alpha val="29000"/>
            </a:schemeClr>
          </a:solidFill>
          <a:ln w="9525">
            <a:solidFill>
              <a:schemeClr val="accent1">
                <a:alpha val="60000"/>
              </a:schemeClr>
            </a:solidFill>
            <a:prstDash val="solid"/>
          </a:ln>
        </p:spPr>
      </p:sp>
      <p:sp>
        <p:nvSpPr>
          <p:cNvPr id="86" name="Text 84"/>
          <p:cNvSpPr txBox="1"/>
          <p:nvPr/>
        </p:nvSpPr>
        <p:spPr>
          <a:xfrm>
            <a:off x="8134502" y="2792578"/>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Ar</a:t>
            </a:r>
            <a:endParaRPr lang="en-US" sz="1400" dirty="0"/>
          </a:p>
        </p:txBody>
      </p:sp>
      <p:sp>
        <p:nvSpPr>
          <p:cNvPr id="87" name="Highlight Ar"/>
          <p:cNvSpPr/>
          <p:nvPr/>
        </p:nvSpPr>
        <p:spPr>
          <a:xfrm>
            <a:off x="8097926" y="2756002"/>
            <a:ext cx="512064" cy="534010"/>
          </a:xfrm>
          <a:prstGeom prst="roundRect">
            <a:avLst>
              <a:gd name="adj" fmla="val 12857"/>
            </a:avLst>
          </a:prstGeom>
          <a:ln w="31750">
            <a:solidFill>
              <a:schemeClr val="accent2"/>
            </a:solidFill>
            <a:prstDash val="solid"/>
          </a:ln>
        </p:spPr>
      </p:sp>
      <p:sp>
        <p:nvSpPr>
          <p:cNvPr id="88" name="Heat K"/>
          <p:cNvSpPr/>
          <p:nvPr/>
        </p:nvSpPr>
        <p:spPr>
          <a:xfrm>
            <a:off x="4754880" y="3297326"/>
            <a:ext cx="438912" cy="460858"/>
          </a:xfrm>
          <a:prstGeom prst="roundRect">
            <a:avLst>
              <a:gd name="adj" fmla="val 12000"/>
            </a:avLst>
          </a:prstGeom>
          <a:solidFill>
            <a:schemeClr val="accent1">
              <a:alpha val="80000"/>
            </a:schemeClr>
          </a:solidFill>
          <a:ln w="9525">
            <a:solidFill>
              <a:schemeClr val="accent1">
                <a:alpha val="60000"/>
              </a:schemeClr>
            </a:solidFill>
            <a:prstDash val="solid"/>
          </a:ln>
        </p:spPr>
      </p:sp>
      <p:sp>
        <p:nvSpPr>
          <p:cNvPr id="89" name="Text 87"/>
          <p:cNvSpPr txBox="1"/>
          <p:nvPr/>
        </p:nvSpPr>
        <p:spPr>
          <a:xfrm>
            <a:off x="4754880" y="3297326"/>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K</a:t>
            </a:r>
            <a:endParaRPr lang="en-US" sz="1400" dirty="0"/>
          </a:p>
        </p:txBody>
      </p:sp>
      <p:sp>
        <p:nvSpPr>
          <p:cNvPr id="90" name="Highlight K"/>
          <p:cNvSpPr/>
          <p:nvPr/>
        </p:nvSpPr>
        <p:spPr>
          <a:xfrm>
            <a:off x="4718304" y="3260750"/>
            <a:ext cx="512064" cy="534010"/>
          </a:xfrm>
          <a:prstGeom prst="roundRect">
            <a:avLst>
              <a:gd name="adj" fmla="val 12857"/>
            </a:avLst>
          </a:prstGeom>
          <a:ln w="31750">
            <a:solidFill>
              <a:schemeClr val="accent2"/>
            </a:solidFill>
            <a:prstDash val="solid"/>
          </a:ln>
        </p:spPr>
      </p:sp>
      <p:sp>
        <p:nvSpPr>
          <p:cNvPr id="91" name="Heat Ca"/>
          <p:cNvSpPr/>
          <p:nvPr/>
        </p:nvSpPr>
        <p:spPr>
          <a:xfrm>
            <a:off x="5237683" y="3297326"/>
            <a:ext cx="438912" cy="460858"/>
          </a:xfrm>
          <a:prstGeom prst="roundRect">
            <a:avLst>
              <a:gd name="adj" fmla="val 12000"/>
            </a:avLst>
          </a:prstGeom>
          <a:solidFill>
            <a:schemeClr val="accent1">
              <a:alpha val="65000"/>
            </a:schemeClr>
          </a:solidFill>
          <a:ln w="9525">
            <a:solidFill>
              <a:schemeClr val="accent1">
                <a:alpha val="60000"/>
              </a:schemeClr>
            </a:solidFill>
            <a:prstDash val="solid"/>
          </a:ln>
        </p:spPr>
      </p:sp>
      <p:sp>
        <p:nvSpPr>
          <p:cNvPr id="92" name="Text 90"/>
          <p:cNvSpPr txBox="1"/>
          <p:nvPr/>
        </p:nvSpPr>
        <p:spPr>
          <a:xfrm>
            <a:off x="5237683" y="3297326"/>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Ca</a:t>
            </a:r>
            <a:endParaRPr lang="en-US" sz="1400" dirty="0"/>
          </a:p>
        </p:txBody>
      </p:sp>
      <p:sp>
        <p:nvSpPr>
          <p:cNvPr id="93" name="Heat Ga"/>
          <p:cNvSpPr/>
          <p:nvPr/>
        </p:nvSpPr>
        <p:spPr>
          <a:xfrm>
            <a:off x="5720486" y="3297326"/>
            <a:ext cx="438912" cy="460858"/>
          </a:xfrm>
          <a:prstGeom prst="roundRect">
            <a:avLst>
              <a:gd name="adj" fmla="val 12000"/>
            </a:avLst>
          </a:prstGeom>
          <a:solidFill>
            <a:schemeClr val="accent1">
              <a:alpha val="48000"/>
            </a:schemeClr>
          </a:solidFill>
          <a:ln w="9525">
            <a:solidFill>
              <a:schemeClr val="accent1">
                <a:alpha val="60000"/>
              </a:schemeClr>
            </a:solidFill>
            <a:prstDash val="solid"/>
          </a:ln>
        </p:spPr>
      </p:sp>
      <p:sp>
        <p:nvSpPr>
          <p:cNvPr id="94" name="Text 92"/>
          <p:cNvSpPr txBox="1"/>
          <p:nvPr/>
        </p:nvSpPr>
        <p:spPr>
          <a:xfrm>
            <a:off x="5720486" y="3297326"/>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Ga</a:t>
            </a:r>
            <a:endParaRPr lang="en-US" sz="1400" dirty="0"/>
          </a:p>
        </p:txBody>
      </p:sp>
      <p:sp>
        <p:nvSpPr>
          <p:cNvPr id="95" name="Heat Ge"/>
          <p:cNvSpPr/>
          <p:nvPr/>
        </p:nvSpPr>
        <p:spPr>
          <a:xfrm>
            <a:off x="6203290" y="3297326"/>
            <a:ext cx="438912" cy="460858"/>
          </a:xfrm>
          <a:prstGeom prst="roundRect">
            <a:avLst>
              <a:gd name="adj" fmla="val 12000"/>
            </a:avLst>
          </a:prstGeom>
          <a:solidFill>
            <a:schemeClr val="accent1">
              <a:alpha val="45000"/>
            </a:schemeClr>
          </a:solidFill>
          <a:ln w="9525">
            <a:solidFill>
              <a:schemeClr val="accent1">
                <a:alpha val="60000"/>
              </a:schemeClr>
            </a:solidFill>
            <a:prstDash val="solid"/>
          </a:ln>
        </p:spPr>
      </p:sp>
      <p:sp>
        <p:nvSpPr>
          <p:cNvPr id="96" name="Text 94"/>
          <p:cNvSpPr txBox="1"/>
          <p:nvPr/>
        </p:nvSpPr>
        <p:spPr>
          <a:xfrm>
            <a:off x="6203290" y="3297326"/>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Ge</a:t>
            </a:r>
            <a:endParaRPr lang="en-US" sz="1400" dirty="0"/>
          </a:p>
        </p:txBody>
      </p:sp>
      <p:sp>
        <p:nvSpPr>
          <p:cNvPr id="97" name="Heat As"/>
          <p:cNvSpPr/>
          <p:nvPr/>
        </p:nvSpPr>
        <p:spPr>
          <a:xfrm>
            <a:off x="6686093" y="3297326"/>
            <a:ext cx="438912" cy="460858"/>
          </a:xfrm>
          <a:prstGeom prst="roundRect">
            <a:avLst>
              <a:gd name="adj" fmla="val 12000"/>
            </a:avLst>
          </a:prstGeom>
          <a:solidFill>
            <a:schemeClr val="accent1">
              <a:alpha val="42000"/>
            </a:schemeClr>
          </a:solidFill>
          <a:ln w="9525">
            <a:solidFill>
              <a:schemeClr val="accent1">
                <a:alpha val="60000"/>
              </a:schemeClr>
            </a:solidFill>
            <a:prstDash val="solid"/>
          </a:ln>
        </p:spPr>
      </p:sp>
      <p:sp>
        <p:nvSpPr>
          <p:cNvPr id="98" name="Text 96"/>
          <p:cNvSpPr txBox="1"/>
          <p:nvPr/>
        </p:nvSpPr>
        <p:spPr>
          <a:xfrm>
            <a:off x="6686093" y="3297326"/>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As</a:t>
            </a:r>
            <a:endParaRPr lang="en-US" sz="1400" dirty="0"/>
          </a:p>
        </p:txBody>
      </p:sp>
      <p:sp>
        <p:nvSpPr>
          <p:cNvPr id="99" name="Heat Se"/>
          <p:cNvSpPr/>
          <p:nvPr/>
        </p:nvSpPr>
        <p:spPr>
          <a:xfrm>
            <a:off x="7168896" y="3297326"/>
            <a:ext cx="438912" cy="460858"/>
          </a:xfrm>
          <a:prstGeom prst="roundRect">
            <a:avLst>
              <a:gd name="adj" fmla="val 12000"/>
            </a:avLst>
          </a:prstGeom>
          <a:solidFill>
            <a:schemeClr val="accent1">
              <a:alpha val="39000"/>
            </a:schemeClr>
          </a:solidFill>
          <a:ln w="9525">
            <a:solidFill>
              <a:schemeClr val="accent1">
                <a:alpha val="60000"/>
              </a:schemeClr>
            </a:solidFill>
            <a:prstDash val="solid"/>
          </a:ln>
        </p:spPr>
      </p:sp>
      <p:sp>
        <p:nvSpPr>
          <p:cNvPr id="100" name="Text 98"/>
          <p:cNvSpPr txBox="1"/>
          <p:nvPr/>
        </p:nvSpPr>
        <p:spPr>
          <a:xfrm>
            <a:off x="7168896" y="3297326"/>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Se</a:t>
            </a:r>
            <a:endParaRPr lang="en-US" sz="1400" dirty="0"/>
          </a:p>
        </p:txBody>
      </p:sp>
      <p:sp>
        <p:nvSpPr>
          <p:cNvPr id="101" name="Heat Br"/>
          <p:cNvSpPr/>
          <p:nvPr/>
        </p:nvSpPr>
        <p:spPr>
          <a:xfrm>
            <a:off x="7651699" y="3297326"/>
            <a:ext cx="438912" cy="460858"/>
          </a:xfrm>
          <a:prstGeom prst="roundRect">
            <a:avLst>
              <a:gd name="adj" fmla="val 12000"/>
            </a:avLst>
          </a:prstGeom>
          <a:solidFill>
            <a:schemeClr val="accent1">
              <a:alpha val="36000"/>
            </a:schemeClr>
          </a:solidFill>
          <a:ln w="9525">
            <a:solidFill>
              <a:schemeClr val="accent1">
                <a:alpha val="60000"/>
              </a:schemeClr>
            </a:solidFill>
            <a:prstDash val="solid"/>
          </a:ln>
        </p:spPr>
      </p:sp>
      <p:sp>
        <p:nvSpPr>
          <p:cNvPr id="102" name="Text 100"/>
          <p:cNvSpPr txBox="1"/>
          <p:nvPr/>
        </p:nvSpPr>
        <p:spPr>
          <a:xfrm>
            <a:off x="7651699" y="3297326"/>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Br</a:t>
            </a:r>
            <a:endParaRPr lang="en-US" sz="1400" dirty="0"/>
          </a:p>
        </p:txBody>
      </p:sp>
      <p:sp>
        <p:nvSpPr>
          <p:cNvPr id="103" name="Highlight Br"/>
          <p:cNvSpPr/>
          <p:nvPr/>
        </p:nvSpPr>
        <p:spPr>
          <a:xfrm>
            <a:off x="7615123" y="3260750"/>
            <a:ext cx="512064" cy="534010"/>
          </a:xfrm>
          <a:prstGeom prst="roundRect">
            <a:avLst>
              <a:gd name="adj" fmla="val 12857"/>
            </a:avLst>
          </a:prstGeom>
          <a:ln w="31750">
            <a:solidFill>
              <a:schemeClr val="accent2"/>
            </a:solidFill>
            <a:prstDash val="solid"/>
          </a:ln>
        </p:spPr>
      </p:sp>
      <p:sp>
        <p:nvSpPr>
          <p:cNvPr id="104" name="Heat Kr"/>
          <p:cNvSpPr/>
          <p:nvPr/>
        </p:nvSpPr>
        <p:spPr>
          <a:xfrm>
            <a:off x="8134502" y="3297326"/>
            <a:ext cx="438912" cy="460858"/>
          </a:xfrm>
          <a:prstGeom prst="roundRect">
            <a:avLst>
              <a:gd name="adj" fmla="val 12000"/>
            </a:avLst>
          </a:prstGeom>
          <a:solidFill>
            <a:schemeClr val="accent1">
              <a:alpha val="34000"/>
            </a:schemeClr>
          </a:solidFill>
          <a:ln w="9525">
            <a:solidFill>
              <a:schemeClr val="accent1">
                <a:alpha val="60000"/>
              </a:schemeClr>
            </a:solidFill>
            <a:prstDash val="solid"/>
          </a:ln>
        </p:spPr>
      </p:sp>
      <p:sp>
        <p:nvSpPr>
          <p:cNvPr id="105" name="Text 103"/>
          <p:cNvSpPr txBox="1"/>
          <p:nvPr/>
        </p:nvSpPr>
        <p:spPr>
          <a:xfrm>
            <a:off x="8134502" y="3297326"/>
            <a:ext cx="438912" cy="460858"/>
          </a:xfrm>
          <a:prstGeom prst="rect">
            <a:avLst/>
          </a:prstGeom>
          <a:noFill/>
          <a:ln/>
        </p:spPr>
        <p:txBody>
          <a:bodyPr wrap="square" lIns="0" tIns="0" rIns="0" bIns="0" rtlCol="0" anchor="ctr"/>
          <a:lstStyle/>
          <a:p>
            <a:pPr algn="ctr" indent="0" marL="0">
              <a:buNone/>
            </a:pPr>
            <a:r>
              <a:rPr lang="en-US" sz="1400" b="1" dirty="0">
                <a:solidFill>
                  <a:schemeClr val="bg1"/>
                </a:solidFill>
              </a:rPr>
              <a:t>Kr</a:t>
            </a:r>
            <a:endParaRPr lang="en-US" sz="1400" dirty="0"/>
          </a:p>
        </p:txBody>
      </p:sp>
      <p:sp>
        <p:nvSpPr>
          <p:cNvPr id="106" name="Text 104"/>
          <p:cNvSpPr txBox="1"/>
          <p:nvPr/>
        </p:nvSpPr>
        <p:spPr>
          <a:xfrm>
            <a:off x="4754880" y="4160520"/>
            <a:ext cx="3931920" cy="274320"/>
          </a:xfrm>
          <a:prstGeom prst="rect">
            <a:avLst/>
          </a:prstGeom>
          <a:noFill/>
          <a:ln/>
        </p:spPr>
        <p:txBody>
          <a:bodyPr wrap="square" lIns="0" tIns="0" rIns="0" bIns="0" rtlCol="0" anchor="t"/>
          <a:lstStyle/>
          <a:p>
            <a:pPr indent="0" marL="0">
              <a:buNone/>
            </a:pPr>
            <a:r>
              <a:rPr lang="en-US" sz="1100" dirty="0">
                <a:solidFill>
                  <a:schemeClr val="bg2"/>
                </a:solidFill>
              </a:rPr>
              <a:t>Brighter tiles = larger atoms</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K"/>
          <p:cNvSpPr/>
          <p:nvPr/>
        </p:nvSpPr>
        <p:spPr>
          <a:xfrm>
            <a:off x="517185" y="457932"/>
            <a:ext cx="629839" cy="62983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K</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Which atom is larger?</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Pick the larger atom in each pair.</a:t>
            </a:r>
            <a:endParaRPr lang="en-US" sz="1300" dirty="0"/>
          </a:p>
        </p:txBody>
      </p:sp>
      <p:sp>
        <p:nvSpPr>
          <p:cNvPr id="10" name="Pair 1"/>
          <p:cNvSpPr/>
          <p:nvPr/>
        </p:nvSpPr>
        <p:spPr>
          <a:xfrm>
            <a:off x="457200"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11" name="Text 9"/>
          <p:cNvSpPr txBox="1"/>
          <p:nvPr/>
        </p:nvSpPr>
        <p:spPr>
          <a:xfrm>
            <a:off x="548640"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12" name="Tile Li"/>
          <p:cNvSpPr/>
          <p:nvPr/>
        </p:nvSpPr>
        <p:spPr>
          <a:xfrm>
            <a:off x="630936"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13" name="Text 11"/>
          <p:cNvSpPr txBox="1"/>
          <p:nvPr/>
        </p:nvSpPr>
        <p:spPr>
          <a:xfrm>
            <a:off x="673364"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3</a:t>
            </a:r>
            <a:endParaRPr lang="en-US" sz="800" dirty="0"/>
          </a:p>
        </p:txBody>
      </p:sp>
      <p:sp>
        <p:nvSpPr>
          <p:cNvPr id="14" name="Text 12"/>
          <p:cNvSpPr txBox="1"/>
          <p:nvPr/>
        </p:nvSpPr>
        <p:spPr>
          <a:xfrm>
            <a:off x="630936"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Li</a:t>
            </a:r>
            <a:endParaRPr lang="en-US" sz="2000" dirty="0"/>
          </a:p>
        </p:txBody>
      </p:sp>
      <p:sp>
        <p:nvSpPr>
          <p:cNvPr id="15" name="Tile O"/>
          <p:cNvSpPr/>
          <p:nvPr/>
        </p:nvSpPr>
        <p:spPr>
          <a:xfrm>
            <a:off x="1307592" y="2075688"/>
            <a:ext cx="530352" cy="585216"/>
          </a:xfrm>
          <a:prstGeom prst="roundRect">
            <a:avLst>
              <a:gd name="adj" fmla="val 12000"/>
            </a:avLst>
          </a:prstGeom>
          <a:solidFill>
            <a:srgbClr val="45C08F">
              <a:alpha val="30000"/>
            </a:srgbClr>
          </a:solidFill>
          <a:ln w="19050">
            <a:solidFill>
              <a:srgbClr val="45C08F"/>
            </a:solidFill>
            <a:prstDash val="solid"/>
          </a:ln>
        </p:spPr>
      </p:sp>
      <p:sp>
        <p:nvSpPr>
          <p:cNvPr id="16" name="Text 14"/>
          <p:cNvSpPr txBox="1"/>
          <p:nvPr/>
        </p:nvSpPr>
        <p:spPr>
          <a:xfrm>
            <a:off x="1350020"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8</a:t>
            </a:r>
            <a:endParaRPr lang="en-US" sz="800" dirty="0"/>
          </a:p>
        </p:txBody>
      </p:sp>
      <p:sp>
        <p:nvSpPr>
          <p:cNvPr id="17" name="Text 15"/>
          <p:cNvSpPr txBox="1"/>
          <p:nvPr/>
        </p:nvSpPr>
        <p:spPr>
          <a:xfrm>
            <a:off x="1307592"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O</a:t>
            </a:r>
            <a:endParaRPr lang="en-US" sz="2000" dirty="0"/>
          </a:p>
        </p:txBody>
      </p:sp>
      <p:sp>
        <p:nvSpPr>
          <p:cNvPr id="18" name="Text 16"/>
          <p:cNvSpPr txBox="1"/>
          <p:nvPr/>
        </p:nvSpPr>
        <p:spPr>
          <a:xfrm>
            <a:off x="457200" y="2788920"/>
            <a:ext cx="1554480" cy="109728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19" name="Pair 2"/>
          <p:cNvSpPr/>
          <p:nvPr/>
        </p:nvSpPr>
        <p:spPr>
          <a:xfrm>
            <a:off x="2121408"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20" name="Text 18"/>
          <p:cNvSpPr txBox="1"/>
          <p:nvPr/>
        </p:nvSpPr>
        <p:spPr>
          <a:xfrm>
            <a:off x="2212848"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2</a:t>
            </a:r>
            <a:endParaRPr lang="en-US" sz="1200" dirty="0"/>
          </a:p>
        </p:txBody>
      </p:sp>
      <p:sp>
        <p:nvSpPr>
          <p:cNvPr id="21" name="Tile K"/>
          <p:cNvSpPr/>
          <p:nvPr/>
        </p:nvSpPr>
        <p:spPr>
          <a:xfrm>
            <a:off x="2295144"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22" name="Text 20"/>
          <p:cNvSpPr txBox="1"/>
          <p:nvPr/>
        </p:nvSpPr>
        <p:spPr>
          <a:xfrm>
            <a:off x="2337572"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19</a:t>
            </a:r>
            <a:endParaRPr lang="en-US" sz="800" dirty="0"/>
          </a:p>
        </p:txBody>
      </p:sp>
      <p:sp>
        <p:nvSpPr>
          <p:cNvPr id="23" name="Text 21"/>
          <p:cNvSpPr txBox="1"/>
          <p:nvPr/>
        </p:nvSpPr>
        <p:spPr>
          <a:xfrm>
            <a:off x="2295144"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K</a:t>
            </a:r>
            <a:endParaRPr lang="en-US" sz="2000" dirty="0"/>
          </a:p>
        </p:txBody>
      </p:sp>
      <p:sp>
        <p:nvSpPr>
          <p:cNvPr id="24" name="Tile Li"/>
          <p:cNvSpPr/>
          <p:nvPr/>
        </p:nvSpPr>
        <p:spPr>
          <a:xfrm>
            <a:off x="2971800"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25" name="Text 23"/>
          <p:cNvSpPr txBox="1"/>
          <p:nvPr/>
        </p:nvSpPr>
        <p:spPr>
          <a:xfrm>
            <a:off x="3014228"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3</a:t>
            </a:r>
            <a:endParaRPr lang="en-US" sz="800" dirty="0"/>
          </a:p>
        </p:txBody>
      </p:sp>
      <p:sp>
        <p:nvSpPr>
          <p:cNvPr id="26" name="Text 24"/>
          <p:cNvSpPr txBox="1"/>
          <p:nvPr/>
        </p:nvSpPr>
        <p:spPr>
          <a:xfrm>
            <a:off x="2971800"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Li</a:t>
            </a:r>
            <a:endParaRPr lang="en-US" sz="2000" dirty="0"/>
          </a:p>
        </p:txBody>
      </p:sp>
      <p:sp>
        <p:nvSpPr>
          <p:cNvPr id="27" name="Text 25"/>
          <p:cNvSpPr txBox="1"/>
          <p:nvPr/>
        </p:nvSpPr>
        <p:spPr>
          <a:xfrm>
            <a:off x="2121408" y="2788920"/>
            <a:ext cx="1554480" cy="109728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28" name="Pair 3"/>
          <p:cNvSpPr/>
          <p:nvPr/>
        </p:nvSpPr>
        <p:spPr>
          <a:xfrm>
            <a:off x="3785616"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29" name="Text 27"/>
          <p:cNvSpPr txBox="1"/>
          <p:nvPr/>
        </p:nvSpPr>
        <p:spPr>
          <a:xfrm>
            <a:off x="3877056"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3</a:t>
            </a:r>
            <a:endParaRPr lang="en-US" sz="1200" dirty="0"/>
          </a:p>
        </p:txBody>
      </p:sp>
      <p:sp>
        <p:nvSpPr>
          <p:cNvPr id="30" name="Tile Mg"/>
          <p:cNvSpPr/>
          <p:nvPr/>
        </p:nvSpPr>
        <p:spPr>
          <a:xfrm>
            <a:off x="3959352" y="2075688"/>
            <a:ext cx="530352" cy="585216"/>
          </a:xfrm>
          <a:prstGeom prst="roundRect">
            <a:avLst>
              <a:gd name="adj" fmla="val 12000"/>
            </a:avLst>
          </a:prstGeom>
          <a:solidFill>
            <a:srgbClr val="FFCB5C">
              <a:alpha val="30000"/>
            </a:srgbClr>
          </a:solidFill>
          <a:ln w="19050">
            <a:solidFill>
              <a:srgbClr val="FFCB5C"/>
            </a:solidFill>
            <a:prstDash val="solid"/>
          </a:ln>
        </p:spPr>
      </p:sp>
      <p:sp>
        <p:nvSpPr>
          <p:cNvPr id="31" name="Text 29"/>
          <p:cNvSpPr txBox="1"/>
          <p:nvPr/>
        </p:nvSpPr>
        <p:spPr>
          <a:xfrm>
            <a:off x="4001780"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12</a:t>
            </a:r>
            <a:endParaRPr lang="en-US" sz="800" dirty="0"/>
          </a:p>
        </p:txBody>
      </p:sp>
      <p:sp>
        <p:nvSpPr>
          <p:cNvPr id="32" name="Text 30"/>
          <p:cNvSpPr txBox="1"/>
          <p:nvPr/>
        </p:nvSpPr>
        <p:spPr>
          <a:xfrm>
            <a:off x="3959352"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Mg</a:t>
            </a:r>
            <a:endParaRPr lang="en-US" sz="2000" dirty="0"/>
          </a:p>
        </p:txBody>
      </p:sp>
      <p:sp>
        <p:nvSpPr>
          <p:cNvPr id="33" name="Tile S"/>
          <p:cNvSpPr/>
          <p:nvPr/>
        </p:nvSpPr>
        <p:spPr>
          <a:xfrm>
            <a:off x="4636008" y="2075688"/>
            <a:ext cx="530352" cy="585216"/>
          </a:xfrm>
          <a:prstGeom prst="roundRect">
            <a:avLst>
              <a:gd name="adj" fmla="val 12000"/>
            </a:avLst>
          </a:prstGeom>
          <a:solidFill>
            <a:srgbClr val="45C08F">
              <a:alpha val="30000"/>
            </a:srgbClr>
          </a:solidFill>
          <a:ln w="19050">
            <a:solidFill>
              <a:srgbClr val="45C08F"/>
            </a:solidFill>
            <a:prstDash val="solid"/>
          </a:ln>
        </p:spPr>
      </p:sp>
      <p:sp>
        <p:nvSpPr>
          <p:cNvPr id="34" name="Text 32"/>
          <p:cNvSpPr txBox="1"/>
          <p:nvPr/>
        </p:nvSpPr>
        <p:spPr>
          <a:xfrm>
            <a:off x="4678436"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16</a:t>
            </a:r>
            <a:endParaRPr lang="en-US" sz="800" dirty="0"/>
          </a:p>
        </p:txBody>
      </p:sp>
      <p:sp>
        <p:nvSpPr>
          <p:cNvPr id="35" name="Text 33"/>
          <p:cNvSpPr txBox="1"/>
          <p:nvPr/>
        </p:nvSpPr>
        <p:spPr>
          <a:xfrm>
            <a:off x="4636008"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S</a:t>
            </a:r>
            <a:endParaRPr lang="en-US" sz="2000" dirty="0"/>
          </a:p>
        </p:txBody>
      </p:sp>
      <p:sp>
        <p:nvSpPr>
          <p:cNvPr id="36" name="Text 34"/>
          <p:cNvSpPr txBox="1"/>
          <p:nvPr/>
        </p:nvSpPr>
        <p:spPr>
          <a:xfrm>
            <a:off x="3785616" y="2788920"/>
            <a:ext cx="1554480" cy="109728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37" name="Pair 4"/>
          <p:cNvSpPr/>
          <p:nvPr/>
        </p:nvSpPr>
        <p:spPr>
          <a:xfrm>
            <a:off x="5449824"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38" name="Text 36"/>
          <p:cNvSpPr txBox="1"/>
          <p:nvPr/>
        </p:nvSpPr>
        <p:spPr>
          <a:xfrm>
            <a:off x="5541264"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4</a:t>
            </a:r>
            <a:endParaRPr lang="en-US" sz="1200" dirty="0"/>
          </a:p>
        </p:txBody>
      </p:sp>
      <p:sp>
        <p:nvSpPr>
          <p:cNvPr id="39" name="Tile Cl"/>
          <p:cNvSpPr/>
          <p:nvPr/>
        </p:nvSpPr>
        <p:spPr>
          <a:xfrm>
            <a:off x="5623560" y="2075688"/>
            <a:ext cx="530352" cy="585216"/>
          </a:xfrm>
          <a:prstGeom prst="roundRect">
            <a:avLst>
              <a:gd name="adj" fmla="val 12000"/>
            </a:avLst>
          </a:prstGeom>
          <a:solidFill>
            <a:srgbClr val="F477B8">
              <a:alpha val="30000"/>
            </a:srgbClr>
          </a:solidFill>
          <a:ln w="19050">
            <a:solidFill>
              <a:srgbClr val="F477B8"/>
            </a:solidFill>
            <a:prstDash val="solid"/>
          </a:ln>
        </p:spPr>
      </p:sp>
      <p:sp>
        <p:nvSpPr>
          <p:cNvPr id="40" name="Text 38"/>
          <p:cNvSpPr txBox="1"/>
          <p:nvPr/>
        </p:nvSpPr>
        <p:spPr>
          <a:xfrm>
            <a:off x="5665988"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17</a:t>
            </a:r>
            <a:endParaRPr lang="en-US" sz="800" dirty="0"/>
          </a:p>
        </p:txBody>
      </p:sp>
      <p:sp>
        <p:nvSpPr>
          <p:cNvPr id="41" name="Text 39"/>
          <p:cNvSpPr txBox="1"/>
          <p:nvPr/>
        </p:nvSpPr>
        <p:spPr>
          <a:xfrm>
            <a:off x="5623560"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Cl</a:t>
            </a:r>
            <a:endParaRPr lang="en-US" sz="2000" dirty="0"/>
          </a:p>
        </p:txBody>
      </p:sp>
      <p:sp>
        <p:nvSpPr>
          <p:cNvPr id="42" name="Tile Br"/>
          <p:cNvSpPr/>
          <p:nvPr/>
        </p:nvSpPr>
        <p:spPr>
          <a:xfrm>
            <a:off x="6300216" y="2075688"/>
            <a:ext cx="530352" cy="585216"/>
          </a:xfrm>
          <a:prstGeom prst="roundRect">
            <a:avLst>
              <a:gd name="adj" fmla="val 12000"/>
            </a:avLst>
          </a:prstGeom>
          <a:solidFill>
            <a:srgbClr val="F477B8">
              <a:alpha val="30000"/>
            </a:srgbClr>
          </a:solidFill>
          <a:ln w="19050">
            <a:solidFill>
              <a:srgbClr val="F477B8"/>
            </a:solidFill>
            <a:prstDash val="solid"/>
          </a:ln>
        </p:spPr>
      </p:sp>
      <p:sp>
        <p:nvSpPr>
          <p:cNvPr id="43" name="Text 41"/>
          <p:cNvSpPr txBox="1"/>
          <p:nvPr/>
        </p:nvSpPr>
        <p:spPr>
          <a:xfrm>
            <a:off x="6342644"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35</a:t>
            </a:r>
            <a:endParaRPr lang="en-US" sz="800" dirty="0"/>
          </a:p>
        </p:txBody>
      </p:sp>
      <p:sp>
        <p:nvSpPr>
          <p:cNvPr id="44" name="Text 42"/>
          <p:cNvSpPr txBox="1"/>
          <p:nvPr/>
        </p:nvSpPr>
        <p:spPr>
          <a:xfrm>
            <a:off x="6300216"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Br</a:t>
            </a:r>
            <a:endParaRPr lang="en-US" sz="2000" dirty="0"/>
          </a:p>
        </p:txBody>
      </p:sp>
      <p:sp>
        <p:nvSpPr>
          <p:cNvPr id="45" name="Text 43"/>
          <p:cNvSpPr txBox="1"/>
          <p:nvPr/>
        </p:nvSpPr>
        <p:spPr>
          <a:xfrm>
            <a:off x="5449824" y="2788920"/>
            <a:ext cx="1554480" cy="109728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46" name="Pair 5"/>
          <p:cNvSpPr/>
          <p:nvPr/>
        </p:nvSpPr>
        <p:spPr>
          <a:xfrm>
            <a:off x="7114032"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47" name="Text 45"/>
          <p:cNvSpPr txBox="1"/>
          <p:nvPr/>
        </p:nvSpPr>
        <p:spPr>
          <a:xfrm>
            <a:off x="7205472"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5</a:t>
            </a:r>
            <a:endParaRPr lang="en-US" sz="1200" dirty="0"/>
          </a:p>
        </p:txBody>
      </p:sp>
      <p:sp>
        <p:nvSpPr>
          <p:cNvPr id="48" name="Tile C"/>
          <p:cNvSpPr/>
          <p:nvPr/>
        </p:nvSpPr>
        <p:spPr>
          <a:xfrm>
            <a:off x="7287768" y="2075688"/>
            <a:ext cx="530352" cy="585216"/>
          </a:xfrm>
          <a:prstGeom prst="roundRect">
            <a:avLst>
              <a:gd name="adj" fmla="val 12000"/>
            </a:avLst>
          </a:prstGeom>
          <a:solidFill>
            <a:srgbClr val="45C08F">
              <a:alpha val="30000"/>
            </a:srgbClr>
          </a:solidFill>
          <a:ln w="19050">
            <a:solidFill>
              <a:srgbClr val="45C08F"/>
            </a:solidFill>
            <a:prstDash val="solid"/>
          </a:ln>
        </p:spPr>
      </p:sp>
      <p:sp>
        <p:nvSpPr>
          <p:cNvPr id="49" name="Text 47"/>
          <p:cNvSpPr txBox="1"/>
          <p:nvPr/>
        </p:nvSpPr>
        <p:spPr>
          <a:xfrm>
            <a:off x="7330196"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6</a:t>
            </a:r>
            <a:endParaRPr lang="en-US" sz="800" dirty="0"/>
          </a:p>
        </p:txBody>
      </p:sp>
      <p:sp>
        <p:nvSpPr>
          <p:cNvPr id="50" name="Text 48"/>
          <p:cNvSpPr txBox="1"/>
          <p:nvPr/>
        </p:nvSpPr>
        <p:spPr>
          <a:xfrm>
            <a:off x="7287768"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51" name="Tile Si"/>
          <p:cNvSpPr/>
          <p:nvPr/>
        </p:nvSpPr>
        <p:spPr>
          <a:xfrm>
            <a:off x="7964424" y="2075688"/>
            <a:ext cx="530352" cy="585216"/>
          </a:xfrm>
          <a:prstGeom prst="roundRect">
            <a:avLst>
              <a:gd name="adj" fmla="val 12000"/>
            </a:avLst>
          </a:prstGeom>
          <a:solidFill>
            <a:srgbClr val="46C7D8">
              <a:alpha val="30000"/>
            </a:srgbClr>
          </a:solidFill>
          <a:ln w="19050">
            <a:solidFill>
              <a:srgbClr val="46C7D8"/>
            </a:solidFill>
            <a:prstDash val="solid"/>
          </a:ln>
        </p:spPr>
      </p:sp>
      <p:sp>
        <p:nvSpPr>
          <p:cNvPr id="52" name="Text 50"/>
          <p:cNvSpPr txBox="1"/>
          <p:nvPr/>
        </p:nvSpPr>
        <p:spPr>
          <a:xfrm>
            <a:off x="8006852"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14</a:t>
            </a:r>
            <a:endParaRPr lang="en-US" sz="800" dirty="0"/>
          </a:p>
        </p:txBody>
      </p:sp>
      <p:sp>
        <p:nvSpPr>
          <p:cNvPr id="53" name="Text 51"/>
          <p:cNvSpPr txBox="1"/>
          <p:nvPr/>
        </p:nvSpPr>
        <p:spPr>
          <a:xfrm>
            <a:off x="7964424"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Si</a:t>
            </a:r>
            <a:endParaRPr lang="en-US" sz="2000" dirty="0"/>
          </a:p>
        </p:txBody>
      </p:sp>
      <p:sp>
        <p:nvSpPr>
          <p:cNvPr id="54" name="Text 52"/>
          <p:cNvSpPr txBox="1"/>
          <p:nvPr/>
        </p:nvSpPr>
        <p:spPr>
          <a:xfrm>
            <a:off x="7114032" y="2788920"/>
            <a:ext cx="1554480" cy="109728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K"/>
          <p:cNvSpPr/>
          <p:nvPr/>
        </p:nvSpPr>
        <p:spPr>
          <a:xfrm>
            <a:off x="517185" y="457932"/>
            <a:ext cx="629839" cy="62983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K</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Which atom is larger?</a:t>
            </a:r>
            <a:endParaRPr lang="en-US" sz="2800" dirty="0"/>
          </a:p>
        </p:txBody>
      </p:sp>
      <p:sp>
        <p:nvSpPr>
          <p:cNvPr id="10" name="Text 8"/>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Pick the larger atom in each pair.</a:t>
            </a:r>
            <a:endParaRPr lang="en-US" sz="1300" dirty="0"/>
          </a:p>
        </p:txBody>
      </p:sp>
      <p:sp>
        <p:nvSpPr>
          <p:cNvPr id="11" name="Pair 1"/>
          <p:cNvSpPr/>
          <p:nvPr/>
        </p:nvSpPr>
        <p:spPr>
          <a:xfrm>
            <a:off x="457200"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12" name="Text 10"/>
          <p:cNvSpPr txBox="1"/>
          <p:nvPr/>
        </p:nvSpPr>
        <p:spPr>
          <a:xfrm>
            <a:off x="548640"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13" name="Tile Li"/>
          <p:cNvSpPr/>
          <p:nvPr/>
        </p:nvSpPr>
        <p:spPr>
          <a:xfrm>
            <a:off x="630936"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14" name="Text 12"/>
          <p:cNvSpPr txBox="1"/>
          <p:nvPr/>
        </p:nvSpPr>
        <p:spPr>
          <a:xfrm>
            <a:off x="673364"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3</a:t>
            </a:r>
            <a:endParaRPr lang="en-US" sz="800" dirty="0"/>
          </a:p>
        </p:txBody>
      </p:sp>
      <p:sp>
        <p:nvSpPr>
          <p:cNvPr id="15" name="Text 13"/>
          <p:cNvSpPr txBox="1"/>
          <p:nvPr/>
        </p:nvSpPr>
        <p:spPr>
          <a:xfrm>
            <a:off x="630936"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Li</a:t>
            </a:r>
            <a:endParaRPr lang="en-US" sz="2000" dirty="0"/>
          </a:p>
        </p:txBody>
      </p:sp>
      <p:sp>
        <p:nvSpPr>
          <p:cNvPr id="16" name="Tile O"/>
          <p:cNvSpPr/>
          <p:nvPr/>
        </p:nvSpPr>
        <p:spPr>
          <a:xfrm>
            <a:off x="1307592" y="2075688"/>
            <a:ext cx="530352" cy="585216"/>
          </a:xfrm>
          <a:prstGeom prst="roundRect">
            <a:avLst>
              <a:gd name="adj" fmla="val 12000"/>
            </a:avLst>
          </a:prstGeom>
          <a:solidFill>
            <a:srgbClr val="45C08F">
              <a:alpha val="30000"/>
            </a:srgbClr>
          </a:solidFill>
          <a:ln w="19050">
            <a:solidFill>
              <a:srgbClr val="45C08F"/>
            </a:solidFill>
            <a:prstDash val="solid"/>
          </a:ln>
        </p:spPr>
      </p:sp>
      <p:sp>
        <p:nvSpPr>
          <p:cNvPr id="17" name="Text 15"/>
          <p:cNvSpPr txBox="1"/>
          <p:nvPr/>
        </p:nvSpPr>
        <p:spPr>
          <a:xfrm>
            <a:off x="1350020"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8</a:t>
            </a:r>
            <a:endParaRPr lang="en-US" sz="800" dirty="0"/>
          </a:p>
        </p:txBody>
      </p:sp>
      <p:sp>
        <p:nvSpPr>
          <p:cNvPr id="18" name="Text 16"/>
          <p:cNvSpPr txBox="1"/>
          <p:nvPr/>
        </p:nvSpPr>
        <p:spPr>
          <a:xfrm>
            <a:off x="1307592"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O</a:t>
            </a:r>
            <a:endParaRPr lang="en-US" sz="2000" dirty="0"/>
          </a:p>
        </p:txBody>
      </p:sp>
      <p:sp>
        <p:nvSpPr>
          <p:cNvPr id="19" name="Text 17"/>
          <p:cNvSpPr txBox="1"/>
          <p:nvPr/>
        </p:nvSpPr>
        <p:spPr>
          <a:xfrm>
            <a:off x="502920" y="3822192"/>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Lithium</a:t>
            </a:r>
            <a:endParaRPr lang="en-US" sz="1300" dirty="0"/>
          </a:p>
          <a:p>
            <a:pPr algn="ctr" indent="0" marL="0">
              <a:buNone/>
            </a:pPr>
            <a:r>
              <a:rPr lang="en-US" sz="1000" dirty="0">
                <a:solidFill>
                  <a:schemeClr val="bg2"/>
                </a:solidFill>
              </a:rPr>
              <a:t>167 pm vs 48 pm</a:t>
            </a:r>
            <a:endParaRPr lang="en-US" sz="1300" dirty="0"/>
          </a:p>
        </p:txBody>
      </p:sp>
      <p:sp>
        <p:nvSpPr>
          <p:cNvPr id="20" name="Pair 2"/>
          <p:cNvSpPr/>
          <p:nvPr/>
        </p:nvSpPr>
        <p:spPr>
          <a:xfrm>
            <a:off x="2121408"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21" name="Text 19"/>
          <p:cNvSpPr txBox="1"/>
          <p:nvPr/>
        </p:nvSpPr>
        <p:spPr>
          <a:xfrm>
            <a:off x="2212848"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2</a:t>
            </a:r>
            <a:endParaRPr lang="en-US" sz="1200" dirty="0"/>
          </a:p>
        </p:txBody>
      </p:sp>
      <p:sp>
        <p:nvSpPr>
          <p:cNvPr id="22" name="Tile K"/>
          <p:cNvSpPr/>
          <p:nvPr/>
        </p:nvSpPr>
        <p:spPr>
          <a:xfrm>
            <a:off x="2295144"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23" name="Text 21"/>
          <p:cNvSpPr txBox="1"/>
          <p:nvPr/>
        </p:nvSpPr>
        <p:spPr>
          <a:xfrm>
            <a:off x="2337572"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19</a:t>
            </a:r>
            <a:endParaRPr lang="en-US" sz="800" dirty="0"/>
          </a:p>
        </p:txBody>
      </p:sp>
      <p:sp>
        <p:nvSpPr>
          <p:cNvPr id="24" name="Text 22"/>
          <p:cNvSpPr txBox="1"/>
          <p:nvPr/>
        </p:nvSpPr>
        <p:spPr>
          <a:xfrm>
            <a:off x="2295144"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K</a:t>
            </a:r>
            <a:endParaRPr lang="en-US" sz="2000" dirty="0"/>
          </a:p>
        </p:txBody>
      </p:sp>
      <p:sp>
        <p:nvSpPr>
          <p:cNvPr id="25" name="Tile Li"/>
          <p:cNvSpPr/>
          <p:nvPr/>
        </p:nvSpPr>
        <p:spPr>
          <a:xfrm>
            <a:off x="2971800"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26" name="Text 24"/>
          <p:cNvSpPr txBox="1"/>
          <p:nvPr/>
        </p:nvSpPr>
        <p:spPr>
          <a:xfrm>
            <a:off x="3014228"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3</a:t>
            </a:r>
            <a:endParaRPr lang="en-US" sz="800" dirty="0"/>
          </a:p>
        </p:txBody>
      </p:sp>
      <p:sp>
        <p:nvSpPr>
          <p:cNvPr id="27" name="Text 25"/>
          <p:cNvSpPr txBox="1"/>
          <p:nvPr/>
        </p:nvSpPr>
        <p:spPr>
          <a:xfrm>
            <a:off x="2971800"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Li</a:t>
            </a:r>
            <a:endParaRPr lang="en-US" sz="2000" dirty="0"/>
          </a:p>
        </p:txBody>
      </p:sp>
      <p:sp>
        <p:nvSpPr>
          <p:cNvPr id="28" name="Text 26"/>
          <p:cNvSpPr txBox="1"/>
          <p:nvPr/>
        </p:nvSpPr>
        <p:spPr>
          <a:xfrm>
            <a:off x="2167128" y="3822192"/>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Potassium</a:t>
            </a:r>
            <a:endParaRPr lang="en-US" sz="1300" dirty="0"/>
          </a:p>
          <a:p>
            <a:pPr algn="ctr" indent="0" marL="0">
              <a:buNone/>
            </a:pPr>
            <a:r>
              <a:rPr lang="en-US" sz="1000" dirty="0">
                <a:solidFill>
                  <a:schemeClr val="bg2"/>
                </a:solidFill>
              </a:rPr>
              <a:t>243 pm vs 167 pm</a:t>
            </a:r>
            <a:endParaRPr lang="en-US" sz="1300" dirty="0"/>
          </a:p>
        </p:txBody>
      </p:sp>
      <p:sp>
        <p:nvSpPr>
          <p:cNvPr id="29" name="Pair 3"/>
          <p:cNvSpPr/>
          <p:nvPr/>
        </p:nvSpPr>
        <p:spPr>
          <a:xfrm>
            <a:off x="3785616"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30" name="Text 28"/>
          <p:cNvSpPr txBox="1"/>
          <p:nvPr/>
        </p:nvSpPr>
        <p:spPr>
          <a:xfrm>
            <a:off x="3877056"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3</a:t>
            </a:r>
            <a:endParaRPr lang="en-US" sz="1200" dirty="0"/>
          </a:p>
        </p:txBody>
      </p:sp>
      <p:sp>
        <p:nvSpPr>
          <p:cNvPr id="31" name="Tile Mg"/>
          <p:cNvSpPr/>
          <p:nvPr/>
        </p:nvSpPr>
        <p:spPr>
          <a:xfrm>
            <a:off x="3959352" y="2075688"/>
            <a:ext cx="530352" cy="585216"/>
          </a:xfrm>
          <a:prstGeom prst="roundRect">
            <a:avLst>
              <a:gd name="adj" fmla="val 12000"/>
            </a:avLst>
          </a:prstGeom>
          <a:solidFill>
            <a:srgbClr val="FFCB5C">
              <a:alpha val="30000"/>
            </a:srgbClr>
          </a:solidFill>
          <a:ln w="19050">
            <a:solidFill>
              <a:srgbClr val="FFCB5C"/>
            </a:solidFill>
            <a:prstDash val="solid"/>
          </a:ln>
        </p:spPr>
      </p:sp>
      <p:sp>
        <p:nvSpPr>
          <p:cNvPr id="32" name="Text 30"/>
          <p:cNvSpPr txBox="1"/>
          <p:nvPr/>
        </p:nvSpPr>
        <p:spPr>
          <a:xfrm>
            <a:off x="4001780"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12</a:t>
            </a:r>
            <a:endParaRPr lang="en-US" sz="800" dirty="0"/>
          </a:p>
        </p:txBody>
      </p:sp>
      <p:sp>
        <p:nvSpPr>
          <p:cNvPr id="33" name="Text 31"/>
          <p:cNvSpPr txBox="1"/>
          <p:nvPr/>
        </p:nvSpPr>
        <p:spPr>
          <a:xfrm>
            <a:off x="3959352"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Mg</a:t>
            </a:r>
            <a:endParaRPr lang="en-US" sz="2000" dirty="0"/>
          </a:p>
        </p:txBody>
      </p:sp>
      <p:sp>
        <p:nvSpPr>
          <p:cNvPr id="34" name="Tile S"/>
          <p:cNvSpPr/>
          <p:nvPr/>
        </p:nvSpPr>
        <p:spPr>
          <a:xfrm>
            <a:off x="4636008" y="2075688"/>
            <a:ext cx="530352" cy="585216"/>
          </a:xfrm>
          <a:prstGeom prst="roundRect">
            <a:avLst>
              <a:gd name="adj" fmla="val 12000"/>
            </a:avLst>
          </a:prstGeom>
          <a:solidFill>
            <a:srgbClr val="45C08F">
              <a:alpha val="30000"/>
            </a:srgbClr>
          </a:solidFill>
          <a:ln w="19050">
            <a:solidFill>
              <a:srgbClr val="45C08F"/>
            </a:solidFill>
            <a:prstDash val="solid"/>
          </a:ln>
        </p:spPr>
      </p:sp>
      <p:sp>
        <p:nvSpPr>
          <p:cNvPr id="35" name="Text 33"/>
          <p:cNvSpPr txBox="1"/>
          <p:nvPr/>
        </p:nvSpPr>
        <p:spPr>
          <a:xfrm>
            <a:off x="4678436"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16</a:t>
            </a:r>
            <a:endParaRPr lang="en-US" sz="800" dirty="0"/>
          </a:p>
        </p:txBody>
      </p:sp>
      <p:sp>
        <p:nvSpPr>
          <p:cNvPr id="36" name="Text 34"/>
          <p:cNvSpPr txBox="1"/>
          <p:nvPr/>
        </p:nvSpPr>
        <p:spPr>
          <a:xfrm>
            <a:off x="4636008"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S</a:t>
            </a:r>
            <a:endParaRPr lang="en-US" sz="2000" dirty="0"/>
          </a:p>
        </p:txBody>
      </p:sp>
      <p:sp>
        <p:nvSpPr>
          <p:cNvPr id="37" name="Text 35"/>
          <p:cNvSpPr txBox="1"/>
          <p:nvPr/>
        </p:nvSpPr>
        <p:spPr>
          <a:xfrm>
            <a:off x="3831336" y="3822192"/>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Magnesium</a:t>
            </a:r>
            <a:endParaRPr lang="en-US" sz="1300" dirty="0"/>
          </a:p>
          <a:p>
            <a:pPr algn="ctr" indent="0" marL="0">
              <a:buNone/>
            </a:pPr>
            <a:r>
              <a:rPr lang="en-US" sz="1000" dirty="0">
                <a:solidFill>
                  <a:schemeClr val="bg2"/>
                </a:solidFill>
              </a:rPr>
              <a:t>145 pm vs 88 pm</a:t>
            </a:r>
            <a:endParaRPr lang="en-US" sz="1300" dirty="0"/>
          </a:p>
        </p:txBody>
      </p:sp>
      <p:sp>
        <p:nvSpPr>
          <p:cNvPr id="38" name="Pair 4"/>
          <p:cNvSpPr/>
          <p:nvPr/>
        </p:nvSpPr>
        <p:spPr>
          <a:xfrm>
            <a:off x="5449824"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39" name="Text 37"/>
          <p:cNvSpPr txBox="1"/>
          <p:nvPr/>
        </p:nvSpPr>
        <p:spPr>
          <a:xfrm>
            <a:off x="5541264"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4</a:t>
            </a:r>
            <a:endParaRPr lang="en-US" sz="1200" dirty="0"/>
          </a:p>
        </p:txBody>
      </p:sp>
      <p:sp>
        <p:nvSpPr>
          <p:cNvPr id="40" name="Tile Cl"/>
          <p:cNvSpPr/>
          <p:nvPr/>
        </p:nvSpPr>
        <p:spPr>
          <a:xfrm>
            <a:off x="5623560" y="2075688"/>
            <a:ext cx="530352" cy="585216"/>
          </a:xfrm>
          <a:prstGeom prst="roundRect">
            <a:avLst>
              <a:gd name="adj" fmla="val 12000"/>
            </a:avLst>
          </a:prstGeom>
          <a:solidFill>
            <a:srgbClr val="F477B8">
              <a:alpha val="30000"/>
            </a:srgbClr>
          </a:solidFill>
          <a:ln w="19050">
            <a:solidFill>
              <a:srgbClr val="F477B8"/>
            </a:solidFill>
            <a:prstDash val="solid"/>
          </a:ln>
        </p:spPr>
      </p:sp>
      <p:sp>
        <p:nvSpPr>
          <p:cNvPr id="41" name="Text 39"/>
          <p:cNvSpPr txBox="1"/>
          <p:nvPr/>
        </p:nvSpPr>
        <p:spPr>
          <a:xfrm>
            <a:off x="5665988"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17</a:t>
            </a:r>
            <a:endParaRPr lang="en-US" sz="800" dirty="0"/>
          </a:p>
        </p:txBody>
      </p:sp>
      <p:sp>
        <p:nvSpPr>
          <p:cNvPr id="42" name="Text 40"/>
          <p:cNvSpPr txBox="1"/>
          <p:nvPr/>
        </p:nvSpPr>
        <p:spPr>
          <a:xfrm>
            <a:off x="5623560"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Cl</a:t>
            </a:r>
            <a:endParaRPr lang="en-US" sz="2000" dirty="0"/>
          </a:p>
        </p:txBody>
      </p:sp>
      <p:sp>
        <p:nvSpPr>
          <p:cNvPr id="43" name="Tile Br"/>
          <p:cNvSpPr/>
          <p:nvPr/>
        </p:nvSpPr>
        <p:spPr>
          <a:xfrm>
            <a:off x="6300216" y="2075688"/>
            <a:ext cx="530352" cy="585216"/>
          </a:xfrm>
          <a:prstGeom prst="roundRect">
            <a:avLst>
              <a:gd name="adj" fmla="val 12000"/>
            </a:avLst>
          </a:prstGeom>
          <a:solidFill>
            <a:srgbClr val="F477B8">
              <a:alpha val="30000"/>
            </a:srgbClr>
          </a:solidFill>
          <a:ln w="19050">
            <a:solidFill>
              <a:srgbClr val="F477B8"/>
            </a:solidFill>
            <a:prstDash val="solid"/>
          </a:ln>
        </p:spPr>
      </p:sp>
      <p:sp>
        <p:nvSpPr>
          <p:cNvPr id="44" name="Text 42"/>
          <p:cNvSpPr txBox="1"/>
          <p:nvPr/>
        </p:nvSpPr>
        <p:spPr>
          <a:xfrm>
            <a:off x="6342644"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35</a:t>
            </a:r>
            <a:endParaRPr lang="en-US" sz="800" dirty="0"/>
          </a:p>
        </p:txBody>
      </p:sp>
      <p:sp>
        <p:nvSpPr>
          <p:cNvPr id="45" name="Text 43"/>
          <p:cNvSpPr txBox="1"/>
          <p:nvPr/>
        </p:nvSpPr>
        <p:spPr>
          <a:xfrm>
            <a:off x="6300216"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Br</a:t>
            </a:r>
            <a:endParaRPr lang="en-US" sz="2000" dirty="0"/>
          </a:p>
        </p:txBody>
      </p:sp>
      <p:sp>
        <p:nvSpPr>
          <p:cNvPr id="46" name="Text 44"/>
          <p:cNvSpPr txBox="1"/>
          <p:nvPr/>
        </p:nvSpPr>
        <p:spPr>
          <a:xfrm>
            <a:off x="5495544" y="3822192"/>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Bromine</a:t>
            </a:r>
            <a:endParaRPr lang="en-US" sz="1300" dirty="0"/>
          </a:p>
          <a:p>
            <a:pPr algn="ctr" indent="0" marL="0">
              <a:buNone/>
            </a:pPr>
            <a:r>
              <a:rPr lang="en-US" sz="1000" dirty="0">
                <a:solidFill>
                  <a:schemeClr val="bg2"/>
                </a:solidFill>
              </a:rPr>
              <a:t>79 pm vs 94 pm</a:t>
            </a:r>
            <a:endParaRPr lang="en-US" sz="1300" dirty="0"/>
          </a:p>
        </p:txBody>
      </p:sp>
      <p:sp>
        <p:nvSpPr>
          <p:cNvPr id="47" name="Pair 5"/>
          <p:cNvSpPr/>
          <p:nvPr/>
        </p:nvSpPr>
        <p:spPr>
          <a:xfrm>
            <a:off x="7114032"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48" name="Text 46"/>
          <p:cNvSpPr txBox="1"/>
          <p:nvPr/>
        </p:nvSpPr>
        <p:spPr>
          <a:xfrm>
            <a:off x="7205472"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5</a:t>
            </a:r>
            <a:endParaRPr lang="en-US" sz="1200" dirty="0"/>
          </a:p>
        </p:txBody>
      </p:sp>
      <p:sp>
        <p:nvSpPr>
          <p:cNvPr id="49" name="Tile C"/>
          <p:cNvSpPr/>
          <p:nvPr/>
        </p:nvSpPr>
        <p:spPr>
          <a:xfrm>
            <a:off x="7287768" y="2075688"/>
            <a:ext cx="530352" cy="585216"/>
          </a:xfrm>
          <a:prstGeom prst="roundRect">
            <a:avLst>
              <a:gd name="adj" fmla="val 12000"/>
            </a:avLst>
          </a:prstGeom>
          <a:solidFill>
            <a:srgbClr val="45C08F">
              <a:alpha val="30000"/>
            </a:srgbClr>
          </a:solidFill>
          <a:ln w="19050">
            <a:solidFill>
              <a:srgbClr val="45C08F"/>
            </a:solidFill>
            <a:prstDash val="solid"/>
          </a:ln>
        </p:spPr>
      </p:sp>
      <p:sp>
        <p:nvSpPr>
          <p:cNvPr id="50" name="Text 48"/>
          <p:cNvSpPr txBox="1"/>
          <p:nvPr/>
        </p:nvSpPr>
        <p:spPr>
          <a:xfrm>
            <a:off x="7330196"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6</a:t>
            </a:r>
            <a:endParaRPr lang="en-US" sz="800" dirty="0"/>
          </a:p>
        </p:txBody>
      </p:sp>
      <p:sp>
        <p:nvSpPr>
          <p:cNvPr id="51" name="Text 49"/>
          <p:cNvSpPr txBox="1"/>
          <p:nvPr/>
        </p:nvSpPr>
        <p:spPr>
          <a:xfrm>
            <a:off x="7287768"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52" name="Tile Si"/>
          <p:cNvSpPr/>
          <p:nvPr/>
        </p:nvSpPr>
        <p:spPr>
          <a:xfrm>
            <a:off x="7964424" y="2075688"/>
            <a:ext cx="530352" cy="585216"/>
          </a:xfrm>
          <a:prstGeom prst="roundRect">
            <a:avLst>
              <a:gd name="adj" fmla="val 12000"/>
            </a:avLst>
          </a:prstGeom>
          <a:solidFill>
            <a:srgbClr val="46C7D8">
              <a:alpha val="30000"/>
            </a:srgbClr>
          </a:solidFill>
          <a:ln w="19050">
            <a:solidFill>
              <a:srgbClr val="46C7D8"/>
            </a:solidFill>
            <a:prstDash val="solid"/>
          </a:ln>
        </p:spPr>
      </p:sp>
      <p:sp>
        <p:nvSpPr>
          <p:cNvPr id="53" name="Text 51"/>
          <p:cNvSpPr txBox="1"/>
          <p:nvPr/>
        </p:nvSpPr>
        <p:spPr>
          <a:xfrm>
            <a:off x="8006852"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14</a:t>
            </a:r>
            <a:endParaRPr lang="en-US" sz="800" dirty="0"/>
          </a:p>
        </p:txBody>
      </p:sp>
      <p:sp>
        <p:nvSpPr>
          <p:cNvPr id="54" name="Text 52"/>
          <p:cNvSpPr txBox="1"/>
          <p:nvPr/>
        </p:nvSpPr>
        <p:spPr>
          <a:xfrm>
            <a:off x="7964424"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Si</a:t>
            </a:r>
            <a:endParaRPr lang="en-US" sz="2000" dirty="0"/>
          </a:p>
        </p:txBody>
      </p:sp>
      <p:sp>
        <p:nvSpPr>
          <p:cNvPr id="55" name="Text 53"/>
          <p:cNvSpPr txBox="1"/>
          <p:nvPr/>
        </p:nvSpPr>
        <p:spPr>
          <a:xfrm>
            <a:off x="7159752" y="3822192"/>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Silicon</a:t>
            </a:r>
            <a:endParaRPr lang="en-US" sz="1300" dirty="0"/>
          </a:p>
          <a:p>
            <a:pPr algn="ctr" indent="0" marL="0">
              <a:buNone/>
            </a:pPr>
            <a:r>
              <a:rPr lang="en-US" sz="1000" dirty="0">
                <a:solidFill>
                  <a:schemeClr val="bg2"/>
                </a:solidFill>
              </a:rPr>
              <a:t>67 pm vs 111 pm</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K"/>
          <p:cNvSpPr/>
          <p:nvPr/>
        </p:nvSpPr>
        <p:spPr>
          <a:xfrm>
            <a:off x="517185" y="457932"/>
            <a:ext cx="629839" cy="62983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K</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atom is the smallest?</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Lithium</a:t>
            </a:r>
            <a:endParaRPr lang="en-US" sz="1600" dirty="0"/>
          </a:p>
        </p:txBody>
      </p:sp>
      <p:sp>
        <p:nvSpPr>
          <p:cNvPr id="12"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3" name="Text 11"/>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Sodium</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Fluorine</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Potassium</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ection tile 2"/>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K"/>
          <p:cNvSpPr/>
          <p:nvPr/>
        </p:nvSpPr>
        <p:spPr>
          <a:xfrm>
            <a:off x="517185" y="457932"/>
            <a:ext cx="629839" cy="62983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K</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2 of 9</a:t>
            </a:r>
            <a:endParaRPr lang="en-US" sz="1200" dirty="0"/>
          </a:p>
        </p:txBody>
      </p:sp>
      <p:sp>
        <p:nvSpPr>
          <p:cNvPr id="9"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atom is the smallest?</a:t>
            </a:r>
            <a:endParaRPr lang="en-US" sz="2000" dirty="0"/>
          </a:p>
        </p:txBody>
      </p:sp>
      <p:sp>
        <p:nvSpPr>
          <p:cNvPr id="10"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1" name="Text 9"/>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2" name="Text 10"/>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Lithium</a:t>
            </a:r>
            <a:endParaRPr lang="en-US" sz="1600" dirty="0"/>
          </a:p>
        </p:txBody>
      </p:sp>
      <p:sp>
        <p:nvSpPr>
          <p:cNvPr id="13"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4" name="Text 12"/>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5" name="Text 13"/>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2"/>
                </a:solidFill>
              </a:rPr>
              <a:t>Sodium</a:t>
            </a:r>
            <a:endParaRPr lang="en-US" sz="1600" dirty="0"/>
          </a:p>
        </p:txBody>
      </p:sp>
      <p:sp>
        <p:nvSpPr>
          <p:cNvPr id="16" name="Option C"/>
          <p:cNvSpPr/>
          <p:nvPr/>
        </p:nvSpPr>
        <p:spPr>
          <a:xfrm>
            <a:off x="457200" y="2816352"/>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7" name="Text 15"/>
          <p:cNvSpPr/>
          <p:nvPr/>
        </p:nvSpPr>
        <p:spPr>
          <a:xfrm>
            <a:off x="548640" y="2889504"/>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C</a:t>
            </a:r>
            <a:endParaRPr lang="en-US" sz="1300" dirty="0"/>
          </a:p>
        </p:txBody>
      </p:sp>
      <p:sp>
        <p:nvSpPr>
          <p:cNvPr id="18" name="Text 16"/>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Fluorine</a:t>
            </a:r>
            <a:endParaRPr lang="en-US" sz="1600" dirty="0"/>
          </a:p>
        </p:txBody>
      </p:sp>
      <p:sp>
        <p:nvSpPr>
          <p:cNvPr id="19"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20" name="Text 18"/>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1" name="Text 19"/>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Potassium</a:t>
            </a:r>
            <a:endParaRPr lang="en-US" sz="1600" dirty="0"/>
          </a:p>
        </p:txBody>
      </p:sp>
      <p:sp>
        <p:nvSpPr>
          <p:cNvPr id="22"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3" name="Text 21"/>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Fluorine is farthest right and highest up, so it is the smallest (42 pm).</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a"/>
          <p:cNvSpPr/>
          <p:nvPr/>
        </p:nvSpPr>
        <p:spPr>
          <a:xfrm>
            <a:off x="575295" y="516042"/>
            <a:ext cx="513618" cy="51361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Na</a:t>
            </a:r>
            <a:endParaRPr lang="en-US" sz="2400" dirty="0"/>
          </a:p>
        </p:txBody>
      </p:sp>
      <p:sp>
        <p:nvSpPr>
          <p:cNvPr id="6"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3 of 9 · about 7 min</a:t>
            </a:r>
            <a:endParaRPr lang="en-US" sz="1200" dirty="0"/>
          </a:p>
        </p:txBody>
      </p:sp>
      <p:sp>
        <p:nvSpPr>
          <p:cNvPr id="7"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Why atomic radius changes</a:t>
            </a:r>
            <a:endParaRPr lang="en-US" sz="3000" dirty="0"/>
          </a:p>
        </p:txBody>
      </p:sp>
      <p:sp>
        <p:nvSpPr>
          <p:cNvPr id="8"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9" name="Text 7"/>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10" name="Text 8"/>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1" name="Text 9"/>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Two things decide the size</a:t>
            </a:r>
            <a:endParaRPr lang="en-US" sz="1400" dirty="0"/>
          </a:p>
        </p:txBody>
      </p:sp>
      <p:sp>
        <p:nvSpPr>
          <p:cNvPr id="12" name="Text 10"/>
          <p:cNvSpPr/>
          <p:nvPr/>
        </p:nvSpPr>
        <p:spPr>
          <a:xfrm>
            <a:off x="685800" y="2532888"/>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3" name="Text 11"/>
          <p:cNvSpPr txBox="1"/>
          <p:nvPr/>
        </p:nvSpPr>
        <p:spPr>
          <a:xfrm>
            <a:off x="1554480" y="2441448"/>
            <a:ext cx="2697480" cy="457200"/>
          </a:xfrm>
          <a:prstGeom prst="rect">
            <a:avLst/>
          </a:prstGeom>
          <a:noFill/>
          <a:ln/>
        </p:spPr>
        <p:txBody>
          <a:bodyPr wrap="square" lIns="0" tIns="0" rIns="0" bIns="0" rtlCol="0" anchor="ctr"/>
          <a:lstStyle/>
          <a:p>
            <a:pPr indent="0" marL="0">
              <a:buNone/>
            </a:pPr>
            <a:r>
              <a:rPr lang="en-US" sz="1400" dirty="0">
                <a:solidFill>
                  <a:schemeClr val="bg1"/>
                </a:solidFill>
              </a:rPr>
              <a:t>Atom size simulator</a:t>
            </a:r>
            <a:endParaRPr lang="en-US" sz="1400" dirty="0"/>
          </a:p>
        </p:txBody>
      </p:sp>
      <p:sp>
        <p:nvSpPr>
          <p:cNvPr id="14" name="Text 12"/>
          <p:cNvSpPr/>
          <p:nvPr/>
        </p:nvSpPr>
        <p:spPr>
          <a:xfrm>
            <a:off x="685800" y="302666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5" name="Text 13"/>
          <p:cNvSpPr txBox="1"/>
          <p:nvPr/>
        </p:nvSpPr>
        <p:spPr>
          <a:xfrm>
            <a:off x="1554480" y="2935224"/>
            <a:ext cx="2697480" cy="457200"/>
          </a:xfrm>
          <a:prstGeom prst="rect">
            <a:avLst/>
          </a:prstGeom>
          <a:noFill/>
          <a:ln/>
        </p:spPr>
        <p:txBody>
          <a:bodyPr wrap="square" lIns="0" tIns="0" rIns="0" bIns="0" rtlCol="0" anchor="ctr"/>
          <a:lstStyle/>
          <a:p>
            <a:pPr indent="0" marL="0">
              <a:buNone/>
            </a:pPr>
            <a:r>
              <a:rPr lang="en-US" sz="1400" dirty="0">
                <a:solidFill>
                  <a:schemeClr val="bg1"/>
                </a:solidFill>
              </a:rPr>
              <a:t>Bigger or smaller?</a:t>
            </a:r>
            <a:endParaRPr lang="en-US" sz="1400" dirty="0"/>
          </a:p>
        </p:txBody>
      </p:sp>
      <p:sp>
        <p:nvSpPr>
          <p:cNvPr id="16" name="Text 14"/>
          <p:cNvSpPr/>
          <p:nvPr/>
        </p:nvSpPr>
        <p:spPr>
          <a:xfrm>
            <a:off x="685800" y="3520440"/>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7" name="Text 15"/>
          <p:cNvSpPr txBox="1"/>
          <p:nvPr/>
        </p:nvSpPr>
        <p:spPr>
          <a:xfrm>
            <a:off x="1554480" y="3429000"/>
            <a:ext cx="2697480" cy="457200"/>
          </a:xfrm>
          <a:prstGeom prst="rect">
            <a:avLst/>
          </a:prstGeom>
          <a:noFill/>
          <a:ln/>
        </p:spPr>
        <p:txBody>
          <a:bodyPr wrap="square" lIns="0" tIns="0" rIns="0" bIns="0" rtlCol="0" anchor="ctr"/>
          <a:lstStyle/>
          <a:p>
            <a:pPr indent="0" marL="0">
              <a:buNone/>
            </a:pPr>
            <a:r>
              <a:rPr lang="en-US" sz="1400" dirty="0">
                <a:solidFill>
                  <a:schemeClr val="bg1"/>
                </a:solidFill>
              </a:rPr>
              <a:t>Rank by size</a:t>
            </a:r>
            <a:endParaRPr lang="en-US" sz="1400" dirty="0"/>
          </a:p>
        </p:txBody>
      </p:sp>
      <p:sp>
        <p:nvSpPr>
          <p:cNvPr id="18" name="Text 16"/>
          <p:cNvSpPr/>
          <p:nvPr/>
        </p:nvSpPr>
        <p:spPr>
          <a:xfrm>
            <a:off x="685800" y="401421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9" name="Text 17"/>
          <p:cNvSpPr txBox="1"/>
          <p:nvPr/>
        </p:nvSpPr>
        <p:spPr>
          <a:xfrm>
            <a:off x="1874520" y="3922776"/>
            <a:ext cx="2377440" cy="457200"/>
          </a:xfrm>
          <a:prstGeom prst="rect">
            <a:avLst/>
          </a:prstGeom>
          <a:noFill/>
          <a:ln/>
        </p:spPr>
        <p:txBody>
          <a:bodyPr wrap="square" lIns="0" tIns="0" rIns="0" bIns="0" rtlCol="0" anchor="ctr"/>
          <a:lstStyle/>
          <a:p>
            <a:pPr indent="0" marL="0">
              <a:buNone/>
            </a:pPr>
            <a:r>
              <a:rPr lang="en-US" sz="1400" dirty="0">
                <a:solidFill>
                  <a:schemeClr val="bg1"/>
                </a:solidFill>
              </a:rPr>
              <a:t>Chlorine vs. sodium</a:t>
            </a:r>
            <a:endParaRPr lang="en-US" sz="1400" dirty="0"/>
          </a:p>
        </p:txBody>
      </p:sp>
      <p:sp>
        <p:nvSpPr>
          <p:cNvPr id="20"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21" name="Text 19"/>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22" name="Text 20"/>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3" name="Text 21"/>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Explore both directions in the simulator</a:t>
            </a:r>
            <a:endParaRPr lang="en-US" sz="1400" dirty="0"/>
          </a:p>
        </p:txBody>
      </p:sp>
      <p:sp>
        <p:nvSpPr>
          <p:cNvPr id="24" name="Text 22"/>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5" name="Text 23"/>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Sort what makes an atom bigger or smaller</a:t>
            </a:r>
            <a:endParaRPr lang="en-US" sz="1400" dirty="0"/>
          </a:p>
        </p:txBody>
      </p:sp>
      <p:sp>
        <p:nvSpPr>
          <p:cNvPr id="26" name="Text 24"/>
          <p:cNvSpPr/>
          <p:nvPr/>
        </p:nvSpPr>
        <p:spPr>
          <a:xfrm>
            <a:off x="4892040" y="320040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7" name="Text 25"/>
          <p:cNvSpPr txBox="1"/>
          <p:nvPr/>
        </p:nvSpPr>
        <p:spPr>
          <a:xfrm>
            <a:off x="5303520" y="3127248"/>
            <a:ext cx="3200400" cy="457200"/>
          </a:xfrm>
          <a:prstGeom prst="rect">
            <a:avLst/>
          </a:prstGeom>
          <a:noFill/>
          <a:ln/>
        </p:spPr>
        <p:txBody>
          <a:bodyPr wrap="square" lIns="0" tIns="0" rIns="0" bIns="0" rtlCol="0" anchor="ctr"/>
          <a:lstStyle/>
          <a:p>
            <a:pPr indent="0" marL="0">
              <a:buNone/>
            </a:pPr>
            <a:r>
              <a:rPr lang="en-US" sz="1400" dirty="0">
                <a:solidFill>
                  <a:schemeClr val="bg1"/>
                </a:solidFill>
              </a:rPr>
              <a:t>Rank 5 sets by atomic radius</a:t>
            </a:r>
            <a:endParaRPr lang="en-US" sz="1400" dirty="0"/>
          </a:p>
        </p:txBody>
      </p:sp>
      <p:sp>
        <p:nvSpPr>
          <p:cNvPr id="28" name="Text 26"/>
          <p:cNvSpPr/>
          <p:nvPr/>
        </p:nvSpPr>
        <p:spPr>
          <a:xfrm>
            <a:off x="4892040" y="3767328"/>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9" name="Text 27"/>
          <p:cNvSpPr txBox="1"/>
          <p:nvPr/>
        </p:nvSpPr>
        <p:spPr>
          <a:xfrm>
            <a:off x="5303520" y="3694176"/>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a"/>
          <p:cNvSpPr/>
          <p:nvPr/>
        </p:nvSpPr>
        <p:spPr>
          <a:xfrm>
            <a:off x="575295" y="516042"/>
            <a:ext cx="513618" cy="51361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Na</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Two things decide the size</a:t>
            </a:r>
            <a:endParaRPr lang="en-US" sz="2800" dirty="0"/>
          </a:p>
        </p:txBody>
      </p:sp>
      <p:sp>
        <p:nvSpPr>
          <p:cNvPr id="9" name="Text 7"/>
          <p:cNvSpPr txBox="1"/>
          <p:nvPr/>
        </p:nvSpPr>
        <p:spPr>
          <a:xfrm>
            <a:off x="457200" y="1325880"/>
            <a:ext cx="4206240" cy="2926080"/>
          </a:xfrm>
          <a:prstGeom prst="rect">
            <a:avLst/>
          </a:prstGeom>
          <a:noFill/>
          <a:ln/>
        </p:spPr>
        <p:txBody>
          <a:bodyPr wrap="square" lIns="0" tIns="0" rIns="0" bIns="0" rtlCol="0" anchor="t"/>
          <a:lstStyle/>
          <a:p>
            <a:pPr indent="0" marL="0">
              <a:buNone/>
            </a:pPr>
            <a:r>
              <a:rPr lang="en-US" sz="1400" b="1" dirty="0">
                <a:solidFill>
                  <a:schemeClr val="accent2"/>
                </a:solidFill>
              </a:rPr>
              <a:t>1. Shells. </a:t>
            </a:r>
            <a:pPr indent="0" marL="0">
              <a:buNone/>
            </a:pPr>
            <a:r>
              <a:rPr lang="en-US" sz="1400" dirty="0">
                <a:solidFill>
                  <a:schemeClr val="bg1"/>
                </a:solidFill>
              </a:rPr>
              <a:t>Going down a group, each atom has one more shell. The outer electrons are farther out, and inner electrons shield (block) some of the nucleus's pull. The atom gets larger.</a:t>
            </a:r>
            <a:endParaRPr lang="en-US" sz="1400" dirty="0"/>
          </a:p>
          <a:p>
            <a:pPr indent="0" marL="0">
              <a:buNone/>
            </a:pPr>
            <a:r>
              <a:rPr lang="en-US" sz="600" dirty="0">
                <a:solidFill>
                  <a:schemeClr val="bg1"/>
                </a:solidFill>
              </a:rPr>
              <a:t> </a:t>
            </a:r>
            <a:endParaRPr lang="en-US" sz="1400" dirty="0"/>
          </a:p>
          <a:p>
            <a:pPr indent="0" marL="0">
              <a:buNone/>
            </a:pPr>
            <a:r>
              <a:rPr lang="en-US" sz="1400" b="1" dirty="0">
                <a:solidFill>
                  <a:schemeClr val="accent1"/>
                </a:solidFill>
              </a:rPr>
              <a:t>2. Protons. </a:t>
            </a:r>
            <a:pPr indent="0" marL="0">
              <a:buNone/>
            </a:pPr>
            <a:r>
              <a:rPr lang="en-US" sz="1400" dirty="0">
                <a:solidFill>
                  <a:schemeClr val="bg1"/>
                </a:solidFill>
              </a:rPr>
              <a:t>Going across a period, the shells stay the same, but each atom has one more proton. More protons pull the same shells in tighter. The atom gets smaller.</a:t>
            </a:r>
            <a:endParaRPr lang="en-US" sz="1400" dirty="0"/>
          </a:p>
        </p:txBody>
      </p:sp>
      <p:sp>
        <p:nvSpPr>
          <p:cNvPr id="10" name="Sodium: shell 1"/>
          <p:cNvSpPr/>
          <p:nvPr/>
        </p:nvSpPr>
        <p:spPr>
          <a:xfrm>
            <a:off x="5503998" y="2166438"/>
            <a:ext cx="513444" cy="513444"/>
          </a:xfrm>
          <a:prstGeom prst="ellipse">
            <a:avLst/>
          </a:prstGeom>
          <a:solidFill>
            <a:schemeClr val="bg1">
              <a:alpha val="0"/>
            </a:schemeClr>
          </a:solidFill>
          <a:ln w="15875">
            <a:solidFill>
              <a:schemeClr val="bg2">
                <a:alpha val="55000"/>
              </a:schemeClr>
            </a:solidFill>
            <a:prstDash val="solid"/>
          </a:ln>
        </p:spPr>
      </p:sp>
      <p:sp>
        <p:nvSpPr>
          <p:cNvPr id="11" name="Sodium: shell 2"/>
          <p:cNvSpPr/>
          <p:nvPr/>
        </p:nvSpPr>
        <p:spPr>
          <a:xfrm>
            <a:off x="5343547" y="2005987"/>
            <a:ext cx="834347" cy="834347"/>
          </a:xfrm>
          <a:prstGeom prst="ellipse">
            <a:avLst/>
          </a:prstGeom>
          <a:solidFill>
            <a:schemeClr val="bg1">
              <a:alpha val="0"/>
            </a:schemeClr>
          </a:solidFill>
          <a:ln w="15875">
            <a:solidFill>
              <a:schemeClr val="bg2">
                <a:alpha val="55000"/>
              </a:schemeClr>
            </a:solidFill>
            <a:prstDash val="solid"/>
          </a:ln>
        </p:spPr>
      </p:sp>
      <p:sp>
        <p:nvSpPr>
          <p:cNvPr id="12" name="Sodium: shell 3"/>
          <p:cNvSpPr/>
          <p:nvPr/>
        </p:nvSpPr>
        <p:spPr>
          <a:xfrm>
            <a:off x="5193792" y="1856232"/>
            <a:ext cx="1133856" cy="1133856"/>
          </a:xfrm>
          <a:prstGeom prst="ellipse">
            <a:avLst/>
          </a:prstGeom>
          <a:solidFill>
            <a:schemeClr val="bg1">
              <a:alpha val="0"/>
            </a:schemeClr>
          </a:solidFill>
          <a:ln w="15875">
            <a:solidFill>
              <a:schemeClr val="bg2">
                <a:alpha val="55000"/>
              </a:schemeClr>
            </a:solidFill>
            <a:prstDash val="solid"/>
          </a:ln>
        </p:spPr>
      </p:sp>
      <p:sp>
        <p:nvSpPr>
          <p:cNvPr id="13" name="Sodium: nucleus"/>
          <p:cNvSpPr/>
          <p:nvPr/>
        </p:nvSpPr>
        <p:spPr>
          <a:xfrm>
            <a:off x="5594920" y="2257360"/>
            <a:ext cx="331599" cy="331599"/>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800" b="1" dirty="0">
                <a:solidFill>
                  <a:schemeClr val="bg1"/>
                </a:solidFill>
              </a:rPr>
              <a:t>11 p</a:t>
            </a:r>
            <a:pPr algn="ctr" indent="0" marL="0">
              <a:buNone/>
            </a:pPr>
            <a:r>
              <a:rPr lang="en-US" sz="800" b="1" baseline="30000" dirty="0">
                <a:solidFill>
                  <a:schemeClr val="bg1"/>
                </a:solidFill>
              </a:rPr>
              <a:t>+</a:t>
            </a:r>
            <a:endParaRPr lang="en-US" sz="800" dirty="0"/>
          </a:p>
          <a:p>
            <a:pPr algn="ctr" indent="0" marL="0">
              <a:buNone/>
            </a:pPr>
            <a:r>
              <a:rPr lang="en-US" sz="800" b="1" dirty="0">
                <a:solidFill>
                  <a:schemeClr val="bg1"/>
                </a:solidFill>
              </a:rPr>
              <a:t>12 n</a:t>
            </a:r>
            <a:pPr algn="ctr" indent="0" marL="0">
              <a:buNone/>
            </a:pPr>
            <a:r>
              <a:rPr lang="en-US" sz="800" b="1" baseline="30000" dirty="0">
                <a:solidFill>
                  <a:schemeClr val="bg1"/>
                </a:solidFill>
              </a:rPr>
              <a:t>0</a:t>
            </a:r>
            <a:endParaRPr lang="en-US" sz="800" dirty="0"/>
          </a:p>
        </p:txBody>
      </p:sp>
      <p:sp>
        <p:nvSpPr>
          <p:cNvPr id="14" name="Sodium: electron, shell 1"/>
          <p:cNvSpPr/>
          <p:nvPr/>
        </p:nvSpPr>
        <p:spPr>
          <a:xfrm>
            <a:off x="5720607" y="2126325"/>
            <a:ext cx="80226" cy="80226"/>
          </a:xfrm>
          <a:prstGeom prst="ellipse">
            <a:avLst/>
          </a:prstGeom>
          <a:solidFill>
            <a:schemeClr val="accent1"/>
          </a:solidFill>
          <a:ln w="3175">
            <a:solidFill>
              <a:schemeClr val="accent1"/>
            </a:solidFill>
            <a:prstDash val="solid"/>
          </a:ln>
        </p:spPr>
      </p:sp>
      <p:sp>
        <p:nvSpPr>
          <p:cNvPr id="15" name="Sodium: electron, shell 1"/>
          <p:cNvSpPr/>
          <p:nvPr/>
        </p:nvSpPr>
        <p:spPr>
          <a:xfrm>
            <a:off x="5977329" y="2383047"/>
            <a:ext cx="80226" cy="80226"/>
          </a:xfrm>
          <a:prstGeom prst="ellipse">
            <a:avLst/>
          </a:prstGeom>
          <a:solidFill>
            <a:schemeClr val="accent1"/>
          </a:solidFill>
          <a:ln w="3175">
            <a:solidFill>
              <a:schemeClr val="accent1"/>
            </a:solidFill>
            <a:prstDash val="solid"/>
          </a:ln>
        </p:spPr>
      </p:sp>
      <p:sp>
        <p:nvSpPr>
          <p:cNvPr id="16" name="Sodium: electron, shell 2"/>
          <p:cNvSpPr/>
          <p:nvPr/>
        </p:nvSpPr>
        <p:spPr>
          <a:xfrm>
            <a:off x="5666739" y="1969366"/>
            <a:ext cx="80226" cy="80226"/>
          </a:xfrm>
          <a:prstGeom prst="ellipse">
            <a:avLst/>
          </a:prstGeom>
          <a:solidFill>
            <a:schemeClr val="accent1"/>
          </a:solidFill>
          <a:ln w="3175">
            <a:solidFill>
              <a:schemeClr val="accent1"/>
            </a:solidFill>
            <a:prstDash val="solid"/>
          </a:ln>
        </p:spPr>
      </p:sp>
      <p:sp>
        <p:nvSpPr>
          <p:cNvPr id="17" name="Sodium: electron, shell 2"/>
          <p:cNvSpPr/>
          <p:nvPr/>
        </p:nvSpPr>
        <p:spPr>
          <a:xfrm>
            <a:off x="5774475" y="1969366"/>
            <a:ext cx="80226" cy="80226"/>
          </a:xfrm>
          <a:prstGeom prst="ellipse">
            <a:avLst/>
          </a:prstGeom>
          <a:solidFill>
            <a:schemeClr val="accent1"/>
          </a:solidFill>
          <a:ln w="3175">
            <a:solidFill>
              <a:schemeClr val="accent1"/>
            </a:solidFill>
            <a:prstDash val="solid"/>
          </a:ln>
        </p:spPr>
      </p:sp>
      <p:sp>
        <p:nvSpPr>
          <p:cNvPr id="18" name="Sodium: electron, shell 2"/>
          <p:cNvSpPr/>
          <p:nvPr/>
        </p:nvSpPr>
        <p:spPr>
          <a:xfrm>
            <a:off x="6134288" y="2329179"/>
            <a:ext cx="80226" cy="80226"/>
          </a:xfrm>
          <a:prstGeom prst="ellipse">
            <a:avLst/>
          </a:prstGeom>
          <a:solidFill>
            <a:schemeClr val="accent1"/>
          </a:solidFill>
          <a:ln w="3175">
            <a:solidFill>
              <a:schemeClr val="accent1"/>
            </a:solidFill>
            <a:prstDash val="solid"/>
          </a:ln>
        </p:spPr>
      </p:sp>
      <p:sp>
        <p:nvSpPr>
          <p:cNvPr id="19" name="Sodium: electron, shell 2"/>
          <p:cNvSpPr/>
          <p:nvPr/>
        </p:nvSpPr>
        <p:spPr>
          <a:xfrm>
            <a:off x="6134288" y="2436915"/>
            <a:ext cx="80226" cy="80226"/>
          </a:xfrm>
          <a:prstGeom prst="ellipse">
            <a:avLst/>
          </a:prstGeom>
          <a:solidFill>
            <a:schemeClr val="accent1"/>
          </a:solidFill>
          <a:ln w="3175">
            <a:solidFill>
              <a:schemeClr val="accent1"/>
            </a:solidFill>
            <a:prstDash val="solid"/>
          </a:ln>
        </p:spPr>
      </p:sp>
      <p:sp>
        <p:nvSpPr>
          <p:cNvPr id="20" name="Sodium: electron, shell 2"/>
          <p:cNvSpPr/>
          <p:nvPr/>
        </p:nvSpPr>
        <p:spPr>
          <a:xfrm>
            <a:off x="5774475" y="2796728"/>
            <a:ext cx="80226" cy="80226"/>
          </a:xfrm>
          <a:prstGeom prst="ellipse">
            <a:avLst/>
          </a:prstGeom>
          <a:solidFill>
            <a:schemeClr val="accent1"/>
          </a:solidFill>
          <a:ln w="3175">
            <a:solidFill>
              <a:schemeClr val="accent1"/>
            </a:solidFill>
            <a:prstDash val="solid"/>
          </a:ln>
        </p:spPr>
      </p:sp>
      <p:sp>
        <p:nvSpPr>
          <p:cNvPr id="21" name="Sodium: electron, shell 2"/>
          <p:cNvSpPr/>
          <p:nvPr/>
        </p:nvSpPr>
        <p:spPr>
          <a:xfrm>
            <a:off x="5666739" y="2796728"/>
            <a:ext cx="80226" cy="80226"/>
          </a:xfrm>
          <a:prstGeom prst="ellipse">
            <a:avLst/>
          </a:prstGeom>
          <a:solidFill>
            <a:schemeClr val="accent1"/>
          </a:solidFill>
          <a:ln w="3175">
            <a:solidFill>
              <a:schemeClr val="accent1"/>
            </a:solidFill>
            <a:prstDash val="solid"/>
          </a:ln>
        </p:spPr>
      </p:sp>
      <p:sp>
        <p:nvSpPr>
          <p:cNvPr id="22" name="Sodium: electron, shell 2"/>
          <p:cNvSpPr/>
          <p:nvPr/>
        </p:nvSpPr>
        <p:spPr>
          <a:xfrm>
            <a:off x="5306926" y="2436915"/>
            <a:ext cx="80226" cy="80226"/>
          </a:xfrm>
          <a:prstGeom prst="ellipse">
            <a:avLst/>
          </a:prstGeom>
          <a:solidFill>
            <a:schemeClr val="accent1"/>
          </a:solidFill>
          <a:ln w="3175">
            <a:solidFill>
              <a:schemeClr val="accent1"/>
            </a:solidFill>
            <a:prstDash val="solid"/>
          </a:ln>
        </p:spPr>
      </p:sp>
      <p:sp>
        <p:nvSpPr>
          <p:cNvPr id="23" name="Sodium: electron, shell 2"/>
          <p:cNvSpPr/>
          <p:nvPr/>
        </p:nvSpPr>
        <p:spPr>
          <a:xfrm>
            <a:off x="5306926" y="2329179"/>
            <a:ext cx="80226" cy="80226"/>
          </a:xfrm>
          <a:prstGeom prst="ellipse">
            <a:avLst/>
          </a:prstGeom>
          <a:solidFill>
            <a:schemeClr val="accent1"/>
          </a:solidFill>
          <a:ln w="3175">
            <a:solidFill>
              <a:schemeClr val="accent1"/>
            </a:solidFill>
            <a:prstDash val="solid"/>
          </a:ln>
        </p:spPr>
      </p:sp>
      <p:sp>
        <p:nvSpPr>
          <p:cNvPr id="24" name="Sodium: electron, shell 3"/>
          <p:cNvSpPr/>
          <p:nvPr/>
        </p:nvSpPr>
        <p:spPr>
          <a:xfrm>
            <a:off x="5720607" y="1816119"/>
            <a:ext cx="80226" cy="80226"/>
          </a:xfrm>
          <a:prstGeom prst="ellipse">
            <a:avLst/>
          </a:prstGeom>
          <a:solidFill>
            <a:schemeClr val="accent1"/>
          </a:solidFill>
          <a:ln w="3175">
            <a:solidFill>
              <a:schemeClr val="accent1"/>
            </a:solidFill>
            <a:prstDash val="solid"/>
          </a:ln>
        </p:spPr>
      </p:sp>
      <p:sp>
        <p:nvSpPr>
          <p:cNvPr id="25" name="Chlorine: shell 1"/>
          <p:cNvSpPr/>
          <p:nvPr/>
        </p:nvSpPr>
        <p:spPr>
          <a:xfrm>
            <a:off x="7598491" y="2249251"/>
            <a:ext cx="347817" cy="347817"/>
          </a:xfrm>
          <a:prstGeom prst="ellipse">
            <a:avLst/>
          </a:prstGeom>
          <a:solidFill>
            <a:schemeClr val="bg1">
              <a:alpha val="0"/>
            </a:schemeClr>
          </a:solidFill>
          <a:ln w="15875">
            <a:solidFill>
              <a:schemeClr val="bg2">
                <a:alpha val="55000"/>
              </a:schemeClr>
            </a:solidFill>
            <a:prstDash val="solid"/>
          </a:ln>
        </p:spPr>
      </p:sp>
      <p:sp>
        <p:nvSpPr>
          <p:cNvPr id="26" name="Chlorine: shell 2"/>
          <p:cNvSpPr/>
          <p:nvPr/>
        </p:nvSpPr>
        <p:spPr>
          <a:xfrm>
            <a:off x="7489799" y="2140559"/>
            <a:ext cx="565203" cy="565203"/>
          </a:xfrm>
          <a:prstGeom prst="ellipse">
            <a:avLst/>
          </a:prstGeom>
          <a:solidFill>
            <a:schemeClr val="bg1">
              <a:alpha val="0"/>
            </a:schemeClr>
          </a:solidFill>
          <a:ln w="15875">
            <a:solidFill>
              <a:schemeClr val="bg2">
                <a:alpha val="55000"/>
              </a:schemeClr>
            </a:solidFill>
            <a:prstDash val="solid"/>
          </a:ln>
        </p:spPr>
      </p:sp>
      <p:sp>
        <p:nvSpPr>
          <p:cNvPr id="27" name="Chlorine: shell 3"/>
          <p:cNvSpPr/>
          <p:nvPr/>
        </p:nvSpPr>
        <p:spPr>
          <a:xfrm>
            <a:off x="7388352" y="2039112"/>
            <a:ext cx="768096" cy="768096"/>
          </a:xfrm>
          <a:prstGeom prst="ellipse">
            <a:avLst/>
          </a:prstGeom>
          <a:solidFill>
            <a:schemeClr val="bg1">
              <a:alpha val="0"/>
            </a:schemeClr>
          </a:solidFill>
          <a:ln w="15875">
            <a:solidFill>
              <a:schemeClr val="bg2">
                <a:alpha val="55000"/>
              </a:schemeClr>
            </a:solidFill>
            <a:prstDash val="solid"/>
          </a:ln>
        </p:spPr>
      </p:sp>
      <p:sp>
        <p:nvSpPr>
          <p:cNvPr id="28" name="Chlorine: nucleus"/>
          <p:cNvSpPr/>
          <p:nvPr/>
        </p:nvSpPr>
        <p:spPr>
          <a:xfrm>
            <a:off x="7660084" y="2310844"/>
            <a:ext cx="224632" cy="224632"/>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700" b="1" dirty="0">
                <a:solidFill>
                  <a:schemeClr val="bg1"/>
                </a:solidFill>
              </a:rPr>
              <a:t>17 p</a:t>
            </a:r>
            <a:pPr algn="ctr" indent="0" marL="0">
              <a:buNone/>
            </a:pPr>
            <a:r>
              <a:rPr lang="en-US" sz="700" b="1" baseline="30000" dirty="0">
                <a:solidFill>
                  <a:schemeClr val="bg1"/>
                </a:solidFill>
              </a:rPr>
              <a:t>+</a:t>
            </a:r>
            <a:endParaRPr lang="en-US" sz="700" dirty="0"/>
          </a:p>
          <a:p>
            <a:pPr algn="ctr" indent="0" marL="0">
              <a:buNone/>
            </a:pPr>
            <a:r>
              <a:rPr lang="en-US" sz="700" b="1" dirty="0">
                <a:solidFill>
                  <a:schemeClr val="bg1"/>
                </a:solidFill>
              </a:rPr>
              <a:t>18 n</a:t>
            </a:r>
            <a:pPr algn="ctr" indent="0" marL="0">
              <a:buNone/>
            </a:pPr>
            <a:r>
              <a:rPr lang="en-US" sz="700" b="1" baseline="30000" dirty="0">
                <a:solidFill>
                  <a:schemeClr val="bg1"/>
                </a:solidFill>
              </a:rPr>
              <a:t>0</a:t>
            </a:r>
            <a:endParaRPr lang="en-US" sz="700" dirty="0"/>
          </a:p>
        </p:txBody>
      </p:sp>
      <p:sp>
        <p:nvSpPr>
          <p:cNvPr id="29" name="Chlorine: electron, shell 1"/>
          <p:cNvSpPr/>
          <p:nvPr/>
        </p:nvSpPr>
        <p:spPr>
          <a:xfrm>
            <a:off x="7745227" y="2222078"/>
            <a:ext cx="54346" cy="54346"/>
          </a:xfrm>
          <a:prstGeom prst="ellipse">
            <a:avLst/>
          </a:prstGeom>
          <a:solidFill>
            <a:schemeClr val="accent1"/>
          </a:solidFill>
          <a:ln w="3175">
            <a:solidFill>
              <a:schemeClr val="accent1"/>
            </a:solidFill>
            <a:prstDash val="solid"/>
          </a:ln>
        </p:spPr>
      </p:sp>
      <p:sp>
        <p:nvSpPr>
          <p:cNvPr id="30" name="Chlorine: electron, shell 1"/>
          <p:cNvSpPr/>
          <p:nvPr/>
        </p:nvSpPr>
        <p:spPr>
          <a:xfrm>
            <a:off x="7919135" y="2395987"/>
            <a:ext cx="54346" cy="54346"/>
          </a:xfrm>
          <a:prstGeom prst="ellipse">
            <a:avLst/>
          </a:prstGeom>
          <a:solidFill>
            <a:schemeClr val="accent1"/>
          </a:solidFill>
          <a:ln w="3175">
            <a:solidFill>
              <a:schemeClr val="accent1"/>
            </a:solidFill>
            <a:prstDash val="solid"/>
          </a:ln>
        </p:spPr>
      </p:sp>
      <p:sp>
        <p:nvSpPr>
          <p:cNvPr id="31" name="Chlorine: electron, shell 2"/>
          <p:cNvSpPr/>
          <p:nvPr/>
        </p:nvSpPr>
        <p:spPr>
          <a:xfrm>
            <a:off x="7708736" y="2115751"/>
            <a:ext cx="54346" cy="54346"/>
          </a:xfrm>
          <a:prstGeom prst="ellipse">
            <a:avLst/>
          </a:prstGeom>
          <a:solidFill>
            <a:schemeClr val="accent1"/>
          </a:solidFill>
          <a:ln w="3175">
            <a:solidFill>
              <a:schemeClr val="accent1"/>
            </a:solidFill>
            <a:prstDash val="solid"/>
          </a:ln>
        </p:spPr>
      </p:sp>
      <p:sp>
        <p:nvSpPr>
          <p:cNvPr id="32" name="Chlorine: electron, shell 2"/>
          <p:cNvSpPr/>
          <p:nvPr/>
        </p:nvSpPr>
        <p:spPr>
          <a:xfrm>
            <a:off x="7781718" y="2115751"/>
            <a:ext cx="54346" cy="54346"/>
          </a:xfrm>
          <a:prstGeom prst="ellipse">
            <a:avLst/>
          </a:prstGeom>
          <a:solidFill>
            <a:schemeClr val="accent1"/>
          </a:solidFill>
          <a:ln w="3175">
            <a:solidFill>
              <a:schemeClr val="accent1"/>
            </a:solidFill>
            <a:prstDash val="solid"/>
          </a:ln>
        </p:spPr>
      </p:sp>
      <p:sp>
        <p:nvSpPr>
          <p:cNvPr id="33" name="Chlorine: electron, shell 2"/>
          <p:cNvSpPr/>
          <p:nvPr/>
        </p:nvSpPr>
        <p:spPr>
          <a:xfrm>
            <a:off x="8025462" y="2359496"/>
            <a:ext cx="54346" cy="54346"/>
          </a:xfrm>
          <a:prstGeom prst="ellipse">
            <a:avLst/>
          </a:prstGeom>
          <a:solidFill>
            <a:schemeClr val="accent1"/>
          </a:solidFill>
          <a:ln w="3175">
            <a:solidFill>
              <a:schemeClr val="accent1"/>
            </a:solidFill>
            <a:prstDash val="solid"/>
          </a:ln>
        </p:spPr>
      </p:sp>
      <p:sp>
        <p:nvSpPr>
          <p:cNvPr id="34" name="Chlorine: electron, shell 2"/>
          <p:cNvSpPr/>
          <p:nvPr/>
        </p:nvSpPr>
        <p:spPr>
          <a:xfrm>
            <a:off x="8025462" y="2432478"/>
            <a:ext cx="54346" cy="54346"/>
          </a:xfrm>
          <a:prstGeom prst="ellipse">
            <a:avLst/>
          </a:prstGeom>
          <a:solidFill>
            <a:schemeClr val="accent1"/>
          </a:solidFill>
          <a:ln w="3175">
            <a:solidFill>
              <a:schemeClr val="accent1"/>
            </a:solidFill>
            <a:prstDash val="solid"/>
          </a:ln>
        </p:spPr>
      </p:sp>
      <p:sp>
        <p:nvSpPr>
          <p:cNvPr id="35" name="Chlorine: electron, shell 2"/>
          <p:cNvSpPr/>
          <p:nvPr/>
        </p:nvSpPr>
        <p:spPr>
          <a:xfrm>
            <a:off x="7781718" y="2676222"/>
            <a:ext cx="54346" cy="54346"/>
          </a:xfrm>
          <a:prstGeom prst="ellipse">
            <a:avLst/>
          </a:prstGeom>
          <a:solidFill>
            <a:schemeClr val="accent1"/>
          </a:solidFill>
          <a:ln w="3175">
            <a:solidFill>
              <a:schemeClr val="accent1"/>
            </a:solidFill>
            <a:prstDash val="solid"/>
          </a:ln>
        </p:spPr>
      </p:sp>
      <p:sp>
        <p:nvSpPr>
          <p:cNvPr id="36" name="Chlorine: electron, shell 2"/>
          <p:cNvSpPr/>
          <p:nvPr/>
        </p:nvSpPr>
        <p:spPr>
          <a:xfrm>
            <a:off x="7708736" y="2676222"/>
            <a:ext cx="54346" cy="54346"/>
          </a:xfrm>
          <a:prstGeom prst="ellipse">
            <a:avLst/>
          </a:prstGeom>
          <a:solidFill>
            <a:schemeClr val="accent1"/>
          </a:solidFill>
          <a:ln w="3175">
            <a:solidFill>
              <a:schemeClr val="accent1"/>
            </a:solidFill>
            <a:prstDash val="solid"/>
          </a:ln>
        </p:spPr>
      </p:sp>
      <p:sp>
        <p:nvSpPr>
          <p:cNvPr id="37" name="Chlorine: electron, shell 2"/>
          <p:cNvSpPr/>
          <p:nvPr/>
        </p:nvSpPr>
        <p:spPr>
          <a:xfrm>
            <a:off x="7464991" y="2432478"/>
            <a:ext cx="54346" cy="54346"/>
          </a:xfrm>
          <a:prstGeom prst="ellipse">
            <a:avLst/>
          </a:prstGeom>
          <a:solidFill>
            <a:schemeClr val="accent1"/>
          </a:solidFill>
          <a:ln w="3175">
            <a:solidFill>
              <a:schemeClr val="accent1"/>
            </a:solidFill>
            <a:prstDash val="solid"/>
          </a:ln>
        </p:spPr>
      </p:sp>
      <p:sp>
        <p:nvSpPr>
          <p:cNvPr id="38" name="Chlorine: electron, shell 2"/>
          <p:cNvSpPr/>
          <p:nvPr/>
        </p:nvSpPr>
        <p:spPr>
          <a:xfrm>
            <a:off x="7464991" y="2359496"/>
            <a:ext cx="54346" cy="54346"/>
          </a:xfrm>
          <a:prstGeom prst="ellipse">
            <a:avLst/>
          </a:prstGeom>
          <a:solidFill>
            <a:schemeClr val="accent1"/>
          </a:solidFill>
          <a:ln w="3175">
            <a:solidFill>
              <a:schemeClr val="accent1"/>
            </a:solidFill>
            <a:prstDash val="solid"/>
          </a:ln>
        </p:spPr>
      </p:sp>
      <p:sp>
        <p:nvSpPr>
          <p:cNvPr id="39" name="Chlorine: electron, shell 3"/>
          <p:cNvSpPr/>
          <p:nvPr/>
        </p:nvSpPr>
        <p:spPr>
          <a:xfrm>
            <a:off x="7708689" y="2013681"/>
            <a:ext cx="54346" cy="54346"/>
          </a:xfrm>
          <a:prstGeom prst="ellipse">
            <a:avLst/>
          </a:prstGeom>
          <a:solidFill>
            <a:schemeClr val="accent1"/>
          </a:solidFill>
          <a:ln w="3175">
            <a:solidFill>
              <a:schemeClr val="accent1"/>
            </a:solidFill>
            <a:prstDash val="solid"/>
          </a:ln>
        </p:spPr>
      </p:sp>
      <p:sp>
        <p:nvSpPr>
          <p:cNvPr id="40" name="Chlorine: electron, shell 3"/>
          <p:cNvSpPr/>
          <p:nvPr/>
        </p:nvSpPr>
        <p:spPr>
          <a:xfrm>
            <a:off x="7781765" y="2013681"/>
            <a:ext cx="54346" cy="54346"/>
          </a:xfrm>
          <a:prstGeom prst="ellipse">
            <a:avLst/>
          </a:prstGeom>
          <a:solidFill>
            <a:schemeClr val="accent1"/>
          </a:solidFill>
          <a:ln w="3175">
            <a:solidFill>
              <a:schemeClr val="accent1"/>
            </a:solidFill>
            <a:prstDash val="solid"/>
          </a:ln>
        </p:spPr>
      </p:sp>
      <p:sp>
        <p:nvSpPr>
          <p:cNvPr id="41" name="Chlorine: electron, shell 3"/>
          <p:cNvSpPr/>
          <p:nvPr/>
        </p:nvSpPr>
        <p:spPr>
          <a:xfrm>
            <a:off x="8127533" y="2359449"/>
            <a:ext cx="54346" cy="54346"/>
          </a:xfrm>
          <a:prstGeom prst="ellipse">
            <a:avLst/>
          </a:prstGeom>
          <a:solidFill>
            <a:schemeClr val="accent1"/>
          </a:solidFill>
          <a:ln w="3175">
            <a:solidFill>
              <a:schemeClr val="accent1"/>
            </a:solidFill>
            <a:prstDash val="solid"/>
          </a:ln>
        </p:spPr>
      </p:sp>
      <p:sp>
        <p:nvSpPr>
          <p:cNvPr id="42" name="Chlorine: electron, shell 3"/>
          <p:cNvSpPr/>
          <p:nvPr/>
        </p:nvSpPr>
        <p:spPr>
          <a:xfrm>
            <a:off x="8127533" y="2432525"/>
            <a:ext cx="54346" cy="54346"/>
          </a:xfrm>
          <a:prstGeom prst="ellipse">
            <a:avLst/>
          </a:prstGeom>
          <a:solidFill>
            <a:schemeClr val="accent1"/>
          </a:solidFill>
          <a:ln w="3175">
            <a:solidFill>
              <a:schemeClr val="accent1"/>
            </a:solidFill>
            <a:prstDash val="solid"/>
          </a:ln>
        </p:spPr>
      </p:sp>
      <p:sp>
        <p:nvSpPr>
          <p:cNvPr id="43" name="Chlorine: electron, shell 3"/>
          <p:cNvSpPr/>
          <p:nvPr/>
        </p:nvSpPr>
        <p:spPr>
          <a:xfrm>
            <a:off x="7781765" y="2778293"/>
            <a:ext cx="54346" cy="54346"/>
          </a:xfrm>
          <a:prstGeom prst="ellipse">
            <a:avLst/>
          </a:prstGeom>
          <a:solidFill>
            <a:schemeClr val="accent1"/>
          </a:solidFill>
          <a:ln w="3175">
            <a:solidFill>
              <a:schemeClr val="accent1"/>
            </a:solidFill>
            <a:prstDash val="solid"/>
          </a:ln>
        </p:spPr>
      </p:sp>
      <p:sp>
        <p:nvSpPr>
          <p:cNvPr id="44" name="Chlorine: electron, shell 3"/>
          <p:cNvSpPr/>
          <p:nvPr/>
        </p:nvSpPr>
        <p:spPr>
          <a:xfrm>
            <a:off x="7708689" y="2778293"/>
            <a:ext cx="54346" cy="54346"/>
          </a:xfrm>
          <a:prstGeom prst="ellipse">
            <a:avLst/>
          </a:prstGeom>
          <a:solidFill>
            <a:schemeClr val="accent1"/>
          </a:solidFill>
          <a:ln w="3175">
            <a:solidFill>
              <a:schemeClr val="accent1"/>
            </a:solidFill>
            <a:prstDash val="solid"/>
          </a:ln>
        </p:spPr>
      </p:sp>
      <p:sp>
        <p:nvSpPr>
          <p:cNvPr id="45" name="Chlorine: electron, shell 3"/>
          <p:cNvSpPr/>
          <p:nvPr/>
        </p:nvSpPr>
        <p:spPr>
          <a:xfrm>
            <a:off x="7361179" y="2395987"/>
            <a:ext cx="54346" cy="54346"/>
          </a:xfrm>
          <a:prstGeom prst="ellipse">
            <a:avLst/>
          </a:prstGeom>
          <a:solidFill>
            <a:schemeClr val="accent1"/>
          </a:solidFill>
          <a:ln w="3175">
            <a:solidFill>
              <a:schemeClr val="accent1"/>
            </a:solidFill>
            <a:prstDash val="solid"/>
          </a:ln>
        </p:spPr>
      </p:sp>
      <p:sp>
        <p:nvSpPr>
          <p:cNvPr id="46" name="Text 44"/>
          <p:cNvSpPr txBox="1"/>
          <p:nvPr/>
        </p:nvSpPr>
        <p:spPr>
          <a:xfrm>
            <a:off x="4846320" y="3749040"/>
            <a:ext cx="1828800" cy="274320"/>
          </a:xfrm>
          <a:prstGeom prst="rect">
            <a:avLst/>
          </a:prstGeom>
          <a:noFill/>
          <a:ln/>
        </p:spPr>
        <p:txBody>
          <a:bodyPr wrap="square" lIns="0" tIns="0" rIns="0" bIns="0" rtlCol="0" anchor="t"/>
          <a:lstStyle/>
          <a:p>
            <a:pPr algn="ctr" indent="0" marL="0">
              <a:buNone/>
            </a:pPr>
            <a:r>
              <a:rPr lang="en-US" sz="1100" dirty="0">
                <a:solidFill>
                  <a:schemeClr val="bg2"/>
                </a:solidFill>
              </a:rPr>
              <a:t>Na: 11 p⁺, 3 shells, 190 pm</a:t>
            </a:r>
            <a:endParaRPr lang="en-US" sz="1100" dirty="0"/>
          </a:p>
        </p:txBody>
      </p:sp>
      <p:sp>
        <p:nvSpPr>
          <p:cNvPr id="47" name="Text 45"/>
          <p:cNvSpPr txBox="1"/>
          <p:nvPr/>
        </p:nvSpPr>
        <p:spPr>
          <a:xfrm>
            <a:off x="6858000" y="3749040"/>
            <a:ext cx="1828800" cy="274320"/>
          </a:xfrm>
          <a:prstGeom prst="rect">
            <a:avLst/>
          </a:prstGeom>
          <a:noFill/>
          <a:ln/>
        </p:spPr>
        <p:txBody>
          <a:bodyPr wrap="square" lIns="0" tIns="0" rIns="0" bIns="0" rtlCol="0" anchor="t"/>
          <a:lstStyle/>
          <a:p>
            <a:pPr algn="ctr" indent="0" marL="0">
              <a:buNone/>
            </a:pPr>
            <a:r>
              <a:rPr lang="en-US" sz="1100" dirty="0">
                <a:solidFill>
                  <a:schemeClr val="bg2"/>
                </a:solidFill>
              </a:rPr>
              <a:t>Cl: 17 p⁺, 3 shells, 79 pm</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a"/>
          <p:cNvSpPr/>
          <p:nvPr/>
        </p:nvSpPr>
        <p:spPr>
          <a:xfrm>
            <a:off x="575295" y="516042"/>
            <a:ext cx="513618" cy="51361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Na</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Atom size simulator: across period 3</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In the simulator, slide from sodium to argon. What happens to the protons, the shells, and the size?</a:t>
            </a:r>
            <a:endParaRPr lang="en-US" sz="1300" dirty="0"/>
          </a:p>
        </p:txBody>
      </p:sp>
      <p:sp>
        <p:nvSpPr>
          <p:cNvPr id="10" name="Sodium atom"/>
          <p:cNvSpPr/>
          <p:nvPr/>
        </p:nvSpPr>
        <p:spPr>
          <a:xfrm>
            <a:off x="577901" y="1949501"/>
            <a:ext cx="764438" cy="764438"/>
          </a:xfrm>
          <a:prstGeom prst="ellipse">
            <a:avLst/>
          </a:prstGeom>
          <a:solidFill>
            <a:schemeClr val="accent1">
              <a:alpha val="20000"/>
            </a:schemeClr>
          </a:solidFill>
          <a:ln w="12700">
            <a:solidFill>
              <a:schemeClr val="accent1">
                <a:alpha val="70000"/>
              </a:schemeClr>
            </a:solidFill>
            <a:prstDash val="dash"/>
          </a:ln>
        </p:spPr>
      </p:sp>
      <p:sp>
        <p:nvSpPr>
          <p:cNvPr id="11" name="Nucleus"/>
          <p:cNvSpPr/>
          <p:nvPr/>
        </p:nvSpPr>
        <p:spPr>
          <a:xfrm>
            <a:off x="923544" y="2295144"/>
            <a:ext cx="73152" cy="73152"/>
          </a:xfrm>
          <a:prstGeom prst="ellipse">
            <a:avLst/>
          </a:prstGeom>
          <a:solidFill>
            <a:srgbClr val="E0654F"/>
          </a:solidFill>
          <a:ln w="6350">
            <a:solidFill>
              <a:srgbClr val="E0654F"/>
            </a:solidFill>
            <a:prstDash val="solid"/>
          </a:ln>
        </p:spPr>
      </p:sp>
      <p:sp>
        <p:nvSpPr>
          <p:cNvPr id="12" name="Text 10"/>
          <p:cNvSpPr txBox="1"/>
          <p:nvPr/>
        </p:nvSpPr>
        <p:spPr>
          <a:xfrm>
            <a:off x="777240"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Na</a:t>
            </a:r>
            <a:endParaRPr lang="en-US" sz="1200" dirty="0"/>
          </a:p>
        </p:txBody>
      </p:sp>
      <p:sp>
        <p:nvSpPr>
          <p:cNvPr id="13" name="Magnesium atom"/>
          <p:cNvSpPr/>
          <p:nvPr/>
        </p:nvSpPr>
        <p:spPr>
          <a:xfrm>
            <a:off x="1692554" y="2040026"/>
            <a:ext cx="583387" cy="583387"/>
          </a:xfrm>
          <a:prstGeom prst="ellipse">
            <a:avLst/>
          </a:prstGeom>
          <a:solidFill>
            <a:schemeClr val="accent1">
              <a:alpha val="20000"/>
            </a:schemeClr>
          </a:solidFill>
          <a:ln w="12700">
            <a:solidFill>
              <a:schemeClr val="accent1">
                <a:alpha val="70000"/>
              </a:schemeClr>
            </a:solidFill>
            <a:prstDash val="dash"/>
          </a:ln>
        </p:spPr>
      </p:sp>
      <p:sp>
        <p:nvSpPr>
          <p:cNvPr id="14" name="Nucleus"/>
          <p:cNvSpPr/>
          <p:nvPr/>
        </p:nvSpPr>
        <p:spPr>
          <a:xfrm>
            <a:off x="1947672" y="2295144"/>
            <a:ext cx="73152" cy="73152"/>
          </a:xfrm>
          <a:prstGeom prst="ellipse">
            <a:avLst/>
          </a:prstGeom>
          <a:solidFill>
            <a:srgbClr val="E0654F"/>
          </a:solidFill>
          <a:ln w="6350">
            <a:solidFill>
              <a:srgbClr val="E0654F"/>
            </a:solidFill>
            <a:prstDash val="solid"/>
          </a:ln>
        </p:spPr>
      </p:sp>
      <p:sp>
        <p:nvSpPr>
          <p:cNvPr id="15" name="Text 13"/>
          <p:cNvSpPr txBox="1"/>
          <p:nvPr/>
        </p:nvSpPr>
        <p:spPr>
          <a:xfrm>
            <a:off x="1801368"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Mg</a:t>
            </a:r>
            <a:endParaRPr lang="en-US" sz="1200" dirty="0"/>
          </a:p>
        </p:txBody>
      </p:sp>
      <p:sp>
        <p:nvSpPr>
          <p:cNvPr id="16" name="Aluminum atom"/>
          <p:cNvSpPr/>
          <p:nvPr/>
        </p:nvSpPr>
        <p:spPr>
          <a:xfrm>
            <a:off x="2770998" y="2094342"/>
            <a:ext cx="474756" cy="474756"/>
          </a:xfrm>
          <a:prstGeom prst="ellipse">
            <a:avLst/>
          </a:prstGeom>
          <a:solidFill>
            <a:schemeClr val="accent1">
              <a:alpha val="20000"/>
            </a:schemeClr>
          </a:solidFill>
          <a:ln w="12700">
            <a:solidFill>
              <a:schemeClr val="accent1">
                <a:alpha val="70000"/>
              </a:schemeClr>
            </a:solidFill>
            <a:prstDash val="dash"/>
          </a:ln>
        </p:spPr>
      </p:sp>
      <p:sp>
        <p:nvSpPr>
          <p:cNvPr id="17" name="Nucleus"/>
          <p:cNvSpPr/>
          <p:nvPr/>
        </p:nvSpPr>
        <p:spPr>
          <a:xfrm>
            <a:off x="2971800" y="2295144"/>
            <a:ext cx="73152" cy="73152"/>
          </a:xfrm>
          <a:prstGeom prst="ellipse">
            <a:avLst/>
          </a:prstGeom>
          <a:solidFill>
            <a:srgbClr val="E0654F"/>
          </a:solidFill>
          <a:ln w="6350">
            <a:solidFill>
              <a:srgbClr val="E0654F"/>
            </a:solidFill>
            <a:prstDash val="solid"/>
          </a:ln>
        </p:spPr>
      </p:sp>
      <p:sp>
        <p:nvSpPr>
          <p:cNvPr id="18" name="Text 16"/>
          <p:cNvSpPr txBox="1"/>
          <p:nvPr/>
        </p:nvSpPr>
        <p:spPr>
          <a:xfrm>
            <a:off x="2825496"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Al</a:t>
            </a:r>
            <a:endParaRPr lang="en-US" sz="1200" dirty="0"/>
          </a:p>
        </p:txBody>
      </p:sp>
      <p:sp>
        <p:nvSpPr>
          <p:cNvPr id="19" name="Silicon atom"/>
          <p:cNvSpPr/>
          <p:nvPr/>
        </p:nvSpPr>
        <p:spPr>
          <a:xfrm>
            <a:off x="3809208" y="2108424"/>
            <a:ext cx="446593" cy="446593"/>
          </a:xfrm>
          <a:prstGeom prst="ellipse">
            <a:avLst/>
          </a:prstGeom>
          <a:solidFill>
            <a:schemeClr val="accent1">
              <a:alpha val="20000"/>
            </a:schemeClr>
          </a:solidFill>
          <a:ln w="12700">
            <a:solidFill>
              <a:schemeClr val="accent1">
                <a:alpha val="70000"/>
              </a:schemeClr>
            </a:solidFill>
            <a:prstDash val="dash"/>
          </a:ln>
        </p:spPr>
      </p:sp>
      <p:sp>
        <p:nvSpPr>
          <p:cNvPr id="20" name="Nucleus"/>
          <p:cNvSpPr/>
          <p:nvPr/>
        </p:nvSpPr>
        <p:spPr>
          <a:xfrm>
            <a:off x="3995928" y="2295144"/>
            <a:ext cx="73152" cy="73152"/>
          </a:xfrm>
          <a:prstGeom prst="ellipse">
            <a:avLst/>
          </a:prstGeom>
          <a:solidFill>
            <a:srgbClr val="E0654F"/>
          </a:solidFill>
          <a:ln w="6350">
            <a:solidFill>
              <a:srgbClr val="E0654F"/>
            </a:solidFill>
            <a:prstDash val="solid"/>
          </a:ln>
        </p:spPr>
      </p:sp>
      <p:sp>
        <p:nvSpPr>
          <p:cNvPr id="21" name="Text 19"/>
          <p:cNvSpPr txBox="1"/>
          <p:nvPr/>
        </p:nvSpPr>
        <p:spPr>
          <a:xfrm>
            <a:off x="3849624"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Si</a:t>
            </a:r>
            <a:endParaRPr lang="en-US" sz="1200" dirty="0"/>
          </a:p>
        </p:txBody>
      </p:sp>
      <p:sp>
        <p:nvSpPr>
          <p:cNvPr id="22" name="Phosphorus atom"/>
          <p:cNvSpPr/>
          <p:nvPr/>
        </p:nvSpPr>
        <p:spPr>
          <a:xfrm>
            <a:off x="4859487" y="2134575"/>
            <a:ext cx="394289" cy="394289"/>
          </a:xfrm>
          <a:prstGeom prst="ellipse">
            <a:avLst/>
          </a:prstGeom>
          <a:solidFill>
            <a:schemeClr val="accent1">
              <a:alpha val="20000"/>
            </a:schemeClr>
          </a:solidFill>
          <a:ln w="12700">
            <a:solidFill>
              <a:schemeClr val="accent1">
                <a:alpha val="70000"/>
              </a:schemeClr>
            </a:solidFill>
            <a:prstDash val="dash"/>
          </a:ln>
        </p:spPr>
      </p:sp>
      <p:sp>
        <p:nvSpPr>
          <p:cNvPr id="23" name="Nucleus"/>
          <p:cNvSpPr/>
          <p:nvPr/>
        </p:nvSpPr>
        <p:spPr>
          <a:xfrm>
            <a:off x="5020056" y="2295144"/>
            <a:ext cx="73152" cy="73152"/>
          </a:xfrm>
          <a:prstGeom prst="ellipse">
            <a:avLst/>
          </a:prstGeom>
          <a:solidFill>
            <a:srgbClr val="E0654F"/>
          </a:solidFill>
          <a:ln w="6350">
            <a:solidFill>
              <a:srgbClr val="E0654F"/>
            </a:solidFill>
            <a:prstDash val="solid"/>
          </a:ln>
        </p:spPr>
      </p:sp>
      <p:sp>
        <p:nvSpPr>
          <p:cNvPr id="24" name="Text 22"/>
          <p:cNvSpPr txBox="1"/>
          <p:nvPr/>
        </p:nvSpPr>
        <p:spPr>
          <a:xfrm>
            <a:off x="4873752"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P</a:t>
            </a:r>
            <a:endParaRPr lang="en-US" sz="1200" dirty="0"/>
          </a:p>
        </p:txBody>
      </p:sp>
      <p:sp>
        <p:nvSpPr>
          <p:cNvPr id="25" name="Sulfur atom"/>
          <p:cNvSpPr/>
          <p:nvPr/>
        </p:nvSpPr>
        <p:spPr>
          <a:xfrm>
            <a:off x="5903732" y="2154692"/>
            <a:ext cx="354056" cy="354056"/>
          </a:xfrm>
          <a:prstGeom prst="ellipse">
            <a:avLst/>
          </a:prstGeom>
          <a:solidFill>
            <a:schemeClr val="accent1">
              <a:alpha val="20000"/>
            </a:schemeClr>
          </a:solidFill>
          <a:ln w="12700">
            <a:solidFill>
              <a:schemeClr val="accent1">
                <a:alpha val="70000"/>
              </a:schemeClr>
            </a:solidFill>
            <a:prstDash val="dash"/>
          </a:ln>
        </p:spPr>
      </p:sp>
      <p:sp>
        <p:nvSpPr>
          <p:cNvPr id="26" name="Nucleus"/>
          <p:cNvSpPr/>
          <p:nvPr/>
        </p:nvSpPr>
        <p:spPr>
          <a:xfrm>
            <a:off x="6044184" y="2295144"/>
            <a:ext cx="73152" cy="73152"/>
          </a:xfrm>
          <a:prstGeom prst="ellipse">
            <a:avLst/>
          </a:prstGeom>
          <a:solidFill>
            <a:srgbClr val="E0654F"/>
          </a:solidFill>
          <a:ln w="6350">
            <a:solidFill>
              <a:srgbClr val="E0654F"/>
            </a:solidFill>
            <a:prstDash val="solid"/>
          </a:ln>
        </p:spPr>
      </p:sp>
      <p:sp>
        <p:nvSpPr>
          <p:cNvPr id="27" name="Text 25"/>
          <p:cNvSpPr txBox="1"/>
          <p:nvPr/>
        </p:nvSpPr>
        <p:spPr>
          <a:xfrm>
            <a:off x="5897880"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S</a:t>
            </a:r>
            <a:endParaRPr lang="en-US" sz="1200" dirty="0"/>
          </a:p>
        </p:txBody>
      </p:sp>
      <p:sp>
        <p:nvSpPr>
          <p:cNvPr id="28" name="Chlorine atom"/>
          <p:cNvSpPr/>
          <p:nvPr/>
        </p:nvSpPr>
        <p:spPr>
          <a:xfrm>
            <a:off x="6945965" y="2172797"/>
            <a:ext cx="317845" cy="317845"/>
          </a:xfrm>
          <a:prstGeom prst="ellipse">
            <a:avLst/>
          </a:prstGeom>
          <a:solidFill>
            <a:schemeClr val="accent1">
              <a:alpha val="20000"/>
            </a:schemeClr>
          </a:solidFill>
          <a:ln w="12700">
            <a:solidFill>
              <a:schemeClr val="accent1">
                <a:alpha val="70000"/>
              </a:schemeClr>
            </a:solidFill>
            <a:prstDash val="dash"/>
          </a:ln>
        </p:spPr>
      </p:sp>
      <p:sp>
        <p:nvSpPr>
          <p:cNvPr id="29" name="Nucleus"/>
          <p:cNvSpPr/>
          <p:nvPr/>
        </p:nvSpPr>
        <p:spPr>
          <a:xfrm>
            <a:off x="7068312" y="2295144"/>
            <a:ext cx="73152" cy="73152"/>
          </a:xfrm>
          <a:prstGeom prst="ellipse">
            <a:avLst/>
          </a:prstGeom>
          <a:solidFill>
            <a:srgbClr val="E0654F"/>
          </a:solidFill>
          <a:ln w="6350">
            <a:solidFill>
              <a:srgbClr val="E0654F"/>
            </a:solidFill>
            <a:prstDash val="solid"/>
          </a:ln>
        </p:spPr>
      </p:sp>
      <p:sp>
        <p:nvSpPr>
          <p:cNvPr id="30" name="Text 28"/>
          <p:cNvSpPr txBox="1"/>
          <p:nvPr/>
        </p:nvSpPr>
        <p:spPr>
          <a:xfrm>
            <a:off x="6922008"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Cl</a:t>
            </a:r>
            <a:endParaRPr lang="en-US" sz="1200" dirty="0"/>
          </a:p>
        </p:txBody>
      </p:sp>
      <p:sp>
        <p:nvSpPr>
          <p:cNvPr id="31" name="Argon atom"/>
          <p:cNvSpPr/>
          <p:nvPr/>
        </p:nvSpPr>
        <p:spPr>
          <a:xfrm>
            <a:off x="7986187" y="2188891"/>
            <a:ext cx="285659" cy="285659"/>
          </a:xfrm>
          <a:prstGeom prst="ellipse">
            <a:avLst/>
          </a:prstGeom>
          <a:solidFill>
            <a:schemeClr val="accent1">
              <a:alpha val="20000"/>
            </a:schemeClr>
          </a:solidFill>
          <a:ln w="12700">
            <a:solidFill>
              <a:schemeClr val="accent1">
                <a:alpha val="70000"/>
              </a:schemeClr>
            </a:solidFill>
            <a:prstDash val="dash"/>
          </a:ln>
        </p:spPr>
      </p:sp>
      <p:sp>
        <p:nvSpPr>
          <p:cNvPr id="32" name="Nucleus"/>
          <p:cNvSpPr/>
          <p:nvPr/>
        </p:nvSpPr>
        <p:spPr>
          <a:xfrm>
            <a:off x="8092440" y="2295144"/>
            <a:ext cx="73152" cy="73152"/>
          </a:xfrm>
          <a:prstGeom prst="ellipse">
            <a:avLst/>
          </a:prstGeom>
          <a:solidFill>
            <a:srgbClr val="E0654F"/>
          </a:solidFill>
          <a:ln w="6350">
            <a:solidFill>
              <a:srgbClr val="E0654F"/>
            </a:solidFill>
            <a:prstDash val="solid"/>
          </a:ln>
        </p:spPr>
      </p:sp>
      <p:sp>
        <p:nvSpPr>
          <p:cNvPr id="33" name="Text 31"/>
          <p:cNvSpPr txBox="1"/>
          <p:nvPr/>
        </p:nvSpPr>
        <p:spPr>
          <a:xfrm>
            <a:off x="7946136"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Ar</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8229600" cy="914400"/>
        </p:xfrm>
        <a:graphic>
          <a:graphicData uri="http://schemas.openxmlformats.org/drawingml/2006/table">
            <a:tbl>
              <a:tblPr/>
              <a:tblGrid>
                <a:gridCol w="2468880"/>
                <a:gridCol w="1920240"/>
                <a:gridCol w="1828800"/>
                <a:gridCol w="2011680"/>
              </a:tblGrid>
              <a:tr h="365760">
                <a:tc>
                  <a:txBody>
                    <a:bodyPr/>
                    <a:lstStyle/>
                    <a:p>
                      <a:pPr indent="0" marL="0">
                        <a:buNone/>
                      </a:pP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Protons</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Shells</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Radius</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r>
              <a:tr h="365760">
                <a:tc>
                  <a:txBody>
                    <a:bodyPr/>
                    <a:lstStyle/>
                    <a:p>
                      <a:pPr indent="0" marL="0">
                        <a:buNone/>
                      </a:pPr>
                      <a:r>
                        <a:rPr lang="en-US" sz="1300" dirty="0">
                          <a:solidFill>
                            <a:schemeClr val="bg1"/>
                          </a:solidFill>
                        </a:rPr>
                        <a:t>Across period 3 (Na → Ar)</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300" dirty="0">
                          <a:solidFill>
                            <a:schemeClr val="bg1"/>
                          </a:solidFill>
                        </a:rPr>
                        <a:t>?</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a"/>
          <p:cNvSpPr/>
          <p:nvPr/>
        </p:nvSpPr>
        <p:spPr>
          <a:xfrm>
            <a:off x="575295" y="516042"/>
            <a:ext cx="513618" cy="51361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Na</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Atom size simulator: across period 3</a:t>
            </a:r>
            <a:endParaRPr lang="en-US" sz="2800" dirty="0"/>
          </a:p>
        </p:txBody>
      </p:sp>
      <p:sp>
        <p:nvSpPr>
          <p:cNvPr id="10" name="Text 8"/>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In the simulator, slide from sodium to argon. What happens to the protons, the shells, and the size?</a:t>
            </a:r>
            <a:endParaRPr lang="en-US" sz="1300" dirty="0"/>
          </a:p>
        </p:txBody>
      </p:sp>
      <p:sp>
        <p:nvSpPr>
          <p:cNvPr id="11" name="Sodium atom"/>
          <p:cNvSpPr/>
          <p:nvPr/>
        </p:nvSpPr>
        <p:spPr>
          <a:xfrm>
            <a:off x="577901" y="1949501"/>
            <a:ext cx="764438" cy="764438"/>
          </a:xfrm>
          <a:prstGeom prst="ellipse">
            <a:avLst/>
          </a:prstGeom>
          <a:solidFill>
            <a:schemeClr val="accent1">
              <a:alpha val="20000"/>
            </a:schemeClr>
          </a:solidFill>
          <a:ln w="12700">
            <a:solidFill>
              <a:schemeClr val="accent1">
                <a:alpha val="70000"/>
              </a:schemeClr>
            </a:solidFill>
            <a:prstDash val="dash"/>
          </a:ln>
        </p:spPr>
      </p:sp>
      <p:sp>
        <p:nvSpPr>
          <p:cNvPr id="12" name="Nucleus"/>
          <p:cNvSpPr/>
          <p:nvPr/>
        </p:nvSpPr>
        <p:spPr>
          <a:xfrm>
            <a:off x="923544" y="2295144"/>
            <a:ext cx="73152" cy="73152"/>
          </a:xfrm>
          <a:prstGeom prst="ellipse">
            <a:avLst/>
          </a:prstGeom>
          <a:solidFill>
            <a:srgbClr val="E0654F"/>
          </a:solidFill>
          <a:ln w="6350">
            <a:solidFill>
              <a:srgbClr val="E0654F"/>
            </a:solidFill>
            <a:prstDash val="solid"/>
          </a:ln>
        </p:spPr>
      </p:sp>
      <p:sp>
        <p:nvSpPr>
          <p:cNvPr id="13" name="Text 11"/>
          <p:cNvSpPr txBox="1"/>
          <p:nvPr/>
        </p:nvSpPr>
        <p:spPr>
          <a:xfrm>
            <a:off x="777240"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Na</a:t>
            </a:r>
            <a:endParaRPr lang="en-US" sz="1200" dirty="0"/>
          </a:p>
        </p:txBody>
      </p:sp>
      <p:sp>
        <p:nvSpPr>
          <p:cNvPr id="14" name="Magnesium atom"/>
          <p:cNvSpPr/>
          <p:nvPr/>
        </p:nvSpPr>
        <p:spPr>
          <a:xfrm>
            <a:off x="1692554" y="2040026"/>
            <a:ext cx="583387" cy="583387"/>
          </a:xfrm>
          <a:prstGeom prst="ellipse">
            <a:avLst/>
          </a:prstGeom>
          <a:solidFill>
            <a:schemeClr val="accent1">
              <a:alpha val="20000"/>
            </a:schemeClr>
          </a:solidFill>
          <a:ln w="12700">
            <a:solidFill>
              <a:schemeClr val="accent1">
                <a:alpha val="70000"/>
              </a:schemeClr>
            </a:solidFill>
            <a:prstDash val="dash"/>
          </a:ln>
        </p:spPr>
      </p:sp>
      <p:sp>
        <p:nvSpPr>
          <p:cNvPr id="15" name="Nucleus"/>
          <p:cNvSpPr/>
          <p:nvPr/>
        </p:nvSpPr>
        <p:spPr>
          <a:xfrm>
            <a:off x="1947672" y="2295144"/>
            <a:ext cx="73152" cy="73152"/>
          </a:xfrm>
          <a:prstGeom prst="ellipse">
            <a:avLst/>
          </a:prstGeom>
          <a:solidFill>
            <a:srgbClr val="E0654F"/>
          </a:solidFill>
          <a:ln w="6350">
            <a:solidFill>
              <a:srgbClr val="E0654F"/>
            </a:solidFill>
            <a:prstDash val="solid"/>
          </a:ln>
        </p:spPr>
      </p:sp>
      <p:sp>
        <p:nvSpPr>
          <p:cNvPr id="16" name="Text 14"/>
          <p:cNvSpPr txBox="1"/>
          <p:nvPr/>
        </p:nvSpPr>
        <p:spPr>
          <a:xfrm>
            <a:off x="1801368"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Mg</a:t>
            </a:r>
            <a:endParaRPr lang="en-US" sz="1200" dirty="0"/>
          </a:p>
        </p:txBody>
      </p:sp>
      <p:sp>
        <p:nvSpPr>
          <p:cNvPr id="17" name="Aluminum atom"/>
          <p:cNvSpPr/>
          <p:nvPr/>
        </p:nvSpPr>
        <p:spPr>
          <a:xfrm>
            <a:off x="2770998" y="2094342"/>
            <a:ext cx="474756" cy="474756"/>
          </a:xfrm>
          <a:prstGeom prst="ellipse">
            <a:avLst/>
          </a:prstGeom>
          <a:solidFill>
            <a:schemeClr val="accent1">
              <a:alpha val="20000"/>
            </a:schemeClr>
          </a:solidFill>
          <a:ln w="12700">
            <a:solidFill>
              <a:schemeClr val="accent1">
                <a:alpha val="70000"/>
              </a:schemeClr>
            </a:solidFill>
            <a:prstDash val="dash"/>
          </a:ln>
        </p:spPr>
      </p:sp>
      <p:sp>
        <p:nvSpPr>
          <p:cNvPr id="18" name="Nucleus"/>
          <p:cNvSpPr/>
          <p:nvPr/>
        </p:nvSpPr>
        <p:spPr>
          <a:xfrm>
            <a:off x="2971800" y="2295144"/>
            <a:ext cx="73152" cy="73152"/>
          </a:xfrm>
          <a:prstGeom prst="ellipse">
            <a:avLst/>
          </a:prstGeom>
          <a:solidFill>
            <a:srgbClr val="E0654F"/>
          </a:solidFill>
          <a:ln w="6350">
            <a:solidFill>
              <a:srgbClr val="E0654F"/>
            </a:solidFill>
            <a:prstDash val="solid"/>
          </a:ln>
        </p:spPr>
      </p:sp>
      <p:sp>
        <p:nvSpPr>
          <p:cNvPr id="19" name="Text 17"/>
          <p:cNvSpPr txBox="1"/>
          <p:nvPr/>
        </p:nvSpPr>
        <p:spPr>
          <a:xfrm>
            <a:off x="2825496"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Al</a:t>
            </a:r>
            <a:endParaRPr lang="en-US" sz="1200" dirty="0"/>
          </a:p>
        </p:txBody>
      </p:sp>
      <p:sp>
        <p:nvSpPr>
          <p:cNvPr id="20" name="Silicon atom"/>
          <p:cNvSpPr/>
          <p:nvPr/>
        </p:nvSpPr>
        <p:spPr>
          <a:xfrm>
            <a:off x="3809208" y="2108424"/>
            <a:ext cx="446593" cy="446593"/>
          </a:xfrm>
          <a:prstGeom prst="ellipse">
            <a:avLst/>
          </a:prstGeom>
          <a:solidFill>
            <a:schemeClr val="accent1">
              <a:alpha val="20000"/>
            </a:schemeClr>
          </a:solidFill>
          <a:ln w="12700">
            <a:solidFill>
              <a:schemeClr val="accent1">
                <a:alpha val="70000"/>
              </a:schemeClr>
            </a:solidFill>
            <a:prstDash val="dash"/>
          </a:ln>
        </p:spPr>
      </p:sp>
      <p:sp>
        <p:nvSpPr>
          <p:cNvPr id="21" name="Nucleus"/>
          <p:cNvSpPr/>
          <p:nvPr/>
        </p:nvSpPr>
        <p:spPr>
          <a:xfrm>
            <a:off x="3995928" y="2295144"/>
            <a:ext cx="73152" cy="73152"/>
          </a:xfrm>
          <a:prstGeom prst="ellipse">
            <a:avLst/>
          </a:prstGeom>
          <a:solidFill>
            <a:srgbClr val="E0654F"/>
          </a:solidFill>
          <a:ln w="6350">
            <a:solidFill>
              <a:srgbClr val="E0654F"/>
            </a:solidFill>
            <a:prstDash val="solid"/>
          </a:ln>
        </p:spPr>
      </p:sp>
      <p:sp>
        <p:nvSpPr>
          <p:cNvPr id="22" name="Text 20"/>
          <p:cNvSpPr txBox="1"/>
          <p:nvPr/>
        </p:nvSpPr>
        <p:spPr>
          <a:xfrm>
            <a:off x="3849624"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Si</a:t>
            </a:r>
            <a:endParaRPr lang="en-US" sz="1200" dirty="0"/>
          </a:p>
        </p:txBody>
      </p:sp>
      <p:sp>
        <p:nvSpPr>
          <p:cNvPr id="23" name="Phosphorus atom"/>
          <p:cNvSpPr/>
          <p:nvPr/>
        </p:nvSpPr>
        <p:spPr>
          <a:xfrm>
            <a:off x="4859487" y="2134575"/>
            <a:ext cx="394289" cy="394289"/>
          </a:xfrm>
          <a:prstGeom prst="ellipse">
            <a:avLst/>
          </a:prstGeom>
          <a:solidFill>
            <a:schemeClr val="accent1">
              <a:alpha val="20000"/>
            </a:schemeClr>
          </a:solidFill>
          <a:ln w="12700">
            <a:solidFill>
              <a:schemeClr val="accent1">
                <a:alpha val="70000"/>
              </a:schemeClr>
            </a:solidFill>
            <a:prstDash val="dash"/>
          </a:ln>
        </p:spPr>
      </p:sp>
      <p:sp>
        <p:nvSpPr>
          <p:cNvPr id="24" name="Nucleus"/>
          <p:cNvSpPr/>
          <p:nvPr/>
        </p:nvSpPr>
        <p:spPr>
          <a:xfrm>
            <a:off x="5020056" y="2295144"/>
            <a:ext cx="73152" cy="73152"/>
          </a:xfrm>
          <a:prstGeom prst="ellipse">
            <a:avLst/>
          </a:prstGeom>
          <a:solidFill>
            <a:srgbClr val="E0654F"/>
          </a:solidFill>
          <a:ln w="6350">
            <a:solidFill>
              <a:srgbClr val="E0654F"/>
            </a:solidFill>
            <a:prstDash val="solid"/>
          </a:ln>
        </p:spPr>
      </p:sp>
      <p:sp>
        <p:nvSpPr>
          <p:cNvPr id="25" name="Text 23"/>
          <p:cNvSpPr txBox="1"/>
          <p:nvPr/>
        </p:nvSpPr>
        <p:spPr>
          <a:xfrm>
            <a:off x="4873752"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P</a:t>
            </a:r>
            <a:endParaRPr lang="en-US" sz="1200" dirty="0"/>
          </a:p>
        </p:txBody>
      </p:sp>
      <p:sp>
        <p:nvSpPr>
          <p:cNvPr id="26" name="Sulfur atom"/>
          <p:cNvSpPr/>
          <p:nvPr/>
        </p:nvSpPr>
        <p:spPr>
          <a:xfrm>
            <a:off x="5903732" y="2154692"/>
            <a:ext cx="354056" cy="354056"/>
          </a:xfrm>
          <a:prstGeom prst="ellipse">
            <a:avLst/>
          </a:prstGeom>
          <a:solidFill>
            <a:schemeClr val="accent1">
              <a:alpha val="20000"/>
            </a:schemeClr>
          </a:solidFill>
          <a:ln w="12700">
            <a:solidFill>
              <a:schemeClr val="accent1">
                <a:alpha val="70000"/>
              </a:schemeClr>
            </a:solidFill>
            <a:prstDash val="dash"/>
          </a:ln>
        </p:spPr>
      </p:sp>
      <p:sp>
        <p:nvSpPr>
          <p:cNvPr id="27" name="Nucleus"/>
          <p:cNvSpPr/>
          <p:nvPr/>
        </p:nvSpPr>
        <p:spPr>
          <a:xfrm>
            <a:off x="6044184" y="2295144"/>
            <a:ext cx="73152" cy="73152"/>
          </a:xfrm>
          <a:prstGeom prst="ellipse">
            <a:avLst/>
          </a:prstGeom>
          <a:solidFill>
            <a:srgbClr val="E0654F"/>
          </a:solidFill>
          <a:ln w="6350">
            <a:solidFill>
              <a:srgbClr val="E0654F"/>
            </a:solidFill>
            <a:prstDash val="solid"/>
          </a:ln>
        </p:spPr>
      </p:sp>
      <p:sp>
        <p:nvSpPr>
          <p:cNvPr id="28" name="Text 26"/>
          <p:cNvSpPr txBox="1"/>
          <p:nvPr/>
        </p:nvSpPr>
        <p:spPr>
          <a:xfrm>
            <a:off x="5897880"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S</a:t>
            </a:r>
            <a:endParaRPr lang="en-US" sz="1200" dirty="0"/>
          </a:p>
        </p:txBody>
      </p:sp>
      <p:sp>
        <p:nvSpPr>
          <p:cNvPr id="29" name="Chlorine atom"/>
          <p:cNvSpPr/>
          <p:nvPr/>
        </p:nvSpPr>
        <p:spPr>
          <a:xfrm>
            <a:off x="6945965" y="2172797"/>
            <a:ext cx="317845" cy="317845"/>
          </a:xfrm>
          <a:prstGeom prst="ellipse">
            <a:avLst/>
          </a:prstGeom>
          <a:solidFill>
            <a:schemeClr val="accent1">
              <a:alpha val="20000"/>
            </a:schemeClr>
          </a:solidFill>
          <a:ln w="12700">
            <a:solidFill>
              <a:schemeClr val="accent1">
                <a:alpha val="70000"/>
              </a:schemeClr>
            </a:solidFill>
            <a:prstDash val="dash"/>
          </a:ln>
        </p:spPr>
      </p:sp>
      <p:sp>
        <p:nvSpPr>
          <p:cNvPr id="30" name="Nucleus"/>
          <p:cNvSpPr/>
          <p:nvPr/>
        </p:nvSpPr>
        <p:spPr>
          <a:xfrm>
            <a:off x="7068312" y="2295144"/>
            <a:ext cx="73152" cy="73152"/>
          </a:xfrm>
          <a:prstGeom prst="ellipse">
            <a:avLst/>
          </a:prstGeom>
          <a:solidFill>
            <a:srgbClr val="E0654F"/>
          </a:solidFill>
          <a:ln w="6350">
            <a:solidFill>
              <a:srgbClr val="E0654F"/>
            </a:solidFill>
            <a:prstDash val="solid"/>
          </a:ln>
        </p:spPr>
      </p:sp>
      <p:sp>
        <p:nvSpPr>
          <p:cNvPr id="31" name="Text 29"/>
          <p:cNvSpPr txBox="1"/>
          <p:nvPr/>
        </p:nvSpPr>
        <p:spPr>
          <a:xfrm>
            <a:off x="6922008"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Cl</a:t>
            </a:r>
            <a:endParaRPr lang="en-US" sz="1200" dirty="0"/>
          </a:p>
        </p:txBody>
      </p:sp>
      <p:sp>
        <p:nvSpPr>
          <p:cNvPr id="32" name="Argon atom"/>
          <p:cNvSpPr/>
          <p:nvPr/>
        </p:nvSpPr>
        <p:spPr>
          <a:xfrm>
            <a:off x="7986187" y="2188891"/>
            <a:ext cx="285659" cy="285659"/>
          </a:xfrm>
          <a:prstGeom prst="ellipse">
            <a:avLst/>
          </a:prstGeom>
          <a:solidFill>
            <a:schemeClr val="accent1">
              <a:alpha val="20000"/>
            </a:schemeClr>
          </a:solidFill>
          <a:ln w="12700">
            <a:solidFill>
              <a:schemeClr val="accent1">
                <a:alpha val="70000"/>
              </a:schemeClr>
            </a:solidFill>
            <a:prstDash val="dash"/>
          </a:ln>
        </p:spPr>
      </p:sp>
      <p:sp>
        <p:nvSpPr>
          <p:cNvPr id="33" name="Nucleus"/>
          <p:cNvSpPr/>
          <p:nvPr/>
        </p:nvSpPr>
        <p:spPr>
          <a:xfrm>
            <a:off x="8092440" y="2295144"/>
            <a:ext cx="73152" cy="73152"/>
          </a:xfrm>
          <a:prstGeom prst="ellipse">
            <a:avLst/>
          </a:prstGeom>
          <a:solidFill>
            <a:srgbClr val="E0654F"/>
          </a:solidFill>
          <a:ln w="6350">
            <a:solidFill>
              <a:srgbClr val="E0654F"/>
            </a:solidFill>
            <a:prstDash val="solid"/>
          </a:ln>
        </p:spPr>
      </p:sp>
      <p:sp>
        <p:nvSpPr>
          <p:cNvPr id="34" name="Text 32"/>
          <p:cNvSpPr txBox="1"/>
          <p:nvPr/>
        </p:nvSpPr>
        <p:spPr>
          <a:xfrm>
            <a:off x="7946136" y="3154680"/>
            <a:ext cx="365760" cy="228600"/>
          </a:xfrm>
          <a:prstGeom prst="rect">
            <a:avLst/>
          </a:prstGeom>
          <a:noFill/>
          <a:ln/>
        </p:spPr>
        <p:txBody>
          <a:bodyPr wrap="square" lIns="0" tIns="0" rIns="0" bIns="0" rtlCol="0" anchor="t"/>
          <a:lstStyle/>
          <a:p>
            <a:pPr algn="ctr" indent="0" marL="0">
              <a:buNone/>
            </a:pPr>
            <a:r>
              <a:rPr lang="en-US" sz="1200" dirty="0">
                <a:solidFill>
                  <a:schemeClr val="bg2"/>
                </a:solidFill>
              </a:rPr>
              <a:t>Ar</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3520440"/>
          <a:ext cx="8229600" cy="914400"/>
        </p:xfrm>
        <a:graphic>
          <a:graphicData uri="http://schemas.openxmlformats.org/drawingml/2006/table">
            <a:tbl>
              <a:tblPr/>
              <a:tblGrid>
                <a:gridCol w="2468880"/>
                <a:gridCol w="1920240"/>
                <a:gridCol w="1828800"/>
                <a:gridCol w="2011680"/>
              </a:tblGrid>
              <a:tr h="365760">
                <a:tc>
                  <a:txBody>
                    <a:bodyPr/>
                    <a:lstStyle/>
                    <a:p>
                      <a:pPr indent="0" marL="0">
                        <a:buNone/>
                      </a:pP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Protons</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Shells</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c>
                  <a:txBody>
                    <a:bodyPr/>
                    <a:lstStyle/>
                    <a:p>
                      <a:pPr indent="0" marL="0">
                        <a:buNone/>
                      </a:pPr>
                      <a:r>
                        <a:rPr lang="en-US" sz="1300" b="1" dirty="0">
                          <a:solidFill>
                            <a:schemeClr val="bg2"/>
                          </a:solidFill>
                        </a:rPr>
                        <a:t>Radius</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2"/>
                    </a:solidFill>
                  </a:tcPr>
                </a:tc>
              </a:tr>
              <a:tr h="365760">
                <a:tc>
                  <a:txBody>
                    <a:bodyPr/>
                    <a:lstStyle/>
                    <a:p>
                      <a:pPr indent="0" marL="0">
                        <a:buNone/>
                      </a:pPr>
                      <a:r>
                        <a:rPr lang="en-US" sz="1300" dirty="0">
                          <a:solidFill>
                            <a:schemeClr val="bg1"/>
                          </a:solidFill>
                        </a:rPr>
                        <a:t>Across period 3 (Na → Ar)</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300" b="1" dirty="0">
                          <a:solidFill>
                            <a:schemeClr val="accent4"/>
                          </a:solidFill>
                        </a:rPr>
                        <a:t>increase (11 → 18)</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300" b="1" dirty="0">
                          <a:solidFill>
                            <a:schemeClr val="accent4"/>
                          </a:solidFill>
                        </a:rPr>
                        <a:t>stay the same (3)</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c>
                  <a:txBody>
                    <a:bodyPr/>
                    <a:lstStyle/>
                    <a:p>
                      <a:pPr indent="0" marL="0">
                        <a:buNone/>
                      </a:pPr>
                      <a:r>
                        <a:rPr lang="en-US" sz="1300" b="1" dirty="0">
                          <a:solidFill>
                            <a:schemeClr val="accent4"/>
                          </a:solidFill>
                        </a:rPr>
                        <a:t>decreases (190 → 71 pm)</a:t>
                      </a:r>
                      <a:endParaRPr lang="en-US" sz="1300" dirty="0"/>
                    </a:p>
                  </a:txBody>
                  <a:tcPr marL="91440" marR="91440" marT="36576" marB="36576" anchor="ctr">
                    <a:lnL w="9525" cap="flat" cmpd="sng" algn="ctr">
                      <a:solidFill>
                        <a:srgbClr val="2A3B5E"/>
                      </a:solidFill>
                      <a:prstDash val="solid"/>
                      <a:round/>
                      <a:headEnd type="none" w="med" len="med"/>
                      <a:tailEnd type="none" w="med" len="med"/>
                    </a:lnL>
                    <a:lnR w="9525" cap="flat" cmpd="sng" algn="ctr">
                      <a:solidFill>
                        <a:srgbClr val="2A3B5E"/>
                      </a:solidFill>
                      <a:prstDash val="solid"/>
                      <a:round/>
                      <a:headEnd type="none" w="med" len="med"/>
                      <a:tailEnd type="none" w="med" len="med"/>
                    </a:lnR>
                    <a:lnT w="9525" cap="flat" cmpd="sng" algn="ctr">
                      <a:solidFill>
                        <a:srgbClr val="2A3B5E"/>
                      </a:solidFill>
                      <a:prstDash val="solid"/>
                      <a:round/>
                      <a:headEnd type="none" w="med" len="med"/>
                      <a:tailEnd type="none" w="med" len="med"/>
                    </a:lnT>
                    <a:lnB w="9525" cap="flat" cmpd="sng" algn="ctr">
                      <a:solidFill>
                        <a:srgbClr val="2A3B5E"/>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a"/>
          <p:cNvSpPr/>
          <p:nvPr/>
        </p:nvSpPr>
        <p:spPr>
          <a:xfrm>
            <a:off x="575295" y="516042"/>
            <a:ext cx="513618" cy="51361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Na</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Bigger or smaller?</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Sort each change by what it does to an atom's size.</a:t>
            </a:r>
            <a:endParaRPr lang="en-US" sz="1300" dirty="0"/>
          </a:p>
        </p:txBody>
      </p:sp>
      <p:sp>
        <p:nvSpPr>
          <p:cNvPr id="10" name="Card"/>
          <p:cNvSpPr/>
          <p:nvPr/>
        </p:nvSpPr>
        <p:spPr>
          <a:xfrm>
            <a:off x="457200" y="1691640"/>
            <a:ext cx="2651760" cy="411480"/>
          </a:xfrm>
          <a:prstGeom prst="roundRect">
            <a:avLst>
              <a:gd name="adj" fmla="val 22222"/>
            </a:avLst>
          </a:prstGeom>
          <a:solidFill>
            <a:schemeClr val="tx2"/>
          </a:solidFill>
          <a:ln w="9525">
            <a:solidFill>
              <a:schemeClr val="bg2">
                <a:alpha val="30000"/>
              </a:schemeClr>
            </a:solidFill>
            <a:prstDash val="solid"/>
          </a:ln>
        </p:spPr>
      </p:sp>
      <p:sp>
        <p:nvSpPr>
          <p:cNvPr id="11" name="Text 9"/>
          <p:cNvSpPr txBox="1"/>
          <p:nvPr/>
        </p:nvSpPr>
        <p:spPr>
          <a:xfrm>
            <a:off x="548640" y="1691640"/>
            <a:ext cx="2468880" cy="411480"/>
          </a:xfrm>
          <a:prstGeom prst="rect">
            <a:avLst/>
          </a:prstGeom>
          <a:noFill/>
          <a:ln/>
        </p:spPr>
        <p:txBody>
          <a:bodyPr wrap="square" lIns="0" tIns="0" rIns="0" bIns="0" rtlCol="0" anchor="ctr"/>
          <a:lstStyle/>
          <a:p>
            <a:pPr algn="ctr" indent="0" marL="0">
              <a:buNone/>
            </a:pPr>
            <a:r>
              <a:rPr lang="en-US" sz="1200" dirty="0">
                <a:solidFill>
                  <a:schemeClr val="bg1"/>
                </a:solidFill>
              </a:rPr>
              <a:t>Adding a shell</a:t>
            </a:r>
            <a:endParaRPr lang="en-US" sz="1200" dirty="0"/>
          </a:p>
        </p:txBody>
      </p:sp>
      <p:sp>
        <p:nvSpPr>
          <p:cNvPr id="12" name="Card"/>
          <p:cNvSpPr/>
          <p:nvPr/>
        </p:nvSpPr>
        <p:spPr>
          <a:xfrm>
            <a:off x="3246120" y="1691640"/>
            <a:ext cx="2651760" cy="411480"/>
          </a:xfrm>
          <a:prstGeom prst="roundRect">
            <a:avLst>
              <a:gd name="adj" fmla="val 22222"/>
            </a:avLst>
          </a:prstGeom>
          <a:solidFill>
            <a:schemeClr val="tx2"/>
          </a:solidFill>
          <a:ln w="9525">
            <a:solidFill>
              <a:schemeClr val="bg2">
                <a:alpha val="30000"/>
              </a:schemeClr>
            </a:solidFill>
            <a:prstDash val="solid"/>
          </a:ln>
        </p:spPr>
      </p:sp>
      <p:sp>
        <p:nvSpPr>
          <p:cNvPr id="13" name="Text 11"/>
          <p:cNvSpPr txBox="1"/>
          <p:nvPr/>
        </p:nvSpPr>
        <p:spPr>
          <a:xfrm>
            <a:off x="3337560" y="1691640"/>
            <a:ext cx="2468880" cy="411480"/>
          </a:xfrm>
          <a:prstGeom prst="rect">
            <a:avLst/>
          </a:prstGeom>
          <a:noFill/>
          <a:ln/>
        </p:spPr>
        <p:txBody>
          <a:bodyPr wrap="square" lIns="0" tIns="0" rIns="0" bIns="0" rtlCol="0" anchor="ctr"/>
          <a:lstStyle/>
          <a:p>
            <a:pPr algn="ctr" indent="0" marL="0">
              <a:buNone/>
            </a:pPr>
            <a:r>
              <a:rPr lang="en-US" sz="1200" dirty="0">
                <a:solidFill>
                  <a:schemeClr val="bg1"/>
                </a:solidFill>
              </a:rPr>
              <a:t>Moving down a group</a:t>
            </a:r>
            <a:endParaRPr lang="en-US" sz="1200" dirty="0"/>
          </a:p>
        </p:txBody>
      </p:sp>
      <p:sp>
        <p:nvSpPr>
          <p:cNvPr id="14" name="Card"/>
          <p:cNvSpPr/>
          <p:nvPr/>
        </p:nvSpPr>
        <p:spPr>
          <a:xfrm>
            <a:off x="6035040" y="1691640"/>
            <a:ext cx="2651760" cy="411480"/>
          </a:xfrm>
          <a:prstGeom prst="roundRect">
            <a:avLst>
              <a:gd name="adj" fmla="val 22222"/>
            </a:avLst>
          </a:prstGeom>
          <a:solidFill>
            <a:schemeClr val="tx2"/>
          </a:solidFill>
          <a:ln w="9525">
            <a:solidFill>
              <a:schemeClr val="bg2">
                <a:alpha val="30000"/>
              </a:schemeClr>
            </a:solidFill>
            <a:prstDash val="solid"/>
          </a:ln>
        </p:spPr>
      </p:sp>
      <p:sp>
        <p:nvSpPr>
          <p:cNvPr id="15" name="Text 13"/>
          <p:cNvSpPr txBox="1"/>
          <p:nvPr/>
        </p:nvSpPr>
        <p:spPr>
          <a:xfrm>
            <a:off x="6126480" y="1691640"/>
            <a:ext cx="2468880" cy="411480"/>
          </a:xfrm>
          <a:prstGeom prst="rect">
            <a:avLst/>
          </a:prstGeom>
          <a:noFill/>
          <a:ln/>
        </p:spPr>
        <p:txBody>
          <a:bodyPr wrap="square" lIns="0" tIns="0" rIns="0" bIns="0" rtlCol="0" anchor="ctr"/>
          <a:lstStyle/>
          <a:p>
            <a:pPr algn="ctr" indent="0" marL="0">
              <a:buNone/>
            </a:pPr>
            <a:r>
              <a:rPr lang="en-US" sz="1200" dirty="0">
                <a:solidFill>
                  <a:schemeClr val="bg1"/>
                </a:solidFill>
              </a:rPr>
              <a:t>More inner electrons shielding</a:t>
            </a:r>
            <a:endParaRPr lang="en-US" sz="1200" dirty="0"/>
          </a:p>
        </p:txBody>
      </p:sp>
      <p:sp>
        <p:nvSpPr>
          <p:cNvPr id="16" name="Card"/>
          <p:cNvSpPr/>
          <p:nvPr/>
        </p:nvSpPr>
        <p:spPr>
          <a:xfrm>
            <a:off x="457200" y="2194560"/>
            <a:ext cx="2651760" cy="411480"/>
          </a:xfrm>
          <a:prstGeom prst="roundRect">
            <a:avLst>
              <a:gd name="adj" fmla="val 22222"/>
            </a:avLst>
          </a:prstGeom>
          <a:solidFill>
            <a:schemeClr val="tx2"/>
          </a:solidFill>
          <a:ln w="9525">
            <a:solidFill>
              <a:schemeClr val="bg2">
                <a:alpha val="30000"/>
              </a:schemeClr>
            </a:solidFill>
            <a:prstDash val="solid"/>
          </a:ln>
        </p:spPr>
      </p:sp>
      <p:sp>
        <p:nvSpPr>
          <p:cNvPr id="17" name="Text 15"/>
          <p:cNvSpPr txBox="1"/>
          <p:nvPr/>
        </p:nvSpPr>
        <p:spPr>
          <a:xfrm>
            <a:off x="548640" y="2194560"/>
            <a:ext cx="2468880" cy="411480"/>
          </a:xfrm>
          <a:prstGeom prst="rect">
            <a:avLst/>
          </a:prstGeom>
          <a:noFill/>
          <a:ln/>
        </p:spPr>
        <p:txBody>
          <a:bodyPr wrap="square" lIns="0" tIns="0" rIns="0" bIns="0" rtlCol="0" anchor="ctr"/>
          <a:lstStyle/>
          <a:p>
            <a:pPr algn="ctr" indent="0" marL="0">
              <a:buNone/>
            </a:pPr>
            <a:r>
              <a:rPr lang="en-US" sz="1200" dirty="0">
                <a:solidFill>
                  <a:schemeClr val="bg1"/>
                </a:solidFill>
              </a:rPr>
              <a:t>More protons, same shells</a:t>
            </a:r>
            <a:endParaRPr lang="en-US" sz="1200" dirty="0"/>
          </a:p>
        </p:txBody>
      </p:sp>
      <p:sp>
        <p:nvSpPr>
          <p:cNvPr id="18" name="Card"/>
          <p:cNvSpPr/>
          <p:nvPr/>
        </p:nvSpPr>
        <p:spPr>
          <a:xfrm>
            <a:off x="3246120" y="2194560"/>
            <a:ext cx="2651760" cy="411480"/>
          </a:xfrm>
          <a:prstGeom prst="roundRect">
            <a:avLst>
              <a:gd name="adj" fmla="val 22222"/>
            </a:avLst>
          </a:prstGeom>
          <a:solidFill>
            <a:schemeClr val="tx2"/>
          </a:solidFill>
          <a:ln w="9525">
            <a:solidFill>
              <a:schemeClr val="bg2">
                <a:alpha val="30000"/>
              </a:schemeClr>
            </a:solidFill>
            <a:prstDash val="solid"/>
          </a:ln>
        </p:spPr>
      </p:sp>
      <p:sp>
        <p:nvSpPr>
          <p:cNvPr id="19" name="Text 17"/>
          <p:cNvSpPr txBox="1"/>
          <p:nvPr/>
        </p:nvSpPr>
        <p:spPr>
          <a:xfrm>
            <a:off x="3337560" y="2194560"/>
            <a:ext cx="2468880" cy="411480"/>
          </a:xfrm>
          <a:prstGeom prst="rect">
            <a:avLst/>
          </a:prstGeom>
          <a:noFill/>
          <a:ln/>
        </p:spPr>
        <p:txBody>
          <a:bodyPr wrap="square" lIns="0" tIns="0" rIns="0" bIns="0" rtlCol="0" anchor="ctr"/>
          <a:lstStyle/>
          <a:p>
            <a:pPr algn="ctr" indent="0" marL="0">
              <a:buNone/>
            </a:pPr>
            <a:r>
              <a:rPr lang="en-US" sz="1200" dirty="0">
                <a:solidFill>
                  <a:schemeClr val="bg1"/>
                </a:solidFill>
              </a:rPr>
              <a:t>Moving right across a period</a:t>
            </a:r>
            <a:endParaRPr lang="en-US" sz="1200" dirty="0"/>
          </a:p>
        </p:txBody>
      </p:sp>
      <p:sp>
        <p:nvSpPr>
          <p:cNvPr id="20" name="Card"/>
          <p:cNvSpPr/>
          <p:nvPr/>
        </p:nvSpPr>
        <p:spPr>
          <a:xfrm>
            <a:off x="6035040" y="2194560"/>
            <a:ext cx="2651760" cy="411480"/>
          </a:xfrm>
          <a:prstGeom prst="roundRect">
            <a:avLst>
              <a:gd name="adj" fmla="val 22222"/>
            </a:avLst>
          </a:prstGeom>
          <a:solidFill>
            <a:schemeClr val="tx2"/>
          </a:solidFill>
          <a:ln w="9525">
            <a:solidFill>
              <a:schemeClr val="bg2">
                <a:alpha val="30000"/>
              </a:schemeClr>
            </a:solidFill>
            <a:prstDash val="solid"/>
          </a:ln>
        </p:spPr>
      </p:sp>
      <p:sp>
        <p:nvSpPr>
          <p:cNvPr id="21" name="Text 19"/>
          <p:cNvSpPr txBox="1"/>
          <p:nvPr/>
        </p:nvSpPr>
        <p:spPr>
          <a:xfrm>
            <a:off x="6126480" y="2194560"/>
            <a:ext cx="2468880" cy="411480"/>
          </a:xfrm>
          <a:prstGeom prst="rect">
            <a:avLst/>
          </a:prstGeom>
          <a:noFill/>
          <a:ln/>
        </p:spPr>
        <p:txBody>
          <a:bodyPr wrap="square" lIns="0" tIns="0" rIns="0" bIns="0" rtlCol="0" anchor="ctr"/>
          <a:lstStyle/>
          <a:p>
            <a:pPr algn="ctr" indent="0" marL="0">
              <a:buNone/>
            </a:pPr>
            <a:r>
              <a:rPr lang="en-US" sz="1200" dirty="0">
                <a:solidFill>
                  <a:schemeClr val="bg1"/>
                </a:solidFill>
              </a:rPr>
              <a:t>A stronger pull on outer electrons</a:t>
            </a:r>
            <a:endParaRPr lang="en-US" sz="1200" dirty="0"/>
          </a:p>
        </p:txBody>
      </p:sp>
      <p:sp>
        <p:nvSpPr>
          <p:cNvPr id="22" name="Makes the atom larger"/>
          <p:cNvSpPr/>
          <p:nvPr/>
        </p:nvSpPr>
        <p:spPr>
          <a:xfrm>
            <a:off x="457200" y="2834640"/>
            <a:ext cx="4023360" cy="1463040"/>
          </a:xfrm>
          <a:prstGeom prst="roundRect">
            <a:avLst>
              <a:gd name="adj" fmla="val 6250"/>
            </a:avLst>
          </a:prstGeom>
          <a:solidFill>
            <a:schemeClr val="tx2"/>
          </a:solidFill>
          <a:ln w="9525">
            <a:solidFill>
              <a:schemeClr val="bg2">
                <a:alpha val="30000"/>
              </a:schemeClr>
            </a:solidFill>
            <a:prstDash val="solid"/>
          </a:ln>
        </p:spPr>
      </p:sp>
      <p:sp>
        <p:nvSpPr>
          <p:cNvPr id="23" name="Text 21"/>
          <p:cNvSpPr txBox="1"/>
          <p:nvPr/>
        </p:nvSpPr>
        <p:spPr>
          <a:xfrm>
            <a:off x="640080" y="2926080"/>
            <a:ext cx="3657600" cy="320040"/>
          </a:xfrm>
          <a:prstGeom prst="rect">
            <a:avLst/>
          </a:prstGeom>
          <a:noFill/>
          <a:ln/>
        </p:spPr>
        <p:txBody>
          <a:bodyPr wrap="square" lIns="0" tIns="0" rIns="0" bIns="0" rtlCol="0" anchor="t"/>
          <a:lstStyle/>
          <a:p>
            <a:pPr indent="0" marL="0">
              <a:buNone/>
            </a:pPr>
            <a:r>
              <a:rPr lang="en-US" sz="1500" b="1" dirty="0">
                <a:solidFill>
                  <a:schemeClr val="accent2"/>
                </a:solidFill>
              </a:rPr>
              <a:t>Makes the atom larger</a:t>
            </a:r>
            <a:endParaRPr lang="en-US" sz="1500" dirty="0"/>
          </a:p>
        </p:txBody>
      </p:sp>
      <p:sp>
        <p:nvSpPr>
          <p:cNvPr id="24" name="Makes the atom smaller"/>
          <p:cNvSpPr/>
          <p:nvPr/>
        </p:nvSpPr>
        <p:spPr>
          <a:xfrm>
            <a:off x="4663440" y="2834640"/>
            <a:ext cx="4023360" cy="1463040"/>
          </a:xfrm>
          <a:prstGeom prst="roundRect">
            <a:avLst>
              <a:gd name="adj" fmla="val 6250"/>
            </a:avLst>
          </a:prstGeom>
          <a:solidFill>
            <a:schemeClr val="tx2"/>
          </a:solidFill>
          <a:ln w="9525">
            <a:solidFill>
              <a:schemeClr val="bg2">
                <a:alpha val="30000"/>
              </a:schemeClr>
            </a:solidFill>
            <a:prstDash val="solid"/>
          </a:ln>
        </p:spPr>
      </p:sp>
      <p:sp>
        <p:nvSpPr>
          <p:cNvPr id="25" name="Text 23"/>
          <p:cNvSpPr txBox="1"/>
          <p:nvPr/>
        </p:nvSpPr>
        <p:spPr>
          <a:xfrm>
            <a:off x="4846320" y="2926080"/>
            <a:ext cx="3657600" cy="320040"/>
          </a:xfrm>
          <a:prstGeom prst="rect">
            <a:avLst/>
          </a:prstGeom>
          <a:noFill/>
          <a:ln/>
        </p:spPr>
        <p:txBody>
          <a:bodyPr wrap="square" lIns="0" tIns="0" rIns="0" bIns="0" rtlCol="0" anchor="t"/>
          <a:lstStyle/>
          <a:p>
            <a:pPr indent="0" marL="0">
              <a:buNone/>
            </a:pPr>
            <a:r>
              <a:rPr lang="en-US" sz="1500" b="1" dirty="0">
                <a:solidFill>
                  <a:schemeClr val="accent1"/>
                </a:solidFill>
              </a:rPr>
              <a:t>Makes the atom smaller</a:t>
            </a:r>
            <a:endParaRPr lang="en-US" sz="1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a"/>
          <p:cNvSpPr/>
          <p:nvPr/>
        </p:nvSpPr>
        <p:spPr>
          <a:xfrm>
            <a:off x="575295" y="516042"/>
            <a:ext cx="513618" cy="51361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Na</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Bigger or smaller?</a:t>
            </a:r>
            <a:endParaRPr lang="en-US" sz="2800" dirty="0"/>
          </a:p>
        </p:txBody>
      </p:sp>
      <p:sp>
        <p:nvSpPr>
          <p:cNvPr id="10" name="Text 8"/>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Sort each change by what it does to an atom's size.</a:t>
            </a:r>
            <a:endParaRPr lang="en-US" sz="1300" dirty="0"/>
          </a:p>
        </p:txBody>
      </p:sp>
      <p:sp>
        <p:nvSpPr>
          <p:cNvPr id="11" name="Makes the atom larger"/>
          <p:cNvSpPr/>
          <p:nvPr/>
        </p:nvSpPr>
        <p:spPr>
          <a:xfrm>
            <a:off x="457200" y="1691640"/>
            <a:ext cx="4023360" cy="2377440"/>
          </a:xfrm>
          <a:prstGeom prst="roundRect">
            <a:avLst>
              <a:gd name="adj" fmla="val 3846"/>
            </a:avLst>
          </a:prstGeom>
          <a:solidFill>
            <a:schemeClr val="tx2"/>
          </a:solidFill>
          <a:ln w="9525">
            <a:solidFill>
              <a:schemeClr val="bg2">
                <a:alpha val="30000"/>
              </a:schemeClr>
            </a:solidFill>
            <a:prstDash val="solid"/>
          </a:ln>
        </p:spPr>
      </p:sp>
      <p:sp>
        <p:nvSpPr>
          <p:cNvPr id="12" name="Text 10"/>
          <p:cNvSpPr txBox="1"/>
          <p:nvPr/>
        </p:nvSpPr>
        <p:spPr>
          <a:xfrm>
            <a:off x="640080" y="1783080"/>
            <a:ext cx="3657600" cy="320040"/>
          </a:xfrm>
          <a:prstGeom prst="rect">
            <a:avLst/>
          </a:prstGeom>
          <a:noFill/>
          <a:ln/>
        </p:spPr>
        <p:txBody>
          <a:bodyPr wrap="square" lIns="0" tIns="0" rIns="0" bIns="0" rtlCol="0" anchor="t"/>
          <a:lstStyle/>
          <a:p>
            <a:pPr indent="0" marL="0">
              <a:buNone/>
            </a:pPr>
            <a:r>
              <a:rPr lang="en-US" sz="1500" b="1" dirty="0">
                <a:solidFill>
                  <a:schemeClr val="accent2"/>
                </a:solidFill>
              </a:rPr>
              <a:t>Makes the atom larger</a:t>
            </a:r>
            <a:endParaRPr lang="en-US" sz="1500" dirty="0"/>
          </a:p>
        </p:txBody>
      </p:sp>
      <p:sp>
        <p:nvSpPr>
          <p:cNvPr id="13" name="Text 11"/>
          <p:cNvSpPr txBox="1"/>
          <p:nvPr/>
        </p:nvSpPr>
        <p:spPr>
          <a:xfrm>
            <a:off x="685800" y="2240280"/>
            <a:ext cx="3657600" cy="411480"/>
          </a:xfrm>
          <a:prstGeom prst="rect">
            <a:avLst/>
          </a:prstGeom>
          <a:noFill/>
          <a:ln/>
        </p:spPr>
        <p:txBody>
          <a:bodyPr wrap="square" lIns="0" tIns="0" rIns="0" bIns="0" rtlCol="0" anchor="t"/>
          <a:lstStyle/>
          <a:p>
            <a:pPr indent="0" marL="0">
              <a:buNone/>
            </a:pPr>
            <a:r>
              <a:rPr lang="en-US" sz="1400" dirty="0">
                <a:solidFill>
                  <a:schemeClr val="bg1"/>
                </a:solidFill>
              </a:rPr>
              <a:t>• Adding a shell</a:t>
            </a:r>
            <a:endParaRPr lang="en-US" sz="1400" dirty="0"/>
          </a:p>
        </p:txBody>
      </p:sp>
      <p:sp>
        <p:nvSpPr>
          <p:cNvPr id="14" name="Text 12"/>
          <p:cNvSpPr txBox="1"/>
          <p:nvPr/>
        </p:nvSpPr>
        <p:spPr>
          <a:xfrm>
            <a:off x="685800" y="2743200"/>
            <a:ext cx="3657600" cy="411480"/>
          </a:xfrm>
          <a:prstGeom prst="rect">
            <a:avLst/>
          </a:prstGeom>
          <a:noFill/>
          <a:ln/>
        </p:spPr>
        <p:txBody>
          <a:bodyPr wrap="square" lIns="0" tIns="0" rIns="0" bIns="0" rtlCol="0" anchor="t"/>
          <a:lstStyle/>
          <a:p>
            <a:pPr indent="0" marL="0">
              <a:buNone/>
            </a:pPr>
            <a:r>
              <a:rPr lang="en-US" sz="1400" dirty="0">
                <a:solidFill>
                  <a:schemeClr val="bg1"/>
                </a:solidFill>
              </a:rPr>
              <a:t>• Moving down a group</a:t>
            </a:r>
            <a:endParaRPr lang="en-US" sz="1400" dirty="0"/>
          </a:p>
        </p:txBody>
      </p:sp>
      <p:sp>
        <p:nvSpPr>
          <p:cNvPr id="15" name="Text 13"/>
          <p:cNvSpPr txBox="1"/>
          <p:nvPr/>
        </p:nvSpPr>
        <p:spPr>
          <a:xfrm>
            <a:off x="685800" y="3246120"/>
            <a:ext cx="3657600" cy="411480"/>
          </a:xfrm>
          <a:prstGeom prst="rect">
            <a:avLst/>
          </a:prstGeom>
          <a:noFill/>
          <a:ln/>
        </p:spPr>
        <p:txBody>
          <a:bodyPr wrap="square" lIns="0" tIns="0" rIns="0" bIns="0" rtlCol="0" anchor="t"/>
          <a:lstStyle/>
          <a:p>
            <a:pPr indent="0" marL="0">
              <a:buNone/>
            </a:pPr>
            <a:r>
              <a:rPr lang="en-US" sz="1400" dirty="0">
                <a:solidFill>
                  <a:schemeClr val="bg1"/>
                </a:solidFill>
              </a:rPr>
              <a:t>• More inner electrons shielding</a:t>
            </a:r>
            <a:endParaRPr lang="en-US" sz="1400" dirty="0"/>
          </a:p>
        </p:txBody>
      </p:sp>
      <p:sp>
        <p:nvSpPr>
          <p:cNvPr id="16" name="Makes the atom smaller"/>
          <p:cNvSpPr/>
          <p:nvPr/>
        </p:nvSpPr>
        <p:spPr>
          <a:xfrm>
            <a:off x="4663440" y="1691640"/>
            <a:ext cx="4023360" cy="2377440"/>
          </a:xfrm>
          <a:prstGeom prst="roundRect">
            <a:avLst>
              <a:gd name="adj" fmla="val 3846"/>
            </a:avLst>
          </a:prstGeom>
          <a:solidFill>
            <a:schemeClr val="tx2"/>
          </a:solidFill>
          <a:ln w="9525">
            <a:solidFill>
              <a:schemeClr val="bg2">
                <a:alpha val="30000"/>
              </a:schemeClr>
            </a:solidFill>
            <a:prstDash val="solid"/>
          </a:ln>
        </p:spPr>
      </p:sp>
      <p:sp>
        <p:nvSpPr>
          <p:cNvPr id="17" name="Text 15"/>
          <p:cNvSpPr txBox="1"/>
          <p:nvPr/>
        </p:nvSpPr>
        <p:spPr>
          <a:xfrm>
            <a:off x="4846320" y="1783080"/>
            <a:ext cx="3657600" cy="320040"/>
          </a:xfrm>
          <a:prstGeom prst="rect">
            <a:avLst/>
          </a:prstGeom>
          <a:noFill/>
          <a:ln/>
        </p:spPr>
        <p:txBody>
          <a:bodyPr wrap="square" lIns="0" tIns="0" rIns="0" bIns="0" rtlCol="0" anchor="t"/>
          <a:lstStyle/>
          <a:p>
            <a:pPr indent="0" marL="0">
              <a:buNone/>
            </a:pPr>
            <a:r>
              <a:rPr lang="en-US" sz="1500" b="1" dirty="0">
                <a:solidFill>
                  <a:schemeClr val="accent1"/>
                </a:solidFill>
              </a:rPr>
              <a:t>Makes the atom smaller</a:t>
            </a:r>
            <a:endParaRPr lang="en-US" sz="1500" dirty="0"/>
          </a:p>
        </p:txBody>
      </p:sp>
      <p:sp>
        <p:nvSpPr>
          <p:cNvPr id="18" name="Text 16"/>
          <p:cNvSpPr txBox="1"/>
          <p:nvPr/>
        </p:nvSpPr>
        <p:spPr>
          <a:xfrm>
            <a:off x="4892040" y="2240280"/>
            <a:ext cx="3657600" cy="411480"/>
          </a:xfrm>
          <a:prstGeom prst="rect">
            <a:avLst/>
          </a:prstGeom>
          <a:noFill/>
          <a:ln/>
        </p:spPr>
        <p:txBody>
          <a:bodyPr wrap="square" lIns="0" tIns="0" rIns="0" bIns="0" rtlCol="0" anchor="t"/>
          <a:lstStyle/>
          <a:p>
            <a:pPr indent="0" marL="0">
              <a:buNone/>
            </a:pPr>
            <a:r>
              <a:rPr lang="en-US" sz="1400" dirty="0">
                <a:solidFill>
                  <a:schemeClr val="bg1"/>
                </a:solidFill>
              </a:rPr>
              <a:t>• More protons, same shells</a:t>
            </a:r>
            <a:endParaRPr lang="en-US" sz="1400" dirty="0"/>
          </a:p>
        </p:txBody>
      </p:sp>
      <p:sp>
        <p:nvSpPr>
          <p:cNvPr id="19" name="Text 17"/>
          <p:cNvSpPr txBox="1"/>
          <p:nvPr/>
        </p:nvSpPr>
        <p:spPr>
          <a:xfrm>
            <a:off x="4892040" y="2743200"/>
            <a:ext cx="3657600" cy="411480"/>
          </a:xfrm>
          <a:prstGeom prst="rect">
            <a:avLst/>
          </a:prstGeom>
          <a:noFill/>
          <a:ln/>
        </p:spPr>
        <p:txBody>
          <a:bodyPr wrap="square" lIns="0" tIns="0" rIns="0" bIns="0" rtlCol="0" anchor="t"/>
          <a:lstStyle/>
          <a:p>
            <a:pPr indent="0" marL="0">
              <a:buNone/>
            </a:pPr>
            <a:r>
              <a:rPr lang="en-US" sz="1400" dirty="0">
                <a:solidFill>
                  <a:schemeClr val="bg1"/>
                </a:solidFill>
              </a:rPr>
              <a:t>• Moving right across a period</a:t>
            </a:r>
            <a:endParaRPr lang="en-US" sz="1400" dirty="0"/>
          </a:p>
        </p:txBody>
      </p:sp>
      <p:sp>
        <p:nvSpPr>
          <p:cNvPr id="20" name="Text 18"/>
          <p:cNvSpPr txBox="1"/>
          <p:nvPr/>
        </p:nvSpPr>
        <p:spPr>
          <a:xfrm>
            <a:off x="4892040" y="3246120"/>
            <a:ext cx="3657600" cy="411480"/>
          </a:xfrm>
          <a:prstGeom prst="rect">
            <a:avLst/>
          </a:prstGeom>
          <a:noFill/>
          <a:ln/>
        </p:spPr>
        <p:txBody>
          <a:bodyPr wrap="square" lIns="0" tIns="0" rIns="0" bIns="0" rtlCol="0" anchor="t"/>
          <a:lstStyle/>
          <a:p>
            <a:pPr indent="0" marL="0">
              <a:buNone/>
            </a:pPr>
            <a:r>
              <a:rPr lang="en-US" sz="1400" dirty="0">
                <a:solidFill>
                  <a:schemeClr val="bg1"/>
                </a:solidFill>
              </a:rPr>
              <a:t>• A stronger pull on outer electrons</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a"/>
          <p:cNvSpPr/>
          <p:nvPr/>
        </p:nvSpPr>
        <p:spPr>
          <a:xfrm>
            <a:off x="575295" y="516042"/>
            <a:ext cx="513618" cy="51361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Na</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Rank by size</a:t>
            </a:r>
            <a:endParaRPr lang="en-US" sz="2800" dirty="0"/>
          </a:p>
        </p:txBody>
      </p:sp>
      <p:sp>
        <p:nvSpPr>
          <p:cNvPr id="9" name="Round 1"/>
          <p:cNvSpPr/>
          <p:nvPr/>
        </p:nvSpPr>
        <p:spPr>
          <a:xfrm>
            <a:off x="457200" y="1417320"/>
            <a:ext cx="8229600" cy="530352"/>
          </a:xfrm>
          <a:prstGeom prst="roundRect">
            <a:avLst>
              <a:gd name="adj" fmla="val 17241"/>
            </a:avLst>
          </a:prstGeom>
          <a:solidFill>
            <a:schemeClr val="tx2"/>
          </a:solidFill>
          <a:ln w="9525">
            <a:solidFill>
              <a:schemeClr val="bg2">
                <a:alpha val="30000"/>
              </a:schemeClr>
            </a:solidFill>
            <a:prstDash val="solid"/>
          </a:ln>
        </p:spPr>
      </p:sp>
      <p:sp>
        <p:nvSpPr>
          <p:cNvPr id="10" name="Text 8"/>
          <p:cNvSpPr txBox="1"/>
          <p:nvPr/>
        </p:nvSpPr>
        <p:spPr>
          <a:xfrm>
            <a:off x="594360" y="1417320"/>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1. </a:t>
            </a:r>
            <a:pPr indent="0" marL="0">
              <a:buNone/>
            </a:pPr>
            <a:r>
              <a:rPr lang="en-US" sz="1300" b="1" dirty="0">
                <a:solidFill>
                  <a:schemeClr val="accent1"/>
                </a:solidFill>
              </a:rPr>
              <a:t>atomic radius, </a:t>
            </a:r>
            <a:pPr indent="0" marL="0">
              <a:buNone/>
            </a:pPr>
            <a:r>
              <a:rPr lang="en-US" sz="1300" dirty="0">
                <a:solidFill>
                  <a:schemeClr val="bg1"/>
                </a:solidFill>
              </a:rPr>
              <a:t>smallest → largest</a:t>
            </a:r>
            <a:endParaRPr lang="en-US" sz="1300" dirty="0"/>
          </a:p>
        </p:txBody>
      </p:sp>
      <p:sp>
        <p:nvSpPr>
          <p:cNvPr id="11" name="Tile Na"/>
          <p:cNvSpPr/>
          <p:nvPr/>
        </p:nvSpPr>
        <p:spPr>
          <a:xfrm>
            <a:off x="3749040" y="1472184"/>
            <a:ext cx="420624" cy="420624"/>
          </a:xfrm>
          <a:prstGeom prst="roundRect">
            <a:avLst>
              <a:gd name="adj" fmla="val 12000"/>
            </a:avLst>
          </a:prstGeom>
          <a:solidFill>
            <a:srgbClr val="FF8F5E">
              <a:alpha val="30000"/>
            </a:srgbClr>
          </a:solidFill>
          <a:ln w="19050">
            <a:solidFill>
              <a:srgbClr val="FF8F5E"/>
            </a:solidFill>
            <a:prstDash val="solid"/>
          </a:ln>
        </p:spPr>
      </p:sp>
      <p:sp>
        <p:nvSpPr>
          <p:cNvPr id="12" name="Text 10"/>
          <p:cNvSpPr txBox="1"/>
          <p:nvPr/>
        </p:nvSpPr>
        <p:spPr>
          <a:xfrm>
            <a:off x="3782690" y="1493215"/>
            <a:ext cx="252374" cy="100950"/>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13" name="Text 11"/>
          <p:cNvSpPr txBox="1"/>
          <p:nvPr/>
        </p:nvSpPr>
        <p:spPr>
          <a:xfrm>
            <a:off x="3749040" y="1539484"/>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a:t>
            </a:r>
            <a:endParaRPr lang="en-US" sz="1500" dirty="0"/>
          </a:p>
        </p:txBody>
      </p:sp>
      <p:sp>
        <p:nvSpPr>
          <p:cNvPr id="14" name="Tile Cl"/>
          <p:cNvSpPr/>
          <p:nvPr/>
        </p:nvSpPr>
        <p:spPr>
          <a:xfrm>
            <a:off x="4937760" y="1472184"/>
            <a:ext cx="420624" cy="420624"/>
          </a:xfrm>
          <a:prstGeom prst="roundRect">
            <a:avLst>
              <a:gd name="adj" fmla="val 12000"/>
            </a:avLst>
          </a:prstGeom>
          <a:solidFill>
            <a:srgbClr val="F477B8">
              <a:alpha val="30000"/>
            </a:srgbClr>
          </a:solidFill>
          <a:ln w="19050">
            <a:solidFill>
              <a:srgbClr val="F477B8"/>
            </a:solidFill>
            <a:prstDash val="solid"/>
          </a:ln>
        </p:spPr>
      </p:sp>
      <p:sp>
        <p:nvSpPr>
          <p:cNvPr id="15" name="Text 13"/>
          <p:cNvSpPr txBox="1"/>
          <p:nvPr/>
        </p:nvSpPr>
        <p:spPr>
          <a:xfrm>
            <a:off x="4971410" y="1493215"/>
            <a:ext cx="252374" cy="100950"/>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16" name="Text 14"/>
          <p:cNvSpPr txBox="1"/>
          <p:nvPr/>
        </p:nvSpPr>
        <p:spPr>
          <a:xfrm>
            <a:off x="4937760" y="1539484"/>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Cl</a:t>
            </a:r>
            <a:endParaRPr lang="en-US" sz="1500" dirty="0"/>
          </a:p>
        </p:txBody>
      </p:sp>
      <p:sp>
        <p:nvSpPr>
          <p:cNvPr id="17" name="Tile Si"/>
          <p:cNvSpPr/>
          <p:nvPr/>
        </p:nvSpPr>
        <p:spPr>
          <a:xfrm>
            <a:off x="6126480" y="1472184"/>
            <a:ext cx="420624" cy="420624"/>
          </a:xfrm>
          <a:prstGeom prst="roundRect">
            <a:avLst>
              <a:gd name="adj" fmla="val 12000"/>
            </a:avLst>
          </a:prstGeom>
          <a:solidFill>
            <a:srgbClr val="46C7D8">
              <a:alpha val="30000"/>
            </a:srgbClr>
          </a:solidFill>
          <a:ln w="19050">
            <a:solidFill>
              <a:srgbClr val="46C7D8"/>
            </a:solidFill>
            <a:prstDash val="solid"/>
          </a:ln>
        </p:spPr>
      </p:sp>
      <p:sp>
        <p:nvSpPr>
          <p:cNvPr id="18" name="Text 16"/>
          <p:cNvSpPr txBox="1"/>
          <p:nvPr/>
        </p:nvSpPr>
        <p:spPr>
          <a:xfrm>
            <a:off x="6160130" y="1493215"/>
            <a:ext cx="252374" cy="100950"/>
          </a:xfrm>
          <a:prstGeom prst="rect">
            <a:avLst/>
          </a:prstGeom>
          <a:noFill/>
          <a:ln/>
        </p:spPr>
        <p:txBody>
          <a:bodyPr wrap="square" lIns="0" tIns="0" rIns="0" bIns="0" rtlCol="0" anchor="t"/>
          <a:lstStyle/>
          <a:p>
            <a:pPr indent="0" marL="0">
              <a:buNone/>
            </a:pPr>
            <a:r>
              <a:rPr lang="en-US" sz="600" dirty="0">
                <a:solidFill>
                  <a:schemeClr val="bg2"/>
                </a:solidFill>
              </a:rPr>
              <a:t>14</a:t>
            </a:r>
            <a:endParaRPr lang="en-US" sz="600" dirty="0"/>
          </a:p>
        </p:txBody>
      </p:sp>
      <p:sp>
        <p:nvSpPr>
          <p:cNvPr id="19" name="Text 17"/>
          <p:cNvSpPr txBox="1"/>
          <p:nvPr/>
        </p:nvSpPr>
        <p:spPr>
          <a:xfrm>
            <a:off x="6126480" y="1539484"/>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Si</a:t>
            </a:r>
            <a:endParaRPr lang="en-US" sz="1500" dirty="0"/>
          </a:p>
        </p:txBody>
      </p:sp>
      <p:sp>
        <p:nvSpPr>
          <p:cNvPr id="20" name="Round 2"/>
          <p:cNvSpPr/>
          <p:nvPr/>
        </p:nvSpPr>
        <p:spPr>
          <a:xfrm>
            <a:off x="457200" y="2039112"/>
            <a:ext cx="8229600" cy="530352"/>
          </a:xfrm>
          <a:prstGeom prst="roundRect">
            <a:avLst>
              <a:gd name="adj" fmla="val 17241"/>
            </a:avLst>
          </a:prstGeom>
          <a:solidFill>
            <a:schemeClr val="tx2"/>
          </a:solidFill>
          <a:ln w="9525">
            <a:solidFill>
              <a:schemeClr val="bg2">
                <a:alpha val="30000"/>
              </a:schemeClr>
            </a:solidFill>
            <a:prstDash val="solid"/>
          </a:ln>
        </p:spPr>
      </p:sp>
      <p:sp>
        <p:nvSpPr>
          <p:cNvPr id="21" name="Text 19"/>
          <p:cNvSpPr txBox="1"/>
          <p:nvPr/>
        </p:nvSpPr>
        <p:spPr>
          <a:xfrm>
            <a:off x="594360" y="2039112"/>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2. </a:t>
            </a:r>
            <a:pPr indent="0" marL="0">
              <a:buNone/>
            </a:pPr>
            <a:r>
              <a:rPr lang="en-US" sz="1300" b="1" dirty="0">
                <a:solidFill>
                  <a:schemeClr val="accent1"/>
                </a:solidFill>
              </a:rPr>
              <a:t>atomic radius, </a:t>
            </a:r>
            <a:pPr indent="0" marL="0">
              <a:buNone/>
            </a:pPr>
            <a:r>
              <a:rPr lang="en-US" sz="1300" dirty="0">
                <a:solidFill>
                  <a:schemeClr val="bg1"/>
                </a:solidFill>
              </a:rPr>
              <a:t>smallest → largest</a:t>
            </a:r>
            <a:endParaRPr lang="en-US" sz="1300" dirty="0"/>
          </a:p>
        </p:txBody>
      </p:sp>
      <p:sp>
        <p:nvSpPr>
          <p:cNvPr id="22" name="Tile K"/>
          <p:cNvSpPr/>
          <p:nvPr/>
        </p:nvSpPr>
        <p:spPr>
          <a:xfrm>
            <a:off x="3749040" y="2093976"/>
            <a:ext cx="420624" cy="420624"/>
          </a:xfrm>
          <a:prstGeom prst="roundRect">
            <a:avLst>
              <a:gd name="adj" fmla="val 12000"/>
            </a:avLst>
          </a:prstGeom>
          <a:solidFill>
            <a:srgbClr val="FF8F5E">
              <a:alpha val="30000"/>
            </a:srgbClr>
          </a:solidFill>
          <a:ln w="19050">
            <a:solidFill>
              <a:srgbClr val="FF8F5E"/>
            </a:solidFill>
            <a:prstDash val="solid"/>
          </a:ln>
        </p:spPr>
      </p:sp>
      <p:sp>
        <p:nvSpPr>
          <p:cNvPr id="23" name="Text 21"/>
          <p:cNvSpPr txBox="1"/>
          <p:nvPr/>
        </p:nvSpPr>
        <p:spPr>
          <a:xfrm>
            <a:off x="3782690" y="2115007"/>
            <a:ext cx="252374" cy="100950"/>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24" name="Text 22"/>
          <p:cNvSpPr txBox="1"/>
          <p:nvPr/>
        </p:nvSpPr>
        <p:spPr>
          <a:xfrm>
            <a:off x="3749040" y="2161276"/>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K</a:t>
            </a:r>
            <a:endParaRPr lang="en-US" sz="1500" dirty="0"/>
          </a:p>
        </p:txBody>
      </p:sp>
      <p:sp>
        <p:nvSpPr>
          <p:cNvPr id="25" name="Tile H"/>
          <p:cNvSpPr/>
          <p:nvPr/>
        </p:nvSpPr>
        <p:spPr>
          <a:xfrm>
            <a:off x="4937760" y="2093976"/>
            <a:ext cx="420624" cy="420624"/>
          </a:xfrm>
          <a:prstGeom prst="roundRect">
            <a:avLst>
              <a:gd name="adj" fmla="val 12000"/>
            </a:avLst>
          </a:prstGeom>
          <a:solidFill>
            <a:srgbClr val="45C08F">
              <a:alpha val="30000"/>
            </a:srgbClr>
          </a:solidFill>
          <a:ln w="19050">
            <a:solidFill>
              <a:srgbClr val="45C08F"/>
            </a:solidFill>
            <a:prstDash val="solid"/>
          </a:ln>
        </p:spPr>
      </p:sp>
      <p:sp>
        <p:nvSpPr>
          <p:cNvPr id="26" name="Text 24"/>
          <p:cNvSpPr txBox="1"/>
          <p:nvPr/>
        </p:nvSpPr>
        <p:spPr>
          <a:xfrm>
            <a:off x="4971410" y="2115007"/>
            <a:ext cx="252374" cy="100950"/>
          </a:xfrm>
          <a:prstGeom prst="rect">
            <a:avLst/>
          </a:prstGeom>
          <a:noFill/>
          <a:ln/>
        </p:spPr>
        <p:txBody>
          <a:bodyPr wrap="square" lIns="0" tIns="0" rIns="0" bIns="0" rtlCol="0" anchor="t"/>
          <a:lstStyle/>
          <a:p>
            <a:pPr indent="0" marL="0">
              <a:buNone/>
            </a:pPr>
            <a:r>
              <a:rPr lang="en-US" sz="600" dirty="0">
                <a:solidFill>
                  <a:schemeClr val="bg2"/>
                </a:solidFill>
              </a:rPr>
              <a:t>1</a:t>
            </a:r>
            <a:endParaRPr lang="en-US" sz="600" dirty="0"/>
          </a:p>
        </p:txBody>
      </p:sp>
      <p:sp>
        <p:nvSpPr>
          <p:cNvPr id="27" name="Text 25"/>
          <p:cNvSpPr txBox="1"/>
          <p:nvPr/>
        </p:nvSpPr>
        <p:spPr>
          <a:xfrm>
            <a:off x="4937760" y="2161276"/>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H</a:t>
            </a:r>
            <a:endParaRPr lang="en-US" sz="1500" dirty="0"/>
          </a:p>
        </p:txBody>
      </p:sp>
      <p:sp>
        <p:nvSpPr>
          <p:cNvPr id="28" name="Tile Na"/>
          <p:cNvSpPr/>
          <p:nvPr/>
        </p:nvSpPr>
        <p:spPr>
          <a:xfrm>
            <a:off x="6126480" y="2093976"/>
            <a:ext cx="420624" cy="420624"/>
          </a:xfrm>
          <a:prstGeom prst="roundRect">
            <a:avLst>
              <a:gd name="adj" fmla="val 12000"/>
            </a:avLst>
          </a:prstGeom>
          <a:solidFill>
            <a:srgbClr val="FF8F5E">
              <a:alpha val="30000"/>
            </a:srgbClr>
          </a:solidFill>
          <a:ln w="19050">
            <a:solidFill>
              <a:srgbClr val="FF8F5E"/>
            </a:solidFill>
            <a:prstDash val="solid"/>
          </a:ln>
        </p:spPr>
      </p:sp>
      <p:sp>
        <p:nvSpPr>
          <p:cNvPr id="29" name="Text 27"/>
          <p:cNvSpPr txBox="1"/>
          <p:nvPr/>
        </p:nvSpPr>
        <p:spPr>
          <a:xfrm>
            <a:off x="6160130" y="2115007"/>
            <a:ext cx="252374" cy="100950"/>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30" name="Text 28"/>
          <p:cNvSpPr txBox="1"/>
          <p:nvPr/>
        </p:nvSpPr>
        <p:spPr>
          <a:xfrm>
            <a:off x="6126480" y="2161276"/>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a:t>
            </a:r>
            <a:endParaRPr lang="en-US" sz="1500" dirty="0"/>
          </a:p>
        </p:txBody>
      </p:sp>
      <p:sp>
        <p:nvSpPr>
          <p:cNvPr id="31" name="Round 3"/>
          <p:cNvSpPr/>
          <p:nvPr/>
        </p:nvSpPr>
        <p:spPr>
          <a:xfrm>
            <a:off x="457200" y="2660904"/>
            <a:ext cx="8229600" cy="530352"/>
          </a:xfrm>
          <a:prstGeom prst="roundRect">
            <a:avLst>
              <a:gd name="adj" fmla="val 17241"/>
            </a:avLst>
          </a:prstGeom>
          <a:solidFill>
            <a:schemeClr val="tx2"/>
          </a:solidFill>
          <a:ln w="9525">
            <a:solidFill>
              <a:schemeClr val="bg2">
                <a:alpha val="30000"/>
              </a:schemeClr>
            </a:solidFill>
            <a:prstDash val="solid"/>
          </a:ln>
        </p:spPr>
      </p:sp>
      <p:sp>
        <p:nvSpPr>
          <p:cNvPr id="32" name="Text 30"/>
          <p:cNvSpPr txBox="1"/>
          <p:nvPr/>
        </p:nvSpPr>
        <p:spPr>
          <a:xfrm>
            <a:off x="594360" y="2660904"/>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3. </a:t>
            </a:r>
            <a:pPr indent="0" marL="0">
              <a:buNone/>
            </a:pPr>
            <a:r>
              <a:rPr lang="en-US" sz="1300" b="1" dirty="0">
                <a:solidFill>
                  <a:schemeClr val="accent1"/>
                </a:solidFill>
              </a:rPr>
              <a:t>atomic radius, </a:t>
            </a:r>
            <a:pPr indent="0" marL="0">
              <a:buNone/>
            </a:pPr>
            <a:r>
              <a:rPr lang="en-US" sz="1300" dirty="0">
                <a:solidFill>
                  <a:schemeClr val="bg1"/>
                </a:solidFill>
              </a:rPr>
              <a:t>largest → smallest</a:t>
            </a:r>
            <a:endParaRPr lang="en-US" sz="1300" dirty="0"/>
          </a:p>
        </p:txBody>
      </p:sp>
      <p:sp>
        <p:nvSpPr>
          <p:cNvPr id="33" name="Tile O"/>
          <p:cNvSpPr/>
          <p:nvPr/>
        </p:nvSpPr>
        <p:spPr>
          <a:xfrm>
            <a:off x="3749040" y="2715768"/>
            <a:ext cx="420624" cy="420624"/>
          </a:xfrm>
          <a:prstGeom prst="roundRect">
            <a:avLst>
              <a:gd name="adj" fmla="val 12000"/>
            </a:avLst>
          </a:prstGeom>
          <a:solidFill>
            <a:srgbClr val="45C08F">
              <a:alpha val="30000"/>
            </a:srgbClr>
          </a:solidFill>
          <a:ln w="19050">
            <a:solidFill>
              <a:srgbClr val="45C08F"/>
            </a:solidFill>
            <a:prstDash val="solid"/>
          </a:ln>
        </p:spPr>
      </p:sp>
      <p:sp>
        <p:nvSpPr>
          <p:cNvPr id="34" name="Text 32"/>
          <p:cNvSpPr txBox="1"/>
          <p:nvPr/>
        </p:nvSpPr>
        <p:spPr>
          <a:xfrm>
            <a:off x="3782690" y="2736799"/>
            <a:ext cx="252374" cy="100950"/>
          </a:xfrm>
          <a:prstGeom prst="rect">
            <a:avLst/>
          </a:prstGeom>
          <a:noFill/>
          <a:ln/>
        </p:spPr>
        <p:txBody>
          <a:bodyPr wrap="square" lIns="0" tIns="0" rIns="0" bIns="0" rtlCol="0" anchor="t"/>
          <a:lstStyle/>
          <a:p>
            <a:pPr indent="0" marL="0">
              <a:buNone/>
            </a:pPr>
            <a:r>
              <a:rPr lang="en-US" sz="600" dirty="0">
                <a:solidFill>
                  <a:schemeClr val="bg2"/>
                </a:solidFill>
              </a:rPr>
              <a:t>8</a:t>
            </a:r>
            <a:endParaRPr lang="en-US" sz="600" dirty="0"/>
          </a:p>
        </p:txBody>
      </p:sp>
      <p:sp>
        <p:nvSpPr>
          <p:cNvPr id="35" name="Text 33"/>
          <p:cNvSpPr txBox="1"/>
          <p:nvPr/>
        </p:nvSpPr>
        <p:spPr>
          <a:xfrm>
            <a:off x="3749040" y="2783068"/>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O</a:t>
            </a:r>
            <a:endParaRPr lang="en-US" sz="1500" dirty="0"/>
          </a:p>
        </p:txBody>
      </p:sp>
      <p:sp>
        <p:nvSpPr>
          <p:cNvPr id="36" name="Tile Li"/>
          <p:cNvSpPr/>
          <p:nvPr/>
        </p:nvSpPr>
        <p:spPr>
          <a:xfrm>
            <a:off x="4937760" y="2715768"/>
            <a:ext cx="420624" cy="420624"/>
          </a:xfrm>
          <a:prstGeom prst="roundRect">
            <a:avLst>
              <a:gd name="adj" fmla="val 12000"/>
            </a:avLst>
          </a:prstGeom>
          <a:solidFill>
            <a:srgbClr val="FF8F5E">
              <a:alpha val="30000"/>
            </a:srgbClr>
          </a:solidFill>
          <a:ln w="19050">
            <a:solidFill>
              <a:srgbClr val="FF8F5E"/>
            </a:solidFill>
            <a:prstDash val="solid"/>
          </a:ln>
        </p:spPr>
      </p:sp>
      <p:sp>
        <p:nvSpPr>
          <p:cNvPr id="37" name="Text 35"/>
          <p:cNvSpPr txBox="1"/>
          <p:nvPr/>
        </p:nvSpPr>
        <p:spPr>
          <a:xfrm>
            <a:off x="4971410" y="2736799"/>
            <a:ext cx="252374" cy="100950"/>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38" name="Text 36"/>
          <p:cNvSpPr txBox="1"/>
          <p:nvPr/>
        </p:nvSpPr>
        <p:spPr>
          <a:xfrm>
            <a:off x="4937760" y="2783068"/>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Li</a:t>
            </a:r>
            <a:endParaRPr lang="en-US" sz="1500" dirty="0"/>
          </a:p>
        </p:txBody>
      </p:sp>
      <p:sp>
        <p:nvSpPr>
          <p:cNvPr id="39" name="Tile B"/>
          <p:cNvSpPr/>
          <p:nvPr/>
        </p:nvSpPr>
        <p:spPr>
          <a:xfrm>
            <a:off x="6126480" y="2715768"/>
            <a:ext cx="420624" cy="420624"/>
          </a:xfrm>
          <a:prstGeom prst="roundRect">
            <a:avLst>
              <a:gd name="adj" fmla="val 12000"/>
            </a:avLst>
          </a:prstGeom>
          <a:solidFill>
            <a:srgbClr val="46C7D8">
              <a:alpha val="30000"/>
            </a:srgbClr>
          </a:solidFill>
          <a:ln w="19050">
            <a:solidFill>
              <a:srgbClr val="46C7D8"/>
            </a:solidFill>
            <a:prstDash val="solid"/>
          </a:ln>
        </p:spPr>
      </p:sp>
      <p:sp>
        <p:nvSpPr>
          <p:cNvPr id="40" name="Text 38"/>
          <p:cNvSpPr txBox="1"/>
          <p:nvPr/>
        </p:nvSpPr>
        <p:spPr>
          <a:xfrm>
            <a:off x="6160130" y="2736799"/>
            <a:ext cx="252374" cy="100950"/>
          </a:xfrm>
          <a:prstGeom prst="rect">
            <a:avLst/>
          </a:prstGeom>
          <a:noFill/>
          <a:ln/>
        </p:spPr>
        <p:txBody>
          <a:bodyPr wrap="square" lIns="0" tIns="0" rIns="0" bIns="0" rtlCol="0" anchor="t"/>
          <a:lstStyle/>
          <a:p>
            <a:pPr indent="0" marL="0">
              <a:buNone/>
            </a:pPr>
            <a:r>
              <a:rPr lang="en-US" sz="600" dirty="0">
                <a:solidFill>
                  <a:schemeClr val="bg2"/>
                </a:solidFill>
              </a:rPr>
              <a:t>5</a:t>
            </a:r>
            <a:endParaRPr lang="en-US" sz="600" dirty="0"/>
          </a:p>
        </p:txBody>
      </p:sp>
      <p:sp>
        <p:nvSpPr>
          <p:cNvPr id="41" name="Text 39"/>
          <p:cNvSpPr txBox="1"/>
          <p:nvPr/>
        </p:nvSpPr>
        <p:spPr>
          <a:xfrm>
            <a:off x="6126480" y="2783068"/>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42" name="Round 4"/>
          <p:cNvSpPr/>
          <p:nvPr/>
        </p:nvSpPr>
        <p:spPr>
          <a:xfrm>
            <a:off x="457200" y="3282696"/>
            <a:ext cx="8229600" cy="530352"/>
          </a:xfrm>
          <a:prstGeom prst="roundRect">
            <a:avLst>
              <a:gd name="adj" fmla="val 17241"/>
            </a:avLst>
          </a:prstGeom>
          <a:solidFill>
            <a:schemeClr val="tx2"/>
          </a:solidFill>
          <a:ln w="9525">
            <a:solidFill>
              <a:schemeClr val="bg2">
                <a:alpha val="30000"/>
              </a:schemeClr>
            </a:solidFill>
            <a:prstDash val="solid"/>
          </a:ln>
        </p:spPr>
      </p:sp>
      <p:sp>
        <p:nvSpPr>
          <p:cNvPr id="43" name="Text 41"/>
          <p:cNvSpPr txBox="1"/>
          <p:nvPr/>
        </p:nvSpPr>
        <p:spPr>
          <a:xfrm>
            <a:off x="594360" y="3282696"/>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4. </a:t>
            </a:r>
            <a:pPr indent="0" marL="0">
              <a:buNone/>
            </a:pPr>
            <a:r>
              <a:rPr lang="en-US" sz="1300" b="1" dirty="0">
                <a:solidFill>
                  <a:schemeClr val="accent1"/>
                </a:solidFill>
              </a:rPr>
              <a:t>atomic radius, </a:t>
            </a:r>
            <a:pPr indent="0" marL="0">
              <a:buNone/>
            </a:pPr>
            <a:r>
              <a:rPr lang="en-US" sz="1300" dirty="0">
                <a:solidFill>
                  <a:schemeClr val="bg1"/>
                </a:solidFill>
              </a:rPr>
              <a:t>largest → smallest</a:t>
            </a:r>
            <a:endParaRPr lang="en-US" sz="1300" dirty="0"/>
          </a:p>
        </p:txBody>
      </p:sp>
      <p:sp>
        <p:nvSpPr>
          <p:cNvPr id="44" name="Tile Br"/>
          <p:cNvSpPr/>
          <p:nvPr/>
        </p:nvSpPr>
        <p:spPr>
          <a:xfrm>
            <a:off x="3749040" y="3337560"/>
            <a:ext cx="420624" cy="420624"/>
          </a:xfrm>
          <a:prstGeom prst="roundRect">
            <a:avLst>
              <a:gd name="adj" fmla="val 12000"/>
            </a:avLst>
          </a:prstGeom>
          <a:solidFill>
            <a:srgbClr val="F477B8">
              <a:alpha val="30000"/>
            </a:srgbClr>
          </a:solidFill>
          <a:ln w="19050">
            <a:solidFill>
              <a:srgbClr val="F477B8"/>
            </a:solidFill>
            <a:prstDash val="solid"/>
          </a:ln>
        </p:spPr>
      </p:sp>
      <p:sp>
        <p:nvSpPr>
          <p:cNvPr id="45" name="Text 43"/>
          <p:cNvSpPr txBox="1"/>
          <p:nvPr/>
        </p:nvSpPr>
        <p:spPr>
          <a:xfrm>
            <a:off x="378269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35</a:t>
            </a:r>
            <a:endParaRPr lang="en-US" sz="600" dirty="0"/>
          </a:p>
        </p:txBody>
      </p:sp>
      <p:sp>
        <p:nvSpPr>
          <p:cNvPr id="46" name="Text 44"/>
          <p:cNvSpPr txBox="1"/>
          <p:nvPr/>
        </p:nvSpPr>
        <p:spPr>
          <a:xfrm>
            <a:off x="374904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Br</a:t>
            </a:r>
            <a:endParaRPr lang="en-US" sz="1500" dirty="0"/>
          </a:p>
        </p:txBody>
      </p:sp>
      <p:sp>
        <p:nvSpPr>
          <p:cNvPr id="47" name="Tile F"/>
          <p:cNvSpPr/>
          <p:nvPr/>
        </p:nvSpPr>
        <p:spPr>
          <a:xfrm>
            <a:off x="4937760" y="3337560"/>
            <a:ext cx="420624" cy="420624"/>
          </a:xfrm>
          <a:prstGeom prst="roundRect">
            <a:avLst>
              <a:gd name="adj" fmla="val 12000"/>
            </a:avLst>
          </a:prstGeom>
          <a:solidFill>
            <a:srgbClr val="F477B8">
              <a:alpha val="30000"/>
            </a:srgbClr>
          </a:solidFill>
          <a:ln w="19050">
            <a:solidFill>
              <a:srgbClr val="F477B8"/>
            </a:solidFill>
            <a:prstDash val="solid"/>
          </a:ln>
        </p:spPr>
      </p:sp>
      <p:sp>
        <p:nvSpPr>
          <p:cNvPr id="48" name="Text 46"/>
          <p:cNvSpPr txBox="1"/>
          <p:nvPr/>
        </p:nvSpPr>
        <p:spPr>
          <a:xfrm>
            <a:off x="497141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9</a:t>
            </a:r>
            <a:endParaRPr lang="en-US" sz="600" dirty="0"/>
          </a:p>
        </p:txBody>
      </p:sp>
      <p:sp>
        <p:nvSpPr>
          <p:cNvPr id="49" name="Text 47"/>
          <p:cNvSpPr txBox="1"/>
          <p:nvPr/>
        </p:nvSpPr>
        <p:spPr>
          <a:xfrm>
            <a:off x="493776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50" name="Tile Cl"/>
          <p:cNvSpPr/>
          <p:nvPr/>
        </p:nvSpPr>
        <p:spPr>
          <a:xfrm>
            <a:off x="6126480" y="3337560"/>
            <a:ext cx="420624" cy="420624"/>
          </a:xfrm>
          <a:prstGeom prst="roundRect">
            <a:avLst>
              <a:gd name="adj" fmla="val 12000"/>
            </a:avLst>
          </a:prstGeom>
          <a:solidFill>
            <a:srgbClr val="F477B8">
              <a:alpha val="30000"/>
            </a:srgbClr>
          </a:solidFill>
          <a:ln w="19050">
            <a:solidFill>
              <a:srgbClr val="F477B8"/>
            </a:solidFill>
            <a:prstDash val="solid"/>
          </a:ln>
        </p:spPr>
      </p:sp>
      <p:sp>
        <p:nvSpPr>
          <p:cNvPr id="51" name="Text 49"/>
          <p:cNvSpPr txBox="1"/>
          <p:nvPr/>
        </p:nvSpPr>
        <p:spPr>
          <a:xfrm>
            <a:off x="616013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52" name="Text 50"/>
          <p:cNvSpPr txBox="1"/>
          <p:nvPr/>
        </p:nvSpPr>
        <p:spPr>
          <a:xfrm>
            <a:off x="612648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Cl</a:t>
            </a:r>
            <a:endParaRPr lang="en-US" sz="1500" dirty="0"/>
          </a:p>
        </p:txBody>
      </p:sp>
      <p:sp>
        <p:nvSpPr>
          <p:cNvPr id="53" name="Round 5"/>
          <p:cNvSpPr/>
          <p:nvPr/>
        </p:nvSpPr>
        <p:spPr>
          <a:xfrm>
            <a:off x="457200" y="3904488"/>
            <a:ext cx="8229600" cy="530352"/>
          </a:xfrm>
          <a:prstGeom prst="roundRect">
            <a:avLst>
              <a:gd name="adj" fmla="val 17241"/>
            </a:avLst>
          </a:prstGeom>
          <a:solidFill>
            <a:schemeClr val="tx2"/>
          </a:solidFill>
          <a:ln w="9525">
            <a:solidFill>
              <a:schemeClr val="bg2">
                <a:alpha val="30000"/>
              </a:schemeClr>
            </a:solidFill>
            <a:prstDash val="solid"/>
          </a:ln>
        </p:spPr>
      </p:sp>
      <p:sp>
        <p:nvSpPr>
          <p:cNvPr id="54" name="Text 52"/>
          <p:cNvSpPr txBox="1"/>
          <p:nvPr/>
        </p:nvSpPr>
        <p:spPr>
          <a:xfrm>
            <a:off x="594360" y="3904488"/>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5. </a:t>
            </a:r>
            <a:pPr indent="0" marL="0">
              <a:buNone/>
            </a:pPr>
            <a:r>
              <a:rPr lang="en-US" sz="1300" b="1" dirty="0">
                <a:solidFill>
                  <a:schemeClr val="accent1"/>
                </a:solidFill>
              </a:rPr>
              <a:t>atomic radius, </a:t>
            </a:r>
            <a:pPr indent="0" marL="0">
              <a:buNone/>
            </a:pPr>
            <a:r>
              <a:rPr lang="en-US" sz="1300" dirty="0">
                <a:solidFill>
                  <a:schemeClr val="bg1"/>
                </a:solidFill>
              </a:rPr>
              <a:t>smallest → largest</a:t>
            </a:r>
            <a:endParaRPr lang="en-US" sz="1300" dirty="0"/>
          </a:p>
        </p:txBody>
      </p:sp>
      <p:sp>
        <p:nvSpPr>
          <p:cNvPr id="55" name="Tile K"/>
          <p:cNvSpPr/>
          <p:nvPr/>
        </p:nvSpPr>
        <p:spPr>
          <a:xfrm>
            <a:off x="3749040" y="3959352"/>
            <a:ext cx="420624" cy="420624"/>
          </a:xfrm>
          <a:prstGeom prst="roundRect">
            <a:avLst>
              <a:gd name="adj" fmla="val 12000"/>
            </a:avLst>
          </a:prstGeom>
          <a:solidFill>
            <a:srgbClr val="FF8F5E">
              <a:alpha val="30000"/>
            </a:srgbClr>
          </a:solidFill>
          <a:ln w="19050">
            <a:solidFill>
              <a:srgbClr val="FF8F5E"/>
            </a:solidFill>
            <a:prstDash val="solid"/>
          </a:ln>
        </p:spPr>
      </p:sp>
      <p:sp>
        <p:nvSpPr>
          <p:cNvPr id="56" name="Text 54"/>
          <p:cNvSpPr txBox="1"/>
          <p:nvPr/>
        </p:nvSpPr>
        <p:spPr>
          <a:xfrm>
            <a:off x="378269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57" name="Text 55"/>
          <p:cNvSpPr txBox="1"/>
          <p:nvPr/>
        </p:nvSpPr>
        <p:spPr>
          <a:xfrm>
            <a:off x="374904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K</a:t>
            </a:r>
            <a:endParaRPr lang="en-US" sz="1500" dirty="0"/>
          </a:p>
        </p:txBody>
      </p:sp>
      <p:sp>
        <p:nvSpPr>
          <p:cNvPr id="58" name="Tile Mg"/>
          <p:cNvSpPr/>
          <p:nvPr/>
        </p:nvSpPr>
        <p:spPr>
          <a:xfrm>
            <a:off x="4937760" y="3959352"/>
            <a:ext cx="420624" cy="420624"/>
          </a:xfrm>
          <a:prstGeom prst="roundRect">
            <a:avLst>
              <a:gd name="adj" fmla="val 12000"/>
            </a:avLst>
          </a:prstGeom>
          <a:solidFill>
            <a:srgbClr val="FFCB5C">
              <a:alpha val="30000"/>
            </a:srgbClr>
          </a:solidFill>
          <a:ln w="19050">
            <a:solidFill>
              <a:srgbClr val="FFCB5C"/>
            </a:solidFill>
            <a:prstDash val="solid"/>
          </a:ln>
        </p:spPr>
      </p:sp>
      <p:sp>
        <p:nvSpPr>
          <p:cNvPr id="59" name="Text 57"/>
          <p:cNvSpPr txBox="1"/>
          <p:nvPr/>
        </p:nvSpPr>
        <p:spPr>
          <a:xfrm>
            <a:off x="497141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12</a:t>
            </a:r>
            <a:endParaRPr lang="en-US" sz="600" dirty="0"/>
          </a:p>
        </p:txBody>
      </p:sp>
      <p:sp>
        <p:nvSpPr>
          <p:cNvPr id="60" name="Text 58"/>
          <p:cNvSpPr txBox="1"/>
          <p:nvPr/>
        </p:nvSpPr>
        <p:spPr>
          <a:xfrm>
            <a:off x="493776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Mg</a:t>
            </a:r>
            <a:endParaRPr lang="en-US" sz="1500" dirty="0"/>
          </a:p>
        </p:txBody>
      </p:sp>
      <p:sp>
        <p:nvSpPr>
          <p:cNvPr id="61" name="Tile C"/>
          <p:cNvSpPr/>
          <p:nvPr/>
        </p:nvSpPr>
        <p:spPr>
          <a:xfrm>
            <a:off x="6126480" y="3959352"/>
            <a:ext cx="420624" cy="420624"/>
          </a:xfrm>
          <a:prstGeom prst="roundRect">
            <a:avLst>
              <a:gd name="adj" fmla="val 12000"/>
            </a:avLst>
          </a:prstGeom>
          <a:solidFill>
            <a:srgbClr val="45C08F">
              <a:alpha val="30000"/>
            </a:srgbClr>
          </a:solidFill>
          <a:ln w="19050">
            <a:solidFill>
              <a:srgbClr val="45C08F"/>
            </a:solidFill>
            <a:prstDash val="solid"/>
          </a:ln>
        </p:spPr>
      </p:sp>
      <p:sp>
        <p:nvSpPr>
          <p:cNvPr id="62" name="Text 60"/>
          <p:cNvSpPr txBox="1"/>
          <p:nvPr/>
        </p:nvSpPr>
        <p:spPr>
          <a:xfrm>
            <a:off x="616013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6</a:t>
            </a:r>
            <a:endParaRPr lang="en-US" sz="600" dirty="0"/>
          </a:p>
        </p:txBody>
      </p:sp>
      <p:sp>
        <p:nvSpPr>
          <p:cNvPr id="63" name="Text 61"/>
          <p:cNvSpPr txBox="1"/>
          <p:nvPr/>
        </p:nvSpPr>
        <p:spPr>
          <a:xfrm>
            <a:off x="612648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a"/>
          <p:cNvSpPr/>
          <p:nvPr/>
        </p:nvSpPr>
        <p:spPr>
          <a:xfrm>
            <a:off x="575295" y="516042"/>
            <a:ext cx="513618" cy="51361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Na</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Rank by size</a:t>
            </a:r>
            <a:endParaRPr lang="en-US" sz="2800" dirty="0"/>
          </a:p>
        </p:txBody>
      </p:sp>
      <p:sp>
        <p:nvSpPr>
          <p:cNvPr id="10" name="Round 1"/>
          <p:cNvSpPr/>
          <p:nvPr/>
        </p:nvSpPr>
        <p:spPr>
          <a:xfrm>
            <a:off x="457200" y="1417320"/>
            <a:ext cx="8229600" cy="530352"/>
          </a:xfrm>
          <a:prstGeom prst="roundRect">
            <a:avLst>
              <a:gd name="adj" fmla="val 17241"/>
            </a:avLst>
          </a:prstGeom>
          <a:solidFill>
            <a:schemeClr val="tx2"/>
          </a:solidFill>
          <a:ln w="9525">
            <a:solidFill>
              <a:schemeClr val="bg2">
                <a:alpha val="30000"/>
              </a:schemeClr>
            </a:solidFill>
            <a:prstDash val="solid"/>
          </a:ln>
        </p:spPr>
      </p:sp>
      <p:sp>
        <p:nvSpPr>
          <p:cNvPr id="11" name="Text 9"/>
          <p:cNvSpPr txBox="1"/>
          <p:nvPr/>
        </p:nvSpPr>
        <p:spPr>
          <a:xfrm>
            <a:off x="594360" y="1417320"/>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1. </a:t>
            </a:r>
            <a:pPr indent="0" marL="0">
              <a:buNone/>
            </a:pPr>
            <a:r>
              <a:rPr lang="en-US" sz="1300" b="1" dirty="0">
                <a:solidFill>
                  <a:schemeClr val="accent1"/>
                </a:solidFill>
              </a:rPr>
              <a:t>atomic radius, </a:t>
            </a:r>
            <a:pPr indent="0" marL="0">
              <a:buNone/>
            </a:pPr>
            <a:r>
              <a:rPr lang="en-US" sz="1300" dirty="0">
                <a:solidFill>
                  <a:schemeClr val="bg1"/>
                </a:solidFill>
              </a:rPr>
              <a:t>smallest → largest</a:t>
            </a:r>
            <a:endParaRPr lang="en-US" sz="1300" dirty="0"/>
          </a:p>
        </p:txBody>
      </p:sp>
      <p:sp>
        <p:nvSpPr>
          <p:cNvPr id="12" name="Tile Cl"/>
          <p:cNvSpPr/>
          <p:nvPr/>
        </p:nvSpPr>
        <p:spPr>
          <a:xfrm>
            <a:off x="3749040" y="1472184"/>
            <a:ext cx="420624" cy="420624"/>
          </a:xfrm>
          <a:prstGeom prst="roundRect">
            <a:avLst>
              <a:gd name="adj" fmla="val 12000"/>
            </a:avLst>
          </a:prstGeom>
          <a:solidFill>
            <a:srgbClr val="F477B8">
              <a:alpha val="30000"/>
            </a:srgbClr>
          </a:solidFill>
          <a:ln w="19050">
            <a:solidFill>
              <a:srgbClr val="F477B8"/>
            </a:solidFill>
            <a:prstDash val="solid"/>
          </a:ln>
        </p:spPr>
      </p:sp>
      <p:sp>
        <p:nvSpPr>
          <p:cNvPr id="13" name="Text 11"/>
          <p:cNvSpPr txBox="1"/>
          <p:nvPr/>
        </p:nvSpPr>
        <p:spPr>
          <a:xfrm>
            <a:off x="3782690" y="1493215"/>
            <a:ext cx="252374" cy="100950"/>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14" name="Text 12"/>
          <p:cNvSpPr txBox="1"/>
          <p:nvPr/>
        </p:nvSpPr>
        <p:spPr>
          <a:xfrm>
            <a:off x="3749040" y="1539484"/>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Cl</a:t>
            </a:r>
            <a:endParaRPr lang="en-US" sz="1500" dirty="0"/>
          </a:p>
        </p:txBody>
      </p:sp>
      <p:sp>
        <p:nvSpPr>
          <p:cNvPr id="15" name="Text 13"/>
          <p:cNvSpPr txBox="1"/>
          <p:nvPr/>
        </p:nvSpPr>
        <p:spPr>
          <a:xfrm>
            <a:off x="4206240" y="1472184"/>
            <a:ext cx="502920" cy="420624"/>
          </a:xfrm>
          <a:prstGeom prst="rect">
            <a:avLst/>
          </a:prstGeom>
          <a:noFill/>
          <a:ln/>
        </p:spPr>
        <p:txBody>
          <a:bodyPr wrap="square" lIns="0" tIns="0" rIns="0" bIns="0" rtlCol="0" anchor="ctr"/>
          <a:lstStyle/>
          <a:p>
            <a:pPr indent="0" marL="0">
              <a:buNone/>
            </a:pPr>
            <a:r>
              <a:rPr lang="en-US" sz="1000" dirty="0">
                <a:solidFill>
                  <a:schemeClr val="bg2"/>
                </a:solidFill>
              </a:rPr>
              <a:t>79</a:t>
            </a:r>
            <a:endParaRPr lang="en-US" sz="1000" dirty="0"/>
          </a:p>
        </p:txBody>
      </p:sp>
      <p:sp>
        <p:nvSpPr>
          <p:cNvPr id="16" name="Text 14"/>
          <p:cNvSpPr txBox="1"/>
          <p:nvPr/>
        </p:nvSpPr>
        <p:spPr>
          <a:xfrm>
            <a:off x="4690872" y="1472184"/>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17" name="Tile Si"/>
          <p:cNvSpPr/>
          <p:nvPr/>
        </p:nvSpPr>
        <p:spPr>
          <a:xfrm>
            <a:off x="4937760" y="1472184"/>
            <a:ext cx="420624" cy="420624"/>
          </a:xfrm>
          <a:prstGeom prst="roundRect">
            <a:avLst>
              <a:gd name="adj" fmla="val 12000"/>
            </a:avLst>
          </a:prstGeom>
          <a:solidFill>
            <a:srgbClr val="46C7D8">
              <a:alpha val="30000"/>
            </a:srgbClr>
          </a:solidFill>
          <a:ln w="19050">
            <a:solidFill>
              <a:srgbClr val="46C7D8"/>
            </a:solidFill>
            <a:prstDash val="solid"/>
          </a:ln>
        </p:spPr>
      </p:sp>
      <p:sp>
        <p:nvSpPr>
          <p:cNvPr id="18" name="Text 16"/>
          <p:cNvSpPr txBox="1"/>
          <p:nvPr/>
        </p:nvSpPr>
        <p:spPr>
          <a:xfrm>
            <a:off x="4971410" y="1493215"/>
            <a:ext cx="252374" cy="100950"/>
          </a:xfrm>
          <a:prstGeom prst="rect">
            <a:avLst/>
          </a:prstGeom>
          <a:noFill/>
          <a:ln/>
        </p:spPr>
        <p:txBody>
          <a:bodyPr wrap="square" lIns="0" tIns="0" rIns="0" bIns="0" rtlCol="0" anchor="t"/>
          <a:lstStyle/>
          <a:p>
            <a:pPr indent="0" marL="0">
              <a:buNone/>
            </a:pPr>
            <a:r>
              <a:rPr lang="en-US" sz="600" dirty="0">
                <a:solidFill>
                  <a:schemeClr val="bg2"/>
                </a:solidFill>
              </a:rPr>
              <a:t>14</a:t>
            </a:r>
            <a:endParaRPr lang="en-US" sz="600" dirty="0"/>
          </a:p>
        </p:txBody>
      </p:sp>
      <p:sp>
        <p:nvSpPr>
          <p:cNvPr id="19" name="Text 17"/>
          <p:cNvSpPr txBox="1"/>
          <p:nvPr/>
        </p:nvSpPr>
        <p:spPr>
          <a:xfrm>
            <a:off x="4937760" y="1539484"/>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Si</a:t>
            </a:r>
            <a:endParaRPr lang="en-US" sz="1500" dirty="0"/>
          </a:p>
        </p:txBody>
      </p:sp>
      <p:sp>
        <p:nvSpPr>
          <p:cNvPr id="20" name="Text 18"/>
          <p:cNvSpPr txBox="1"/>
          <p:nvPr/>
        </p:nvSpPr>
        <p:spPr>
          <a:xfrm>
            <a:off x="5394960" y="1472184"/>
            <a:ext cx="502920" cy="420624"/>
          </a:xfrm>
          <a:prstGeom prst="rect">
            <a:avLst/>
          </a:prstGeom>
          <a:noFill/>
          <a:ln/>
        </p:spPr>
        <p:txBody>
          <a:bodyPr wrap="square" lIns="0" tIns="0" rIns="0" bIns="0" rtlCol="0" anchor="ctr"/>
          <a:lstStyle/>
          <a:p>
            <a:pPr indent="0" marL="0">
              <a:buNone/>
            </a:pPr>
            <a:r>
              <a:rPr lang="en-US" sz="1000" dirty="0">
                <a:solidFill>
                  <a:schemeClr val="bg2"/>
                </a:solidFill>
              </a:rPr>
              <a:t>111</a:t>
            </a:r>
            <a:endParaRPr lang="en-US" sz="1000" dirty="0"/>
          </a:p>
        </p:txBody>
      </p:sp>
      <p:sp>
        <p:nvSpPr>
          <p:cNvPr id="21" name="Text 19"/>
          <p:cNvSpPr txBox="1"/>
          <p:nvPr/>
        </p:nvSpPr>
        <p:spPr>
          <a:xfrm>
            <a:off x="5879592" y="1472184"/>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22" name="Tile Na"/>
          <p:cNvSpPr/>
          <p:nvPr/>
        </p:nvSpPr>
        <p:spPr>
          <a:xfrm>
            <a:off x="6126480" y="1472184"/>
            <a:ext cx="420624" cy="420624"/>
          </a:xfrm>
          <a:prstGeom prst="roundRect">
            <a:avLst>
              <a:gd name="adj" fmla="val 12000"/>
            </a:avLst>
          </a:prstGeom>
          <a:solidFill>
            <a:srgbClr val="FF8F5E">
              <a:alpha val="30000"/>
            </a:srgbClr>
          </a:solidFill>
          <a:ln w="19050">
            <a:solidFill>
              <a:srgbClr val="FF8F5E"/>
            </a:solidFill>
            <a:prstDash val="solid"/>
          </a:ln>
        </p:spPr>
      </p:sp>
      <p:sp>
        <p:nvSpPr>
          <p:cNvPr id="23" name="Text 21"/>
          <p:cNvSpPr txBox="1"/>
          <p:nvPr/>
        </p:nvSpPr>
        <p:spPr>
          <a:xfrm>
            <a:off x="6160130" y="1493215"/>
            <a:ext cx="252374" cy="100950"/>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24" name="Text 22"/>
          <p:cNvSpPr txBox="1"/>
          <p:nvPr/>
        </p:nvSpPr>
        <p:spPr>
          <a:xfrm>
            <a:off x="6126480" y="1539484"/>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a:t>
            </a:r>
            <a:endParaRPr lang="en-US" sz="1500" dirty="0"/>
          </a:p>
        </p:txBody>
      </p:sp>
      <p:sp>
        <p:nvSpPr>
          <p:cNvPr id="25" name="Text 23"/>
          <p:cNvSpPr txBox="1"/>
          <p:nvPr/>
        </p:nvSpPr>
        <p:spPr>
          <a:xfrm>
            <a:off x="6583680" y="1472184"/>
            <a:ext cx="502920" cy="420624"/>
          </a:xfrm>
          <a:prstGeom prst="rect">
            <a:avLst/>
          </a:prstGeom>
          <a:noFill/>
          <a:ln/>
        </p:spPr>
        <p:txBody>
          <a:bodyPr wrap="square" lIns="0" tIns="0" rIns="0" bIns="0" rtlCol="0" anchor="ctr"/>
          <a:lstStyle/>
          <a:p>
            <a:pPr indent="0" marL="0">
              <a:buNone/>
            </a:pPr>
            <a:r>
              <a:rPr lang="en-US" sz="1000" dirty="0">
                <a:solidFill>
                  <a:schemeClr val="bg2"/>
                </a:solidFill>
              </a:rPr>
              <a:t>190</a:t>
            </a:r>
            <a:endParaRPr lang="en-US" sz="1000" dirty="0"/>
          </a:p>
        </p:txBody>
      </p:sp>
      <p:sp>
        <p:nvSpPr>
          <p:cNvPr id="26" name="Round 2"/>
          <p:cNvSpPr/>
          <p:nvPr/>
        </p:nvSpPr>
        <p:spPr>
          <a:xfrm>
            <a:off x="457200" y="2039112"/>
            <a:ext cx="8229600" cy="530352"/>
          </a:xfrm>
          <a:prstGeom prst="roundRect">
            <a:avLst>
              <a:gd name="adj" fmla="val 17241"/>
            </a:avLst>
          </a:prstGeom>
          <a:solidFill>
            <a:schemeClr val="tx2"/>
          </a:solidFill>
          <a:ln w="9525">
            <a:solidFill>
              <a:schemeClr val="bg2">
                <a:alpha val="30000"/>
              </a:schemeClr>
            </a:solidFill>
            <a:prstDash val="solid"/>
          </a:ln>
        </p:spPr>
      </p:sp>
      <p:sp>
        <p:nvSpPr>
          <p:cNvPr id="27" name="Text 25"/>
          <p:cNvSpPr txBox="1"/>
          <p:nvPr/>
        </p:nvSpPr>
        <p:spPr>
          <a:xfrm>
            <a:off x="594360" y="2039112"/>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2. </a:t>
            </a:r>
            <a:pPr indent="0" marL="0">
              <a:buNone/>
            </a:pPr>
            <a:r>
              <a:rPr lang="en-US" sz="1300" b="1" dirty="0">
                <a:solidFill>
                  <a:schemeClr val="accent1"/>
                </a:solidFill>
              </a:rPr>
              <a:t>atomic radius, </a:t>
            </a:r>
            <a:pPr indent="0" marL="0">
              <a:buNone/>
            </a:pPr>
            <a:r>
              <a:rPr lang="en-US" sz="1300" dirty="0">
                <a:solidFill>
                  <a:schemeClr val="bg1"/>
                </a:solidFill>
              </a:rPr>
              <a:t>smallest → largest</a:t>
            </a:r>
            <a:endParaRPr lang="en-US" sz="1300" dirty="0"/>
          </a:p>
        </p:txBody>
      </p:sp>
      <p:sp>
        <p:nvSpPr>
          <p:cNvPr id="28" name="Tile H"/>
          <p:cNvSpPr/>
          <p:nvPr/>
        </p:nvSpPr>
        <p:spPr>
          <a:xfrm>
            <a:off x="3749040" y="2093976"/>
            <a:ext cx="420624" cy="420624"/>
          </a:xfrm>
          <a:prstGeom prst="roundRect">
            <a:avLst>
              <a:gd name="adj" fmla="val 12000"/>
            </a:avLst>
          </a:prstGeom>
          <a:solidFill>
            <a:srgbClr val="45C08F">
              <a:alpha val="30000"/>
            </a:srgbClr>
          </a:solidFill>
          <a:ln w="19050">
            <a:solidFill>
              <a:srgbClr val="45C08F"/>
            </a:solidFill>
            <a:prstDash val="solid"/>
          </a:ln>
        </p:spPr>
      </p:sp>
      <p:sp>
        <p:nvSpPr>
          <p:cNvPr id="29" name="Text 27"/>
          <p:cNvSpPr txBox="1"/>
          <p:nvPr/>
        </p:nvSpPr>
        <p:spPr>
          <a:xfrm>
            <a:off x="3782690" y="2115007"/>
            <a:ext cx="252374" cy="100950"/>
          </a:xfrm>
          <a:prstGeom prst="rect">
            <a:avLst/>
          </a:prstGeom>
          <a:noFill/>
          <a:ln/>
        </p:spPr>
        <p:txBody>
          <a:bodyPr wrap="square" lIns="0" tIns="0" rIns="0" bIns="0" rtlCol="0" anchor="t"/>
          <a:lstStyle/>
          <a:p>
            <a:pPr indent="0" marL="0">
              <a:buNone/>
            </a:pPr>
            <a:r>
              <a:rPr lang="en-US" sz="600" dirty="0">
                <a:solidFill>
                  <a:schemeClr val="bg2"/>
                </a:solidFill>
              </a:rPr>
              <a:t>1</a:t>
            </a:r>
            <a:endParaRPr lang="en-US" sz="600" dirty="0"/>
          </a:p>
        </p:txBody>
      </p:sp>
      <p:sp>
        <p:nvSpPr>
          <p:cNvPr id="30" name="Text 28"/>
          <p:cNvSpPr txBox="1"/>
          <p:nvPr/>
        </p:nvSpPr>
        <p:spPr>
          <a:xfrm>
            <a:off x="3749040" y="2161276"/>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H</a:t>
            </a:r>
            <a:endParaRPr lang="en-US" sz="1500" dirty="0"/>
          </a:p>
        </p:txBody>
      </p:sp>
      <p:sp>
        <p:nvSpPr>
          <p:cNvPr id="31" name="Text 29"/>
          <p:cNvSpPr txBox="1"/>
          <p:nvPr/>
        </p:nvSpPr>
        <p:spPr>
          <a:xfrm>
            <a:off x="4206240" y="2093976"/>
            <a:ext cx="502920" cy="420624"/>
          </a:xfrm>
          <a:prstGeom prst="rect">
            <a:avLst/>
          </a:prstGeom>
          <a:noFill/>
          <a:ln/>
        </p:spPr>
        <p:txBody>
          <a:bodyPr wrap="square" lIns="0" tIns="0" rIns="0" bIns="0" rtlCol="0" anchor="ctr"/>
          <a:lstStyle/>
          <a:p>
            <a:pPr indent="0" marL="0">
              <a:buNone/>
            </a:pPr>
            <a:r>
              <a:rPr lang="en-US" sz="1000" dirty="0">
                <a:solidFill>
                  <a:schemeClr val="bg2"/>
                </a:solidFill>
              </a:rPr>
              <a:t>53</a:t>
            </a:r>
            <a:endParaRPr lang="en-US" sz="1000" dirty="0"/>
          </a:p>
        </p:txBody>
      </p:sp>
      <p:sp>
        <p:nvSpPr>
          <p:cNvPr id="32" name="Text 30"/>
          <p:cNvSpPr txBox="1"/>
          <p:nvPr/>
        </p:nvSpPr>
        <p:spPr>
          <a:xfrm>
            <a:off x="4690872" y="2093976"/>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33" name="Tile Na"/>
          <p:cNvSpPr/>
          <p:nvPr/>
        </p:nvSpPr>
        <p:spPr>
          <a:xfrm>
            <a:off x="4937760" y="2093976"/>
            <a:ext cx="420624" cy="420624"/>
          </a:xfrm>
          <a:prstGeom prst="roundRect">
            <a:avLst>
              <a:gd name="adj" fmla="val 12000"/>
            </a:avLst>
          </a:prstGeom>
          <a:solidFill>
            <a:srgbClr val="FF8F5E">
              <a:alpha val="30000"/>
            </a:srgbClr>
          </a:solidFill>
          <a:ln w="19050">
            <a:solidFill>
              <a:srgbClr val="FF8F5E"/>
            </a:solidFill>
            <a:prstDash val="solid"/>
          </a:ln>
        </p:spPr>
      </p:sp>
      <p:sp>
        <p:nvSpPr>
          <p:cNvPr id="34" name="Text 32"/>
          <p:cNvSpPr txBox="1"/>
          <p:nvPr/>
        </p:nvSpPr>
        <p:spPr>
          <a:xfrm>
            <a:off x="4971410" y="2115007"/>
            <a:ext cx="252374" cy="100950"/>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35" name="Text 33"/>
          <p:cNvSpPr txBox="1"/>
          <p:nvPr/>
        </p:nvSpPr>
        <p:spPr>
          <a:xfrm>
            <a:off x="4937760" y="2161276"/>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a:t>
            </a:r>
            <a:endParaRPr lang="en-US" sz="1500" dirty="0"/>
          </a:p>
        </p:txBody>
      </p:sp>
      <p:sp>
        <p:nvSpPr>
          <p:cNvPr id="36" name="Text 34"/>
          <p:cNvSpPr txBox="1"/>
          <p:nvPr/>
        </p:nvSpPr>
        <p:spPr>
          <a:xfrm>
            <a:off x="5394960" y="2093976"/>
            <a:ext cx="502920" cy="420624"/>
          </a:xfrm>
          <a:prstGeom prst="rect">
            <a:avLst/>
          </a:prstGeom>
          <a:noFill/>
          <a:ln/>
        </p:spPr>
        <p:txBody>
          <a:bodyPr wrap="square" lIns="0" tIns="0" rIns="0" bIns="0" rtlCol="0" anchor="ctr"/>
          <a:lstStyle/>
          <a:p>
            <a:pPr indent="0" marL="0">
              <a:buNone/>
            </a:pPr>
            <a:r>
              <a:rPr lang="en-US" sz="1000" dirty="0">
                <a:solidFill>
                  <a:schemeClr val="bg2"/>
                </a:solidFill>
              </a:rPr>
              <a:t>190</a:t>
            </a:r>
            <a:endParaRPr lang="en-US" sz="1000" dirty="0"/>
          </a:p>
        </p:txBody>
      </p:sp>
      <p:sp>
        <p:nvSpPr>
          <p:cNvPr id="37" name="Text 35"/>
          <p:cNvSpPr txBox="1"/>
          <p:nvPr/>
        </p:nvSpPr>
        <p:spPr>
          <a:xfrm>
            <a:off x="5879592" y="2093976"/>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38" name="Tile K"/>
          <p:cNvSpPr/>
          <p:nvPr/>
        </p:nvSpPr>
        <p:spPr>
          <a:xfrm>
            <a:off x="6126480" y="2093976"/>
            <a:ext cx="420624" cy="420624"/>
          </a:xfrm>
          <a:prstGeom prst="roundRect">
            <a:avLst>
              <a:gd name="adj" fmla="val 12000"/>
            </a:avLst>
          </a:prstGeom>
          <a:solidFill>
            <a:srgbClr val="FF8F5E">
              <a:alpha val="30000"/>
            </a:srgbClr>
          </a:solidFill>
          <a:ln w="19050">
            <a:solidFill>
              <a:srgbClr val="FF8F5E"/>
            </a:solidFill>
            <a:prstDash val="solid"/>
          </a:ln>
        </p:spPr>
      </p:sp>
      <p:sp>
        <p:nvSpPr>
          <p:cNvPr id="39" name="Text 37"/>
          <p:cNvSpPr txBox="1"/>
          <p:nvPr/>
        </p:nvSpPr>
        <p:spPr>
          <a:xfrm>
            <a:off x="6160130" y="2115007"/>
            <a:ext cx="252374" cy="100950"/>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40" name="Text 38"/>
          <p:cNvSpPr txBox="1"/>
          <p:nvPr/>
        </p:nvSpPr>
        <p:spPr>
          <a:xfrm>
            <a:off x="6126480" y="2161276"/>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K</a:t>
            </a:r>
            <a:endParaRPr lang="en-US" sz="1500" dirty="0"/>
          </a:p>
        </p:txBody>
      </p:sp>
      <p:sp>
        <p:nvSpPr>
          <p:cNvPr id="41" name="Text 39"/>
          <p:cNvSpPr txBox="1"/>
          <p:nvPr/>
        </p:nvSpPr>
        <p:spPr>
          <a:xfrm>
            <a:off x="6583680" y="2093976"/>
            <a:ext cx="502920" cy="420624"/>
          </a:xfrm>
          <a:prstGeom prst="rect">
            <a:avLst/>
          </a:prstGeom>
          <a:noFill/>
          <a:ln/>
        </p:spPr>
        <p:txBody>
          <a:bodyPr wrap="square" lIns="0" tIns="0" rIns="0" bIns="0" rtlCol="0" anchor="ctr"/>
          <a:lstStyle/>
          <a:p>
            <a:pPr indent="0" marL="0">
              <a:buNone/>
            </a:pPr>
            <a:r>
              <a:rPr lang="en-US" sz="1000" dirty="0">
                <a:solidFill>
                  <a:schemeClr val="bg2"/>
                </a:solidFill>
              </a:rPr>
              <a:t>243</a:t>
            </a:r>
            <a:endParaRPr lang="en-US" sz="1000" dirty="0"/>
          </a:p>
        </p:txBody>
      </p:sp>
      <p:sp>
        <p:nvSpPr>
          <p:cNvPr id="42" name="Round 3"/>
          <p:cNvSpPr/>
          <p:nvPr/>
        </p:nvSpPr>
        <p:spPr>
          <a:xfrm>
            <a:off x="457200" y="2660904"/>
            <a:ext cx="8229600" cy="530352"/>
          </a:xfrm>
          <a:prstGeom prst="roundRect">
            <a:avLst>
              <a:gd name="adj" fmla="val 17241"/>
            </a:avLst>
          </a:prstGeom>
          <a:solidFill>
            <a:schemeClr val="tx2"/>
          </a:solidFill>
          <a:ln w="9525">
            <a:solidFill>
              <a:schemeClr val="bg2">
                <a:alpha val="30000"/>
              </a:schemeClr>
            </a:solidFill>
            <a:prstDash val="solid"/>
          </a:ln>
        </p:spPr>
      </p:sp>
      <p:sp>
        <p:nvSpPr>
          <p:cNvPr id="43" name="Text 41"/>
          <p:cNvSpPr txBox="1"/>
          <p:nvPr/>
        </p:nvSpPr>
        <p:spPr>
          <a:xfrm>
            <a:off x="594360" y="2660904"/>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3. </a:t>
            </a:r>
            <a:pPr indent="0" marL="0">
              <a:buNone/>
            </a:pPr>
            <a:r>
              <a:rPr lang="en-US" sz="1300" b="1" dirty="0">
                <a:solidFill>
                  <a:schemeClr val="accent1"/>
                </a:solidFill>
              </a:rPr>
              <a:t>atomic radius, </a:t>
            </a:r>
            <a:pPr indent="0" marL="0">
              <a:buNone/>
            </a:pPr>
            <a:r>
              <a:rPr lang="en-US" sz="1300" dirty="0">
                <a:solidFill>
                  <a:schemeClr val="bg1"/>
                </a:solidFill>
              </a:rPr>
              <a:t>largest → smallest</a:t>
            </a:r>
            <a:endParaRPr lang="en-US" sz="1300" dirty="0"/>
          </a:p>
        </p:txBody>
      </p:sp>
      <p:sp>
        <p:nvSpPr>
          <p:cNvPr id="44" name="Tile Li"/>
          <p:cNvSpPr/>
          <p:nvPr/>
        </p:nvSpPr>
        <p:spPr>
          <a:xfrm>
            <a:off x="3749040" y="2715768"/>
            <a:ext cx="420624" cy="420624"/>
          </a:xfrm>
          <a:prstGeom prst="roundRect">
            <a:avLst>
              <a:gd name="adj" fmla="val 12000"/>
            </a:avLst>
          </a:prstGeom>
          <a:solidFill>
            <a:srgbClr val="FF8F5E">
              <a:alpha val="30000"/>
            </a:srgbClr>
          </a:solidFill>
          <a:ln w="19050">
            <a:solidFill>
              <a:srgbClr val="FF8F5E"/>
            </a:solidFill>
            <a:prstDash val="solid"/>
          </a:ln>
        </p:spPr>
      </p:sp>
      <p:sp>
        <p:nvSpPr>
          <p:cNvPr id="45" name="Text 43"/>
          <p:cNvSpPr txBox="1"/>
          <p:nvPr/>
        </p:nvSpPr>
        <p:spPr>
          <a:xfrm>
            <a:off x="3782690" y="2736799"/>
            <a:ext cx="252374" cy="100950"/>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46" name="Text 44"/>
          <p:cNvSpPr txBox="1"/>
          <p:nvPr/>
        </p:nvSpPr>
        <p:spPr>
          <a:xfrm>
            <a:off x="3749040" y="2783068"/>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Li</a:t>
            </a:r>
            <a:endParaRPr lang="en-US" sz="1500" dirty="0"/>
          </a:p>
        </p:txBody>
      </p:sp>
      <p:sp>
        <p:nvSpPr>
          <p:cNvPr id="47" name="Text 45"/>
          <p:cNvSpPr txBox="1"/>
          <p:nvPr/>
        </p:nvSpPr>
        <p:spPr>
          <a:xfrm>
            <a:off x="4206240" y="2715768"/>
            <a:ext cx="502920" cy="420624"/>
          </a:xfrm>
          <a:prstGeom prst="rect">
            <a:avLst/>
          </a:prstGeom>
          <a:noFill/>
          <a:ln/>
        </p:spPr>
        <p:txBody>
          <a:bodyPr wrap="square" lIns="0" tIns="0" rIns="0" bIns="0" rtlCol="0" anchor="ctr"/>
          <a:lstStyle/>
          <a:p>
            <a:pPr indent="0" marL="0">
              <a:buNone/>
            </a:pPr>
            <a:r>
              <a:rPr lang="en-US" sz="1000" dirty="0">
                <a:solidFill>
                  <a:schemeClr val="bg2"/>
                </a:solidFill>
              </a:rPr>
              <a:t>167</a:t>
            </a:r>
            <a:endParaRPr lang="en-US" sz="1000" dirty="0"/>
          </a:p>
        </p:txBody>
      </p:sp>
      <p:sp>
        <p:nvSpPr>
          <p:cNvPr id="48" name="Text 46"/>
          <p:cNvSpPr txBox="1"/>
          <p:nvPr/>
        </p:nvSpPr>
        <p:spPr>
          <a:xfrm>
            <a:off x="4690872" y="2715768"/>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49" name="Tile B"/>
          <p:cNvSpPr/>
          <p:nvPr/>
        </p:nvSpPr>
        <p:spPr>
          <a:xfrm>
            <a:off x="4937760" y="2715768"/>
            <a:ext cx="420624" cy="420624"/>
          </a:xfrm>
          <a:prstGeom prst="roundRect">
            <a:avLst>
              <a:gd name="adj" fmla="val 12000"/>
            </a:avLst>
          </a:prstGeom>
          <a:solidFill>
            <a:srgbClr val="46C7D8">
              <a:alpha val="30000"/>
            </a:srgbClr>
          </a:solidFill>
          <a:ln w="19050">
            <a:solidFill>
              <a:srgbClr val="46C7D8"/>
            </a:solidFill>
            <a:prstDash val="solid"/>
          </a:ln>
        </p:spPr>
      </p:sp>
      <p:sp>
        <p:nvSpPr>
          <p:cNvPr id="50" name="Text 48"/>
          <p:cNvSpPr txBox="1"/>
          <p:nvPr/>
        </p:nvSpPr>
        <p:spPr>
          <a:xfrm>
            <a:off x="4971410" y="2736799"/>
            <a:ext cx="252374" cy="100950"/>
          </a:xfrm>
          <a:prstGeom prst="rect">
            <a:avLst/>
          </a:prstGeom>
          <a:noFill/>
          <a:ln/>
        </p:spPr>
        <p:txBody>
          <a:bodyPr wrap="square" lIns="0" tIns="0" rIns="0" bIns="0" rtlCol="0" anchor="t"/>
          <a:lstStyle/>
          <a:p>
            <a:pPr indent="0" marL="0">
              <a:buNone/>
            </a:pPr>
            <a:r>
              <a:rPr lang="en-US" sz="600" dirty="0">
                <a:solidFill>
                  <a:schemeClr val="bg2"/>
                </a:solidFill>
              </a:rPr>
              <a:t>5</a:t>
            </a:r>
            <a:endParaRPr lang="en-US" sz="600" dirty="0"/>
          </a:p>
        </p:txBody>
      </p:sp>
      <p:sp>
        <p:nvSpPr>
          <p:cNvPr id="51" name="Text 49"/>
          <p:cNvSpPr txBox="1"/>
          <p:nvPr/>
        </p:nvSpPr>
        <p:spPr>
          <a:xfrm>
            <a:off x="4937760" y="2783068"/>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B</a:t>
            </a:r>
            <a:endParaRPr lang="en-US" sz="1500" dirty="0"/>
          </a:p>
        </p:txBody>
      </p:sp>
      <p:sp>
        <p:nvSpPr>
          <p:cNvPr id="52" name="Text 50"/>
          <p:cNvSpPr txBox="1"/>
          <p:nvPr/>
        </p:nvSpPr>
        <p:spPr>
          <a:xfrm>
            <a:off x="5394960" y="2715768"/>
            <a:ext cx="502920" cy="420624"/>
          </a:xfrm>
          <a:prstGeom prst="rect">
            <a:avLst/>
          </a:prstGeom>
          <a:noFill/>
          <a:ln/>
        </p:spPr>
        <p:txBody>
          <a:bodyPr wrap="square" lIns="0" tIns="0" rIns="0" bIns="0" rtlCol="0" anchor="ctr"/>
          <a:lstStyle/>
          <a:p>
            <a:pPr indent="0" marL="0">
              <a:buNone/>
            </a:pPr>
            <a:r>
              <a:rPr lang="en-US" sz="1000" dirty="0">
                <a:solidFill>
                  <a:schemeClr val="bg2"/>
                </a:solidFill>
              </a:rPr>
              <a:t>87</a:t>
            </a:r>
            <a:endParaRPr lang="en-US" sz="1000" dirty="0"/>
          </a:p>
        </p:txBody>
      </p:sp>
      <p:sp>
        <p:nvSpPr>
          <p:cNvPr id="53" name="Text 51"/>
          <p:cNvSpPr txBox="1"/>
          <p:nvPr/>
        </p:nvSpPr>
        <p:spPr>
          <a:xfrm>
            <a:off x="5879592" y="2715768"/>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54" name="Tile O"/>
          <p:cNvSpPr/>
          <p:nvPr/>
        </p:nvSpPr>
        <p:spPr>
          <a:xfrm>
            <a:off x="6126480" y="2715768"/>
            <a:ext cx="420624" cy="420624"/>
          </a:xfrm>
          <a:prstGeom prst="roundRect">
            <a:avLst>
              <a:gd name="adj" fmla="val 12000"/>
            </a:avLst>
          </a:prstGeom>
          <a:solidFill>
            <a:srgbClr val="45C08F">
              <a:alpha val="30000"/>
            </a:srgbClr>
          </a:solidFill>
          <a:ln w="19050">
            <a:solidFill>
              <a:srgbClr val="45C08F"/>
            </a:solidFill>
            <a:prstDash val="solid"/>
          </a:ln>
        </p:spPr>
      </p:sp>
      <p:sp>
        <p:nvSpPr>
          <p:cNvPr id="55" name="Text 53"/>
          <p:cNvSpPr txBox="1"/>
          <p:nvPr/>
        </p:nvSpPr>
        <p:spPr>
          <a:xfrm>
            <a:off x="6160130" y="2736799"/>
            <a:ext cx="252374" cy="100950"/>
          </a:xfrm>
          <a:prstGeom prst="rect">
            <a:avLst/>
          </a:prstGeom>
          <a:noFill/>
          <a:ln/>
        </p:spPr>
        <p:txBody>
          <a:bodyPr wrap="square" lIns="0" tIns="0" rIns="0" bIns="0" rtlCol="0" anchor="t"/>
          <a:lstStyle/>
          <a:p>
            <a:pPr indent="0" marL="0">
              <a:buNone/>
            </a:pPr>
            <a:r>
              <a:rPr lang="en-US" sz="600" dirty="0">
                <a:solidFill>
                  <a:schemeClr val="bg2"/>
                </a:solidFill>
              </a:rPr>
              <a:t>8</a:t>
            </a:r>
            <a:endParaRPr lang="en-US" sz="600" dirty="0"/>
          </a:p>
        </p:txBody>
      </p:sp>
      <p:sp>
        <p:nvSpPr>
          <p:cNvPr id="56" name="Text 54"/>
          <p:cNvSpPr txBox="1"/>
          <p:nvPr/>
        </p:nvSpPr>
        <p:spPr>
          <a:xfrm>
            <a:off x="6126480" y="2783068"/>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O</a:t>
            </a:r>
            <a:endParaRPr lang="en-US" sz="1500" dirty="0"/>
          </a:p>
        </p:txBody>
      </p:sp>
      <p:sp>
        <p:nvSpPr>
          <p:cNvPr id="57" name="Text 55"/>
          <p:cNvSpPr txBox="1"/>
          <p:nvPr/>
        </p:nvSpPr>
        <p:spPr>
          <a:xfrm>
            <a:off x="6583680" y="2715768"/>
            <a:ext cx="502920" cy="420624"/>
          </a:xfrm>
          <a:prstGeom prst="rect">
            <a:avLst/>
          </a:prstGeom>
          <a:noFill/>
          <a:ln/>
        </p:spPr>
        <p:txBody>
          <a:bodyPr wrap="square" lIns="0" tIns="0" rIns="0" bIns="0" rtlCol="0" anchor="ctr"/>
          <a:lstStyle/>
          <a:p>
            <a:pPr indent="0" marL="0">
              <a:buNone/>
            </a:pPr>
            <a:r>
              <a:rPr lang="en-US" sz="1000" dirty="0">
                <a:solidFill>
                  <a:schemeClr val="bg2"/>
                </a:solidFill>
              </a:rPr>
              <a:t>48</a:t>
            </a:r>
            <a:endParaRPr lang="en-US" sz="1000" dirty="0"/>
          </a:p>
        </p:txBody>
      </p:sp>
      <p:sp>
        <p:nvSpPr>
          <p:cNvPr id="58" name="Round 4"/>
          <p:cNvSpPr/>
          <p:nvPr/>
        </p:nvSpPr>
        <p:spPr>
          <a:xfrm>
            <a:off x="457200" y="3282696"/>
            <a:ext cx="8229600" cy="530352"/>
          </a:xfrm>
          <a:prstGeom prst="roundRect">
            <a:avLst>
              <a:gd name="adj" fmla="val 17241"/>
            </a:avLst>
          </a:prstGeom>
          <a:solidFill>
            <a:schemeClr val="tx2"/>
          </a:solidFill>
          <a:ln w="9525">
            <a:solidFill>
              <a:schemeClr val="bg2">
                <a:alpha val="30000"/>
              </a:schemeClr>
            </a:solidFill>
            <a:prstDash val="solid"/>
          </a:ln>
        </p:spPr>
      </p:sp>
      <p:sp>
        <p:nvSpPr>
          <p:cNvPr id="59" name="Text 57"/>
          <p:cNvSpPr txBox="1"/>
          <p:nvPr/>
        </p:nvSpPr>
        <p:spPr>
          <a:xfrm>
            <a:off x="594360" y="3282696"/>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4. </a:t>
            </a:r>
            <a:pPr indent="0" marL="0">
              <a:buNone/>
            </a:pPr>
            <a:r>
              <a:rPr lang="en-US" sz="1300" b="1" dirty="0">
                <a:solidFill>
                  <a:schemeClr val="accent1"/>
                </a:solidFill>
              </a:rPr>
              <a:t>atomic radius, </a:t>
            </a:r>
            <a:pPr indent="0" marL="0">
              <a:buNone/>
            </a:pPr>
            <a:r>
              <a:rPr lang="en-US" sz="1300" dirty="0">
                <a:solidFill>
                  <a:schemeClr val="bg1"/>
                </a:solidFill>
              </a:rPr>
              <a:t>largest → smallest</a:t>
            </a:r>
            <a:endParaRPr lang="en-US" sz="1300" dirty="0"/>
          </a:p>
        </p:txBody>
      </p:sp>
      <p:sp>
        <p:nvSpPr>
          <p:cNvPr id="60" name="Tile Br"/>
          <p:cNvSpPr/>
          <p:nvPr/>
        </p:nvSpPr>
        <p:spPr>
          <a:xfrm>
            <a:off x="3749040" y="3337560"/>
            <a:ext cx="420624" cy="420624"/>
          </a:xfrm>
          <a:prstGeom prst="roundRect">
            <a:avLst>
              <a:gd name="adj" fmla="val 12000"/>
            </a:avLst>
          </a:prstGeom>
          <a:solidFill>
            <a:srgbClr val="F477B8">
              <a:alpha val="30000"/>
            </a:srgbClr>
          </a:solidFill>
          <a:ln w="19050">
            <a:solidFill>
              <a:srgbClr val="F477B8"/>
            </a:solidFill>
            <a:prstDash val="solid"/>
          </a:ln>
        </p:spPr>
      </p:sp>
      <p:sp>
        <p:nvSpPr>
          <p:cNvPr id="61" name="Text 59"/>
          <p:cNvSpPr txBox="1"/>
          <p:nvPr/>
        </p:nvSpPr>
        <p:spPr>
          <a:xfrm>
            <a:off x="378269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35</a:t>
            </a:r>
            <a:endParaRPr lang="en-US" sz="600" dirty="0"/>
          </a:p>
        </p:txBody>
      </p:sp>
      <p:sp>
        <p:nvSpPr>
          <p:cNvPr id="62" name="Text 60"/>
          <p:cNvSpPr txBox="1"/>
          <p:nvPr/>
        </p:nvSpPr>
        <p:spPr>
          <a:xfrm>
            <a:off x="374904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Br</a:t>
            </a:r>
            <a:endParaRPr lang="en-US" sz="1500" dirty="0"/>
          </a:p>
        </p:txBody>
      </p:sp>
      <p:sp>
        <p:nvSpPr>
          <p:cNvPr id="63" name="Text 61"/>
          <p:cNvSpPr txBox="1"/>
          <p:nvPr/>
        </p:nvSpPr>
        <p:spPr>
          <a:xfrm>
            <a:off x="4206240" y="3337560"/>
            <a:ext cx="502920" cy="420624"/>
          </a:xfrm>
          <a:prstGeom prst="rect">
            <a:avLst/>
          </a:prstGeom>
          <a:noFill/>
          <a:ln/>
        </p:spPr>
        <p:txBody>
          <a:bodyPr wrap="square" lIns="0" tIns="0" rIns="0" bIns="0" rtlCol="0" anchor="ctr"/>
          <a:lstStyle/>
          <a:p>
            <a:pPr indent="0" marL="0">
              <a:buNone/>
            </a:pPr>
            <a:r>
              <a:rPr lang="en-US" sz="1000" dirty="0">
                <a:solidFill>
                  <a:schemeClr val="bg2"/>
                </a:solidFill>
              </a:rPr>
              <a:t>94</a:t>
            </a:r>
            <a:endParaRPr lang="en-US" sz="1000" dirty="0"/>
          </a:p>
        </p:txBody>
      </p:sp>
      <p:sp>
        <p:nvSpPr>
          <p:cNvPr id="64" name="Text 62"/>
          <p:cNvSpPr txBox="1"/>
          <p:nvPr/>
        </p:nvSpPr>
        <p:spPr>
          <a:xfrm>
            <a:off x="4690872" y="3337560"/>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65" name="Tile Cl"/>
          <p:cNvSpPr/>
          <p:nvPr/>
        </p:nvSpPr>
        <p:spPr>
          <a:xfrm>
            <a:off x="4937760" y="3337560"/>
            <a:ext cx="420624" cy="420624"/>
          </a:xfrm>
          <a:prstGeom prst="roundRect">
            <a:avLst>
              <a:gd name="adj" fmla="val 12000"/>
            </a:avLst>
          </a:prstGeom>
          <a:solidFill>
            <a:srgbClr val="F477B8">
              <a:alpha val="30000"/>
            </a:srgbClr>
          </a:solidFill>
          <a:ln w="19050">
            <a:solidFill>
              <a:srgbClr val="F477B8"/>
            </a:solidFill>
            <a:prstDash val="solid"/>
          </a:ln>
        </p:spPr>
      </p:sp>
      <p:sp>
        <p:nvSpPr>
          <p:cNvPr id="66" name="Text 64"/>
          <p:cNvSpPr txBox="1"/>
          <p:nvPr/>
        </p:nvSpPr>
        <p:spPr>
          <a:xfrm>
            <a:off x="497141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67" name="Text 65"/>
          <p:cNvSpPr txBox="1"/>
          <p:nvPr/>
        </p:nvSpPr>
        <p:spPr>
          <a:xfrm>
            <a:off x="493776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Cl</a:t>
            </a:r>
            <a:endParaRPr lang="en-US" sz="1500" dirty="0"/>
          </a:p>
        </p:txBody>
      </p:sp>
      <p:sp>
        <p:nvSpPr>
          <p:cNvPr id="68" name="Text 66"/>
          <p:cNvSpPr txBox="1"/>
          <p:nvPr/>
        </p:nvSpPr>
        <p:spPr>
          <a:xfrm>
            <a:off x="5394960" y="3337560"/>
            <a:ext cx="502920" cy="420624"/>
          </a:xfrm>
          <a:prstGeom prst="rect">
            <a:avLst/>
          </a:prstGeom>
          <a:noFill/>
          <a:ln/>
        </p:spPr>
        <p:txBody>
          <a:bodyPr wrap="square" lIns="0" tIns="0" rIns="0" bIns="0" rtlCol="0" anchor="ctr"/>
          <a:lstStyle/>
          <a:p>
            <a:pPr indent="0" marL="0">
              <a:buNone/>
            </a:pPr>
            <a:r>
              <a:rPr lang="en-US" sz="1000" dirty="0">
                <a:solidFill>
                  <a:schemeClr val="bg2"/>
                </a:solidFill>
              </a:rPr>
              <a:t>79</a:t>
            </a:r>
            <a:endParaRPr lang="en-US" sz="1000" dirty="0"/>
          </a:p>
        </p:txBody>
      </p:sp>
      <p:sp>
        <p:nvSpPr>
          <p:cNvPr id="69" name="Text 67"/>
          <p:cNvSpPr txBox="1"/>
          <p:nvPr/>
        </p:nvSpPr>
        <p:spPr>
          <a:xfrm>
            <a:off x="5879592" y="3337560"/>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70" name="Tile F"/>
          <p:cNvSpPr/>
          <p:nvPr/>
        </p:nvSpPr>
        <p:spPr>
          <a:xfrm>
            <a:off x="6126480" y="3337560"/>
            <a:ext cx="420624" cy="420624"/>
          </a:xfrm>
          <a:prstGeom prst="roundRect">
            <a:avLst>
              <a:gd name="adj" fmla="val 12000"/>
            </a:avLst>
          </a:prstGeom>
          <a:solidFill>
            <a:srgbClr val="F477B8">
              <a:alpha val="30000"/>
            </a:srgbClr>
          </a:solidFill>
          <a:ln w="19050">
            <a:solidFill>
              <a:srgbClr val="F477B8"/>
            </a:solidFill>
            <a:prstDash val="solid"/>
          </a:ln>
        </p:spPr>
      </p:sp>
      <p:sp>
        <p:nvSpPr>
          <p:cNvPr id="71" name="Text 69"/>
          <p:cNvSpPr txBox="1"/>
          <p:nvPr/>
        </p:nvSpPr>
        <p:spPr>
          <a:xfrm>
            <a:off x="616013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9</a:t>
            </a:r>
            <a:endParaRPr lang="en-US" sz="600" dirty="0"/>
          </a:p>
        </p:txBody>
      </p:sp>
      <p:sp>
        <p:nvSpPr>
          <p:cNvPr id="72" name="Text 70"/>
          <p:cNvSpPr txBox="1"/>
          <p:nvPr/>
        </p:nvSpPr>
        <p:spPr>
          <a:xfrm>
            <a:off x="612648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73" name="Text 71"/>
          <p:cNvSpPr txBox="1"/>
          <p:nvPr/>
        </p:nvSpPr>
        <p:spPr>
          <a:xfrm>
            <a:off x="6583680" y="3337560"/>
            <a:ext cx="502920" cy="420624"/>
          </a:xfrm>
          <a:prstGeom prst="rect">
            <a:avLst/>
          </a:prstGeom>
          <a:noFill/>
          <a:ln/>
        </p:spPr>
        <p:txBody>
          <a:bodyPr wrap="square" lIns="0" tIns="0" rIns="0" bIns="0" rtlCol="0" anchor="ctr"/>
          <a:lstStyle/>
          <a:p>
            <a:pPr indent="0" marL="0">
              <a:buNone/>
            </a:pPr>
            <a:r>
              <a:rPr lang="en-US" sz="1000" dirty="0">
                <a:solidFill>
                  <a:schemeClr val="bg2"/>
                </a:solidFill>
              </a:rPr>
              <a:t>42</a:t>
            </a:r>
            <a:endParaRPr lang="en-US" sz="1000" dirty="0"/>
          </a:p>
        </p:txBody>
      </p:sp>
      <p:sp>
        <p:nvSpPr>
          <p:cNvPr id="74" name="Round 5"/>
          <p:cNvSpPr/>
          <p:nvPr/>
        </p:nvSpPr>
        <p:spPr>
          <a:xfrm>
            <a:off x="457200" y="3904488"/>
            <a:ext cx="8229600" cy="530352"/>
          </a:xfrm>
          <a:prstGeom prst="roundRect">
            <a:avLst>
              <a:gd name="adj" fmla="val 17241"/>
            </a:avLst>
          </a:prstGeom>
          <a:solidFill>
            <a:schemeClr val="tx2"/>
          </a:solidFill>
          <a:ln w="9525">
            <a:solidFill>
              <a:schemeClr val="bg2">
                <a:alpha val="30000"/>
              </a:schemeClr>
            </a:solidFill>
            <a:prstDash val="solid"/>
          </a:ln>
        </p:spPr>
      </p:sp>
      <p:sp>
        <p:nvSpPr>
          <p:cNvPr id="75" name="Text 73"/>
          <p:cNvSpPr txBox="1"/>
          <p:nvPr/>
        </p:nvSpPr>
        <p:spPr>
          <a:xfrm>
            <a:off x="594360" y="3904488"/>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5. </a:t>
            </a:r>
            <a:pPr indent="0" marL="0">
              <a:buNone/>
            </a:pPr>
            <a:r>
              <a:rPr lang="en-US" sz="1300" b="1" dirty="0">
                <a:solidFill>
                  <a:schemeClr val="accent1"/>
                </a:solidFill>
              </a:rPr>
              <a:t>atomic radius, </a:t>
            </a:r>
            <a:pPr indent="0" marL="0">
              <a:buNone/>
            </a:pPr>
            <a:r>
              <a:rPr lang="en-US" sz="1300" dirty="0">
                <a:solidFill>
                  <a:schemeClr val="bg1"/>
                </a:solidFill>
              </a:rPr>
              <a:t>smallest → largest</a:t>
            </a:r>
            <a:endParaRPr lang="en-US" sz="1300" dirty="0"/>
          </a:p>
        </p:txBody>
      </p:sp>
      <p:sp>
        <p:nvSpPr>
          <p:cNvPr id="76" name="Tile C"/>
          <p:cNvSpPr/>
          <p:nvPr/>
        </p:nvSpPr>
        <p:spPr>
          <a:xfrm>
            <a:off x="3749040" y="3959352"/>
            <a:ext cx="420624" cy="420624"/>
          </a:xfrm>
          <a:prstGeom prst="roundRect">
            <a:avLst>
              <a:gd name="adj" fmla="val 12000"/>
            </a:avLst>
          </a:prstGeom>
          <a:solidFill>
            <a:srgbClr val="45C08F">
              <a:alpha val="30000"/>
            </a:srgbClr>
          </a:solidFill>
          <a:ln w="19050">
            <a:solidFill>
              <a:srgbClr val="45C08F"/>
            </a:solidFill>
            <a:prstDash val="solid"/>
          </a:ln>
        </p:spPr>
      </p:sp>
      <p:sp>
        <p:nvSpPr>
          <p:cNvPr id="77" name="Text 75"/>
          <p:cNvSpPr txBox="1"/>
          <p:nvPr/>
        </p:nvSpPr>
        <p:spPr>
          <a:xfrm>
            <a:off x="378269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6</a:t>
            </a:r>
            <a:endParaRPr lang="en-US" sz="600" dirty="0"/>
          </a:p>
        </p:txBody>
      </p:sp>
      <p:sp>
        <p:nvSpPr>
          <p:cNvPr id="78" name="Text 76"/>
          <p:cNvSpPr txBox="1"/>
          <p:nvPr/>
        </p:nvSpPr>
        <p:spPr>
          <a:xfrm>
            <a:off x="374904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79" name="Text 77"/>
          <p:cNvSpPr txBox="1"/>
          <p:nvPr/>
        </p:nvSpPr>
        <p:spPr>
          <a:xfrm>
            <a:off x="4206240" y="3959352"/>
            <a:ext cx="502920" cy="420624"/>
          </a:xfrm>
          <a:prstGeom prst="rect">
            <a:avLst/>
          </a:prstGeom>
          <a:noFill/>
          <a:ln/>
        </p:spPr>
        <p:txBody>
          <a:bodyPr wrap="square" lIns="0" tIns="0" rIns="0" bIns="0" rtlCol="0" anchor="ctr"/>
          <a:lstStyle/>
          <a:p>
            <a:pPr indent="0" marL="0">
              <a:buNone/>
            </a:pPr>
            <a:r>
              <a:rPr lang="en-US" sz="1000" dirty="0">
                <a:solidFill>
                  <a:schemeClr val="bg2"/>
                </a:solidFill>
              </a:rPr>
              <a:t>67</a:t>
            </a:r>
            <a:endParaRPr lang="en-US" sz="1000" dirty="0"/>
          </a:p>
        </p:txBody>
      </p:sp>
      <p:sp>
        <p:nvSpPr>
          <p:cNvPr id="80" name="Text 78"/>
          <p:cNvSpPr txBox="1"/>
          <p:nvPr/>
        </p:nvSpPr>
        <p:spPr>
          <a:xfrm>
            <a:off x="4690872" y="3959352"/>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81" name="Tile Mg"/>
          <p:cNvSpPr/>
          <p:nvPr/>
        </p:nvSpPr>
        <p:spPr>
          <a:xfrm>
            <a:off x="4937760" y="3959352"/>
            <a:ext cx="420624" cy="420624"/>
          </a:xfrm>
          <a:prstGeom prst="roundRect">
            <a:avLst>
              <a:gd name="adj" fmla="val 12000"/>
            </a:avLst>
          </a:prstGeom>
          <a:solidFill>
            <a:srgbClr val="FFCB5C">
              <a:alpha val="30000"/>
            </a:srgbClr>
          </a:solidFill>
          <a:ln w="19050">
            <a:solidFill>
              <a:srgbClr val="FFCB5C"/>
            </a:solidFill>
            <a:prstDash val="solid"/>
          </a:ln>
        </p:spPr>
      </p:sp>
      <p:sp>
        <p:nvSpPr>
          <p:cNvPr id="82" name="Text 80"/>
          <p:cNvSpPr txBox="1"/>
          <p:nvPr/>
        </p:nvSpPr>
        <p:spPr>
          <a:xfrm>
            <a:off x="497141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12</a:t>
            </a:r>
            <a:endParaRPr lang="en-US" sz="600" dirty="0"/>
          </a:p>
        </p:txBody>
      </p:sp>
      <p:sp>
        <p:nvSpPr>
          <p:cNvPr id="83" name="Text 81"/>
          <p:cNvSpPr txBox="1"/>
          <p:nvPr/>
        </p:nvSpPr>
        <p:spPr>
          <a:xfrm>
            <a:off x="493776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Mg</a:t>
            </a:r>
            <a:endParaRPr lang="en-US" sz="1500" dirty="0"/>
          </a:p>
        </p:txBody>
      </p:sp>
      <p:sp>
        <p:nvSpPr>
          <p:cNvPr id="84" name="Text 82"/>
          <p:cNvSpPr txBox="1"/>
          <p:nvPr/>
        </p:nvSpPr>
        <p:spPr>
          <a:xfrm>
            <a:off x="5394960" y="3959352"/>
            <a:ext cx="502920" cy="420624"/>
          </a:xfrm>
          <a:prstGeom prst="rect">
            <a:avLst/>
          </a:prstGeom>
          <a:noFill/>
          <a:ln/>
        </p:spPr>
        <p:txBody>
          <a:bodyPr wrap="square" lIns="0" tIns="0" rIns="0" bIns="0" rtlCol="0" anchor="ctr"/>
          <a:lstStyle/>
          <a:p>
            <a:pPr indent="0" marL="0">
              <a:buNone/>
            </a:pPr>
            <a:r>
              <a:rPr lang="en-US" sz="1000" dirty="0">
                <a:solidFill>
                  <a:schemeClr val="bg2"/>
                </a:solidFill>
              </a:rPr>
              <a:t>145</a:t>
            </a:r>
            <a:endParaRPr lang="en-US" sz="1000" dirty="0"/>
          </a:p>
        </p:txBody>
      </p:sp>
      <p:sp>
        <p:nvSpPr>
          <p:cNvPr id="85" name="Text 83"/>
          <p:cNvSpPr txBox="1"/>
          <p:nvPr/>
        </p:nvSpPr>
        <p:spPr>
          <a:xfrm>
            <a:off x="5879592" y="3959352"/>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86" name="Tile K"/>
          <p:cNvSpPr/>
          <p:nvPr/>
        </p:nvSpPr>
        <p:spPr>
          <a:xfrm>
            <a:off x="6126480" y="3959352"/>
            <a:ext cx="420624" cy="420624"/>
          </a:xfrm>
          <a:prstGeom prst="roundRect">
            <a:avLst>
              <a:gd name="adj" fmla="val 12000"/>
            </a:avLst>
          </a:prstGeom>
          <a:solidFill>
            <a:srgbClr val="FF8F5E">
              <a:alpha val="30000"/>
            </a:srgbClr>
          </a:solidFill>
          <a:ln w="19050">
            <a:solidFill>
              <a:srgbClr val="FF8F5E"/>
            </a:solidFill>
            <a:prstDash val="solid"/>
          </a:ln>
        </p:spPr>
      </p:sp>
      <p:sp>
        <p:nvSpPr>
          <p:cNvPr id="87" name="Text 85"/>
          <p:cNvSpPr txBox="1"/>
          <p:nvPr/>
        </p:nvSpPr>
        <p:spPr>
          <a:xfrm>
            <a:off x="616013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88" name="Text 86"/>
          <p:cNvSpPr txBox="1"/>
          <p:nvPr/>
        </p:nvSpPr>
        <p:spPr>
          <a:xfrm>
            <a:off x="612648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K</a:t>
            </a:r>
            <a:endParaRPr lang="en-US" sz="1500" dirty="0"/>
          </a:p>
        </p:txBody>
      </p:sp>
      <p:sp>
        <p:nvSpPr>
          <p:cNvPr id="89" name="Text 87"/>
          <p:cNvSpPr txBox="1"/>
          <p:nvPr/>
        </p:nvSpPr>
        <p:spPr>
          <a:xfrm>
            <a:off x="6583680" y="3959352"/>
            <a:ext cx="502920" cy="420624"/>
          </a:xfrm>
          <a:prstGeom prst="rect">
            <a:avLst/>
          </a:prstGeom>
          <a:noFill/>
          <a:ln/>
        </p:spPr>
        <p:txBody>
          <a:bodyPr wrap="square" lIns="0" tIns="0" rIns="0" bIns="0" rtlCol="0" anchor="ctr"/>
          <a:lstStyle/>
          <a:p>
            <a:pPr indent="0" marL="0">
              <a:buNone/>
            </a:pPr>
            <a:r>
              <a:rPr lang="en-US" sz="1000" dirty="0">
                <a:solidFill>
                  <a:schemeClr val="bg2"/>
                </a:solidFill>
              </a:rPr>
              <a:t>243</a:t>
            </a:r>
            <a:endParaRPr lang="en-US" sz="10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a"/>
          <p:cNvSpPr/>
          <p:nvPr/>
        </p:nvSpPr>
        <p:spPr>
          <a:xfrm>
            <a:off x="575295" y="516042"/>
            <a:ext cx="513618" cy="51361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Na</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Why is a chlorine atom smaller than a sodium atom?</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Chlorine has more shells</a:t>
            </a:r>
            <a:endParaRPr lang="en-US" sz="1600" dirty="0"/>
          </a:p>
        </p:txBody>
      </p:sp>
      <p:sp>
        <p:nvSpPr>
          <p:cNvPr id="12"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3" name="Text 11"/>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Chlorine has more protons pulling the same number of shells</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Chlorine has fewer electrons</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Chlorine is a gas</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ection tile 3"/>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a"/>
          <p:cNvSpPr/>
          <p:nvPr/>
        </p:nvSpPr>
        <p:spPr>
          <a:xfrm>
            <a:off x="575295" y="516042"/>
            <a:ext cx="513618" cy="51361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3</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Na</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3 of 9</a:t>
            </a:r>
            <a:endParaRPr lang="en-US" sz="1200" dirty="0"/>
          </a:p>
        </p:txBody>
      </p:sp>
      <p:sp>
        <p:nvSpPr>
          <p:cNvPr id="9"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Why is a chlorine atom smaller than a sodium atom?</a:t>
            </a:r>
            <a:endParaRPr lang="en-US" sz="2000" dirty="0"/>
          </a:p>
        </p:txBody>
      </p:sp>
      <p:sp>
        <p:nvSpPr>
          <p:cNvPr id="10"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1" name="Text 9"/>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2" name="Text 10"/>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Chlorine has more shells</a:t>
            </a:r>
            <a:endParaRPr lang="en-US" sz="1600" dirty="0"/>
          </a:p>
        </p:txBody>
      </p:sp>
      <p:sp>
        <p:nvSpPr>
          <p:cNvPr id="13"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4" name="Text 12"/>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5" name="Text 13"/>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Chlorine has more protons pulling the same number of shells</a:t>
            </a:r>
            <a:endParaRPr lang="en-US" sz="1600" dirty="0"/>
          </a:p>
        </p:txBody>
      </p:sp>
      <p:sp>
        <p:nvSpPr>
          <p:cNvPr id="16"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7" name="Text 15"/>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8" name="Text 16"/>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Chlorine has fewer electrons</a:t>
            </a:r>
            <a:endParaRPr lang="en-US" sz="1600" dirty="0"/>
          </a:p>
        </p:txBody>
      </p:sp>
      <p:sp>
        <p:nvSpPr>
          <p:cNvPr id="19"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20" name="Text 18"/>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1" name="Text 19"/>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Chlorine is a gas</a:t>
            </a:r>
            <a:endParaRPr lang="en-US" sz="1600" dirty="0"/>
          </a:p>
        </p:txBody>
      </p:sp>
      <p:sp>
        <p:nvSpPr>
          <p:cNvPr id="22"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3" name="Text 21"/>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Both have 3 shells. Chlorine has 17 protons instead of 11, so it pulls its electrons in tighter.</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e"/>
          <p:cNvSpPr/>
          <p:nvPr/>
        </p:nvSpPr>
        <p:spPr>
          <a:xfrm>
            <a:off x="741950" y="682697"/>
            <a:ext cx="180308" cy="18030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Ne</a:t>
            </a:r>
            <a:endParaRPr lang="en-US" sz="2400" dirty="0"/>
          </a:p>
        </p:txBody>
      </p:sp>
      <p:sp>
        <p:nvSpPr>
          <p:cNvPr id="6"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4 of 9 · about 7 min</a:t>
            </a:r>
            <a:endParaRPr lang="en-US" sz="1200" dirty="0"/>
          </a:p>
        </p:txBody>
      </p:sp>
      <p:sp>
        <p:nvSpPr>
          <p:cNvPr id="7"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Ionization energy</a:t>
            </a:r>
            <a:endParaRPr lang="en-US" sz="3000" dirty="0"/>
          </a:p>
        </p:txBody>
      </p:sp>
      <p:sp>
        <p:nvSpPr>
          <p:cNvPr id="8"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9" name="Text 7"/>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10" name="Text 8"/>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1" name="Text 9"/>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How hard is it to pull an electron off?</a:t>
            </a:r>
            <a:endParaRPr lang="en-US" sz="1400" dirty="0"/>
          </a:p>
        </p:txBody>
      </p:sp>
      <p:sp>
        <p:nvSpPr>
          <p:cNvPr id="12" name="Text 10"/>
          <p:cNvSpPr/>
          <p:nvPr/>
        </p:nvSpPr>
        <p:spPr>
          <a:xfrm>
            <a:off x="685800" y="2624328"/>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3" name="Text 11"/>
          <p:cNvSpPr txBox="1"/>
          <p:nvPr/>
        </p:nvSpPr>
        <p:spPr>
          <a:xfrm>
            <a:off x="1554480" y="2532888"/>
            <a:ext cx="2697480" cy="457200"/>
          </a:xfrm>
          <a:prstGeom prst="rect">
            <a:avLst/>
          </a:prstGeom>
          <a:noFill/>
          <a:ln/>
        </p:spPr>
        <p:txBody>
          <a:bodyPr wrap="square" lIns="0" tIns="0" rIns="0" bIns="0" rtlCol="0" anchor="ctr"/>
          <a:lstStyle/>
          <a:p>
            <a:pPr indent="0" marL="0">
              <a:buNone/>
            </a:pPr>
            <a:r>
              <a:rPr lang="en-US" sz="1400" dirty="0">
                <a:solidFill>
                  <a:schemeClr val="bg1"/>
                </a:solidFill>
              </a:rPr>
              <a:t>Read the graph</a:t>
            </a:r>
            <a:endParaRPr lang="en-US" sz="1400" dirty="0"/>
          </a:p>
        </p:txBody>
      </p:sp>
      <p:sp>
        <p:nvSpPr>
          <p:cNvPr id="14" name="Text 12"/>
          <p:cNvSpPr/>
          <p:nvPr/>
        </p:nvSpPr>
        <p:spPr>
          <a:xfrm>
            <a:off x="685800" y="32095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5" name="Text 13"/>
          <p:cNvSpPr txBox="1"/>
          <p:nvPr/>
        </p:nvSpPr>
        <p:spPr>
          <a:xfrm>
            <a:off x="1554480" y="3118104"/>
            <a:ext cx="2697480" cy="457200"/>
          </a:xfrm>
          <a:prstGeom prst="rect">
            <a:avLst/>
          </a:prstGeom>
          <a:noFill/>
          <a:ln/>
        </p:spPr>
        <p:txBody>
          <a:bodyPr wrap="square" lIns="0" tIns="0" rIns="0" bIns="0" rtlCol="0" anchor="ctr"/>
          <a:lstStyle/>
          <a:p>
            <a:pPr indent="0" marL="0">
              <a:buNone/>
            </a:pPr>
            <a:r>
              <a:rPr lang="en-US" sz="1400" dirty="0">
                <a:solidFill>
                  <a:schemeClr val="bg1"/>
                </a:solidFill>
              </a:rPr>
              <a:t>Which needs more energy?</a:t>
            </a:r>
            <a:endParaRPr lang="en-US" sz="1400" dirty="0"/>
          </a:p>
        </p:txBody>
      </p:sp>
      <p:sp>
        <p:nvSpPr>
          <p:cNvPr id="16" name="Text 14"/>
          <p:cNvSpPr/>
          <p:nvPr/>
        </p:nvSpPr>
        <p:spPr>
          <a:xfrm>
            <a:off x="685800" y="3794760"/>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7" name="Text 15"/>
          <p:cNvSpPr txBox="1"/>
          <p:nvPr/>
        </p:nvSpPr>
        <p:spPr>
          <a:xfrm>
            <a:off x="1874520" y="3703320"/>
            <a:ext cx="2377440" cy="457200"/>
          </a:xfrm>
          <a:prstGeom prst="rect">
            <a:avLst/>
          </a:prstGeom>
          <a:noFill/>
          <a:ln/>
        </p:spPr>
        <p:txBody>
          <a:bodyPr wrap="square" lIns="0" tIns="0" rIns="0" bIns="0" rtlCol="0" anchor="ctr"/>
          <a:lstStyle/>
          <a:p>
            <a:pPr indent="0" marL="0">
              <a:buNone/>
            </a:pPr>
            <a:r>
              <a:rPr lang="en-US" sz="1400" dirty="0">
                <a:solidFill>
                  <a:schemeClr val="bg1"/>
                </a:solidFill>
              </a:rPr>
              <a:t>Lowest group</a:t>
            </a:r>
            <a:endParaRPr lang="en-US" sz="1400" dirty="0"/>
          </a:p>
        </p:txBody>
      </p:sp>
      <p:sp>
        <p:nvSpPr>
          <p:cNvPr id="18"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9" name="Text 17"/>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20" name="Text 18"/>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1" name="Text 19"/>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Find 3 points on the graph</a:t>
            </a:r>
            <a:endParaRPr lang="en-US" sz="1400" dirty="0"/>
          </a:p>
        </p:txBody>
      </p:sp>
      <p:sp>
        <p:nvSpPr>
          <p:cNvPr id="22" name="Text 20"/>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3" name="Text 21"/>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Pick the higher ionization energy 5 times</a:t>
            </a:r>
            <a:endParaRPr lang="en-US" sz="1400" dirty="0"/>
          </a:p>
        </p:txBody>
      </p:sp>
      <p:sp>
        <p:nvSpPr>
          <p:cNvPr id="24" name="Text 22"/>
          <p:cNvSpPr/>
          <p:nvPr/>
        </p:nvSpPr>
        <p:spPr>
          <a:xfrm>
            <a:off x="4892040" y="320040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5" name="Text 23"/>
          <p:cNvSpPr txBox="1"/>
          <p:nvPr/>
        </p:nvSpPr>
        <p:spPr>
          <a:xfrm>
            <a:off x="5303520" y="3127248"/>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e"/>
          <p:cNvSpPr/>
          <p:nvPr/>
        </p:nvSpPr>
        <p:spPr>
          <a:xfrm>
            <a:off x="741950" y="682697"/>
            <a:ext cx="180308" cy="18030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Ne</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How hard is it to pull an electron off?</a:t>
            </a:r>
            <a:endParaRPr lang="en-US" sz="2800" dirty="0"/>
          </a:p>
        </p:txBody>
      </p:sp>
      <p:sp>
        <p:nvSpPr>
          <p:cNvPr id="9" name="Text 7"/>
          <p:cNvSpPr txBox="1"/>
          <p:nvPr/>
        </p:nvSpPr>
        <p:spPr>
          <a:xfrm>
            <a:off x="457200" y="1325880"/>
            <a:ext cx="4023360" cy="1737360"/>
          </a:xfrm>
          <a:prstGeom prst="rect">
            <a:avLst/>
          </a:prstGeom>
          <a:noFill/>
          <a:ln/>
        </p:spPr>
        <p:txBody>
          <a:bodyPr wrap="square" lIns="0" tIns="0" rIns="0" bIns="0" rtlCol="0" anchor="t"/>
          <a:lstStyle/>
          <a:p>
            <a:pPr indent="0" marL="0">
              <a:spcAft>
                <a:spcPts val="800"/>
              </a:spcAft>
              <a:buNone/>
            </a:pPr>
            <a:r>
              <a:rPr lang="en-US" sz="1400" b="1" dirty="0">
                <a:solidFill>
                  <a:schemeClr val="accent1"/>
                </a:solidFill>
              </a:rPr>
              <a:t>Ionization energy</a:t>
            </a:r>
            <a:pPr indent="0" marL="0">
              <a:spcAft>
                <a:spcPts val="800"/>
              </a:spcAft>
              <a:buNone/>
            </a:pPr>
            <a:r>
              <a:rPr lang="en-US" sz="1400" dirty="0">
                <a:solidFill>
                  <a:schemeClr val="bg1"/>
                </a:solidFill>
              </a:rPr>
              <a:t> is the energy needed to remove one outer electron from an atom.</a:t>
            </a:r>
            <a:endParaRPr lang="en-US" sz="1400" dirty="0"/>
          </a:p>
          <a:p>
            <a:pPr indent="0" marL="0">
              <a:spcAft>
                <a:spcPts val="800"/>
              </a:spcAft>
              <a:buNone/>
            </a:pPr>
            <a:r>
              <a:rPr lang="en-US" sz="1400" dirty="0">
                <a:solidFill>
                  <a:schemeClr val="bg1"/>
                </a:solidFill>
              </a:rPr>
              <a:t>In a small atom, the outer electrons are close to the nucleus, so they are held tightly and are hard to remove.</a:t>
            </a:r>
            <a:endParaRPr lang="en-US" sz="1400" dirty="0"/>
          </a:p>
        </p:txBody>
      </p:sp>
      <p:sp>
        <p:nvSpPr>
          <p:cNvPr id="10" name="Ionization energy trend"/>
          <p:cNvSpPr/>
          <p:nvPr/>
        </p:nvSpPr>
        <p:spPr>
          <a:xfrm>
            <a:off x="457200" y="3154680"/>
            <a:ext cx="4023360" cy="868680"/>
          </a:xfrm>
          <a:prstGeom prst="roundRect">
            <a:avLst>
              <a:gd name="adj" fmla="val 10526"/>
            </a:avLst>
          </a:prstGeom>
          <a:solidFill>
            <a:schemeClr val="tx2"/>
          </a:solidFill>
          <a:ln w="9525">
            <a:solidFill>
              <a:schemeClr val="bg2">
                <a:alpha val="30000"/>
              </a:schemeClr>
            </a:solidFill>
            <a:prstDash val="solid"/>
          </a:ln>
        </p:spPr>
      </p:sp>
      <p:sp>
        <p:nvSpPr>
          <p:cNvPr id="11" name="Trend bar"/>
          <p:cNvSpPr/>
          <p:nvPr/>
        </p:nvSpPr>
        <p:spPr>
          <a:xfrm>
            <a:off x="457200" y="3200400"/>
            <a:ext cx="64008" cy="777240"/>
          </a:xfrm>
          <a:prstGeom prst="rect">
            <a:avLst/>
          </a:prstGeom>
          <a:solidFill>
            <a:schemeClr val="accent2"/>
          </a:solidFill>
          <a:ln w="6350">
            <a:solidFill>
              <a:schemeClr val="accent2"/>
            </a:solidFill>
            <a:prstDash val="solid"/>
          </a:ln>
        </p:spPr>
      </p:sp>
      <p:sp>
        <p:nvSpPr>
          <p:cNvPr id="12" name="Text 10"/>
          <p:cNvSpPr txBox="1"/>
          <p:nvPr/>
        </p:nvSpPr>
        <p:spPr>
          <a:xfrm>
            <a:off x="640080" y="3154680"/>
            <a:ext cx="3749040" cy="868680"/>
          </a:xfrm>
          <a:prstGeom prst="rect">
            <a:avLst/>
          </a:prstGeom>
          <a:noFill/>
          <a:ln/>
        </p:spPr>
        <p:txBody>
          <a:bodyPr wrap="square" lIns="0" tIns="0" rIns="0" bIns="0" rtlCol="0" anchor="ctr"/>
          <a:lstStyle/>
          <a:p>
            <a:pPr indent="0" marL="0">
              <a:buNone/>
            </a:pPr>
            <a:r>
              <a:rPr lang="en-US" sz="1300" b="1" dirty="0">
                <a:solidFill>
                  <a:schemeClr val="accent2"/>
                </a:solidFill>
              </a:rPr>
              <a:t>Ionization energy</a:t>
            </a:r>
            <a:endParaRPr lang="en-US" sz="1300" dirty="0"/>
          </a:p>
          <a:p>
            <a:pPr indent="0" marL="0">
              <a:buNone/>
            </a:pPr>
            <a:r>
              <a:rPr lang="en-US" sz="1300" dirty="0">
                <a:solidFill>
                  <a:schemeClr val="bg2"/>
                </a:solidFill>
              </a:rPr>
              <a:t>Across a period: </a:t>
            </a:r>
            <a:pPr indent="0" marL="0">
              <a:buNone/>
            </a:pPr>
            <a:r>
              <a:rPr lang="en-US" sz="1300" b="1" dirty="0">
                <a:solidFill>
                  <a:schemeClr val="bg1"/>
                </a:solidFill>
              </a:rPr>
              <a:t>gets higher →</a:t>
            </a:r>
            <a:endParaRPr lang="en-US" sz="1300" dirty="0"/>
          </a:p>
          <a:p>
            <a:pPr indent="0" marL="0">
              <a:buNone/>
            </a:pPr>
            <a:r>
              <a:rPr lang="en-US" sz="1300" dirty="0">
                <a:solidFill>
                  <a:schemeClr val="bg2"/>
                </a:solidFill>
              </a:rPr>
              <a:t>Down a group: </a:t>
            </a:r>
            <a:pPr indent="0" marL="0">
              <a:buNone/>
            </a:pPr>
            <a:r>
              <a:rPr lang="en-US" sz="1300" b="1" dirty="0">
                <a:solidFill>
                  <a:schemeClr val="bg1"/>
                </a:solidFill>
              </a:rPr>
              <a:t>gets lower ↓</a:t>
            </a:r>
            <a:endParaRPr lang="en-US" sz="1300" dirty="0"/>
          </a:p>
        </p:txBody>
      </p:sp>
      <p:graphicFrame>
        <p:nvGraphicFramePr>
          <p:cNvPr id="13" name="Chart 0" descr=""/>
          <p:cNvGraphicFramePr/>
          <p:nvPr/>
        </p:nvGraphicFramePr>
        <p:xfrm>
          <a:off x="4663440" y="1280160"/>
          <a:ext cx="4023360" cy="274320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4663440" y="4041648"/>
            <a:ext cx="4023360" cy="256032"/>
          </a:xfrm>
          <a:prstGeom prst="rect">
            <a:avLst/>
          </a:prstGeom>
          <a:noFill/>
          <a:ln/>
        </p:spPr>
        <p:txBody>
          <a:bodyPr wrap="square" lIns="0" tIns="0" rIns="0" bIns="0" rtlCol="0" anchor="t"/>
          <a:lstStyle/>
          <a:p>
            <a:pPr algn="ctr" indent="0" marL="0">
              <a:buNone/>
            </a:pPr>
            <a:r>
              <a:rPr lang="en-US" sz="1200" dirty="0">
                <a:solidFill>
                  <a:schemeClr val="bg2"/>
                </a:solidFill>
              </a:rPr>
              <a:t>It zigzags a little, but climbs across each period to the noble gas.</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e"/>
          <p:cNvSpPr/>
          <p:nvPr/>
        </p:nvSpPr>
        <p:spPr>
          <a:xfrm>
            <a:off x="741950" y="682697"/>
            <a:ext cx="180308" cy="18030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Ne</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Read the graph</a:t>
            </a:r>
            <a:endParaRPr lang="en-US" sz="2800" dirty="0"/>
          </a:p>
        </p:txBody>
      </p:sp>
      <p:sp>
        <p:nvSpPr>
          <p:cNvPr id="9" name="Mission 1"/>
          <p:cNvSpPr/>
          <p:nvPr/>
        </p:nvSpPr>
        <p:spPr>
          <a:xfrm>
            <a:off x="457200" y="1371600"/>
            <a:ext cx="3291840" cy="566928"/>
          </a:xfrm>
          <a:prstGeom prst="roundRect">
            <a:avLst>
              <a:gd name="adj" fmla="val 16129"/>
            </a:avLst>
          </a:prstGeom>
          <a:solidFill>
            <a:schemeClr val="tx2"/>
          </a:solidFill>
          <a:ln w="9525">
            <a:solidFill>
              <a:schemeClr val="bg2">
                <a:alpha val="30000"/>
              </a:schemeClr>
            </a:solidFill>
            <a:prstDash val="solid"/>
          </a:ln>
        </p:spPr>
      </p:sp>
      <p:sp>
        <p:nvSpPr>
          <p:cNvPr id="10" name="Text 8"/>
          <p:cNvSpPr txBox="1"/>
          <p:nvPr/>
        </p:nvSpPr>
        <p:spPr>
          <a:xfrm>
            <a:off x="594360" y="1371600"/>
            <a:ext cx="2103120" cy="566928"/>
          </a:xfrm>
          <a:prstGeom prst="rect">
            <a:avLst/>
          </a:prstGeom>
          <a:noFill/>
          <a:ln/>
        </p:spPr>
        <p:txBody>
          <a:bodyPr wrap="square" lIns="0" tIns="0" rIns="0" bIns="0" rtlCol="0" anchor="ctr"/>
          <a:lstStyle/>
          <a:p>
            <a:pPr indent="0" marL="0">
              <a:buNone/>
            </a:pPr>
            <a:r>
              <a:rPr lang="en-US" sz="1300" dirty="0">
                <a:solidFill>
                  <a:schemeClr val="bg1"/>
                </a:solidFill>
              </a:rPr>
              <a:t>1. Highest point on the graph</a:t>
            </a:r>
            <a:endParaRPr lang="en-US" sz="1300" dirty="0"/>
          </a:p>
        </p:txBody>
      </p:sp>
      <p:sp>
        <p:nvSpPr>
          <p:cNvPr id="11" name="Text 9"/>
          <p:cNvSpPr txBox="1"/>
          <p:nvPr/>
        </p:nvSpPr>
        <p:spPr>
          <a:xfrm>
            <a:off x="2651760" y="1371600"/>
            <a:ext cx="420624" cy="566928"/>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sp>
        <p:nvSpPr>
          <p:cNvPr id="12" name="Mission 2"/>
          <p:cNvSpPr/>
          <p:nvPr/>
        </p:nvSpPr>
        <p:spPr>
          <a:xfrm>
            <a:off x="457200" y="2057400"/>
            <a:ext cx="3291840" cy="566928"/>
          </a:xfrm>
          <a:prstGeom prst="roundRect">
            <a:avLst>
              <a:gd name="adj" fmla="val 16129"/>
            </a:avLst>
          </a:prstGeom>
          <a:solidFill>
            <a:schemeClr val="tx2"/>
          </a:solidFill>
          <a:ln w="9525">
            <a:solidFill>
              <a:schemeClr val="bg2">
                <a:alpha val="30000"/>
              </a:schemeClr>
            </a:solidFill>
            <a:prstDash val="solid"/>
          </a:ln>
        </p:spPr>
      </p:sp>
      <p:sp>
        <p:nvSpPr>
          <p:cNvPr id="13" name="Text 11"/>
          <p:cNvSpPr txBox="1"/>
          <p:nvPr/>
        </p:nvSpPr>
        <p:spPr>
          <a:xfrm>
            <a:off x="594360" y="2057400"/>
            <a:ext cx="2103120" cy="566928"/>
          </a:xfrm>
          <a:prstGeom prst="rect">
            <a:avLst/>
          </a:prstGeom>
          <a:noFill/>
          <a:ln/>
        </p:spPr>
        <p:txBody>
          <a:bodyPr wrap="square" lIns="0" tIns="0" rIns="0" bIns="0" rtlCol="0" anchor="ctr"/>
          <a:lstStyle/>
          <a:p>
            <a:pPr indent="0" marL="0">
              <a:buNone/>
            </a:pPr>
            <a:r>
              <a:rPr lang="en-US" sz="1300" dirty="0">
                <a:solidFill>
                  <a:schemeClr val="bg1"/>
                </a:solidFill>
              </a:rPr>
              <a:t>2. Lowest point in period 3</a:t>
            </a:r>
            <a:endParaRPr lang="en-US" sz="1300" dirty="0"/>
          </a:p>
        </p:txBody>
      </p:sp>
      <p:sp>
        <p:nvSpPr>
          <p:cNvPr id="14" name="Text 12"/>
          <p:cNvSpPr txBox="1"/>
          <p:nvPr/>
        </p:nvSpPr>
        <p:spPr>
          <a:xfrm>
            <a:off x="2651760" y="2057400"/>
            <a:ext cx="420624" cy="566928"/>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sp>
        <p:nvSpPr>
          <p:cNvPr id="15" name="Mission 3"/>
          <p:cNvSpPr/>
          <p:nvPr/>
        </p:nvSpPr>
        <p:spPr>
          <a:xfrm>
            <a:off x="457200" y="2743200"/>
            <a:ext cx="3291840" cy="566928"/>
          </a:xfrm>
          <a:prstGeom prst="roundRect">
            <a:avLst>
              <a:gd name="adj" fmla="val 16129"/>
            </a:avLst>
          </a:prstGeom>
          <a:solidFill>
            <a:schemeClr val="tx2"/>
          </a:solidFill>
          <a:ln w="9525">
            <a:solidFill>
              <a:schemeClr val="bg2">
                <a:alpha val="30000"/>
              </a:schemeClr>
            </a:solidFill>
            <a:prstDash val="solid"/>
          </a:ln>
        </p:spPr>
      </p:sp>
      <p:sp>
        <p:nvSpPr>
          <p:cNvPr id="16" name="Text 14"/>
          <p:cNvSpPr txBox="1"/>
          <p:nvPr/>
        </p:nvSpPr>
        <p:spPr>
          <a:xfrm>
            <a:off x="594360" y="2743200"/>
            <a:ext cx="2103120" cy="566928"/>
          </a:xfrm>
          <a:prstGeom prst="rect">
            <a:avLst/>
          </a:prstGeom>
          <a:noFill/>
          <a:ln/>
        </p:spPr>
        <p:txBody>
          <a:bodyPr wrap="square" lIns="0" tIns="0" rIns="0" bIns="0" rtlCol="0" anchor="ctr"/>
          <a:lstStyle/>
          <a:p>
            <a:pPr indent="0" marL="0">
              <a:buNone/>
            </a:pPr>
            <a:r>
              <a:rPr lang="en-US" sz="1300" dirty="0">
                <a:solidFill>
                  <a:schemeClr val="bg1"/>
                </a:solidFill>
              </a:rPr>
              <a:t>3. Highest point in period 2</a:t>
            </a:r>
            <a:endParaRPr lang="en-US" sz="1300" dirty="0"/>
          </a:p>
        </p:txBody>
      </p:sp>
      <p:sp>
        <p:nvSpPr>
          <p:cNvPr id="17" name="Text 15"/>
          <p:cNvSpPr txBox="1"/>
          <p:nvPr/>
        </p:nvSpPr>
        <p:spPr>
          <a:xfrm>
            <a:off x="2651760" y="2743200"/>
            <a:ext cx="420624" cy="566928"/>
          </a:xfrm>
          <a:prstGeom prst="rect">
            <a:avLst/>
          </a:prstGeom>
          <a:noFill/>
          <a:ln/>
        </p:spPr>
        <p:txBody>
          <a:bodyPr wrap="square" lIns="0" tIns="0" rIns="0" bIns="0" rtlCol="0" anchor="ctr"/>
          <a:lstStyle/>
          <a:p>
            <a:pPr algn="ctr" indent="0" marL="0">
              <a:buNone/>
            </a:pPr>
            <a:r>
              <a:rPr lang="en-US" sz="1800" b="1" dirty="0">
                <a:solidFill>
                  <a:schemeClr val="bg2"/>
                </a:solidFill>
              </a:rPr>
              <a:t>?</a:t>
            </a:r>
            <a:endParaRPr lang="en-US" sz="1800" dirty="0"/>
          </a:p>
        </p:txBody>
      </p:sp>
      <p:graphicFrame>
        <p:nvGraphicFramePr>
          <p:cNvPr id="18" name="Chart 0" descr=""/>
          <p:cNvGraphicFramePr/>
          <p:nvPr/>
        </p:nvGraphicFramePr>
        <p:xfrm>
          <a:off x="3931920" y="1280160"/>
          <a:ext cx="4754880" cy="30175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e"/>
          <p:cNvSpPr/>
          <p:nvPr/>
        </p:nvSpPr>
        <p:spPr>
          <a:xfrm>
            <a:off x="741950" y="682697"/>
            <a:ext cx="180308" cy="18030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Ne</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Read the graph</a:t>
            </a:r>
            <a:endParaRPr lang="en-US" sz="2800" dirty="0"/>
          </a:p>
        </p:txBody>
      </p:sp>
      <p:sp>
        <p:nvSpPr>
          <p:cNvPr id="10" name="Mission 1"/>
          <p:cNvSpPr/>
          <p:nvPr/>
        </p:nvSpPr>
        <p:spPr>
          <a:xfrm>
            <a:off x="457200" y="1371600"/>
            <a:ext cx="3291840" cy="566928"/>
          </a:xfrm>
          <a:prstGeom prst="roundRect">
            <a:avLst>
              <a:gd name="adj" fmla="val 16129"/>
            </a:avLst>
          </a:prstGeom>
          <a:solidFill>
            <a:schemeClr val="tx2"/>
          </a:solidFill>
          <a:ln w="9525">
            <a:solidFill>
              <a:schemeClr val="bg2">
                <a:alpha val="30000"/>
              </a:schemeClr>
            </a:solidFill>
            <a:prstDash val="solid"/>
          </a:ln>
        </p:spPr>
      </p:sp>
      <p:sp>
        <p:nvSpPr>
          <p:cNvPr id="11" name="Text 9"/>
          <p:cNvSpPr txBox="1"/>
          <p:nvPr/>
        </p:nvSpPr>
        <p:spPr>
          <a:xfrm>
            <a:off x="594360" y="1371600"/>
            <a:ext cx="2103120" cy="566928"/>
          </a:xfrm>
          <a:prstGeom prst="rect">
            <a:avLst/>
          </a:prstGeom>
          <a:noFill/>
          <a:ln/>
        </p:spPr>
        <p:txBody>
          <a:bodyPr wrap="square" lIns="0" tIns="0" rIns="0" bIns="0" rtlCol="0" anchor="ctr"/>
          <a:lstStyle/>
          <a:p>
            <a:pPr indent="0" marL="0">
              <a:buNone/>
            </a:pPr>
            <a:r>
              <a:rPr lang="en-US" sz="1300" dirty="0">
                <a:solidFill>
                  <a:schemeClr val="bg1"/>
                </a:solidFill>
              </a:rPr>
              <a:t>1. Highest point on the graph</a:t>
            </a:r>
            <a:endParaRPr lang="en-US" sz="1300" dirty="0"/>
          </a:p>
        </p:txBody>
      </p:sp>
      <p:sp>
        <p:nvSpPr>
          <p:cNvPr id="12" name="Tile He"/>
          <p:cNvSpPr/>
          <p:nvPr/>
        </p:nvSpPr>
        <p:spPr>
          <a:xfrm>
            <a:off x="2651760" y="1444752"/>
            <a:ext cx="420624" cy="420624"/>
          </a:xfrm>
          <a:prstGeom prst="roundRect">
            <a:avLst>
              <a:gd name="adj" fmla="val 12000"/>
            </a:avLst>
          </a:prstGeom>
          <a:solidFill>
            <a:srgbClr val="A084FF">
              <a:alpha val="30000"/>
            </a:srgbClr>
          </a:solidFill>
          <a:ln w="19050">
            <a:solidFill>
              <a:srgbClr val="A084FF"/>
            </a:solidFill>
            <a:prstDash val="solid"/>
          </a:ln>
        </p:spPr>
      </p:sp>
      <p:sp>
        <p:nvSpPr>
          <p:cNvPr id="13" name="Text 11"/>
          <p:cNvSpPr txBox="1"/>
          <p:nvPr/>
        </p:nvSpPr>
        <p:spPr>
          <a:xfrm>
            <a:off x="2685410" y="1465783"/>
            <a:ext cx="252374" cy="100950"/>
          </a:xfrm>
          <a:prstGeom prst="rect">
            <a:avLst/>
          </a:prstGeom>
          <a:noFill/>
          <a:ln/>
        </p:spPr>
        <p:txBody>
          <a:bodyPr wrap="square" lIns="0" tIns="0" rIns="0" bIns="0" rtlCol="0" anchor="t"/>
          <a:lstStyle/>
          <a:p>
            <a:pPr indent="0" marL="0">
              <a:buNone/>
            </a:pPr>
            <a:r>
              <a:rPr lang="en-US" sz="600" dirty="0">
                <a:solidFill>
                  <a:schemeClr val="bg2"/>
                </a:solidFill>
              </a:rPr>
              <a:t>2</a:t>
            </a:r>
            <a:endParaRPr lang="en-US" sz="600" dirty="0"/>
          </a:p>
        </p:txBody>
      </p:sp>
      <p:sp>
        <p:nvSpPr>
          <p:cNvPr id="14" name="Text 12"/>
          <p:cNvSpPr txBox="1"/>
          <p:nvPr/>
        </p:nvSpPr>
        <p:spPr>
          <a:xfrm>
            <a:off x="2651760" y="15120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He</a:t>
            </a:r>
            <a:endParaRPr lang="en-US" sz="1500" dirty="0"/>
          </a:p>
        </p:txBody>
      </p:sp>
      <p:sp>
        <p:nvSpPr>
          <p:cNvPr id="15" name="Text 13"/>
          <p:cNvSpPr txBox="1"/>
          <p:nvPr/>
        </p:nvSpPr>
        <p:spPr>
          <a:xfrm>
            <a:off x="3108960" y="1371600"/>
            <a:ext cx="594360" cy="566928"/>
          </a:xfrm>
          <a:prstGeom prst="rect">
            <a:avLst/>
          </a:prstGeom>
          <a:noFill/>
          <a:ln/>
        </p:spPr>
        <p:txBody>
          <a:bodyPr wrap="square" lIns="0" tIns="0" rIns="0" bIns="0" rtlCol="0" anchor="ctr"/>
          <a:lstStyle/>
          <a:p>
            <a:pPr indent="0" marL="0">
              <a:buNone/>
            </a:pPr>
            <a:r>
              <a:rPr lang="en-US" sz="1100" dirty="0">
                <a:solidFill>
                  <a:schemeClr val="bg2"/>
                </a:solidFill>
              </a:rPr>
              <a:t>2372</a:t>
            </a:r>
            <a:endParaRPr lang="en-US" sz="1100" dirty="0"/>
          </a:p>
        </p:txBody>
      </p:sp>
      <p:sp>
        <p:nvSpPr>
          <p:cNvPr id="16" name="Mission 2"/>
          <p:cNvSpPr/>
          <p:nvPr/>
        </p:nvSpPr>
        <p:spPr>
          <a:xfrm>
            <a:off x="457200" y="2057400"/>
            <a:ext cx="3291840" cy="566928"/>
          </a:xfrm>
          <a:prstGeom prst="roundRect">
            <a:avLst>
              <a:gd name="adj" fmla="val 16129"/>
            </a:avLst>
          </a:prstGeom>
          <a:solidFill>
            <a:schemeClr val="tx2"/>
          </a:solidFill>
          <a:ln w="9525">
            <a:solidFill>
              <a:schemeClr val="bg2">
                <a:alpha val="30000"/>
              </a:schemeClr>
            </a:solidFill>
            <a:prstDash val="solid"/>
          </a:ln>
        </p:spPr>
      </p:sp>
      <p:sp>
        <p:nvSpPr>
          <p:cNvPr id="17" name="Text 15"/>
          <p:cNvSpPr txBox="1"/>
          <p:nvPr/>
        </p:nvSpPr>
        <p:spPr>
          <a:xfrm>
            <a:off x="594360" y="2057400"/>
            <a:ext cx="2103120" cy="566928"/>
          </a:xfrm>
          <a:prstGeom prst="rect">
            <a:avLst/>
          </a:prstGeom>
          <a:noFill/>
          <a:ln/>
        </p:spPr>
        <p:txBody>
          <a:bodyPr wrap="square" lIns="0" tIns="0" rIns="0" bIns="0" rtlCol="0" anchor="ctr"/>
          <a:lstStyle/>
          <a:p>
            <a:pPr indent="0" marL="0">
              <a:buNone/>
            </a:pPr>
            <a:r>
              <a:rPr lang="en-US" sz="1300" dirty="0">
                <a:solidFill>
                  <a:schemeClr val="bg1"/>
                </a:solidFill>
              </a:rPr>
              <a:t>2. Lowest point in period 3</a:t>
            </a:r>
            <a:endParaRPr lang="en-US" sz="1300" dirty="0"/>
          </a:p>
        </p:txBody>
      </p:sp>
      <p:sp>
        <p:nvSpPr>
          <p:cNvPr id="18" name="Tile Na"/>
          <p:cNvSpPr/>
          <p:nvPr/>
        </p:nvSpPr>
        <p:spPr>
          <a:xfrm>
            <a:off x="2651760" y="2130552"/>
            <a:ext cx="420624" cy="420624"/>
          </a:xfrm>
          <a:prstGeom prst="roundRect">
            <a:avLst>
              <a:gd name="adj" fmla="val 12000"/>
            </a:avLst>
          </a:prstGeom>
          <a:solidFill>
            <a:srgbClr val="FF8F5E">
              <a:alpha val="30000"/>
            </a:srgbClr>
          </a:solidFill>
          <a:ln w="19050">
            <a:solidFill>
              <a:srgbClr val="FF8F5E"/>
            </a:solidFill>
            <a:prstDash val="solid"/>
          </a:ln>
        </p:spPr>
      </p:sp>
      <p:sp>
        <p:nvSpPr>
          <p:cNvPr id="19" name="Text 17"/>
          <p:cNvSpPr txBox="1"/>
          <p:nvPr/>
        </p:nvSpPr>
        <p:spPr>
          <a:xfrm>
            <a:off x="2685410" y="2151583"/>
            <a:ext cx="252374" cy="100950"/>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20" name="Text 18"/>
          <p:cNvSpPr txBox="1"/>
          <p:nvPr/>
        </p:nvSpPr>
        <p:spPr>
          <a:xfrm>
            <a:off x="2651760" y="21978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a:t>
            </a:r>
            <a:endParaRPr lang="en-US" sz="1500" dirty="0"/>
          </a:p>
        </p:txBody>
      </p:sp>
      <p:sp>
        <p:nvSpPr>
          <p:cNvPr id="21" name="Text 19"/>
          <p:cNvSpPr txBox="1"/>
          <p:nvPr/>
        </p:nvSpPr>
        <p:spPr>
          <a:xfrm>
            <a:off x="3108960" y="2057400"/>
            <a:ext cx="594360" cy="566928"/>
          </a:xfrm>
          <a:prstGeom prst="rect">
            <a:avLst/>
          </a:prstGeom>
          <a:noFill/>
          <a:ln/>
        </p:spPr>
        <p:txBody>
          <a:bodyPr wrap="square" lIns="0" tIns="0" rIns="0" bIns="0" rtlCol="0" anchor="ctr"/>
          <a:lstStyle/>
          <a:p>
            <a:pPr indent="0" marL="0">
              <a:buNone/>
            </a:pPr>
            <a:r>
              <a:rPr lang="en-US" sz="1100" dirty="0">
                <a:solidFill>
                  <a:schemeClr val="bg2"/>
                </a:solidFill>
              </a:rPr>
              <a:t>496</a:t>
            </a:r>
            <a:endParaRPr lang="en-US" sz="1100" dirty="0"/>
          </a:p>
        </p:txBody>
      </p:sp>
      <p:sp>
        <p:nvSpPr>
          <p:cNvPr id="22" name="Mission 3"/>
          <p:cNvSpPr/>
          <p:nvPr/>
        </p:nvSpPr>
        <p:spPr>
          <a:xfrm>
            <a:off x="457200" y="2743200"/>
            <a:ext cx="3291840" cy="566928"/>
          </a:xfrm>
          <a:prstGeom prst="roundRect">
            <a:avLst>
              <a:gd name="adj" fmla="val 16129"/>
            </a:avLst>
          </a:prstGeom>
          <a:solidFill>
            <a:schemeClr val="tx2"/>
          </a:solidFill>
          <a:ln w="9525">
            <a:solidFill>
              <a:schemeClr val="bg2">
                <a:alpha val="30000"/>
              </a:schemeClr>
            </a:solidFill>
            <a:prstDash val="solid"/>
          </a:ln>
        </p:spPr>
      </p:sp>
      <p:sp>
        <p:nvSpPr>
          <p:cNvPr id="23" name="Text 21"/>
          <p:cNvSpPr txBox="1"/>
          <p:nvPr/>
        </p:nvSpPr>
        <p:spPr>
          <a:xfrm>
            <a:off x="594360" y="2743200"/>
            <a:ext cx="2103120" cy="566928"/>
          </a:xfrm>
          <a:prstGeom prst="rect">
            <a:avLst/>
          </a:prstGeom>
          <a:noFill/>
          <a:ln/>
        </p:spPr>
        <p:txBody>
          <a:bodyPr wrap="square" lIns="0" tIns="0" rIns="0" bIns="0" rtlCol="0" anchor="ctr"/>
          <a:lstStyle/>
          <a:p>
            <a:pPr indent="0" marL="0">
              <a:buNone/>
            </a:pPr>
            <a:r>
              <a:rPr lang="en-US" sz="1300" dirty="0">
                <a:solidFill>
                  <a:schemeClr val="bg1"/>
                </a:solidFill>
              </a:rPr>
              <a:t>3. Highest point in period 2</a:t>
            </a:r>
            <a:endParaRPr lang="en-US" sz="1300" dirty="0"/>
          </a:p>
        </p:txBody>
      </p:sp>
      <p:sp>
        <p:nvSpPr>
          <p:cNvPr id="24" name="Tile Ne"/>
          <p:cNvSpPr/>
          <p:nvPr/>
        </p:nvSpPr>
        <p:spPr>
          <a:xfrm>
            <a:off x="2651760" y="2816352"/>
            <a:ext cx="420624" cy="420624"/>
          </a:xfrm>
          <a:prstGeom prst="roundRect">
            <a:avLst>
              <a:gd name="adj" fmla="val 12000"/>
            </a:avLst>
          </a:prstGeom>
          <a:solidFill>
            <a:srgbClr val="A084FF">
              <a:alpha val="30000"/>
            </a:srgbClr>
          </a:solidFill>
          <a:ln w="19050">
            <a:solidFill>
              <a:srgbClr val="A084FF"/>
            </a:solidFill>
            <a:prstDash val="solid"/>
          </a:ln>
        </p:spPr>
      </p:sp>
      <p:sp>
        <p:nvSpPr>
          <p:cNvPr id="25" name="Text 23"/>
          <p:cNvSpPr txBox="1"/>
          <p:nvPr/>
        </p:nvSpPr>
        <p:spPr>
          <a:xfrm>
            <a:off x="2685410" y="2837383"/>
            <a:ext cx="252374" cy="100950"/>
          </a:xfrm>
          <a:prstGeom prst="rect">
            <a:avLst/>
          </a:prstGeom>
          <a:noFill/>
          <a:ln/>
        </p:spPr>
        <p:txBody>
          <a:bodyPr wrap="square" lIns="0" tIns="0" rIns="0" bIns="0" rtlCol="0" anchor="t"/>
          <a:lstStyle/>
          <a:p>
            <a:pPr indent="0" marL="0">
              <a:buNone/>
            </a:pPr>
            <a:r>
              <a:rPr lang="en-US" sz="600" dirty="0">
                <a:solidFill>
                  <a:schemeClr val="bg2"/>
                </a:solidFill>
              </a:rPr>
              <a:t>10</a:t>
            </a:r>
            <a:endParaRPr lang="en-US" sz="600" dirty="0"/>
          </a:p>
        </p:txBody>
      </p:sp>
      <p:sp>
        <p:nvSpPr>
          <p:cNvPr id="26" name="Text 24"/>
          <p:cNvSpPr txBox="1"/>
          <p:nvPr/>
        </p:nvSpPr>
        <p:spPr>
          <a:xfrm>
            <a:off x="2651760" y="2883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Ne</a:t>
            </a:r>
            <a:endParaRPr lang="en-US" sz="1500" dirty="0"/>
          </a:p>
        </p:txBody>
      </p:sp>
      <p:sp>
        <p:nvSpPr>
          <p:cNvPr id="27" name="Text 25"/>
          <p:cNvSpPr txBox="1"/>
          <p:nvPr/>
        </p:nvSpPr>
        <p:spPr>
          <a:xfrm>
            <a:off x="3108960" y="2743200"/>
            <a:ext cx="594360" cy="566928"/>
          </a:xfrm>
          <a:prstGeom prst="rect">
            <a:avLst/>
          </a:prstGeom>
          <a:noFill/>
          <a:ln/>
        </p:spPr>
        <p:txBody>
          <a:bodyPr wrap="square" lIns="0" tIns="0" rIns="0" bIns="0" rtlCol="0" anchor="ctr"/>
          <a:lstStyle/>
          <a:p>
            <a:pPr indent="0" marL="0">
              <a:buNone/>
            </a:pPr>
            <a:r>
              <a:rPr lang="en-US" sz="1100" dirty="0">
                <a:solidFill>
                  <a:schemeClr val="bg2"/>
                </a:solidFill>
              </a:rPr>
              <a:t>2081</a:t>
            </a:r>
            <a:endParaRPr lang="en-US" sz="1100" dirty="0"/>
          </a:p>
        </p:txBody>
      </p:sp>
      <p:graphicFrame>
        <p:nvGraphicFramePr>
          <p:cNvPr id="28" name="Chart 0" descr=""/>
          <p:cNvGraphicFramePr/>
          <p:nvPr/>
        </p:nvGraphicFramePr>
        <p:xfrm>
          <a:off x="3931920" y="1280160"/>
          <a:ext cx="4754880" cy="30175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e"/>
          <p:cNvSpPr/>
          <p:nvPr/>
        </p:nvSpPr>
        <p:spPr>
          <a:xfrm>
            <a:off x="741950" y="682697"/>
            <a:ext cx="180308" cy="18030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Ne</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Which needs more energy?</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Pick the atom with the higher ionization energy. Atoms are drawn to scale.</a:t>
            </a:r>
            <a:endParaRPr lang="en-US" sz="1300" dirty="0"/>
          </a:p>
        </p:txBody>
      </p:sp>
      <p:sp>
        <p:nvSpPr>
          <p:cNvPr id="10" name="Pair 1"/>
          <p:cNvSpPr/>
          <p:nvPr/>
        </p:nvSpPr>
        <p:spPr>
          <a:xfrm>
            <a:off x="457200"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11" name="Text 9"/>
          <p:cNvSpPr txBox="1"/>
          <p:nvPr/>
        </p:nvSpPr>
        <p:spPr>
          <a:xfrm>
            <a:off x="548640"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12" name="Tile Na"/>
          <p:cNvSpPr/>
          <p:nvPr/>
        </p:nvSpPr>
        <p:spPr>
          <a:xfrm>
            <a:off x="630936"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13" name="Text 11"/>
          <p:cNvSpPr txBox="1"/>
          <p:nvPr/>
        </p:nvSpPr>
        <p:spPr>
          <a:xfrm>
            <a:off x="673364"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11</a:t>
            </a:r>
            <a:endParaRPr lang="en-US" sz="800" dirty="0"/>
          </a:p>
        </p:txBody>
      </p:sp>
      <p:sp>
        <p:nvSpPr>
          <p:cNvPr id="14" name="Text 12"/>
          <p:cNvSpPr txBox="1"/>
          <p:nvPr/>
        </p:nvSpPr>
        <p:spPr>
          <a:xfrm>
            <a:off x="630936"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Na</a:t>
            </a:r>
            <a:endParaRPr lang="en-US" sz="2000" dirty="0"/>
          </a:p>
        </p:txBody>
      </p:sp>
      <p:sp>
        <p:nvSpPr>
          <p:cNvPr id="15" name="Tile Cl"/>
          <p:cNvSpPr/>
          <p:nvPr/>
        </p:nvSpPr>
        <p:spPr>
          <a:xfrm>
            <a:off x="1307592" y="2075688"/>
            <a:ext cx="530352" cy="585216"/>
          </a:xfrm>
          <a:prstGeom prst="roundRect">
            <a:avLst>
              <a:gd name="adj" fmla="val 12000"/>
            </a:avLst>
          </a:prstGeom>
          <a:solidFill>
            <a:srgbClr val="F477B8">
              <a:alpha val="30000"/>
            </a:srgbClr>
          </a:solidFill>
          <a:ln w="19050">
            <a:solidFill>
              <a:srgbClr val="F477B8"/>
            </a:solidFill>
            <a:prstDash val="solid"/>
          </a:ln>
        </p:spPr>
      </p:sp>
      <p:sp>
        <p:nvSpPr>
          <p:cNvPr id="16" name="Text 14"/>
          <p:cNvSpPr txBox="1"/>
          <p:nvPr/>
        </p:nvSpPr>
        <p:spPr>
          <a:xfrm>
            <a:off x="1350020"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17</a:t>
            </a:r>
            <a:endParaRPr lang="en-US" sz="800" dirty="0"/>
          </a:p>
        </p:txBody>
      </p:sp>
      <p:sp>
        <p:nvSpPr>
          <p:cNvPr id="17" name="Text 15"/>
          <p:cNvSpPr txBox="1"/>
          <p:nvPr/>
        </p:nvSpPr>
        <p:spPr>
          <a:xfrm>
            <a:off x="1307592"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Cl</a:t>
            </a:r>
            <a:endParaRPr lang="en-US" sz="2000" dirty="0"/>
          </a:p>
        </p:txBody>
      </p:sp>
      <p:sp>
        <p:nvSpPr>
          <p:cNvPr id="18" name="Sodium atom"/>
          <p:cNvSpPr/>
          <p:nvPr/>
        </p:nvSpPr>
        <p:spPr>
          <a:xfrm>
            <a:off x="618134" y="2922422"/>
            <a:ext cx="555955" cy="555955"/>
          </a:xfrm>
          <a:prstGeom prst="ellipse">
            <a:avLst/>
          </a:prstGeom>
          <a:solidFill>
            <a:schemeClr val="accent1">
              <a:alpha val="20000"/>
            </a:schemeClr>
          </a:solidFill>
          <a:ln w="12700">
            <a:solidFill>
              <a:schemeClr val="accent1">
                <a:alpha val="70000"/>
              </a:schemeClr>
            </a:solidFill>
            <a:prstDash val="dash"/>
          </a:ln>
        </p:spPr>
      </p:sp>
      <p:sp>
        <p:nvSpPr>
          <p:cNvPr id="19" name="Nucleus"/>
          <p:cNvSpPr/>
          <p:nvPr/>
        </p:nvSpPr>
        <p:spPr>
          <a:xfrm>
            <a:off x="859536" y="3163824"/>
            <a:ext cx="73152" cy="73152"/>
          </a:xfrm>
          <a:prstGeom prst="ellipse">
            <a:avLst/>
          </a:prstGeom>
          <a:solidFill>
            <a:srgbClr val="E0654F"/>
          </a:solidFill>
          <a:ln w="6350">
            <a:solidFill>
              <a:srgbClr val="E0654F"/>
            </a:solidFill>
            <a:prstDash val="solid"/>
          </a:ln>
        </p:spPr>
      </p:sp>
      <p:sp>
        <p:nvSpPr>
          <p:cNvPr id="20" name="Chlorine atom"/>
          <p:cNvSpPr/>
          <p:nvPr/>
        </p:nvSpPr>
        <p:spPr>
          <a:xfrm>
            <a:off x="1457188" y="3084820"/>
            <a:ext cx="231160" cy="231160"/>
          </a:xfrm>
          <a:prstGeom prst="ellipse">
            <a:avLst/>
          </a:prstGeom>
          <a:solidFill>
            <a:schemeClr val="accent1">
              <a:alpha val="20000"/>
            </a:schemeClr>
          </a:solidFill>
          <a:ln w="12700">
            <a:solidFill>
              <a:schemeClr val="accent1">
                <a:alpha val="70000"/>
              </a:schemeClr>
            </a:solidFill>
            <a:prstDash val="dash"/>
          </a:ln>
        </p:spPr>
      </p:sp>
      <p:sp>
        <p:nvSpPr>
          <p:cNvPr id="21" name="Nucleus"/>
          <p:cNvSpPr/>
          <p:nvPr/>
        </p:nvSpPr>
        <p:spPr>
          <a:xfrm>
            <a:off x="1536192" y="3163824"/>
            <a:ext cx="73152" cy="73152"/>
          </a:xfrm>
          <a:prstGeom prst="ellipse">
            <a:avLst/>
          </a:prstGeom>
          <a:solidFill>
            <a:srgbClr val="E0654F"/>
          </a:solidFill>
          <a:ln w="6350">
            <a:solidFill>
              <a:srgbClr val="E0654F"/>
            </a:solidFill>
            <a:prstDash val="solid"/>
          </a:ln>
        </p:spPr>
      </p:sp>
      <p:sp>
        <p:nvSpPr>
          <p:cNvPr id="22" name="Text 20"/>
          <p:cNvSpPr txBox="1"/>
          <p:nvPr/>
        </p:nvSpPr>
        <p:spPr>
          <a:xfrm>
            <a:off x="457200" y="3931920"/>
            <a:ext cx="1554480" cy="457200"/>
          </a:xfrm>
          <a:prstGeom prst="rect">
            <a:avLst/>
          </a:prstGeom>
          <a:noFill/>
          <a:ln/>
        </p:spPr>
        <p:txBody>
          <a:bodyPr wrap="square" lIns="0" tIns="0" rIns="0" bIns="0" rtlCol="0" anchor="t"/>
          <a:lstStyle/>
          <a:p>
            <a:pPr algn="ctr" indent="0" marL="0">
              <a:buNone/>
            </a:pPr>
            <a:r>
              <a:rPr lang="en-US" sz="2400" b="1" dirty="0">
                <a:solidFill>
                  <a:schemeClr val="bg2"/>
                </a:solidFill>
              </a:rPr>
              <a:t>?</a:t>
            </a:r>
            <a:endParaRPr lang="en-US" sz="2400" dirty="0"/>
          </a:p>
        </p:txBody>
      </p:sp>
      <p:sp>
        <p:nvSpPr>
          <p:cNvPr id="23" name="Pair 2"/>
          <p:cNvSpPr/>
          <p:nvPr/>
        </p:nvSpPr>
        <p:spPr>
          <a:xfrm>
            <a:off x="2121408"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24" name="Text 22"/>
          <p:cNvSpPr txBox="1"/>
          <p:nvPr/>
        </p:nvSpPr>
        <p:spPr>
          <a:xfrm>
            <a:off x="2212848"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2</a:t>
            </a:r>
            <a:endParaRPr lang="en-US" sz="1200" dirty="0"/>
          </a:p>
        </p:txBody>
      </p:sp>
      <p:sp>
        <p:nvSpPr>
          <p:cNvPr id="25" name="Tile Li"/>
          <p:cNvSpPr/>
          <p:nvPr/>
        </p:nvSpPr>
        <p:spPr>
          <a:xfrm>
            <a:off x="2295144"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26" name="Text 24"/>
          <p:cNvSpPr txBox="1"/>
          <p:nvPr/>
        </p:nvSpPr>
        <p:spPr>
          <a:xfrm>
            <a:off x="2337572"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3</a:t>
            </a:r>
            <a:endParaRPr lang="en-US" sz="800" dirty="0"/>
          </a:p>
        </p:txBody>
      </p:sp>
      <p:sp>
        <p:nvSpPr>
          <p:cNvPr id="27" name="Text 25"/>
          <p:cNvSpPr txBox="1"/>
          <p:nvPr/>
        </p:nvSpPr>
        <p:spPr>
          <a:xfrm>
            <a:off x="2295144"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Li</a:t>
            </a:r>
            <a:endParaRPr lang="en-US" sz="2000" dirty="0"/>
          </a:p>
        </p:txBody>
      </p:sp>
      <p:sp>
        <p:nvSpPr>
          <p:cNvPr id="28" name="Tile K"/>
          <p:cNvSpPr/>
          <p:nvPr/>
        </p:nvSpPr>
        <p:spPr>
          <a:xfrm>
            <a:off x="2971800"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29" name="Text 27"/>
          <p:cNvSpPr txBox="1"/>
          <p:nvPr/>
        </p:nvSpPr>
        <p:spPr>
          <a:xfrm>
            <a:off x="3014228"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19</a:t>
            </a:r>
            <a:endParaRPr lang="en-US" sz="800" dirty="0"/>
          </a:p>
        </p:txBody>
      </p:sp>
      <p:sp>
        <p:nvSpPr>
          <p:cNvPr id="30" name="Text 28"/>
          <p:cNvSpPr txBox="1"/>
          <p:nvPr/>
        </p:nvSpPr>
        <p:spPr>
          <a:xfrm>
            <a:off x="2971800"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K</a:t>
            </a:r>
            <a:endParaRPr lang="en-US" sz="2000" dirty="0"/>
          </a:p>
        </p:txBody>
      </p:sp>
      <p:sp>
        <p:nvSpPr>
          <p:cNvPr id="31" name="Lithium atom"/>
          <p:cNvSpPr/>
          <p:nvPr/>
        </p:nvSpPr>
        <p:spPr>
          <a:xfrm>
            <a:off x="2315992" y="2956072"/>
            <a:ext cx="488655" cy="488655"/>
          </a:xfrm>
          <a:prstGeom prst="ellipse">
            <a:avLst/>
          </a:prstGeom>
          <a:solidFill>
            <a:schemeClr val="accent1">
              <a:alpha val="20000"/>
            </a:schemeClr>
          </a:solidFill>
          <a:ln w="12700">
            <a:solidFill>
              <a:schemeClr val="accent1">
                <a:alpha val="70000"/>
              </a:schemeClr>
            </a:solidFill>
            <a:prstDash val="dash"/>
          </a:ln>
        </p:spPr>
      </p:sp>
      <p:sp>
        <p:nvSpPr>
          <p:cNvPr id="32" name="Nucleus"/>
          <p:cNvSpPr/>
          <p:nvPr/>
        </p:nvSpPr>
        <p:spPr>
          <a:xfrm>
            <a:off x="2523744" y="3163824"/>
            <a:ext cx="73152" cy="73152"/>
          </a:xfrm>
          <a:prstGeom prst="ellipse">
            <a:avLst/>
          </a:prstGeom>
          <a:solidFill>
            <a:srgbClr val="E0654F"/>
          </a:solidFill>
          <a:ln w="6350">
            <a:solidFill>
              <a:srgbClr val="E0654F"/>
            </a:solidFill>
            <a:prstDash val="solid"/>
          </a:ln>
        </p:spPr>
      </p:sp>
      <p:sp>
        <p:nvSpPr>
          <p:cNvPr id="33" name="Potassium atom"/>
          <p:cNvSpPr/>
          <p:nvPr/>
        </p:nvSpPr>
        <p:spPr>
          <a:xfrm>
            <a:off x="2881457" y="2844881"/>
            <a:ext cx="711037" cy="711037"/>
          </a:xfrm>
          <a:prstGeom prst="ellipse">
            <a:avLst/>
          </a:prstGeom>
          <a:solidFill>
            <a:schemeClr val="accent1">
              <a:alpha val="20000"/>
            </a:schemeClr>
          </a:solidFill>
          <a:ln w="12700">
            <a:solidFill>
              <a:schemeClr val="accent1">
                <a:alpha val="70000"/>
              </a:schemeClr>
            </a:solidFill>
            <a:prstDash val="dash"/>
          </a:ln>
        </p:spPr>
      </p:sp>
      <p:sp>
        <p:nvSpPr>
          <p:cNvPr id="34" name="Nucleus"/>
          <p:cNvSpPr/>
          <p:nvPr/>
        </p:nvSpPr>
        <p:spPr>
          <a:xfrm>
            <a:off x="3200400" y="3163824"/>
            <a:ext cx="73152" cy="73152"/>
          </a:xfrm>
          <a:prstGeom prst="ellipse">
            <a:avLst/>
          </a:prstGeom>
          <a:solidFill>
            <a:srgbClr val="E0654F"/>
          </a:solidFill>
          <a:ln w="6350">
            <a:solidFill>
              <a:srgbClr val="E0654F"/>
            </a:solidFill>
            <a:prstDash val="solid"/>
          </a:ln>
        </p:spPr>
      </p:sp>
      <p:sp>
        <p:nvSpPr>
          <p:cNvPr id="35" name="Text 33"/>
          <p:cNvSpPr txBox="1"/>
          <p:nvPr/>
        </p:nvSpPr>
        <p:spPr>
          <a:xfrm>
            <a:off x="2121408" y="3931920"/>
            <a:ext cx="1554480" cy="457200"/>
          </a:xfrm>
          <a:prstGeom prst="rect">
            <a:avLst/>
          </a:prstGeom>
          <a:noFill/>
          <a:ln/>
        </p:spPr>
        <p:txBody>
          <a:bodyPr wrap="square" lIns="0" tIns="0" rIns="0" bIns="0" rtlCol="0" anchor="t"/>
          <a:lstStyle/>
          <a:p>
            <a:pPr algn="ctr" indent="0" marL="0">
              <a:buNone/>
            </a:pPr>
            <a:r>
              <a:rPr lang="en-US" sz="2400" b="1" dirty="0">
                <a:solidFill>
                  <a:schemeClr val="bg2"/>
                </a:solidFill>
              </a:rPr>
              <a:t>?</a:t>
            </a:r>
            <a:endParaRPr lang="en-US" sz="2400" dirty="0"/>
          </a:p>
        </p:txBody>
      </p:sp>
      <p:sp>
        <p:nvSpPr>
          <p:cNvPr id="36" name="Pair 3"/>
          <p:cNvSpPr/>
          <p:nvPr/>
        </p:nvSpPr>
        <p:spPr>
          <a:xfrm>
            <a:off x="3785616"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37" name="Text 35"/>
          <p:cNvSpPr txBox="1"/>
          <p:nvPr/>
        </p:nvSpPr>
        <p:spPr>
          <a:xfrm>
            <a:off x="3877056"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3</a:t>
            </a:r>
            <a:endParaRPr lang="en-US" sz="1200" dirty="0"/>
          </a:p>
        </p:txBody>
      </p:sp>
      <p:sp>
        <p:nvSpPr>
          <p:cNvPr id="38" name="Tile F"/>
          <p:cNvSpPr/>
          <p:nvPr/>
        </p:nvSpPr>
        <p:spPr>
          <a:xfrm>
            <a:off x="3959352" y="2075688"/>
            <a:ext cx="530352" cy="585216"/>
          </a:xfrm>
          <a:prstGeom prst="roundRect">
            <a:avLst>
              <a:gd name="adj" fmla="val 12000"/>
            </a:avLst>
          </a:prstGeom>
          <a:solidFill>
            <a:srgbClr val="F477B8">
              <a:alpha val="30000"/>
            </a:srgbClr>
          </a:solidFill>
          <a:ln w="19050">
            <a:solidFill>
              <a:srgbClr val="F477B8"/>
            </a:solidFill>
            <a:prstDash val="solid"/>
          </a:ln>
        </p:spPr>
      </p:sp>
      <p:sp>
        <p:nvSpPr>
          <p:cNvPr id="39" name="Text 37"/>
          <p:cNvSpPr txBox="1"/>
          <p:nvPr/>
        </p:nvSpPr>
        <p:spPr>
          <a:xfrm>
            <a:off x="4001780"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9</a:t>
            </a:r>
            <a:endParaRPr lang="en-US" sz="800" dirty="0"/>
          </a:p>
        </p:txBody>
      </p:sp>
      <p:sp>
        <p:nvSpPr>
          <p:cNvPr id="40" name="Text 38"/>
          <p:cNvSpPr txBox="1"/>
          <p:nvPr/>
        </p:nvSpPr>
        <p:spPr>
          <a:xfrm>
            <a:off x="3959352"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F</a:t>
            </a:r>
            <a:endParaRPr lang="en-US" sz="2000" dirty="0"/>
          </a:p>
        </p:txBody>
      </p:sp>
      <p:sp>
        <p:nvSpPr>
          <p:cNvPr id="41" name="Tile C"/>
          <p:cNvSpPr/>
          <p:nvPr/>
        </p:nvSpPr>
        <p:spPr>
          <a:xfrm>
            <a:off x="4636008" y="2075688"/>
            <a:ext cx="530352" cy="585216"/>
          </a:xfrm>
          <a:prstGeom prst="roundRect">
            <a:avLst>
              <a:gd name="adj" fmla="val 12000"/>
            </a:avLst>
          </a:prstGeom>
          <a:solidFill>
            <a:srgbClr val="45C08F">
              <a:alpha val="30000"/>
            </a:srgbClr>
          </a:solidFill>
          <a:ln w="19050">
            <a:solidFill>
              <a:srgbClr val="45C08F"/>
            </a:solidFill>
            <a:prstDash val="solid"/>
          </a:ln>
        </p:spPr>
      </p:sp>
      <p:sp>
        <p:nvSpPr>
          <p:cNvPr id="42" name="Text 40"/>
          <p:cNvSpPr txBox="1"/>
          <p:nvPr/>
        </p:nvSpPr>
        <p:spPr>
          <a:xfrm>
            <a:off x="4678436"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6</a:t>
            </a:r>
            <a:endParaRPr lang="en-US" sz="800" dirty="0"/>
          </a:p>
        </p:txBody>
      </p:sp>
      <p:sp>
        <p:nvSpPr>
          <p:cNvPr id="43" name="Text 41"/>
          <p:cNvSpPr txBox="1"/>
          <p:nvPr/>
        </p:nvSpPr>
        <p:spPr>
          <a:xfrm>
            <a:off x="4636008"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44" name="Fluorine atom"/>
          <p:cNvSpPr/>
          <p:nvPr/>
        </p:nvSpPr>
        <p:spPr>
          <a:xfrm>
            <a:off x="4160520" y="3136392"/>
            <a:ext cx="128016" cy="128016"/>
          </a:xfrm>
          <a:prstGeom prst="ellipse">
            <a:avLst/>
          </a:prstGeom>
          <a:solidFill>
            <a:schemeClr val="accent1">
              <a:alpha val="20000"/>
            </a:schemeClr>
          </a:solidFill>
          <a:ln w="12700">
            <a:solidFill>
              <a:schemeClr val="accent1">
                <a:alpha val="70000"/>
              </a:schemeClr>
            </a:solidFill>
            <a:prstDash val="dash"/>
          </a:ln>
        </p:spPr>
      </p:sp>
      <p:sp>
        <p:nvSpPr>
          <p:cNvPr id="45" name="Nucleus"/>
          <p:cNvSpPr/>
          <p:nvPr/>
        </p:nvSpPr>
        <p:spPr>
          <a:xfrm>
            <a:off x="4187952" y="3163824"/>
            <a:ext cx="73152" cy="73152"/>
          </a:xfrm>
          <a:prstGeom prst="ellipse">
            <a:avLst/>
          </a:prstGeom>
          <a:solidFill>
            <a:srgbClr val="E0654F"/>
          </a:solidFill>
          <a:ln w="6350">
            <a:solidFill>
              <a:srgbClr val="E0654F"/>
            </a:solidFill>
            <a:prstDash val="solid"/>
          </a:ln>
        </p:spPr>
      </p:sp>
      <p:sp>
        <p:nvSpPr>
          <p:cNvPr id="46" name="Carbon atom"/>
          <p:cNvSpPr/>
          <p:nvPr/>
        </p:nvSpPr>
        <p:spPr>
          <a:xfrm>
            <a:off x="4803160" y="3102376"/>
            <a:ext cx="196047" cy="196047"/>
          </a:xfrm>
          <a:prstGeom prst="ellipse">
            <a:avLst/>
          </a:prstGeom>
          <a:solidFill>
            <a:schemeClr val="accent1">
              <a:alpha val="20000"/>
            </a:schemeClr>
          </a:solidFill>
          <a:ln w="12700">
            <a:solidFill>
              <a:schemeClr val="accent1">
                <a:alpha val="70000"/>
              </a:schemeClr>
            </a:solidFill>
            <a:prstDash val="dash"/>
          </a:ln>
        </p:spPr>
      </p:sp>
      <p:sp>
        <p:nvSpPr>
          <p:cNvPr id="47" name="Nucleus"/>
          <p:cNvSpPr/>
          <p:nvPr/>
        </p:nvSpPr>
        <p:spPr>
          <a:xfrm>
            <a:off x="4864608" y="3163824"/>
            <a:ext cx="73152" cy="73152"/>
          </a:xfrm>
          <a:prstGeom prst="ellipse">
            <a:avLst/>
          </a:prstGeom>
          <a:solidFill>
            <a:srgbClr val="E0654F"/>
          </a:solidFill>
          <a:ln w="6350">
            <a:solidFill>
              <a:srgbClr val="E0654F"/>
            </a:solidFill>
            <a:prstDash val="solid"/>
          </a:ln>
        </p:spPr>
      </p:sp>
      <p:sp>
        <p:nvSpPr>
          <p:cNvPr id="48" name="Text 46"/>
          <p:cNvSpPr txBox="1"/>
          <p:nvPr/>
        </p:nvSpPr>
        <p:spPr>
          <a:xfrm>
            <a:off x="3785616" y="3931920"/>
            <a:ext cx="1554480" cy="457200"/>
          </a:xfrm>
          <a:prstGeom prst="rect">
            <a:avLst/>
          </a:prstGeom>
          <a:noFill/>
          <a:ln/>
        </p:spPr>
        <p:txBody>
          <a:bodyPr wrap="square" lIns="0" tIns="0" rIns="0" bIns="0" rtlCol="0" anchor="t"/>
          <a:lstStyle/>
          <a:p>
            <a:pPr algn="ctr" indent="0" marL="0">
              <a:buNone/>
            </a:pPr>
            <a:r>
              <a:rPr lang="en-US" sz="2400" b="1" dirty="0">
                <a:solidFill>
                  <a:schemeClr val="bg2"/>
                </a:solidFill>
              </a:rPr>
              <a:t>?</a:t>
            </a:r>
            <a:endParaRPr lang="en-US" sz="2400" dirty="0"/>
          </a:p>
        </p:txBody>
      </p:sp>
      <p:sp>
        <p:nvSpPr>
          <p:cNvPr id="49" name="Pair 4"/>
          <p:cNvSpPr/>
          <p:nvPr/>
        </p:nvSpPr>
        <p:spPr>
          <a:xfrm>
            <a:off x="5449824"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50" name="Text 48"/>
          <p:cNvSpPr txBox="1"/>
          <p:nvPr/>
        </p:nvSpPr>
        <p:spPr>
          <a:xfrm>
            <a:off x="5541264"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4</a:t>
            </a:r>
            <a:endParaRPr lang="en-US" sz="1200" dirty="0"/>
          </a:p>
        </p:txBody>
      </p:sp>
      <p:sp>
        <p:nvSpPr>
          <p:cNvPr id="51" name="Tile Mg"/>
          <p:cNvSpPr/>
          <p:nvPr/>
        </p:nvSpPr>
        <p:spPr>
          <a:xfrm>
            <a:off x="5623560" y="2075688"/>
            <a:ext cx="530352" cy="585216"/>
          </a:xfrm>
          <a:prstGeom prst="roundRect">
            <a:avLst>
              <a:gd name="adj" fmla="val 12000"/>
            </a:avLst>
          </a:prstGeom>
          <a:solidFill>
            <a:srgbClr val="FFCB5C">
              <a:alpha val="30000"/>
            </a:srgbClr>
          </a:solidFill>
          <a:ln w="19050">
            <a:solidFill>
              <a:srgbClr val="FFCB5C"/>
            </a:solidFill>
            <a:prstDash val="solid"/>
          </a:ln>
        </p:spPr>
      </p:sp>
      <p:sp>
        <p:nvSpPr>
          <p:cNvPr id="52" name="Text 50"/>
          <p:cNvSpPr txBox="1"/>
          <p:nvPr/>
        </p:nvSpPr>
        <p:spPr>
          <a:xfrm>
            <a:off x="5665988"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12</a:t>
            </a:r>
            <a:endParaRPr lang="en-US" sz="800" dirty="0"/>
          </a:p>
        </p:txBody>
      </p:sp>
      <p:sp>
        <p:nvSpPr>
          <p:cNvPr id="53" name="Text 51"/>
          <p:cNvSpPr txBox="1"/>
          <p:nvPr/>
        </p:nvSpPr>
        <p:spPr>
          <a:xfrm>
            <a:off x="5623560"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Mg</a:t>
            </a:r>
            <a:endParaRPr lang="en-US" sz="2000" dirty="0"/>
          </a:p>
        </p:txBody>
      </p:sp>
      <p:sp>
        <p:nvSpPr>
          <p:cNvPr id="54" name="Tile Ca"/>
          <p:cNvSpPr/>
          <p:nvPr/>
        </p:nvSpPr>
        <p:spPr>
          <a:xfrm>
            <a:off x="6300216" y="2075688"/>
            <a:ext cx="530352" cy="585216"/>
          </a:xfrm>
          <a:prstGeom prst="roundRect">
            <a:avLst>
              <a:gd name="adj" fmla="val 12000"/>
            </a:avLst>
          </a:prstGeom>
          <a:solidFill>
            <a:srgbClr val="FFCB5C">
              <a:alpha val="30000"/>
            </a:srgbClr>
          </a:solidFill>
          <a:ln w="19050">
            <a:solidFill>
              <a:srgbClr val="FFCB5C"/>
            </a:solidFill>
            <a:prstDash val="solid"/>
          </a:ln>
        </p:spPr>
      </p:sp>
      <p:sp>
        <p:nvSpPr>
          <p:cNvPr id="55" name="Text 53"/>
          <p:cNvSpPr txBox="1"/>
          <p:nvPr/>
        </p:nvSpPr>
        <p:spPr>
          <a:xfrm>
            <a:off x="6342644"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20</a:t>
            </a:r>
            <a:endParaRPr lang="en-US" sz="800" dirty="0"/>
          </a:p>
        </p:txBody>
      </p:sp>
      <p:sp>
        <p:nvSpPr>
          <p:cNvPr id="56" name="Text 54"/>
          <p:cNvSpPr txBox="1"/>
          <p:nvPr/>
        </p:nvSpPr>
        <p:spPr>
          <a:xfrm>
            <a:off x="6300216"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Ca</a:t>
            </a:r>
            <a:endParaRPr lang="en-US" sz="2000" dirty="0"/>
          </a:p>
        </p:txBody>
      </p:sp>
      <p:sp>
        <p:nvSpPr>
          <p:cNvPr id="57" name="Magnesium atom"/>
          <p:cNvSpPr/>
          <p:nvPr/>
        </p:nvSpPr>
        <p:spPr>
          <a:xfrm>
            <a:off x="5676595" y="2988259"/>
            <a:ext cx="424282" cy="424282"/>
          </a:xfrm>
          <a:prstGeom prst="ellipse">
            <a:avLst/>
          </a:prstGeom>
          <a:solidFill>
            <a:schemeClr val="accent1">
              <a:alpha val="20000"/>
            </a:schemeClr>
          </a:solidFill>
          <a:ln w="12700">
            <a:solidFill>
              <a:schemeClr val="accent1">
                <a:alpha val="70000"/>
              </a:schemeClr>
            </a:solidFill>
            <a:prstDash val="dash"/>
          </a:ln>
        </p:spPr>
      </p:sp>
      <p:sp>
        <p:nvSpPr>
          <p:cNvPr id="58" name="Nucleus"/>
          <p:cNvSpPr/>
          <p:nvPr/>
        </p:nvSpPr>
        <p:spPr>
          <a:xfrm>
            <a:off x="5852160" y="3163824"/>
            <a:ext cx="73152" cy="73152"/>
          </a:xfrm>
          <a:prstGeom prst="ellipse">
            <a:avLst/>
          </a:prstGeom>
          <a:solidFill>
            <a:srgbClr val="E0654F"/>
          </a:solidFill>
          <a:ln w="6350">
            <a:solidFill>
              <a:srgbClr val="E0654F"/>
            </a:solidFill>
            <a:prstDash val="solid"/>
          </a:ln>
        </p:spPr>
      </p:sp>
      <p:sp>
        <p:nvSpPr>
          <p:cNvPr id="59" name="Calcium atom"/>
          <p:cNvSpPr/>
          <p:nvPr/>
        </p:nvSpPr>
        <p:spPr>
          <a:xfrm>
            <a:off x="6281562" y="2916570"/>
            <a:ext cx="567660" cy="567660"/>
          </a:xfrm>
          <a:prstGeom prst="ellipse">
            <a:avLst/>
          </a:prstGeom>
          <a:solidFill>
            <a:schemeClr val="accent1">
              <a:alpha val="20000"/>
            </a:schemeClr>
          </a:solidFill>
          <a:ln w="12700">
            <a:solidFill>
              <a:schemeClr val="accent1">
                <a:alpha val="70000"/>
              </a:schemeClr>
            </a:solidFill>
            <a:prstDash val="dash"/>
          </a:ln>
        </p:spPr>
      </p:sp>
      <p:sp>
        <p:nvSpPr>
          <p:cNvPr id="60" name="Nucleus"/>
          <p:cNvSpPr/>
          <p:nvPr/>
        </p:nvSpPr>
        <p:spPr>
          <a:xfrm>
            <a:off x="6528816" y="3163824"/>
            <a:ext cx="73152" cy="73152"/>
          </a:xfrm>
          <a:prstGeom prst="ellipse">
            <a:avLst/>
          </a:prstGeom>
          <a:solidFill>
            <a:srgbClr val="E0654F"/>
          </a:solidFill>
          <a:ln w="6350">
            <a:solidFill>
              <a:srgbClr val="E0654F"/>
            </a:solidFill>
            <a:prstDash val="solid"/>
          </a:ln>
        </p:spPr>
      </p:sp>
      <p:sp>
        <p:nvSpPr>
          <p:cNvPr id="61" name="Text 59"/>
          <p:cNvSpPr txBox="1"/>
          <p:nvPr/>
        </p:nvSpPr>
        <p:spPr>
          <a:xfrm>
            <a:off x="5449824" y="3931920"/>
            <a:ext cx="1554480" cy="457200"/>
          </a:xfrm>
          <a:prstGeom prst="rect">
            <a:avLst/>
          </a:prstGeom>
          <a:noFill/>
          <a:ln/>
        </p:spPr>
        <p:txBody>
          <a:bodyPr wrap="square" lIns="0" tIns="0" rIns="0" bIns="0" rtlCol="0" anchor="t"/>
          <a:lstStyle/>
          <a:p>
            <a:pPr algn="ctr" indent="0" marL="0">
              <a:buNone/>
            </a:pPr>
            <a:r>
              <a:rPr lang="en-US" sz="2400" b="1" dirty="0">
                <a:solidFill>
                  <a:schemeClr val="bg2"/>
                </a:solidFill>
              </a:rPr>
              <a:t>?</a:t>
            </a:r>
            <a:endParaRPr lang="en-US" sz="2400" dirty="0"/>
          </a:p>
        </p:txBody>
      </p:sp>
      <p:sp>
        <p:nvSpPr>
          <p:cNvPr id="62" name="Pair 5"/>
          <p:cNvSpPr/>
          <p:nvPr/>
        </p:nvSpPr>
        <p:spPr>
          <a:xfrm>
            <a:off x="7114032"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63" name="Text 61"/>
          <p:cNvSpPr txBox="1"/>
          <p:nvPr/>
        </p:nvSpPr>
        <p:spPr>
          <a:xfrm>
            <a:off x="7205472"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5</a:t>
            </a:r>
            <a:endParaRPr lang="en-US" sz="1200" dirty="0"/>
          </a:p>
        </p:txBody>
      </p:sp>
      <p:sp>
        <p:nvSpPr>
          <p:cNvPr id="64" name="Tile Si"/>
          <p:cNvSpPr/>
          <p:nvPr/>
        </p:nvSpPr>
        <p:spPr>
          <a:xfrm>
            <a:off x="7287768" y="2075688"/>
            <a:ext cx="530352" cy="585216"/>
          </a:xfrm>
          <a:prstGeom prst="roundRect">
            <a:avLst>
              <a:gd name="adj" fmla="val 12000"/>
            </a:avLst>
          </a:prstGeom>
          <a:solidFill>
            <a:srgbClr val="46C7D8">
              <a:alpha val="30000"/>
            </a:srgbClr>
          </a:solidFill>
          <a:ln w="19050">
            <a:solidFill>
              <a:srgbClr val="46C7D8"/>
            </a:solidFill>
            <a:prstDash val="solid"/>
          </a:ln>
        </p:spPr>
      </p:sp>
      <p:sp>
        <p:nvSpPr>
          <p:cNvPr id="65" name="Text 63"/>
          <p:cNvSpPr txBox="1"/>
          <p:nvPr/>
        </p:nvSpPr>
        <p:spPr>
          <a:xfrm>
            <a:off x="7330196"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14</a:t>
            </a:r>
            <a:endParaRPr lang="en-US" sz="800" dirty="0"/>
          </a:p>
        </p:txBody>
      </p:sp>
      <p:sp>
        <p:nvSpPr>
          <p:cNvPr id="66" name="Text 64"/>
          <p:cNvSpPr txBox="1"/>
          <p:nvPr/>
        </p:nvSpPr>
        <p:spPr>
          <a:xfrm>
            <a:off x="7287768"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Si</a:t>
            </a:r>
            <a:endParaRPr lang="en-US" sz="2000" dirty="0"/>
          </a:p>
        </p:txBody>
      </p:sp>
      <p:sp>
        <p:nvSpPr>
          <p:cNvPr id="67" name="Tile Na"/>
          <p:cNvSpPr/>
          <p:nvPr/>
        </p:nvSpPr>
        <p:spPr>
          <a:xfrm>
            <a:off x="7964424"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68" name="Text 66"/>
          <p:cNvSpPr txBox="1"/>
          <p:nvPr/>
        </p:nvSpPr>
        <p:spPr>
          <a:xfrm>
            <a:off x="8006852"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11</a:t>
            </a:r>
            <a:endParaRPr lang="en-US" sz="800" dirty="0"/>
          </a:p>
        </p:txBody>
      </p:sp>
      <p:sp>
        <p:nvSpPr>
          <p:cNvPr id="69" name="Text 67"/>
          <p:cNvSpPr txBox="1"/>
          <p:nvPr/>
        </p:nvSpPr>
        <p:spPr>
          <a:xfrm>
            <a:off x="7964424"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Na</a:t>
            </a:r>
            <a:endParaRPr lang="en-US" sz="2000" dirty="0"/>
          </a:p>
        </p:txBody>
      </p:sp>
      <p:sp>
        <p:nvSpPr>
          <p:cNvPr id="70" name="Silicon atom"/>
          <p:cNvSpPr/>
          <p:nvPr/>
        </p:nvSpPr>
        <p:spPr>
          <a:xfrm>
            <a:off x="7390547" y="3038003"/>
            <a:ext cx="324795" cy="324795"/>
          </a:xfrm>
          <a:prstGeom prst="ellipse">
            <a:avLst/>
          </a:prstGeom>
          <a:solidFill>
            <a:schemeClr val="accent1">
              <a:alpha val="20000"/>
            </a:schemeClr>
          </a:solidFill>
          <a:ln w="12700">
            <a:solidFill>
              <a:schemeClr val="accent1">
                <a:alpha val="70000"/>
              </a:schemeClr>
            </a:solidFill>
            <a:prstDash val="dash"/>
          </a:ln>
        </p:spPr>
      </p:sp>
      <p:sp>
        <p:nvSpPr>
          <p:cNvPr id="71" name="Nucleus"/>
          <p:cNvSpPr/>
          <p:nvPr/>
        </p:nvSpPr>
        <p:spPr>
          <a:xfrm>
            <a:off x="7516368" y="3163824"/>
            <a:ext cx="73152" cy="73152"/>
          </a:xfrm>
          <a:prstGeom prst="ellipse">
            <a:avLst/>
          </a:prstGeom>
          <a:solidFill>
            <a:srgbClr val="E0654F"/>
          </a:solidFill>
          <a:ln w="6350">
            <a:solidFill>
              <a:srgbClr val="E0654F"/>
            </a:solidFill>
            <a:prstDash val="solid"/>
          </a:ln>
        </p:spPr>
      </p:sp>
      <p:sp>
        <p:nvSpPr>
          <p:cNvPr id="72" name="Sodium atom"/>
          <p:cNvSpPr/>
          <p:nvPr/>
        </p:nvSpPr>
        <p:spPr>
          <a:xfrm>
            <a:off x="7951622" y="2922422"/>
            <a:ext cx="555955" cy="555955"/>
          </a:xfrm>
          <a:prstGeom prst="ellipse">
            <a:avLst/>
          </a:prstGeom>
          <a:solidFill>
            <a:schemeClr val="accent1">
              <a:alpha val="20000"/>
            </a:schemeClr>
          </a:solidFill>
          <a:ln w="12700">
            <a:solidFill>
              <a:schemeClr val="accent1">
                <a:alpha val="70000"/>
              </a:schemeClr>
            </a:solidFill>
            <a:prstDash val="dash"/>
          </a:ln>
        </p:spPr>
      </p:sp>
      <p:sp>
        <p:nvSpPr>
          <p:cNvPr id="73" name="Nucleus"/>
          <p:cNvSpPr/>
          <p:nvPr/>
        </p:nvSpPr>
        <p:spPr>
          <a:xfrm>
            <a:off x="8193024" y="3163824"/>
            <a:ext cx="73152" cy="73152"/>
          </a:xfrm>
          <a:prstGeom prst="ellipse">
            <a:avLst/>
          </a:prstGeom>
          <a:solidFill>
            <a:srgbClr val="E0654F"/>
          </a:solidFill>
          <a:ln w="6350">
            <a:solidFill>
              <a:srgbClr val="E0654F"/>
            </a:solidFill>
            <a:prstDash val="solid"/>
          </a:ln>
        </p:spPr>
      </p:sp>
      <p:sp>
        <p:nvSpPr>
          <p:cNvPr id="74" name="Text 72"/>
          <p:cNvSpPr txBox="1"/>
          <p:nvPr/>
        </p:nvSpPr>
        <p:spPr>
          <a:xfrm>
            <a:off x="7114032" y="3931920"/>
            <a:ext cx="1554480" cy="457200"/>
          </a:xfrm>
          <a:prstGeom prst="rect">
            <a:avLst/>
          </a:prstGeom>
          <a:noFill/>
          <a:ln/>
        </p:spPr>
        <p:txBody>
          <a:bodyPr wrap="square" lIns="0" tIns="0" rIns="0" bIns="0" rtlCol="0" anchor="t"/>
          <a:lstStyle/>
          <a:p>
            <a:pPr algn="ctr" indent="0" marL="0">
              <a:buNone/>
            </a:pPr>
            <a:r>
              <a:rPr lang="en-US" sz="2400" b="1" dirty="0">
                <a:solidFill>
                  <a:schemeClr val="bg2"/>
                </a:solidFill>
              </a:rPr>
              <a:t>?</a:t>
            </a:r>
            <a:endParaRPr lang="en-US" sz="2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e"/>
          <p:cNvSpPr/>
          <p:nvPr/>
        </p:nvSpPr>
        <p:spPr>
          <a:xfrm>
            <a:off x="741950" y="682697"/>
            <a:ext cx="180308" cy="18030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Ne</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Which needs more energy?</a:t>
            </a:r>
            <a:endParaRPr lang="en-US" sz="2800" dirty="0"/>
          </a:p>
        </p:txBody>
      </p:sp>
      <p:sp>
        <p:nvSpPr>
          <p:cNvPr id="10" name="Text 8"/>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Pick the atom with the higher ionization energy. Atoms are drawn to scale.</a:t>
            </a:r>
            <a:endParaRPr lang="en-US" sz="1300" dirty="0"/>
          </a:p>
        </p:txBody>
      </p:sp>
      <p:sp>
        <p:nvSpPr>
          <p:cNvPr id="11" name="Pair 1"/>
          <p:cNvSpPr/>
          <p:nvPr/>
        </p:nvSpPr>
        <p:spPr>
          <a:xfrm>
            <a:off x="457200"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12" name="Text 10"/>
          <p:cNvSpPr txBox="1"/>
          <p:nvPr/>
        </p:nvSpPr>
        <p:spPr>
          <a:xfrm>
            <a:off x="548640"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13" name="Tile Na"/>
          <p:cNvSpPr/>
          <p:nvPr/>
        </p:nvSpPr>
        <p:spPr>
          <a:xfrm>
            <a:off x="630936"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14" name="Text 12"/>
          <p:cNvSpPr txBox="1"/>
          <p:nvPr/>
        </p:nvSpPr>
        <p:spPr>
          <a:xfrm>
            <a:off x="673364"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11</a:t>
            </a:r>
            <a:endParaRPr lang="en-US" sz="800" dirty="0"/>
          </a:p>
        </p:txBody>
      </p:sp>
      <p:sp>
        <p:nvSpPr>
          <p:cNvPr id="15" name="Text 13"/>
          <p:cNvSpPr txBox="1"/>
          <p:nvPr/>
        </p:nvSpPr>
        <p:spPr>
          <a:xfrm>
            <a:off x="630936"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Na</a:t>
            </a:r>
            <a:endParaRPr lang="en-US" sz="2000" dirty="0"/>
          </a:p>
        </p:txBody>
      </p:sp>
      <p:sp>
        <p:nvSpPr>
          <p:cNvPr id="16" name="Tile Cl"/>
          <p:cNvSpPr/>
          <p:nvPr/>
        </p:nvSpPr>
        <p:spPr>
          <a:xfrm>
            <a:off x="1307592" y="2075688"/>
            <a:ext cx="530352" cy="585216"/>
          </a:xfrm>
          <a:prstGeom prst="roundRect">
            <a:avLst>
              <a:gd name="adj" fmla="val 12000"/>
            </a:avLst>
          </a:prstGeom>
          <a:solidFill>
            <a:srgbClr val="F477B8">
              <a:alpha val="30000"/>
            </a:srgbClr>
          </a:solidFill>
          <a:ln w="19050">
            <a:solidFill>
              <a:srgbClr val="F477B8"/>
            </a:solidFill>
            <a:prstDash val="solid"/>
          </a:ln>
        </p:spPr>
      </p:sp>
      <p:sp>
        <p:nvSpPr>
          <p:cNvPr id="17" name="Text 15"/>
          <p:cNvSpPr txBox="1"/>
          <p:nvPr/>
        </p:nvSpPr>
        <p:spPr>
          <a:xfrm>
            <a:off x="1350020"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17</a:t>
            </a:r>
            <a:endParaRPr lang="en-US" sz="800" dirty="0"/>
          </a:p>
        </p:txBody>
      </p:sp>
      <p:sp>
        <p:nvSpPr>
          <p:cNvPr id="18" name="Text 16"/>
          <p:cNvSpPr txBox="1"/>
          <p:nvPr/>
        </p:nvSpPr>
        <p:spPr>
          <a:xfrm>
            <a:off x="1307592"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Cl</a:t>
            </a:r>
            <a:endParaRPr lang="en-US" sz="2000" dirty="0"/>
          </a:p>
        </p:txBody>
      </p:sp>
      <p:sp>
        <p:nvSpPr>
          <p:cNvPr id="19" name="Sodium atom"/>
          <p:cNvSpPr/>
          <p:nvPr/>
        </p:nvSpPr>
        <p:spPr>
          <a:xfrm>
            <a:off x="618134" y="2922422"/>
            <a:ext cx="555955" cy="555955"/>
          </a:xfrm>
          <a:prstGeom prst="ellipse">
            <a:avLst/>
          </a:prstGeom>
          <a:solidFill>
            <a:schemeClr val="accent1">
              <a:alpha val="20000"/>
            </a:schemeClr>
          </a:solidFill>
          <a:ln w="12700">
            <a:solidFill>
              <a:schemeClr val="accent1">
                <a:alpha val="70000"/>
              </a:schemeClr>
            </a:solidFill>
            <a:prstDash val="dash"/>
          </a:ln>
        </p:spPr>
      </p:sp>
      <p:sp>
        <p:nvSpPr>
          <p:cNvPr id="20" name="Nucleus"/>
          <p:cNvSpPr/>
          <p:nvPr/>
        </p:nvSpPr>
        <p:spPr>
          <a:xfrm>
            <a:off x="859536" y="3163824"/>
            <a:ext cx="73152" cy="73152"/>
          </a:xfrm>
          <a:prstGeom prst="ellipse">
            <a:avLst/>
          </a:prstGeom>
          <a:solidFill>
            <a:srgbClr val="E0654F"/>
          </a:solidFill>
          <a:ln w="6350">
            <a:solidFill>
              <a:srgbClr val="E0654F"/>
            </a:solidFill>
            <a:prstDash val="solid"/>
          </a:ln>
        </p:spPr>
      </p:sp>
      <p:sp>
        <p:nvSpPr>
          <p:cNvPr id="21" name="Chlorine atom"/>
          <p:cNvSpPr/>
          <p:nvPr/>
        </p:nvSpPr>
        <p:spPr>
          <a:xfrm>
            <a:off x="1457188" y="3084820"/>
            <a:ext cx="231160" cy="231160"/>
          </a:xfrm>
          <a:prstGeom prst="ellipse">
            <a:avLst/>
          </a:prstGeom>
          <a:solidFill>
            <a:schemeClr val="accent1">
              <a:alpha val="20000"/>
            </a:schemeClr>
          </a:solidFill>
          <a:ln w="12700">
            <a:solidFill>
              <a:schemeClr val="accent1">
                <a:alpha val="70000"/>
              </a:schemeClr>
            </a:solidFill>
            <a:prstDash val="dash"/>
          </a:ln>
        </p:spPr>
      </p:sp>
      <p:sp>
        <p:nvSpPr>
          <p:cNvPr id="22" name="Nucleus"/>
          <p:cNvSpPr/>
          <p:nvPr/>
        </p:nvSpPr>
        <p:spPr>
          <a:xfrm>
            <a:off x="1536192" y="3163824"/>
            <a:ext cx="73152" cy="73152"/>
          </a:xfrm>
          <a:prstGeom prst="ellipse">
            <a:avLst/>
          </a:prstGeom>
          <a:solidFill>
            <a:srgbClr val="E0654F"/>
          </a:solidFill>
          <a:ln w="6350">
            <a:solidFill>
              <a:srgbClr val="E0654F"/>
            </a:solidFill>
            <a:prstDash val="solid"/>
          </a:ln>
        </p:spPr>
      </p:sp>
      <p:sp>
        <p:nvSpPr>
          <p:cNvPr id="23" name="Text 21"/>
          <p:cNvSpPr txBox="1"/>
          <p:nvPr/>
        </p:nvSpPr>
        <p:spPr>
          <a:xfrm>
            <a:off x="502920" y="3822192"/>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Chlorine</a:t>
            </a:r>
            <a:endParaRPr lang="en-US" sz="1300" dirty="0"/>
          </a:p>
          <a:p>
            <a:pPr algn="ctr" indent="0" marL="0">
              <a:buNone/>
            </a:pPr>
            <a:r>
              <a:rPr lang="en-US" sz="1000" dirty="0">
                <a:solidFill>
                  <a:schemeClr val="bg2"/>
                </a:solidFill>
              </a:rPr>
              <a:t>496 kJ/mol vs 1251 kJ/mol</a:t>
            </a:r>
            <a:endParaRPr lang="en-US" sz="1300" dirty="0"/>
          </a:p>
        </p:txBody>
      </p:sp>
      <p:sp>
        <p:nvSpPr>
          <p:cNvPr id="24" name="Pair 2"/>
          <p:cNvSpPr/>
          <p:nvPr/>
        </p:nvSpPr>
        <p:spPr>
          <a:xfrm>
            <a:off x="2121408"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25" name="Text 23"/>
          <p:cNvSpPr txBox="1"/>
          <p:nvPr/>
        </p:nvSpPr>
        <p:spPr>
          <a:xfrm>
            <a:off x="2212848"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2</a:t>
            </a:r>
            <a:endParaRPr lang="en-US" sz="1200" dirty="0"/>
          </a:p>
        </p:txBody>
      </p:sp>
      <p:sp>
        <p:nvSpPr>
          <p:cNvPr id="26" name="Tile Li"/>
          <p:cNvSpPr/>
          <p:nvPr/>
        </p:nvSpPr>
        <p:spPr>
          <a:xfrm>
            <a:off x="2295144"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27" name="Text 25"/>
          <p:cNvSpPr txBox="1"/>
          <p:nvPr/>
        </p:nvSpPr>
        <p:spPr>
          <a:xfrm>
            <a:off x="2337572"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3</a:t>
            </a:r>
            <a:endParaRPr lang="en-US" sz="800" dirty="0"/>
          </a:p>
        </p:txBody>
      </p:sp>
      <p:sp>
        <p:nvSpPr>
          <p:cNvPr id="28" name="Text 26"/>
          <p:cNvSpPr txBox="1"/>
          <p:nvPr/>
        </p:nvSpPr>
        <p:spPr>
          <a:xfrm>
            <a:off x="2295144"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Li</a:t>
            </a:r>
            <a:endParaRPr lang="en-US" sz="2000" dirty="0"/>
          </a:p>
        </p:txBody>
      </p:sp>
      <p:sp>
        <p:nvSpPr>
          <p:cNvPr id="29" name="Tile K"/>
          <p:cNvSpPr/>
          <p:nvPr/>
        </p:nvSpPr>
        <p:spPr>
          <a:xfrm>
            <a:off x="2971800"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30" name="Text 28"/>
          <p:cNvSpPr txBox="1"/>
          <p:nvPr/>
        </p:nvSpPr>
        <p:spPr>
          <a:xfrm>
            <a:off x="3014228"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19</a:t>
            </a:r>
            <a:endParaRPr lang="en-US" sz="800" dirty="0"/>
          </a:p>
        </p:txBody>
      </p:sp>
      <p:sp>
        <p:nvSpPr>
          <p:cNvPr id="31" name="Text 29"/>
          <p:cNvSpPr txBox="1"/>
          <p:nvPr/>
        </p:nvSpPr>
        <p:spPr>
          <a:xfrm>
            <a:off x="2971800"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K</a:t>
            </a:r>
            <a:endParaRPr lang="en-US" sz="2000" dirty="0"/>
          </a:p>
        </p:txBody>
      </p:sp>
      <p:sp>
        <p:nvSpPr>
          <p:cNvPr id="32" name="Lithium atom"/>
          <p:cNvSpPr/>
          <p:nvPr/>
        </p:nvSpPr>
        <p:spPr>
          <a:xfrm>
            <a:off x="2315992" y="2956072"/>
            <a:ext cx="488655" cy="488655"/>
          </a:xfrm>
          <a:prstGeom prst="ellipse">
            <a:avLst/>
          </a:prstGeom>
          <a:solidFill>
            <a:schemeClr val="accent1">
              <a:alpha val="20000"/>
            </a:schemeClr>
          </a:solidFill>
          <a:ln w="12700">
            <a:solidFill>
              <a:schemeClr val="accent1">
                <a:alpha val="70000"/>
              </a:schemeClr>
            </a:solidFill>
            <a:prstDash val="dash"/>
          </a:ln>
        </p:spPr>
      </p:sp>
      <p:sp>
        <p:nvSpPr>
          <p:cNvPr id="33" name="Nucleus"/>
          <p:cNvSpPr/>
          <p:nvPr/>
        </p:nvSpPr>
        <p:spPr>
          <a:xfrm>
            <a:off x="2523744" y="3163824"/>
            <a:ext cx="73152" cy="73152"/>
          </a:xfrm>
          <a:prstGeom prst="ellipse">
            <a:avLst/>
          </a:prstGeom>
          <a:solidFill>
            <a:srgbClr val="E0654F"/>
          </a:solidFill>
          <a:ln w="6350">
            <a:solidFill>
              <a:srgbClr val="E0654F"/>
            </a:solidFill>
            <a:prstDash val="solid"/>
          </a:ln>
        </p:spPr>
      </p:sp>
      <p:sp>
        <p:nvSpPr>
          <p:cNvPr id="34" name="Potassium atom"/>
          <p:cNvSpPr/>
          <p:nvPr/>
        </p:nvSpPr>
        <p:spPr>
          <a:xfrm>
            <a:off x="2881457" y="2844881"/>
            <a:ext cx="711037" cy="711037"/>
          </a:xfrm>
          <a:prstGeom prst="ellipse">
            <a:avLst/>
          </a:prstGeom>
          <a:solidFill>
            <a:schemeClr val="accent1">
              <a:alpha val="20000"/>
            </a:schemeClr>
          </a:solidFill>
          <a:ln w="12700">
            <a:solidFill>
              <a:schemeClr val="accent1">
                <a:alpha val="70000"/>
              </a:schemeClr>
            </a:solidFill>
            <a:prstDash val="dash"/>
          </a:ln>
        </p:spPr>
      </p:sp>
      <p:sp>
        <p:nvSpPr>
          <p:cNvPr id="35" name="Nucleus"/>
          <p:cNvSpPr/>
          <p:nvPr/>
        </p:nvSpPr>
        <p:spPr>
          <a:xfrm>
            <a:off x="3200400" y="3163824"/>
            <a:ext cx="73152" cy="73152"/>
          </a:xfrm>
          <a:prstGeom prst="ellipse">
            <a:avLst/>
          </a:prstGeom>
          <a:solidFill>
            <a:srgbClr val="E0654F"/>
          </a:solidFill>
          <a:ln w="6350">
            <a:solidFill>
              <a:srgbClr val="E0654F"/>
            </a:solidFill>
            <a:prstDash val="solid"/>
          </a:ln>
        </p:spPr>
      </p:sp>
      <p:sp>
        <p:nvSpPr>
          <p:cNvPr id="36" name="Text 34"/>
          <p:cNvSpPr txBox="1"/>
          <p:nvPr/>
        </p:nvSpPr>
        <p:spPr>
          <a:xfrm>
            <a:off x="2167128" y="3822192"/>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Lithium</a:t>
            </a:r>
            <a:endParaRPr lang="en-US" sz="1300" dirty="0"/>
          </a:p>
          <a:p>
            <a:pPr algn="ctr" indent="0" marL="0">
              <a:buNone/>
            </a:pPr>
            <a:r>
              <a:rPr lang="en-US" sz="1000" dirty="0">
                <a:solidFill>
                  <a:schemeClr val="bg2"/>
                </a:solidFill>
              </a:rPr>
              <a:t>520 kJ/mol vs 419 kJ/mol</a:t>
            </a:r>
            <a:endParaRPr lang="en-US" sz="1300" dirty="0"/>
          </a:p>
        </p:txBody>
      </p:sp>
      <p:sp>
        <p:nvSpPr>
          <p:cNvPr id="37" name="Pair 3"/>
          <p:cNvSpPr/>
          <p:nvPr/>
        </p:nvSpPr>
        <p:spPr>
          <a:xfrm>
            <a:off x="3785616"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38" name="Text 36"/>
          <p:cNvSpPr txBox="1"/>
          <p:nvPr/>
        </p:nvSpPr>
        <p:spPr>
          <a:xfrm>
            <a:off x="3877056"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3</a:t>
            </a:r>
            <a:endParaRPr lang="en-US" sz="1200" dirty="0"/>
          </a:p>
        </p:txBody>
      </p:sp>
      <p:sp>
        <p:nvSpPr>
          <p:cNvPr id="39" name="Tile F"/>
          <p:cNvSpPr/>
          <p:nvPr/>
        </p:nvSpPr>
        <p:spPr>
          <a:xfrm>
            <a:off x="3959352" y="2075688"/>
            <a:ext cx="530352" cy="585216"/>
          </a:xfrm>
          <a:prstGeom prst="roundRect">
            <a:avLst>
              <a:gd name="adj" fmla="val 12000"/>
            </a:avLst>
          </a:prstGeom>
          <a:solidFill>
            <a:srgbClr val="F477B8">
              <a:alpha val="30000"/>
            </a:srgbClr>
          </a:solidFill>
          <a:ln w="19050">
            <a:solidFill>
              <a:srgbClr val="F477B8"/>
            </a:solidFill>
            <a:prstDash val="solid"/>
          </a:ln>
        </p:spPr>
      </p:sp>
      <p:sp>
        <p:nvSpPr>
          <p:cNvPr id="40" name="Text 38"/>
          <p:cNvSpPr txBox="1"/>
          <p:nvPr/>
        </p:nvSpPr>
        <p:spPr>
          <a:xfrm>
            <a:off x="4001780"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9</a:t>
            </a:r>
            <a:endParaRPr lang="en-US" sz="800" dirty="0"/>
          </a:p>
        </p:txBody>
      </p:sp>
      <p:sp>
        <p:nvSpPr>
          <p:cNvPr id="41" name="Text 39"/>
          <p:cNvSpPr txBox="1"/>
          <p:nvPr/>
        </p:nvSpPr>
        <p:spPr>
          <a:xfrm>
            <a:off x="3959352"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F</a:t>
            </a:r>
            <a:endParaRPr lang="en-US" sz="2000" dirty="0"/>
          </a:p>
        </p:txBody>
      </p:sp>
      <p:sp>
        <p:nvSpPr>
          <p:cNvPr id="42" name="Tile C"/>
          <p:cNvSpPr/>
          <p:nvPr/>
        </p:nvSpPr>
        <p:spPr>
          <a:xfrm>
            <a:off x="4636008" y="2075688"/>
            <a:ext cx="530352" cy="585216"/>
          </a:xfrm>
          <a:prstGeom prst="roundRect">
            <a:avLst>
              <a:gd name="adj" fmla="val 12000"/>
            </a:avLst>
          </a:prstGeom>
          <a:solidFill>
            <a:srgbClr val="45C08F">
              <a:alpha val="30000"/>
            </a:srgbClr>
          </a:solidFill>
          <a:ln w="19050">
            <a:solidFill>
              <a:srgbClr val="45C08F"/>
            </a:solidFill>
            <a:prstDash val="solid"/>
          </a:ln>
        </p:spPr>
      </p:sp>
      <p:sp>
        <p:nvSpPr>
          <p:cNvPr id="43" name="Text 41"/>
          <p:cNvSpPr txBox="1"/>
          <p:nvPr/>
        </p:nvSpPr>
        <p:spPr>
          <a:xfrm>
            <a:off x="4678436"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6</a:t>
            </a:r>
            <a:endParaRPr lang="en-US" sz="800" dirty="0"/>
          </a:p>
        </p:txBody>
      </p:sp>
      <p:sp>
        <p:nvSpPr>
          <p:cNvPr id="44" name="Text 42"/>
          <p:cNvSpPr txBox="1"/>
          <p:nvPr/>
        </p:nvSpPr>
        <p:spPr>
          <a:xfrm>
            <a:off x="4636008"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45" name="Fluorine atom"/>
          <p:cNvSpPr/>
          <p:nvPr/>
        </p:nvSpPr>
        <p:spPr>
          <a:xfrm>
            <a:off x="4160520" y="3136392"/>
            <a:ext cx="128016" cy="128016"/>
          </a:xfrm>
          <a:prstGeom prst="ellipse">
            <a:avLst/>
          </a:prstGeom>
          <a:solidFill>
            <a:schemeClr val="accent1">
              <a:alpha val="20000"/>
            </a:schemeClr>
          </a:solidFill>
          <a:ln w="12700">
            <a:solidFill>
              <a:schemeClr val="accent1">
                <a:alpha val="70000"/>
              </a:schemeClr>
            </a:solidFill>
            <a:prstDash val="dash"/>
          </a:ln>
        </p:spPr>
      </p:sp>
      <p:sp>
        <p:nvSpPr>
          <p:cNvPr id="46" name="Nucleus"/>
          <p:cNvSpPr/>
          <p:nvPr/>
        </p:nvSpPr>
        <p:spPr>
          <a:xfrm>
            <a:off x="4187952" y="3163824"/>
            <a:ext cx="73152" cy="73152"/>
          </a:xfrm>
          <a:prstGeom prst="ellipse">
            <a:avLst/>
          </a:prstGeom>
          <a:solidFill>
            <a:srgbClr val="E0654F"/>
          </a:solidFill>
          <a:ln w="6350">
            <a:solidFill>
              <a:srgbClr val="E0654F"/>
            </a:solidFill>
            <a:prstDash val="solid"/>
          </a:ln>
        </p:spPr>
      </p:sp>
      <p:sp>
        <p:nvSpPr>
          <p:cNvPr id="47" name="Carbon atom"/>
          <p:cNvSpPr/>
          <p:nvPr/>
        </p:nvSpPr>
        <p:spPr>
          <a:xfrm>
            <a:off x="4803160" y="3102376"/>
            <a:ext cx="196047" cy="196047"/>
          </a:xfrm>
          <a:prstGeom prst="ellipse">
            <a:avLst/>
          </a:prstGeom>
          <a:solidFill>
            <a:schemeClr val="accent1">
              <a:alpha val="20000"/>
            </a:schemeClr>
          </a:solidFill>
          <a:ln w="12700">
            <a:solidFill>
              <a:schemeClr val="accent1">
                <a:alpha val="70000"/>
              </a:schemeClr>
            </a:solidFill>
            <a:prstDash val="dash"/>
          </a:ln>
        </p:spPr>
      </p:sp>
      <p:sp>
        <p:nvSpPr>
          <p:cNvPr id="48" name="Nucleus"/>
          <p:cNvSpPr/>
          <p:nvPr/>
        </p:nvSpPr>
        <p:spPr>
          <a:xfrm>
            <a:off x="4864608" y="3163824"/>
            <a:ext cx="73152" cy="73152"/>
          </a:xfrm>
          <a:prstGeom prst="ellipse">
            <a:avLst/>
          </a:prstGeom>
          <a:solidFill>
            <a:srgbClr val="E0654F"/>
          </a:solidFill>
          <a:ln w="6350">
            <a:solidFill>
              <a:srgbClr val="E0654F"/>
            </a:solidFill>
            <a:prstDash val="solid"/>
          </a:ln>
        </p:spPr>
      </p:sp>
      <p:sp>
        <p:nvSpPr>
          <p:cNvPr id="49" name="Text 47"/>
          <p:cNvSpPr txBox="1"/>
          <p:nvPr/>
        </p:nvSpPr>
        <p:spPr>
          <a:xfrm>
            <a:off x="3831336" y="3822192"/>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Fluorine</a:t>
            </a:r>
            <a:endParaRPr lang="en-US" sz="1300" dirty="0"/>
          </a:p>
          <a:p>
            <a:pPr algn="ctr" indent="0" marL="0">
              <a:buNone/>
            </a:pPr>
            <a:r>
              <a:rPr lang="en-US" sz="1000" dirty="0">
                <a:solidFill>
                  <a:schemeClr val="bg2"/>
                </a:solidFill>
              </a:rPr>
              <a:t>1681 kJ/mol vs 1086 kJ/mol</a:t>
            </a:r>
            <a:endParaRPr lang="en-US" sz="1300" dirty="0"/>
          </a:p>
        </p:txBody>
      </p:sp>
      <p:sp>
        <p:nvSpPr>
          <p:cNvPr id="50" name="Pair 4"/>
          <p:cNvSpPr/>
          <p:nvPr/>
        </p:nvSpPr>
        <p:spPr>
          <a:xfrm>
            <a:off x="5449824"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51" name="Text 49"/>
          <p:cNvSpPr txBox="1"/>
          <p:nvPr/>
        </p:nvSpPr>
        <p:spPr>
          <a:xfrm>
            <a:off x="5541264"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4</a:t>
            </a:r>
            <a:endParaRPr lang="en-US" sz="1200" dirty="0"/>
          </a:p>
        </p:txBody>
      </p:sp>
      <p:sp>
        <p:nvSpPr>
          <p:cNvPr id="52" name="Tile Mg"/>
          <p:cNvSpPr/>
          <p:nvPr/>
        </p:nvSpPr>
        <p:spPr>
          <a:xfrm>
            <a:off x="5623560" y="2075688"/>
            <a:ext cx="530352" cy="585216"/>
          </a:xfrm>
          <a:prstGeom prst="roundRect">
            <a:avLst>
              <a:gd name="adj" fmla="val 12000"/>
            </a:avLst>
          </a:prstGeom>
          <a:solidFill>
            <a:srgbClr val="FFCB5C">
              <a:alpha val="30000"/>
            </a:srgbClr>
          </a:solidFill>
          <a:ln w="19050">
            <a:solidFill>
              <a:srgbClr val="FFCB5C"/>
            </a:solidFill>
            <a:prstDash val="solid"/>
          </a:ln>
        </p:spPr>
      </p:sp>
      <p:sp>
        <p:nvSpPr>
          <p:cNvPr id="53" name="Text 51"/>
          <p:cNvSpPr txBox="1"/>
          <p:nvPr/>
        </p:nvSpPr>
        <p:spPr>
          <a:xfrm>
            <a:off x="5665988"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12</a:t>
            </a:r>
            <a:endParaRPr lang="en-US" sz="800" dirty="0"/>
          </a:p>
        </p:txBody>
      </p:sp>
      <p:sp>
        <p:nvSpPr>
          <p:cNvPr id="54" name="Text 52"/>
          <p:cNvSpPr txBox="1"/>
          <p:nvPr/>
        </p:nvSpPr>
        <p:spPr>
          <a:xfrm>
            <a:off x="5623560"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Mg</a:t>
            </a:r>
            <a:endParaRPr lang="en-US" sz="2000" dirty="0"/>
          </a:p>
        </p:txBody>
      </p:sp>
      <p:sp>
        <p:nvSpPr>
          <p:cNvPr id="55" name="Tile Ca"/>
          <p:cNvSpPr/>
          <p:nvPr/>
        </p:nvSpPr>
        <p:spPr>
          <a:xfrm>
            <a:off x="6300216" y="2075688"/>
            <a:ext cx="530352" cy="585216"/>
          </a:xfrm>
          <a:prstGeom prst="roundRect">
            <a:avLst>
              <a:gd name="adj" fmla="val 12000"/>
            </a:avLst>
          </a:prstGeom>
          <a:solidFill>
            <a:srgbClr val="FFCB5C">
              <a:alpha val="30000"/>
            </a:srgbClr>
          </a:solidFill>
          <a:ln w="19050">
            <a:solidFill>
              <a:srgbClr val="FFCB5C"/>
            </a:solidFill>
            <a:prstDash val="solid"/>
          </a:ln>
        </p:spPr>
      </p:sp>
      <p:sp>
        <p:nvSpPr>
          <p:cNvPr id="56" name="Text 54"/>
          <p:cNvSpPr txBox="1"/>
          <p:nvPr/>
        </p:nvSpPr>
        <p:spPr>
          <a:xfrm>
            <a:off x="6342644"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20</a:t>
            </a:r>
            <a:endParaRPr lang="en-US" sz="800" dirty="0"/>
          </a:p>
        </p:txBody>
      </p:sp>
      <p:sp>
        <p:nvSpPr>
          <p:cNvPr id="57" name="Text 55"/>
          <p:cNvSpPr txBox="1"/>
          <p:nvPr/>
        </p:nvSpPr>
        <p:spPr>
          <a:xfrm>
            <a:off x="6300216"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Ca</a:t>
            </a:r>
            <a:endParaRPr lang="en-US" sz="2000" dirty="0"/>
          </a:p>
        </p:txBody>
      </p:sp>
      <p:sp>
        <p:nvSpPr>
          <p:cNvPr id="58" name="Magnesium atom"/>
          <p:cNvSpPr/>
          <p:nvPr/>
        </p:nvSpPr>
        <p:spPr>
          <a:xfrm>
            <a:off x="5676595" y="2988259"/>
            <a:ext cx="424282" cy="424282"/>
          </a:xfrm>
          <a:prstGeom prst="ellipse">
            <a:avLst/>
          </a:prstGeom>
          <a:solidFill>
            <a:schemeClr val="accent1">
              <a:alpha val="20000"/>
            </a:schemeClr>
          </a:solidFill>
          <a:ln w="12700">
            <a:solidFill>
              <a:schemeClr val="accent1">
                <a:alpha val="70000"/>
              </a:schemeClr>
            </a:solidFill>
            <a:prstDash val="dash"/>
          </a:ln>
        </p:spPr>
      </p:sp>
      <p:sp>
        <p:nvSpPr>
          <p:cNvPr id="59" name="Nucleus"/>
          <p:cNvSpPr/>
          <p:nvPr/>
        </p:nvSpPr>
        <p:spPr>
          <a:xfrm>
            <a:off x="5852160" y="3163824"/>
            <a:ext cx="73152" cy="73152"/>
          </a:xfrm>
          <a:prstGeom prst="ellipse">
            <a:avLst/>
          </a:prstGeom>
          <a:solidFill>
            <a:srgbClr val="E0654F"/>
          </a:solidFill>
          <a:ln w="6350">
            <a:solidFill>
              <a:srgbClr val="E0654F"/>
            </a:solidFill>
            <a:prstDash val="solid"/>
          </a:ln>
        </p:spPr>
      </p:sp>
      <p:sp>
        <p:nvSpPr>
          <p:cNvPr id="60" name="Calcium atom"/>
          <p:cNvSpPr/>
          <p:nvPr/>
        </p:nvSpPr>
        <p:spPr>
          <a:xfrm>
            <a:off x="6281562" y="2916570"/>
            <a:ext cx="567660" cy="567660"/>
          </a:xfrm>
          <a:prstGeom prst="ellipse">
            <a:avLst/>
          </a:prstGeom>
          <a:solidFill>
            <a:schemeClr val="accent1">
              <a:alpha val="20000"/>
            </a:schemeClr>
          </a:solidFill>
          <a:ln w="12700">
            <a:solidFill>
              <a:schemeClr val="accent1">
                <a:alpha val="70000"/>
              </a:schemeClr>
            </a:solidFill>
            <a:prstDash val="dash"/>
          </a:ln>
        </p:spPr>
      </p:sp>
      <p:sp>
        <p:nvSpPr>
          <p:cNvPr id="61" name="Nucleus"/>
          <p:cNvSpPr/>
          <p:nvPr/>
        </p:nvSpPr>
        <p:spPr>
          <a:xfrm>
            <a:off x="6528816" y="3163824"/>
            <a:ext cx="73152" cy="73152"/>
          </a:xfrm>
          <a:prstGeom prst="ellipse">
            <a:avLst/>
          </a:prstGeom>
          <a:solidFill>
            <a:srgbClr val="E0654F"/>
          </a:solidFill>
          <a:ln w="6350">
            <a:solidFill>
              <a:srgbClr val="E0654F"/>
            </a:solidFill>
            <a:prstDash val="solid"/>
          </a:ln>
        </p:spPr>
      </p:sp>
      <p:sp>
        <p:nvSpPr>
          <p:cNvPr id="62" name="Text 60"/>
          <p:cNvSpPr txBox="1"/>
          <p:nvPr/>
        </p:nvSpPr>
        <p:spPr>
          <a:xfrm>
            <a:off x="5495544" y="3822192"/>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Magnesium</a:t>
            </a:r>
            <a:endParaRPr lang="en-US" sz="1300" dirty="0"/>
          </a:p>
          <a:p>
            <a:pPr algn="ctr" indent="0" marL="0">
              <a:buNone/>
            </a:pPr>
            <a:r>
              <a:rPr lang="en-US" sz="1000" dirty="0">
                <a:solidFill>
                  <a:schemeClr val="bg2"/>
                </a:solidFill>
              </a:rPr>
              <a:t>738 kJ/mol vs 590 kJ/mol</a:t>
            </a:r>
            <a:endParaRPr lang="en-US" sz="1300" dirty="0"/>
          </a:p>
        </p:txBody>
      </p:sp>
      <p:sp>
        <p:nvSpPr>
          <p:cNvPr id="63" name="Pair 5"/>
          <p:cNvSpPr/>
          <p:nvPr/>
        </p:nvSpPr>
        <p:spPr>
          <a:xfrm>
            <a:off x="7114032"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64" name="Text 62"/>
          <p:cNvSpPr txBox="1"/>
          <p:nvPr/>
        </p:nvSpPr>
        <p:spPr>
          <a:xfrm>
            <a:off x="7205472" y="1764792"/>
            <a:ext cx="1371600" cy="256032"/>
          </a:xfrm>
          <a:prstGeom prst="rect">
            <a:avLst/>
          </a:prstGeom>
          <a:noFill/>
          <a:ln/>
        </p:spPr>
        <p:txBody>
          <a:bodyPr wrap="square" lIns="0" tIns="0" rIns="0" bIns="0" rtlCol="0" anchor="t"/>
          <a:lstStyle/>
          <a:p>
            <a:pPr indent="0" marL="0">
              <a:buNone/>
            </a:pPr>
            <a:r>
              <a:rPr lang="en-US" sz="1200" b="1" dirty="0">
                <a:solidFill>
                  <a:schemeClr val="accent2"/>
                </a:solidFill>
              </a:rPr>
              <a:t>5</a:t>
            </a:r>
            <a:endParaRPr lang="en-US" sz="1200" dirty="0"/>
          </a:p>
        </p:txBody>
      </p:sp>
      <p:sp>
        <p:nvSpPr>
          <p:cNvPr id="65" name="Tile Si"/>
          <p:cNvSpPr/>
          <p:nvPr/>
        </p:nvSpPr>
        <p:spPr>
          <a:xfrm>
            <a:off x="7287768" y="2075688"/>
            <a:ext cx="530352" cy="585216"/>
          </a:xfrm>
          <a:prstGeom prst="roundRect">
            <a:avLst>
              <a:gd name="adj" fmla="val 12000"/>
            </a:avLst>
          </a:prstGeom>
          <a:solidFill>
            <a:srgbClr val="46C7D8">
              <a:alpha val="30000"/>
            </a:srgbClr>
          </a:solidFill>
          <a:ln w="19050">
            <a:solidFill>
              <a:srgbClr val="46C7D8"/>
            </a:solidFill>
            <a:prstDash val="solid"/>
          </a:ln>
        </p:spPr>
      </p:sp>
      <p:sp>
        <p:nvSpPr>
          <p:cNvPr id="66" name="Text 64"/>
          <p:cNvSpPr txBox="1"/>
          <p:nvPr/>
        </p:nvSpPr>
        <p:spPr>
          <a:xfrm>
            <a:off x="7330196"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14</a:t>
            </a:r>
            <a:endParaRPr lang="en-US" sz="800" dirty="0"/>
          </a:p>
        </p:txBody>
      </p:sp>
      <p:sp>
        <p:nvSpPr>
          <p:cNvPr id="67" name="Text 65"/>
          <p:cNvSpPr txBox="1"/>
          <p:nvPr/>
        </p:nvSpPr>
        <p:spPr>
          <a:xfrm>
            <a:off x="7287768"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Si</a:t>
            </a:r>
            <a:endParaRPr lang="en-US" sz="2000" dirty="0"/>
          </a:p>
        </p:txBody>
      </p:sp>
      <p:sp>
        <p:nvSpPr>
          <p:cNvPr id="68" name="Tile Na"/>
          <p:cNvSpPr/>
          <p:nvPr/>
        </p:nvSpPr>
        <p:spPr>
          <a:xfrm>
            <a:off x="7964424" y="2075688"/>
            <a:ext cx="530352" cy="585216"/>
          </a:xfrm>
          <a:prstGeom prst="roundRect">
            <a:avLst>
              <a:gd name="adj" fmla="val 12000"/>
            </a:avLst>
          </a:prstGeom>
          <a:solidFill>
            <a:srgbClr val="FF8F5E">
              <a:alpha val="30000"/>
            </a:srgbClr>
          </a:solidFill>
          <a:ln w="19050">
            <a:solidFill>
              <a:srgbClr val="FF8F5E"/>
            </a:solidFill>
            <a:prstDash val="solid"/>
          </a:ln>
        </p:spPr>
      </p:sp>
      <p:sp>
        <p:nvSpPr>
          <p:cNvPr id="69" name="Text 67"/>
          <p:cNvSpPr txBox="1"/>
          <p:nvPr/>
        </p:nvSpPr>
        <p:spPr>
          <a:xfrm>
            <a:off x="8006852" y="2104949"/>
            <a:ext cx="318211" cy="140452"/>
          </a:xfrm>
          <a:prstGeom prst="rect">
            <a:avLst/>
          </a:prstGeom>
          <a:noFill/>
          <a:ln/>
        </p:spPr>
        <p:txBody>
          <a:bodyPr wrap="square" lIns="0" tIns="0" rIns="0" bIns="0" rtlCol="0" anchor="t"/>
          <a:lstStyle/>
          <a:p>
            <a:pPr indent="0" marL="0">
              <a:buNone/>
            </a:pPr>
            <a:r>
              <a:rPr lang="en-US" sz="800" dirty="0">
                <a:solidFill>
                  <a:schemeClr val="bg2"/>
                </a:solidFill>
              </a:rPr>
              <a:t>11</a:t>
            </a:r>
            <a:endParaRPr lang="en-US" sz="800" dirty="0"/>
          </a:p>
        </p:txBody>
      </p:sp>
      <p:sp>
        <p:nvSpPr>
          <p:cNvPr id="70" name="Text 68"/>
          <p:cNvSpPr txBox="1"/>
          <p:nvPr/>
        </p:nvSpPr>
        <p:spPr>
          <a:xfrm>
            <a:off x="7964424" y="2169323"/>
            <a:ext cx="530352" cy="468173"/>
          </a:xfrm>
          <a:prstGeom prst="rect">
            <a:avLst/>
          </a:prstGeom>
          <a:noFill/>
          <a:ln/>
        </p:spPr>
        <p:txBody>
          <a:bodyPr wrap="square" lIns="0" tIns="0" rIns="0" bIns="0" rtlCol="0" anchor="ctr"/>
          <a:lstStyle/>
          <a:p>
            <a:pPr algn="ctr" indent="0" marL="0">
              <a:buNone/>
            </a:pPr>
            <a:r>
              <a:rPr lang="en-US" sz="2000" b="1" dirty="0">
                <a:solidFill>
                  <a:schemeClr val="bg1"/>
                </a:solidFill>
              </a:rPr>
              <a:t>Na</a:t>
            </a:r>
            <a:endParaRPr lang="en-US" sz="2000" dirty="0"/>
          </a:p>
        </p:txBody>
      </p:sp>
      <p:sp>
        <p:nvSpPr>
          <p:cNvPr id="71" name="Silicon atom"/>
          <p:cNvSpPr/>
          <p:nvPr/>
        </p:nvSpPr>
        <p:spPr>
          <a:xfrm>
            <a:off x="7390547" y="3038003"/>
            <a:ext cx="324795" cy="324795"/>
          </a:xfrm>
          <a:prstGeom prst="ellipse">
            <a:avLst/>
          </a:prstGeom>
          <a:solidFill>
            <a:schemeClr val="accent1">
              <a:alpha val="20000"/>
            </a:schemeClr>
          </a:solidFill>
          <a:ln w="12700">
            <a:solidFill>
              <a:schemeClr val="accent1">
                <a:alpha val="70000"/>
              </a:schemeClr>
            </a:solidFill>
            <a:prstDash val="dash"/>
          </a:ln>
        </p:spPr>
      </p:sp>
      <p:sp>
        <p:nvSpPr>
          <p:cNvPr id="72" name="Nucleus"/>
          <p:cNvSpPr/>
          <p:nvPr/>
        </p:nvSpPr>
        <p:spPr>
          <a:xfrm>
            <a:off x="7516368" y="3163824"/>
            <a:ext cx="73152" cy="73152"/>
          </a:xfrm>
          <a:prstGeom prst="ellipse">
            <a:avLst/>
          </a:prstGeom>
          <a:solidFill>
            <a:srgbClr val="E0654F"/>
          </a:solidFill>
          <a:ln w="6350">
            <a:solidFill>
              <a:srgbClr val="E0654F"/>
            </a:solidFill>
            <a:prstDash val="solid"/>
          </a:ln>
        </p:spPr>
      </p:sp>
      <p:sp>
        <p:nvSpPr>
          <p:cNvPr id="73" name="Sodium atom"/>
          <p:cNvSpPr/>
          <p:nvPr/>
        </p:nvSpPr>
        <p:spPr>
          <a:xfrm>
            <a:off x="7951622" y="2922422"/>
            <a:ext cx="555955" cy="555955"/>
          </a:xfrm>
          <a:prstGeom prst="ellipse">
            <a:avLst/>
          </a:prstGeom>
          <a:solidFill>
            <a:schemeClr val="accent1">
              <a:alpha val="20000"/>
            </a:schemeClr>
          </a:solidFill>
          <a:ln w="12700">
            <a:solidFill>
              <a:schemeClr val="accent1">
                <a:alpha val="70000"/>
              </a:schemeClr>
            </a:solidFill>
            <a:prstDash val="dash"/>
          </a:ln>
        </p:spPr>
      </p:sp>
      <p:sp>
        <p:nvSpPr>
          <p:cNvPr id="74" name="Nucleus"/>
          <p:cNvSpPr/>
          <p:nvPr/>
        </p:nvSpPr>
        <p:spPr>
          <a:xfrm>
            <a:off x="8193024" y="3163824"/>
            <a:ext cx="73152" cy="73152"/>
          </a:xfrm>
          <a:prstGeom prst="ellipse">
            <a:avLst/>
          </a:prstGeom>
          <a:solidFill>
            <a:srgbClr val="E0654F"/>
          </a:solidFill>
          <a:ln w="6350">
            <a:solidFill>
              <a:srgbClr val="E0654F"/>
            </a:solidFill>
            <a:prstDash val="solid"/>
          </a:ln>
        </p:spPr>
      </p:sp>
      <p:sp>
        <p:nvSpPr>
          <p:cNvPr id="75" name="Text 73"/>
          <p:cNvSpPr txBox="1"/>
          <p:nvPr/>
        </p:nvSpPr>
        <p:spPr>
          <a:xfrm>
            <a:off x="7159752" y="3822192"/>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Silicon</a:t>
            </a:r>
            <a:endParaRPr lang="en-US" sz="1300" dirty="0"/>
          </a:p>
          <a:p>
            <a:pPr algn="ctr" indent="0" marL="0">
              <a:buNone/>
            </a:pPr>
            <a:r>
              <a:rPr lang="en-US" sz="1000" dirty="0">
                <a:solidFill>
                  <a:schemeClr val="bg2"/>
                </a:solidFill>
              </a:rPr>
              <a:t>787 kJ/mol vs 496 kJ/mol</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e"/>
          <p:cNvSpPr/>
          <p:nvPr/>
        </p:nvSpPr>
        <p:spPr>
          <a:xfrm>
            <a:off x="741950" y="682697"/>
            <a:ext cx="180308" cy="18030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Ne</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group has the lowest ionization energies in each period?</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Group 1</a:t>
            </a:r>
            <a:endParaRPr lang="en-US" sz="1600" dirty="0"/>
          </a:p>
        </p:txBody>
      </p:sp>
      <p:sp>
        <p:nvSpPr>
          <p:cNvPr id="12"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3" name="Text 11"/>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Group 2</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Group 17</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Group 18</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ection tile 4"/>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Ne"/>
          <p:cNvSpPr/>
          <p:nvPr/>
        </p:nvSpPr>
        <p:spPr>
          <a:xfrm>
            <a:off x="741950" y="682697"/>
            <a:ext cx="180308" cy="18030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4</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Ne</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4 of 9</a:t>
            </a:r>
            <a:endParaRPr lang="en-US" sz="1200" dirty="0"/>
          </a:p>
        </p:txBody>
      </p:sp>
      <p:sp>
        <p:nvSpPr>
          <p:cNvPr id="9"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group has the lowest ionization energies in each period?</a:t>
            </a:r>
            <a:endParaRPr lang="en-US" sz="2000" dirty="0"/>
          </a:p>
        </p:txBody>
      </p:sp>
      <p:sp>
        <p:nvSpPr>
          <p:cNvPr id="10" name="Option A"/>
          <p:cNvSpPr/>
          <p:nvPr/>
        </p:nvSpPr>
        <p:spPr>
          <a:xfrm>
            <a:off x="457200" y="1645920"/>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1" name="Text 9"/>
          <p:cNvSpPr/>
          <p:nvPr/>
        </p:nvSpPr>
        <p:spPr>
          <a:xfrm>
            <a:off x="548640" y="1719072"/>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A</a:t>
            </a:r>
            <a:endParaRPr lang="en-US" sz="1300" dirty="0"/>
          </a:p>
        </p:txBody>
      </p:sp>
      <p:sp>
        <p:nvSpPr>
          <p:cNvPr id="12" name="Text 10"/>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Group 1</a:t>
            </a:r>
            <a:endParaRPr lang="en-US" sz="1600" dirty="0"/>
          </a:p>
        </p:txBody>
      </p:sp>
      <p:sp>
        <p:nvSpPr>
          <p:cNvPr id="13"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4" name="Text 12"/>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5" name="Text 13"/>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2"/>
                </a:solidFill>
              </a:rPr>
              <a:t>Group 2</a:t>
            </a:r>
            <a:endParaRPr lang="en-US" sz="1600" dirty="0"/>
          </a:p>
        </p:txBody>
      </p:sp>
      <p:sp>
        <p:nvSpPr>
          <p:cNvPr id="16"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7" name="Text 15"/>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8" name="Text 16"/>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Group 17</a:t>
            </a:r>
            <a:endParaRPr lang="en-US" sz="1600" dirty="0"/>
          </a:p>
        </p:txBody>
      </p:sp>
      <p:sp>
        <p:nvSpPr>
          <p:cNvPr id="19"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20" name="Text 18"/>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1" name="Text 19"/>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Group 18</a:t>
            </a:r>
            <a:endParaRPr lang="en-US" sz="1600" dirty="0"/>
          </a:p>
        </p:txBody>
      </p:sp>
      <p:sp>
        <p:nvSpPr>
          <p:cNvPr id="22"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3" name="Text 21"/>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Group 1 atoms are the largest in each period, so their outer electron is easiest to remove.</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F"/>
          <p:cNvSpPr/>
          <p:nvPr/>
        </p:nvSpPr>
        <p:spPr>
          <a:xfrm>
            <a:off x="737565" y="678311"/>
            <a:ext cx="189079" cy="18907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F</a:t>
            </a:r>
            <a:endParaRPr lang="en-US" sz="2400" dirty="0"/>
          </a:p>
        </p:txBody>
      </p:sp>
      <p:sp>
        <p:nvSpPr>
          <p:cNvPr id="6"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5 of 9 · about 7 min</a:t>
            </a:r>
            <a:endParaRPr lang="en-US" sz="1200" dirty="0"/>
          </a:p>
        </p:txBody>
      </p:sp>
      <p:sp>
        <p:nvSpPr>
          <p:cNvPr id="7"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Electronegativity</a:t>
            </a:r>
            <a:endParaRPr lang="en-US" sz="3000" dirty="0"/>
          </a:p>
        </p:txBody>
      </p:sp>
      <p:sp>
        <p:nvSpPr>
          <p:cNvPr id="8"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9" name="Text 7"/>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10" name="Text 8"/>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1" name="Text 9"/>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Tug-of-war for electrons</a:t>
            </a:r>
            <a:endParaRPr lang="en-US" sz="1400" dirty="0"/>
          </a:p>
        </p:txBody>
      </p:sp>
      <p:sp>
        <p:nvSpPr>
          <p:cNvPr id="12" name="Text 10"/>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3" name="Text 11"/>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Electron tug-of-war</a:t>
            </a:r>
            <a:endParaRPr lang="en-US" sz="1400" dirty="0"/>
          </a:p>
        </p:txBody>
      </p:sp>
      <p:sp>
        <p:nvSpPr>
          <p:cNvPr id="14" name="Text 12"/>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5" name="Text 13"/>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Most electronegative</a:t>
            </a:r>
            <a:endParaRPr lang="en-US" sz="1400" dirty="0"/>
          </a:p>
        </p:txBody>
      </p:sp>
      <p:sp>
        <p:nvSpPr>
          <p:cNvPr id="16"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7" name="Text 15"/>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8" name="Text 16"/>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9" name="Text 17"/>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Win 5 electron tug-of-war rounds</a:t>
            </a:r>
            <a:endParaRPr lang="en-US" sz="1400" dirty="0"/>
          </a:p>
        </p:txBody>
      </p:sp>
      <p:sp>
        <p:nvSpPr>
          <p:cNvPr id="20" name="Text 18"/>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1" name="Text 19"/>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F"/>
          <p:cNvSpPr/>
          <p:nvPr/>
        </p:nvSpPr>
        <p:spPr>
          <a:xfrm>
            <a:off x="737565" y="678311"/>
            <a:ext cx="189079" cy="18907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F</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Tug-of-war for electrons</a:t>
            </a:r>
            <a:endParaRPr lang="en-US" sz="2800" dirty="0"/>
          </a:p>
        </p:txBody>
      </p:sp>
      <p:sp>
        <p:nvSpPr>
          <p:cNvPr id="9" name="Text 7"/>
          <p:cNvSpPr txBox="1"/>
          <p:nvPr/>
        </p:nvSpPr>
        <p:spPr>
          <a:xfrm>
            <a:off x="457200" y="1325880"/>
            <a:ext cx="4114800" cy="2011680"/>
          </a:xfrm>
          <a:prstGeom prst="rect">
            <a:avLst/>
          </a:prstGeom>
          <a:noFill/>
          <a:ln/>
        </p:spPr>
        <p:txBody>
          <a:bodyPr wrap="square" lIns="0" tIns="0" rIns="0" bIns="0" rtlCol="0" anchor="t"/>
          <a:lstStyle/>
          <a:p>
            <a:pPr indent="0" marL="0">
              <a:spcAft>
                <a:spcPts val="800"/>
              </a:spcAft>
              <a:buNone/>
            </a:pPr>
            <a:r>
              <a:rPr lang="en-US" sz="1400" dirty="0">
                <a:solidFill>
                  <a:schemeClr val="bg1"/>
                </a:solidFill>
              </a:rPr>
              <a:t>When two atoms bond, they can share a pair of electrons. </a:t>
            </a:r>
            <a:pPr indent="0" marL="0">
              <a:spcAft>
                <a:spcPts val="800"/>
              </a:spcAft>
              <a:buNone/>
            </a:pPr>
            <a:r>
              <a:rPr lang="en-US" sz="1400" b="1" dirty="0">
                <a:solidFill>
                  <a:schemeClr val="accent1"/>
                </a:solidFill>
              </a:rPr>
              <a:t>Electronegativity</a:t>
            </a:r>
            <a:pPr indent="0" marL="0">
              <a:spcAft>
                <a:spcPts val="800"/>
              </a:spcAft>
              <a:buNone/>
            </a:pPr>
            <a:r>
              <a:rPr lang="en-US" sz="1400" dirty="0">
                <a:solidFill>
                  <a:schemeClr val="bg1"/>
                </a:solidFill>
              </a:rPr>
              <a:t> measures how strongly an atom pulls on those shared electrons. Fluorine is highest (3.98).</a:t>
            </a:r>
            <a:endParaRPr lang="en-US" sz="1400" dirty="0"/>
          </a:p>
          <a:p>
            <a:pPr indent="0" marL="0">
              <a:spcAft>
                <a:spcPts val="800"/>
              </a:spcAft>
              <a:buNone/>
            </a:pPr>
            <a:r>
              <a:rPr lang="en-US" sz="1400" dirty="0">
                <a:solidFill>
                  <a:schemeClr val="bg1"/>
                </a:solidFill>
              </a:rPr>
              <a:t>A small atom lets shared electrons get close to its nucleus, so it pulls harder. Noble gases are left out because they rarely bond.</a:t>
            </a:r>
            <a:endParaRPr lang="en-US" sz="1400" dirty="0"/>
          </a:p>
        </p:txBody>
      </p:sp>
      <p:sp>
        <p:nvSpPr>
          <p:cNvPr id="10" name="Electronegativity trend"/>
          <p:cNvSpPr/>
          <p:nvPr/>
        </p:nvSpPr>
        <p:spPr>
          <a:xfrm>
            <a:off x="457200" y="3429000"/>
            <a:ext cx="4023360" cy="868680"/>
          </a:xfrm>
          <a:prstGeom prst="roundRect">
            <a:avLst>
              <a:gd name="adj" fmla="val 10526"/>
            </a:avLst>
          </a:prstGeom>
          <a:solidFill>
            <a:schemeClr val="tx2"/>
          </a:solidFill>
          <a:ln w="9525">
            <a:solidFill>
              <a:schemeClr val="bg2">
                <a:alpha val="30000"/>
              </a:schemeClr>
            </a:solidFill>
            <a:prstDash val="solid"/>
          </a:ln>
        </p:spPr>
      </p:sp>
      <p:sp>
        <p:nvSpPr>
          <p:cNvPr id="11" name="Trend bar"/>
          <p:cNvSpPr/>
          <p:nvPr/>
        </p:nvSpPr>
        <p:spPr>
          <a:xfrm>
            <a:off x="457200" y="3474720"/>
            <a:ext cx="64008" cy="777240"/>
          </a:xfrm>
          <a:prstGeom prst="rect">
            <a:avLst/>
          </a:prstGeom>
          <a:solidFill>
            <a:schemeClr val="accent6"/>
          </a:solidFill>
          <a:ln w="6350">
            <a:solidFill>
              <a:schemeClr val="accent6"/>
            </a:solidFill>
            <a:prstDash val="solid"/>
          </a:ln>
        </p:spPr>
      </p:sp>
      <p:sp>
        <p:nvSpPr>
          <p:cNvPr id="12" name="Text 10"/>
          <p:cNvSpPr txBox="1"/>
          <p:nvPr/>
        </p:nvSpPr>
        <p:spPr>
          <a:xfrm>
            <a:off x="640080" y="3429000"/>
            <a:ext cx="3749040" cy="868680"/>
          </a:xfrm>
          <a:prstGeom prst="rect">
            <a:avLst/>
          </a:prstGeom>
          <a:noFill/>
          <a:ln/>
        </p:spPr>
        <p:txBody>
          <a:bodyPr wrap="square" lIns="0" tIns="0" rIns="0" bIns="0" rtlCol="0" anchor="ctr"/>
          <a:lstStyle/>
          <a:p>
            <a:pPr indent="0" marL="0">
              <a:buNone/>
            </a:pPr>
            <a:r>
              <a:rPr lang="en-US" sz="1300" b="1" dirty="0">
                <a:solidFill>
                  <a:schemeClr val="accent6"/>
                </a:solidFill>
              </a:rPr>
              <a:t>Electronegativity</a:t>
            </a:r>
            <a:endParaRPr lang="en-US" sz="1300" dirty="0"/>
          </a:p>
          <a:p>
            <a:pPr indent="0" marL="0">
              <a:buNone/>
            </a:pPr>
            <a:r>
              <a:rPr lang="en-US" sz="1300" dirty="0">
                <a:solidFill>
                  <a:schemeClr val="bg2"/>
                </a:solidFill>
              </a:rPr>
              <a:t>Across a period: </a:t>
            </a:r>
            <a:pPr indent="0" marL="0">
              <a:buNone/>
            </a:pPr>
            <a:r>
              <a:rPr lang="en-US" sz="1300" b="1" dirty="0">
                <a:solidFill>
                  <a:schemeClr val="bg1"/>
                </a:solidFill>
              </a:rPr>
              <a:t>gets higher →</a:t>
            </a:r>
            <a:endParaRPr lang="en-US" sz="1300" dirty="0"/>
          </a:p>
          <a:p>
            <a:pPr indent="0" marL="0">
              <a:buNone/>
            </a:pPr>
            <a:r>
              <a:rPr lang="en-US" sz="1300" dirty="0">
                <a:solidFill>
                  <a:schemeClr val="bg2"/>
                </a:solidFill>
              </a:rPr>
              <a:t>Down a group: </a:t>
            </a:r>
            <a:pPr indent="0" marL="0">
              <a:buNone/>
            </a:pPr>
            <a:r>
              <a:rPr lang="en-US" sz="1300" b="1" dirty="0">
                <a:solidFill>
                  <a:schemeClr val="bg1"/>
                </a:solidFill>
              </a:rPr>
              <a:t>gets lower ↓</a:t>
            </a:r>
            <a:endParaRPr lang="en-US" sz="1300" dirty="0"/>
          </a:p>
        </p:txBody>
      </p:sp>
      <p:sp>
        <p:nvSpPr>
          <p:cNvPr id="13" name="Hydrogen atom"/>
          <p:cNvSpPr/>
          <p:nvPr/>
        </p:nvSpPr>
        <p:spPr>
          <a:xfrm>
            <a:off x="5350264" y="2040136"/>
            <a:ext cx="674608" cy="674608"/>
          </a:xfrm>
          <a:prstGeom prst="ellipse">
            <a:avLst/>
          </a:prstGeom>
          <a:solidFill>
            <a:schemeClr val="accent1">
              <a:alpha val="20000"/>
            </a:schemeClr>
          </a:solidFill>
          <a:ln w="12700">
            <a:solidFill>
              <a:schemeClr val="accent1">
                <a:alpha val="70000"/>
              </a:schemeClr>
            </a:solidFill>
            <a:prstDash val="dash"/>
          </a:ln>
        </p:spPr>
      </p:sp>
      <p:sp>
        <p:nvSpPr>
          <p:cNvPr id="14" name="Nucleus"/>
          <p:cNvSpPr/>
          <p:nvPr/>
        </p:nvSpPr>
        <p:spPr>
          <a:xfrm>
            <a:off x="5650992" y="2340864"/>
            <a:ext cx="73152" cy="73152"/>
          </a:xfrm>
          <a:prstGeom prst="ellipse">
            <a:avLst/>
          </a:prstGeom>
          <a:solidFill>
            <a:srgbClr val="E0654F"/>
          </a:solidFill>
          <a:ln w="6350">
            <a:solidFill>
              <a:srgbClr val="E0654F"/>
            </a:solidFill>
            <a:prstDash val="solid"/>
          </a:ln>
        </p:spPr>
      </p:sp>
      <p:sp>
        <p:nvSpPr>
          <p:cNvPr id="15" name="Text 13"/>
          <p:cNvSpPr txBox="1"/>
          <p:nvPr/>
        </p:nvSpPr>
        <p:spPr>
          <a:xfrm>
            <a:off x="4864608" y="2751320"/>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H</a:t>
            </a:r>
            <a:endParaRPr lang="en-US" sz="1200" dirty="0"/>
          </a:p>
        </p:txBody>
      </p:sp>
      <p:sp>
        <p:nvSpPr>
          <p:cNvPr id="16" name="Chlorine atom"/>
          <p:cNvSpPr/>
          <p:nvPr/>
        </p:nvSpPr>
        <p:spPr>
          <a:xfrm>
            <a:off x="7159898" y="1874666"/>
            <a:ext cx="1005547" cy="1005547"/>
          </a:xfrm>
          <a:prstGeom prst="ellipse">
            <a:avLst/>
          </a:prstGeom>
          <a:solidFill>
            <a:schemeClr val="accent1">
              <a:alpha val="20000"/>
            </a:schemeClr>
          </a:solidFill>
          <a:ln w="12700">
            <a:solidFill>
              <a:schemeClr val="accent1">
                <a:alpha val="70000"/>
              </a:schemeClr>
            </a:solidFill>
            <a:prstDash val="dash"/>
          </a:ln>
        </p:spPr>
      </p:sp>
      <p:sp>
        <p:nvSpPr>
          <p:cNvPr id="17" name="Nucleus"/>
          <p:cNvSpPr/>
          <p:nvPr/>
        </p:nvSpPr>
        <p:spPr>
          <a:xfrm>
            <a:off x="7626096" y="2340864"/>
            <a:ext cx="73152" cy="73152"/>
          </a:xfrm>
          <a:prstGeom prst="ellipse">
            <a:avLst/>
          </a:prstGeom>
          <a:solidFill>
            <a:srgbClr val="E0654F"/>
          </a:solidFill>
          <a:ln w="6350">
            <a:solidFill>
              <a:srgbClr val="E0654F"/>
            </a:solidFill>
            <a:prstDash val="solid"/>
          </a:ln>
        </p:spPr>
      </p:sp>
      <p:sp>
        <p:nvSpPr>
          <p:cNvPr id="18" name="Text 16"/>
          <p:cNvSpPr txBox="1"/>
          <p:nvPr/>
        </p:nvSpPr>
        <p:spPr>
          <a:xfrm>
            <a:off x="6839712" y="2916790"/>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Cl</a:t>
            </a:r>
            <a:endParaRPr lang="en-US" sz="1200" dirty="0"/>
          </a:p>
        </p:txBody>
      </p:sp>
      <p:sp>
        <p:nvSpPr>
          <p:cNvPr id="19" name="Shared electron"/>
          <p:cNvSpPr/>
          <p:nvPr/>
        </p:nvSpPr>
        <p:spPr>
          <a:xfrm>
            <a:off x="6967728" y="2322576"/>
            <a:ext cx="109728" cy="109728"/>
          </a:xfrm>
          <a:prstGeom prst="ellipse">
            <a:avLst/>
          </a:prstGeom>
          <a:solidFill>
            <a:schemeClr val="accent6"/>
          </a:solidFill>
          <a:ln w="6350">
            <a:solidFill>
              <a:schemeClr val="accent6"/>
            </a:solidFill>
            <a:prstDash val="solid"/>
          </a:ln>
        </p:spPr>
      </p:sp>
      <p:sp>
        <p:nvSpPr>
          <p:cNvPr id="20" name="Shared electron"/>
          <p:cNvSpPr/>
          <p:nvPr/>
        </p:nvSpPr>
        <p:spPr>
          <a:xfrm>
            <a:off x="7095744" y="2322576"/>
            <a:ext cx="109728" cy="109728"/>
          </a:xfrm>
          <a:prstGeom prst="ellipse">
            <a:avLst/>
          </a:prstGeom>
          <a:solidFill>
            <a:schemeClr val="accent6"/>
          </a:solidFill>
          <a:ln w="6350">
            <a:solidFill>
              <a:schemeClr val="accent6"/>
            </a:solidFill>
            <a:prstDash val="solid"/>
          </a:ln>
        </p:spPr>
      </p:sp>
      <p:sp>
        <p:nvSpPr>
          <p:cNvPr id="21" name="Text 19"/>
          <p:cNvSpPr txBox="1"/>
          <p:nvPr/>
        </p:nvSpPr>
        <p:spPr>
          <a:xfrm>
            <a:off x="4846320" y="3429000"/>
            <a:ext cx="3840480" cy="457200"/>
          </a:xfrm>
          <a:prstGeom prst="rect">
            <a:avLst/>
          </a:prstGeom>
          <a:noFill/>
          <a:ln/>
        </p:spPr>
        <p:txBody>
          <a:bodyPr wrap="square" lIns="0" tIns="0" rIns="0" bIns="0" rtlCol="0" anchor="t"/>
          <a:lstStyle/>
          <a:p>
            <a:pPr algn="ctr" indent="0" marL="0">
              <a:buNone/>
            </a:pPr>
            <a:r>
              <a:rPr lang="en-US" sz="1200" dirty="0">
                <a:solidFill>
                  <a:schemeClr val="bg2"/>
                </a:solidFill>
              </a:rPr>
              <a:t>In H–Cl, the shared pair (pink) sits closer to chlorine.</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F"/>
          <p:cNvSpPr/>
          <p:nvPr/>
        </p:nvSpPr>
        <p:spPr>
          <a:xfrm>
            <a:off x="737565" y="678311"/>
            <a:ext cx="189079" cy="18907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F</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Electron tug-of-war</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Which atom pulls the shared electrons harder?</a:t>
            </a:r>
            <a:endParaRPr lang="en-US" sz="1300" dirty="0"/>
          </a:p>
        </p:txBody>
      </p:sp>
      <p:sp>
        <p:nvSpPr>
          <p:cNvPr id="10" name="Bond 1"/>
          <p:cNvSpPr/>
          <p:nvPr/>
        </p:nvSpPr>
        <p:spPr>
          <a:xfrm>
            <a:off x="457200"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11" name="Text 9"/>
          <p:cNvSpPr txBox="1"/>
          <p:nvPr/>
        </p:nvSpPr>
        <p:spPr>
          <a:xfrm>
            <a:off x="457200" y="1783080"/>
            <a:ext cx="1554480" cy="365760"/>
          </a:xfrm>
          <a:prstGeom prst="rect">
            <a:avLst/>
          </a:prstGeom>
          <a:noFill/>
          <a:ln/>
        </p:spPr>
        <p:txBody>
          <a:bodyPr wrap="square" lIns="0" tIns="0" rIns="0" bIns="0" rtlCol="0" anchor="t"/>
          <a:lstStyle/>
          <a:p>
            <a:pPr algn="ctr" indent="0" marL="0">
              <a:buNone/>
            </a:pPr>
            <a:r>
              <a:rPr lang="en-US" sz="1800" b="1" dirty="0">
                <a:solidFill>
                  <a:schemeClr val="bg1"/>
                </a:solidFill>
              </a:rPr>
              <a:t>H–Cl</a:t>
            </a:r>
            <a:endParaRPr lang="en-US" sz="1800" dirty="0"/>
          </a:p>
        </p:txBody>
      </p:sp>
      <p:sp>
        <p:nvSpPr>
          <p:cNvPr id="12" name="Hydrogen atom"/>
          <p:cNvSpPr/>
          <p:nvPr/>
        </p:nvSpPr>
        <p:spPr>
          <a:xfrm>
            <a:off x="549931" y="2568926"/>
            <a:ext cx="348547" cy="348547"/>
          </a:xfrm>
          <a:prstGeom prst="ellipse">
            <a:avLst/>
          </a:prstGeom>
          <a:solidFill>
            <a:schemeClr val="accent1">
              <a:alpha val="20000"/>
            </a:schemeClr>
          </a:solidFill>
          <a:ln w="12700">
            <a:solidFill>
              <a:schemeClr val="accent1">
                <a:alpha val="70000"/>
              </a:schemeClr>
            </a:solidFill>
            <a:prstDash val="dash"/>
          </a:ln>
        </p:spPr>
      </p:sp>
      <p:sp>
        <p:nvSpPr>
          <p:cNvPr id="13" name="Nucleus"/>
          <p:cNvSpPr/>
          <p:nvPr/>
        </p:nvSpPr>
        <p:spPr>
          <a:xfrm>
            <a:off x="687629" y="2706624"/>
            <a:ext cx="73152" cy="73152"/>
          </a:xfrm>
          <a:prstGeom prst="ellipse">
            <a:avLst/>
          </a:prstGeom>
          <a:solidFill>
            <a:srgbClr val="E0654F"/>
          </a:solidFill>
          <a:ln w="6350">
            <a:solidFill>
              <a:srgbClr val="E0654F"/>
            </a:solidFill>
            <a:prstDash val="solid"/>
          </a:ln>
        </p:spPr>
      </p:sp>
      <p:sp>
        <p:nvSpPr>
          <p:cNvPr id="14" name="Text 12"/>
          <p:cNvSpPr txBox="1"/>
          <p:nvPr/>
        </p:nvSpPr>
        <p:spPr>
          <a:xfrm>
            <a:off x="-98755" y="2954050"/>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H</a:t>
            </a:r>
            <a:endParaRPr lang="en-US" sz="1200" dirty="0"/>
          </a:p>
        </p:txBody>
      </p:sp>
      <p:sp>
        <p:nvSpPr>
          <p:cNvPr id="15" name="Chlorine atom"/>
          <p:cNvSpPr/>
          <p:nvPr/>
        </p:nvSpPr>
        <p:spPr>
          <a:xfrm>
            <a:off x="1484909" y="2483434"/>
            <a:ext cx="519533" cy="519533"/>
          </a:xfrm>
          <a:prstGeom prst="ellipse">
            <a:avLst/>
          </a:prstGeom>
          <a:solidFill>
            <a:schemeClr val="accent1">
              <a:alpha val="20000"/>
            </a:schemeClr>
          </a:solidFill>
          <a:ln w="12700">
            <a:solidFill>
              <a:schemeClr val="accent1">
                <a:alpha val="70000"/>
              </a:schemeClr>
            </a:solidFill>
            <a:prstDash val="dash"/>
          </a:ln>
        </p:spPr>
      </p:sp>
      <p:sp>
        <p:nvSpPr>
          <p:cNvPr id="16" name="Nucleus"/>
          <p:cNvSpPr/>
          <p:nvPr/>
        </p:nvSpPr>
        <p:spPr>
          <a:xfrm>
            <a:off x="1708099" y="2706624"/>
            <a:ext cx="73152" cy="73152"/>
          </a:xfrm>
          <a:prstGeom prst="ellipse">
            <a:avLst/>
          </a:prstGeom>
          <a:solidFill>
            <a:srgbClr val="E0654F"/>
          </a:solidFill>
          <a:ln w="6350">
            <a:solidFill>
              <a:srgbClr val="E0654F"/>
            </a:solidFill>
            <a:prstDash val="solid"/>
          </a:ln>
        </p:spPr>
      </p:sp>
      <p:sp>
        <p:nvSpPr>
          <p:cNvPr id="17" name="Text 15"/>
          <p:cNvSpPr txBox="1"/>
          <p:nvPr/>
        </p:nvSpPr>
        <p:spPr>
          <a:xfrm>
            <a:off x="921715" y="3039542"/>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Cl</a:t>
            </a:r>
            <a:endParaRPr lang="en-US" sz="1200" dirty="0"/>
          </a:p>
        </p:txBody>
      </p:sp>
      <p:sp>
        <p:nvSpPr>
          <p:cNvPr id="18" name="Shared electron"/>
          <p:cNvSpPr/>
          <p:nvPr/>
        </p:nvSpPr>
        <p:spPr>
          <a:xfrm>
            <a:off x="1115568" y="2688336"/>
            <a:ext cx="109728" cy="109728"/>
          </a:xfrm>
          <a:prstGeom prst="ellipse">
            <a:avLst/>
          </a:prstGeom>
          <a:solidFill>
            <a:schemeClr val="accent6"/>
          </a:solidFill>
          <a:ln w="6350">
            <a:solidFill>
              <a:schemeClr val="accent6"/>
            </a:solidFill>
            <a:prstDash val="solid"/>
          </a:ln>
        </p:spPr>
      </p:sp>
      <p:sp>
        <p:nvSpPr>
          <p:cNvPr id="19" name="Shared electron"/>
          <p:cNvSpPr/>
          <p:nvPr/>
        </p:nvSpPr>
        <p:spPr>
          <a:xfrm>
            <a:off x="1243584" y="2688336"/>
            <a:ext cx="109728" cy="109728"/>
          </a:xfrm>
          <a:prstGeom prst="ellipse">
            <a:avLst/>
          </a:prstGeom>
          <a:solidFill>
            <a:schemeClr val="accent6"/>
          </a:solidFill>
          <a:ln w="6350">
            <a:solidFill>
              <a:schemeClr val="accent6"/>
            </a:solidFill>
            <a:prstDash val="solid"/>
          </a:ln>
        </p:spPr>
      </p:sp>
      <p:sp>
        <p:nvSpPr>
          <p:cNvPr id="20" name="Text 18"/>
          <p:cNvSpPr txBox="1"/>
          <p:nvPr/>
        </p:nvSpPr>
        <p:spPr>
          <a:xfrm>
            <a:off x="457200" y="3749040"/>
            <a:ext cx="1554480" cy="73152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21" name="Bond 2"/>
          <p:cNvSpPr/>
          <p:nvPr/>
        </p:nvSpPr>
        <p:spPr>
          <a:xfrm>
            <a:off x="2121408"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22" name="Text 20"/>
          <p:cNvSpPr txBox="1"/>
          <p:nvPr/>
        </p:nvSpPr>
        <p:spPr>
          <a:xfrm>
            <a:off x="2121408" y="1783080"/>
            <a:ext cx="1554480" cy="365760"/>
          </a:xfrm>
          <a:prstGeom prst="rect">
            <a:avLst/>
          </a:prstGeom>
          <a:noFill/>
          <a:ln/>
        </p:spPr>
        <p:txBody>
          <a:bodyPr wrap="square" lIns="0" tIns="0" rIns="0" bIns="0" rtlCol="0" anchor="t"/>
          <a:lstStyle/>
          <a:p>
            <a:pPr algn="ctr" indent="0" marL="0">
              <a:buNone/>
            </a:pPr>
            <a:r>
              <a:rPr lang="en-US" sz="1800" b="1" dirty="0">
                <a:solidFill>
                  <a:schemeClr val="bg1"/>
                </a:solidFill>
              </a:rPr>
              <a:t>C–O</a:t>
            </a:r>
            <a:endParaRPr lang="en-US" sz="1800" dirty="0"/>
          </a:p>
        </p:txBody>
      </p:sp>
      <p:sp>
        <p:nvSpPr>
          <p:cNvPr id="23" name="Carbon atom"/>
          <p:cNvSpPr/>
          <p:nvPr/>
        </p:nvSpPr>
        <p:spPr>
          <a:xfrm>
            <a:off x="2168105" y="2522892"/>
            <a:ext cx="440616" cy="440616"/>
          </a:xfrm>
          <a:prstGeom prst="ellipse">
            <a:avLst/>
          </a:prstGeom>
          <a:solidFill>
            <a:schemeClr val="accent1">
              <a:alpha val="20000"/>
            </a:schemeClr>
          </a:solidFill>
          <a:ln w="12700">
            <a:solidFill>
              <a:schemeClr val="accent1">
                <a:alpha val="70000"/>
              </a:schemeClr>
            </a:solidFill>
            <a:prstDash val="dash"/>
          </a:ln>
        </p:spPr>
      </p:sp>
      <p:sp>
        <p:nvSpPr>
          <p:cNvPr id="24" name="Nucleus"/>
          <p:cNvSpPr/>
          <p:nvPr/>
        </p:nvSpPr>
        <p:spPr>
          <a:xfrm>
            <a:off x="2351837" y="2706624"/>
            <a:ext cx="73152" cy="73152"/>
          </a:xfrm>
          <a:prstGeom prst="ellipse">
            <a:avLst/>
          </a:prstGeom>
          <a:solidFill>
            <a:srgbClr val="E0654F"/>
          </a:solidFill>
          <a:ln w="6350">
            <a:solidFill>
              <a:srgbClr val="E0654F"/>
            </a:solidFill>
            <a:prstDash val="solid"/>
          </a:ln>
        </p:spPr>
      </p:sp>
      <p:sp>
        <p:nvSpPr>
          <p:cNvPr id="25" name="Text 23"/>
          <p:cNvSpPr txBox="1"/>
          <p:nvPr/>
        </p:nvSpPr>
        <p:spPr>
          <a:xfrm>
            <a:off x="1565453" y="3000084"/>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C</a:t>
            </a:r>
            <a:endParaRPr lang="en-US" sz="1200" dirty="0"/>
          </a:p>
        </p:txBody>
      </p:sp>
      <p:sp>
        <p:nvSpPr>
          <p:cNvPr id="26" name="Oxygen atom"/>
          <p:cNvSpPr/>
          <p:nvPr/>
        </p:nvSpPr>
        <p:spPr>
          <a:xfrm>
            <a:off x="3251050" y="2585367"/>
            <a:ext cx="315666" cy="315666"/>
          </a:xfrm>
          <a:prstGeom prst="ellipse">
            <a:avLst/>
          </a:prstGeom>
          <a:solidFill>
            <a:schemeClr val="accent1">
              <a:alpha val="20000"/>
            </a:schemeClr>
          </a:solidFill>
          <a:ln w="12700">
            <a:solidFill>
              <a:schemeClr val="accent1">
                <a:alpha val="70000"/>
              </a:schemeClr>
            </a:solidFill>
            <a:prstDash val="dash"/>
          </a:ln>
        </p:spPr>
      </p:sp>
      <p:sp>
        <p:nvSpPr>
          <p:cNvPr id="27" name="Nucleus"/>
          <p:cNvSpPr/>
          <p:nvPr/>
        </p:nvSpPr>
        <p:spPr>
          <a:xfrm>
            <a:off x="3372307" y="2706624"/>
            <a:ext cx="73152" cy="73152"/>
          </a:xfrm>
          <a:prstGeom prst="ellipse">
            <a:avLst/>
          </a:prstGeom>
          <a:solidFill>
            <a:srgbClr val="E0654F"/>
          </a:solidFill>
          <a:ln w="6350">
            <a:solidFill>
              <a:srgbClr val="E0654F"/>
            </a:solidFill>
            <a:prstDash val="solid"/>
          </a:ln>
        </p:spPr>
      </p:sp>
      <p:sp>
        <p:nvSpPr>
          <p:cNvPr id="28" name="Text 26"/>
          <p:cNvSpPr txBox="1"/>
          <p:nvPr/>
        </p:nvSpPr>
        <p:spPr>
          <a:xfrm>
            <a:off x="2585923" y="2937609"/>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O</a:t>
            </a:r>
            <a:endParaRPr lang="en-US" sz="1200" dirty="0"/>
          </a:p>
        </p:txBody>
      </p:sp>
      <p:sp>
        <p:nvSpPr>
          <p:cNvPr id="29" name="Shared electron"/>
          <p:cNvSpPr/>
          <p:nvPr/>
        </p:nvSpPr>
        <p:spPr>
          <a:xfrm>
            <a:off x="2779776" y="2688336"/>
            <a:ext cx="109728" cy="109728"/>
          </a:xfrm>
          <a:prstGeom prst="ellipse">
            <a:avLst/>
          </a:prstGeom>
          <a:solidFill>
            <a:schemeClr val="accent6"/>
          </a:solidFill>
          <a:ln w="6350">
            <a:solidFill>
              <a:schemeClr val="accent6"/>
            </a:solidFill>
            <a:prstDash val="solid"/>
          </a:ln>
        </p:spPr>
      </p:sp>
      <p:sp>
        <p:nvSpPr>
          <p:cNvPr id="30" name="Shared electron"/>
          <p:cNvSpPr/>
          <p:nvPr/>
        </p:nvSpPr>
        <p:spPr>
          <a:xfrm>
            <a:off x="2907792" y="2688336"/>
            <a:ext cx="109728" cy="109728"/>
          </a:xfrm>
          <a:prstGeom prst="ellipse">
            <a:avLst/>
          </a:prstGeom>
          <a:solidFill>
            <a:schemeClr val="accent6"/>
          </a:solidFill>
          <a:ln w="6350">
            <a:solidFill>
              <a:schemeClr val="accent6"/>
            </a:solidFill>
            <a:prstDash val="solid"/>
          </a:ln>
        </p:spPr>
      </p:sp>
      <p:sp>
        <p:nvSpPr>
          <p:cNvPr id="31" name="Text 29"/>
          <p:cNvSpPr txBox="1"/>
          <p:nvPr/>
        </p:nvSpPr>
        <p:spPr>
          <a:xfrm>
            <a:off x="2121408" y="3749040"/>
            <a:ext cx="1554480" cy="73152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32" name="Bond 3"/>
          <p:cNvSpPr/>
          <p:nvPr/>
        </p:nvSpPr>
        <p:spPr>
          <a:xfrm>
            <a:off x="3785616"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33" name="Text 31"/>
          <p:cNvSpPr txBox="1"/>
          <p:nvPr/>
        </p:nvSpPr>
        <p:spPr>
          <a:xfrm>
            <a:off x="3785616" y="1783080"/>
            <a:ext cx="1554480" cy="365760"/>
          </a:xfrm>
          <a:prstGeom prst="rect">
            <a:avLst/>
          </a:prstGeom>
          <a:noFill/>
          <a:ln/>
        </p:spPr>
        <p:txBody>
          <a:bodyPr wrap="square" lIns="0" tIns="0" rIns="0" bIns="0" rtlCol="0" anchor="t"/>
          <a:lstStyle/>
          <a:p>
            <a:pPr algn="ctr" indent="0" marL="0">
              <a:buNone/>
            </a:pPr>
            <a:r>
              <a:rPr lang="en-US" sz="1800" b="1" dirty="0">
                <a:solidFill>
                  <a:schemeClr val="bg1"/>
                </a:solidFill>
              </a:rPr>
              <a:t>N–H</a:t>
            </a:r>
            <a:endParaRPr lang="en-US" sz="1800" dirty="0"/>
          </a:p>
        </p:txBody>
      </p:sp>
      <p:sp>
        <p:nvSpPr>
          <p:cNvPr id="34" name="Nitrogen atom"/>
          <p:cNvSpPr/>
          <p:nvPr/>
        </p:nvSpPr>
        <p:spPr>
          <a:xfrm>
            <a:off x="3868483" y="2559062"/>
            <a:ext cx="368276" cy="368276"/>
          </a:xfrm>
          <a:prstGeom prst="ellipse">
            <a:avLst/>
          </a:prstGeom>
          <a:solidFill>
            <a:schemeClr val="accent1">
              <a:alpha val="20000"/>
            </a:schemeClr>
          </a:solidFill>
          <a:ln w="12700">
            <a:solidFill>
              <a:schemeClr val="accent1">
                <a:alpha val="70000"/>
              </a:schemeClr>
            </a:solidFill>
            <a:prstDash val="dash"/>
          </a:ln>
        </p:spPr>
      </p:sp>
      <p:sp>
        <p:nvSpPr>
          <p:cNvPr id="35" name="Nucleus"/>
          <p:cNvSpPr/>
          <p:nvPr/>
        </p:nvSpPr>
        <p:spPr>
          <a:xfrm>
            <a:off x="4016045" y="2706624"/>
            <a:ext cx="73152" cy="73152"/>
          </a:xfrm>
          <a:prstGeom prst="ellipse">
            <a:avLst/>
          </a:prstGeom>
          <a:solidFill>
            <a:srgbClr val="E0654F"/>
          </a:solidFill>
          <a:ln w="6350">
            <a:solidFill>
              <a:srgbClr val="E0654F"/>
            </a:solidFill>
            <a:prstDash val="solid"/>
          </a:ln>
        </p:spPr>
      </p:sp>
      <p:sp>
        <p:nvSpPr>
          <p:cNvPr id="36" name="Text 34"/>
          <p:cNvSpPr txBox="1"/>
          <p:nvPr/>
        </p:nvSpPr>
        <p:spPr>
          <a:xfrm>
            <a:off x="3229661" y="2963914"/>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N</a:t>
            </a:r>
            <a:endParaRPr lang="en-US" sz="1200" dirty="0"/>
          </a:p>
        </p:txBody>
      </p:sp>
      <p:sp>
        <p:nvSpPr>
          <p:cNvPr id="37" name="Hydrogen atom"/>
          <p:cNvSpPr/>
          <p:nvPr/>
        </p:nvSpPr>
        <p:spPr>
          <a:xfrm>
            <a:off x="4898818" y="2568926"/>
            <a:ext cx="348547" cy="348547"/>
          </a:xfrm>
          <a:prstGeom prst="ellipse">
            <a:avLst/>
          </a:prstGeom>
          <a:solidFill>
            <a:schemeClr val="accent1">
              <a:alpha val="20000"/>
            </a:schemeClr>
          </a:solidFill>
          <a:ln w="12700">
            <a:solidFill>
              <a:schemeClr val="accent1">
                <a:alpha val="70000"/>
              </a:schemeClr>
            </a:solidFill>
            <a:prstDash val="dash"/>
          </a:ln>
        </p:spPr>
      </p:sp>
      <p:sp>
        <p:nvSpPr>
          <p:cNvPr id="38" name="Nucleus"/>
          <p:cNvSpPr/>
          <p:nvPr/>
        </p:nvSpPr>
        <p:spPr>
          <a:xfrm>
            <a:off x="5036515" y="2706624"/>
            <a:ext cx="73152" cy="73152"/>
          </a:xfrm>
          <a:prstGeom prst="ellipse">
            <a:avLst/>
          </a:prstGeom>
          <a:solidFill>
            <a:srgbClr val="E0654F"/>
          </a:solidFill>
          <a:ln w="6350">
            <a:solidFill>
              <a:srgbClr val="E0654F"/>
            </a:solidFill>
            <a:prstDash val="solid"/>
          </a:ln>
        </p:spPr>
      </p:sp>
      <p:sp>
        <p:nvSpPr>
          <p:cNvPr id="39" name="Text 37"/>
          <p:cNvSpPr txBox="1"/>
          <p:nvPr/>
        </p:nvSpPr>
        <p:spPr>
          <a:xfrm>
            <a:off x="4250131" y="2954050"/>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H</a:t>
            </a:r>
            <a:endParaRPr lang="en-US" sz="1200" dirty="0"/>
          </a:p>
        </p:txBody>
      </p:sp>
      <p:sp>
        <p:nvSpPr>
          <p:cNvPr id="40" name="Shared electron"/>
          <p:cNvSpPr/>
          <p:nvPr/>
        </p:nvSpPr>
        <p:spPr>
          <a:xfrm>
            <a:off x="4443984" y="2688336"/>
            <a:ext cx="109728" cy="109728"/>
          </a:xfrm>
          <a:prstGeom prst="ellipse">
            <a:avLst/>
          </a:prstGeom>
          <a:solidFill>
            <a:schemeClr val="accent6"/>
          </a:solidFill>
          <a:ln w="6350">
            <a:solidFill>
              <a:schemeClr val="accent6"/>
            </a:solidFill>
            <a:prstDash val="solid"/>
          </a:ln>
        </p:spPr>
      </p:sp>
      <p:sp>
        <p:nvSpPr>
          <p:cNvPr id="41" name="Shared electron"/>
          <p:cNvSpPr/>
          <p:nvPr/>
        </p:nvSpPr>
        <p:spPr>
          <a:xfrm>
            <a:off x="4572000" y="2688336"/>
            <a:ext cx="109728" cy="109728"/>
          </a:xfrm>
          <a:prstGeom prst="ellipse">
            <a:avLst/>
          </a:prstGeom>
          <a:solidFill>
            <a:schemeClr val="accent6"/>
          </a:solidFill>
          <a:ln w="6350">
            <a:solidFill>
              <a:schemeClr val="accent6"/>
            </a:solidFill>
            <a:prstDash val="solid"/>
          </a:ln>
        </p:spPr>
      </p:sp>
      <p:sp>
        <p:nvSpPr>
          <p:cNvPr id="42" name="Text 40"/>
          <p:cNvSpPr txBox="1"/>
          <p:nvPr/>
        </p:nvSpPr>
        <p:spPr>
          <a:xfrm>
            <a:off x="3785616" y="3749040"/>
            <a:ext cx="1554480" cy="73152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43" name="Bond 4"/>
          <p:cNvSpPr/>
          <p:nvPr/>
        </p:nvSpPr>
        <p:spPr>
          <a:xfrm>
            <a:off x="5449824"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44" name="Text 42"/>
          <p:cNvSpPr txBox="1"/>
          <p:nvPr/>
        </p:nvSpPr>
        <p:spPr>
          <a:xfrm>
            <a:off x="5449824" y="1783080"/>
            <a:ext cx="1554480" cy="365760"/>
          </a:xfrm>
          <a:prstGeom prst="rect">
            <a:avLst/>
          </a:prstGeom>
          <a:noFill/>
          <a:ln/>
        </p:spPr>
        <p:txBody>
          <a:bodyPr wrap="square" lIns="0" tIns="0" rIns="0" bIns="0" rtlCol="0" anchor="t"/>
          <a:lstStyle/>
          <a:p>
            <a:pPr algn="ctr" indent="0" marL="0">
              <a:buNone/>
            </a:pPr>
            <a:r>
              <a:rPr lang="en-US" sz="1800" b="1" dirty="0">
                <a:solidFill>
                  <a:schemeClr val="bg1"/>
                </a:solidFill>
              </a:rPr>
              <a:t>Br–F</a:t>
            </a:r>
            <a:endParaRPr lang="en-US" sz="1800" dirty="0"/>
          </a:p>
        </p:txBody>
      </p:sp>
      <p:sp>
        <p:nvSpPr>
          <p:cNvPr id="45" name="Bromine atom"/>
          <p:cNvSpPr/>
          <p:nvPr/>
        </p:nvSpPr>
        <p:spPr>
          <a:xfrm>
            <a:off x="5407740" y="2434111"/>
            <a:ext cx="618178" cy="618178"/>
          </a:xfrm>
          <a:prstGeom prst="ellipse">
            <a:avLst/>
          </a:prstGeom>
          <a:solidFill>
            <a:schemeClr val="accent1">
              <a:alpha val="20000"/>
            </a:schemeClr>
          </a:solidFill>
          <a:ln w="12700">
            <a:solidFill>
              <a:schemeClr val="accent1">
                <a:alpha val="70000"/>
              </a:schemeClr>
            </a:solidFill>
            <a:prstDash val="dash"/>
          </a:ln>
        </p:spPr>
      </p:sp>
      <p:sp>
        <p:nvSpPr>
          <p:cNvPr id="46" name="Nucleus"/>
          <p:cNvSpPr/>
          <p:nvPr/>
        </p:nvSpPr>
        <p:spPr>
          <a:xfrm>
            <a:off x="5680253" y="2706624"/>
            <a:ext cx="73152" cy="73152"/>
          </a:xfrm>
          <a:prstGeom prst="ellipse">
            <a:avLst/>
          </a:prstGeom>
          <a:solidFill>
            <a:srgbClr val="E0654F"/>
          </a:solidFill>
          <a:ln w="6350">
            <a:solidFill>
              <a:srgbClr val="E0654F"/>
            </a:solidFill>
            <a:prstDash val="solid"/>
          </a:ln>
        </p:spPr>
      </p:sp>
      <p:sp>
        <p:nvSpPr>
          <p:cNvPr id="47" name="Text 45"/>
          <p:cNvSpPr txBox="1"/>
          <p:nvPr/>
        </p:nvSpPr>
        <p:spPr>
          <a:xfrm>
            <a:off x="4893869" y="3088865"/>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Br</a:t>
            </a:r>
            <a:endParaRPr lang="en-US" sz="1200" dirty="0"/>
          </a:p>
        </p:txBody>
      </p:sp>
      <p:sp>
        <p:nvSpPr>
          <p:cNvPr id="48" name="Fluorine atom"/>
          <p:cNvSpPr/>
          <p:nvPr/>
        </p:nvSpPr>
        <p:spPr>
          <a:xfrm>
            <a:off x="6599196" y="2605096"/>
            <a:ext cx="276207" cy="276207"/>
          </a:xfrm>
          <a:prstGeom prst="ellipse">
            <a:avLst/>
          </a:prstGeom>
          <a:solidFill>
            <a:schemeClr val="accent1">
              <a:alpha val="20000"/>
            </a:schemeClr>
          </a:solidFill>
          <a:ln w="12700">
            <a:solidFill>
              <a:schemeClr val="accent1">
                <a:alpha val="70000"/>
              </a:schemeClr>
            </a:solidFill>
            <a:prstDash val="dash"/>
          </a:ln>
        </p:spPr>
      </p:sp>
      <p:sp>
        <p:nvSpPr>
          <p:cNvPr id="49" name="Nucleus"/>
          <p:cNvSpPr/>
          <p:nvPr/>
        </p:nvSpPr>
        <p:spPr>
          <a:xfrm>
            <a:off x="6700723" y="2706624"/>
            <a:ext cx="73152" cy="73152"/>
          </a:xfrm>
          <a:prstGeom prst="ellipse">
            <a:avLst/>
          </a:prstGeom>
          <a:solidFill>
            <a:srgbClr val="E0654F"/>
          </a:solidFill>
          <a:ln w="6350">
            <a:solidFill>
              <a:srgbClr val="E0654F"/>
            </a:solidFill>
            <a:prstDash val="solid"/>
          </a:ln>
        </p:spPr>
      </p:sp>
      <p:sp>
        <p:nvSpPr>
          <p:cNvPr id="50" name="Text 48"/>
          <p:cNvSpPr txBox="1"/>
          <p:nvPr/>
        </p:nvSpPr>
        <p:spPr>
          <a:xfrm>
            <a:off x="5914339" y="2917880"/>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F</a:t>
            </a:r>
            <a:endParaRPr lang="en-US" sz="1200" dirty="0"/>
          </a:p>
        </p:txBody>
      </p:sp>
      <p:sp>
        <p:nvSpPr>
          <p:cNvPr id="51" name="Shared electron"/>
          <p:cNvSpPr/>
          <p:nvPr/>
        </p:nvSpPr>
        <p:spPr>
          <a:xfrm>
            <a:off x="6108192" y="2688336"/>
            <a:ext cx="109728" cy="109728"/>
          </a:xfrm>
          <a:prstGeom prst="ellipse">
            <a:avLst/>
          </a:prstGeom>
          <a:solidFill>
            <a:schemeClr val="accent6"/>
          </a:solidFill>
          <a:ln w="6350">
            <a:solidFill>
              <a:schemeClr val="accent6"/>
            </a:solidFill>
            <a:prstDash val="solid"/>
          </a:ln>
        </p:spPr>
      </p:sp>
      <p:sp>
        <p:nvSpPr>
          <p:cNvPr id="52" name="Shared electron"/>
          <p:cNvSpPr/>
          <p:nvPr/>
        </p:nvSpPr>
        <p:spPr>
          <a:xfrm>
            <a:off x="6236208" y="2688336"/>
            <a:ext cx="109728" cy="109728"/>
          </a:xfrm>
          <a:prstGeom prst="ellipse">
            <a:avLst/>
          </a:prstGeom>
          <a:solidFill>
            <a:schemeClr val="accent6"/>
          </a:solidFill>
          <a:ln w="6350">
            <a:solidFill>
              <a:schemeClr val="accent6"/>
            </a:solidFill>
            <a:prstDash val="solid"/>
          </a:ln>
        </p:spPr>
      </p:sp>
      <p:sp>
        <p:nvSpPr>
          <p:cNvPr id="53" name="Text 51"/>
          <p:cNvSpPr txBox="1"/>
          <p:nvPr/>
        </p:nvSpPr>
        <p:spPr>
          <a:xfrm>
            <a:off x="5449824" y="3749040"/>
            <a:ext cx="1554480" cy="73152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54" name="Bond 5"/>
          <p:cNvSpPr/>
          <p:nvPr/>
        </p:nvSpPr>
        <p:spPr>
          <a:xfrm>
            <a:off x="7114032"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55" name="Text 53"/>
          <p:cNvSpPr txBox="1"/>
          <p:nvPr/>
        </p:nvSpPr>
        <p:spPr>
          <a:xfrm>
            <a:off x="7114032" y="1783080"/>
            <a:ext cx="1554480" cy="365760"/>
          </a:xfrm>
          <a:prstGeom prst="rect">
            <a:avLst/>
          </a:prstGeom>
          <a:noFill/>
          <a:ln/>
        </p:spPr>
        <p:txBody>
          <a:bodyPr wrap="square" lIns="0" tIns="0" rIns="0" bIns="0" rtlCol="0" anchor="t"/>
          <a:lstStyle/>
          <a:p>
            <a:pPr algn="ctr" indent="0" marL="0">
              <a:buNone/>
            </a:pPr>
            <a:r>
              <a:rPr lang="en-US" sz="1800" b="1" dirty="0">
                <a:solidFill>
                  <a:schemeClr val="bg1"/>
                </a:solidFill>
              </a:rPr>
              <a:t>S–O</a:t>
            </a:r>
            <a:endParaRPr lang="en-US" sz="1800" dirty="0"/>
          </a:p>
        </p:txBody>
      </p:sp>
      <p:sp>
        <p:nvSpPr>
          <p:cNvPr id="56" name="Sulfur atom"/>
          <p:cNvSpPr/>
          <p:nvPr/>
        </p:nvSpPr>
        <p:spPr>
          <a:xfrm>
            <a:off x="7091677" y="2453840"/>
            <a:ext cx="578720" cy="578720"/>
          </a:xfrm>
          <a:prstGeom prst="ellipse">
            <a:avLst/>
          </a:prstGeom>
          <a:solidFill>
            <a:schemeClr val="accent1">
              <a:alpha val="20000"/>
            </a:schemeClr>
          </a:solidFill>
          <a:ln w="12700">
            <a:solidFill>
              <a:schemeClr val="accent1">
                <a:alpha val="70000"/>
              </a:schemeClr>
            </a:solidFill>
            <a:prstDash val="dash"/>
          </a:ln>
        </p:spPr>
      </p:sp>
      <p:sp>
        <p:nvSpPr>
          <p:cNvPr id="57" name="Nucleus"/>
          <p:cNvSpPr/>
          <p:nvPr/>
        </p:nvSpPr>
        <p:spPr>
          <a:xfrm>
            <a:off x="7344461" y="2706624"/>
            <a:ext cx="73152" cy="73152"/>
          </a:xfrm>
          <a:prstGeom prst="ellipse">
            <a:avLst/>
          </a:prstGeom>
          <a:solidFill>
            <a:srgbClr val="E0654F"/>
          </a:solidFill>
          <a:ln w="6350">
            <a:solidFill>
              <a:srgbClr val="E0654F"/>
            </a:solidFill>
            <a:prstDash val="solid"/>
          </a:ln>
        </p:spPr>
      </p:sp>
      <p:sp>
        <p:nvSpPr>
          <p:cNvPr id="58" name="Text 56"/>
          <p:cNvSpPr txBox="1"/>
          <p:nvPr/>
        </p:nvSpPr>
        <p:spPr>
          <a:xfrm>
            <a:off x="6558077" y="3069136"/>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S</a:t>
            </a:r>
            <a:endParaRPr lang="en-US" sz="1200" dirty="0"/>
          </a:p>
        </p:txBody>
      </p:sp>
      <p:sp>
        <p:nvSpPr>
          <p:cNvPr id="59" name="Oxygen atom"/>
          <p:cNvSpPr/>
          <p:nvPr/>
        </p:nvSpPr>
        <p:spPr>
          <a:xfrm>
            <a:off x="8243674" y="2585367"/>
            <a:ext cx="315666" cy="315666"/>
          </a:xfrm>
          <a:prstGeom prst="ellipse">
            <a:avLst/>
          </a:prstGeom>
          <a:solidFill>
            <a:schemeClr val="accent1">
              <a:alpha val="20000"/>
            </a:schemeClr>
          </a:solidFill>
          <a:ln w="12700">
            <a:solidFill>
              <a:schemeClr val="accent1">
                <a:alpha val="70000"/>
              </a:schemeClr>
            </a:solidFill>
            <a:prstDash val="dash"/>
          </a:ln>
        </p:spPr>
      </p:sp>
      <p:sp>
        <p:nvSpPr>
          <p:cNvPr id="60" name="Nucleus"/>
          <p:cNvSpPr/>
          <p:nvPr/>
        </p:nvSpPr>
        <p:spPr>
          <a:xfrm>
            <a:off x="8364931" y="2706624"/>
            <a:ext cx="73152" cy="73152"/>
          </a:xfrm>
          <a:prstGeom prst="ellipse">
            <a:avLst/>
          </a:prstGeom>
          <a:solidFill>
            <a:srgbClr val="E0654F"/>
          </a:solidFill>
          <a:ln w="6350">
            <a:solidFill>
              <a:srgbClr val="E0654F"/>
            </a:solidFill>
            <a:prstDash val="solid"/>
          </a:ln>
        </p:spPr>
      </p:sp>
      <p:sp>
        <p:nvSpPr>
          <p:cNvPr id="61" name="Text 59"/>
          <p:cNvSpPr txBox="1"/>
          <p:nvPr/>
        </p:nvSpPr>
        <p:spPr>
          <a:xfrm>
            <a:off x="7578547" y="2937609"/>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O</a:t>
            </a:r>
            <a:endParaRPr lang="en-US" sz="1200" dirty="0"/>
          </a:p>
        </p:txBody>
      </p:sp>
      <p:sp>
        <p:nvSpPr>
          <p:cNvPr id="62" name="Shared electron"/>
          <p:cNvSpPr/>
          <p:nvPr/>
        </p:nvSpPr>
        <p:spPr>
          <a:xfrm>
            <a:off x="7772400" y="2688336"/>
            <a:ext cx="109728" cy="109728"/>
          </a:xfrm>
          <a:prstGeom prst="ellipse">
            <a:avLst/>
          </a:prstGeom>
          <a:solidFill>
            <a:schemeClr val="accent6"/>
          </a:solidFill>
          <a:ln w="6350">
            <a:solidFill>
              <a:schemeClr val="accent6"/>
            </a:solidFill>
            <a:prstDash val="solid"/>
          </a:ln>
        </p:spPr>
      </p:sp>
      <p:sp>
        <p:nvSpPr>
          <p:cNvPr id="63" name="Shared electron"/>
          <p:cNvSpPr/>
          <p:nvPr/>
        </p:nvSpPr>
        <p:spPr>
          <a:xfrm>
            <a:off x="7900416" y="2688336"/>
            <a:ext cx="109728" cy="109728"/>
          </a:xfrm>
          <a:prstGeom prst="ellipse">
            <a:avLst/>
          </a:prstGeom>
          <a:solidFill>
            <a:schemeClr val="accent6"/>
          </a:solidFill>
          <a:ln w="6350">
            <a:solidFill>
              <a:schemeClr val="accent6"/>
            </a:solidFill>
            <a:prstDash val="solid"/>
          </a:ln>
        </p:spPr>
      </p:sp>
      <p:sp>
        <p:nvSpPr>
          <p:cNvPr id="64" name="Text 62"/>
          <p:cNvSpPr txBox="1"/>
          <p:nvPr/>
        </p:nvSpPr>
        <p:spPr>
          <a:xfrm>
            <a:off x="7114032" y="3749040"/>
            <a:ext cx="1554480" cy="731520"/>
          </a:xfrm>
          <a:prstGeom prst="rect">
            <a:avLst/>
          </a:prstGeom>
          <a:noFill/>
          <a:ln/>
        </p:spPr>
        <p:txBody>
          <a:bodyPr wrap="square" lIns="0" tIns="0" rIns="0" bIns="0" rtlCol="0" anchor="ctr"/>
          <a:lstStyle/>
          <a:p>
            <a:pPr algn="ctr" indent="0" marL="0">
              <a:buNone/>
            </a:pPr>
            <a:r>
              <a:rPr lang="en-US" sz="5400" b="1" dirty="0">
                <a:solidFill>
                  <a:schemeClr val="bg2"/>
                </a:solidFill>
              </a:rPr>
              <a:t>?</a:t>
            </a:r>
            <a:endParaRPr lang="en-US" sz="5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F"/>
          <p:cNvSpPr/>
          <p:nvPr/>
        </p:nvSpPr>
        <p:spPr>
          <a:xfrm>
            <a:off x="737565" y="678311"/>
            <a:ext cx="189079" cy="18907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F</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Electron tug-of-war</a:t>
            </a:r>
            <a:endParaRPr lang="en-US" sz="2800" dirty="0"/>
          </a:p>
        </p:txBody>
      </p:sp>
      <p:sp>
        <p:nvSpPr>
          <p:cNvPr id="10" name="Text 8"/>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Which atom pulls the shared electrons harder?</a:t>
            </a:r>
            <a:endParaRPr lang="en-US" sz="1300" dirty="0"/>
          </a:p>
        </p:txBody>
      </p:sp>
      <p:sp>
        <p:nvSpPr>
          <p:cNvPr id="11" name="Bond 1"/>
          <p:cNvSpPr/>
          <p:nvPr/>
        </p:nvSpPr>
        <p:spPr>
          <a:xfrm>
            <a:off x="457200"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12" name="Text 10"/>
          <p:cNvSpPr txBox="1"/>
          <p:nvPr/>
        </p:nvSpPr>
        <p:spPr>
          <a:xfrm>
            <a:off x="457200" y="1783080"/>
            <a:ext cx="1554480" cy="365760"/>
          </a:xfrm>
          <a:prstGeom prst="rect">
            <a:avLst/>
          </a:prstGeom>
          <a:noFill/>
          <a:ln/>
        </p:spPr>
        <p:txBody>
          <a:bodyPr wrap="square" lIns="0" tIns="0" rIns="0" bIns="0" rtlCol="0" anchor="t"/>
          <a:lstStyle/>
          <a:p>
            <a:pPr algn="ctr" indent="0" marL="0">
              <a:buNone/>
            </a:pPr>
            <a:r>
              <a:rPr lang="en-US" sz="1800" b="1" dirty="0">
                <a:solidFill>
                  <a:schemeClr val="bg1"/>
                </a:solidFill>
              </a:rPr>
              <a:t>H–Cl</a:t>
            </a:r>
            <a:endParaRPr lang="en-US" sz="1800" dirty="0"/>
          </a:p>
        </p:txBody>
      </p:sp>
      <p:sp>
        <p:nvSpPr>
          <p:cNvPr id="13" name="Hydrogen atom"/>
          <p:cNvSpPr/>
          <p:nvPr/>
        </p:nvSpPr>
        <p:spPr>
          <a:xfrm>
            <a:off x="549931" y="2568926"/>
            <a:ext cx="348547" cy="348547"/>
          </a:xfrm>
          <a:prstGeom prst="ellipse">
            <a:avLst/>
          </a:prstGeom>
          <a:solidFill>
            <a:schemeClr val="accent1">
              <a:alpha val="20000"/>
            </a:schemeClr>
          </a:solidFill>
          <a:ln w="12700">
            <a:solidFill>
              <a:schemeClr val="accent1">
                <a:alpha val="70000"/>
              </a:schemeClr>
            </a:solidFill>
            <a:prstDash val="dash"/>
          </a:ln>
        </p:spPr>
      </p:sp>
      <p:sp>
        <p:nvSpPr>
          <p:cNvPr id="14" name="Nucleus"/>
          <p:cNvSpPr/>
          <p:nvPr/>
        </p:nvSpPr>
        <p:spPr>
          <a:xfrm>
            <a:off x="687629" y="2706624"/>
            <a:ext cx="73152" cy="73152"/>
          </a:xfrm>
          <a:prstGeom prst="ellipse">
            <a:avLst/>
          </a:prstGeom>
          <a:solidFill>
            <a:srgbClr val="E0654F"/>
          </a:solidFill>
          <a:ln w="6350">
            <a:solidFill>
              <a:srgbClr val="E0654F"/>
            </a:solidFill>
            <a:prstDash val="solid"/>
          </a:ln>
        </p:spPr>
      </p:sp>
      <p:sp>
        <p:nvSpPr>
          <p:cNvPr id="15" name="Text 13"/>
          <p:cNvSpPr txBox="1"/>
          <p:nvPr/>
        </p:nvSpPr>
        <p:spPr>
          <a:xfrm>
            <a:off x="-98755" y="2954050"/>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H</a:t>
            </a:r>
            <a:endParaRPr lang="en-US" sz="1200" dirty="0"/>
          </a:p>
        </p:txBody>
      </p:sp>
      <p:sp>
        <p:nvSpPr>
          <p:cNvPr id="16" name="Chlorine atom"/>
          <p:cNvSpPr/>
          <p:nvPr/>
        </p:nvSpPr>
        <p:spPr>
          <a:xfrm>
            <a:off x="1484909" y="2483434"/>
            <a:ext cx="519533" cy="519533"/>
          </a:xfrm>
          <a:prstGeom prst="ellipse">
            <a:avLst/>
          </a:prstGeom>
          <a:solidFill>
            <a:schemeClr val="accent1">
              <a:alpha val="20000"/>
            </a:schemeClr>
          </a:solidFill>
          <a:ln w="12700">
            <a:solidFill>
              <a:schemeClr val="accent1">
                <a:alpha val="70000"/>
              </a:schemeClr>
            </a:solidFill>
            <a:prstDash val="dash"/>
          </a:ln>
        </p:spPr>
      </p:sp>
      <p:sp>
        <p:nvSpPr>
          <p:cNvPr id="17" name="Nucleus"/>
          <p:cNvSpPr/>
          <p:nvPr/>
        </p:nvSpPr>
        <p:spPr>
          <a:xfrm>
            <a:off x="1708099" y="2706624"/>
            <a:ext cx="73152" cy="73152"/>
          </a:xfrm>
          <a:prstGeom prst="ellipse">
            <a:avLst/>
          </a:prstGeom>
          <a:solidFill>
            <a:srgbClr val="E0654F"/>
          </a:solidFill>
          <a:ln w="6350">
            <a:solidFill>
              <a:srgbClr val="E0654F"/>
            </a:solidFill>
            <a:prstDash val="solid"/>
          </a:ln>
        </p:spPr>
      </p:sp>
      <p:sp>
        <p:nvSpPr>
          <p:cNvPr id="18" name="Text 16"/>
          <p:cNvSpPr txBox="1"/>
          <p:nvPr/>
        </p:nvSpPr>
        <p:spPr>
          <a:xfrm>
            <a:off x="921715" y="3039542"/>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Cl</a:t>
            </a:r>
            <a:endParaRPr lang="en-US" sz="1200" dirty="0"/>
          </a:p>
        </p:txBody>
      </p:sp>
      <p:sp>
        <p:nvSpPr>
          <p:cNvPr id="19" name="Shared electron"/>
          <p:cNvSpPr/>
          <p:nvPr/>
        </p:nvSpPr>
        <p:spPr>
          <a:xfrm>
            <a:off x="1389888" y="2688336"/>
            <a:ext cx="109728" cy="109728"/>
          </a:xfrm>
          <a:prstGeom prst="ellipse">
            <a:avLst/>
          </a:prstGeom>
          <a:solidFill>
            <a:schemeClr val="accent6"/>
          </a:solidFill>
          <a:ln w="6350">
            <a:solidFill>
              <a:schemeClr val="accent6"/>
            </a:solidFill>
            <a:prstDash val="solid"/>
          </a:ln>
        </p:spPr>
      </p:sp>
      <p:sp>
        <p:nvSpPr>
          <p:cNvPr id="20" name="Shared electron"/>
          <p:cNvSpPr/>
          <p:nvPr/>
        </p:nvSpPr>
        <p:spPr>
          <a:xfrm>
            <a:off x="1517904" y="2688336"/>
            <a:ext cx="109728" cy="109728"/>
          </a:xfrm>
          <a:prstGeom prst="ellipse">
            <a:avLst/>
          </a:prstGeom>
          <a:solidFill>
            <a:schemeClr val="accent6"/>
          </a:solidFill>
          <a:ln w="6350">
            <a:solidFill>
              <a:schemeClr val="accent6"/>
            </a:solidFill>
            <a:prstDash val="solid"/>
          </a:ln>
        </p:spPr>
      </p:sp>
      <p:sp>
        <p:nvSpPr>
          <p:cNvPr id="21" name="Text 19"/>
          <p:cNvSpPr txBox="1"/>
          <p:nvPr/>
        </p:nvSpPr>
        <p:spPr>
          <a:xfrm>
            <a:off x="502920" y="3840480"/>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Chlorine</a:t>
            </a:r>
            <a:endParaRPr lang="en-US" sz="1300" dirty="0"/>
          </a:p>
          <a:p>
            <a:pPr algn="ctr" indent="0" marL="0">
              <a:buNone/>
            </a:pPr>
            <a:r>
              <a:rPr lang="en-US" sz="1000" dirty="0">
                <a:solidFill>
                  <a:schemeClr val="bg2"/>
                </a:solidFill>
              </a:rPr>
              <a:t>2.20 vs 3.16</a:t>
            </a:r>
            <a:endParaRPr lang="en-US" sz="1300" dirty="0"/>
          </a:p>
        </p:txBody>
      </p:sp>
      <p:sp>
        <p:nvSpPr>
          <p:cNvPr id="22" name="Bond 2"/>
          <p:cNvSpPr/>
          <p:nvPr/>
        </p:nvSpPr>
        <p:spPr>
          <a:xfrm>
            <a:off x="2121408"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23" name="Text 21"/>
          <p:cNvSpPr txBox="1"/>
          <p:nvPr/>
        </p:nvSpPr>
        <p:spPr>
          <a:xfrm>
            <a:off x="2121408" y="1783080"/>
            <a:ext cx="1554480" cy="365760"/>
          </a:xfrm>
          <a:prstGeom prst="rect">
            <a:avLst/>
          </a:prstGeom>
          <a:noFill/>
          <a:ln/>
        </p:spPr>
        <p:txBody>
          <a:bodyPr wrap="square" lIns="0" tIns="0" rIns="0" bIns="0" rtlCol="0" anchor="t"/>
          <a:lstStyle/>
          <a:p>
            <a:pPr algn="ctr" indent="0" marL="0">
              <a:buNone/>
            </a:pPr>
            <a:r>
              <a:rPr lang="en-US" sz="1800" b="1" dirty="0">
                <a:solidFill>
                  <a:schemeClr val="bg1"/>
                </a:solidFill>
              </a:rPr>
              <a:t>C–O</a:t>
            </a:r>
            <a:endParaRPr lang="en-US" sz="1800" dirty="0"/>
          </a:p>
        </p:txBody>
      </p:sp>
      <p:sp>
        <p:nvSpPr>
          <p:cNvPr id="24" name="Carbon atom"/>
          <p:cNvSpPr/>
          <p:nvPr/>
        </p:nvSpPr>
        <p:spPr>
          <a:xfrm>
            <a:off x="2168105" y="2522892"/>
            <a:ext cx="440616" cy="440616"/>
          </a:xfrm>
          <a:prstGeom prst="ellipse">
            <a:avLst/>
          </a:prstGeom>
          <a:solidFill>
            <a:schemeClr val="accent1">
              <a:alpha val="20000"/>
            </a:schemeClr>
          </a:solidFill>
          <a:ln w="12700">
            <a:solidFill>
              <a:schemeClr val="accent1">
                <a:alpha val="70000"/>
              </a:schemeClr>
            </a:solidFill>
            <a:prstDash val="dash"/>
          </a:ln>
        </p:spPr>
      </p:sp>
      <p:sp>
        <p:nvSpPr>
          <p:cNvPr id="25" name="Nucleus"/>
          <p:cNvSpPr/>
          <p:nvPr/>
        </p:nvSpPr>
        <p:spPr>
          <a:xfrm>
            <a:off x="2351837" y="2706624"/>
            <a:ext cx="73152" cy="73152"/>
          </a:xfrm>
          <a:prstGeom prst="ellipse">
            <a:avLst/>
          </a:prstGeom>
          <a:solidFill>
            <a:srgbClr val="E0654F"/>
          </a:solidFill>
          <a:ln w="6350">
            <a:solidFill>
              <a:srgbClr val="E0654F"/>
            </a:solidFill>
            <a:prstDash val="solid"/>
          </a:ln>
        </p:spPr>
      </p:sp>
      <p:sp>
        <p:nvSpPr>
          <p:cNvPr id="26" name="Text 24"/>
          <p:cNvSpPr txBox="1"/>
          <p:nvPr/>
        </p:nvSpPr>
        <p:spPr>
          <a:xfrm>
            <a:off x="1565453" y="3000084"/>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C</a:t>
            </a:r>
            <a:endParaRPr lang="en-US" sz="1200" dirty="0"/>
          </a:p>
        </p:txBody>
      </p:sp>
      <p:sp>
        <p:nvSpPr>
          <p:cNvPr id="27" name="Oxygen atom"/>
          <p:cNvSpPr/>
          <p:nvPr/>
        </p:nvSpPr>
        <p:spPr>
          <a:xfrm>
            <a:off x="3251050" y="2585367"/>
            <a:ext cx="315666" cy="315666"/>
          </a:xfrm>
          <a:prstGeom prst="ellipse">
            <a:avLst/>
          </a:prstGeom>
          <a:solidFill>
            <a:schemeClr val="accent1">
              <a:alpha val="20000"/>
            </a:schemeClr>
          </a:solidFill>
          <a:ln w="12700">
            <a:solidFill>
              <a:schemeClr val="accent1">
                <a:alpha val="70000"/>
              </a:schemeClr>
            </a:solidFill>
            <a:prstDash val="dash"/>
          </a:ln>
        </p:spPr>
      </p:sp>
      <p:sp>
        <p:nvSpPr>
          <p:cNvPr id="28" name="Nucleus"/>
          <p:cNvSpPr/>
          <p:nvPr/>
        </p:nvSpPr>
        <p:spPr>
          <a:xfrm>
            <a:off x="3372307" y="2706624"/>
            <a:ext cx="73152" cy="73152"/>
          </a:xfrm>
          <a:prstGeom prst="ellipse">
            <a:avLst/>
          </a:prstGeom>
          <a:solidFill>
            <a:srgbClr val="E0654F"/>
          </a:solidFill>
          <a:ln w="6350">
            <a:solidFill>
              <a:srgbClr val="E0654F"/>
            </a:solidFill>
            <a:prstDash val="solid"/>
          </a:ln>
        </p:spPr>
      </p:sp>
      <p:sp>
        <p:nvSpPr>
          <p:cNvPr id="29" name="Text 27"/>
          <p:cNvSpPr txBox="1"/>
          <p:nvPr/>
        </p:nvSpPr>
        <p:spPr>
          <a:xfrm>
            <a:off x="2585923" y="2937609"/>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O</a:t>
            </a:r>
            <a:endParaRPr lang="en-US" sz="1200" dirty="0"/>
          </a:p>
        </p:txBody>
      </p:sp>
      <p:sp>
        <p:nvSpPr>
          <p:cNvPr id="30" name="Shared electron"/>
          <p:cNvSpPr/>
          <p:nvPr/>
        </p:nvSpPr>
        <p:spPr>
          <a:xfrm>
            <a:off x="3054096" y="2688336"/>
            <a:ext cx="109728" cy="109728"/>
          </a:xfrm>
          <a:prstGeom prst="ellipse">
            <a:avLst/>
          </a:prstGeom>
          <a:solidFill>
            <a:schemeClr val="accent6"/>
          </a:solidFill>
          <a:ln w="6350">
            <a:solidFill>
              <a:schemeClr val="accent6"/>
            </a:solidFill>
            <a:prstDash val="solid"/>
          </a:ln>
        </p:spPr>
      </p:sp>
      <p:sp>
        <p:nvSpPr>
          <p:cNvPr id="31" name="Shared electron"/>
          <p:cNvSpPr/>
          <p:nvPr/>
        </p:nvSpPr>
        <p:spPr>
          <a:xfrm>
            <a:off x="3182112" y="2688336"/>
            <a:ext cx="109728" cy="109728"/>
          </a:xfrm>
          <a:prstGeom prst="ellipse">
            <a:avLst/>
          </a:prstGeom>
          <a:solidFill>
            <a:schemeClr val="accent6"/>
          </a:solidFill>
          <a:ln w="6350">
            <a:solidFill>
              <a:schemeClr val="accent6"/>
            </a:solidFill>
            <a:prstDash val="solid"/>
          </a:ln>
        </p:spPr>
      </p:sp>
      <p:sp>
        <p:nvSpPr>
          <p:cNvPr id="32" name="Text 30"/>
          <p:cNvSpPr txBox="1"/>
          <p:nvPr/>
        </p:nvSpPr>
        <p:spPr>
          <a:xfrm>
            <a:off x="2167128" y="3840480"/>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Oxygen</a:t>
            </a:r>
            <a:endParaRPr lang="en-US" sz="1300" dirty="0"/>
          </a:p>
          <a:p>
            <a:pPr algn="ctr" indent="0" marL="0">
              <a:buNone/>
            </a:pPr>
            <a:r>
              <a:rPr lang="en-US" sz="1000" dirty="0">
                <a:solidFill>
                  <a:schemeClr val="bg2"/>
                </a:solidFill>
              </a:rPr>
              <a:t>2.55 vs 3.44</a:t>
            </a:r>
            <a:endParaRPr lang="en-US" sz="1300" dirty="0"/>
          </a:p>
        </p:txBody>
      </p:sp>
      <p:sp>
        <p:nvSpPr>
          <p:cNvPr id="33" name="Bond 3"/>
          <p:cNvSpPr/>
          <p:nvPr/>
        </p:nvSpPr>
        <p:spPr>
          <a:xfrm>
            <a:off x="3785616"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34" name="Text 32"/>
          <p:cNvSpPr txBox="1"/>
          <p:nvPr/>
        </p:nvSpPr>
        <p:spPr>
          <a:xfrm>
            <a:off x="3785616" y="1783080"/>
            <a:ext cx="1554480" cy="365760"/>
          </a:xfrm>
          <a:prstGeom prst="rect">
            <a:avLst/>
          </a:prstGeom>
          <a:noFill/>
          <a:ln/>
        </p:spPr>
        <p:txBody>
          <a:bodyPr wrap="square" lIns="0" tIns="0" rIns="0" bIns="0" rtlCol="0" anchor="t"/>
          <a:lstStyle/>
          <a:p>
            <a:pPr algn="ctr" indent="0" marL="0">
              <a:buNone/>
            </a:pPr>
            <a:r>
              <a:rPr lang="en-US" sz="1800" b="1" dirty="0">
                <a:solidFill>
                  <a:schemeClr val="bg1"/>
                </a:solidFill>
              </a:rPr>
              <a:t>N–H</a:t>
            </a:r>
            <a:endParaRPr lang="en-US" sz="1800" dirty="0"/>
          </a:p>
        </p:txBody>
      </p:sp>
      <p:sp>
        <p:nvSpPr>
          <p:cNvPr id="35" name="Nitrogen atom"/>
          <p:cNvSpPr/>
          <p:nvPr/>
        </p:nvSpPr>
        <p:spPr>
          <a:xfrm>
            <a:off x="3868483" y="2559062"/>
            <a:ext cx="368276" cy="368276"/>
          </a:xfrm>
          <a:prstGeom prst="ellipse">
            <a:avLst/>
          </a:prstGeom>
          <a:solidFill>
            <a:schemeClr val="accent1">
              <a:alpha val="20000"/>
            </a:schemeClr>
          </a:solidFill>
          <a:ln w="12700">
            <a:solidFill>
              <a:schemeClr val="accent1">
                <a:alpha val="70000"/>
              </a:schemeClr>
            </a:solidFill>
            <a:prstDash val="dash"/>
          </a:ln>
        </p:spPr>
      </p:sp>
      <p:sp>
        <p:nvSpPr>
          <p:cNvPr id="36" name="Nucleus"/>
          <p:cNvSpPr/>
          <p:nvPr/>
        </p:nvSpPr>
        <p:spPr>
          <a:xfrm>
            <a:off x="4016045" y="2706624"/>
            <a:ext cx="73152" cy="73152"/>
          </a:xfrm>
          <a:prstGeom prst="ellipse">
            <a:avLst/>
          </a:prstGeom>
          <a:solidFill>
            <a:srgbClr val="E0654F"/>
          </a:solidFill>
          <a:ln w="6350">
            <a:solidFill>
              <a:srgbClr val="E0654F"/>
            </a:solidFill>
            <a:prstDash val="solid"/>
          </a:ln>
        </p:spPr>
      </p:sp>
      <p:sp>
        <p:nvSpPr>
          <p:cNvPr id="37" name="Text 35"/>
          <p:cNvSpPr txBox="1"/>
          <p:nvPr/>
        </p:nvSpPr>
        <p:spPr>
          <a:xfrm>
            <a:off x="3229661" y="2963914"/>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N</a:t>
            </a:r>
            <a:endParaRPr lang="en-US" sz="1200" dirty="0"/>
          </a:p>
        </p:txBody>
      </p:sp>
      <p:sp>
        <p:nvSpPr>
          <p:cNvPr id="38" name="Hydrogen atom"/>
          <p:cNvSpPr/>
          <p:nvPr/>
        </p:nvSpPr>
        <p:spPr>
          <a:xfrm>
            <a:off x="4898818" y="2568926"/>
            <a:ext cx="348547" cy="348547"/>
          </a:xfrm>
          <a:prstGeom prst="ellipse">
            <a:avLst/>
          </a:prstGeom>
          <a:solidFill>
            <a:schemeClr val="accent1">
              <a:alpha val="20000"/>
            </a:schemeClr>
          </a:solidFill>
          <a:ln w="12700">
            <a:solidFill>
              <a:schemeClr val="accent1">
                <a:alpha val="70000"/>
              </a:schemeClr>
            </a:solidFill>
            <a:prstDash val="dash"/>
          </a:ln>
        </p:spPr>
      </p:sp>
      <p:sp>
        <p:nvSpPr>
          <p:cNvPr id="39" name="Nucleus"/>
          <p:cNvSpPr/>
          <p:nvPr/>
        </p:nvSpPr>
        <p:spPr>
          <a:xfrm>
            <a:off x="5036515" y="2706624"/>
            <a:ext cx="73152" cy="73152"/>
          </a:xfrm>
          <a:prstGeom prst="ellipse">
            <a:avLst/>
          </a:prstGeom>
          <a:solidFill>
            <a:srgbClr val="E0654F"/>
          </a:solidFill>
          <a:ln w="6350">
            <a:solidFill>
              <a:srgbClr val="E0654F"/>
            </a:solidFill>
            <a:prstDash val="solid"/>
          </a:ln>
        </p:spPr>
      </p:sp>
      <p:sp>
        <p:nvSpPr>
          <p:cNvPr id="40" name="Text 38"/>
          <p:cNvSpPr txBox="1"/>
          <p:nvPr/>
        </p:nvSpPr>
        <p:spPr>
          <a:xfrm>
            <a:off x="4250131" y="2954050"/>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H</a:t>
            </a:r>
            <a:endParaRPr lang="en-US" sz="1200" dirty="0"/>
          </a:p>
        </p:txBody>
      </p:sp>
      <p:sp>
        <p:nvSpPr>
          <p:cNvPr id="41" name="Shared electron"/>
          <p:cNvSpPr/>
          <p:nvPr/>
        </p:nvSpPr>
        <p:spPr>
          <a:xfrm>
            <a:off x="4169664" y="2688336"/>
            <a:ext cx="109728" cy="109728"/>
          </a:xfrm>
          <a:prstGeom prst="ellipse">
            <a:avLst/>
          </a:prstGeom>
          <a:solidFill>
            <a:schemeClr val="accent6"/>
          </a:solidFill>
          <a:ln w="6350">
            <a:solidFill>
              <a:schemeClr val="accent6"/>
            </a:solidFill>
            <a:prstDash val="solid"/>
          </a:ln>
        </p:spPr>
      </p:sp>
      <p:sp>
        <p:nvSpPr>
          <p:cNvPr id="42" name="Shared electron"/>
          <p:cNvSpPr/>
          <p:nvPr/>
        </p:nvSpPr>
        <p:spPr>
          <a:xfrm>
            <a:off x="4297680" y="2688336"/>
            <a:ext cx="109728" cy="109728"/>
          </a:xfrm>
          <a:prstGeom prst="ellipse">
            <a:avLst/>
          </a:prstGeom>
          <a:solidFill>
            <a:schemeClr val="accent6"/>
          </a:solidFill>
          <a:ln w="6350">
            <a:solidFill>
              <a:schemeClr val="accent6"/>
            </a:solidFill>
            <a:prstDash val="solid"/>
          </a:ln>
        </p:spPr>
      </p:sp>
      <p:sp>
        <p:nvSpPr>
          <p:cNvPr id="43" name="Text 41"/>
          <p:cNvSpPr txBox="1"/>
          <p:nvPr/>
        </p:nvSpPr>
        <p:spPr>
          <a:xfrm>
            <a:off x="3831336" y="3840480"/>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Nitrogen</a:t>
            </a:r>
            <a:endParaRPr lang="en-US" sz="1300" dirty="0"/>
          </a:p>
          <a:p>
            <a:pPr algn="ctr" indent="0" marL="0">
              <a:buNone/>
            </a:pPr>
            <a:r>
              <a:rPr lang="en-US" sz="1000" dirty="0">
                <a:solidFill>
                  <a:schemeClr val="bg2"/>
                </a:solidFill>
              </a:rPr>
              <a:t>3.04 vs 2.20</a:t>
            </a:r>
            <a:endParaRPr lang="en-US" sz="1300" dirty="0"/>
          </a:p>
        </p:txBody>
      </p:sp>
      <p:sp>
        <p:nvSpPr>
          <p:cNvPr id="44" name="Bond 4"/>
          <p:cNvSpPr/>
          <p:nvPr/>
        </p:nvSpPr>
        <p:spPr>
          <a:xfrm>
            <a:off x="5449824"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45" name="Text 43"/>
          <p:cNvSpPr txBox="1"/>
          <p:nvPr/>
        </p:nvSpPr>
        <p:spPr>
          <a:xfrm>
            <a:off x="5449824" y="1783080"/>
            <a:ext cx="1554480" cy="365760"/>
          </a:xfrm>
          <a:prstGeom prst="rect">
            <a:avLst/>
          </a:prstGeom>
          <a:noFill/>
          <a:ln/>
        </p:spPr>
        <p:txBody>
          <a:bodyPr wrap="square" lIns="0" tIns="0" rIns="0" bIns="0" rtlCol="0" anchor="t"/>
          <a:lstStyle/>
          <a:p>
            <a:pPr algn="ctr" indent="0" marL="0">
              <a:buNone/>
            </a:pPr>
            <a:r>
              <a:rPr lang="en-US" sz="1800" b="1" dirty="0">
                <a:solidFill>
                  <a:schemeClr val="bg1"/>
                </a:solidFill>
              </a:rPr>
              <a:t>Br–F</a:t>
            </a:r>
            <a:endParaRPr lang="en-US" sz="1800" dirty="0"/>
          </a:p>
        </p:txBody>
      </p:sp>
      <p:sp>
        <p:nvSpPr>
          <p:cNvPr id="46" name="Bromine atom"/>
          <p:cNvSpPr/>
          <p:nvPr/>
        </p:nvSpPr>
        <p:spPr>
          <a:xfrm>
            <a:off x="5407740" y="2434111"/>
            <a:ext cx="618178" cy="618178"/>
          </a:xfrm>
          <a:prstGeom prst="ellipse">
            <a:avLst/>
          </a:prstGeom>
          <a:solidFill>
            <a:schemeClr val="accent1">
              <a:alpha val="20000"/>
            </a:schemeClr>
          </a:solidFill>
          <a:ln w="12700">
            <a:solidFill>
              <a:schemeClr val="accent1">
                <a:alpha val="70000"/>
              </a:schemeClr>
            </a:solidFill>
            <a:prstDash val="dash"/>
          </a:ln>
        </p:spPr>
      </p:sp>
      <p:sp>
        <p:nvSpPr>
          <p:cNvPr id="47" name="Nucleus"/>
          <p:cNvSpPr/>
          <p:nvPr/>
        </p:nvSpPr>
        <p:spPr>
          <a:xfrm>
            <a:off x="5680253" y="2706624"/>
            <a:ext cx="73152" cy="73152"/>
          </a:xfrm>
          <a:prstGeom prst="ellipse">
            <a:avLst/>
          </a:prstGeom>
          <a:solidFill>
            <a:srgbClr val="E0654F"/>
          </a:solidFill>
          <a:ln w="6350">
            <a:solidFill>
              <a:srgbClr val="E0654F"/>
            </a:solidFill>
            <a:prstDash val="solid"/>
          </a:ln>
        </p:spPr>
      </p:sp>
      <p:sp>
        <p:nvSpPr>
          <p:cNvPr id="48" name="Text 46"/>
          <p:cNvSpPr txBox="1"/>
          <p:nvPr/>
        </p:nvSpPr>
        <p:spPr>
          <a:xfrm>
            <a:off x="4893869" y="3088865"/>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Br</a:t>
            </a:r>
            <a:endParaRPr lang="en-US" sz="1200" dirty="0"/>
          </a:p>
        </p:txBody>
      </p:sp>
      <p:sp>
        <p:nvSpPr>
          <p:cNvPr id="49" name="Fluorine atom"/>
          <p:cNvSpPr/>
          <p:nvPr/>
        </p:nvSpPr>
        <p:spPr>
          <a:xfrm>
            <a:off x="6599196" y="2605096"/>
            <a:ext cx="276207" cy="276207"/>
          </a:xfrm>
          <a:prstGeom prst="ellipse">
            <a:avLst/>
          </a:prstGeom>
          <a:solidFill>
            <a:schemeClr val="accent1">
              <a:alpha val="20000"/>
            </a:schemeClr>
          </a:solidFill>
          <a:ln w="12700">
            <a:solidFill>
              <a:schemeClr val="accent1">
                <a:alpha val="70000"/>
              </a:schemeClr>
            </a:solidFill>
            <a:prstDash val="dash"/>
          </a:ln>
        </p:spPr>
      </p:sp>
      <p:sp>
        <p:nvSpPr>
          <p:cNvPr id="50" name="Nucleus"/>
          <p:cNvSpPr/>
          <p:nvPr/>
        </p:nvSpPr>
        <p:spPr>
          <a:xfrm>
            <a:off x="6700723" y="2706624"/>
            <a:ext cx="73152" cy="73152"/>
          </a:xfrm>
          <a:prstGeom prst="ellipse">
            <a:avLst/>
          </a:prstGeom>
          <a:solidFill>
            <a:srgbClr val="E0654F"/>
          </a:solidFill>
          <a:ln w="6350">
            <a:solidFill>
              <a:srgbClr val="E0654F"/>
            </a:solidFill>
            <a:prstDash val="solid"/>
          </a:ln>
        </p:spPr>
      </p:sp>
      <p:sp>
        <p:nvSpPr>
          <p:cNvPr id="51" name="Text 49"/>
          <p:cNvSpPr txBox="1"/>
          <p:nvPr/>
        </p:nvSpPr>
        <p:spPr>
          <a:xfrm>
            <a:off x="5914339" y="2917880"/>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F</a:t>
            </a:r>
            <a:endParaRPr lang="en-US" sz="1200" dirty="0"/>
          </a:p>
        </p:txBody>
      </p:sp>
      <p:sp>
        <p:nvSpPr>
          <p:cNvPr id="52" name="Shared electron"/>
          <p:cNvSpPr/>
          <p:nvPr/>
        </p:nvSpPr>
        <p:spPr>
          <a:xfrm>
            <a:off x="6382512" y="2688336"/>
            <a:ext cx="109728" cy="109728"/>
          </a:xfrm>
          <a:prstGeom prst="ellipse">
            <a:avLst/>
          </a:prstGeom>
          <a:solidFill>
            <a:schemeClr val="accent6"/>
          </a:solidFill>
          <a:ln w="6350">
            <a:solidFill>
              <a:schemeClr val="accent6"/>
            </a:solidFill>
            <a:prstDash val="solid"/>
          </a:ln>
        </p:spPr>
      </p:sp>
      <p:sp>
        <p:nvSpPr>
          <p:cNvPr id="53" name="Shared electron"/>
          <p:cNvSpPr/>
          <p:nvPr/>
        </p:nvSpPr>
        <p:spPr>
          <a:xfrm>
            <a:off x="6510528" y="2688336"/>
            <a:ext cx="109728" cy="109728"/>
          </a:xfrm>
          <a:prstGeom prst="ellipse">
            <a:avLst/>
          </a:prstGeom>
          <a:solidFill>
            <a:schemeClr val="accent6"/>
          </a:solidFill>
          <a:ln w="6350">
            <a:solidFill>
              <a:schemeClr val="accent6"/>
            </a:solidFill>
            <a:prstDash val="solid"/>
          </a:ln>
        </p:spPr>
      </p:sp>
      <p:sp>
        <p:nvSpPr>
          <p:cNvPr id="54" name="Text 52"/>
          <p:cNvSpPr txBox="1"/>
          <p:nvPr/>
        </p:nvSpPr>
        <p:spPr>
          <a:xfrm>
            <a:off x="5495544" y="3840480"/>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Fluorine</a:t>
            </a:r>
            <a:endParaRPr lang="en-US" sz="1300" dirty="0"/>
          </a:p>
          <a:p>
            <a:pPr algn="ctr" indent="0" marL="0">
              <a:buNone/>
            </a:pPr>
            <a:r>
              <a:rPr lang="en-US" sz="1000" dirty="0">
                <a:solidFill>
                  <a:schemeClr val="bg2"/>
                </a:solidFill>
              </a:rPr>
              <a:t>2.96 vs 3.98</a:t>
            </a:r>
            <a:endParaRPr lang="en-US" sz="1300" dirty="0"/>
          </a:p>
        </p:txBody>
      </p:sp>
      <p:sp>
        <p:nvSpPr>
          <p:cNvPr id="55" name="Bond 5"/>
          <p:cNvSpPr/>
          <p:nvPr/>
        </p:nvSpPr>
        <p:spPr>
          <a:xfrm>
            <a:off x="7114032" y="1691640"/>
            <a:ext cx="1554480" cy="2880360"/>
          </a:xfrm>
          <a:prstGeom prst="roundRect">
            <a:avLst>
              <a:gd name="adj" fmla="val 5882"/>
            </a:avLst>
          </a:prstGeom>
          <a:solidFill>
            <a:schemeClr val="tx2"/>
          </a:solidFill>
          <a:ln w="9525">
            <a:solidFill>
              <a:schemeClr val="bg2">
                <a:alpha val="30000"/>
              </a:schemeClr>
            </a:solidFill>
            <a:prstDash val="solid"/>
          </a:ln>
        </p:spPr>
      </p:sp>
      <p:sp>
        <p:nvSpPr>
          <p:cNvPr id="56" name="Text 54"/>
          <p:cNvSpPr txBox="1"/>
          <p:nvPr/>
        </p:nvSpPr>
        <p:spPr>
          <a:xfrm>
            <a:off x="7114032" y="1783080"/>
            <a:ext cx="1554480" cy="365760"/>
          </a:xfrm>
          <a:prstGeom prst="rect">
            <a:avLst/>
          </a:prstGeom>
          <a:noFill/>
          <a:ln/>
        </p:spPr>
        <p:txBody>
          <a:bodyPr wrap="square" lIns="0" tIns="0" rIns="0" bIns="0" rtlCol="0" anchor="t"/>
          <a:lstStyle/>
          <a:p>
            <a:pPr algn="ctr" indent="0" marL="0">
              <a:buNone/>
            </a:pPr>
            <a:r>
              <a:rPr lang="en-US" sz="1800" b="1" dirty="0">
                <a:solidFill>
                  <a:schemeClr val="bg1"/>
                </a:solidFill>
              </a:rPr>
              <a:t>S–O</a:t>
            </a:r>
            <a:endParaRPr lang="en-US" sz="1800" dirty="0"/>
          </a:p>
        </p:txBody>
      </p:sp>
      <p:sp>
        <p:nvSpPr>
          <p:cNvPr id="57" name="Sulfur atom"/>
          <p:cNvSpPr/>
          <p:nvPr/>
        </p:nvSpPr>
        <p:spPr>
          <a:xfrm>
            <a:off x="7091677" y="2453840"/>
            <a:ext cx="578720" cy="578720"/>
          </a:xfrm>
          <a:prstGeom prst="ellipse">
            <a:avLst/>
          </a:prstGeom>
          <a:solidFill>
            <a:schemeClr val="accent1">
              <a:alpha val="20000"/>
            </a:schemeClr>
          </a:solidFill>
          <a:ln w="12700">
            <a:solidFill>
              <a:schemeClr val="accent1">
                <a:alpha val="70000"/>
              </a:schemeClr>
            </a:solidFill>
            <a:prstDash val="dash"/>
          </a:ln>
        </p:spPr>
      </p:sp>
      <p:sp>
        <p:nvSpPr>
          <p:cNvPr id="58" name="Nucleus"/>
          <p:cNvSpPr/>
          <p:nvPr/>
        </p:nvSpPr>
        <p:spPr>
          <a:xfrm>
            <a:off x="7344461" y="2706624"/>
            <a:ext cx="73152" cy="73152"/>
          </a:xfrm>
          <a:prstGeom prst="ellipse">
            <a:avLst/>
          </a:prstGeom>
          <a:solidFill>
            <a:srgbClr val="E0654F"/>
          </a:solidFill>
          <a:ln w="6350">
            <a:solidFill>
              <a:srgbClr val="E0654F"/>
            </a:solidFill>
            <a:prstDash val="solid"/>
          </a:ln>
        </p:spPr>
      </p:sp>
      <p:sp>
        <p:nvSpPr>
          <p:cNvPr id="59" name="Text 57"/>
          <p:cNvSpPr txBox="1"/>
          <p:nvPr/>
        </p:nvSpPr>
        <p:spPr>
          <a:xfrm>
            <a:off x="6558077" y="3069136"/>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S</a:t>
            </a:r>
            <a:endParaRPr lang="en-US" sz="1200" dirty="0"/>
          </a:p>
        </p:txBody>
      </p:sp>
      <p:sp>
        <p:nvSpPr>
          <p:cNvPr id="60" name="Oxygen atom"/>
          <p:cNvSpPr/>
          <p:nvPr/>
        </p:nvSpPr>
        <p:spPr>
          <a:xfrm>
            <a:off x="8243674" y="2585367"/>
            <a:ext cx="315666" cy="315666"/>
          </a:xfrm>
          <a:prstGeom prst="ellipse">
            <a:avLst/>
          </a:prstGeom>
          <a:solidFill>
            <a:schemeClr val="accent1">
              <a:alpha val="20000"/>
            </a:schemeClr>
          </a:solidFill>
          <a:ln w="12700">
            <a:solidFill>
              <a:schemeClr val="accent1">
                <a:alpha val="70000"/>
              </a:schemeClr>
            </a:solidFill>
            <a:prstDash val="dash"/>
          </a:ln>
        </p:spPr>
      </p:sp>
      <p:sp>
        <p:nvSpPr>
          <p:cNvPr id="61" name="Nucleus"/>
          <p:cNvSpPr/>
          <p:nvPr/>
        </p:nvSpPr>
        <p:spPr>
          <a:xfrm>
            <a:off x="8364931" y="2706624"/>
            <a:ext cx="73152" cy="73152"/>
          </a:xfrm>
          <a:prstGeom prst="ellipse">
            <a:avLst/>
          </a:prstGeom>
          <a:solidFill>
            <a:srgbClr val="E0654F"/>
          </a:solidFill>
          <a:ln w="6350">
            <a:solidFill>
              <a:srgbClr val="E0654F"/>
            </a:solidFill>
            <a:prstDash val="solid"/>
          </a:ln>
        </p:spPr>
      </p:sp>
      <p:sp>
        <p:nvSpPr>
          <p:cNvPr id="62" name="Text 60"/>
          <p:cNvSpPr txBox="1"/>
          <p:nvPr/>
        </p:nvSpPr>
        <p:spPr>
          <a:xfrm>
            <a:off x="7578547" y="2937609"/>
            <a:ext cx="1645920" cy="219456"/>
          </a:xfrm>
          <a:prstGeom prst="rect">
            <a:avLst/>
          </a:prstGeom>
          <a:noFill/>
          <a:ln/>
        </p:spPr>
        <p:txBody>
          <a:bodyPr wrap="square" lIns="0" tIns="0" rIns="0" bIns="0" rtlCol="0" anchor="ctr"/>
          <a:lstStyle/>
          <a:p>
            <a:pPr algn="ctr" indent="0" marL="0">
              <a:buNone/>
            </a:pPr>
            <a:r>
              <a:rPr lang="en-US" sz="1200" dirty="0">
                <a:solidFill>
                  <a:schemeClr val="bg2"/>
                </a:solidFill>
              </a:rPr>
              <a:t>O</a:t>
            </a:r>
            <a:endParaRPr lang="en-US" sz="1200" dirty="0"/>
          </a:p>
        </p:txBody>
      </p:sp>
      <p:sp>
        <p:nvSpPr>
          <p:cNvPr id="63" name="Shared electron"/>
          <p:cNvSpPr/>
          <p:nvPr/>
        </p:nvSpPr>
        <p:spPr>
          <a:xfrm>
            <a:off x="8046720" y="2688336"/>
            <a:ext cx="109728" cy="109728"/>
          </a:xfrm>
          <a:prstGeom prst="ellipse">
            <a:avLst/>
          </a:prstGeom>
          <a:solidFill>
            <a:schemeClr val="accent6"/>
          </a:solidFill>
          <a:ln w="6350">
            <a:solidFill>
              <a:schemeClr val="accent6"/>
            </a:solidFill>
            <a:prstDash val="solid"/>
          </a:ln>
        </p:spPr>
      </p:sp>
      <p:sp>
        <p:nvSpPr>
          <p:cNvPr id="64" name="Shared electron"/>
          <p:cNvSpPr/>
          <p:nvPr/>
        </p:nvSpPr>
        <p:spPr>
          <a:xfrm>
            <a:off x="8174736" y="2688336"/>
            <a:ext cx="109728" cy="109728"/>
          </a:xfrm>
          <a:prstGeom prst="ellipse">
            <a:avLst/>
          </a:prstGeom>
          <a:solidFill>
            <a:schemeClr val="accent6"/>
          </a:solidFill>
          <a:ln w="6350">
            <a:solidFill>
              <a:schemeClr val="accent6"/>
            </a:solidFill>
            <a:prstDash val="solid"/>
          </a:ln>
        </p:spPr>
      </p:sp>
      <p:sp>
        <p:nvSpPr>
          <p:cNvPr id="65" name="Text 63"/>
          <p:cNvSpPr txBox="1"/>
          <p:nvPr/>
        </p:nvSpPr>
        <p:spPr>
          <a:xfrm>
            <a:off x="7159752" y="3840480"/>
            <a:ext cx="1463040" cy="640080"/>
          </a:xfrm>
          <a:prstGeom prst="rect">
            <a:avLst/>
          </a:prstGeom>
          <a:noFill/>
          <a:ln/>
        </p:spPr>
        <p:txBody>
          <a:bodyPr wrap="square" lIns="0" tIns="0" rIns="0" bIns="0" rtlCol="0" anchor="ctr"/>
          <a:lstStyle/>
          <a:p>
            <a:pPr algn="ctr" indent="0" marL="0">
              <a:buNone/>
            </a:pPr>
            <a:r>
              <a:rPr lang="en-US" sz="1300" b="1" dirty="0">
                <a:solidFill>
                  <a:schemeClr val="accent4"/>
                </a:solidFill>
              </a:rPr>
              <a:t>Oxygen</a:t>
            </a:r>
            <a:endParaRPr lang="en-US" sz="1300" dirty="0"/>
          </a:p>
          <a:p>
            <a:pPr algn="ctr" indent="0" marL="0">
              <a:buNone/>
            </a:pPr>
            <a:r>
              <a:rPr lang="en-US" sz="1000" dirty="0">
                <a:solidFill>
                  <a:schemeClr val="bg2"/>
                </a:solidFill>
              </a:rPr>
              <a:t>2.58 vs 3.44</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F"/>
          <p:cNvSpPr/>
          <p:nvPr/>
        </p:nvSpPr>
        <p:spPr>
          <a:xfrm>
            <a:off x="737565" y="678311"/>
            <a:ext cx="189079" cy="18907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F</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element has the highest electronegativity?</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Neon</a:t>
            </a:r>
            <a:endParaRPr lang="en-US" sz="1600" dirty="0"/>
          </a:p>
        </p:txBody>
      </p:sp>
      <p:sp>
        <p:nvSpPr>
          <p:cNvPr id="12"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3" name="Text 11"/>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Fluorine</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Lithium</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Chlorine</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ection tile 5"/>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F"/>
          <p:cNvSpPr/>
          <p:nvPr/>
        </p:nvSpPr>
        <p:spPr>
          <a:xfrm>
            <a:off x="737565" y="678311"/>
            <a:ext cx="189079" cy="189079"/>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5</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F</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5 of 9</a:t>
            </a:r>
            <a:endParaRPr lang="en-US" sz="1200" dirty="0"/>
          </a:p>
        </p:txBody>
      </p:sp>
      <p:sp>
        <p:nvSpPr>
          <p:cNvPr id="9"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element has the highest electronegativity?</a:t>
            </a:r>
            <a:endParaRPr lang="en-US" sz="2000" dirty="0"/>
          </a:p>
        </p:txBody>
      </p:sp>
      <p:sp>
        <p:nvSpPr>
          <p:cNvPr id="10"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1" name="Text 9"/>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2" name="Text 10"/>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Neon</a:t>
            </a:r>
            <a:endParaRPr lang="en-US" sz="1600" dirty="0"/>
          </a:p>
        </p:txBody>
      </p:sp>
      <p:sp>
        <p:nvSpPr>
          <p:cNvPr id="13"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4" name="Text 12"/>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5" name="Text 13"/>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Fluorine</a:t>
            </a:r>
            <a:endParaRPr lang="en-US" sz="1600" dirty="0"/>
          </a:p>
        </p:txBody>
      </p:sp>
      <p:sp>
        <p:nvSpPr>
          <p:cNvPr id="16"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7" name="Text 15"/>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8" name="Text 16"/>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Lithium</a:t>
            </a:r>
            <a:endParaRPr lang="en-US" sz="1600" dirty="0"/>
          </a:p>
        </p:txBody>
      </p:sp>
      <p:sp>
        <p:nvSpPr>
          <p:cNvPr id="19"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20" name="Text 18"/>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1" name="Text 19"/>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Chlorine</a:t>
            </a:r>
            <a:endParaRPr lang="en-US" sz="1600" dirty="0"/>
          </a:p>
        </p:txBody>
      </p:sp>
      <p:sp>
        <p:nvSpPr>
          <p:cNvPr id="22"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3" name="Text 21"/>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Fluorine is the most electronegative element (3.98). Neon is a noble gas, so it is left out.</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Cl"/>
          <p:cNvSpPr/>
          <p:nvPr/>
        </p:nvSpPr>
        <p:spPr>
          <a:xfrm>
            <a:off x="696997" y="637744"/>
            <a:ext cx="270214" cy="270214"/>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Cl</a:t>
            </a:r>
            <a:endParaRPr lang="en-US" sz="2400" dirty="0"/>
          </a:p>
        </p:txBody>
      </p:sp>
      <p:sp>
        <p:nvSpPr>
          <p:cNvPr id="6"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6 of 9 · about 9 min</a:t>
            </a:r>
            <a:endParaRPr lang="en-US" sz="1200" dirty="0"/>
          </a:p>
        </p:txBody>
      </p:sp>
      <p:sp>
        <p:nvSpPr>
          <p:cNvPr id="7" name="Text 0"/>
          <p:cNvSpPr/>
          <p:nvPr>
            <p:ph idx="101" type="title" hasCustomPrompt="1"/>
          </p:nvPr>
        </p:nvSpPr>
        <p:spPr>
          <a:xfrm>
            <a:off x="1417320" y="603504"/>
            <a:ext cx="7269480" cy="530352"/>
          </a:xfrm>
          <a:prstGeom prst="rect">
            <a:avLst/>
          </a:prstGeom>
          <a:noFill/>
          <a:ln/>
        </p:spPr>
        <p:txBody>
          <a:bodyPr wrap="square" lIns="0" tIns="0" rIns="0" bIns="0" rtlCol="0" anchor="ctr"/>
          <a:lstStyle/>
          <a:p>
            <a:pPr algn="l" indent="0" marL="0">
              <a:buNone/>
            </a:pPr>
            <a:r>
              <a:rPr lang="en-US" sz="2500" b="1" dirty="0">
                <a:solidFill>
                  <a:schemeClr val="bg1"/>
                </a:solidFill>
              </a:rPr>
              <a:t>Use atomic radius to explain the trends</a:t>
            </a:r>
            <a:endParaRPr lang="en-US" sz="2500" dirty="0"/>
          </a:p>
        </p:txBody>
      </p:sp>
      <p:sp>
        <p:nvSpPr>
          <p:cNvPr id="8"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9" name="Text 7"/>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10" name="Text 8"/>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1" name="Text 9"/>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Small atom, strong grip</a:t>
            </a:r>
            <a:endParaRPr lang="en-US" sz="1400" dirty="0"/>
          </a:p>
        </p:txBody>
      </p:sp>
      <p:sp>
        <p:nvSpPr>
          <p:cNvPr id="12" name="Text 10"/>
          <p:cNvSpPr/>
          <p:nvPr/>
        </p:nvSpPr>
        <p:spPr>
          <a:xfrm>
            <a:off x="685800" y="2624328"/>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3" name="Text 11"/>
          <p:cNvSpPr txBox="1"/>
          <p:nvPr/>
        </p:nvSpPr>
        <p:spPr>
          <a:xfrm>
            <a:off x="1554480" y="2532888"/>
            <a:ext cx="2697480" cy="457200"/>
          </a:xfrm>
          <a:prstGeom prst="rect">
            <a:avLst/>
          </a:prstGeom>
          <a:noFill/>
          <a:ln/>
        </p:spPr>
        <p:txBody>
          <a:bodyPr wrap="square" lIns="0" tIns="0" rIns="0" bIns="0" rtlCol="0" anchor="ctr"/>
          <a:lstStyle/>
          <a:p>
            <a:pPr indent="0" marL="0">
              <a:buNone/>
            </a:pPr>
            <a:r>
              <a:rPr lang="en-US" sz="1400" dirty="0">
                <a:solidFill>
                  <a:schemeClr val="bg1"/>
                </a:solidFill>
              </a:rPr>
              <a:t>Predict and explain</a:t>
            </a:r>
            <a:endParaRPr lang="en-US" sz="1400" dirty="0"/>
          </a:p>
        </p:txBody>
      </p:sp>
      <p:sp>
        <p:nvSpPr>
          <p:cNvPr id="14" name="Text 12"/>
          <p:cNvSpPr/>
          <p:nvPr/>
        </p:nvSpPr>
        <p:spPr>
          <a:xfrm>
            <a:off x="685800" y="32095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5" name="Text 13"/>
          <p:cNvSpPr txBox="1"/>
          <p:nvPr/>
        </p:nvSpPr>
        <p:spPr>
          <a:xfrm>
            <a:off x="1554480" y="3118104"/>
            <a:ext cx="2697480" cy="457200"/>
          </a:xfrm>
          <a:prstGeom prst="rect">
            <a:avLst/>
          </a:prstGeom>
          <a:noFill/>
          <a:ln/>
        </p:spPr>
        <p:txBody>
          <a:bodyPr wrap="square" lIns="0" tIns="0" rIns="0" bIns="0" rtlCol="0" anchor="ctr"/>
          <a:lstStyle/>
          <a:p>
            <a:pPr indent="0" marL="0">
              <a:buNone/>
            </a:pPr>
            <a:r>
              <a:rPr lang="en-US" sz="1400" dirty="0">
                <a:solidFill>
                  <a:schemeClr val="bg1"/>
                </a:solidFill>
              </a:rPr>
              <a:t>Explain it in your own words</a:t>
            </a:r>
            <a:endParaRPr lang="en-US" sz="1400" dirty="0"/>
          </a:p>
        </p:txBody>
      </p:sp>
      <p:sp>
        <p:nvSpPr>
          <p:cNvPr id="16" name="Text 14"/>
          <p:cNvSpPr/>
          <p:nvPr/>
        </p:nvSpPr>
        <p:spPr>
          <a:xfrm>
            <a:off x="685800" y="3794760"/>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7" name="Text 15"/>
          <p:cNvSpPr txBox="1"/>
          <p:nvPr/>
        </p:nvSpPr>
        <p:spPr>
          <a:xfrm>
            <a:off x="1874520" y="3703320"/>
            <a:ext cx="2377440" cy="457200"/>
          </a:xfrm>
          <a:prstGeom prst="rect">
            <a:avLst/>
          </a:prstGeom>
          <a:noFill/>
          <a:ln/>
        </p:spPr>
        <p:txBody>
          <a:bodyPr wrap="square" lIns="0" tIns="0" rIns="0" bIns="0" rtlCol="0" anchor="ctr"/>
          <a:lstStyle/>
          <a:p>
            <a:pPr indent="0" marL="0">
              <a:buNone/>
            </a:pPr>
            <a:r>
              <a:rPr lang="en-US" sz="1400" dirty="0">
                <a:solidFill>
                  <a:schemeClr val="bg1"/>
                </a:solidFill>
              </a:rPr>
              <a:t>Atom X and atom Y</a:t>
            </a:r>
            <a:endParaRPr lang="en-US" sz="1400" dirty="0"/>
          </a:p>
        </p:txBody>
      </p:sp>
      <p:sp>
        <p:nvSpPr>
          <p:cNvPr id="18"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9" name="Text 17"/>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20" name="Text 18"/>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1" name="Text 19"/>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Predict and explain all three trends for 5 pairs</a:t>
            </a:r>
            <a:endParaRPr lang="en-US" sz="1400" dirty="0"/>
          </a:p>
        </p:txBody>
      </p:sp>
      <p:sp>
        <p:nvSpPr>
          <p:cNvPr id="22" name="Text 20"/>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3" name="Text 21"/>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Write your own explanation using the word bank</a:t>
            </a:r>
            <a:endParaRPr lang="en-US" sz="1400" dirty="0"/>
          </a:p>
        </p:txBody>
      </p:sp>
      <p:sp>
        <p:nvSpPr>
          <p:cNvPr id="24" name="Text 22"/>
          <p:cNvSpPr/>
          <p:nvPr/>
        </p:nvSpPr>
        <p:spPr>
          <a:xfrm>
            <a:off x="4892040" y="3200400"/>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5" name="Text 23"/>
          <p:cNvSpPr txBox="1"/>
          <p:nvPr/>
        </p:nvSpPr>
        <p:spPr>
          <a:xfrm>
            <a:off x="5303520" y="3127248"/>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Cl"/>
          <p:cNvSpPr/>
          <p:nvPr/>
        </p:nvSpPr>
        <p:spPr>
          <a:xfrm>
            <a:off x="696997" y="637744"/>
            <a:ext cx="270214" cy="270214"/>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Cl</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Small atom, strong grip</a:t>
            </a:r>
            <a:endParaRPr lang="en-US" sz="2800" dirty="0"/>
          </a:p>
        </p:txBody>
      </p:sp>
      <p:sp>
        <p:nvSpPr>
          <p:cNvPr id="9" name="Text 7"/>
          <p:cNvSpPr txBox="1"/>
          <p:nvPr/>
        </p:nvSpPr>
        <p:spPr>
          <a:xfrm>
            <a:off x="457200" y="1280160"/>
            <a:ext cx="8229600" cy="640080"/>
          </a:xfrm>
          <a:prstGeom prst="rect">
            <a:avLst/>
          </a:prstGeom>
          <a:noFill/>
          <a:ln/>
        </p:spPr>
        <p:txBody>
          <a:bodyPr wrap="square" lIns="0" tIns="0" rIns="0" bIns="0" rtlCol="0" anchor="t"/>
          <a:lstStyle/>
          <a:p>
            <a:pPr indent="0" marL="0">
              <a:spcAft>
                <a:spcPts val="800"/>
              </a:spcAft>
              <a:buNone/>
            </a:pPr>
            <a:r>
              <a:rPr lang="en-US" sz="1400" dirty="0">
                <a:solidFill>
                  <a:schemeClr val="bg1"/>
                </a:solidFill>
              </a:rPr>
              <a:t>All three trends come from one idea: how close the outer electrons are to the nucleus. If you know which atom is smaller, you can explain the other two.</a:t>
            </a:r>
            <a:endParaRPr lang="en-US" sz="1400" dirty="0"/>
          </a:p>
        </p:txBody>
      </p:sp>
      <p:sp>
        <p:nvSpPr>
          <p:cNvPr id="10" name="Step 1"/>
          <p:cNvSpPr/>
          <p:nvPr/>
        </p:nvSpPr>
        <p:spPr>
          <a:xfrm>
            <a:off x="457200" y="2057400"/>
            <a:ext cx="1874520" cy="960120"/>
          </a:xfrm>
          <a:prstGeom prst="roundRect">
            <a:avLst>
              <a:gd name="adj" fmla="val 9524"/>
            </a:avLst>
          </a:prstGeom>
          <a:solidFill>
            <a:schemeClr val="tx2"/>
          </a:solidFill>
          <a:ln w="19050">
            <a:solidFill>
              <a:schemeClr val="accent1">
                <a:alpha val="30000"/>
              </a:schemeClr>
            </a:solidFill>
            <a:prstDash val="solid"/>
          </a:ln>
        </p:spPr>
      </p:sp>
      <p:sp>
        <p:nvSpPr>
          <p:cNvPr id="11" name="Text 9"/>
          <p:cNvSpPr/>
          <p:nvPr/>
        </p:nvSpPr>
        <p:spPr>
          <a:xfrm>
            <a:off x="566928" y="2157984"/>
            <a:ext cx="292608" cy="29260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2" name="Text 10"/>
          <p:cNvSpPr txBox="1"/>
          <p:nvPr/>
        </p:nvSpPr>
        <p:spPr>
          <a:xfrm>
            <a:off x="914400" y="2103120"/>
            <a:ext cx="1371600" cy="868680"/>
          </a:xfrm>
          <a:prstGeom prst="rect">
            <a:avLst/>
          </a:prstGeom>
          <a:noFill/>
          <a:ln/>
        </p:spPr>
        <p:txBody>
          <a:bodyPr wrap="square" lIns="0" tIns="0" rIns="0" bIns="0" rtlCol="0" anchor="ctr"/>
          <a:lstStyle/>
          <a:p>
            <a:pPr indent="0" marL="0">
              <a:buNone/>
            </a:pPr>
            <a:r>
              <a:rPr lang="en-US" sz="1300" b="1" dirty="0">
                <a:solidFill>
                  <a:schemeClr val="bg1"/>
                </a:solidFill>
              </a:rPr>
              <a:t>Smaller atomic radius</a:t>
            </a:r>
            <a:endParaRPr lang="en-US" sz="1300" dirty="0"/>
          </a:p>
        </p:txBody>
      </p:sp>
      <p:sp>
        <p:nvSpPr>
          <p:cNvPr id="13" name="Arrow"/>
          <p:cNvSpPr/>
          <p:nvPr/>
        </p:nvSpPr>
        <p:spPr>
          <a:xfrm>
            <a:off x="2350008" y="2423160"/>
            <a:ext cx="219456" cy="237744"/>
          </a:xfrm>
          <a:prstGeom prst="rightArrow">
            <a:avLst/>
          </a:prstGeom>
          <a:solidFill>
            <a:schemeClr val="bg2"/>
          </a:solidFill>
          <a:ln w="6350">
            <a:solidFill>
              <a:schemeClr val="bg2"/>
            </a:solidFill>
            <a:prstDash val="solid"/>
          </a:ln>
        </p:spPr>
      </p:sp>
      <p:sp>
        <p:nvSpPr>
          <p:cNvPr id="14" name="Step 2"/>
          <p:cNvSpPr/>
          <p:nvPr/>
        </p:nvSpPr>
        <p:spPr>
          <a:xfrm>
            <a:off x="2578608" y="2057400"/>
            <a:ext cx="1874520" cy="960120"/>
          </a:xfrm>
          <a:prstGeom prst="roundRect">
            <a:avLst>
              <a:gd name="adj" fmla="val 9524"/>
            </a:avLst>
          </a:prstGeom>
          <a:solidFill>
            <a:schemeClr val="tx2"/>
          </a:solidFill>
          <a:ln w="19050">
            <a:solidFill>
              <a:schemeClr val="accent1">
                <a:alpha val="30000"/>
              </a:schemeClr>
            </a:solidFill>
            <a:prstDash val="solid"/>
          </a:ln>
        </p:spPr>
      </p:sp>
      <p:sp>
        <p:nvSpPr>
          <p:cNvPr id="15" name="Text 13"/>
          <p:cNvSpPr/>
          <p:nvPr/>
        </p:nvSpPr>
        <p:spPr>
          <a:xfrm>
            <a:off x="2688336" y="2157984"/>
            <a:ext cx="292608" cy="29260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6" name="Text 14"/>
          <p:cNvSpPr txBox="1"/>
          <p:nvPr/>
        </p:nvSpPr>
        <p:spPr>
          <a:xfrm>
            <a:off x="3035808" y="2103120"/>
            <a:ext cx="1371600" cy="868680"/>
          </a:xfrm>
          <a:prstGeom prst="rect">
            <a:avLst/>
          </a:prstGeom>
          <a:noFill/>
          <a:ln/>
        </p:spPr>
        <p:txBody>
          <a:bodyPr wrap="square" lIns="0" tIns="0" rIns="0" bIns="0" rtlCol="0" anchor="ctr"/>
          <a:lstStyle/>
          <a:p>
            <a:pPr indent="0" marL="0">
              <a:buNone/>
            </a:pPr>
            <a:r>
              <a:rPr lang="en-US" sz="1300" b="1" dirty="0">
                <a:solidFill>
                  <a:schemeClr val="bg1"/>
                </a:solidFill>
              </a:rPr>
              <a:t>Outer electrons are closer to the nucleus</a:t>
            </a:r>
            <a:endParaRPr lang="en-US" sz="1300" dirty="0"/>
          </a:p>
        </p:txBody>
      </p:sp>
      <p:sp>
        <p:nvSpPr>
          <p:cNvPr id="17" name="Arrow"/>
          <p:cNvSpPr/>
          <p:nvPr/>
        </p:nvSpPr>
        <p:spPr>
          <a:xfrm>
            <a:off x="4471416" y="2423160"/>
            <a:ext cx="219456" cy="237744"/>
          </a:xfrm>
          <a:prstGeom prst="rightArrow">
            <a:avLst/>
          </a:prstGeom>
          <a:solidFill>
            <a:schemeClr val="bg2"/>
          </a:solidFill>
          <a:ln w="6350">
            <a:solidFill>
              <a:schemeClr val="bg2"/>
            </a:solidFill>
            <a:prstDash val="solid"/>
          </a:ln>
        </p:spPr>
      </p:sp>
      <p:sp>
        <p:nvSpPr>
          <p:cNvPr id="18" name="Step 3"/>
          <p:cNvSpPr/>
          <p:nvPr/>
        </p:nvSpPr>
        <p:spPr>
          <a:xfrm>
            <a:off x="4700016" y="2057400"/>
            <a:ext cx="1874520" cy="960120"/>
          </a:xfrm>
          <a:prstGeom prst="roundRect">
            <a:avLst>
              <a:gd name="adj" fmla="val 9524"/>
            </a:avLst>
          </a:prstGeom>
          <a:solidFill>
            <a:schemeClr val="tx2"/>
          </a:solidFill>
          <a:ln w="19050">
            <a:solidFill>
              <a:schemeClr val="accent1">
                <a:alpha val="30000"/>
              </a:schemeClr>
            </a:solidFill>
            <a:prstDash val="solid"/>
          </a:ln>
        </p:spPr>
      </p:sp>
      <p:sp>
        <p:nvSpPr>
          <p:cNvPr id="19" name="Text 17"/>
          <p:cNvSpPr/>
          <p:nvPr/>
        </p:nvSpPr>
        <p:spPr>
          <a:xfrm>
            <a:off x="4809744" y="2157984"/>
            <a:ext cx="292608" cy="29260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0" name="Text 18"/>
          <p:cNvSpPr txBox="1"/>
          <p:nvPr/>
        </p:nvSpPr>
        <p:spPr>
          <a:xfrm>
            <a:off x="5157216" y="2103120"/>
            <a:ext cx="1371600" cy="868680"/>
          </a:xfrm>
          <a:prstGeom prst="rect">
            <a:avLst/>
          </a:prstGeom>
          <a:noFill/>
          <a:ln/>
        </p:spPr>
        <p:txBody>
          <a:bodyPr wrap="square" lIns="0" tIns="0" rIns="0" bIns="0" rtlCol="0" anchor="ctr"/>
          <a:lstStyle/>
          <a:p>
            <a:pPr indent="0" marL="0">
              <a:buNone/>
            </a:pPr>
            <a:r>
              <a:rPr lang="en-US" sz="1300" b="1" dirty="0">
                <a:solidFill>
                  <a:schemeClr val="bg1"/>
                </a:solidFill>
              </a:rPr>
              <a:t>The nucleus pulls on them harder</a:t>
            </a:r>
            <a:endParaRPr lang="en-US" sz="1300" dirty="0"/>
          </a:p>
        </p:txBody>
      </p:sp>
      <p:sp>
        <p:nvSpPr>
          <p:cNvPr id="21" name="Arrow"/>
          <p:cNvSpPr/>
          <p:nvPr/>
        </p:nvSpPr>
        <p:spPr>
          <a:xfrm>
            <a:off x="6592824" y="2423160"/>
            <a:ext cx="219456" cy="237744"/>
          </a:xfrm>
          <a:prstGeom prst="rightArrow">
            <a:avLst/>
          </a:prstGeom>
          <a:solidFill>
            <a:schemeClr val="bg2"/>
          </a:solidFill>
          <a:ln w="6350">
            <a:solidFill>
              <a:schemeClr val="bg2"/>
            </a:solidFill>
            <a:prstDash val="solid"/>
          </a:ln>
        </p:spPr>
      </p:sp>
      <p:sp>
        <p:nvSpPr>
          <p:cNvPr id="22" name="Step 4"/>
          <p:cNvSpPr/>
          <p:nvPr/>
        </p:nvSpPr>
        <p:spPr>
          <a:xfrm>
            <a:off x="6821424" y="2057400"/>
            <a:ext cx="1874520" cy="960120"/>
          </a:xfrm>
          <a:prstGeom prst="roundRect">
            <a:avLst>
              <a:gd name="adj" fmla="val 9524"/>
            </a:avLst>
          </a:prstGeom>
          <a:solidFill>
            <a:schemeClr val="tx2"/>
          </a:solidFill>
          <a:ln w="19050">
            <a:solidFill>
              <a:srgbClr val="F6B93B">
                <a:alpha val="30000"/>
              </a:srgbClr>
            </a:solidFill>
            <a:prstDash val="solid"/>
          </a:ln>
        </p:spPr>
      </p:sp>
      <p:sp>
        <p:nvSpPr>
          <p:cNvPr id="23" name="Text 21"/>
          <p:cNvSpPr/>
          <p:nvPr/>
        </p:nvSpPr>
        <p:spPr>
          <a:xfrm>
            <a:off x="6931152" y="2157984"/>
            <a:ext cx="292608" cy="292608"/>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4" name="Text 22"/>
          <p:cNvSpPr txBox="1"/>
          <p:nvPr/>
        </p:nvSpPr>
        <p:spPr>
          <a:xfrm>
            <a:off x="7278624" y="2103120"/>
            <a:ext cx="1371600" cy="868680"/>
          </a:xfrm>
          <a:prstGeom prst="rect">
            <a:avLst/>
          </a:prstGeom>
          <a:noFill/>
          <a:ln/>
        </p:spPr>
        <p:txBody>
          <a:bodyPr wrap="square" lIns="0" tIns="0" rIns="0" bIns="0" rtlCol="0" anchor="ctr"/>
          <a:lstStyle/>
          <a:p>
            <a:pPr indent="0" marL="0">
              <a:buNone/>
            </a:pPr>
            <a:r>
              <a:rPr lang="en-US" sz="1300" b="1" dirty="0">
                <a:solidFill>
                  <a:schemeClr val="bg1"/>
                </a:solidFill>
              </a:rPr>
              <a:t>Higher ionization energy and electronegativity</a:t>
            </a:r>
            <a:endParaRPr lang="en-US" sz="1300" dirty="0"/>
          </a:p>
        </p:txBody>
      </p:sp>
      <p:sp>
        <p:nvSpPr>
          <p:cNvPr id="25" name="Text 23"/>
          <p:cNvSpPr txBox="1"/>
          <p:nvPr/>
        </p:nvSpPr>
        <p:spPr>
          <a:xfrm>
            <a:off x="457200" y="3154680"/>
            <a:ext cx="5394960" cy="548640"/>
          </a:xfrm>
          <a:prstGeom prst="rect">
            <a:avLst/>
          </a:prstGeom>
          <a:noFill/>
          <a:ln/>
        </p:spPr>
        <p:txBody>
          <a:bodyPr wrap="square" lIns="0" tIns="0" rIns="0" bIns="0" rtlCol="0" anchor="t"/>
          <a:lstStyle/>
          <a:p>
            <a:pPr indent="0" marL="0">
              <a:buNone/>
            </a:pPr>
            <a:r>
              <a:rPr lang="en-US" sz="1200" dirty="0">
                <a:solidFill>
                  <a:schemeClr val="bg2"/>
                </a:solidFill>
              </a:rPr>
              <a:t>Works backward too: a larger atom has electrons farther away, a weaker pull, and lower ionization energy and electronegativity.</a:t>
            </a:r>
            <a:endParaRPr lang="en-US" sz="1200" dirty="0"/>
          </a:p>
        </p:txBody>
      </p:sp>
      <p:sp>
        <p:nvSpPr>
          <p:cNvPr id="26" name="Text 24"/>
          <p:cNvSpPr txBox="1"/>
          <p:nvPr/>
        </p:nvSpPr>
        <p:spPr>
          <a:xfrm>
            <a:off x="6309360" y="2926080"/>
            <a:ext cx="219456" cy="164592"/>
          </a:xfrm>
          <a:prstGeom prst="rect">
            <a:avLst/>
          </a:prstGeom>
          <a:noFill/>
          <a:ln/>
        </p:spPr>
        <p:txBody>
          <a:bodyPr wrap="square" lIns="0" tIns="0" rIns="0" bIns="0" rtlCol="0" anchor="ctr"/>
          <a:lstStyle/>
          <a:p>
            <a:pPr algn="ctr" indent="0" marL="0">
              <a:buNone/>
            </a:pPr>
            <a:r>
              <a:rPr lang="en-US" sz="800" dirty="0">
                <a:solidFill>
                  <a:schemeClr val="bg2"/>
                </a:solidFill>
              </a:rPr>
              <a:t>1</a:t>
            </a:r>
            <a:endParaRPr lang="en-US" sz="800" dirty="0"/>
          </a:p>
        </p:txBody>
      </p:sp>
      <p:sp>
        <p:nvSpPr>
          <p:cNvPr id="27" name="Text 25"/>
          <p:cNvSpPr txBox="1"/>
          <p:nvPr/>
        </p:nvSpPr>
        <p:spPr>
          <a:xfrm>
            <a:off x="6550762" y="2926080"/>
            <a:ext cx="219456" cy="164592"/>
          </a:xfrm>
          <a:prstGeom prst="rect">
            <a:avLst/>
          </a:prstGeom>
          <a:noFill/>
          <a:ln/>
        </p:spPr>
        <p:txBody>
          <a:bodyPr wrap="square" lIns="0" tIns="0" rIns="0" bIns="0" rtlCol="0" anchor="ctr"/>
          <a:lstStyle/>
          <a:p>
            <a:pPr algn="ctr" indent="0" marL="0">
              <a:buNone/>
            </a:pPr>
            <a:r>
              <a:rPr lang="en-US" sz="800" dirty="0">
                <a:solidFill>
                  <a:schemeClr val="bg2"/>
                </a:solidFill>
              </a:rPr>
              <a:t>2</a:t>
            </a:r>
            <a:endParaRPr lang="en-US" sz="800" dirty="0"/>
          </a:p>
        </p:txBody>
      </p:sp>
      <p:sp>
        <p:nvSpPr>
          <p:cNvPr id="28" name="Text 26"/>
          <p:cNvSpPr txBox="1"/>
          <p:nvPr/>
        </p:nvSpPr>
        <p:spPr>
          <a:xfrm>
            <a:off x="6792163" y="2926080"/>
            <a:ext cx="219456" cy="164592"/>
          </a:xfrm>
          <a:prstGeom prst="rect">
            <a:avLst/>
          </a:prstGeom>
          <a:noFill/>
          <a:ln/>
        </p:spPr>
        <p:txBody>
          <a:bodyPr wrap="square" lIns="0" tIns="0" rIns="0" bIns="0" rtlCol="0" anchor="ctr"/>
          <a:lstStyle/>
          <a:p>
            <a:pPr algn="ctr" indent="0" marL="0">
              <a:buNone/>
            </a:pPr>
            <a:r>
              <a:rPr lang="en-US" sz="800" dirty="0">
                <a:solidFill>
                  <a:schemeClr val="bg2"/>
                </a:solidFill>
              </a:rPr>
              <a:t>13</a:t>
            </a:r>
            <a:endParaRPr lang="en-US" sz="800" dirty="0"/>
          </a:p>
        </p:txBody>
      </p:sp>
      <p:sp>
        <p:nvSpPr>
          <p:cNvPr id="29" name="Text 27"/>
          <p:cNvSpPr txBox="1"/>
          <p:nvPr/>
        </p:nvSpPr>
        <p:spPr>
          <a:xfrm>
            <a:off x="7033565" y="2926080"/>
            <a:ext cx="219456" cy="164592"/>
          </a:xfrm>
          <a:prstGeom prst="rect">
            <a:avLst/>
          </a:prstGeom>
          <a:noFill/>
          <a:ln/>
        </p:spPr>
        <p:txBody>
          <a:bodyPr wrap="square" lIns="0" tIns="0" rIns="0" bIns="0" rtlCol="0" anchor="ctr"/>
          <a:lstStyle/>
          <a:p>
            <a:pPr algn="ctr" indent="0" marL="0">
              <a:buNone/>
            </a:pPr>
            <a:r>
              <a:rPr lang="en-US" sz="800" dirty="0">
                <a:solidFill>
                  <a:schemeClr val="bg2"/>
                </a:solidFill>
              </a:rPr>
              <a:t>14</a:t>
            </a:r>
            <a:endParaRPr lang="en-US" sz="800" dirty="0"/>
          </a:p>
        </p:txBody>
      </p:sp>
      <p:sp>
        <p:nvSpPr>
          <p:cNvPr id="30" name="Text 28"/>
          <p:cNvSpPr txBox="1"/>
          <p:nvPr/>
        </p:nvSpPr>
        <p:spPr>
          <a:xfrm>
            <a:off x="7274966" y="2926080"/>
            <a:ext cx="219456" cy="164592"/>
          </a:xfrm>
          <a:prstGeom prst="rect">
            <a:avLst/>
          </a:prstGeom>
          <a:noFill/>
          <a:ln/>
        </p:spPr>
        <p:txBody>
          <a:bodyPr wrap="square" lIns="0" tIns="0" rIns="0" bIns="0" rtlCol="0" anchor="ctr"/>
          <a:lstStyle/>
          <a:p>
            <a:pPr algn="ctr" indent="0" marL="0">
              <a:buNone/>
            </a:pPr>
            <a:r>
              <a:rPr lang="en-US" sz="800" dirty="0">
                <a:solidFill>
                  <a:schemeClr val="bg2"/>
                </a:solidFill>
              </a:rPr>
              <a:t>15</a:t>
            </a:r>
            <a:endParaRPr lang="en-US" sz="800" dirty="0"/>
          </a:p>
        </p:txBody>
      </p:sp>
      <p:sp>
        <p:nvSpPr>
          <p:cNvPr id="31" name="Text 29"/>
          <p:cNvSpPr txBox="1"/>
          <p:nvPr/>
        </p:nvSpPr>
        <p:spPr>
          <a:xfrm>
            <a:off x="7516368" y="2926080"/>
            <a:ext cx="219456" cy="164592"/>
          </a:xfrm>
          <a:prstGeom prst="rect">
            <a:avLst/>
          </a:prstGeom>
          <a:noFill/>
          <a:ln/>
        </p:spPr>
        <p:txBody>
          <a:bodyPr wrap="square" lIns="0" tIns="0" rIns="0" bIns="0" rtlCol="0" anchor="ctr"/>
          <a:lstStyle/>
          <a:p>
            <a:pPr algn="ctr" indent="0" marL="0">
              <a:buNone/>
            </a:pPr>
            <a:r>
              <a:rPr lang="en-US" sz="800" dirty="0">
                <a:solidFill>
                  <a:schemeClr val="bg2"/>
                </a:solidFill>
              </a:rPr>
              <a:t>16</a:t>
            </a:r>
            <a:endParaRPr lang="en-US" sz="800" dirty="0"/>
          </a:p>
        </p:txBody>
      </p:sp>
      <p:sp>
        <p:nvSpPr>
          <p:cNvPr id="32" name="Text 30"/>
          <p:cNvSpPr txBox="1"/>
          <p:nvPr/>
        </p:nvSpPr>
        <p:spPr>
          <a:xfrm>
            <a:off x="7757770" y="2926080"/>
            <a:ext cx="219456" cy="164592"/>
          </a:xfrm>
          <a:prstGeom prst="rect">
            <a:avLst/>
          </a:prstGeom>
          <a:noFill/>
          <a:ln/>
        </p:spPr>
        <p:txBody>
          <a:bodyPr wrap="square" lIns="0" tIns="0" rIns="0" bIns="0" rtlCol="0" anchor="ctr"/>
          <a:lstStyle/>
          <a:p>
            <a:pPr algn="ctr" indent="0" marL="0">
              <a:buNone/>
            </a:pPr>
            <a:r>
              <a:rPr lang="en-US" sz="800" dirty="0">
                <a:solidFill>
                  <a:schemeClr val="bg2"/>
                </a:solidFill>
              </a:rPr>
              <a:t>17</a:t>
            </a:r>
            <a:endParaRPr lang="en-US" sz="800" dirty="0"/>
          </a:p>
        </p:txBody>
      </p:sp>
      <p:sp>
        <p:nvSpPr>
          <p:cNvPr id="33" name="Text 31"/>
          <p:cNvSpPr txBox="1"/>
          <p:nvPr/>
        </p:nvSpPr>
        <p:spPr>
          <a:xfrm>
            <a:off x="7999171" y="2926080"/>
            <a:ext cx="219456" cy="164592"/>
          </a:xfrm>
          <a:prstGeom prst="rect">
            <a:avLst/>
          </a:prstGeom>
          <a:noFill/>
          <a:ln/>
        </p:spPr>
        <p:txBody>
          <a:bodyPr wrap="square" lIns="0" tIns="0" rIns="0" bIns="0" rtlCol="0" anchor="ctr"/>
          <a:lstStyle/>
          <a:p>
            <a:pPr algn="ctr" indent="0" marL="0">
              <a:buNone/>
            </a:pPr>
            <a:r>
              <a:rPr lang="en-US" sz="800" dirty="0">
                <a:solidFill>
                  <a:schemeClr val="bg2"/>
                </a:solidFill>
              </a:rPr>
              <a:t>18</a:t>
            </a:r>
            <a:endParaRPr lang="en-US" sz="800" dirty="0"/>
          </a:p>
        </p:txBody>
      </p:sp>
      <p:sp>
        <p:nvSpPr>
          <p:cNvPr id="34" name="Heat H"/>
          <p:cNvSpPr/>
          <p:nvPr/>
        </p:nvSpPr>
        <p:spPr>
          <a:xfrm>
            <a:off x="6309360" y="3108960"/>
            <a:ext cx="219456" cy="230429"/>
          </a:xfrm>
          <a:prstGeom prst="roundRect">
            <a:avLst>
              <a:gd name="adj" fmla="val 12000"/>
            </a:avLst>
          </a:prstGeom>
          <a:solidFill>
            <a:schemeClr val="accent1">
              <a:alpha val="24000"/>
            </a:schemeClr>
          </a:solidFill>
          <a:ln w="9525">
            <a:solidFill>
              <a:schemeClr val="accent1">
                <a:alpha val="60000"/>
              </a:schemeClr>
            </a:solidFill>
            <a:prstDash val="solid"/>
          </a:ln>
        </p:spPr>
      </p:sp>
      <p:sp>
        <p:nvSpPr>
          <p:cNvPr id="35" name="Text 33"/>
          <p:cNvSpPr txBox="1"/>
          <p:nvPr/>
        </p:nvSpPr>
        <p:spPr>
          <a:xfrm>
            <a:off x="6309360" y="3108960"/>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H</a:t>
            </a:r>
            <a:endParaRPr lang="en-US" sz="700" dirty="0"/>
          </a:p>
        </p:txBody>
      </p:sp>
      <p:sp>
        <p:nvSpPr>
          <p:cNvPr id="36" name="Heat He"/>
          <p:cNvSpPr/>
          <p:nvPr/>
        </p:nvSpPr>
        <p:spPr>
          <a:xfrm>
            <a:off x="7999171" y="3108960"/>
            <a:ext cx="219456" cy="230429"/>
          </a:xfrm>
          <a:prstGeom prst="roundRect">
            <a:avLst>
              <a:gd name="adj" fmla="val 12000"/>
            </a:avLst>
          </a:prstGeom>
          <a:solidFill>
            <a:schemeClr val="accent1">
              <a:alpha val="17000"/>
            </a:schemeClr>
          </a:solidFill>
          <a:ln w="9525">
            <a:solidFill>
              <a:schemeClr val="accent1">
                <a:alpha val="60000"/>
              </a:schemeClr>
            </a:solidFill>
            <a:prstDash val="solid"/>
          </a:ln>
        </p:spPr>
      </p:sp>
      <p:sp>
        <p:nvSpPr>
          <p:cNvPr id="37" name="Text 35"/>
          <p:cNvSpPr txBox="1"/>
          <p:nvPr/>
        </p:nvSpPr>
        <p:spPr>
          <a:xfrm>
            <a:off x="7999171" y="3108960"/>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He</a:t>
            </a:r>
            <a:endParaRPr lang="en-US" sz="700" dirty="0"/>
          </a:p>
        </p:txBody>
      </p:sp>
      <p:sp>
        <p:nvSpPr>
          <p:cNvPr id="38" name="Heat Li"/>
          <p:cNvSpPr/>
          <p:nvPr/>
        </p:nvSpPr>
        <p:spPr>
          <a:xfrm>
            <a:off x="6309360" y="3361334"/>
            <a:ext cx="219456" cy="230429"/>
          </a:xfrm>
          <a:prstGeom prst="roundRect">
            <a:avLst>
              <a:gd name="adj" fmla="val 12000"/>
            </a:avLst>
          </a:prstGeom>
          <a:solidFill>
            <a:schemeClr val="accent1">
              <a:alpha val="57000"/>
            </a:schemeClr>
          </a:solidFill>
          <a:ln w="9525">
            <a:solidFill>
              <a:schemeClr val="accent1">
                <a:alpha val="60000"/>
              </a:schemeClr>
            </a:solidFill>
            <a:prstDash val="solid"/>
          </a:ln>
        </p:spPr>
      </p:sp>
      <p:sp>
        <p:nvSpPr>
          <p:cNvPr id="39" name="Text 37"/>
          <p:cNvSpPr txBox="1"/>
          <p:nvPr/>
        </p:nvSpPr>
        <p:spPr>
          <a:xfrm>
            <a:off x="6309360" y="3361334"/>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Li</a:t>
            </a:r>
            <a:endParaRPr lang="en-US" sz="700" dirty="0"/>
          </a:p>
        </p:txBody>
      </p:sp>
      <p:sp>
        <p:nvSpPr>
          <p:cNvPr id="40" name="Heat Be"/>
          <p:cNvSpPr/>
          <p:nvPr/>
        </p:nvSpPr>
        <p:spPr>
          <a:xfrm>
            <a:off x="6550762" y="3361334"/>
            <a:ext cx="219456" cy="230429"/>
          </a:xfrm>
          <a:prstGeom prst="roundRect">
            <a:avLst>
              <a:gd name="adj" fmla="val 12000"/>
            </a:avLst>
          </a:prstGeom>
          <a:solidFill>
            <a:schemeClr val="accent1">
              <a:alpha val="41000"/>
            </a:schemeClr>
          </a:solidFill>
          <a:ln w="9525">
            <a:solidFill>
              <a:schemeClr val="accent1">
                <a:alpha val="60000"/>
              </a:schemeClr>
            </a:solidFill>
            <a:prstDash val="solid"/>
          </a:ln>
        </p:spPr>
      </p:sp>
      <p:sp>
        <p:nvSpPr>
          <p:cNvPr id="41" name="Text 39"/>
          <p:cNvSpPr txBox="1"/>
          <p:nvPr/>
        </p:nvSpPr>
        <p:spPr>
          <a:xfrm>
            <a:off x="6550762" y="3361334"/>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Be</a:t>
            </a:r>
            <a:endParaRPr lang="en-US" sz="700" dirty="0"/>
          </a:p>
        </p:txBody>
      </p:sp>
      <p:sp>
        <p:nvSpPr>
          <p:cNvPr id="42" name="Heat B"/>
          <p:cNvSpPr/>
          <p:nvPr/>
        </p:nvSpPr>
        <p:spPr>
          <a:xfrm>
            <a:off x="6792163" y="3361334"/>
            <a:ext cx="219456" cy="230429"/>
          </a:xfrm>
          <a:prstGeom prst="roundRect">
            <a:avLst>
              <a:gd name="adj" fmla="val 12000"/>
            </a:avLst>
          </a:prstGeom>
          <a:solidFill>
            <a:schemeClr val="accent1">
              <a:alpha val="34000"/>
            </a:schemeClr>
          </a:solidFill>
          <a:ln w="9525">
            <a:solidFill>
              <a:schemeClr val="accent1">
                <a:alpha val="60000"/>
              </a:schemeClr>
            </a:solidFill>
            <a:prstDash val="solid"/>
          </a:ln>
        </p:spPr>
      </p:sp>
      <p:sp>
        <p:nvSpPr>
          <p:cNvPr id="43" name="Text 41"/>
          <p:cNvSpPr txBox="1"/>
          <p:nvPr/>
        </p:nvSpPr>
        <p:spPr>
          <a:xfrm>
            <a:off x="6792163" y="3361334"/>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B</a:t>
            </a:r>
            <a:endParaRPr lang="en-US" sz="700" dirty="0"/>
          </a:p>
        </p:txBody>
      </p:sp>
      <p:sp>
        <p:nvSpPr>
          <p:cNvPr id="44" name="Heat C"/>
          <p:cNvSpPr/>
          <p:nvPr/>
        </p:nvSpPr>
        <p:spPr>
          <a:xfrm>
            <a:off x="7033565" y="3361334"/>
            <a:ext cx="219456" cy="230429"/>
          </a:xfrm>
          <a:prstGeom prst="roundRect">
            <a:avLst>
              <a:gd name="adj" fmla="val 12000"/>
            </a:avLst>
          </a:prstGeom>
          <a:solidFill>
            <a:schemeClr val="accent1">
              <a:alpha val="28000"/>
            </a:schemeClr>
          </a:solidFill>
          <a:ln w="9525">
            <a:solidFill>
              <a:schemeClr val="accent1">
                <a:alpha val="60000"/>
              </a:schemeClr>
            </a:solidFill>
            <a:prstDash val="solid"/>
          </a:ln>
        </p:spPr>
      </p:sp>
      <p:sp>
        <p:nvSpPr>
          <p:cNvPr id="45" name="Text 43"/>
          <p:cNvSpPr txBox="1"/>
          <p:nvPr/>
        </p:nvSpPr>
        <p:spPr>
          <a:xfrm>
            <a:off x="7033565" y="3361334"/>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C</a:t>
            </a:r>
            <a:endParaRPr lang="en-US" sz="700" dirty="0"/>
          </a:p>
        </p:txBody>
      </p:sp>
      <p:sp>
        <p:nvSpPr>
          <p:cNvPr id="46" name="Heat N"/>
          <p:cNvSpPr/>
          <p:nvPr/>
        </p:nvSpPr>
        <p:spPr>
          <a:xfrm>
            <a:off x="7274966" y="3361334"/>
            <a:ext cx="219456" cy="230429"/>
          </a:xfrm>
          <a:prstGeom prst="roundRect">
            <a:avLst>
              <a:gd name="adj" fmla="val 12000"/>
            </a:avLst>
          </a:prstGeom>
          <a:solidFill>
            <a:schemeClr val="accent1">
              <a:alpha val="25000"/>
            </a:schemeClr>
          </a:solidFill>
          <a:ln w="9525">
            <a:solidFill>
              <a:schemeClr val="accent1">
                <a:alpha val="60000"/>
              </a:schemeClr>
            </a:solidFill>
            <a:prstDash val="solid"/>
          </a:ln>
        </p:spPr>
      </p:sp>
      <p:sp>
        <p:nvSpPr>
          <p:cNvPr id="47" name="Text 45"/>
          <p:cNvSpPr txBox="1"/>
          <p:nvPr/>
        </p:nvSpPr>
        <p:spPr>
          <a:xfrm>
            <a:off x="7274966" y="3361334"/>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N</a:t>
            </a:r>
            <a:endParaRPr lang="en-US" sz="700" dirty="0"/>
          </a:p>
        </p:txBody>
      </p:sp>
      <p:sp>
        <p:nvSpPr>
          <p:cNvPr id="48" name="Heat O"/>
          <p:cNvSpPr/>
          <p:nvPr/>
        </p:nvSpPr>
        <p:spPr>
          <a:xfrm>
            <a:off x="7516368" y="3361334"/>
            <a:ext cx="219456" cy="230429"/>
          </a:xfrm>
          <a:prstGeom prst="roundRect">
            <a:avLst>
              <a:gd name="adj" fmla="val 12000"/>
            </a:avLst>
          </a:prstGeom>
          <a:solidFill>
            <a:schemeClr val="accent1">
              <a:alpha val="22000"/>
            </a:schemeClr>
          </a:solidFill>
          <a:ln w="9525">
            <a:solidFill>
              <a:schemeClr val="accent1">
                <a:alpha val="60000"/>
              </a:schemeClr>
            </a:solidFill>
            <a:prstDash val="solid"/>
          </a:ln>
        </p:spPr>
      </p:sp>
      <p:sp>
        <p:nvSpPr>
          <p:cNvPr id="49" name="Text 47"/>
          <p:cNvSpPr txBox="1"/>
          <p:nvPr/>
        </p:nvSpPr>
        <p:spPr>
          <a:xfrm>
            <a:off x="7516368" y="3361334"/>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O</a:t>
            </a:r>
            <a:endParaRPr lang="en-US" sz="700" dirty="0"/>
          </a:p>
        </p:txBody>
      </p:sp>
      <p:sp>
        <p:nvSpPr>
          <p:cNvPr id="50" name="Heat F"/>
          <p:cNvSpPr/>
          <p:nvPr/>
        </p:nvSpPr>
        <p:spPr>
          <a:xfrm>
            <a:off x="7757770" y="3361334"/>
            <a:ext cx="219456" cy="230429"/>
          </a:xfrm>
          <a:prstGeom prst="roundRect">
            <a:avLst>
              <a:gd name="adj" fmla="val 12000"/>
            </a:avLst>
          </a:prstGeom>
          <a:solidFill>
            <a:schemeClr val="accent1">
              <a:alpha val="20000"/>
            </a:schemeClr>
          </a:solidFill>
          <a:ln w="9525">
            <a:solidFill>
              <a:schemeClr val="accent1">
                <a:alpha val="60000"/>
              </a:schemeClr>
            </a:solidFill>
            <a:prstDash val="solid"/>
          </a:ln>
        </p:spPr>
      </p:sp>
      <p:sp>
        <p:nvSpPr>
          <p:cNvPr id="51" name="Text 49"/>
          <p:cNvSpPr txBox="1"/>
          <p:nvPr/>
        </p:nvSpPr>
        <p:spPr>
          <a:xfrm>
            <a:off x="7757770" y="3361334"/>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F</a:t>
            </a:r>
            <a:endParaRPr lang="en-US" sz="700" dirty="0"/>
          </a:p>
        </p:txBody>
      </p:sp>
      <p:sp>
        <p:nvSpPr>
          <p:cNvPr id="52" name="Heat Ne"/>
          <p:cNvSpPr/>
          <p:nvPr/>
        </p:nvSpPr>
        <p:spPr>
          <a:xfrm>
            <a:off x="7999171" y="3361334"/>
            <a:ext cx="219456" cy="230429"/>
          </a:xfrm>
          <a:prstGeom prst="roundRect">
            <a:avLst>
              <a:gd name="adj" fmla="val 12000"/>
            </a:avLst>
          </a:prstGeom>
          <a:solidFill>
            <a:schemeClr val="accent1">
              <a:alpha val="19000"/>
            </a:schemeClr>
          </a:solidFill>
          <a:ln w="9525">
            <a:solidFill>
              <a:schemeClr val="accent1">
                <a:alpha val="60000"/>
              </a:schemeClr>
            </a:solidFill>
            <a:prstDash val="solid"/>
          </a:ln>
        </p:spPr>
      </p:sp>
      <p:sp>
        <p:nvSpPr>
          <p:cNvPr id="53" name="Text 51"/>
          <p:cNvSpPr txBox="1"/>
          <p:nvPr/>
        </p:nvSpPr>
        <p:spPr>
          <a:xfrm>
            <a:off x="7999171" y="3361334"/>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Ne</a:t>
            </a:r>
            <a:endParaRPr lang="en-US" sz="700" dirty="0"/>
          </a:p>
        </p:txBody>
      </p:sp>
      <p:sp>
        <p:nvSpPr>
          <p:cNvPr id="54" name="Heat Na"/>
          <p:cNvSpPr/>
          <p:nvPr/>
        </p:nvSpPr>
        <p:spPr>
          <a:xfrm>
            <a:off x="6309360" y="3613709"/>
            <a:ext cx="219456" cy="230429"/>
          </a:xfrm>
          <a:prstGeom prst="roundRect">
            <a:avLst>
              <a:gd name="adj" fmla="val 12000"/>
            </a:avLst>
          </a:prstGeom>
          <a:solidFill>
            <a:schemeClr val="accent1">
              <a:alpha val="64000"/>
            </a:schemeClr>
          </a:solidFill>
          <a:ln w="9525">
            <a:solidFill>
              <a:schemeClr val="accent1">
                <a:alpha val="60000"/>
              </a:schemeClr>
            </a:solidFill>
            <a:prstDash val="solid"/>
          </a:ln>
        </p:spPr>
      </p:sp>
      <p:sp>
        <p:nvSpPr>
          <p:cNvPr id="55" name="Text 53"/>
          <p:cNvSpPr txBox="1"/>
          <p:nvPr/>
        </p:nvSpPr>
        <p:spPr>
          <a:xfrm>
            <a:off x="6309360" y="3613709"/>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Na</a:t>
            </a:r>
            <a:endParaRPr lang="en-US" sz="700" dirty="0"/>
          </a:p>
        </p:txBody>
      </p:sp>
      <p:sp>
        <p:nvSpPr>
          <p:cNvPr id="56" name="Heat Mg"/>
          <p:cNvSpPr/>
          <p:nvPr/>
        </p:nvSpPr>
        <p:spPr>
          <a:xfrm>
            <a:off x="6550762" y="3613709"/>
            <a:ext cx="219456" cy="230429"/>
          </a:xfrm>
          <a:prstGeom prst="roundRect">
            <a:avLst>
              <a:gd name="adj" fmla="val 12000"/>
            </a:avLst>
          </a:prstGeom>
          <a:solidFill>
            <a:schemeClr val="accent1">
              <a:alpha val="51000"/>
            </a:schemeClr>
          </a:solidFill>
          <a:ln w="9525">
            <a:solidFill>
              <a:schemeClr val="accent1">
                <a:alpha val="60000"/>
              </a:schemeClr>
            </a:solidFill>
            <a:prstDash val="solid"/>
          </a:ln>
        </p:spPr>
      </p:sp>
      <p:sp>
        <p:nvSpPr>
          <p:cNvPr id="57" name="Text 55"/>
          <p:cNvSpPr txBox="1"/>
          <p:nvPr/>
        </p:nvSpPr>
        <p:spPr>
          <a:xfrm>
            <a:off x="6550762" y="3613709"/>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Mg</a:t>
            </a:r>
            <a:endParaRPr lang="en-US" sz="700" dirty="0"/>
          </a:p>
        </p:txBody>
      </p:sp>
      <p:sp>
        <p:nvSpPr>
          <p:cNvPr id="58" name="Heat Al"/>
          <p:cNvSpPr/>
          <p:nvPr/>
        </p:nvSpPr>
        <p:spPr>
          <a:xfrm>
            <a:off x="6792163" y="3613709"/>
            <a:ext cx="219456" cy="230429"/>
          </a:xfrm>
          <a:prstGeom prst="roundRect">
            <a:avLst>
              <a:gd name="adj" fmla="val 12000"/>
            </a:avLst>
          </a:prstGeom>
          <a:solidFill>
            <a:schemeClr val="accent1">
              <a:alpha val="43000"/>
            </a:schemeClr>
          </a:solidFill>
          <a:ln w="9525">
            <a:solidFill>
              <a:schemeClr val="accent1">
                <a:alpha val="60000"/>
              </a:schemeClr>
            </a:solidFill>
            <a:prstDash val="solid"/>
          </a:ln>
        </p:spPr>
      </p:sp>
      <p:sp>
        <p:nvSpPr>
          <p:cNvPr id="59" name="Text 57"/>
          <p:cNvSpPr txBox="1"/>
          <p:nvPr/>
        </p:nvSpPr>
        <p:spPr>
          <a:xfrm>
            <a:off x="6792163" y="3613709"/>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Al</a:t>
            </a:r>
            <a:endParaRPr lang="en-US" sz="700" dirty="0"/>
          </a:p>
        </p:txBody>
      </p:sp>
      <p:sp>
        <p:nvSpPr>
          <p:cNvPr id="60" name="Heat Si"/>
          <p:cNvSpPr/>
          <p:nvPr/>
        </p:nvSpPr>
        <p:spPr>
          <a:xfrm>
            <a:off x="7033565" y="3613709"/>
            <a:ext cx="219456" cy="230429"/>
          </a:xfrm>
          <a:prstGeom prst="roundRect">
            <a:avLst>
              <a:gd name="adj" fmla="val 12000"/>
            </a:avLst>
          </a:prstGeom>
          <a:solidFill>
            <a:schemeClr val="accent1">
              <a:alpha val="41000"/>
            </a:schemeClr>
          </a:solidFill>
          <a:ln w="9525">
            <a:solidFill>
              <a:schemeClr val="accent1">
                <a:alpha val="60000"/>
              </a:schemeClr>
            </a:solidFill>
            <a:prstDash val="solid"/>
          </a:ln>
        </p:spPr>
      </p:sp>
      <p:sp>
        <p:nvSpPr>
          <p:cNvPr id="61" name="Text 59"/>
          <p:cNvSpPr txBox="1"/>
          <p:nvPr/>
        </p:nvSpPr>
        <p:spPr>
          <a:xfrm>
            <a:off x="7033565" y="3613709"/>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Si</a:t>
            </a:r>
            <a:endParaRPr lang="en-US" sz="700" dirty="0"/>
          </a:p>
        </p:txBody>
      </p:sp>
      <p:sp>
        <p:nvSpPr>
          <p:cNvPr id="62" name="Heat P"/>
          <p:cNvSpPr/>
          <p:nvPr/>
        </p:nvSpPr>
        <p:spPr>
          <a:xfrm>
            <a:off x="7274966" y="3613709"/>
            <a:ext cx="219456" cy="230429"/>
          </a:xfrm>
          <a:prstGeom prst="roundRect">
            <a:avLst>
              <a:gd name="adj" fmla="val 12000"/>
            </a:avLst>
          </a:prstGeom>
          <a:solidFill>
            <a:schemeClr val="accent1">
              <a:alpha val="37000"/>
            </a:schemeClr>
          </a:solidFill>
          <a:ln w="9525">
            <a:solidFill>
              <a:schemeClr val="accent1">
                <a:alpha val="60000"/>
              </a:schemeClr>
            </a:solidFill>
            <a:prstDash val="solid"/>
          </a:ln>
        </p:spPr>
      </p:sp>
      <p:sp>
        <p:nvSpPr>
          <p:cNvPr id="63" name="Text 61"/>
          <p:cNvSpPr txBox="1"/>
          <p:nvPr/>
        </p:nvSpPr>
        <p:spPr>
          <a:xfrm>
            <a:off x="7274966" y="3613709"/>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P</a:t>
            </a:r>
            <a:endParaRPr lang="en-US" sz="700" dirty="0"/>
          </a:p>
        </p:txBody>
      </p:sp>
      <p:sp>
        <p:nvSpPr>
          <p:cNvPr id="64" name="Heat S"/>
          <p:cNvSpPr/>
          <p:nvPr/>
        </p:nvSpPr>
        <p:spPr>
          <a:xfrm>
            <a:off x="7516368" y="3613709"/>
            <a:ext cx="219456" cy="230429"/>
          </a:xfrm>
          <a:prstGeom prst="roundRect">
            <a:avLst>
              <a:gd name="adj" fmla="val 12000"/>
            </a:avLst>
          </a:prstGeom>
          <a:solidFill>
            <a:schemeClr val="accent1">
              <a:alpha val="34000"/>
            </a:schemeClr>
          </a:solidFill>
          <a:ln w="9525">
            <a:solidFill>
              <a:schemeClr val="accent1">
                <a:alpha val="60000"/>
              </a:schemeClr>
            </a:solidFill>
            <a:prstDash val="solid"/>
          </a:ln>
        </p:spPr>
      </p:sp>
      <p:sp>
        <p:nvSpPr>
          <p:cNvPr id="65" name="Text 63"/>
          <p:cNvSpPr txBox="1"/>
          <p:nvPr/>
        </p:nvSpPr>
        <p:spPr>
          <a:xfrm>
            <a:off x="7516368" y="3613709"/>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S</a:t>
            </a:r>
            <a:endParaRPr lang="en-US" sz="700" dirty="0"/>
          </a:p>
        </p:txBody>
      </p:sp>
      <p:sp>
        <p:nvSpPr>
          <p:cNvPr id="66" name="Heat Cl"/>
          <p:cNvSpPr/>
          <p:nvPr/>
        </p:nvSpPr>
        <p:spPr>
          <a:xfrm>
            <a:off x="7757770" y="3613709"/>
            <a:ext cx="219456" cy="230429"/>
          </a:xfrm>
          <a:prstGeom prst="roundRect">
            <a:avLst>
              <a:gd name="adj" fmla="val 12000"/>
            </a:avLst>
          </a:prstGeom>
          <a:solidFill>
            <a:schemeClr val="accent1">
              <a:alpha val="31000"/>
            </a:schemeClr>
          </a:solidFill>
          <a:ln w="9525">
            <a:solidFill>
              <a:schemeClr val="accent1">
                <a:alpha val="60000"/>
              </a:schemeClr>
            </a:solidFill>
            <a:prstDash val="solid"/>
          </a:ln>
        </p:spPr>
      </p:sp>
      <p:sp>
        <p:nvSpPr>
          <p:cNvPr id="67" name="Text 65"/>
          <p:cNvSpPr txBox="1"/>
          <p:nvPr/>
        </p:nvSpPr>
        <p:spPr>
          <a:xfrm>
            <a:off x="7757770" y="3613709"/>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Cl</a:t>
            </a:r>
            <a:endParaRPr lang="en-US" sz="700" dirty="0"/>
          </a:p>
        </p:txBody>
      </p:sp>
      <p:sp>
        <p:nvSpPr>
          <p:cNvPr id="68" name="Heat Ar"/>
          <p:cNvSpPr/>
          <p:nvPr/>
        </p:nvSpPr>
        <p:spPr>
          <a:xfrm>
            <a:off x="7999171" y="3613709"/>
            <a:ext cx="219456" cy="230429"/>
          </a:xfrm>
          <a:prstGeom prst="roundRect">
            <a:avLst>
              <a:gd name="adj" fmla="val 12000"/>
            </a:avLst>
          </a:prstGeom>
          <a:solidFill>
            <a:schemeClr val="accent1">
              <a:alpha val="29000"/>
            </a:schemeClr>
          </a:solidFill>
          <a:ln w="9525">
            <a:solidFill>
              <a:schemeClr val="accent1">
                <a:alpha val="60000"/>
              </a:schemeClr>
            </a:solidFill>
            <a:prstDash val="solid"/>
          </a:ln>
        </p:spPr>
      </p:sp>
      <p:sp>
        <p:nvSpPr>
          <p:cNvPr id="69" name="Text 67"/>
          <p:cNvSpPr txBox="1"/>
          <p:nvPr/>
        </p:nvSpPr>
        <p:spPr>
          <a:xfrm>
            <a:off x="7999171" y="3613709"/>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Ar</a:t>
            </a:r>
            <a:endParaRPr lang="en-US" sz="700" dirty="0"/>
          </a:p>
        </p:txBody>
      </p:sp>
      <p:sp>
        <p:nvSpPr>
          <p:cNvPr id="70" name="Heat K"/>
          <p:cNvSpPr/>
          <p:nvPr/>
        </p:nvSpPr>
        <p:spPr>
          <a:xfrm>
            <a:off x="6309360" y="3866083"/>
            <a:ext cx="219456" cy="230429"/>
          </a:xfrm>
          <a:prstGeom prst="roundRect">
            <a:avLst>
              <a:gd name="adj" fmla="val 12000"/>
            </a:avLst>
          </a:prstGeom>
          <a:solidFill>
            <a:schemeClr val="accent1">
              <a:alpha val="80000"/>
            </a:schemeClr>
          </a:solidFill>
          <a:ln w="9525">
            <a:solidFill>
              <a:schemeClr val="accent1">
                <a:alpha val="60000"/>
              </a:schemeClr>
            </a:solidFill>
            <a:prstDash val="solid"/>
          </a:ln>
        </p:spPr>
      </p:sp>
      <p:sp>
        <p:nvSpPr>
          <p:cNvPr id="71" name="Text 69"/>
          <p:cNvSpPr txBox="1"/>
          <p:nvPr/>
        </p:nvSpPr>
        <p:spPr>
          <a:xfrm>
            <a:off x="6309360" y="3866083"/>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K</a:t>
            </a:r>
            <a:endParaRPr lang="en-US" sz="700" dirty="0"/>
          </a:p>
        </p:txBody>
      </p:sp>
      <p:sp>
        <p:nvSpPr>
          <p:cNvPr id="72" name="Heat Ca"/>
          <p:cNvSpPr/>
          <p:nvPr/>
        </p:nvSpPr>
        <p:spPr>
          <a:xfrm>
            <a:off x="6550762" y="3866083"/>
            <a:ext cx="219456" cy="230429"/>
          </a:xfrm>
          <a:prstGeom prst="roundRect">
            <a:avLst>
              <a:gd name="adj" fmla="val 12000"/>
            </a:avLst>
          </a:prstGeom>
          <a:solidFill>
            <a:schemeClr val="accent1">
              <a:alpha val="65000"/>
            </a:schemeClr>
          </a:solidFill>
          <a:ln w="9525">
            <a:solidFill>
              <a:schemeClr val="accent1">
                <a:alpha val="60000"/>
              </a:schemeClr>
            </a:solidFill>
            <a:prstDash val="solid"/>
          </a:ln>
        </p:spPr>
      </p:sp>
      <p:sp>
        <p:nvSpPr>
          <p:cNvPr id="73" name="Text 71"/>
          <p:cNvSpPr txBox="1"/>
          <p:nvPr/>
        </p:nvSpPr>
        <p:spPr>
          <a:xfrm>
            <a:off x="6550762" y="3866083"/>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Ca</a:t>
            </a:r>
            <a:endParaRPr lang="en-US" sz="700" dirty="0"/>
          </a:p>
        </p:txBody>
      </p:sp>
      <p:sp>
        <p:nvSpPr>
          <p:cNvPr id="74" name="Heat Ga"/>
          <p:cNvSpPr/>
          <p:nvPr/>
        </p:nvSpPr>
        <p:spPr>
          <a:xfrm>
            <a:off x="6792163" y="3866083"/>
            <a:ext cx="219456" cy="230429"/>
          </a:xfrm>
          <a:prstGeom prst="roundRect">
            <a:avLst>
              <a:gd name="adj" fmla="val 12000"/>
            </a:avLst>
          </a:prstGeom>
          <a:solidFill>
            <a:schemeClr val="accent1">
              <a:alpha val="48000"/>
            </a:schemeClr>
          </a:solidFill>
          <a:ln w="9525">
            <a:solidFill>
              <a:schemeClr val="accent1">
                <a:alpha val="60000"/>
              </a:schemeClr>
            </a:solidFill>
            <a:prstDash val="solid"/>
          </a:ln>
        </p:spPr>
      </p:sp>
      <p:sp>
        <p:nvSpPr>
          <p:cNvPr id="75" name="Text 73"/>
          <p:cNvSpPr txBox="1"/>
          <p:nvPr/>
        </p:nvSpPr>
        <p:spPr>
          <a:xfrm>
            <a:off x="6792163" y="3866083"/>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Ga</a:t>
            </a:r>
            <a:endParaRPr lang="en-US" sz="700" dirty="0"/>
          </a:p>
        </p:txBody>
      </p:sp>
      <p:sp>
        <p:nvSpPr>
          <p:cNvPr id="76" name="Heat Ge"/>
          <p:cNvSpPr/>
          <p:nvPr/>
        </p:nvSpPr>
        <p:spPr>
          <a:xfrm>
            <a:off x="7033565" y="3866083"/>
            <a:ext cx="219456" cy="230429"/>
          </a:xfrm>
          <a:prstGeom prst="roundRect">
            <a:avLst>
              <a:gd name="adj" fmla="val 12000"/>
            </a:avLst>
          </a:prstGeom>
          <a:solidFill>
            <a:schemeClr val="accent1">
              <a:alpha val="45000"/>
            </a:schemeClr>
          </a:solidFill>
          <a:ln w="9525">
            <a:solidFill>
              <a:schemeClr val="accent1">
                <a:alpha val="60000"/>
              </a:schemeClr>
            </a:solidFill>
            <a:prstDash val="solid"/>
          </a:ln>
        </p:spPr>
      </p:sp>
      <p:sp>
        <p:nvSpPr>
          <p:cNvPr id="77" name="Text 75"/>
          <p:cNvSpPr txBox="1"/>
          <p:nvPr/>
        </p:nvSpPr>
        <p:spPr>
          <a:xfrm>
            <a:off x="7033565" y="3866083"/>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Ge</a:t>
            </a:r>
            <a:endParaRPr lang="en-US" sz="700" dirty="0"/>
          </a:p>
        </p:txBody>
      </p:sp>
      <p:sp>
        <p:nvSpPr>
          <p:cNvPr id="78" name="Heat As"/>
          <p:cNvSpPr/>
          <p:nvPr/>
        </p:nvSpPr>
        <p:spPr>
          <a:xfrm>
            <a:off x="7274966" y="3866083"/>
            <a:ext cx="219456" cy="230429"/>
          </a:xfrm>
          <a:prstGeom prst="roundRect">
            <a:avLst>
              <a:gd name="adj" fmla="val 12000"/>
            </a:avLst>
          </a:prstGeom>
          <a:solidFill>
            <a:schemeClr val="accent1">
              <a:alpha val="42000"/>
            </a:schemeClr>
          </a:solidFill>
          <a:ln w="9525">
            <a:solidFill>
              <a:schemeClr val="accent1">
                <a:alpha val="60000"/>
              </a:schemeClr>
            </a:solidFill>
            <a:prstDash val="solid"/>
          </a:ln>
        </p:spPr>
      </p:sp>
      <p:sp>
        <p:nvSpPr>
          <p:cNvPr id="79" name="Text 77"/>
          <p:cNvSpPr txBox="1"/>
          <p:nvPr/>
        </p:nvSpPr>
        <p:spPr>
          <a:xfrm>
            <a:off x="7274966" y="3866083"/>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As</a:t>
            </a:r>
            <a:endParaRPr lang="en-US" sz="700" dirty="0"/>
          </a:p>
        </p:txBody>
      </p:sp>
      <p:sp>
        <p:nvSpPr>
          <p:cNvPr id="80" name="Heat Se"/>
          <p:cNvSpPr/>
          <p:nvPr/>
        </p:nvSpPr>
        <p:spPr>
          <a:xfrm>
            <a:off x="7516368" y="3866083"/>
            <a:ext cx="219456" cy="230429"/>
          </a:xfrm>
          <a:prstGeom prst="roundRect">
            <a:avLst>
              <a:gd name="adj" fmla="val 12000"/>
            </a:avLst>
          </a:prstGeom>
          <a:solidFill>
            <a:schemeClr val="accent1">
              <a:alpha val="39000"/>
            </a:schemeClr>
          </a:solidFill>
          <a:ln w="9525">
            <a:solidFill>
              <a:schemeClr val="accent1">
                <a:alpha val="60000"/>
              </a:schemeClr>
            </a:solidFill>
            <a:prstDash val="solid"/>
          </a:ln>
        </p:spPr>
      </p:sp>
      <p:sp>
        <p:nvSpPr>
          <p:cNvPr id="81" name="Text 79"/>
          <p:cNvSpPr txBox="1"/>
          <p:nvPr/>
        </p:nvSpPr>
        <p:spPr>
          <a:xfrm>
            <a:off x="7516368" y="3866083"/>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Se</a:t>
            </a:r>
            <a:endParaRPr lang="en-US" sz="700" dirty="0"/>
          </a:p>
        </p:txBody>
      </p:sp>
      <p:sp>
        <p:nvSpPr>
          <p:cNvPr id="82" name="Heat Br"/>
          <p:cNvSpPr/>
          <p:nvPr/>
        </p:nvSpPr>
        <p:spPr>
          <a:xfrm>
            <a:off x="7757770" y="3866083"/>
            <a:ext cx="219456" cy="230429"/>
          </a:xfrm>
          <a:prstGeom prst="roundRect">
            <a:avLst>
              <a:gd name="adj" fmla="val 12000"/>
            </a:avLst>
          </a:prstGeom>
          <a:solidFill>
            <a:schemeClr val="accent1">
              <a:alpha val="36000"/>
            </a:schemeClr>
          </a:solidFill>
          <a:ln w="9525">
            <a:solidFill>
              <a:schemeClr val="accent1">
                <a:alpha val="60000"/>
              </a:schemeClr>
            </a:solidFill>
            <a:prstDash val="solid"/>
          </a:ln>
        </p:spPr>
      </p:sp>
      <p:sp>
        <p:nvSpPr>
          <p:cNvPr id="83" name="Text 81"/>
          <p:cNvSpPr txBox="1"/>
          <p:nvPr/>
        </p:nvSpPr>
        <p:spPr>
          <a:xfrm>
            <a:off x="7757770" y="3866083"/>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Br</a:t>
            </a:r>
            <a:endParaRPr lang="en-US" sz="700" dirty="0"/>
          </a:p>
        </p:txBody>
      </p:sp>
      <p:sp>
        <p:nvSpPr>
          <p:cNvPr id="84" name="Heat Kr"/>
          <p:cNvSpPr/>
          <p:nvPr/>
        </p:nvSpPr>
        <p:spPr>
          <a:xfrm>
            <a:off x="7999171" y="3866083"/>
            <a:ext cx="219456" cy="230429"/>
          </a:xfrm>
          <a:prstGeom prst="roundRect">
            <a:avLst>
              <a:gd name="adj" fmla="val 12000"/>
            </a:avLst>
          </a:prstGeom>
          <a:solidFill>
            <a:schemeClr val="accent1">
              <a:alpha val="34000"/>
            </a:schemeClr>
          </a:solidFill>
          <a:ln w="9525">
            <a:solidFill>
              <a:schemeClr val="accent1">
                <a:alpha val="60000"/>
              </a:schemeClr>
            </a:solidFill>
            <a:prstDash val="solid"/>
          </a:ln>
        </p:spPr>
      </p:sp>
      <p:sp>
        <p:nvSpPr>
          <p:cNvPr id="85" name="Text 83"/>
          <p:cNvSpPr txBox="1"/>
          <p:nvPr/>
        </p:nvSpPr>
        <p:spPr>
          <a:xfrm>
            <a:off x="7999171" y="3866083"/>
            <a:ext cx="219456" cy="230429"/>
          </a:xfrm>
          <a:prstGeom prst="rect">
            <a:avLst/>
          </a:prstGeom>
          <a:noFill/>
          <a:ln/>
        </p:spPr>
        <p:txBody>
          <a:bodyPr wrap="square" lIns="0" tIns="0" rIns="0" bIns="0" rtlCol="0" anchor="ctr"/>
          <a:lstStyle/>
          <a:p>
            <a:pPr algn="ctr" indent="0" marL="0">
              <a:buNone/>
            </a:pPr>
            <a:r>
              <a:rPr lang="en-US" sz="700" b="1" dirty="0">
                <a:solidFill>
                  <a:schemeClr val="bg1"/>
                </a:solidFill>
              </a:rPr>
              <a:t>Kr</a:t>
            </a:r>
            <a:endParaRPr lang="en-US" sz="700" dirty="0"/>
          </a:p>
        </p:txBody>
      </p:sp>
      <p:sp>
        <p:nvSpPr>
          <p:cNvPr id="86" name="Text 84"/>
          <p:cNvSpPr txBox="1"/>
          <p:nvPr/>
        </p:nvSpPr>
        <p:spPr>
          <a:xfrm>
            <a:off x="457200" y="3794760"/>
            <a:ext cx="5669280" cy="548640"/>
          </a:xfrm>
          <a:prstGeom prst="rect">
            <a:avLst/>
          </a:prstGeom>
          <a:noFill/>
          <a:ln/>
        </p:spPr>
        <p:txBody>
          <a:bodyPr wrap="square" lIns="0" tIns="0" rIns="0" bIns="0" rtlCol="0" anchor="t"/>
          <a:lstStyle/>
          <a:p>
            <a:pPr indent="0" marL="0">
              <a:buNone/>
            </a:pPr>
            <a:r>
              <a:rPr lang="en-US" sz="1300" b="1" dirty="0">
                <a:solidFill>
                  <a:schemeClr val="accent2"/>
                </a:solidFill>
              </a:rPr>
              <a:t>Radius grows to the bottom left. Ionization energy and electronegativity grow to the top right.</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Cl"/>
          <p:cNvSpPr/>
          <p:nvPr/>
        </p:nvSpPr>
        <p:spPr>
          <a:xfrm>
            <a:off x="696997" y="637744"/>
            <a:ext cx="270214" cy="270214"/>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Cl</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Predict and explain</a:t>
            </a:r>
            <a:endParaRPr lang="en-US" sz="2800" dirty="0"/>
          </a:p>
        </p:txBody>
      </p:sp>
      <p:sp>
        <p:nvSpPr>
          <p:cNvPr id="9" name="Text 7"/>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Decide the larger atom first, flip it for the other two, then give the reason.</a:t>
            </a:r>
            <a:endParaRPr lang="en-US" sz="1300" dirty="0"/>
          </a:p>
        </p:txBody>
      </p:sp>
      <p:sp>
        <p:nvSpPr>
          <p:cNvPr id="10" name="Text 8"/>
          <p:cNvSpPr txBox="1"/>
          <p:nvPr/>
        </p:nvSpPr>
        <p:spPr>
          <a:xfrm>
            <a:off x="3977640" y="1591056"/>
            <a:ext cx="1554480" cy="256032"/>
          </a:xfrm>
          <a:prstGeom prst="rect">
            <a:avLst/>
          </a:prstGeom>
          <a:noFill/>
          <a:ln/>
        </p:spPr>
        <p:txBody>
          <a:bodyPr wrap="square" lIns="0" tIns="0" rIns="0" bIns="0" rtlCol="0" anchor="t"/>
          <a:lstStyle/>
          <a:p>
            <a:pPr algn="ctr" indent="0" marL="0">
              <a:buNone/>
            </a:pPr>
            <a:r>
              <a:rPr lang="en-US" sz="1100" b="1" dirty="0">
                <a:solidFill>
                  <a:schemeClr val="accent1"/>
                </a:solidFill>
              </a:rPr>
              <a:t>Larger radius</a:t>
            </a:r>
            <a:endParaRPr lang="en-US" sz="1100" dirty="0"/>
          </a:p>
        </p:txBody>
      </p:sp>
      <p:sp>
        <p:nvSpPr>
          <p:cNvPr id="11" name="Text 9"/>
          <p:cNvSpPr txBox="1"/>
          <p:nvPr/>
        </p:nvSpPr>
        <p:spPr>
          <a:xfrm>
            <a:off x="5440680" y="1591056"/>
            <a:ext cx="1554480" cy="256032"/>
          </a:xfrm>
          <a:prstGeom prst="rect">
            <a:avLst/>
          </a:prstGeom>
          <a:noFill/>
          <a:ln/>
        </p:spPr>
        <p:txBody>
          <a:bodyPr wrap="square" lIns="0" tIns="0" rIns="0" bIns="0" rtlCol="0" anchor="t"/>
          <a:lstStyle/>
          <a:p>
            <a:pPr algn="ctr" indent="0" marL="0">
              <a:buNone/>
            </a:pPr>
            <a:r>
              <a:rPr lang="en-US" sz="1100" b="1" dirty="0">
                <a:solidFill>
                  <a:schemeClr val="accent2"/>
                </a:solidFill>
              </a:rPr>
              <a:t>Higher ionization E</a:t>
            </a:r>
            <a:endParaRPr lang="en-US" sz="1100" dirty="0"/>
          </a:p>
        </p:txBody>
      </p:sp>
      <p:sp>
        <p:nvSpPr>
          <p:cNvPr id="12" name="Text 10"/>
          <p:cNvSpPr txBox="1"/>
          <p:nvPr/>
        </p:nvSpPr>
        <p:spPr>
          <a:xfrm>
            <a:off x="6903720" y="1591056"/>
            <a:ext cx="1554480" cy="256032"/>
          </a:xfrm>
          <a:prstGeom prst="rect">
            <a:avLst/>
          </a:prstGeom>
          <a:noFill/>
          <a:ln/>
        </p:spPr>
        <p:txBody>
          <a:bodyPr wrap="square" lIns="0" tIns="0" rIns="0" bIns="0" rtlCol="0" anchor="t"/>
          <a:lstStyle/>
          <a:p>
            <a:pPr algn="ctr" indent="0" marL="0">
              <a:buNone/>
            </a:pPr>
            <a:r>
              <a:rPr lang="en-US" sz="1100" b="1" dirty="0">
                <a:solidFill>
                  <a:schemeClr val="accent6"/>
                </a:solidFill>
              </a:rPr>
              <a:t>Higher electroneg.</a:t>
            </a:r>
            <a:endParaRPr lang="en-US" sz="1100" dirty="0"/>
          </a:p>
        </p:txBody>
      </p:sp>
      <p:sp>
        <p:nvSpPr>
          <p:cNvPr id="13" name="Pair 1"/>
          <p:cNvSpPr/>
          <p:nvPr/>
        </p:nvSpPr>
        <p:spPr>
          <a:xfrm>
            <a:off x="457200" y="1874520"/>
            <a:ext cx="8229600" cy="475488"/>
          </a:xfrm>
          <a:prstGeom prst="roundRect">
            <a:avLst>
              <a:gd name="adj" fmla="val 19231"/>
            </a:avLst>
          </a:prstGeom>
          <a:solidFill>
            <a:schemeClr val="tx2"/>
          </a:solidFill>
          <a:ln w="9525">
            <a:solidFill>
              <a:schemeClr val="bg2">
                <a:alpha val="30000"/>
              </a:schemeClr>
            </a:solidFill>
            <a:prstDash val="solid"/>
          </a:ln>
        </p:spPr>
      </p:sp>
      <p:sp>
        <p:nvSpPr>
          <p:cNvPr id="14" name="Text 12"/>
          <p:cNvSpPr txBox="1"/>
          <p:nvPr/>
        </p:nvSpPr>
        <p:spPr>
          <a:xfrm>
            <a:off x="566928" y="1874520"/>
            <a:ext cx="274320" cy="475488"/>
          </a:xfrm>
          <a:prstGeom prst="rect">
            <a:avLst/>
          </a:prstGeom>
          <a:noFill/>
          <a:ln/>
        </p:spPr>
        <p:txBody>
          <a:bodyPr wrap="square" lIns="0" tIns="0" rIns="0" bIns="0" rtlCol="0" anchor="ctr"/>
          <a:lstStyle/>
          <a:p>
            <a:pPr indent="0" marL="0">
              <a:buNone/>
            </a:pPr>
            <a:r>
              <a:rPr lang="en-US" sz="1300" b="1" dirty="0">
                <a:solidFill>
                  <a:schemeClr val="accent2"/>
                </a:solidFill>
              </a:rPr>
              <a:t>1</a:t>
            </a:r>
            <a:endParaRPr lang="en-US" sz="1300" dirty="0"/>
          </a:p>
        </p:txBody>
      </p:sp>
      <p:sp>
        <p:nvSpPr>
          <p:cNvPr id="15" name="Tile Na"/>
          <p:cNvSpPr/>
          <p:nvPr/>
        </p:nvSpPr>
        <p:spPr>
          <a:xfrm>
            <a:off x="896112" y="1920240"/>
            <a:ext cx="384048" cy="384048"/>
          </a:xfrm>
          <a:prstGeom prst="roundRect">
            <a:avLst>
              <a:gd name="adj" fmla="val 12000"/>
            </a:avLst>
          </a:prstGeom>
          <a:solidFill>
            <a:srgbClr val="FF8F5E">
              <a:alpha val="30000"/>
            </a:srgbClr>
          </a:solidFill>
          <a:ln w="19050">
            <a:solidFill>
              <a:srgbClr val="FF8F5E"/>
            </a:solidFill>
            <a:prstDash val="solid"/>
          </a:ln>
        </p:spPr>
      </p:sp>
      <p:sp>
        <p:nvSpPr>
          <p:cNvPr id="16" name="Text 14"/>
          <p:cNvSpPr txBox="1"/>
          <p:nvPr/>
        </p:nvSpPr>
        <p:spPr>
          <a:xfrm>
            <a:off x="926836" y="1939442"/>
            <a:ext cx="230429" cy="92172"/>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17" name="Text 15"/>
          <p:cNvSpPr txBox="1"/>
          <p:nvPr/>
        </p:nvSpPr>
        <p:spPr>
          <a:xfrm>
            <a:off x="896112" y="198168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Na</a:t>
            </a:r>
            <a:endParaRPr lang="en-US" sz="1400" dirty="0"/>
          </a:p>
        </p:txBody>
      </p:sp>
      <p:sp>
        <p:nvSpPr>
          <p:cNvPr id="18" name="Tile Cl"/>
          <p:cNvSpPr/>
          <p:nvPr/>
        </p:nvSpPr>
        <p:spPr>
          <a:xfrm>
            <a:off x="1371600" y="1920240"/>
            <a:ext cx="384048" cy="384048"/>
          </a:xfrm>
          <a:prstGeom prst="roundRect">
            <a:avLst>
              <a:gd name="adj" fmla="val 12000"/>
            </a:avLst>
          </a:prstGeom>
          <a:solidFill>
            <a:srgbClr val="F477B8">
              <a:alpha val="30000"/>
            </a:srgbClr>
          </a:solidFill>
          <a:ln w="19050">
            <a:solidFill>
              <a:srgbClr val="F477B8"/>
            </a:solidFill>
            <a:prstDash val="solid"/>
          </a:ln>
        </p:spPr>
      </p:sp>
      <p:sp>
        <p:nvSpPr>
          <p:cNvPr id="19" name="Text 17"/>
          <p:cNvSpPr txBox="1"/>
          <p:nvPr/>
        </p:nvSpPr>
        <p:spPr>
          <a:xfrm>
            <a:off x="1402324" y="1939442"/>
            <a:ext cx="230429" cy="92172"/>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20" name="Text 18"/>
          <p:cNvSpPr txBox="1"/>
          <p:nvPr/>
        </p:nvSpPr>
        <p:spPr>
          <a:xfrm>
            <a:off x="1371600" y="198168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Cl</a:t>
            </a:r>
            <a:endParaRPr lang="en-US" sz="1400" dirty="0"/>
          </a:p>
        </p:txBody>
      </p:sp>
      <p:sp>
        <p:nvSpPr>
          <p:cNvPr id="21" name="Text 19"/>
          <p:cNvSpPr txBox="1"/>
          <p:nvPr/>
        </p:nvSpPr>
        <p:spPr>
          <a:xfrm>
            <a:off x="1874520" y="1874520"/>
            <a:ext cx="2011680" cy="475488"/>
          </a:xfrm>
          <a:prstGeom prst="rect">
            <a:avLst/>
          </a:prstGeom>
          <a:noFill/>
          <a:ln/>
        </p:spPr>
        <p:txBody>
          <a:bodyPr wrap="square" lIns="0" tIns="0" rIns="0" bIns="0" rtlCol="0" anchor="ctr"/>
          <a:lstStyle/>
          <a:p>
            <a:pPr indent="0" marL="0">
              <a:buNone/>
            </a:pPr>
            <a:r>
              <a:rPr lang="en-US" sz="1200" dirty="0">
                <a:solidFill>
                  <a:schemeClr val="bg2"/>
                </a:solidFill>
              </a:rPr>
              <a:t>Sodium and Chlorine</a:t>
            </a:r>
            <a:endParaRPr lang="en-US" sz="1200" dirty="0"/>
          </a:p>
        </p:txBody>
      </p:sp>
      <p:sp>
        <p:nvSpPr>
          <p:cNvPr id="22" name="Text 20"/>
          <p:cNvSpPr txBox="1"/>
          <p:nvPr/>
        </p:nvSpPr>
        <p:spPr>
          <a:xfrm>
            <a:off x="4206240" y="1929384"/>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23" name="Text 21"/>
          <p:cNvSpPr txBox="1"/>
          <p:nvPr/>
        </p:nvSpPr>
        <p:spPr>
          <a:xfrm>
            <a:off x="5669280" y="1929384"/>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24" name="Text 22"/>
          <p:cNvSpPr txBox="1"/>
          <p:nvPr/>
        </p:nvSpPr>
        <p:spPr>
          <a:xfrm>
            <a:off x="7132320" y="1929384"/>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25" name="Pair 2"/>
          <p:cNvSpPr/>
          <p:nvPr/>
        </p:nvSpPr>
        <p:spPr>
          <a:xfrm>
            <a:off x="457200" y="2395728"/>
            <a:ext cx="8229600" cy="475488"/>
          </a:xfrm>
          <a:prstGeom prst="roundRect">
            <a:avLst>
              <a:gd name="adj" fmla="val 19231"/>
            </a:avLst>
          </a:prstGeom>
          <a:solidFill>
            <a:schemeClr val="tx2"/>
          </a:solidFill>
          <a:ln w="9525">
            <a:solidFill>
              <a:schemeClr val="bg2">
                <a:alpha val="30000"/>
              </a:schemeClr>
            </a:solidFill>
            <a:prstDash val="solid"/>
          </a:ln>
        </p:spPr>
      </p:sp>
      <p:sp>
        <p:nvSpPr>
          <p:cNvPr id="26" name="Text 24"/>
          <p:cNvSpPr txBox="1"/>
          <p:nvPr/>
        </p:nvSpPr>
        <p:spPr>
          <a:xfrm>
            <a:off x="566928" y="2395728"/>
            <a:ext cx="274320" cy="475488"/>
          </a:xfrm>
          <a:prstGeom prst="rect">
            <a:avLst/>
          </a:prstGeom>
          <a:noFill/>
          <a:ln/>
        </p:spPr>
        <p:txBody>
          <a:bodyPr wrap="square" lIns="0" tIns="0" rIns="0" bIns="0" rtlCol="0" anchor="ctr"/>
          <a:lstStyle/>
          <a:p>
            <a:pPr indent="0" marL="0">
              <a:buNone/>
            </a:pPr>
            <a:r>
              <a:rPr lang="en-US" sz="1300" b="1" dirty="0">
                <a:solidFill>
                  <a:schemeClr val="accent2"/>
                </a:solidFill>
              </a:rPr>
              <a:t>2</a:t>
            </a:r>
            <a:endParaRPr lang="en-US" sz="1300" dirty="0"/>
          </a:p>
        </p:txBody>
      </p:sp>
      <p:sp>
        <p:nvSpPr>
          <p:cNvPr id="27" name="Tile Li"/>
          <p:cNvSpPr/>
          <p:nvPr/>
        </p:nvSpPr>
        <p:spPr>
          <a:xfrm>
            <a:off x="896112" y="2441448"/>
            <a:ext cx="384048" cy="384048"/>
          </a:xfrm>
          <a:prstGeom prst="roundRect">
            <a:avLst>
              <a:gd name="adj" fmla="val 12000"/>
            </a:avLst>
          </a:prstGeom>
          <a:solidFill>
            <a:srgbClr val="FF8F5E">
              <a:alpha val="30000"/>
            </a:srgbClr>
          </a:solidFill>
          <a:ln w="19050">
            <a:solidFill>
              <a:srgbClr val="FF8F5E"/>
            </a:solidFill>
            <a:prstDash val="solid"/>
          </a:ln>
        </p:spPr>
      </p:sp>
      <p:sp>
        <p:nvSpPr>
          <p:cNvPr id="28" name="Text 26"/>
          <p:cNvSpPr txBox="1"/>
          <p:nvPr/>
        </p:nvSpPr>
        <p:spPr>
          <a:xfrm>
            <a:off x="926836" y="2460650"/>
            <a:ext cx="230429" cy="92172"/>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29" name="Text 27"/>
          <p:cNvSpPr txBox="1"/>
          <p:nvPr/>
        </p:nvSpPr>
        <p:spPr>
          <a:xfrm>
            <a:off x="896112" y="2502896"/>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Li</a:t>
            </a:r>
            <a:endParaRPr lang="en-US" sz="1400" dirty="0"/>
          </a:p>
        </p:txBody>
      </p:sp>
      <p:sp>
        <p:nvSpPr>
          <p:cNvPr id="30" name="Tile K"/>
          <p:cNvSpPr/>
          <p:nvPr/>
        </p:nvSpPr>
        <p:spPr>
          <a:xfrm>
            <a:off x="1371600" y="2441448"/>
            <a:ext cx="384048" cy="384048"/>
          </a:xfrm>
          <a:prstGeom prst="roundRect">
            <a:avLst>
              <a:gd name="adj" fmla="val 12000"/>
            </a:avLst>
          </a:prstGeom>
          <a:solidFill>
            <a:srgbClr val="FF8F5E">
              <a:alpha val="30000"/>
            </a:srgbClr>
          </a:solidFill>
          <a:ln w="19050">
            <a:solidFill>
              <a:srgbClr val="FF8F5E"/>
            </a:solidFill>
            <a:prstDash val="solid"/>
          </a:ln>
        </p:spPr>
      </p:sp>
      <p:sp>
        <p:nvSpPr>
          <p:cNvPr id="31" name="Text 29"/>
          <p:cNvSpPr txBox="1"/>
          <p:nvPr/>
        </p:nvSpPr>
        <p:spPr>
          <a:xfrm>
            <a:off x="1402324" y="2460650"/>
            <a:ext cx="230429" cy="92172"/>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32" name="Text 30"/>
          <p:cNvSpPr txBox="1"/>
          <p:nvPr/>
        </p:nvSpPr>
        <p:spPr>
          <a:xfrm>
            <a:off x="1371600" y="2502896"/>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K</a:t>
            </a:r>
            <a:endParaRPr lang="en-US" sz="1400" dirty="0"/>
          </a:p>
        </p:txBody>
      </p:sp>
      <p:sp>
        <p:nvSpPr>
          <p:cNvPr id="33" name="Text 31"/>
          <p:cNvSpPr txBox="1"/>
          <p:nvPr/>
        </p:nvSpPr>
        <p:spPr>
          <a:xfrm>
            <a:off x="1874520" y="2395728"/>
            <a:ext cx="2011680" cy="475488"/>
          </a:xfrm>
          <a:prstGeom prst="rect">
            <a:avLst/>
          </a:prstGeom>
          <a:noFill/>
          <a:ln/>
        </p:spPr>
        <p:txBody>
          <a:bodyPr wrap="square" lIns="0" tIns="0" rIns="0" bIns="0" rtlCol="0" anchor="ctr"/>
          <a:lstStyle/>
          <a:p>
            <a:pPr indent="0" marL="0">
              <a:buNone/>
            </a:pPr>
            <a:r>
              <a:rPr lang="en-US" sz="1200" dirty="0">
                <a:solidFill>
                  <a:schemeClr val="bg2"/>
                </a:solidFill>
              </a:rPr>
              <a:t>Lithium and Potassium</a:t>
            </a:r>
            <a:endParaRPr lang="en-US" sz="1200" dirty="0"/>
          </a:p>
        </p:txBody>
      </p:sp>
      <p:sp>
        <p:nvSpPr>
          <p:cNvPr id="34" name="Text 32"/>
          <p:cNvSpPr txBox="1"/>
          <p:nvPr/>
        </p:nvSpPr>
        <p:spPr>
          <a:xfrm>
            <a:off x="4206240" y="2450592"/>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35" name="Text 33"/>
          <p:cNvSpPr txBox="1"/>
          <p:nvPr/>
        </p:nvSpPr>
        <p:spPr>
          <a:xfrm>
            <a:off x="5669280" y="2450592"/>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36" name="Text 34"/>
          <p:cNvSpPr txBox="1"/>
          <p:nvPr/>
        </p:nvSpPr>
        <p:spPr>
          <a:xfrm>
            <a:off x="7132320" y="2450592"/>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37" name="Pair 3"/>
          <p:cNvSpPr/>
          <p:nvPr/>
        </p:nvSpPr>
        <p:spPr>
          <a:xfrm>
            <a:off x="457200" y="2916936"/>
            <a:ext cx="8229600" cy="475488"/>
          </a:xfrm>
          <a:prstGeom prst="roundRect">
            <a:avLst>
              <a:gd name="adj" fmla="val 19231"/>
            </a:avLst>
          </a:prstGeom>
          <a:solidFill>
            <a:schemeClr val="tx2"/>
          </a:solidFill>
          <a:ln w="9525">
            <a:solidFill>
              <a:schemeClr val="bg2">
                <a:alpha val="30000"/>
              </a:schemeClr>
            </a:solidFill>
            <a:prstDash val="solid"/>
          </a:ln>
        </p:spPr>
      </p:sp>
      <p:sp>
        <p:nvSpPr>
          <p:cNvPr id="38" name="Text 36"/>
          <p:cNvSpPr txBox="1"/>
          <p:nvPr/>
        </p:nvSpPr>
        <p:spPr>
          <a:xfrm>
            <a:off x="566928" y="2916936"/>
            <a:ext cx="274320" cy="475488"/>
          </a:xfrm>
          <a:prstGeom prst="rect">
            <a:avLst/>
          </a:prstGeom>
          <a:noFill/>
          <a:ln/>
        </p:spPr>
        <p:txBody>
          <a:bodyPr wrap="square" lIns="0" tIns="0" rIns="0" bIns="0" rtlCol="0" anchor="ctr"/>
          <a:lstStyle/>
          <a:p>
            <a:pPr indent="0" marL="0">
              <a:buNone/>
            </a:pPr>
            <a:r>
              <a:rPr lang="en-US" sz="1300" b="1" dirty="0">
                <a:solidFill>
                  <a:schemeClr val="accent2"/>
                </a:solidFill>
              </a:rPr>
              <a:t>3</a:t>
            </a:r>
            <a:endParaRPr lang="en-US" sz="1300" dirty="0"/>
          </a:p>
        </p:txBody>
      </p:sp>
      <p:sp>
        <p:nvSpPr>
          <p:cNvPr id="39" name="Tile O"/>
          <p:cNvSpPr/>
          <p:nvPr/>
        </p:nvSpPr>
        <p:spPr>
          <a:xfrm>
            <a:off x="896112" y="2962656"/>
            <a:ext cx="384048" cy="384048"/>
          </a:xfrm>
          <a:prstGeom prst="roundRect">
            <a:avLst>
              <a:gd name="adj" fmla="val 12000"/>
            </a:avLst>
          </a:prstGeom>
          <a:solidFill>
            <a:srgbClr val="45C08F">
              <a:alpha val="30000"/>
            </a:srgbClr>
          </a:solidFill>
          <a:ln w="19050">
            <a:solidFill>
              <a:srgbClr val="45C08F"/>
            </a:solidFill>
            <a:prstDash val="solid"/>
          </a:ln>
        </p:spPr>
      </p:sp>
      <p:sp>
        <p:nvSpPr>
          <p:cNvPr id="40" name="Text 38"/>
          <p:cNvSpPr txBox="1"/>
          <p:nvPr/>
        </p:nvSpPr>
        <p:spPr>
          <a:xfrm>
            <a:off x="926836" y="2981858"/>
            <a:ext cx="230429" cy="92172"/>
          </a:xfrm>
          <a:prstGeom prst="rect">
            <a:avLst/>
          </a:prstGeom>
          <a:noFill/>
          <a:ln/>
        </p:spPr>
        <p:txBody>
          <a:bodyPr wrap="square" lIns="0" tIns="0" rIns="0" bIns="0" rtlCol="0" anchor="t"/>
          <a:lstStyle/>
          <a:p>
            <a:pPr indent="0" marL="0">
              <a:buNone/>
            </a:pPr>
            <a:r>
              <a:rPr lang="en-US" sz="600" dirty="0">
                <a:solidFill>
                  <a:schemeClr val="bg2"/>
                </a:solidFill>
              </a:rPr>
              <a:t>8</a:t>
            </a:r>
            <a:endParaRPr lang="en-US" sz="600" dirty="0"/>
          </a:p>
        </p:txBody>
      </p:sp>
      <p:sp>
        <p:nvSpPr>
          <p:cNvPr id="41" name="Text 39"/>
          <p:cNvSpPr txBox="1"/>
          <p:nvPr/>
        </p:nvSpPr>
        <p:spPr>
          <a:xfrm>
            <a:off x="896112" y="3024104"/>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O</a:t>
            </a:r>
            <a:endParaRPr lang="en-US" sz="1400" dirty="0"/>
          </a:p>
        </p:txBody>
      </p:sp>
      <p:sp>
        <p:nvSpPr>
          <p:cNvPr id="42" name="Tile C"/>
          <p:cNvSpPr/>
          <p:nvPr/>
        </p:nvSpPr>
        <p:spPr>
          <a:xfrm>
            <a:off x="1371600" y="2962656"/>
            <a:ext cx="384048" cy="384048"/>
          </a:xfrm>
          <a:prstGeom prst="roundRect">
            <a:avLst>
              <a:gd name="adj" fmla="val 12000"/>
            </a:avLst>
          </a:prstGeom>
          <a:solidFill>
            <a:srgbClr val="45C08F">
              <a:alpha val="30000"/>
            </a:srgbClr>
          </a:solidFill>
          <a:ln w="19050">
            <a:solidFill>
              <a:srgbClr val="45C08F"/>
            </a:solidFill>
            <a:prstDash val="solid"/>
          </a:ln>
        </p:spPr>
      </p:sp>
      <p:sp>
        <p:nvSpPr>
          <p:cNvPr id="43" name="Text 41"/>
          <p:cNvSpPr txBox="1"/>
          <p:nvPr/>
        </p:nvSpPr>
        <p:spPr>
          <a:xfrm>
            <a:off x="1402324" y="2981858"/>
            <a:ext cx="230429" cy="92172"/>
          </a:xfrm>
          <a:prstGeom prst="rect">
            <a:avLst/>
          </a:prstGeom>
          <a:noFill/>
          <a:ln/>
        </p:spPr>
        <p:txBody>
          <a:bodyPr wrap="square" lIns="0" tIns="0" rIns="0" bIns="0" rtlCol="0" anchor="t"/>
          <a:lstStyle/>
          <a:p>
            <a:pPr indent="0" marL="0">
              <a:buNone/>
            </a:pPr>
            <a:r>
              <a:rPr lang="en-US" sz="600" dirty="0">
                <a:solidFill>
                  <a:schemeClr val="bg2"/>
                </a:solidFill>
              </a:rPr>
              <a:t>6</a:t>
            </a:r>
            <a:endParaRPr lang="en-US" sz="600" dirty="0"/>
          </a:p>
        </p:txBody>
      </p:sp>
      <p:sp>
        <p:nvSpPr>
          <p:cNvPr id="44" name="Text 42"/>
          <p:cNvSpPr txBox="1"/>
          <p:nvPr/>
        </p:nvSpPr>
        <p:spPr>
          <a:xfrm>
            <a:off x="1371600" y="3024104"/>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45" name="Text 43"/>
          <p:cNvSpPr txBox="1"/>
          <p:nvPr/>
        </p:nvSpPr>
        <p:spPr>
          <a:xfrm>
            <a:off x="1874520" y="2916936"/>
            <a:ext cx="2011680" cy="475488"/>
          </a:xfrm>
          <a:prstGeom prst="rect">
            <a:avLst/>
          </a:prstGeom>
          <a:noFill/>
          <a:ln/>
        </p:spPr>
        <p:txBody>
          <a:bodyPr wrap="square" lIns="0" tIns="0" rIns="0" bIns="0" rtlCol="0" anchor="ctr"/>
          <a:lstStyle/>
          <a:p>
            <a:pPr indent="0" marL="0">
              <a:buNone/>
            </a:pPr>
            <a:r>
              <a:rPr lang="en-US" sz="1200" dirty="0">
                <a:solidFill>
                  <a:schemeClr val="bg2"/>
                </a:solidFill>
              </a:rPr>
              <a:t>Oxygen and Carbon</a:t>
            </a:r>
            <a:endParaRPr lang="en-US" sz="1200" dirty="0"/>
          </a:p>
        </p:txBody>
      </p:sp>
      <p:sp>
        <p:nvSpPr>
          <p:cNvPr id="46" name="Text 44"/>
          <p:cNvSpPr txBox="1"/>
          <p:nvPr/>
        </p:nvSpPr>
        <p:spPr>
          <a:xfrm>
            <a:off x="4206240" y="2971800"/>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47" name="Text 45"/>
          <p:cNvSpPr txBox="1"/>
          <p:nvPr/>
        </p:nvSpPr>
        <p:spPr>
          <a:xfrm>
            <a:off x="5669280" y="2971800"/>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48" name="Text 46"/>
          <p:cNvSpPr txBox="1"/>
          <p:nvPr/>
        </p:nvSpPr>
        <p:spPr>
          <a:xfrm>
            <a:off x="7132320" y="2971800"/>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49" name="Pair 4"/>
          <p:cNvSpPr/>
          <p:nvPr/>
        </p:nvSpPr>
        <p:spPr>
          <a:xfrm>
            <a:off x="457200" y="3438144"/>
            <a:ext cx="8229600" cy="475488"/>
          </a:xfrm>
          <a:prstGeom prst="roundRect">
            <a:avLst>
              <a:gd name="adj" fmla="val 19231"/>
            </a:avLst>
          </a:prstGeom>
          <a:solidFill>
            <a:schemeClr val="tx2"/>
          </a:solidFill>
          <a:ln w="9525">
            <a:solidFill>
              <a:schemeClr val="bg2">
                <a:alpha val="30000"/>
              </a:schemeClr>
            </a:solidFill>
            <a:prstDash val="solid"/>
          </a:ln>
        </p:spPr>
      </p:sp>
      <p:sp>
        <p:nvSpPr>
          <p:cNvPr id="50" name="Text 48"/>
          <p:cNvSpPr txBox="1"/>
          <p:nvPr/>
        </p:nvSpPr>
        <p:spPr>
          <a:xfrm>
            <a:off x="566928" y="3438144"/>
            <a:ext cx="274320" cy="475488"/>
          </a:xfrm>
          <a:prstGeom prst="rect">
            <a:avLst/>
          </a:prstGeom>
          <a:noFill/>
          <a:ln/>
        </p:spPr>
        <p:txBody>
          <a:bodyPr wrap="square" lIns="0" tIns="0" rIns="0" bIns="0" rtlCol="0" anchor="ctr"/>
          <a:lstStyle/>
          <a:p>
            <a:pPr indent="0" marL="0">
              <a:buNone/>
            </a:pPr>
            <a:r>
              <a:rPr lang="en-US" sz="1300" b="1" dirty="0">
                <a:solidFill>
                  <a:schemeClr val="accent2"/>
                </a:solidFill>
              </a:rPr>
              <a:t>4</a:t>
            </a:r>
            <a:endParaRPr lang="en-US" sz="1300" dirty="0"/>
          </a:p>
        </p:txBody>
      </p:sp>
      <p:sp>
        <p:nvSpPr>
          <p:cNvPr id="51" name="Tile Mg"/>
          <p:cNvSpPr/>
          <p:nvPr/>
        </p:nvSpPr>
        <p:spPr>
          <a:xfrm>
            <a:off x="896112" y="3483864"/>
            <a:ext cx="384048" cy="384048"/>
          </a:xfrm>
          <a:prstGeom prst="roundRect">
            <a:avLst>
              <a:gd name="adj" fmla="val 12000"/>
            </a:avLst>
          </a:prstGeom>
          <a:solidFill>
            <a:srgbClr val="FFCB5C">
              <a:alpha val="30000"/>
            </a:srgbClr>
          </a:solidFill>
          <a:ln w="19050">
            <a:solidFill>
              <a:srgbClr val="FFCB5C"/>
            </a:solidFill>
            <a:prstDash val="solid"/>
          </a:ln>
        </p:spPr>
      </p:sp>
      <p:sp>
        <p:nvSpPr>
          <p:cNvPr id="52" name="Text 50"/>
          <p:cNvSpPr txBox="1"/>
          <p:nvPr/>
        </p:nvSpPr>
        <p:spPr>
          <a:xfrm>
            <a:off x="926836" y="3503066"/>
            <a:ext cx="230429" cy="92172"/>
          </a:xfrm>
          <a:prstGeom prst="rect">
            <a:avLst/>
          </a:prstGeom>
          <a:noFill/>
          <a:ln/>
        </p:spPr>
        <p:txBody>
          <a:bodyPr wrap="square" lIns="0" tIns="0" rIns="0" bIns="0" rtlCol="0" anchor="t"/>
          <a:lstStyle/>
          <a:p>
            <a:pPr indent="0" marL="0">
              <a:buNone/>
            </a:pPr>
            <a:r>
              <a:rPr lang="en-US" sz="600" dirty="0">
                <a:solidFill>
                  <a:schemeClr val="bg2"/>
                </a:solidFill>
              </a:rPr>
              <a:t>12</a:t>
            </a:r>
            <a:endParaRPr lang="en-US" sz="600" dirty="0"/>
          </a:p>
        </p:txBody>
      </p:sp>
      <p:sp>
        <p:nvSpPr>
          <p:cNvPr id="53" name="Text 51"/>
          <p:cNvSpPr txBox="1"/>
          <p:nvPr/>
        </p:nvSpPr>
        <p:spPr>
          <a:xfrm>
            <a:off x="896112" y="3545312"/>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Mg</a:t>
            </a:r>
            <a:endParaRPr lang="en-US" sz="1400" dirty="0"/>
          </a:p>
        </p:txBody>
      </p:sp>
      <p:sp>
        <p:nvSpPr>
          <p:cNvPr id="54" name="Tile Ca"/>
          <p:cNvSpPr/>
          <p:nvPr/>
        </p:nvSpPr>
        <p:spPr>
          <a:xfrm>
            <a:off x="1371600" y="3483864"/>
            <a:ext cx="384048" cy="384048"/>
          </a:xfrm>
          <a:prstGeom prst="roundRect">
            <a:avLst>
              <a:gd name="adj" fmla="val 12000"/>
            </a:avLst>
          </a:prstGeom>
          <a:solidFill>
            <a:srgbClr val="FFCB5C">
              <a:alpha val="30000"/>
            </a:srgbClr>
          </a:solidFill>
          <a:ln w="19050">
            <a:solidFill>
              <a:srgbClr val="FFCB5C"/>
            </a:solidFill>
            <a:prstDash val="solid"/>
          </a:ln>
        </p:spPr>
      </p:sp>
      <p:sp>
        <p:nvSpPr>
          <p:cNvPr id="55" name="Text 53"/>
          <p:cNvSpPr txBox="1"/>
          <p:nvPr/>
        </p:nvSpPr>
        <p:spPr>
          <a:xfrm>
            <a:off x="1402324" y="3503066"/>
            <a:ext cx="230429" cy="92172"/>
          </a:xfrm>
          <a:prstGeom prst="rect">
            <a:avLst/>
          </a:prstGeom>
          <a:noFill/>
          <a:ln/>
        </p:spPr>
        <p:txBody>
          <a:bodyPr wrap="square" lIns="0" tIns="0" rIns="0" bIns="0" rtlCol="0" anchor="t"/>
          <a:lstStyle/>
          <a:p>
            <a:pPr indent="0" marL="0">
              <a:buNone/>
            </a:pPr>
            <a:r>
              <a:rPr lang="en-US" sz="600" dirty="0">
                <a:solidFill>
                  <a:schemeClr val="bg2"/>
                </a:solidFill>
              </a:rPr>
              <a:t>20</a:t>
            </a:r>
            <a:endParaRPr lang="en-US" sz="600" dirty="0"/>
          </a:p>
        </p:txBody>
      </p:sp>
      <p:sp>
        <p:nvSpPr>
          <p:cNvPr id="56" name="Text 54"/>
          <p:cNvSpPr txBox="1"/>
          <p:nvPr/>
        </p:nvSpPr>
        <p:spPr>
          <a:xfrm>
            <a:off x="1371600" y="3545312"/>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Ca</a:t>
            </a:r>
            <a:endParaRPr lang="en-US" sz="1400" dirty="0"/>
          </a:p>
        </p:txBody>
      </p:sp>
      <p:sp>
        <p:nvSpPr>
          <p:cNvPr id="57" name="Text 55"/>
          <p:cNvSpPr txBox="1"/>
          <p:nvPr/>
        </p:nvSpPr>
        <p:spPr>
          <a:xfrm>
            <a:off x="1874520" y="3438144"/>
            <a:ext cx="2011680" cy="475488"/>
          </a:xfrm>
          <a:prstGeom prst="rect">
            <a:avLst/>
          </a:prstGeom>
          <a:noFill/>
          <a:ln/>
        </p:spPr>
        <p:txBody>
          <a:bodyPr wrap="square" lIns="0" tIns="0" rIns="0" bIns="0" rtlCol="0" anchor="ctr"/>
          <a:lstStyle/>
          <a:p>
            <a:pPr indent="0" marL="0">
              <a:buNone/>
            </a:pPr>
            <a:r>
              <a:rPr lang="en-US" sz="1200" dirty="0">
                <a:solidFill>
                  <a:schemeClr val="bg2"/>
                </a:solidFill>
              </a:rPr>
              <a:t>Magnesium and Calcium</a:t>
            </a:r>
            <a:endParaRPr lang="en-US" sz="1200" dirty="0"/>
          </a:p>
        </p:txBody>
      </p:sp>
      <p:sp>
        <p:nvSpPr>
          <p:cNvPr id="58" name="Text 56"/>
          <p:cNvSpPr txBox="1"/>
          <p:nvPr/>
        </p:nvSpPr>
        <p:spPr>
          <a:xfrm>
            <a:off x="4206240" y="3493008"/>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59" name="Text 57"/>
          <p:cNvSpPr txBox="1"/>
          <p:nvPr/>
        </p:nvSpPr>
        <p:spPr>
          <a:xfrm>
            <a:off x="5669280" y="3493008"/>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60" name="Text 58"/>
          <p:cNvSpPr txBox="1"/>
          <p:nvPr/>
        </p:nvSpPr>
        <p:spPr>
          <a:xfrm>
            <a:off x="7132320" y="3493008"/>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61" name="Pair 5"/>
          <p:cNvSpPr/>
          <p:nvPr/>
        </p:nvSpPr>
        <p:spPr>
          <a:xfrm>
            <a:off x="457200" y="3959352"/>
            <a:ext cx="8229600" cy="475488"/>
          </a:xfrm>
          <a:prstGeom prst="roundRect">
            <a:avLst>
              <a:gd name="adj" fmla="val 19231"/>
            </a:avLst>
          </a:prstGeom>
          <a:solidFill>
            <a:schemeClr val="tx2"/>
          </a:solidFill>
          <a:ln w="9525">
            <a:solidFill>
              <a:schemeClr val="bg2">
                <a:alpha val="30000"/>
              </a:schemeClr>
            </a:solidFill>
            <a:prstDash val="solid"/>
          </a:ln>
        </p:spPr>
      </p:sp>
      <p:sp>
        <p:nvSpPr>
          <p:cNvPr id="62" name="Text 60"/>
          <p:cNvSpPr txBox="1"/>
          <p:nvPr/>
        </p:nvSpPr>
        <p:spPr>
          <a:xfrm>
            <a:off x="566928" y="3959352"/>
            <a:ext cx="274320" cy="475488"/>
          </a:xfrm>
          <a:prstGeom prst="rect">
            <a:avLst/>
          </a:prstGeom>
          <a:noFill/>
          <a:ln/>
        </p:spPr>
        <p:txBody>
          <a:bodyPr wrap="square" lIns="0" tIns="0" rIns="0" bIns="0" rtlCol="0" anchor="ctr"/>
          <a:lstStyle/>
          <a:p>
            <a:pPr indent="0" marL="0">
              <a:buNone/>
            </a:pPr>
            <a:r>
              <a:rPr lang="en-US" sz="1300" b="1" dirty="0">
                <a:solidFill>
                  <a:schemeClr val="accent2"/>
                </a:solidFill>
              </a:rPr>
              <a:t>5</a:t>
            </a:r>
            <a:endParaRPr lang="en-US" sz="1300" dirty="0"/>
          </a:p>
        </p:txBody>
      </p:sp>
      <p:sp>
        <p:nvSpPr>
          <p:cNvPr id="63" name="Tile F"/>
          <p:cNvSpPr/>
          <p:nvPr/>
        </p:nvSpPr>
        <p:spPr>
          <a:xfrm>
            <a:off x="896112" y="4005072"/>
            <a:ext cx="384048" cy="384048"/>
          </a:xfrm>
          <a:prstGeom prst="roundRect">
            <a:avLst>
              <a:gd name="adj" fmla="val 12000"/>
            </a:avLst>
          </a:prstGeom>
          <a:solidFill>
            <a:srgbClr val="F477B8">
              <a:alpha val="30000"/>
            </a:srgbClr>
          </a:solidFill>
          <a:ln w="19050">
            <a:solidFill>
              <a:srgbClr val="F477B8"/>
            </a:solidFill>
            <a:prstDash val="solid"/>
          </a:ln>
        </p:spPr>
      </p:sp>
      <p:sp>
        <p:nvSpPr>
          <p:cNvPr id="64" name="Text 62"/>
          <p:cNvSpPr txBox="1"/>
          <p:nvPr/>
        </p:nvSpPr>
        <p:spPr>
          <a:xfrm>
            <a:off x="926836" y="4024274"/>
            <a:ext cx="230429" cy="92172"/>
          </a:xfrm>
          <a:prstGeom prst="rect">
            <a:avLst/>
          </a:prstGeom>
          <a:noFill/>
          <a:ln/>
        </p:spPr>
        <p:txBody>
          <a:bodyPr wrap="square" lIns="0" tIns="0" rIns="0" bIns="0" rtlCol="0" anchor="t"/>
          <a:lstStyle/>
          <a:p>
            <a:pPr indent="0" marL="0">
              <a:buNone/>
            </a:pPr>
            <a:r>
              <a:rPr lang="en-US" sz="600" dirty="0">
                <a:solidFill>
                  <a:schemeClr val="bg2"/>
                </a:solidFill>
              </a:rPr>
              <a:t>9</a:t>
            </a:r>
            <a:endParaRPr lang="en-US" sz="600" dirty="0"/>
          </a:p>
        </p:txBody>
      </p:sp>
      <p:sp>
        <p:nvSpPr>
          <p:cNvPr id="65" name="Text 63"/>
          <p:cNvSpPr txBox="1"/>
          <p:nvPr/>
        </p:nvSpPr>
        <p:spPr>
          <a:xfrm>
            <a:off x="896112" y="4066520"/>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66" name="Tile Br"/>
          <p:cNvSpPr/>
          <p:nvPr/>
        </p:nvSpPr>
        <p:spPr>
          <a:xfrm>
            <a:off x="1371600" y="4005072"/>
            <a:ext cx="384048" cy="384048"/>
          </a:xfrm>
          <a:prstGeom prst="roundRect">
            <a:avLst>
              <a:gd name="adj" fmla="val 12000"/>
            </a:avLst>
          </a:prstGeom>
          <a:solidFill>
            <a:srgbClr val="F477B8">
              <a:alpha val="30000"/>
            </a:srgbClr>
          </a:solidFill>
          <a:ln w="19050">
            <a:solidFill>
              <a:srgbClr val="F477B8"/>
            </a:solidFill>
            <a:prstDash val="solid"/>
          </a:ln>
        </p:spPr>
      </p:sp>
      <p:sp>
        <p:nvSpPr>
          <p:cNvPr id="67" name="Text 65"/>
          <p:cNvSpPr txBox="1"/>
          <p:nvPr/>
        </p:nvSpPr>
        <p:spPr>
          <a:xfrm>
            <a:off x="1402324" y="4024274"/>
            <a:ext cx="230429" cy="92172"/>
          </a:xfrm>
          <a:prstGeom prst="rect">
            <a:avLst/>
          </a:prstGeom>
          <a:noFill/>
          <a:ln/>
        </p:spPr>
        <p:txBody>
          <a:bodyPr wrap="square" lIns="0" tIns="0" rIns="0" bIns="0" rtlCol="0" anchor="t"/>
          <a:lstStyle/>
          <a:p>
            <a:pPr indent="0" marL="0">
              <a:buNone/>
            </a:pPr>
            <a:r>
              <a:rPr lang="en-US" sz="600" dirty="0">
                <a:solidFill>
                  <a:schemeClr val="bg2"/>
                </a:solidFill>
              </a:rPr>
              <a:t>35</a:t>
            </a:r>
            <a:endParaRPr lang="en-US" sz="600" dirty="0"/>
          </a:p>
        </p:txBody>
      </p:sp>
      <p:sp>
        <p:nvSpPr>
          <p:cNvPr id="68" name="Text 66"/>
          <p:cNvSpPr txBox="1"/>
          <p:nvPr/>
        </p:nvSpPr>
        <p:spPr>
          <a:xfrm>
            <a:off x="1371600" y="4066520"/>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Br</a:t>
            </a:r>
            <a:endParaRPr lang="en-US" sz="1400" dirty="0"/>
          </a:p>
        </p:txBody>
      </p:sp>
      <p:sp>
        <p:nvSpPr>
          <p:cNvPr id="69" name="Text 67"/>
          <p:cNvSpPr txBox="1"/>
          <p:nvPr/>
        </p:nvSpPr>
        <p:spPr>
          <a:xfrm>
            <a:off x="1874520" y="3959352"/>
            <a:ext cx="2011680" cy="475488"/>
          </a:xfrm>
          <a:prstGeom prst="rect">
            <a:avLst/>
          </a:prstGeom>
          <a:noFill/>
          <a:ln/>
        </p:spPr>
        <p:txBody>
          <a:bodyPr wrap="square" lIns="0" tIns="0" rIns="0" bIns="0" rtlCol="0" anchor="ctr"/>
          <a:lstStyle/>
          <a:p>
            <a:pPr indent="0" marL="0">
              <a:buNone/>
            </a:pPr>
            <a:r>
              <a:rPr lang="en-US" sz="1200" dirty="0">
                <a:solidFill>
                  <a:schemeClr val="bg2"/>
                </a:solidFill>
              </a:rPr>
              <a:t>Fluorine and Bromine</a:t>
            </a:r>
            <a:endParaRPr lang="en-US" sz="1200" dirty="0"/>
          </a:p>
        </p:txBody>
      </p:sp>
      <p:sp>
        <p:nvSpPr>
          <p:cNvPr id="70" name="Text 68"/>
          <p:cNvSpPr txBox="1"/>
          <p:nvPr/>
        </p:nvSpPr>
        <p:spPr>
          <a:xfrm>
            <a:off x="4206240" y="4014216"/>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71" name="Text 69"/>
          <p:cNvSpPr txBox="1"/>
          <p:nvPr/>
        </p:nvSpPr>
        <p:spPr>
          <a:xfrm>
            <a:off x="5669280" y="4014216"/>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72" name="Text 70"/>
          <p:cNvSpPr txBox="1"/>
          <p:nvPr/>
        </p:nvSpPr>
        <p:spPr>
          <a:xfrm>
            <a:off x="7132320" y="4014216"/>
            <a:ext cx="1097280" cy="365760"/>
          </a:xfrm>
          <a:prstGeom prst="rect">
            <a:avLst/>
          </a:prstGeom>
          <a:noFill/>
          <a:ln/>
        </p:spPr>
        <p:txBody>
          <a:bodyPr wrap="square" lIns="0" tIns="0" rIns="0" bIns="0" rtlCol="0" anchor="ctr"/>
          <a:lstStyle/>
          <a:p>
            <a:pPr algn="ctr" indent="0" marL="0">
              <a:buNone/>
            </a:pPr>
            <a:r>
              <a:rPr lang="en-US" sz="1500" b="1" dirty="0">
                <a:solidFill>
                  <a:schemeClr val="bg2"/>
                </a:solidFill>
              </a:rPr>
              <a:t>?</a:t>
            </a:r>
            <a:endParaRPr lang="en-US" sz="1500" dirty="0"/>
          </a:p>
        </p:txBody>
      </p:sp>
      <p:sp>
        <p:nvSpPr>
          <p:cNvPr id="73" name="Reason"/>
          <p:cNvSpPr/>
          <p:nvPr/>
        </p:nvSpPr>
        <p:spPr>
          <a:xfrm>
            <a:off x="457200" y="4553712"/>
            <a:ext cx="8229600" cy="384048"/>
          </a:xfrm>
          <a:prstGeom prst="roundRect">
            <a:avLst>
              <a:gd name="adj" fmla="val 23810"/>
            </a:avLst>
          </a:prstGeom>
          <a:solidFill>
            <a:schemeClr val="tx2"/>
          </a:solidFill>
          <a:ln w="9525">
            <a:solidFill>
              <a:schemeClr val="bg2">
                <a:alpha val="30000"/>
              </a:schemeClr>
            </a:solidFill>
            <a:prstDash val="solid"/>
          </a:ln>
        </p:spPr>
      </p:sp>
      <p:sp>
        <p:nvSpPr>
          <p:cNvPr id="74" name="Text 72"/>
          <p:cNvSpPr txBox="1"/>
          <p:nvPr/>
        </p:nvSpPr>
        <p:spPr>
          <a:xfrm>
            <a:off x="594360" y="4553712"/>
            <a:ext cx="7955280" cy="384048"/>
          </a:xfrm>
          <a:prstGeom prst="rect">
            <a:avLst/>
          </a:prstGeom>
          <a:noFill/>
          <a:ln/>
        </p:spPr>
        <p:txBody>
          <a:bodyPr wrap="square" lIns="0" tIns="0" rIns="0" bIns="0" rtlCol="0" anchor="ctr"/>
          <a:lstStyle/>
          <a:p>
            <a:pPr indent="0" marL="0">
              <a:buNone/>
            </a:pPr>
            <a:r>
              <a:rPr lang="en-US" sz="1200" b="1" dirty="0">
                <a:solidFill>
                  <a:schemeClr val="accent2"/>
                </a:solidFill>
              </a:rPr>
              <a:t>Reason: </a:t>
            </a:r>
            <a:pPr indent="0" marL="0">
              <a:buNone/>
            </a:pPr>
            <a:r>
              <a:rPr lang="en-US" sz="1200" dirty="0">
                <a:solidFill>
                  <a:schemeClr val="bg1"/>
                </a:solidFill>
              </a:rPr>
              <a:t>the smaller atom's outer electrons are ____ the nucleus, so the nucleus pulls ____.</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Cl"/>
          <p:cNvSpPr/>
          <p:nvPr/>
        </p:nvSpPr>
        <p:spPr>
          <a:xfrm>
            <a:off x="696997" y="637744"/>
            <a:ext cx="270214" cy="270214"/>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Cl</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Predict and explain</a:t>
            </a:r>
            <a:endParaRPr lang="en-US" sz="2800" dirty="0"/>
          </a:p>
        </p:txBody>
      </p:sp>
      <p:sp>
        <p:nvSpPr>
          <p:cNvPr id="10" name="Text 8"/>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300" dirty="0">
                <a:solidFill>
                  <a:schemeClr val="bg2"/>
                </a:solidFill>
              </a:rPr>
              <a:t>Decide the larger atom first, flip it for the other two, then give the reason.</a:t>
            </a:r>
            <a:endParaRPr lang="en-US" sz="1300" dirty="0"/>
          </a:p>
        </p:txBody>
      </p:sp>
      <p:sp>
        <p:nvSpPr>
          <p:cNvPr id="11" name="Text 9"/>
          <p:cNvSpPr txBox="1"/>
          <p:nvPr/>
        </p:nvSpPr>
        <p:spPr>
          <a:xfrm>
            <a:off x="3977640" y="1591056"/>
            <a:ext cx="1554480" cy="256032"/>
          </a:xfrm>
          <a:prstGeom prst="rect">
            <a:avLst/>
          </a:prstGeom>
          <a:noFill/>
          <a:ln/>
        </p:spPr>
        <p:txBody>
          <a:bodyPr wrap="square" lIns="0" tIns="0" rIns="0" bIns="0" rtlCol="0" anchor="t"/>
          <a:lstStyle/>
          <a:p>
            <a:pPr algn="ctr" indent="0" marL="0">
              <a:buNone/>
            </a:pPr>
            <a:r>
              <a:rPr lang="en-US" sz="1100" b="1" dirty="0">
                <a:solidFill>
                  <a:schemeClr val="accent1"/>
                </a:solidFill>
              </a:rPr>
              <a:t>Larger radius</a:t>
            </a:r>
            <a:endParaRPr lang="en-US" sz="1100" dirty="0"/>
          </a:p>
        </p:txBody>
      </p:sp>
      <p:sp>
        <p:nvSpPr>
          <p:cNvPr id="12" name="Text 10"/>
          <p:cNvSpPr txBox="1"/>
          <p:nvPr/>
        </p:nvSpPr>
        <p:spPr>
          <a:xfrm>
            <a:off x="5440680" y="1591056"/>
            <a:ext cx="1554480" cy="256032"/>
          </a:xfrm>
          <a:prstGeom prst="rect">
            <a:avLst/>
          </a:prstGeom>
          <a:noFill/>
          <a:ln/>
        </p:spPr>
        <p:txBody>
          <a:bodyPr wrap="square" lIns="0" tIns="0" rIns="0" bIns="0" rtlCol="0" anchor="t"/>
          <a:lstStyle/>
          <a:p>
            <a:pPr algn="ctr" indent="0" marL="0">
              <a:buNone/>
            </a:pPr>
            <a:r>
              <a:rPr lang="en-US" sz="1100" b="1" dirty="0">
                <a:solidFill>
                  <a:schemeClr val="accent2"/>
                </a:solidFill>
              </a:rPr>
              <a:t>Higher ionization E</a:t>
            </a:r>
            <a:endParaRPr lang="en-US" sz="1100" dirty="0"/>
          </a:p>
        </p:txBody>
      </p:sp>
      <p:sp>
        <p:nvSpPr>
          <p:cNvPr id="13" name="Text 11"/>
          <p:cNvSpPr txBox="1"/>
          <p:nvPr/>
        </p:nvSpPr>
        <p:spPr>
          <a:xfrm>
            <a:off x="6903720" y="1591056"/>
            <a:ext cx="1554480" cy="256032"/>
          </a:xfrm>
          <a:prstGeom prst="rect">
            <a:avLst/>
          </a:prstGeom>
          <a:noFill/>
          <a:ln/>
        </p:spPr>
        <p:txBody>
          <a:bodyPr wrap="square" lIns="0" tIns="0" rIns="0" bIns="0" rtlCol="0" anchor="t"/>
          <a:lstStyle/>
          <a:p>
            <a:pPr algn="ctr" indent="0" marL="0">
              <a:buNone/>
            </a:pPr>
            <a:r>
              <a:rPr lang="en-US" sz="1100" b="1" dirty="0">
                <a:solidFill>
                  <a:schemeClr val="accent6"/>
                </a:solidFill>
              </a:rPr>
              <a:t>Higher electroneg.</a:t>
            </a:r>
            <a:endParaRPr lang="en-US" sz="1100" dirty="0"/>
          </a:p>
        </p:txBody>
      </p:sp>
      <p:sp>
        <p:nvSpPr>
          <p:cNvPr id="14" name="Pair 1"/>
          <p:cNvSpPr/>
          <p:nvPr/>
        </p:nvSpPr>
        <p:spPr>
          <a:xfrm>
            <a:off x="457200" y="1874520"/>
            <a:ext cx="8229600" cy="475488"/>
          </a:xfrm>
          <a:prstGeom prst="roundRect">
            <a:avLst>
              <a:gd name="adj" fmla="val 19231"/>
            </a:avLst>
          </a:prstGeom>
          <a:solidFill>
            <a:schemeClr val="tx2"/>
          </a:solidFill>
          <a:ln w="9525">
            <a:solidFill>
              <a:schemeClr val="bg2">
                <a:alpha val="30000"/>
              </a:schemeClr>
            </a:solidFill>
            <a:prstDash val="solid"/>
          </a:ln>
        </p:spPr>
      </p:sp>
      <p:sp>
        <p:nvSpPr>
          <p:cNvPr id="15" name="Text 13"/>
          <p:cNvSpPr txBox="1"/>
          <p:nvPr/>
        </p:nvSpPr>
        <p:spPr>
          <a:xfrm>
            <a:off x="566928" y="1874520"/>
            <a:ext cx="274320" cy="475488"/>
          </a:xfrm>
          <a:prstGeom prst="rect">
            <a:avLst/>
          </a:prstGeom>
          <a:noFill/>
          <a:ln/>
        </p:spPr>
        <p:txBody>
          <a:bodyPr wrap="square" lIns="0" tIns="0" rIns="0" bIns="0" rtlCol="0" anchor="ctr"/>
          <a:lstStyle/>
          <a:p>
            <a:pPr indent="0" marL="0">
              <a:buNone/>
            </a:pPr>
            <a:r>
              <a:rPr lang="en-US" sz="1300" b="1" dirty="0">
                <a:solidFill>
                  <a:schemeClr val="accent2"/>
                </a:solidFill>
              </a:rPr>
              <a:t>1</a:t>
            </a:r>
            <a:endParaRPr lang="en-US" sz="1300" dirty="0"/>
          </a:p>
        </p:txBody>
      </p:sp>
      <p:sp>
        <p:nvSpPr>
          <p:cNvPr id="16" name="Tile Na"/>
          <p:cNvSpPr/>
          <p:nvPr/>
        </p:nvSpPr>
        <p:spPr>
          <a:xfrm>
            <a:off x="896112" y="1920240"/>
            <a:ext cx="384048" cy="384048"/>
          </a:xfrm>
          <a:prstGeom prst="roundRect">
            <a:avLst>
              <a:gd name="adj" fmla="val 12000"/>
            </a:avLst>
          </a:prstGeom>
          <a:solidFill>
            <a:srgbClr val="FF8F5E">
              <a:alpha val="30000"/>
            </a:srgbClr>
          </a:solidFill>
          <a:ln w="19050">
            <a:solidFill>
              <a:srgbClr val="FF8F5E"/>
            </a:solidFill>
            <a:prstDash val="solid"/>
          </a:ln>
        </p:spPr>
      </p:sp>
      <p:sp>
        <p:nvSpPr>
          <p:cNvPr id="17" name="Text 15"/>
          <p:cNvSpPr txBox="1"/>
          <p:nvPr/>
        </p:nvSpPr>
        <p:spPr>
          <a:xfrm>
            <a:off x="926836" y="1939442"/>
            <a:ext cx="230429" cy="92172"/>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18" name="Text 16"/>
          <p:cNvSpPr txBox="1"/>
          <p:nvPr/>
        </p:nvSpPr>
        <p:spPr>
          <a:xfrm>
            <a:off x="896112" y="198168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Na</a:t>
            </a:r>
            <a:endParaRPr lang="en-US" sz="1400" dirty="0"/>
          </a:p>
        </p:txBody>
      </p:sp>
      <p:sp>
        <p:nvSpPr>
          <p:cNvPr id="19" name="Tile Cl"/>
          <p:cNvSpPr/>
          <p:nvPr/>
        </p:nvSpPr>
        <p:spPr>
          <a:xfrm>
            <a:off x="1371600" y="1920240"/>
            <a:ext cx="384048" cy="384048"/>
          </a:xfrm>
          <a:prstGeom prst="roundRect">
            <a:avLst>
              <a:gd name="adj" fmla="val 12000"/>
            </a:avLst>
          </a:prstGeom>
          <a:solidFill>
            <a:srgbClr val="F477B8">
              <a:alpha val="30000"/>
            </a:srgbClr>
          </a:solidFill>
          <a:ln w="19050">
            <a:solidFill>
              <a:srgbClr val="F477B8"/>
            </a:solidFill>
            <a:prstDash val="solid"/>
          </a:ln>
        </p:spPr>
      </p:sp>
      <p:sp>
        <p:nvSpPr>
          <p:cNvPr id="20" name="Text 18"/>
          <p:cNvSpPr txBox="1"/>
          <p:nvPr/>
        </p:nvSpPr>
        <p:spPr>
          <a:xfrm>
            <a:off x="1402324" y="1939442"/>
            <a:ext cx="230429" cy="92172"/>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21" name="Text 19"/>
          <p:cNvSpPr txBox="1"/>
          <p:nvPr/>
        </p:nvSpPr>
        <p:spPr>
          <a:xfrm>
            <a:off x="1371600" y="1981688"/>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Cl</a:t>
            </a:r>
            <a:endParaRPr lang="en-US" sz="1400" dirty="0"/>
          </a:p>
        </p:txBody>
      </p:sp>
      <p:sp>
        <p:nvSpPr>
          <p:cNvPr id="22" name="Text 20"/>
          <p:cNvSpPr txBox="1"/>
          <p:nvPr/>
        </p:nvSpPr>
        <p:spPr>
          <a:xfrm>
            <a:off x="1874520" y="1874520"/>
            <a:ext cx="2011680" cy="475488"/>
          </a:xfrm>
          <a:prstGeom prst="rect">
            <a:avLst/>
          </a:prstGeom>
          <a:noFill/>
          <a:ln/>
        </p:spPr>
        <p:txBody>
          <a:bodyPr wrap="square" lIns="0" tIns="0" rIns="0" bIns="0" rtlCol="0" anchor="ctr"/>
          <a:lstStyle/>
          <a:p>
            <a:pPr indent="0" marL="0">
              <a:buNone/>
            </a:pPr>
            <a:r>
              <a:rPr lang="en-US" sz="1200" dirty="0">
                <a:solidFill>
                  <a:schemeClr val="bg2"/>
                </a:solidFill>
              </a:rPr>
              <a:t>Sodium and Chlorine</a:t>
            </a:r>
            <a:endParaRPr lang="en-US" sz="1200" dirty="0"/>
          </a:p>
        </p:txBody>
      </p:sp>
      <p:sp>
        <p:nvSpPr>
          <p:cNvPr id="23" name="Text 21"/>
          <p:cNvSpPr txBox="1"/>
          <p:nvPr/>
        </p:nvSpPr>
        <p:spPr>
          <a:xfrm>
            <a:off x="4206240" y="1929384"/>
            <a:ext cx="1097280" cy="365760"/>
          </a:xfrm>
          <a:prstGeom prst="rect">
            <a:avLst/>
          </a:prstGeom>
          <a:noFill/>
          <a:ln/>
        </p:spPr>
        <p:txBody>
          <a:bodyPr wrap="square" lIns="0" tIns="0" rIns="0" bIns="0" rtlCol="0" anchor="ctr"/>
          <a:lstStyle/>
          <a:p>
            <a:pPr algn="ctr" indent="0" marL="0">
              <a:buNone/>
            </a:pPr>
            <a:r>
              <a:rPr lang="en-US" sz="1500" b="1" dirty="0">
                <a:solidFill>
                  <a:schemeClr val="accent1"/>
                </a:solidFill>
              </a:rPr>
              <a:t>Na</a:t>
            </a:r>
            <a:endParaRPr lang="en-US" sz="1500" dirty="0"/>
          </a:p>
        </p:txBody>
      </p:sp>
      <p:sp>
        <p:nvSpPr>
          <p:cNvPr id="24" name="Text 22"/>
          <p:cNvSpPr txBox="1"/>
          <p:nvPr/>
        </p:nvSpPr>
        <p:spPr>
          <a:xfrm>
            <a:off x="5669280" y="1929384"/>
            <a:ext cx="1097280" cy="365760"/>
          </a:xfrm>
          <a:prstGeom prst="rect">
            <a:avLst/>
          </a:prstGeom>
          <a:noFill/>
          <a:ln/>
        </p:spPr>
        <p:txBody>
          <a:bodyPr wrap="square" lIns="0" tIns="0" rIns="0" bIns="0" rtlCol="0" anchor="ctr"/>
          <a:lstStyle/>
          <a:p>
            <a:pPr algn="ctr" indent="0" marL="0">
              <a:buNone/>
            </a:pPr>
            <a:r>
              <a:rPr lang="en-US" sz="1500" b="1" dirty="0">
                <a:solidFill>
                  <a:schemeClr val="accent2"/>
                </a:solidFill>
              </a:rPr>
              <a:t>Cl</a:t>
            </a:r>
            <a:endParaRPr lang="en-US" sz="1500" dirty="0"/>
          </a:p>
        </p:txBody>
      </p:sp>
      <p:sp>
        <p:nvSpPr>
          <p:cNvPr id="25" name="Text 23"/>
          <p:cNvSpPr txBox="1"/>
          <p:nvPr/>
        </p:nvSpPr>
        <p:spPr>
          <a:xfrm>
            <a:off x="7132320" y="1929384"/>
            <a:ext cx="1097280" cy="365760"/>
          </a:xfrm>
          <a:prstGeom prst="rect">
            <a:avLst/>
          </a:prstGeom>
          <a:noFill/>
          <a:ln/>
        </p:spPr>
        <p:txBody>
          <a:bodyPr wrap="square" lIns="0" tIns="0" rIns="0" bIns="0" rtlCol="0" anchor="ctr"/>
          <a:lstStyle/>
          <a:p>
            <a:pPr algn="ctr" indent="0" marL="0">
              <a:buNone/>
            </a:pPr>
            <a:r>
              <a:rPr lang="en-US" sz="1500" b="1" dirty="0">
                <a:solidFill>
                  <a:schemeClr val="accent6"/>
                </a:solidFill>
              </a:rPr>
              <a:t>Cl</a:t>
            </a:r>
            <a:endParaRPr lang="en-US" sz="1500" dirty="0"/>
          </a:p>
        </p:txBody>
      </p:sp>
      <p:sp>
        <p:nvSpPr>
          <p:cNvPr id="26" name="Pair 2"/>
          <p:cNvSpPr/>
          <p:nvPr/>
        </p:nvSpPr>
        <p:spPr>
          <a:xfrm>
            <a:off x="457200" y="2395728"/>
            <a:ext cx="8229600" cy="475488"/>
          </a:xfrm>
          <a:prstGeom prst="roundRect">
            <a:avLst>
              <a:gd name="adj" fmla="val 19231"/>
            </a:avLst>
          </a:prstGeom>
          <a:solidFill>
            <a:schemeClr val="tx2"/>
          </a:solidFill>
          <a:ln w="9525">
            <a:solidFill>
              <a:schemeClr val="bg2">
                <a:alpha val="30000"/>
              </a:schemeClr>
            </a:solidFill>
            <a:prstDash val="solid"/>
          </a:ln>
        </p:spPr>
      </p:sp>
      <p:sp>
        <p:nvSpPr>
          <p:cNvPr id="27" name="Text 25"/>
          <p:cNvSpPr txBox="1"/>
          <p:nvPr/>
        </p:nvSpPr>
        <p:spPr>
          <a:xfrm>
            <a:off x="566928" y="2395728"/>
            <a:ext cx="274320" cy="475488"/>
          </a:xfrm>
          <a:prstGeom prst="rect">
            <a:avLst/>
          </a:prstGeom>
          <a:noFill/>
          <a:ln/>
        </p:spPr>
        <p:txBody>
          <a:bodyPr wrap="square" lIns="0" tIns="0" rIns="0" bIns="0" rtlCol="0" anchor="ctr"/>
          <a:lstStyle/>
          <a:p>
            <a:pPr indent="0" marL="0">
              <a:buNone/>
            </a:pPr>
            <a:r>
              <a:rPr lang="en-US" sz="1300" b="1" dirty="0">
                <a:solidFill>
                  <a:schemeClr val="accent2"/>
                </a:solidFill>
              </a:rPr>
              <a:t>2</a:t>
            </a:r>
            <a:endParaRPr lang="en-US" sz="1300" dirty="0"/>
          </a:p>
        </p:txBody>
      </p:sp>
      <p:sp>
        <p:nvSpPr>
          <p:cNvPr id="28" name="Tile Li"/>
          <p:cNvSpPr/>
          <p:nvPr/>
        </p:nvSpPr>
        <p:spPr>
          <a:xfrm>
            <a:off x="896112" y="2441448"/>
            <a:ext cx="384048" cy="384048"/>
          </a:xfrm>
          <a:prstGeom prst="roundRect">
            <a:avLst>
              <a:gd name="adj" fmla="val 12000"/>
            </a:avLst>
          </a:prstGeom>
          <a:solidFill>
            <a:srgbClr val="FF8F5E">
              <a:alpha val="30000"/>
            </a:srgbClr>
          </a:solidFill>
          <a:ln w="19050">
            <a:solidFill>
              <a:srgbClr val="FF8F5E"/>
            </a:solidFill>
            <a:prstDash val="solid"/>
          </a:ln>
        </p:spPr>
      </p:sp>
      <p:sp>
        <p:nvSpPr>
          <p:cNvPr id="29" name="Text 27"/>
          <p:cNvSpPr txBox="1"/>
          <p:nvPr/>
        </p:nvSpPr>
        <p:spPr>
          <a:xfrm>
            <a:off x="926836" y="2460650"/>
            <a:ext cx="230429" cy="92172"/>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30" name="Text 28"/>
          <p:cNvSpPr txBox="1"/>
          <p:nvPr/>
        </p:nvSpPr>
        <p:spPr>
          <a:xfrm>
            <a:off x="896112" y="2502896"/>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Li</a:t>
            </a:r>
            <a:endParaRPr lang="en-US" sz="1400" dirty="0"/>
          </a:p>
        </p:txBody>
      </p:sp>
      <p:sp>
        <p:nvSpPr>
          <p:cNvPr id="31" name="Tile K"/>
          <p:cNvSpPr/>
          <p:nvPr/>
        </p:nvSpPr>
        <p:spPr>
          <a:xfrm>
            <a:off x="1371600" y="2441448"/>
            <a:ext cx="384048" cy="384048"/>
          </a:xfrm>
          <a:prstGeom prst="roundRect">
            <a:avLst>
              <a:gd name="adj" fmla="val 12000"/>
            </a:avLst>
          </a:prstGeom>
          <a:solidFill>
            <a:srgbClr val="FF8F5E">
              <a:alpha val="30000"/>
            </a:srgbClr>
          </a:solidFill>
          <a:ln w="19050">
            <a:solidFill>
              <a:srgbClr val="FF8F5E"/>
            </a:solidFill>
            <a:prstDash val="solid"/>
          </a:ln>
        </p:spPr>
      </p:sp>
      <p:sp>
        <p:nvSpPr>
          <p:cNvPr id="32" name="Text 30"/>
          <p:cNvSpPr txBox="1"/>
          <p:nvPr/>
        </p:nvSpPr>
        <p:spPr>
          <a:xfrm>
            <a:off x="1402324" y="2460650"/>
            <a:ext cx="230429" cy="92172"/>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33" name="Text 31"/>
          <p:cNvSpPr txBox="1"/>
          <p:nvPr/>
        </p:nvSpPr>
        <p:spPr>
          <a:xfrm>
            <a:off x="1371600" y="2502896"/>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K</a:t>
            </a:r>
            <a:endParaRPr lang="en-US" sz="1400" dirty="0"/>
          </a:p>
        </p:txBody>
      </p:sp>
      <p:sp>
        <p:nvSpPr>
          <p:cNvPr id="34" name="Text 32"/>
          <p:cNvSpPr txBox="1"/>
          <p:nvPr/>
        </p:nvSpPr>
        <p:spPr>
          <a:xfrm>
            <a:off x="1874520" y="2395728"/>
            <a:ext cx="2011680" cy="475488"/>
          </a:xfrm>
          <a:prstGeom prst="rect">
            <a:avLst/>
          </a:prstGeom>
          <a:noFill/>
          <a:ln/>
        </p:spPr>
        <p:txBody>
          <a:bodyPr wrap="square" lIns="0" tIns="0" rIns="0" bIns="0" rtlCol="0" anchor="ctr"/>
          <a:lstStyle/>
          <a:p>
            <a:pPr indent="0" marL="0">
              <a:buNone/>
            </a:pPr>
            <a:r>
              <a:rPr lang="en-US" sz="1200" dirty="0">
                <a:solidFill>
                  <a:schemeClr val="bg2"/>
                </a:solidFill>
              </a:rPr>
              <a:t>Lithium and Potassium</a:t>
            </a:r>
            <a:endParaRPr lang="en-US" sz="1200" dirty="0"/>
          </a:p>
        </p:txBody>
      </p:sp>
      <p:sp>
        <p:nvSpPr>
          <p:cNvPr id="35" name="Text 33"/>
          <p:cNvSpPr txBox="1"/>
          <p:nvPr/>
        </p:nvSpPr>
        <p:spPr>
          <a:xfrm>
            <a:off x="4206240" y="2450592"/>
            <a:ext cx="1097280" cy="365760"/>
          </a:xfrm>
          <a:prstGeom prst="rect">
            <a:avLst/>
          </a:prstGeom>
          <a:noFill/>
          <a:ln/>
        </p:spPr>
        <p:txBody>
          <a:bodyPr wrap="square" lIns="0" tIns="0" rIns="0" bIns="0" rtlCol="0" anchor="ctr"/>
          <a:lstStyle/>
          <a:p>
            <a:pPr algn="ctr" indent="0" marL="0">
              <a:buNone/>
            </a:pPr>
            <a:r>
              <a:rPr lang="en-US" sz="1500" b="1" dirty="0">
                <a:solidFill>
                  <a:schemeClr val="accent1"/>
                </a:solidFill>
              </a:rPr>
              <a:t>K</a:t>
            </a:r>
            <a:endParaRPr lang="en-US" sz="1500" dirty="0"/>
          </a:p>
        </p:txBody>
      </p:sp>
      <p:sp>
        <p:nvSpPr>
          <p:cNvPr id="36" name="Text 34"/>
          <p:cNvSpPr txBox="1"/>
          <p:nvPr/>
        </p:nvSpPr>
        <p:spPr>
          <a:xfrm>
            <a:off x="5669280" y="2450592"/>
            <a:ext cx="1097280" cy="365760"/>
          </a:xfrm>
          <a:prstGeom prst="rect">
            <a:avLst/>
          </a:prstGeom>
          <a:noFill/>
          <a:ln/>
        </p:spPr>
        <p:txBody>
          <a:bodyPr wrap="square" lIns="0" tIns="0" rIns="0" bIns="0" rtlCol="0" anchor="ctr"/>
          <a:lstStyle/>
          <a:p>
            <a:pPr algn="ctr" indent="0" marL="0">
              <a:buNone/>
            </a:pPr>
            <a:r>
              <a:rPr lang="en-US" sz="1500" b="1" dirty="0">
                <a:solidFill>
                  <a:schemeClr val="accent2"/>
                </a:solidFill>
              </a:rPr>
              <a:t>Li</a:t>
            </a:r>
            <a:endParaRPr lang="en-US" sz="1500" dirty="0"/>
          </a:p>
        </p:txBody>
      </p:sp>
      <p:sp>
        <p:nvSpPr>
          <p:cNvPr id="37" name="Text 35"/>
          <p:cNvSpPr txBox="1"/>
          <p:nvPr/>
        </p:nvSpPr>
        <p:spPr>
          <a:xfrm>
            <a:off x="7132320" y="2450592"/>
            <a:ext cx="1097280" cy="365760"/>
          </a:xfrm>
          <a:prstGeom prst="rect">
            <a:avLst/>
          </a:prstGeom>
          <a:noFill/>
          <a:ln/>
        </p:spPr>
        <p:txBody>
          <a:bodyPr wrap="square" lIns="0" tIns="0" rIns="0" bIns="0" rtlCol="0" anchor="ctr"/>
          <a:lstStyle/>
          <a:p>
            <a:pPr algn="ctr" indent="0" marL="0">
              <a:buNone/>
            </a:pPr>
            <a:r>
              <a:rPr lang="en-US" sz="1500" b="1" dirty="0">
                <a:solidFill>
                  <a:schemeClr val="accent6"/>
                </a:solidFill>
              </a:rPr>
              <a:t>Li</a:t>
            </a:r>
            <a:endParaRPr lang="en-US" sz="1500" dirty="0"/>
          </a:p>
        </p:txBody>
      </p:sp>
      <p:sp>
        <p:nvSpPr>
          <p:cNvPr id="38" name="Pair 3"/>
          <p:cNvSpPr/>
          <p:nvPr/>
        </p:nvSpPr>
        <p:spPr>
          <a:xfrm>
            <a:off x="457200" y="2916936"/>
            <a:ext cx="8229600" cy="475488"/>
          </a:xfrm>
          <a:prstGeom prst="roundRect">
            <a:avLst>
              <a:gd name="adj" fmla="val 19231"/>
            </a:avLst>
          </a:prstGeom>
          <a:solidFill>
            <a:schemeClr val="tx2"/>
          </a:solidFill>
          <a:ln w="9525">
            <a:solidFill>
              <a:schemeClr val="bg2">
                <a:alpha val="30000"/>
              </a:schemeClr>
            </a:solidFill>
            <a:prstDash val="solid"/>
          </a:ln>
        </p:spPr>
      </p:sp>
      <p:sp>
        <p:nvSpPr>
          <p:cNvPr id="39" name="Text 37"/>
          <p:cNvSpPr txBox="1"/>
          <p:nvPr/>
        </p:nvSpPr>
        <p:spPr>
          <a:xfrm>
            <a:off x="566928" y="2916936"/>
            <a:ext cx="274320" cy="475488"/>
          </a:xfrm>
          <a:prstGeom prst="rect">
            <a:avLst/>
          </a:prstGeom>
          <a:noFill/>
          <a:ln/>
        </p:spPr>
        <p:txBody>
          <a:bodyPr wrap="square" lIns="0" tIns="0" rIns="0" bIns="0" rtlCol="0" anchor="ctr"/>
          <a:lstStyle/>
          <a:p>
            <a:pPr indent="0" marL="0">
              <a:buNone/>
            </a:pPr>
            <a:r>
              <a:rPr lang="en-US" sz="1300" b="1" dirty="0">
                <a:solidFill>
                  <a:schemeClr val="accent2"/>
                </a:solidFill>
              </a:rPr>
              <a:t>3</a:t>
            </a:r>
            <a:endParaRPr lang="en-US" sz="1300" dirty="0"/>
          </a:p>
        </p:txBody>
      </p:sp>
      <p:sp>
        <p:nvSpPr>
          <p:cNvPr id="40" name="Tile O"/>
          <p:cNvSpPr/>
          <p:nvPr/>
        </p:nvSpPr>
        <p:spPr>
          <a:xfrm>
            <a:off x="896112" y="2962656"/>
            <a:ext cx="384048" cy="384048"/>
          </a:xfrm>
          <a:prstGeom prst="roundRect">
            <a:avLst>
              <a:gd name="adj" fmla="val 12000"/>
            </a:avLst>
          </a:prstGeom>
          <a:solidFill>
            <a:srgbClr val="45C08F">
              <a:alpha val="30000"/>
            </a:srgbClr>
          </a:solidFill>
          <a:ln w="19050">
            <a:solidFill>
              <a:srgbClr val="45C08F"/>
            </a:solidFill>
            <a:prstDash val="solid"/>
          </a:ln>
        </p:spPr>
      </p:sp>
      <p:sp>
        <p:nvSpPr>
          <p:cNvPr id="41" name="Text 39"/>
          <p:cNvSpPr txBox="1"/>
          <p:nvPr/>
        </p:nvSpPr>
        <p:spPr>
          <a:xfrm>
            <a:off x="926836" y="2981858"/>
            <a:ext cx="230429" cy="92172"/>
          </a:xfrm>
          <a:prstGeom prst="rect">
            <a:avLst/>
          </a:prstGeom>
          <a:noFill/>
          <a:ln/>
        </p:spPr>
        <p:txBody>
          <a:bodyPr wrap="square" lIns="0" tIns="0" rIns="0" bIns="0" rtlCol="0" anchor="t"/>
          <a:lstStyle/>
          <a:p>
            <a:pPr indent="0" marL="0">
              <a:buNone/>
            </a:pPr>
            <a:r>
              <a:rPr lang="en-US" sz="600" dirty="0">
                <a:solidFill>
                  <a:schemeClr val="bg2"/>
                </a:solidFill>
              </a:rPr>
              <a:t>8</a:t>
            </a:r>
            <a:endParaRPr lang="en-US" sz="600" dirty="0"/>
          </a:p>
        </p:txBody>
      </p:sp>
      <p:sp>
        <p:nvSpPr>
          <p:cNvPr id="42" name="Text 40"/>
          <p:cNvSpPr txBox="1"/>
          <p:nvPr/>
        </p:nvSpPr>
        <p:spPr>
          <a:xfrm>
            <a:off x="896112" y="3024104"/>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O</a:t>
            </a:r>
            <a:endParaRPr lang="en-US" sz="1400" dirty="0"/>
          </a:p>
        </p:txBody>
      </p:sp>
      <p:sp>
        <p:nvSpPr>
          <p:cNvPr id="43" name="Tile C"/>
          <p:cNvSpPr/>
          <p:nvPr/>
        </p:nvSpPr>
        <p:spPr>
          <a:xfrm>
            <a:off x="1371600" y="2962656"/>
            <a:ext cx="384048" cy="384048"/>
          </a:xfrm>
          <a:prstGeom prst="roundRect">
            <a:avLst>
              <a:gd name="adj" fmla="val 12000"/>
            </a:avLst>
          </a:prstGeom>
          <a:solidFill>
            <a:srgbClr val="45C08F">
              <a:alpha val="30000"/>
            </a:srgbClr>
          </a:solidFill>
          <a:ln w="19050">
            <a:solidFill>
              <a:srgbClr val="45C08F"/>
            </a:solidFill>
            <a:prstDash val="solid"/>
          </a:ln>
        </p:spPr>
      </p:sp>
      <p:sp>
        <p:nvSpPr>
          <p:cNvPr id="44" name="Text 42"/>
          <p:cNvSpPr txBox="1"/>
          <p:nvPr/>
        </p:nvSpPr>
        <p:spPr>
          <a:xfrm>
            <a:off x="1402324" y="2981858"/>
            <a:ext cx="230429" cy="92172"/>
          </a:xfrm>
          <a:prstGeom prst="rect">
            <a:avLst/>
          </a:prstGeom>
          <a:noFill/>
          <a:ln/>
        </p:spPr>
        <p:txBody>
          <a:bodyPr wrap="square" lIns="0" tIns="0" rIns="0" bIns="0" rtlCol="0" anchor="t"/>
          <a:lstStyle/>
          <a:p>
            <a:pPr indent="0" marL="0">
              <a:buNone/>
            </a:pPr>
            <a:r>
              <a:rPr lang="en-US" sz="600" dirty="0">
                <a:solidFill>
                  <a:schemeClr val="bg2"/>
                </a:solidFill>
              </a:rPr>
              <a:t>6</a:t>
            </a:r>
            <a:endParaRPr lang="en-US" sz="600" dirty="0"/>
          </a:p>
        </p:txBody>
      </p:sp>
      <p:sp>
        <p:nvSpPr>
          <p:cNvPr id="45" name="Text 43"/>
          <p:cNvSpPr txBox="1"/>
          <p:nvPr/>
        </p:nvSpPr>
        <p:spPr>
          <a:xfrm>
            <a:off x="1371600" y="3024104"/>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46" name="Text 44"/>
          <p:cNvSpPr txBox="1"/>
          <p:nvPr/>
        </p:nvSpPr>
        <p:spPr>
          <a:xfrm>
            <a:off x="1874520" y="2916936"/>
            <a:ext cx="2011680" cy="475488"/>
          </a:xfrm>
          <a:prstGeom prst="rect">
            <a:avLst/>
          </a:prstGeom>
          <a:noFill/>
          <a:ln/>
        </p:spPr>
        <p:txBody>
          <a:bodyPr wrap="square" lIns="0" tIns="0" rIns="0" bIns="0" rtlCol="0" anchor="ctr"/>
          <a:lstStyle/>
          <a:p>
            <a:pPr indent="0" marL="0">
              <a:buNone/>
            </a:pPr>
            <a:r>
              <a:rPr lang="en-US" sz="1200" dirty="0">
                <a:solidFill>
                  <a:schemeClr val="bg2"/>
                </a:solidFill>
              </a:rPr>
              <a:t>Oxygen and Carbon</a:t>
            </a:r>
            <a:endParaRPr lang="en-US" sz="1200" dirty="0"/>
          </a:p>
        </p:txBody>
      </p:sp>
      <p:sp>
        <p:nvSpPr>
          <p:cNvPr id="47" name="Text 45"/>
          <p:cNvSpPr txBox="1"/>
          <p:nvPr/>
        </p:nvSpPr>
        <p:spPr>
          <a:xfrm>
            <a:off x="4206240" y="2971800"/>
            <a:ext cx="1097280" cy="365760"/>
          </a:xfrm>
          <a:prstGeom prst="rect">
            <a:avLst/>
          </a:prstGeom>
          <a:noFill/>
          <a:ln/>
        </p:spPr>
        <p:txBody>
          <a:bodyPr wrap="square" lIns="0" tIns="0" rIns="0" bIns="0" rtlCol="0" anchor="ctr"/>
          <a:lstStyle/>
          <a:p>
            <a:pPr algn="ctr" indent="0" marL="0">
              <a:buNone/>
            </a:pPr>
            <a:r>
              <a:rPr lang="en-US" sz="1500" b="1" dirty="0">
                <a:solidFill>
                  <a:schemeClr val="accent1"/>
                </a:solidFill>
              </a:rPr>
              <a:t>C</a:t>
            </a:r>
            <a:endParaRPr lang="en-US" sz="1500" dirty="0"/>
          </a:p>
        </p:txBody>
      </p:sp>
      <p:sp>
        <p:nvSpPr>
          <p:cNvPr id="48" name="Text 46"/>
          <p:cNvSpPr txBox="1"/>
          <p:nvPr/>
        </p:nvSpPr>
        <p:spPr>
          <a:xfrm>
            <a:off x="5669280" y="2971800"/>
            <a:ext cx="1097280" cy="365760"/>
          </a:xfrm>
          <a:prstGeom prst="rect">
            <a:avLst/>
          </a:prstGeom>
          <a:noFill/>
          <a:ln/>
        </p:spPr>
        <p:txBody>
          <a:bodyPr wrap="square" lIns="0" tIns="0" rIns="0" bIns="0" rtlCol="0" anchor="ctr"/>
          <a:lstStyle/>
          <a:p>
            <a:pPr algn="ctr" indent="0" marL="0">
              <a:buNone/>
            </a:pPr>
            <a:r>
              <a:rPr lang="en-US" sz="1500" b="1" dirty="0">
                <a:solidFill>
                  <a:schemeClr val="accent2"/>
                </a:solidFill>
              </a:rPr>
              <a:t>O</a:t>
            </a:r>
            <a:endParaRPr lang="en-US" sz="1500" dirty="0"/>
          </a:p>
        </p:txBody>
      </p:sp>
      <p:sp>
        <p:nvSpPr>
          <p:cNvPr id="49" name="Text 47"/>
          <p:cNvSpPr txBox="1"/>
          <p:nvPr/>
        </p:nvSpPr>
        <p:spPr>
          <a:xfrm>
            <a:off x="7132320" y="2971800"/>
            <a:ext cx="1097280" cy="365760"/>
          </a:xfrm>
          <a:prstGeom prst="rect">
            <a:avLst/>
          </a:prstGeom>
          <a:noFill/>
          <a:ln/>
        </p:spPr>
        <p:txBody>
          <a:bodyPr wrap="square" lIns="0" tIns="0" rIns="0" bIns="0" rtlCol="0" anchor="ctr"/>
          <a:lstStyle/>
          <a:p>
            <a:pPr algn="ctr" indent="0" marL="0">
              <a:buNone/>
            </a:pPr>
            <a:r>
              <a:rPr lang="en-US" sz="1500" b="1" dirty="0">
                <a:solidFill>
                  <a:schemeClr val="accent6"/>
                </a:solidFill>
              </a:rPr>
              <a:t>O</a:t>
            </a:r>
            <a:endParaRPr lang="en-US" sz="1500" dirty="0"/>
          </a:p>
        </p:txBody>
      </p:sp>
      <p:sp>
        <p:nvSpPr>
          <p:cNvPr id="50" name="Pair 4"/>
          <p:cNvSpPr/>
          <p:nvPr/>
        </p:nvSpPr>
        <p:spPr>
          <a:xfrm>
            <a:off x="457200" y="3438144"/>
            <a:ext cx="8229600" cy="475488"/>
          </a:xfrm>
          <a:prstGeom prst="roundRect">
            <a:avLst>
              <a:gd name="adj" fmla="val 19231"/>
            </a:avLst>
          </a:prstGeom>
          <a:solidFill>
            <a:schemeClr val="tx2"/>
          </a:solidFill>
          <a:ln w="9525">
            <a:solidFill>
              <a:schemeClr val="bg2">
                <a:alpha val="30000"/>
              </a:schemeClr>
            </a:solidFill>
            <a:prstDash val="solid"/>
          </a:ln>
        </p:spPr>
      </p:sp>
      <p:sp>
        <p:nvSpPr>
          <p:cNvPr id="51" name="Text 49"/>
          <p:cNvSpPr txBox="1"/>
          <p:nvPr/>
        </p:nvSpPr>
        <p:spPr>
          <a:xfrm>
            <a:off x="566928" y="3438144"/>
            <a:ext cx="274320" cy="475488"/>
          </a:xfrm>
          <a:prstGeom prst="rect">
            <a:avLst/>
          </a:prstGeom>
          <a:noFill/>
          <a:ln/>
        </p:spPr>
        <p:txBody>
          <a:bodyPr wrap="square" lIns="0" tIns="0" rIns="0" bIns="0" rtlCol="0" anchor="ctr"/>
          <a:lstStyle/>
          <a:p>
            <a:pPr indent="0" marL="0">
              <a:buNone/>
            </a:pPr>
            <a:r>
              <a:rPr lang="en-US" sz="1300" b="1" dirty="0">
                <a:solidFill>
                  <a:schemeClr val="accent2"/>
                </a:solidFill>
              </a:rPr>
              <a:t>4</a:t>
            </a:r>
            <a:endParaRPr lang="en-US" sz="1300" dirty="0"/>
          </a:p>
        </p:txBody>
      </p:sp>
      <p:sp>
        <p:nvSpPr>
          <p:cNvPr id="52" name="Tile Mg"/>
          <p:cNvSpPr/>
          <p:nvPr/>
        </p:nvSpPr>
        <p:spPr>
          <a:xfrm>
            <a:off x="896112" y="3483864"/>
            <a:ext cx="384048" cy="384048"/>
          </a:xfrm>
          <a:prstGeom prst="roundRect">
            <a:avLst>
              <a:gd name="adj" fmla="val 12000"/>
            </a:avLst>
          </a:prstGeom>
          <a:solidFill>
            <a:srgbClr val="FFCB5C">
              <a:alpha val="30000"/>
            </a:srgbClr>
          </a:solidFill>
          <a:ln w="19050">
            <a:solidFill>
              <a:srgbClr val="FFCB5C"/>
            </a:solidFill>
            <a:prstDash val="solid"/>
          </a:ln>
        </p:spPr>
      </p:sp>
      <p:sp>
        <p:nvSpPr>
          <p:cNvPr id="53" name="Text 51"/>
          <p:cNvSpPr txBox="1"/>
          <p:nvPr/>
        </p:nvSpPr>
        <p:spPr>
          <a:xfrm>
            <a:off x="926836" y="3503066"/>
            <a:ext cx="230429" cy="92172"/>
          </a:xfrm>
          <a:prstGeom prst="rect">
            <a:avLst/>
          </a:prstGeom>
          <a:noFill/>
          <a:ln/>
        </p:spPr>
        <p:txBody>
          <a:bodyPr wrap="square" lIns="0" tIns="0" rIns="0" bIns="0" rtlCol="0" anchor="t"/>
          <a:lstStyle/>
          <a:p>
            <a:pPr indent="0" marL="0">
              <a:buNone/>
            </a:pPr>
            <a:r>
              <a:rPr lang="en-US" sz="600" dirty="0">
                <a:solidFill>
                  <a:schemeClr val="bg2"/>
                </a:solidFill>
              </a:rPr>
              <a:t>12</a:t>
            </a:r>
            <a:endParaRPr lang="en-US" sz="600" dirty="0"/>
          </a:p>
        </p:txBody>
      </p:sp>
      <p:sp>
        <p:nvSpPr>
          <p:cNvPr id="54" name="Text 52"/>
          <p:cNvSpPr txBox="1"/>
          <p:nvPr/>
        </p:nvSpPr>
        <p:spPr>
          <a:xfrm>
            <a:off x="896112" y="3545312"/>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Mg</a:t>
            </a:r>
            <a:endParaRPr lang="en-US" sz="1400" dirty="0"/>
          </a:p>
        </p:txBody>
      </p:sp>
      <p:sp>
        <p:nvSpPr>
          <p:cNvPr id="55" name="Tile Ca"/>
          <p:cNvSpPr/>
          <p:nvPr/>
        </p:nvSpPr>
        <p:spPr>
          <a:xfrm>
            <a:off x="1371600" y="3483864"/>
            <a:ext cx="384048" cy="384048"/>
          </a:xfrm>
          <a:prstGeom prst="roundRect">
            <a:avLst>
              <a:gd name="adj" fmla="val 12000"/>
            </a:avLst>
          </a:prstGeom>
          <a:solidFill>
            <a:srgbClr val="FFCB5C">
              <a:alpha val="30000"/>
            </a:srgbClr>
          </a:solidFill>
          <a:ln w="19050">
            <a:solidFill>
              <a:srgbClr val="FFCB5C"/>
            </a:solidFill>
            <a:prstDash val="solid"/>
          </a:ln>
        </p:spPr>
      </p:sp>
      <p:sp>
        <p:nvSpPr>
          <p:cNvPr id="56" name="Text 54"/>
          <p:cNvSpPr txBox="1"/>
          <p:nvPr/>
        </p:nvSpPr>
        <p:spPr>
          <a:xfrm>
            <a:off x="1402324" y="3503066"/>
            <a:ext cx="230429" cy="92172"/>
          </a:xfrm>
          <a:prstGeom prst="rect">
            <a:avLst/>
          </a:prstGeom>
          <a:noFill/>
          <a:ln/>
        </p:spPr>
        <p:txBody>
          <a:bodyPr wrap="square" lIns="0" tIns="0" rIns="0" bIns="0" rtlCol="0" anchor="t"/>
          <a:lstStyle/>
          <a:p>
            <a:pPr indent="0" marL="0">
              <a:buNone/>
            </a:pPr>
            <a:r>
              <a:rPr lang="en-US" sz="600" dirty="0">
                <a:solidFill>
                  <a:schemeClr val="bg2"/>
                </a:solidFill>
              </a:rPr>
              <a:t>20</a:t>
            </a:r>
            <a:endParaRPr lang="en-US" sz="600" dirty="0"/>
          </a:p>
        </p:txBody>
      </p:sp>
      <p:sp>
        <p:nvSpPr>
          <p:cNvPr id="57" name="Text 55"/>
          <p:cNvSpPr txBox="1"/>
          <p:nvPr/>
        </p:nvSpPr>
        <p:spPr>
          <a:xfrm>
            <a:off x="1371600" y="3545312"/>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Ca</a:t>
            </a:r>
            <a:endParaRPr lang="en-US" sz="1400" dirty="0"/>
          </a:p>
        </p:txBody>
      </p:sp>
      <p:sp>
        <p:nvSpPr>
          <p:cNvPr id="58" name="Text 56"/>
          <p:cNvSpPr txBox="1"/>
          <p:nvPr/>
        </p:nvSpPr>
        <p:spPr>
          <a:xfrm>
            <a:off x="1874520" y="3438144"/>
            <a:ext cx="2011680" cy="475488"/>
          </a:xfrm>
          <a:prstGeom prst="rect">
            <a:avLst/>
          </a:prstGeom>
          <a:noFill/>
          <a:ln/>
        </p:spPr>
        <p:txBody>
          <a:bodyPr wrap="square" lIns="0" tIns="0" rIns="0" bIns="0" rtlCol="0" anchor="ctr"/>
          <a:lstStyle/>
          <a:p>
            <a:pPr indent="0" marL="0">
              <a:buNone/>
            </a:pPr>
            <a:r>
              <a:rPr lang="en-US" sz="1200" dirty="0">
                <a:solidFill>
                  <a:schemeClr val="bg2"/>
                </a:solidFill>
              </a:rPr>
              <a:t>Magnesium and Calcium</a:t>
            </a:r>
            <a:endParaRPr lang="en-US" sz="1200" dirty="0"/>
          </a:p>
        </p:txBody>
      </p:sp>
      <p:sp>
        <p:nvSpPr>
          <p:cNvPr id="59" name="Text 57"/>
          <p:cNvSpPr txBox="1"/>
          <p:nvPr/>
        </p:nvSpPr>
        <p:spPr>
          <a:xfrm>
            <a:off x="4206240" y="3493008"/>
            <a:ext cx="1097280" cy="365760"/>
          </a:xfrm>
          <a:prstGeom prst="rect">
            <a:avLst/>
          </a:prstGeom>
          <a:noFill/>
          <a:ln/>
        </p:spPr>
        <p:txBody>
          <a:bodyPr wrap="square" lIns="0" tIns="0" rIns="0" bIns="0" rtlCol="0" anchor="ctr"/>
          <a:lstStyle/>
          <a:p>
            <a:pPr algn="ctr" indent="0" marL="0">
              <a:buNone/>
            </a:pPr>
            <a:r>
              <a:rPr lang="en-US" sz="1500" b="1" dirty="0">
                <a:solidFill>
                  <a:schemeClr val="accent1"/>
                </a:solidFill>
              </a:rPr>
              <a:t>Ca</a:t>
            </a:r>
            <a:endParaRPr lang="en-US" sz="1500" dirty="0"/>
          </a:p>
        </p:txBody>
      </p:sp>
      <p:sp>
        <p:nvSpPr>
          <p:cNvPr id="60" name="Text 58"/>
          <p:cNvSpPr txBox="1"/>
          <p:nvPr/>
        </p:nvSpPr>
        <p:spPr>
          <a:xfrm>
            <a:off x="5669280" y="3493008"/>
            <a:ext cx="1097280" cy="365760"/>
          </a:xfrm>
          <a:prstGeom prst="rect">
            <a:avLst/>
          </a:prstGeom>
          <a:noFill/>
          <a:ln/>
        </p:spPr>
        <p:txBody>
          <a:bodyPr wrap="square" lIns="0" tIns="0" rIns="0" bIns="0" rtlCol="0" anchor="ctr"/>
          <a:lstStyle/>
          <a:p>
            <a:pPr algn="ctr" indent="0" marL="0">
              <a:buNone/>
            </a:pPr>
            <a:r>
              <a:rPr lang="en-US" sz="1500" b="1" dirty="0">
                <a:solidFill>
                  <a:schemeClr val="accent2"/>
                </a:solidFill>
              </a:rPr>
              <a:t>Mg</a:t>
            </a:r>
            <a:endParaRPr lang="en-US" sz="1500" dirty="0"/>
          </a:p>
        </p:txBody>
      </p:sp>
      <p:sp>
        <p:nvSpPr>
          <p:cNvPr id="61" name="Text 59"/>
          <p:cNvSpPr txBox="1"/>
          <p:nvPr/>
        </p:nvSpPr>
        <p:spPr>
          <a:xfrm>
            <a:off x="7132320" y="3493008"/>
            <a:ext cx="1097280" cy="365760"/>
          </a:xfrm>
          <a:prstGeom prst="rect">
            <a:avLst/>
          </a:prstGeom>
          <a:noFill/>
          <a:ln/>
        </p:spPr>
        <p:txBody>
          <a:bodyPr wrap="square" lIns="0" tIns="0" rIns="0" bIns="0" rtlCol="0" anchor="ctr"/>
          <a:lstStyle/>
          <a:p>
            <a:pPr algn="ctr" indent="0" marL="0">
              <a:buNone/>
            </a:pPr>
            <a:r>
              <a:rPr lang="en-US" sz="1500" b="1" dirty="0">
                <a:solidFill>
                  <a:schemeClr val="accent6"/>
                </a:solidFill>
              </a:rPr>
              <a:t>Mg</a:t>
            </a:r>
            <a:endParaRPr lang="en-US" sz="1500" dirty="0"/>
          </a:p>
        </p:txBody>
      </p:sp>
      <p:sp>
        <p:nvSpPr>
          <p:cNvPr id="62" name="Pair 5"/>
          <p:cNvSpPr/>
          <p:nvPr/>
        </p:nvSpPr>
        <p:spPr>
          <a:xfrm>
            <a:off x="457200" y="3959352"/>
            <a:ext cx="8229600" cy="475488"/>
          </a:xfrm>
          <a:prstGeom prst="roundRect">
            <a:avLst>
              <a:gd name="adj" fmla="val 19231"/>
            </a:avLst>
          </a:prstGeom>
          <a:solidFill>
            <a:schemeClr val="tx2"/>
          </a:solidFill>
          <a:ln w="9525">
            <a:solidFill>
              <a:schemeClr val="bg2">
                <a:alpha val="30000"/>
              </a:schemeClr>
            </a:solidFill>
            <a:prstDash val="solid"/>
          </a:ln>
        </p:spPr>
      </p:sp>
      <p:sp>
        <p:nvSpPr>
          <p:cNvPr id="63" name="Text 61"/>
          <p:cNvSpPr txBox="1"/>
          <p:nvPr/>
        </p:nvSpPr>
        <p:spPr>
          <a:xfrm>
            <a:off x="566928" y="3959352"/>
            <a:ext cx="274320" cy="475488"/>
          </a:xfrm>
          <a:prstGeom prst="rect">
            <a:avLst/>
          </a:prstGeom>
          <a:noFill/>
          <a:ln/>
        </p:spPr>
        <p:txBody>
          <a:bodyPr wrap="square" lIns="0" tIns="0" rIns="0" bIns="0" rtlCol="0" anchor="ctr"/>
          <a:lstStyle/>
          <a:p>
            <a:pPr indent="0" marL="0">
              <a:buNone/>
            </a:pPr>
            <a:r>
              <a:rPr lang="en-US" sz="1300" b="1" dirty="0">
                <a:solidFill>
                  <a:schemeClr val="accent2"/>
                </a:solidFill>
              </a:rPr>
              <a:t>5</a:t>
            </a:r>
            <a:endParaRPr lang="en-US" sz="1300" dirty="0"/>
          </a:p>
        </p:txBody>
      </p:sp>
      <p:sp>
        <p:nvSpPr>
          <p:cNvPr id="64" name="Tile F"/>
          <p:cNvSpPr/>
          <p:nvPr/>
        </p:nvSpPr>
        <p:spPr>
          <a:xfrm>
            <a:off x="896112" y="4005072"/>
            <a:ext cx="384048" cy="384048"/>
          </a:xfrm>
          <a:prstGeom prst="roundRect">
            <a:avLst>
              <a:gd name="adj" fmla="val 12000"/>
            </a:avLst>
          </a:prstGeom>
          <a:solidFill>
            <a:srgbClr val="F477B8">
              <a:alpha val="30000"/>
            </a:srgbClr>
          </a:solidFill>
          <a:ln w="19050">
            <a:solidFill>
              <a:srgbClr val="F477B8"/>
            </a:solidFill>
            <a:prstDash val="solid"/>
          </a:ln>
        </p:spPr>
      </p:sp>
      <p:sp>
        <p:nvSpPr>
          <p:cNvPr id="65" name="Text 63"/>
          <p:cNvSpPr txBox="1"/>
          <p:nvPr/>
        </p:nvSpPr>
        <p:spPr>
          <a:xfrm>
            <a:off x="926836" y="4024274"/>
            <a:ext cx="230429" cy="92172"/>
          </a:xfrm>
          <a:prstGeom prst="rect">
            <a:avLst/>
          </a:prstGeom>
          <a:noFill/>
          <a:ln/>
        </p:spPr>
        <p:txBody>
          <a:bodyPr wrap="square" lIns="0" tIns="0" rIns="0" bIns="0" rtlCol="0" anchor="t"/>
          <a:lstStyle/>
          <a:p>
            <a:pPr indent="0" marL="0">
              <a:buNone/>
            </a:pPr>
            <a:r>
              <a:rPr lang="en-US" sz="600" dirty="0">
                <a:solidFill>
                  <a:schemeClr val="bg2"/>
                </a:solidFill>
              </a:rPr>
              <a:t>9</a:t>
            </a:r>
            <a:endParaRPr lang="en-US" sz="600" dirty="0"/>
          </a:p>
        </p:txBody>
      </p:sp>
      <p:sp>
        <p:nvSpPr>
          <p:cNvPr id="66" name="Text 64"/>
          <p:cNvSpPr txBox="1"/>
          <p:nvPr/>
        </p:nvSpPr>
        <p:spPr>
          <a:xfrm>
            <a:off x="896112" y="4066520"/>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F</a:t>
            </a:r>
            <a:endParaRPr lang="en-US" sz="1400" dirty="0"/>
          </a:p>
        </p:txBody>
      </p:sp>
      <p:sp>
        <p:nvSpPr>
          <p:cNvPr id="67" name="Tile Br"/>
          <p:cNvSpPr/>
          <p:nvPr/>
        </p:nvSpPr>
        <p:spPr>
          <a:xfrm>
            <a:off x="1371600" y="4005072"/>
            <a:ext cx="384048" cy="384048"/>
          </a:xfrm>
          <a:prstGeom prst="roundRect">
            <a:avLst>
              <a:gd name="adj" fmla="val 12000"/>
            </a:avLst>
          </a:prstGeom>
          <a:solidFill>
            <a:srgbClr val="F477B8">
              <a:alpha val="30000"/>
            </a:srgbClr>
          </a:solidFill>
          <a:ln w="19050">
            <a:solidFill>
              <a:srgbClr val="F477B8"/>
            </a:solidFill>
            <a:prstDash val="solid"/>
          </a:ln>
        </p:spPr>
      </p:sp>
      <p:sp>
        <p:nvSpPr>
          <p:cNvPr id="68" name="Text 66"/>
          <p:cNvSpPr txBox="1"/>
          <p:nvPr/>
        </p:nvSpPr>
        <p:spPr>
          <a:xfrm>
            <a:off x="1402324" y="4024274"/>
            <a:ext cx="230429" cy="92172"/>
          </a:xfrm>
          <a:prstGeom prst="rect">
            <a:avLst/>
          </a:prstGeom>
          <a:noFill/>
          <a:ln/>
        </p:spPr>
        <p:txBody>
          <a:bodyPr wrap="square" lIns="0" tIns="0" rIns="0" bIns="0" rtlCol="0" anchor="t"/>
          <a:lstStyle/>
          <a:p>
            <a:pPr indent="0" marL="0">
              <a:buNone/>
            </a:pPr>
            <a:r>
              <a:rPr lang="en-US" sz="600" dirty="0">
                <a:solidFill>
                  <a:schemeClr val="bg2"/>
                </a:solidFill>
              </a:rPr>
              <a:t>35</a:t>
            </a:r>
            <a:endParaRPr lang="en-US" sz="600" dirty="0"/>
          </a:p>
        </p:txBody>
      </p:sp>
      <p:sp>
        <p:nvSpPr>
          <p:cNvPr id="69" name="Text 67"/>
          <p:cNvSpPr txBox="1"/>
          <p:nvPr/>
        </p:nvSpPr>
        <p:spPr>
          <a:xfrm>
            <a:off x="1371600" y="4066520"/>
            <a:ext cx="384048" cy="307238"/>
          </a:xfrm>
          <a:prstGeom prst="rect">
            <a:avLst/>
          </a:prstGeom>
          <a:noFill/>
          <a:ln/>
        </p:spPr>
        <p:txBody>
          <a:bodyPr wrap="square" lIns="0" tIns="0" rIns="0" bIns="0" rtlCol="0" anchor="ctr"/>
          <a:lstStyle/>
          <a:p>
            <a:pPr algn="ctr" indent="0" marL="0">
              <a:buNone/>
            </a:pPr>
            <a:r>
              <a:rPr lang="en-US" sz="1400" b="1" dirty="0">
                <a:solidFill>
                  <a:schemeClr val="bg1"/>
                </a:solidFill>
              </a:rPr>
              <a:t>Br</a:t>
            </a:r>
            <a:endParaRPr lang="en-US" sz="1400" dirty="0"/>
          </a:p>
        </p:txBody>
      </p:sp>
      <p:sp>
        <p:nvSpPr>
          <p:cNvPr id="70" name="Text 68"/>
          <p:cNvSpPr txBox="1"/>
          <p:nvPr/>
        </p:nvSpPr>
        <p:spPr>
          <a:xfrm>
            <a:off x="1874520" y="3959352"/>
            <a:ext cx="2011680" cy="475488"/>
          </a:xfrm>
          <a:prstGeom prst="rect">
            <a:avLst/>
          </a:prstGeom>
          <a:noFill/>
          <a:ln/>
        </p:spPr>
        <p:txBody>
          <a:bodyPr wrap="square" lIns="0" tIns="0" rIns="0" bIns="0" rtlCol="0" anchor="ctr"/>
          <a:lstStyle/>
          <a:p>
            <a:pPr indent="0" marL="0">
              <a:buNone/>
            </a:pPr>
            <a:r>
              <a:rPr lang="en-US" sz="1200" dirty="0">
                <a:solidFill>
                  <a:schemeClr val="bg2"/>
                </a:solidFill>
              </a:rPr>
              <a:t>Fluorine and Bromine</a:t>
            </a:r>
            <a:endParaRPr lang="en-US" sz="1200" dirty="0"/>
          </a:p>
        </p:txBody>
      </p:sp>
      <p:sp>
        <p:nvSpPr>
          <p:cNvPr id="71" name="Text 69"/>
          <p:cNvSpPr txBox="1"/>
          <p:nvPr/>
        </p:nvSpPr>
        <p:spPr>
          <a:xfrm>
            <a:off x="4206240" y="4014216"/>
            <a:ext cx="1097280" cy="365760"/>
          </a:xfrm>
          <a:prstGeom prst="rect">
            <a:avLst/>
          </a:prstGeom>
          <a:noFill/>
          <a:ln/>
        </p:spPr>
        <p:txBody>
          <a:bodyPr wrap="square" lIns="0" tIns="0" rIns="0" bIns="0" rtlCol="0" anchor="ctr"/>
          <a:lstStyle/>
          <a:p>
            <a:pPr algn="ctr" indent="0" marL="0">
              <a:buNone/>
            </a:pPr>
            <a:r>
              <a:rPr lang="en-US" sz="1500" b="1" dirty="0">
                <a:solidFill>
                  <a:schemeClr val="accent1"/>
                </a:solidFill>
              </a:rPr>
              <a:t>Br</a:t>
            </a:r>
            <a:endParaRPr lang="en-US" sz="1500" dirty="0"/>
          </a:p>
        </p:txBody>
      </p:sp>
      <p:sp>
        <p:nvSpPr>
          <p:cNvPr id="72" name="Text 70"/>
          <p:cNvSpPr txBox="1"/>
          <p:nvPr/>
        </p:nvSpPr>
        <p:spPr>
          <a:xfrm>
            <a:off x="5669280" y="4014216"/>
            <a:ext cx="1097280" cy="365760"/>
          </a:xfrm>
          <a:prstGeom prst="rect">
            <a:avLst/>
          </a:prstGeom>
          <a:noFill/>
          <a:ln/>
        </p:spPr>
        <p:txBody>
          <a:bodyPr wrap="square" lIns="0" tIns="0" rIns="0" bIns="0" rtlCol="0" anchor="ctr"/>
          <a:lstStyle/>
          <a:p>
            <a:pPr algn="ctr" indent="0" marL="0">
              <a:buNone/>
            </a:pPr>
            <a:r>
              <a:rPr lang="en-US" sz="1500" b="1" dirty="0">
                <a:solidFill>
                  <a:schemeClr val="accent2"/>
                </a:solidFill>
              </a:rPr>
              <a:t>F</a:t>
            </a:r>
            <a:endParaRPr lang="en-US" sz="1500" dirty="0"/>
          </a:p>
        </p:txBody>
      </p:sp>
      <p:sp>
        <p:nvSpPr>
          <p:cNvPr id="73" name="Text 71"/>
          <p:cNvSpPr txBox="1"/>
          <p:nvPr/>
        </p:nvSpPr>
        <p:spPr>
          <a:xfrm>
            <a:off x="7132320" y="4014216"/>
            <a:ext cx="1097280" cy="365760"/>
          </a:xfrm>
          <a:prstGeom prst="rect">
            <a:avLst/>
          </a:prstGeom>
          <a:noFill/>
          <a:ln/>
        </p:spPr>
        <p:txBody>
          <a:bodyPr wrap="square" lIns="0" tIns="0" rIns="0" bIns="0" rtlCol="0" anchor="ctr"/>
          <a:lstStyle/>
          <a:p>
            <a:pPr algn="ctr" indent="0" marL="0">
              <a:buNone/>
            </a:pPr>
            <a:r>
              <a:rPr lang="en-US" sz="1500" b="1" dirty="0">
                <a:solidFill>
                  <a:schemeClr val="accent6"/>
                </a:solidFill>
              </a:rPr>
              <a:t>F</a:t>
            </a:r>
            <a:endParaRPr lang="en-US" sz="1500" dirty="0"/>
          </a:p>
        </p:txBody>
      </p:sp>
      <p:sp>
        <p:nvSpPr>
          <p:cNvPr id="74" name="Reason"/>
          <p:cNvSpPr/>
          <p:nvPr/>
        </p:nvSpPr>
        <p:spPr>
          <a:xfrm>
            <a:off x="457200" y="4553712"/>
            <a:ext cx="8229600" cy="384048"/>
          </a:xfrm>
          <a:prstGeom prst="roundRect">
            <a:avLst>
              <a:gd name="adj" fmla="val 23810"/>
            </a:avLst>
          </a:prstGeom>
          <a:solidFill>
            <a:schemeClr val="tx2"/>
          </a:solidFill>
          <a:ln w="9525">
            <a:solidFill>
              <a:schemeClr val="bg2">
                <a:alpha val="30000"/>
              </a:schemeClr>
            </a:solidFill>
            <a:prstDash val="solid"/>
          </a:ln>
        </p:spPr>
      </p:sp>
      <p:sp>
        <p:nvSpPr>
          <p:cNvPr id="75" name="Text 73"/>
          <p:cNvSpPr txBox="1"/>
          <p:nvPr/>
        </p:nvSpPr>
        <p:spPr>
          <a:xfrm>
            <a:off x="594360" y="4553712"/>
            <a:ext cx="7955280" cy="384048"/>
          </a:xfrm>
          <a:prstGeom prst="rect">
            <a:avLst/>
          </a:prstGeom>
          <a:noFill/>
          <a:ln/>
        </p:spPr>
        <p:txBody>
          <a:bodyPr wrap="square" lIns="0" tIns="0" rIns="0" bIns="0" rtlCol="0" anchor="ctr"/>
          <a:lstStyle/>
          <a:p>
            <a:pPr indent="0" marL="0">
              <a:buNone/>
            </a:pPr>
            <a:r>
              <a:rPr lang="en-US" sz="1200" b="1" dirty="0">
                <a:solidFill>
                  <a:schemeClr val="accent2"/>
                </a:solidFill>
              </a:rPr>
              <a:t>Reason: </a:t>
            </a:r>
            <a:pPr indent="0" marL="0">
              <a:buNone/>
            </a:pPr>
            <a:r>
              <a:rPr lang="en-US" sz="1200" dirty="0">
                <a:solidFill>
                  <a:schemeClr val="bg1"/>
                </a:solidFill>
              </a:rPr>
              <a:t>the smaller atom's outer electrons are </a:t>
            </a:r>
            <a:pPr indent="0" marL="0">
              <a:buNone/>
            </a:pPr>
            <a:r>
              <a:rPr lang="en-US" sz="1200" b="1" dirty="0">
                <a:solidFill>
                  <a:schemeClr val="accent4"/>
                </a:solidFill>
              </a:rPr>
              <a:t>closer to the nucleus</a:t>
            </a:r>
            <a:pPr indent="0" marL="0">
              <a:buNone/>
            </a:pPr>
            <a:r>
              <a:rPr lang="en-US" sz="1200" dirty="0">
                <a:solidFill>
                  <a:schemeClr val="bg1"/>
                </a:solidFill>
              </a:rPr>
              <a:t>, so the nucleus pulls </a:t>
            </a:r>
            <a:pPr indent="0" marL="0">
              <a:buNone/>
            </a:pPr>
            <a:r>
              <a:rPr lang="en-US" sz="1200" b="1" dirty="0">
                <a:solidFill>
                  <a:schemeClr val="accent4"/>
                </a:solidFill>
              </a:rPr>
              <a:t>harder</a:t>
            </a:r>
            <a:pPr indent="0" marL="0">
              <a:buNone/>
            </a:pPr>
            <a:r>
              <a:rPr lang="en-US" sz="1200" dirty="0">
                <a:solidFill>
                  <a:schemeClr val="bg1"/>
                </a:solidFill>
              </a:rPr>
              <a:t>.</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Cl"/>
          <p:cNvSpPr/>
          <p:nvPr/>
        </p:nvSpPr>
        <p:spPr>
          <a:xfrm>
            <a:off x="696997" y="637744"/>
            <a:ext cx="270214" cy="270214"/>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Cl</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Explain it in your own words</a:t>
            </a:r>
            <a:endParaRPr lang="en-US" sz="2800" dirty="0"/>
          </a:p>
        </p:txBody>
      </p:sp>
      <p:sp>
        <p:nvSpPr>
          <p:cNvPr id="9" name="Text 7"/>
          <p:cNvSpPr txBox="1"/>
          <p:nvPr/>
        </p:nvSpPr>
        <p:spPr>
          <a:xfrm>
            <a:off x="457200" y="1280160"/>
            <a:ext cx="8229600" cy="548640"/>
          </a:xfrm>
          <a:prstGeom prst="rect">
            <a:avLst/>
          </a:prstGeom>
          <a:noFill/>
          <a:ln/>
        </p:spPr>
        <p:txBody>
          <a:bodyPr wrap="square" lIns="0" tIns="0" rIns="0" bIns="0" rtlCol="0" anchor="t"/>
          <a:lstStyle/>
          <a:p>
            <a:pPr indent="0" marL="0">
              <a:buNone/>
            </a:pPr>
            <a:r>
              <a:rPr lang="en-US" sz="1500" b="1" dirty="0">
                <a:solidFill>
                  <a:schemeClr val="bg1"/>
                </a:solidFill>
              </a:rPr>
              <a:t>Explain why fluorine has a higher ionization energy and a higher electronegativity than lithium. Use atomic radius in your explanation.</a:t>
            </a:r>
            <a:endParaRPr lang="en-US" sz="1500" dirty="0"/>
          </a:p>
        </p:txBody>
      </p:sp>
      <p:sp>
        <p:nvSpPr>
          <p:cNvPr id="10" name="Text 8"/>
          <p:cNvSpPr txBox="1"/>
          <p:nvPr/>
        </p:nvSpPr>
        <p:spPr>
          <a:xfrm>
            <a:off x="457200" y="1828800"/>
            <a:ext cx="8229600" cy="274320"/>
          </a:xfrm>
          <a:prstGeom prst="rect">
            <a:avLst/>
          </a:prstGeom>
          <a:noFill/>
          <a:ln/>
        </p:spPr>
        <p:txBody>
          <a:bodyPr wrap="square" lIns="0" tIns="0" rIns="0" bIns="0" rtlCol="0" anchor="t"/>
          <a:lstStyle/>
          <a:p>
            <a:pPr indent="0" marL="0">
              <a:buNone/>
            </a:pPr>
            <a:r>
              <a:rPr lang="en-US" sz="1200" dirty="0">
                <a:solidFill>
                  <a:schemeClr val="bg2"/>
                </a:solidFill>
              </a:rPr>
              <a:t>Both are in period 2. Fluorine has 9 protons; lithium has 3. Atomic radius: fluorine 42 pm, lithium 167 pm.</a:t>
            </a:r>
            <a:endParaRPr lang="en-US" sz="1200" dirty="0"/>
          </a:p>
        </p:txBody>
      </p:sp>
      <p:sp>
        <p:nvSpPr>
          <p:cNvPr id="11" name="Answer box"/>
          <p:cNvSpPr/>
          <p:nvPr/>
        </p:nvSpPr>
        <p:spPr>
          <a:xfrm>
            <a:off x="457200" y="2194560"/>
            <a:ext cx="8229600" cy="1554480"/>
          </a:xfrm>
          <a:prstGeom prst="roundRect">
            <a:avLst>
              <a:gd name="adj" fmla="val 5882"/>
            </a:avLst>
          </a:prstGeom>
          <a:solidFill>
            <a:schemeClr val="tx2"/>
          </a:solidFill>
          <a:ln w="9525">
            <a:solidFill>
              <a:schemeClr val="bg2">
                <a:alpha val="30000"/>
              </a:schemeClr>
            </a:solidFill>
            <a:prstDash val="solid"/>
          </a:ln>
        </p:spPr>
      </p:sp>
      <p:sp>
        <p:nvSpPr>
          <p:cNvPr id="12" name="Writing line"/>
          <p:cNvSpPr/>
          <p:nvPr/>
        </p:nvSpPr>
        <p:spPr>
          <a:xfrm>
            <a:off x="685800" y="2514600"/>
            <a:ext cx="7772400" cy="0"/>
          </a:xfrm>
          <a:prstGeom prst="line">
            <a:avLst/>
          </a:prstGeom>
          <a:noFill/>
          <a:ln w="9525">
            <a:solidFill>
              <a:schemeClr val="bg2">
                <a:alpha val="50000"/>
              </a:schemeClr>
            </a:solidFill>
            <a:prstDash val="solid"/>
          </a:ln>
        </p:spPr>
      </p:sp>
      <p:sp>
        <p:nvSpPr>
          <p:cNvPr id="13" name="Writing line"/>
          <p:cNvSpPr/>
          <p:nvPr/>
        </p:nvSpPr>
        <p:spPr>
          <a:xfrm>
            <a:off x="685800" y="2862072"/>
            <a:ext cx="7772400" cy="0"/>
          </a:xfrm>
          <a:prstGeom prst="line">
            <a:avLst/>
          </a:prstGeom>
          <a:noFill/>
          <a:ln w="9525">
            <a:solidFill>
              <a:schemeClr val="bg2">
                <a:alpha val="50000"/>
              </a:schemeClr>
            </a:solidFill>
            <a:prstDash val="solid"/>
          </a:ln>
        </p:spPr>
      </p:sp>
      <p:sp>
        <p:nvSpPr>
          <p:cNvPr id="14" name="Writing line"/>
          <p:cNvSpPr/>
          <p:nvPr/>
        </p:nvSpPr>
        <p:spPr>
          <a:xfrm>
            <a:off x="685800" y="3209544"/>
            <a:ext cx="7772400" cy="0"/>
          </a:xfrm>
          <a:prstGeom prst="line">
            <a:avLst/>
          </a:prstGeom>
          <a:noFill/>
          <a:ln w="9525">
            <a:solidFill>
              <a:schemeClr val="bg2">
                <a:alpha val="50000"/>
              </a:schemeClr>
            </a:solidFill>
            <a:prstDash val="solid"/>
          </a:ln>
        </p:spPr>
      </p:sp>
      <p:sp>
        <p:nvSpPr>
          <p:cNvPr id="15" name="Writing line"/>
          <p:cNvSpPr/>
          <p:nvPr/>
        </p:nvSpPr>
        <p:spPr>
          <a:xfrm>
            <a:off x="685800" y="3557016"/>
            <a:ext cx="7772400" cy="0"/>
          </a:xfrm>
          <a:prstGeom prst="line">
            <a:avLst/>
          </a:prstGeom>
          <a:noFill/>
          <a:ln w="9525">
            <a:solidFill>
              <a:schemeClr val="bg2">
                <a:alpha val="50000"/>
              </a:schemeClr>
            </a:solidFill>
            <a:prstDash val="solid"/>
          </a:ln>
        </p:spPr>
      </p:sp>
      <p:sp>
        <p:nvSpPr>
          <p:cNvPr id="16" name="Text 14"/>
          <p:cNvSpPr txBox="1"/>
          <p:nvPr/>
        </p:nvSpPr>
        <p:spPr>
          <a:xfrm>
            <a:off x="457200" y="3931920"/>
            <a:ext cx="1097280" cy="320040"/>
          </a:xfrm>
          <a:prstGeom prst="rect">
            <a:avLst/>
          </a:prstGeom>
          <a:noFill/>
          <a:ln/>
        </p:spPr>
        <p:txBody>
          <a:bodyPr wrap="square" lIns="0" tIns="0" rIns="0" bIns="0" rtlCol="0" anchor="ctr"/>
          <a:lstStyle/>
          <a:p>
            <a:pPr indent="0" marL="0">
              <a:buNone/>
            </a:pPr>
            <a:r>
              <a:rPr lang="en-US" sz="1200" b="1" dirty="0">
                <a:solidFill>
                  <a:schemeClr val="bg2"/>
                </a:solidFill>
              </a:rPr>
              <a:t>Word bank:</a:t>
            </a:r>
            <a:endParaRPr lang="en-US" sz="1200" dirty="0"/>
          </a:p>
        </p:txBody>
      </p:sp>
      <p:sp>
        <p:nvSpPr>
          <p:cNvPr id="17" name="Text 15"/>
          <p:cNvSpPr/>
          <p:nvPr/>
        </p:nvSpPr>
        <p:spPr>
          <a:xfrm>
            <a:off x="1463040" y="3931920"/>
            <a:ext cx="612648"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smaller</a:t>
            </a:r>
            <a:endParaRPr lang="en-US" sz="900" dirty="0"/>
          </a:p>
        </p:txBody>
      </p:sp>
      <p:sp>
        <p:nvSpPr>
          <p:cNvPr id="18" name="Text 16"/>
          <p:cNvSpPr/>
          <p:nvPr/>
        </p:nvSpPr>
        <p:spPr>
          <a:xfrm>
            <a:off x="2130552" y="3931920"/>
            <a:ext cx="941832"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atomic radius</a:t>
            </a:r>
            <a:endParaRPr lang="en-US" sz="900" dirty="0"/>
          </a:p>
        </p:txBody>
      </p:sp>
      <p:sp>
        <p:nvSpPr>
          <p:cNvPr id="19" name="Text 17"/>
          <p:cNvSpPr/>
          <p:nvPr/>
        </p:nvSpPr>
        <p:spPr>
          <a:xfrm>
            <a:off x="3127248" y="3931920"/>
            <a:ext cx="557784"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closer</a:t>
            </a:r>
            <a:endParaRPr lang="en-US" sz="900" dirty="0"/>
          </a:p>
        </p:txBody>
      </p:sp>
      <p:sp>
        <p:nvSpPr>
          <p:cNvPr id="20" name="Text 18"/>
          <p:cNvSpPr/>
          <p:nvPr/>
        </p:nvSpPr>
        <p:spPr>
          <a:xfrm>
            <a:off x="3739896" y="3931920"/>
            <a:ext cx="612648"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nucleus</a:t>
            </a:r>
            <a:endParaRPr lang="en-US" sz="900" dirty="0"/>
          </a:p>
        </p:txBody>
      </p:sp>
      <p:sp>
        <p:nvSpPr>
          <p:cNvPr id="21" name="Text 19"/>
          <p:cNvSpPr/>
          <p:nvPr/>
        </p:nvSpPr>
        <p:spPr>
          <a:xfrm>
            <a:off x="4407408" y="3931920"/>
            <a:ext cx="612648"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protons</a:t>
            </a:r>
            <a:endParaRPr lang="en-US" sz="900" dirty="0"/>
          </a:p>
        </p:txBody>
      </p:sp>
      <p:sp>
        <p:nvSpPr>
          <p:cNvPr id="22" name="Text 20"/>
          <p:cNvSpPr/>
          <p:nvPr/>
        </p:nvSpPr>
        <p:spPr>
          <a:xfrm>
            <a:off x="5074920" y="3931920"/>
            <a:ext cx="886968"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pulls harder</a:t>
            </a:r>
            <a:endParaRPr lang="en-US" sz="900" dirty="0"/>
          </a:p>
        </p:txBody>
      </p:sp>
      <p:sp>
        <p:nvSpPr>
          <p:cNvPr id="23" name="Text 21"/>
          <p:cNvSpPr/>
          <p:nvPr/>
        </p:nvSpPr>
        <p:spPr>
          <a:xfrm>
            <a:off x="6016752" y="3931920"/>
            <a:ext cx="1161288"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ionization energy</a:t>
            </a:r>
            <a:endParaRPr lang="en-US" sz="900" dirty="0"/>
          </a:p>
        </p:txBody>
      </p:sp>
      <p:sp>
        <p:nvSpPr>
          <p:cNvPr id="24" name="Text 22"/>
          <p:cNvSpPr/>
          <p:nvPr/>
        </p:nvSpPr>
        <p:spPr>
          <a:xfrm>
            <a:off x="7232904" y="3931920"/>
            <a:ext cx="1161288"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electronegativity</a:t>
            </a:r>
            <a:endParaRPr lang="en-US" sz="9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Cl"/>
          <p:cNvSpPr/>
          <p:nvPr/>
        </p:nvSpPr>
        <p:spPr>
          <a:xfrm>
            <a:off x="696997" y="637744"/>
            <a:ext cx="270214" cy="270214"/>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Cl</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Explain it in your own words</a:t>
            </a:r>
            <a:endParaRPr lang="en-US" sz="2800" dirty="0"/>
          </a:p>
        </p:txBody>
      </p:sp>
      <p:sp>
        <p:nvSpPr>
          <p:cNvPr id="10" name="Text 8"/>
          <p:cNvSpPr txBox="1"/>
          <p:nvPr/>
        </p:nvSpPr>
        <p:spPr>
          <a:xfrm>
            <a:off x="457200" y="1280160"/>
            <a:ext cx="8229600" cy="548640"/>
          </a:xfrm>
          <a:prstGeom prst="rect">
            <a:avLst/>
          </a:prstGeom>
          <a:noFill/>
          <a:ln/>
        </p:spPr>
        <p:txBody>
          <a:bodyPr wrap="square" lIns="0" tIns="0" rIns="0" bIns="0" rtlCol="0" anchor="t"/>
          <a:lstStyle/>
          <a:p>
            <a:pPr indent="0" marL="0">
              <a:buNone/>
            </a:pPr>
            <a:r>
              <a:rPr lang="en-US" sz="1500" b="1" dirty="0">
                <a:solidFill>
                  <a:schemeClr val="bg1"/>
                </a:solidFill>
              </a:rPr>
              <a:t>Explain why fluorine has a higher ionization energy and a higher electronegativity than lithium. Use atomic radius in your explanation.</a:t>
            </a:r>
            <a:endParaRPr lang="en-US" sz="1500" dirty="0"/>
          </a:p>
        </p:txBody>
      </p:sp>
      <p:sp>
        <p:nvSpPr>
          <p:cNvPr id="11" name="Text 9"/>
          <p:cNvSpPr txBox="1"/>
          <p:nvPr/>
        </p:nvSpPr>
        <p:spPr>
          <a:xfrm>
            <a:off x="457200" y="1828800"/>
            <a:ext cx="8229600" cy="274320"/>
          </a:xfrm>
          <a:prstGeom prst="rect">
            <a:avLst/>
          </a:prstGeom>
          <a:noFill/>
          <a:ln/>
        </p:spPr>
        <p:txBody>
          <a:bodyPr wrap="square" lIns="0" tIns="0" rIns="0" bIns="0" rtlCol="0" anchor="t"/>
          <a:lstStyle/>
          <a:p>
            <a:pPr indent="0" marL="0">
              <a:buNone/>
            </a:pPr>
            <a:r>
              <a:rPr lang="en-US" sz="1200" dirty="0">
                <a:solidFill>
                  <a:schemeClr val="bg2"/>
                </a:solidFill>
              </a:rPr>
              <a:t>Both are in period 2. Fluorine has 9 protons; lithium has 3. Atomic radius: fluorine 42 pm, lithium 167 pm.</a:t>
            </a:r>
            <a:endParaRPr lang="en-US" sz="1200" dirty="0"/>
          </a:p>
        </p:txBody>
      </p:sp>
      <p:sp>
        <p:nvSpPr>
          <p:cNvPr id="12" name="Answer box"/>
          <p:cNvSpPr/>
          <p:nvPr/>
        </p:nvSpPr>
        <p:spPr>
          <a:xfrm>
            <a:off x="457200" y="2194560"/>
            <a:ext cx="8229600" cy="1554480"/>
          </a:xfrm>
          <a:prstGeom prst="roundRect">
            <a:avLst>
              <a:gd name="adj" fmla="val 5882"/>
            </a:avLst>
          </a:prstGeom>
          <a:solidFill>
            <a:schemeClr val="tx2"/>
          </a:solidFill>
          <a:ln w="9525">
            <a:solidFill>
              <a:schemeClr val="bg2">
                <a:alpha val="30000"/>
              </a:schemeClr>
            </a:solidFill>
            <a:prstDash val="solid"/>
          </a:ln>
        </p:spPr>
      </p:sp>
      <p:sp>
        <p:nvSpPr>
          <p:cNvPr id="13" name="Text 11"/>
          <p:cNvSpPr txBox="1"/>
          <p:nvPr/>
        </p:nvSpPr>
        <p:spPr>
          <a:xfrm>
            <a:off x="640080" y="2286000"/>
            <a:ext cx="7863840" cy="1371600"/>
          </a:xfrm>
          <a:prstGeom prst="rect">
            <a:avLst/>
          </a:prstGeom>
          <a:noFill/>
          <a:ln/>
        </p:spPr>
        <p:txBody>
          <a:bodyPr wrap="square" lIns="0" tIns="0" rIns="0" bIns="0" rtlCol="0" anchor="t"/>
          <a:lstStyle/>
          <a:p>
            <a:pPr indent="0" marL="0">
              <a:buNone/>
            </a:pPr>
            <a:r>
              <a:rPr lang="en-US" sz="1400" dirty="0">
                <a:solidFill>
                  <a:schemeClr val="accent4"/>
                </a:solidFill>
              </a:rPr>
              <a:t>Fluorine has a smaller atomic radius than lithium because it has more protons pulling on the same two shells. Its outer electrons are closer to the nucleus, so the nucleus pulls on them harder. That makes an electron harder to remove (higher ionization energy) and lets fluorine pull shared electrons harder (higher electronegativity).</a:t>
            </a:r>
            <a:endParaRPr lang="en-US" sz="1400" dirty="0"/>
          </a:p>
        </p:txBody>
      </p:sp>
      <p:sp>
        <p:nvSpPr>
          <p:cNvPr id="14" name="Text 12"/>
          <p:cNvSpPr txBox="1"/>
          <p:nvPr/>
        </p:nvSpPr>
        <p:spPr>
          <a:xfrm>
            <a:off x="457200" y="3931920"/>
            <a:ext cx="1097280" cy="320040"/>
          </a:xfrm>
          <a:prstGeom prst="rect">
            <a:avLst/>
          </a:prstGeom>
          <a:noFill/>
          <a:ln/>
        </p:spPr>
        <p:txBody>
          <a:bodyPr wrap="square" lIns="0" tIns="0" rIns="0" bIns="0" rtlCol="0" anchor="ctr"/>
          <a:lstStyle/>
          <a:p>
            <a:pPr indent="0" marL="0">
              <a:buNone/>
            </a:pPr>
            <a:r>
              <a:rPr lang="en-US" sz="1200" b="1" dirty="0">
                <a:solidFill>
                  <a:schemeClr val="bg2"/>
                </a:solidFill>
              </a:rPr>
              <a:t>Word bank:</a:t>
            </a:r>
            <a:endParaRPr lang="en-US" sz="1200" dirty="0"/>
          </a:p>
        </p:txBody>
      </p:sp>
      <p:sp>
        <p:nvSpPr>
          <p:cNvPr id="15" name="Text 13"/>
          <p:cNvSpPr/>
          <p:nvPr/>
        </p:nvSpPr>
        <p:spPr>
          <a:xfrm>
            <a:off x="1463040" y="3931920"/>
            <a:ext cx="612648"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smaller</a:t>
            </a:r>
            <a:endParaRPr lang="en-US" sz="900" dirty="0"/>
          </a:p>
        </p:txBody>
      </p:sp>
      <p:sp>
        <p:nvSpPr>
          <p:cNvPr id="16" name="Text 14"/>
          <p:cNvSpPr/>
          <p:nvPr/>
        </p:nvSpPr>
        <p:spPr>
          <a:xfrm>
            <a:off x="2130552" y="3931920"/>
            <a:ext cx="941832"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atomic radius</a:t>
            </a:r>
            <a:endParaRPr lang="en-US" sz="900" dirty="0"/>
          </a:p>
        </p:txBody>
      </p:sp>
      <p:sp>
        <p:nvSpPr>
          <p:cNvPr id="17" name="Text 15"/>
          <p:cNvSpPr/>
          <p:nvPr/>
        </p:nvSpPr>
        <p:spPr>
          <a:xfrm>
            <a:off x="3127248" y="3931920"/>
            <a:ext cx="557784"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closer</a:t>
            </a:r>
            <a:endParaRPr lang="en-US" sz="900" dirty="0"/>
          </a:p>
        </p:txBody>
      </p:sp>
      <p:sp>
        <p:nvSpPr>
          <p:cNvPr id="18" name="Text 16"/>
          <p:cNvSpPr/>
          <p:nvPr/>
        </p:nvSpPr>
        <p:spPr>
          <a:xfrm>
            <a:off x="3739896" y="3931920"/>
            <a:ext cx="612648"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nucleus</a:t>
            </a:r>
            <a:endParaRPr lang="en-US" sz="900" dirty="0"/>
          </a:p>
        </p:txBody>
      </p:sp>
      <p:sp>
        <p:nvSpPr>
          <p:cNvPr id="19" name="Text 17"/>
          <p:cNvSpPr/>
          <p:nvPr/>
        </p:nvSpPr>
        <p:spPr>
          <a:xfrm>
            <a:off x="4407408" y="3931920"/>
            <a:ext cx="612648"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protons</a:t>
            </a:r>
            <a:endParaRPr lang="en-US" sz="900" dirty="0"/>
          </a:p>
        </p:txBody>
      </p:sp>
      <p:sp>
        <p:nvSpPr>
          <p:cNvPr id="20" name="Text 18"/>
          <p:cNvSpPr/>
          <p:nvPr/>
        </p:nvSpPr>
        <p:spPr>
          <a:xfrm>
            <a:off x="5074920" y="3931920"/>
            <a:ext cx="886968"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pulls harder</a:t>
            </a:r>
            <a:endParaRPr lang="en-US" sz="900" dirty="0"/>
          </a:p>
        </p:txBody>
      </p:sp>
      <p:sp>
        <p:nvSpPr>
          <p:cNvPr id="21" name="Text 19"/>
          <p:cNvSpPr/>
          <p:nvPr/>
        </p:nvSpPr>
        <p:spPr>
          <a:xfrm>
            <a:off x="6016752" y="3931920"/>
            <a:ext cx="1161288"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ionization energy</a:t>
            </a:r>
            <a:endParaRPr lang="en-US" sz="900" dirty="0"/>
          </a:p>
        </p:txBody>
      </p:sp>
      <p:sp>
        <p:nvSpPr>
          <p:cNvPr id="22" name="Text 20"/>
          <p:cNvSpPr/>
          <p:nvPr/>
        </p:nvSpPr>
        <p:spPr>
          <a:xfrm>
            <a:off x="7232904" y="3931920"/>
            <a:ext cx="1161288" cy="320040"/>
          </a:xfrm>
          <a:prstGeom prst="roundRect">
            <a:avLst>
              <a:gd name="adj" fmla="val 34286"/>
            </a:avLst>
          </a:prstGeom>
          <a:solidFill>
            <a:schemeClr val="tx2"/>
          </a:solidFill>
          <a:ln w="9525">
            <a:solidFill>
              <a:schemeClr val="bg2"/>
            </a:solidFill>
            <a:prstDash val="dash"/>
          </a:ln>
        </p:spPr>
        <p:txBody>
          <a:bodyPr wrap="square" lIns="0" tIns="0" rIns="0" bIns="0" rtlCol="0" anchor="ctr"/>
          <a:lstStyle/>
          <a:p>
            <a:pPr algn="ctr" indent="0" marL="0">
              <a:buNone/>
            </a:pPr>
            <a:r>
              <a:rPr lang="en-US" sz="900" dirty="0">
                <a:solidFill>
                  <a:schemeClr val="bg1"/>
                </a:solidFill>
              </a:rPr>
              <a:t>electronegativity</a:t>
            </a:r>
            <a:endParaRPr lang="en-US" sz="9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Cl"/>
          <p:cNvSpPr/>
          <p:nvPr/>
        </p:nvSpPr>
        <p:spPr>
          <a:xfrm>
            <a:off x="696997" y="637744"/>
            <a:ext cx="270214" cy="270214"/>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Cl</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Atom X is larger than atom Y. Which statement is true?</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X has the higher ionization energy</a:t>
            </a:r>
            <a:endParaRPr lang="en-US" sz="1600" dirty="0"/>
          </a:p>
        </p:txBody>
      </p:sp>
      <p:sp>
        <p:nvSpPr>
          <p:cNvPr id="12"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3" name="Text 11"/>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Y has the higher electronegativity</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X holds its electrons more tightly</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They have the same ionization energy</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ection tile 6"/>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Cl"/>
          <p:cNvSpPr/>
          <p:nvPr/>
        </p:nvSpPr>
        <p:spPr>
          <a:xfrm>
            <a:off x="696997" y="637744"/>
            <a:ext cx="270214" cy="270214"/>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6</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Cl</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6 of 9</a:t>
            </a:r>
            <a:endParaRPr lang="en-US" sz="1200" dirty="0"/>
          </a:p>
        </p:txBody>
      </p:sp>
      <p:sp>
        <p:nvSpPr>
          <p:cNvPr id="9"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Atom X is larger than atom Y. Which statement is true?</a:t>
            </a:r>
            <a:endParaRPr lang="en-US" sz="2000" dirty="0"/>
          </a:p>
        </p:txBody>
      </p:sp>
      <p:sp>
        <p:nvSpPr>
          <p:cNvPr id="10"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1" name="Text 9"/>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2" name="Text 10"/>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X has the higher ionization energy</a:t>
            </a:r>
            <a:endParaRPr lang="en-US" sz="1600" dirty="0"/>
          </a:p>
        </p:txBody>
      </p:sp>
      <p:sp>
        <p:nvSpPr>
          <p:cNvPr id="13"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4" name="Text 12"/>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5" name="Text 13"/>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Y has the higher electronegativity</a:t>
            </a:r>
            <a:endParaRPr lang="en-US" sz="1600" dirty="0"/>
          </a:p>
        </p:txBody>
      </p:sp>
      <p:sp>
        <p:nvSpPr>
          <p:cNvPr id="16"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7" name="Text 15"/>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8" name="Text 16"/>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X holds its electrons more tightly</a:t>
            </a:r>
            <a:endParaRPr lang="en-US" sz="1600" dirty="0"/>
          </a:p>
        </p:txBody>
      </p:sp>
      <p:sp>
        <p:nvSpPr>
          <p:cNvPr id="19"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20" name="Text 18"/>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1" name="Text 19"/>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They have the same ionization energy</a:t>
            </a:r>
            <a:endParaRPr lang="en-US" sz="1600" dirty="0"/>
          </a:p>
        </p:txBody>
      </p:sp>
      <p:sp>
        <p:nvSpPr>
          <p:cNvPr id="22"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3" name="Text 21"/>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The smaller atom, Y, holds electrons tighter, so it has the higher ionization energy and the higher electronegativity.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Mg"/>
          <p:cNvSpPr/>
          <p:nvPr/>
        </p:nvSpPr>
        <p:spPr>
          <a:xfrm>
            <a:off x="624634" y="565380"/>
            <a:ext cx="414941" cy="414941"/>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Mg</a:t>
            </a:r>
            <a:endParaRPr lang="en-US" sz="2400" dirty="0"/>
          </a:p>
        </p:txBody>
      </p:sp>
      <p:sp>
        <p:nvSpPr>
          <p:cNvPr id="6"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7 of 9 · about 7 min</a:t>
            </a:r>
            <a:endParaRPr lang="en-US" sz="1200" dirty="0"/>
          </a:p>
        </p:txBody>
      </p:sp>
      <p:sp>
        <p:nvSpPr>
          <p:cNvPr id="7"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Ranking practice</a:t>
            </a:r>
            <a:endParaRPr lang="en-US" sz="3000" dirty="0"/>
          </a:p>
        </p:txBody>
      </p:sp>
      <p:sp>
        <p:nvSpPr>
          <p:cNvPr id="8"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9" name="Text 7"/>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10" name="Text 8"/>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1" name="Text 9"/>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Ranking strategy</a:t>
            </a:r>
            <a:endParaRPr lang="en-US" sz="1400" dirty="0"/>
          </a:p>
        </p:txBody>
      </p:sp>
      <p:sp>
        <p:nvSpPr>
          <p:cNvPr id="12" name="Text 10"/>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3" name="Text 11"/>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Mixed ranking</a:t>
            </a:r>
            <a:endParaRPr lang="en-US" sz="1400" dirty="0"/>
          </a:p>
        </p:txBody>
      </p:sp>
      <p:sp>
        <p:nvSpPr>
          <p:cNvPr id="14" name="Text 12"/>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5" name="Text 13"/>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Increasing ionization energy</a:t>
            </a:r>
            <a:endParaRPr lang="en-US" sz="1400" dirty="0"/>
          </a:p>
        </p:txBody>
      </p:sp>
      <p:sp>
        <p:nvSpPr>
          <p:cNvPr id="16"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7" name="Text 15"/>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8" name="Text 16"/>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9" name="Text 17"/>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Finish 5 mixed ranking rounds</a:t>
            </a:r>
            <a:endParaRPr lang="en-US" sz="1400" dirty="0"/>
          </a:p>
        </p:txBody>
      </p:sp>
      <p:sp>
        <p:nvSpPr>
          <p:cNvPr id="20" name="Text 18"/>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1" name="Text 19"/>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Mg"/>
          <p:cNvSpPr/>
          <p:nvPr/>
        </p:nvSpPr>
        <p:spPr>
          <a:xfrm>
            <a:off x="624634" y="565380"/>
            <a:ext cx="414941" cy="414941"/>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Mg</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Ranking strategy</a:t>
            </a:r>
            <a:endParaRPr lang="en-US" sz="2800" dirty="0"/>
          </a:p>
        </p:txBody>
      </p:sp>
      <p:sp>
        <p:nvSpPr>
          <p:cNvPr id="9" name="Text 7"/>
          <p:cNvSpPr/>
          <p:nvPr/>
        </p:nvSpPr>
        <p:spPr>
          <a:xfrm>
            <a:off x="457200" y="1371600"/>
            <a:ext cx="384048" cy="38404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0" name="Text 8"/>
          <p:cNvSpPr txBox="1"/>
          <p:nvPr/>
        </p:nvSpPr>
        <p:spPr>
          <a:xfrm>
            <a:off x="1005840" y="1325880"/>
            <a:ext cx="3566160" cy="502920"/>
          </a:xfrm>
          <a:prstGeom prst="rect">
            <a:avLst/>
          </a:prstGeom>
          <a:noFill/>
          <a:ln/>
        </p:spPr>
        <p:txBody>
          <a:bodyPr wrap="square" lIns="0" tIns="0" rIns="0" bIns="0" rtlCol="0" anchor="ctr"/>
          <a:lstStyle/>
          <a:p>
            <a:pPr indent="0" marL="0">
              <a:buNone/>
            </a:pPr>
            <a:r>
              <a:rPr lang="en-US" sz="1400" dirty="0">
                <a:solidFill>
                  <a:schemeClr val="bg1"/>
                </a:solidFill>
              </a:rPr>
              <a:t>Find each element's period and group.</a:t>
            </a:r>
            <a:endParaRPr lang="en-US" sz="1400" dirty="0"/>
          </a:p>
        </p:txBody>
      </p:sp>
      <p:sp>
        <p:nvSpPr>
          <p:cNvPr id="11" name="Text 9"/>
          <p:cNvSpPr/>
          <p:nvPr/>
        </p:nvSpPr>
        <p:spPr>
          <a:xfrm>
            <a:off x="457200" y="2011680"/>
            <a:ext cx="384048" cy="38404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Text 10"/>
          <p:cNvSpPr txBox="1"/>
          <p:nvPr/>
        </p:nvSpPr>
        <p:spPr>
          <a:xfrm>
            <a:off x="1005840" y="1965960"/>
            <a:ext cx="3566160" cy="502920"/>
          </a:xfrm>
          <a:prstGeom prst="rect">
            <a:avLst/>
          </a:prstGeom>
          <a:noFill/>
          <a:ln/>
        </p:spPr>
        <p:txBody>
          <a:bodyPr wrap="square" lIns="0" tIns="0" rIns="0" bIns="0" rtlCol="0" anchor="ctr"/>
          <a:lstStyle/>
          <a:p>
            <a:pPr indent="0" marL="0">
              <a:buNone/>
            </a:pPr>
            <a:r>
              <a:rPr lang="en-US" sz="1400" dirty="0">
                <a:solidFill>
                  <a:schemeClr val="bg1"/>
                </a:solidFill>
              </a:rPr>
              <a:t>Rank by atomic radius first: lower and farther left means larger.</a:t>
            </a:r>
            <a:endParaRPr lang="en-US" sz="1400" dirty="0"/>
          </a:p>
        </p:txBody>
      </p:sp>
      <p:sp>
        <p:nvSpPr>
          <p:cNvPr id="13" name="Text 11"/>
          <p:cNvSpPr/>
          <p:nvPr/>
        </p:nvSpPr>
        <p:spPr>
          <a:xfrm>
            <a:off x="457200" y="2651760"/>
            <a:ext cx="384048" cy="38404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4" name="Text 12"/>
          <p:cNvSpPr txBox="1"/>
          <p:nvPr/>
        </p:nvSpPr>
        <p:spPr>
          <a:xfrm>
            <a:off x="1005840" y="2606040"/>
            <a:ext cx="3566160" cy="502920"/>
          </a:xfrm>
          <a:prstGeom prst="rect">
            <a:avLst/>
          </a:prstGeom>
          <a:noFill/>
          <a:ln/>
        </p:spPr>
        <p:txBody>
          <a:bodyPr wrap="square" lIns="0" tIns="0" rIns="0" bIns="0" rtlCol="0" anchor="ctr"/>
          <a:lstStyle/>
          <a:p>
            <a:pPr indent="0" marL="0">
              <a:buNone/>
            </a:pPr>
            <a:r>
              <a:rPr lang="en-US" sz="1400" dirty="0">
                <a:solidFill>
                  <a:schemeClr val="bg1"/>
                </a:solidFill>
              </a:rPr>
              <a:t>For ionization energy or electronegativity, flip the radius order.</a:t>
            </a:r>
            <a:endParaRPr lang="en-US" sz="1400" dirty="0"/>
          </a:p>
        </p:txBody>
      </p:sp>
      <p:sp>
        <p:nvSpPr>
          <p:cNvPr id="15" name="Atomic radius trend"/>
          <p:cNvSpPr/>
          <p:nvPr/>
        </p:nvSpPr>
        <p:spPr>
          <a:xfrm>
            <a:off x="4846320" y="1325880"/>
            <a:ext cx="3840480" cy="868680"/>
          </a:xfrm>
          <a:prstGeom prst="roundRect">
            <a:avLst>
              <a:gd name="adj" fmla="val 10526"/>
            </a:avLst>
          </a:prstGeom>
          <a:solidFill>
            <a:schemeClr val="tx2"/>
          </a:solidFill>
          <a:ln w="9525">
            <a:solidFill>
              <a:schemeClr val="bg2">
                <a:alpha val="30000"/>
              </a:schemeClr>
            </a:solidFill>
            <a:prstDash val="solid"/>
          </a:ln>
        </p:spPr>
      </p:sp>
      <p:sp>
        <p:nvSpPr>
          <p:cNvPr id="16" name="Trend bar"/>
          <p:cNvSpPr/>
          <p:nvPr/>
        </p:nvSpPr>
        <p:spPr>
          <a:xfrm>
            <a:off x="4846320" y="1371600"/>
            <a:ext cx="64008" cy="777240"/>
          </a:xfrm>
          <a:prstGeom prst="rect">
            <a:avLst/>
          </a:prstGeom>
          <a:solidFill>
            <a:schemeClr val="accent1"/>
          </a:solidFill>
          <a:ln w="6350">
            <a:solidFill>
              <a:schemeClr val="accent1"/>
            </a:solidFill>
            <a:prstDash val="solid"/>
          </a:ln>
        </p:spPr>
      </p:sp>
      <p:sp>
        <p:nvSpPr>
          <p:cNvPr id="17" name="Text 15"/>
          <p:cNvSpPr txBox="1"/>
          <p:nvPr/>
        </p:nvSpPr>
        <p:spPr>
          <a:xfrm>
            <a:off x="5029200" y="1325880"/>
            <a:ext cx="3566160" cy="868680"/>
          </a:xfrm>
          <a:prstGeom prst="rect">
            <a:avLst/>
          </a:prstGeom>
          <a:noFill/>
          <a:ln/>
        </p:spPr>
        <p:txBody>
          <a:bodyPr wrap="square" lIns="0" tIns="0" rIns="0" bIns="0" rtlCol="0" anchor="ctr"/>
          <a:lstStyle/>
          <a:p>
            <a:pPr indent="0" marL="0">
              <a:buNone/>
            </a:pPr>
            <a:r>
              <a:rPr lang="en-US" sz="1300" b="1" dirty="0">
                <a:solidFill>
                  <a:schemeClr val="accent1"/>
                </a:solidFill>
              </a:rPr>
              <a:t>Atomic radius</a:t>
            </a:r>
            <a:endParaRPr lang="en-US" sz="1300" dirty="0"/>
          </a:p>
          <a:p>
            <a:pPr indent="0" marL="0">
              <a:buNone/>
            </a:pPr>
            <a:r>
              <a:rPr lang="en-US" sz="1300" dirty="0">
                <a:solidFill>
                  <a:schemeClr val="bg2"/>
                </a:solidFill>
              </a:rPr>
              <a:t>Across a period: </a:t>
            </a:r>
            <a:pPr indent="0" marL="0">
              <a:buNone/>
            </a:pPr>
            <a:r>
              <a:rPr lang="en-US" sz="1300" b="1" dirty="0">
                <a:solidFill>
                  <a:schemeClr val="bg1"/>
                </a:solidFill>
              </a:rPr>
              <a:t>gets smaller →</a:t>
            </a:r>
            <a:endParaRPr lang="en-US" sz="1300" dirty="0"/>
          </a:p>
          <a:p>
            <a:pPr indent="0" marL="0">
              <a:buNone/>
            </a:pPr>
            <a:r>
              <a:rPr lang="en-US" sz="1300" dirty="0">
                <a:solidFill>
                  <a:schemeClr val="bg2"/>
                </a:solidFill>
              </a:rPr>
              <a:t>Down a group: </a:t>
            </a:r>
            <a:pPr indent="0" marL="0">
              <a:buNone/>
            </a:pPr>
            <a:r>
              <a:rPr lang="en-US" sz="1300" b="1" dirty="0">
                <a:solidFill>
                  <a:schemeClr val="bg1"/>
                </a:solidFill>
              </a:rPr>
              <a:t>gets larger ↓</a:t>
            </a:r>
            <a:endParaRPr lang="en-US" sz="1300" dirty="0"/>
          </a:p>
        </p:txBody>
      </p:sp>
      <p:sp>
        <p:nvSpPr>
          <p:cNvPr id="18" name="Ionization energy trend"/>
          <p:cNvSpPr/>
          <p:nvPr/>
        </p:nvSpPr>
        <p:spPr>
          <a:xfrm>
            <a:off x="4846320" y="2286000"/>
            <a:ext cx="3840480" cy="868680"/>
          </a:xfrm>
          <a:prstGeom prst="roundRect">
            <a:avLst>
              <a:gd name="adj" fmla="val 10526"/>
            </a:avLst>
          </a:prstGeom>
          <a:solidFill>
            <a:schemeClr val="tx2"/>
          </a:solidFill>
          <a:ln w="9525">
            <a:solidFill>
              <a:schemeClr val="bg2">
                <a:alpha val="30000"/>
              </a:schemeClr>
            </a:solidFill>
            <a:prstDash val="solid"/>
          </a:ln>
        </p:spPr>
      </p:sp>
      <p:sp>
        <p:nvSpPr>
          <p:cNvPr id="19" name="Trend bar"/>
          <p:cNvSpPr/>
          <p:nvPr/>
        </p:nvSpPr>
        <p:spPr>
          <a:xfrm>
            <a:off x="4846320" y="2331720"/>
            <a:ext cx="64008" cy="777240"/>
          </a:xfrm>
          <a:prstGeom prst="rect">
            <a:avLst/>
          </a:prstGeom>
          <a:solidFill>
            <a:schemeClr val="accent2"/>
          </a:solidFill>
          <a:ln w="6350">
            <a:solidFill>
              <a:schemeClr val="accent2"/>
            </a:solidFill>
            <a:prstDash val="solid"/>
          </a:ln>
        </p:spPr>
      </p:sp>
      <p:sp>
        <p:nvSpPr>
          <p:cNvPr id="20" name="Text 18"/>
          <p:cNvSpPr txBox="1"/>
          <p:nvPr/>
        </p:nvSpPr>
        <p:spPr>
          <a:xfrm>
            <a:off x="5029200" y="2286000"/>
            <a:ext cx="3566160" cy="868680"/>
          </a:xfrm>
          <a:prstGeom prst="rect">
            <a:avLst/>
          </a:prstGeom>
          <a:noFill/>
          <a:ln/>
        </p:spPr>
        <p:txBody>
          <a:bodyPr wrap="square" lIns="0" tIns="0" rIns="0" bIns="0" rtlCol="0" anchor="ctr"/>
          <a:lstStyle/>
          <a:p>
            <a:pPr indent="0" marL="0">
              <a:buNone/>
            </a:pPr>
            <a:r>
              <a:rPr lang="en-US" sz="1300" b="1" dirty="0">
                <a:solidFill>
                  <a:schemeClr val="accent2"/>
                </a:solidFill>
              </a:rPr>
              <a:t>Ionization energy</a:t>
            </a:r>
            <a:endParaRPr lang="en-US" sz="1300" dirty="0"/>
          </a:p>
          <a:p>
            <a:pPr indent="0" marL="0">
              <a:buNone/>
            </a:pPr>
            <a:r>
              <a:rPr lang="en-US" sz="1300" dirty="0">
                <a:solidFill>
                  <a:schemeClr val="bg2"/>
                </a:solidFill>
              </a:rPr>
              <a:t>Across a period: </a:t>
            </a:r>
            <a:pPr indent="0" marL="0">
              <a:buNone/>
            </a:pPr>
            <a:r>
              <a:rPr lang="en-US" sz="1300" b="1" dirty="0">
                <a:solidFill>
                  <a:schemeClr val="bg1"/>
                </a:solidFill>
              </a:rPr>
              <a:t>gets higher →</a:t>
            </a:r>
            <a:endParaRPr lang="en-US" sz="1300" dirty="0"/>
          </a:p>
          <a:p>
            <a:pPr indent="0" marL="0">
              <a:buNone/>
            </a:pPr>
            <a:r>
              <a:rPr lang="en-US" sz="1300" dirty="0">
                <a:solidFill>
                  <a:schemeClr val="bg2"/>
                </a:solidFill>
              </a:rPr>
              <a:t>Down a group: </a:t>
            </a:r>
            <a:pPr indent="0" marL="0">
              <a:buNone/>
            </a:pPr>
            <a:r>
              <a:rPr lang="en-US" sz="1300" b="1" dirty="0">
                <a:solidFill>
                  <a:schemeClr val="bg1"/>
                </a:solidFill>
              </a:rPr>
              <a:t>gets lower ↓</a:t>
            </a:r>
            <a:endParaRPr lang="en-US" sz="1300" dirty="0"/>
          </a:p>
        </p:txBody>
      </p:sp>
      <p:sp>
        <p:nvSpPr>
          <p:cNvPr id="21" name="Electronegativity trend"/>
          <p:cNvSpPr/>
          <p:nvPr/>
        </p:nvSpPr>
        <p:spPr>
          <a:xfrm>
            <a:off x="4846320" y="3246120"/>
            <a:ext cx="3840480" cy="868680"/>
          </a:xfrm>
          <a:prstGeom prst="roundRect">
            <a:avLst>
              <a:gd name="adj" fmla="val 10526"/>
            </a:avLst>
          </a:prstGeom>
          <a:solidFill>
            <a:schemeClr val="tx2"/>
          </a:solidFill>
          <a:ln w="9525">
            <a:solidFill>
              <a:schemeClr val="bg2">
                <a:alpha val="30000"/>
              </a:schemeClr>
            </a:solidFill>
            <a:prstDash val="solid"/>
          </a:ln>
        </p:spPr>
      </p:sp>
      <p:sp>
        <p:nvSpPr>
          <p:cNvPr id="22" name="Trend bar"/>
          <p:cNvSpPr/>
          <p:nvPr/>
        </p:nvSpPr>
        <p:spPr>
          <a:xfrm>
            <a:off x="4846320" y="3291840"/>
            <a:ext cx="64008" cy="777240"/>
          </a:xfrm>
          <a:prstGeom prst="rect">
            <a:avLst/>
          </a:prstGeom>
          <a:solidFill>
            <a:schemeClr val="accent6"/>
          </a:solidFill>
          <a:ln w="6350">
            <a:solidFill>
              <a:schemeClr val="accent6"/>
            </a:solidFill>
            <a:prstDash val="solid"/>
          </a:ln>
        </p:spPr>
      </p:sp>
      <p:sp>
        <p:nvSpPr>
          <p:cNvPr id="23" name="Text 21"/>
          <p:cNvSpPr txBox="1"/>
          <p:nvPr/>
        </p:nvSpPr>
        <p:spPr>
          <a:xfrm>
            <a:off x="5029200" y="3246120"/>
            <a:ext cx="3566160" cy="868680"/>
          </a:xfrm>
          <a:prstGeom prst="rect">
            <a:avLst/>
          </a:prstGeom>
          <a:noFill/>
          <a:ln/>
        </p:spPr>
        <p:txBody>
          <a:bodyPr wrap="square" lIns="0" tIns="0" rIns="0" bIns="0" rtlCol="0" anchor="ctr"/>
          <a:lstStyle/>
          <a:p>
            <a:pPr indent="0" marL="0">
              <a:buNone/>
            </a:pPr>
            <a:r>
              <a:rPr lang="en-US" sz="1300" b="1" dirty="0">
                <a:solidFill>
                  <a:schemeClr val="accent6"/>
                </a:solidFill>
              </a:rPr>
              <a:t>Electronegativity</a:t>
            </a:r>
            <a:endParaRPr lang="en-US" sz="1300" dirty="0"/>
          </a:p>
          <a:p>
            <a:pPr indent="0" marL="0">
              <a:buNone/>
            </a:pPr>
            <a:r>
              <a:rPr lang="en-US" sz="1300" dirty="0">
                <a:solidFill>
                  <a:schemeClr val="bg2"/>
                </a:solidFill>
              </a:rPr>
              <a:t>Across a period: </a:t>
            </a:r>
            <a:pPr indent="0" marL="0">
              <a:buNone/>
            </a:pPr>
            <a:r>
              <a:rPr lang="en-US" sz="1300" b="1" dirty="0">
                <a:solidFill>
                  <a:schemeClr val="bg1"/>
                </a:solidFill>
              </a:rPr>
              <a:t>gets higher →</a:t>
            </a:r>
            <a:endParaRPr lang="en-US" sz="1300" dirty="0"/>
          </a:p>
          <a:p>
            <a:pPr indent="0" marL="0">
              <a:buNone/>
            </a:pPr>
            <a:r>
              <a:rPr lang="en-US" sz="1300" dirty="0">
                <a:solidFill>
                  <a:schemeClr val="bg2"/>
                </a:solidFill>
              </a:rPr>
              <a:t>Down a group: </a:t>
            </a:r>
            <a:pPr indent="0" marL="0">
              <a:buNone/>
            </a:pPr>
            <a:r>
              <a:rPr lang="en-US" sz="1300" b="1" dirty="0">
                <a:solidFill>
                  <a:schemeClr val="bg1"/>
                </a:solidFill>
              </a:rPr>
              <a:t>gets lower ↓</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Mg"/>
          <p:cNvSpPr/>
          <p:nvPr/>
        </p:nvSpPr>
        <p:spPr>
          <a:xfrm>
            <a:off x="624634" y="565380"/>
            <a:ext cx="414941" cy="414941"/>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Mg</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Mixed ranking</a:t>
            </a:r>
            <a:endParaRPr lang="en-US" sz="2800" dirty="0"/>
          </a:p>
        </p:txBody>
      </p:sp>
      <p:sp>
        <p:nvSpPr>
          <p:cNvPr id="9" name="Round 1"/>
          <p:cNvSpPr/>
          <p:nvPr/>
        </p:nvSpPr>
        <p:spPr>
          <a:xfrm>
            <a:off x="457200" y="1417320"/>
            <a:ext cx="8229600" cy="530352"/>
          </a:xfrm>
          <a:prstGeom prst="roundRect">
            <a:avLst>
              <a:gd name="adj" fmla="val 17241"/>
            </a:avLst>
          </a:prstGeom>
          <a:solidFill>
            <a:schemeClr val="tx2"/>
          </a:solidFill>
          <a:ln w="9525">
            <a:solidFill>
              <a:schemeClr val="bg2">
                <a:alpha val="30000"/>
              </a:schemeClr>
            </a:solidFill>
            <a:prstDash val="solid"/>
          </a:ln>
        </p:spPr>
      </p:sp>
      <p:sp>
        <p:nvSpPr>
          <p:cNvPr id="10" name="Text 8"/>
          <p:cNvSpPr txBox="1"/>
          <p:nvPr/>
        </p:nvSpPr>
        <p:spPr>
          <a:xfrm>
            <a:off x="594360" y="1417320"/>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1. </a:t>
            </a:r>
            <a:pPr indent="0" marL="0">
              <a:buNone/>
            </a:pPr>
            <a:r>
              <a:rPr lang="en-US" sz="1300" b="1" dirty="0">
                <a:solidFill>
                  <a:schemeClr val="accent2"/>
                </a:solidFill>
              </a:rPr>
              <a:t>ionization energy, </a:t>
            </a:r>
            <a:pPr indent="0" marL="0">
              <a:buNone/>
            </a:pPr>
            <a:r>
              <a:rPr lang="en-US" sz="1300" dirty="0">
                <a:solidFill>
                  <a:schemeClr val="bg1"/>
                </a:solidFill>
              </a:rPr>
              <a:t>lowest → highest</a:t>
            </a:r>
            <a:endParaRPr lang="en-US" sz="1300" dirty="0"/>
          </a:p>
        </p:txBody>
      </p:sp>
      <p:sp>
        <p:nvSpPr>
          <p:cNvPr id="11" name="Tile Mg"/>
          <p:cNvSpPr/>
          <p:nvPr/>
        </p:nvSpPr>
        <p:spPr>
          <a:xfrm>
            <a:off x="3749040" y="1472184"/>
            <a:ext cx="420624" cy="420624"/>
          </a:xfrm>
          <a:prstGeom prst="roundRect">
            <a:avLst>
              <a:gd name="adj" fmla="val 12000"/>
            </a:avLst>
          </a:prstGeom>
          <a:solidFill>
            <a:srgbClr val="FFCB5C">
              <a:alpha val="30000"/>
            </a:srgbClr>
          </a:solidFill>
          <a:ln w="19050">
            <a:solidFill>
              <a:srgbClr val="FFCB5C"/>
            </a:solidFill>
            <a:prstDash val="solid"/>
          </a:ln>
        </p:spPr>
      </p:sp>
      <p:sp>
        <p:nvSpPr>
          <p:cNvPr id="12" name="Text 10"/>
          <p:cNvSpPr txBox="1"/>
          <p:nvPr/>
        </p:nvSpPr>
        <p:spPr>
          <a:xfrm>
            <a:off x="3782690" y="1493215"/>
            <a:ext cx="252374" cy="100950"/>
          </a:xfrm>
          <a:prstGeom prst="rect">
            <a:avLst/>
          </a:prstGeom>
          <a:noFill/>
          <a:ln/>
        </p:spPr>
        <p:txBody>
          <a:bodyPr wrap="square" lIns="0" tIns="0" rIns="0" bIns="0" rtlCol="0" anchor="t"/>
          <a:lstStyle/>
          <a:p>
            <a:pPr indent="0" marL="0">
              <a:buNone/>
            </a:pPr>
            <a:r>
              <a:rPr lang="en-US" sz="600" dirty="0">
                <a:solidFill>
                  <a:schemeClr val="bg2"/>
                </a:solidFill>
              </a:rPr>
              <a:t>12</a:t>
            </a:r>
            <a:endParaRPr lang="en-US" sz="600" dirty="0"/>
          </a:p>
        </p:txBody>
      </p:sp>
      <p:sp>
        <p:nvSpPr>
          <p:cNvPr id="13" name="Text 11"/>
          <p:cNvSpPr txBox="1"/>
          <p:nvPr/>
        </p:nvSpPr>
        <p:spPr>
          <a:xfrm>
            <a:off x="3749040" y="1539484"/>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Mg</a:t>
            </a:r>
            <a:endParaRPr lang="en-US" sz="1500" dirty="0"/>
          </a:p>
        </p:txBody>
      </p:sp>
      <p:sp>
        <p:nvSpPr>
          <p:cNvPr id="14" name="Tile S"/>
          <p:cNvSpPr/>
          <p:nvPr/>
        </p:nvSpPr>
        <p:spPr>
          <a:xfrm>
            <a:off x="4937760" y="1472184"/>
            <a:ext cx="420624" cy="420624"/>
          </a:xfrm>
          <a:prstGeom prst="roundRect">
            <a:avLst>
              <a:gd name="adj" fmla="val 12000"/>
            </a:avLst>
          </a:prstGeom>
          <a:solidFill>
            <a:srgbClr val="45C08F">
              <a:alpha val="30000"/>
            </a:srgbClr>
          </a:solidFill>
          <a:ln w="19050">
            <a:solidFill>
              <a:srgbClr val="45C08F"/>
            </a:solidFill>
            <a:prstDash val="solid"/>
          </a:ln>
        </p:spPr>
      </p:sp>
      <p:sp>
        <p:nvSpPr>
          <p:cNvPr id="15" name="Text 13"/>
          <p:cNvSpPr txBox="1"/>
          <p:nvPr/>
        </p:nvSpPr>
        <p:spPr>
          <a:xfrm>
            <a:off x="4971410" y="1493215"/>
            <a:ext cx="252374" cy="100950"/>
          </a:xfrm>
          <a:prstGeom prst="rect">
            <a:avLst/>
          </a:prstGeom>
          <a:noFill/>
          <a:ln/>
        </p:spPr>
        <p:txBody>
          <a:bodyPr wrap="square" lIns="0" tIns="0" rIns="0" bIns="0" rtlCol="0" anchor="t"/>
          <a:lstStyle/>
          <a:p>
            <a:pPr indent="0" marL="0">
              <a:buNone/>
            </a:pPr>
            <a:r>
              <a:rPr lang="en-US" sz="600" dirty="0">
                <a:solidFill>
                  <a:schemeClr val="bg2"/>
                </a:solidFill>
              </a:rPr>
              <a:t>16</a:t>
            </a:r>
            <a:endParaRPr lang="en-US" sz="600" dirty="0"/>
          </a:p>
        </p:txBody>
      </p:sp>
      <p:sp>
        <p:nvSpPr>
          <p:cNvPr id="16" name="Text 14"/>
          <p:cNvSpPr txBox="1"/>
          <p:nvPr/>
        </p:nvSpPr>
        <p:spPr>
          <a:xfrm>
            <a:off x="4937760" y="1539484"/>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S</a:t>
            </a:r>
            <a:endParaRPr lang="en-US" sz="1500" dirty="0"/>
          </a:p>
        </p:txBody>
      </p:sp>
      <p:sp>
        <p:nvSpPr>
          <p:cNvPr id="17" name="Tile Na"/>
          <p:cNvSpPr/>
          <p:nvPr/>
        </p:nvSpPr>
        <p:spPr>
          <a:xfrm>
            <a:off x="6126480" y="1472184"/>
            <a:ext cx="420624" cy="420624"/>
          </a:xfrm>
          <a:prstGeom prst="roundRect">
            <a:avLst>
              <a:gd name="adj" fmla="val 12000"/>
            </a:avLst>
          </a:prstGeom>
          <a:solidFill>
            <a:srgbClr val="FF8F5E">
              <a:alpha val="30000"/>
            </a:srgbClr>
          </a:solidFill>
          <a:ln w="19050">
            <a:solidFill>
              <a:srgbClr val="FF8F5E"/>
            </a:solidFill>
            <a:prstDash val="solid"/>
          </a:ln>
        </p:spPr>
      </p:sp>
      <p:sp>
        <p:nvSpPr>
          <p:cNvPr id="18" name="Text 16"/>
          <p:cNvSpPr txBox="1"/>
          <p:nvPr/>
        </p:nvSpPr>
        <p:spPr>
          <a:xfrm>
            <a:off x="6160130" y="1493215"/>
            <a:ext cx="252374" cy="100950"/>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19" name="Text 17"/>
          <p:cNvSpPr txBox="1"/>
          <p:nvPr/>
        </p:nvSpPr>
        <p:spPr>
          <a:xfrm>
            <a:off x="6126480" y="1539484"/>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a:t>
            </a:r>
            <a:endParaRPr lang="en-US" sz="1500" dirty="0"/>
          </a:p>
        </p:txBody>
      </p:sp>
      <p:sp>
        <p:nvSpPr>
          <p:cNvPr id="20" name="Round 2"/>
          <p:cNvSpPr/>
          <p:nvPr/>
        </p:nvSpPr>
        <p:spPr>
          <a:xfrm>
            <a:off x="457200" y="2039112"/>
            <a:ext cx="8229600" cy="530352"/>
          </a:xfrm>
          <a:prstGeom prst="roundRect">
            <a:avLst>
              <a:gd name="adj" fmla="val 17241"/>
            </a:avLst>
          </a:prstGeom>
          <a:solidFill>
            <a:schemeClr val="tx2"/>
          </a:solidFill>
          <a:ln w="9525">
            <a:solidFill>
              <a:schemeClr val="bg2">
                <a:alpha val="30000"/>
              </a:schemeClr>
            </a:solidFill>
            <a:prstDash val="solid"/>
          </a:ln>
        </p:spPr>
      </p:sp>
      <p:sp>
        <p:nvSpPr>
          <p:cNvPr id="21" name="Text 19"/>
          <p:cNvSpPr txBox="1"/>
          <p:nvPr/>
        </p:nvSpPr>
        <p:spPr>
          <a:xfrm>
            <a:off x="594360" y="2039112"/>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2. </a:t>
            </a:r>
            <a:pPr indent="0" marL="0">
              <a:buNone/>
            </a:pPr>
            <a:r>
              <a:rPr lang="en-US" sz="1300" b="1" dirty="0">
                <a:solidFill>
                  <a:schemeClr val="accent6"/>
                </a:solidFill>
              </a:rPr>
              <a:t>electronegativity, </a:t>
            </a:r>
            <a:pPr indent="0" marL="0">
              <a:buNone/>
            </a:pPr>
            <a:r>
              <a:rPr lang="en-US" sz="1300" dirty="0">
                <a:solidFill>
                  <a:schemeClr val="bg1"/>
                </a:solidFill>
              </a:rPr>
              <a:t>highest → lowest</a:t>
            </a:r>
            <a:endParaRPr lang="en-US" sz="1300" dirty="0"/>
          </a:p>
        </p:txBody>
      </p:sp>
      <p:sp>
        <p:nvSpPr>
          <p:cNvPr id="22" name="Tile F"/>
          <p:cNvSpPr/>
          <p:nvPr/>
        </p:nvSpPr>
        <p:spPr>
          <a:xfrm>
            <a:off x="3749040" y="2093976"/>
            <a:ext cx="420624" cy="420624"/>
          </a:xfrm>
          <a:prstGeom prst="roundRect">
            <a:avLst>
              <a:gd name="adj" fmla="val 12000"/>
            </a:avLst>
          </a:prstGeom>
          <a:solidFill>
            <a:srgbClr val="F477B8">
              <a:alpha val="30000"/>
            </a:srgbClr>
          </a:solidFill>
          <a:ln w="19050">
            <a:solidFill>
              <a:srgbClr val="F477B8"/>
            </a:solidFill>
            <a:prstDash val="solid"/>
          </a:ln>
        </p:spPr>
      </p:sp>
      <p:sp>
        <p:nvSpPr>
          <p:cNvPr id="23" name="Text 21"/>
          <p:cNvSpPr txBox="1"/>
          <p:nvPr/>
        </p:nvSpPr>
        <p:spPr>
          <a:xfrm>
            <a:off x="3782690" y="2115007"/>
            <a:ext cx="252374" cy="100950"/>
          </a:xfrm>
          <a:prstGeom prst="rect">
            <a:avLst/>
          </a:prstGeom>
          <a:noFill/>
          <a:ln/>
        </p:spPr>
        <p:txBody>
          <a:bodyPr wrap="square" lIns="0" tIns="0" rIns="0" bIns="0" rtlCol="0" anchor="t"/>
          <a:lstStyle/>
          <a:p>
            <a:pPr indent="0" marL="0">
              <a:buNone/>
            </a:pPr>
            <a:r>
              <a:rPr lang="en-US" sz="600" dirty="0">
                <a:solidFill>
                  <a:schemeClr val="bg2"/>
                </a:solidFill>
              </a:rPr>
              <a:t>9</a:t>
            </a:r>
            <a:endParaRPr lang="en-US" sz="600" dirty="0"/>
          </a:p>
        </p:txBody>
      </p:sp>
      <p:sp>
        <p:nvSpPr>
          <p:cNvPr id="24" name="Text 22"/>
          <p:cNvSpPr txBox="1"/>
          <p:nvPr/>
        </p:nvSpPr>
        <p:spPr>
          <a:xfrm>
            <a:off x="3749040" y="2161276"/>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25" name="Tile Br"/>
          <p:cNvSpPr/>
          <p:nvPr/>
        </p:nvSpPr>
        <p:spPr>
          <a:xfrm>
            <a:off x="4937760" y="2093976"/>
            <a:ext cx="420624" cy="420624"/>
          </a:xfrm>
          <a:prstGeom prst="roundRect">
            <a:avLst>
              <a:gd name="adj" fmla="val 12000"/>
            </a:avLst>
          </a:prstGeom>
          <a:solidFill>
            <a:srgbClr val="F477B8">
              <a:alpha val="30000"/>
            </a:srgbClr>
          </a:solidFill>
          <a:ln w="19050">
            <a:solidFill>
              <a:srgbClr val="F477B8"/>
            </a:solidFill>
            <a:prstDash val="solid"/>
          </a:ln>
        </p:spPr>
      </p:sp>
      <p:sp>
        <p:nvSpPr>
          <p:cNvPr id="26" name="Text 24"/>
          <p:cNvSpPr txBox="1"/>
          <p:nvPr/>
        </p:nvSpPr>
        <p:spPr>
          <a:xfrm>
            <a:off x="4971410" y="2115007"/>
            <a:ext cx="252374" cy="100950"/>
          </a:xfrm>
          <a:prstGeom prst="rect">
            <a:avLst/>
          </a:prstGeom>
          <a:noFill/>
          <a:ln/>
        </p:spPr>
        <p:txBody>
          <a:bodyPr wrap="square" lIns="0" tIns="0" rIns="0" bIns="0" rtlCol="0" anchor="t"/>
          <a:lstStyle/>
          <a:p>
            <a:pPr indent="0" marL="0">
              <a:buNone/>
            </a:pPr>
            <a:r>
              <a:rPr lang="en-US" sz="600" dirty="0">
                <a:solidFill>
                  <a:schemeClr val="bg2"/>
                </a:solidFill>
              </a:rPr>
              <a:t>35</a:t>
            </a:r>
            <a:endParaRPr lang="en-US" sz="600" dirty="0"/>
          </a:p>
        </p:txBody>
      </p:sp>
      <p:sp>
        <p:nvSpPr>
          <p:cNvPr id="27" name="Text 25"/>
          <p:cNvSpPr txBox="1"/>
          <p:nvPr/>
        </p:nvSpPr>
        <p:spPr>
          <a:xfrm>
            <a:off x="4937760" y="2161276"/>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Br</a:t>
            </a:r>
            <a:endParaRPr lang="en-US" sz="1500" dirty="0"/>
          </a:p>
        </p:txBody>
      </p:sp>
      <p:sp>
        <p:nvSpPr>
          <p:cNvPr id="28" name="Tile Cl"/>
          <p:cNvSpPr/>
          <p:nvPr/>
        </p:nvSpPr>
        <p:spPr>
          <a:xfrm>
            <a:off x="6126480" y="2093976"/>
            <a:ext cx="420624" cy="420624"/>
          </a:xfrm>
          <a:prstGeom prst="roundRect">
            <a:avLst>
              <a:gd name="adj" fmla="val 12000"/>
            </a:avLst>
          </a:prstGeom>
          <a:solidFill>
            <a:srgbClr val="F477B8">
              <a:alpha val="30000"/>
            </a:srgbClr>
          </a:solidFill>
          <a:ln w="19050">
            <a:solidFill>
              <a:srgbClr val="F477B8"/>
            </a:solidFill>
            <a:prstDash val="solid"/>
          </a:ln>
        </p:spPr>
      </p:sp>
      <p:sp>
        <p:nvSpPr>
          <p:cNvPr id="29" name="Text 27"/>
          <p:cNvSpPr txBox="1"/>
          <p:nvPr/>
        </p:nvSpPr>
        <p:spPr>
          <a:xfrm>
            <a:off x="6160130" y="2115007"/>
            <a:ext cx="252374" cy="100950"/>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30" name="Text 28"/>
          <p:cNvSpPr txBox="1"/>
          <p:nvPr/>
        </p:nvSpPr>
        <p:spPr>
          <a:xfrm>
            <a:off x="6126480" y="2161276"/>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Cl</a:t>
            </a:r>
            <a:endParaRPr lang="en-US" sz="1500" dirty="0"/>
          </a:p>
        </p:txBody>
      </p:sp>
      <p:sp>
        <p:nvSpPr>
          <p:cNvPr id="31" name="Round 3"/>
          <p:cNvSpPr/>
          <p:nvPr/>
        </p:nvSpPr>
        <p:spPr>
          <a:xfrm>
            <a:off x="457200" y="2660904"/>
            <a:ext cx="8229600" cy="530352"/>
          </a:xfrm>
          <a:prstGeom prst="roundRect">
            <a:avLst>
              <a:gd name="adj" fmla="val 17241"/>
            </a:avLst>
          </a:prstGeom>
          <a:solidFill>
            <a:schemeClr val="tx2"/>
          </a:solidFill>
          <a:ln w="9525">
            <a:solidFill>
              <a:schemeClr val="bg2">
                <a:alpha val="30000"/>
              </a:schemeClr>
            </a:solidFill>
            <a:prstDash val="solid"/>
          </a:ln>
        </p:spPr>
      </p:sp>
      <p:sp>
        <p:nvSpPr>
          <p:cNvPr id="32" name="Text 30"/>
          <p:cNvSpPr txBox="1"/>
          <p:nvPr/>
        </p:nvSpPr>
        <p:spPr>
          <a:xfrm>
            <a:off x="594360" y="2660904"/>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3. </a:t>
            </a:r>
            <a:pPr indent="0" marL="0">
              <a:buNone/>
            </a:pPr>
            <a:r>
              <a:rPr lang="en-US" sz="1300" b="1" dirty="0">
                <a:solidFill>
                  <a:schemeClr val="accent2"/>
                </a:solidFill>
              </a:rPr>
              <a:t>ionization energy, </a:t>
            </a:r>
            <a:pPr indent="0" marL="0">
              <a:buNone/>
            </a:pPr>
            <a:r>
              <a:rPr lang="en-US" sz="1300" dirty="0">
                <a:solidFill>
                  <a:schemeClr val="bg1"/>
                </a:solidFill>
              </a:rPr>
              <a:t>highest → lowest</a:t>
            </a:r>
            <a:endParaRPr lang="en-US" sz="1300" dirty="0"/>
          </a:p>
        </p:txBody>
      </p:sp>
      <p:sp>
        <p:nvSpPr>
          <p:cNvPr id="33" name="Tile K"/>
          <p:cNvSpPr/>
          <p:nvPr/>
        </p:nvSpPr>
        <p:spPr>
          <a:xfrm>
            <a:off x="3749040" y="2715768"/>
            <a:ext cx="420624" cy="420624"/>
          </a:xfrm>
          <a:prstGeom prst="roundRect">
            <a:avLst>
              <a:gd name="adj" fmla="val 12000"/>
            </a:avLst>
          </a:prstGeom>
          <a:solidFill>
            <a:srgbClr val="FF8F5E">
              <a:alpha val="30000"/>
            </a:srgbClr>
          </a:solidFill>
          <a:ln w="19050">
            <a:solidFill>
              <a:srgbClr val="FF8F5E"/>
            </a:solidFill>
            <a:prstDash val="solid"/>
          </a:ln>
        </p:spPr>
      </p:sp>
      <p:sp>
        <p:nvSpPr>
          <p:cNvPr id="34" name="Text 32"/>
          <p:cNvSpPr txBox="1"/>
          <p:nvPr/>
        </p:nvSpPr>
        <p:spPr>
          <a:xfrm>
            <a:off x="3782690" y="2736799"/>
            <a:ext cx="252374" cy="100950"/>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35" name="Text 33"/>
          <p:cNvSpPr txBox="1"/>
          <p:nvPr/>
        </p:nvSpPr>
        <p:spPr>
          <a:xfrm>
            <a:off x="3749040" y="2783068"/>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K</a:t>
            </a:r>
            <a:endParaRPr lang="en-US" sz="1500" dirty="0"/>
          </a:p>
        </p:txBody>
      </p:sp>
      <p:sp>
        <p:nvSpPr>
          <p:cNvPr id="36" name="Tile Na"/>
          <p:cNvSpPr/>
          <p:nvPr/>
        </p:nvSpPr>
        <p:spPr>
          <a:xfrm>
            <a:off x="4937760" y="2715768"/>
            <a:ext cx="420624" cy="420624"/>
          </a:xfrm>
          <a:prstGeom prst="roundRect">
            <a:avLst>
              <a:gd name="adj" fmla="val 12000"/>
            </a:avLst>
          </a:prstGeom>
          <a:solidFill>
            <a:srgbClr val="FF8F5E">
              <a:alpha val="30000"/>
            </a:srgbClr>
          </a:solidFill>
          <a:ln w="19050">
            <a:solidFill>
              <a:srgbClr val="FF8F5E"/>
            </a:solidFill>
            <a:prstDash val="solid"/>
          </a:ln>
        </p:spPr>
      </p:sp>
      <p:sp>
        <p:nvSpPr>
          <p:cNvPr id="37" name="Text 35"/>
          <p:cNvSpPr txBox="1"/>
          <p:nvPr/>
        </p:nvSpPr>
        <p:spPr>
          <a:xfrm>
            <a:off x="4971410" y="2736799"/>
            <a:ext cx="252374" cy="100950"/>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38" name="Text 36"/>
          <p:cNvSpPr txBox="1"/>
          <p:nvPr/>
        </p:nvSpPr>
        <p:spPr>
          <a:xfrm>
            <a:off x="4937760" y="2783068"/>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a:t>
            </a:r>
            <a:endParaRPr lang="en-US" sz="1500" dirty="0"/>
          </a:p>
        </p:txBody>
      </p:sp>
      <p:sp>
        <p:nvSpPr>
          <p:cNvPr id="39" name="Tile Li"/>
          <p:cNvSpPr/>
          <p:nvPr/>
        </p:nvSpPr>
        <p:spPr>
          <a:xfrm>
            <a:off x="6126480" y="2715768"/>
            <a:ext cx="420624" cy="420624"/>
          </a:xfrm>
          <a:prstGeom prst="roundRect">
            <a:avLst>
              <a:gd name="adj" fmla="val 12000"/>
            </a:avLst>
          </a:prstGeom>
          <a:solidFill>
            <a:srgbClr val="FF8F5E">
              <a:alpha val="30000"/>
            </a:srgbClr>
          </a:solidFill>
          <a:ln w="19050">
            <a:solidFill>
              <a:srgbClr val="FF8F5E"/>
            </a:solidFill>
            <a:prstDash val="solid"/>
          </a:ln>
        </p:spPr>
      </p:sp>
      <p:sp>
        <p:nvSpPr>
          <p:cNvPr id="40" name="Text 38"/>
          <p:cNvSpPr txBox="1"/>
          <p:nvPr/>
        </p:nvSpPr>
        <p:spPr>
          <a:xfrm>
            <a:off x="6160130" y="2736799"/>
            <a:ext cx="252374" cy="100950"/>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41" name="Text 39"/>
          <p:cNvSpPr txBox="1"/>
          <p:nvPr/>
        </p:nvSpPr>
        <p:spPr>
          <a:xfrm>
            <a:off x="6126480" y="2783068"/>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Li</a:t>
            </a:r>
            <a:endParaRPr lang="en-US" sz="1500" dirty="0"/>
          </a:p>
        </p:txBody>
      </p:sp>
      <p:sp>
        <p:nvSpPr>
          <p:cNvPr id="42" name="Round 4"/>
          <p:cNvSpPr/>
          <p:nvPr/>
        </p:nvSpPr>
        <p:spPr>
          <a:xfrm>
            <a:off x="457200" y="3282696"/>
            <a:ext cx="8229600" cy="530352"/>
          </a:xfrm>
          <a:prstGeom prst="roundRect">
            <a:avLst>
              <a:gd name="adj" fmla="val 17241"/>
            </a:avLst>
          </a:prstGeom>
          <a:solidFill>
            <a:schemeClr val="tx2"/>
          </a:solidFill>
          <a:ln w="9525">
            <a:solidFill>
              <a:schemeClr val="bg2">
                <a:alpha val="30000"/>
              </a:schemeClr>
            </a:solidFill>
            <a:prstDash val="solid"/>
          </a:ln>
        </p:spPr>
      </p:sp>
      <p:sp>
        <p:nvSpPr>
          <p:cNvPr id="43" name="Text 41"/>
          <p:cNvSpPr txBox="1"/>
          <p:nvPr/>
        </p:nvSpPr>
        <p:spPr>
          <a:xfrm>
            <a:off x="594360" y="3282696"/>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4. </a:t>
            </a:r>
            <a:pPr indent="0" marL="0">
              <a:buNone/>
            </a:pPr>
            <a:r>
              <a:rPr lang="en-US" sz="1300" b="1" dirty="0">
                <a:solidFill>
                  <a:schemeClr val="accent1"/>
                </a:solidFill>
              </a:rPr>
              <a:t>atomic radius, </a:t>
            </a:r>
            <a:pPr indent="0" marL="0">
              <a:buNone/>
            </a:pPr>
            <a:r>
              <a:rPr lang="en-US" sz="1300" dirty="0">
                <a:solidFill>
                  <a:schemeClr val="bg1"/>
                </a:solidFill>
              </a:rPr>
              <a:t>largest → smallest</a:t>
            </a:r>
            <a:endParaRPr lang="en-US" sz="1300" dirty="0"/>
          </a:p>
        </p:txBody>
      </p:sp>
      <p:sp>
        <p:nvSpPr>
          <p:cNvPr id="44" name="Tile O"/>
          <p:cNvSpPr/>
          <p:nvPr/>
        </p:nvSpPr>
        <p:spPr>
          <a:xfrm>
            <a:off x="3749040" y="3337560"/>
            <a:ext cx="420624" cy="420624"/>
          </a:xfrm>
          <a:prstGeom prst="roundRect">
            <a:avLst>
              <a:gd name="adj" fmla="val 12000"/>
            </a:avLst>
          </a:prstGeom>
          <a:solidFill>
            <a:srgbClr val="45C08F">
              <a:alpha val="30000"/>
            </a:srgbClr>
          </a:solidFill>
          <a:ln w="19050">
            <a:solidFill>
              <a:srgbClr val="45C08F"/>
            </a:solidFill>
            <a:prstDash val="solid"/>
          </a:ln>
        </p:spPr>
      </p:sp>
      <p:sp>
        <p:nvSpPr>
          <p:cNvPr id="45" name="Text 43"/>
          <p:cNvSpPr txBox="1"/>
          <p:nvPr/>
        </p:nvSpPr>
        <p:spPr>
          <a:xfrm>
            <a:off x="378269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8</a:t>
            </a:r>
            <a:endParaRPr lang="en-US" sz="600" dirty="0"/>
          </a:p>
        </p:txBody>
      </p:sp>
      <p:sp>
        <p:nvSpPr>
          <p:cNvPr id="46" name="Text 44"/>
          <p:cNvSpPr txBox="1"/>
          <p:nvPr/>
        </p:nvSpPr>
        <p:spPr>
          <a:xfrm>
            <a:off x="374904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O</a:t>
            </a:r>
            <a:endParaRPr lang="en-US" sz="1500" dirty="0"/>
          </a:p>
        </p:txBody>
      </p:sp>
      <p:sp>
        <p:nvSpPr>
          <p:cNvPr id="47" name="Tile C"/>
          <p:cNvSpPr/>
          <p:nvPr/>
        </p:nvSpPr>
        <p:spPr>
          <a:xfrm>
            <a:off x="4937760" y="3337560"/>
            <a:ext cx="420624" cy="420624"/>
          </a:xfrm>
          <a:prstGeom prst="roundRect">
            <a:avLst>
              <a:gd name="adj" fmla="val 12000"/>
            </a:avLst>
          </a:prstGeom>
          <a:solidFill>
            <a:srgbClr val="45C08F">
              <a:alpha val="30000"/>
            </a:srgbClr>
          </a:solidFill>
          <a:ln w="19050">
            <a:solidFill>
              <a:srgbClr val="45C08F"/>
            </a:solidFill>
            <a:prstDash val="solid"/>
          </a:ln>
        </p:spPr>
      </p:sp>
      <p:sp>
        <p:nvSpPr>
          <p:cNvPr id="48" name="Text 46"/>
          <p:cNvSpPr txBox="1"/>
          <p:nvPr/>
        </p:nvSpPr>
        <p:spPr>
          <a:xfrm>
            <a:off x="497141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6</a:t>
            </a:r>
            <a:endParaRPr lang="en-US" sz="600" dirty="0"/>
          </a:p>
        </p:txBody>
      </p:sp>
      <p:sp>
        <p:nvSpPr>
          <p:cNvPr id="49" name="Text 47"/>
          <p:cNvSpPr txBox="1"/>
          <p:nvPr/>
        </p:nvSpPr>
        <p:spPr>
          <a:xfrm>
            <a:off x="493776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50" name="Tile N"/>
          <p:cNvSpPr/>
          <p:nvPr/>
        </p:nvSpPr>
        <p:spPr>
          <a:xfrm>
            <a:off x="6126480" y="3337560"/>
            <a:ext cx="420624" cy="420624"/>
          </a:xfrm>
          <a:prstGeom prst="roundRect">
            <a:avLst>
              <a:gd name="adj" fmla="val 12000"/>
            </a:avLst>
          </a:prstGeom>
          <a:solidFill>
            <a:srgbClr val="45C08F">
              <a:alpha val="30000"/>
            </a:srgbClr>
          </a:solidFill>
          <a:ln w="19050">
            <a:solidFill>
              <a:srgbClr val="45C08F"/>
            </a:solidFill>
            <a:prstDash val="solid"/>
          </a:ln>
        </p:spPr>
      </p:sp>
      <p:sp>
        <p:nvSpPr>
          <p:cNvPr id="51" name="Text 49"/>
          <p:cNvSpPr txBox="1"/>
          <p:nvPr/>
        </p:nvSpPr>
        <p:spPr>
          <a:xfrm>
            <a:off x="616013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7</a:t>
            </a:r>
            <a:endParaRPr lang="en-US" sz="600" dirty="0"/>
          </a:p>
        </p:txBody>
      </p:sp>
      <p:sp>
        <p:nvSpPr>
          <p:cNvPr id="52" name="Text 50"/>
          <p:cNvSpPr txBox="1"/>
          <p:nvPr/>
        </p:nvSpPr>
        <p:spPr>
          <a:xfrm>
            <a:off x="612648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t>
            </a:r>
            <a:endParaRPr lang="en-US" sz="1500" dirty="0"/>
          </a:p>
        </p:txBody>
      </p:sp>
      <p:sp>
        <p:nvSpPr>
          <p:cNvPr id="53" name="Tile Li"/>
          <p:cNvSpPr/>
          <p:nvPr/>
        </p:nvSpPr>
        <p:spPr>
          <a:xfrm>
            <a:off x="7315200" y="3337560"/>
            <a:ext cx="420624" cy="420624"/>
          </a:xfrm>
          <a:prstGeom prst="roundRect">
            <a:avLst>
              <a:gd name="adj" fmla="val 12000"/>
            </a:avLst>
          </a:prstGeom>
          <a:solidFill>
            <a:srgbClr val="FF8F5E">
              <a:alpha val="30000"/>
            </a:srgbClr>
          </a:solidFill>
          <a:ln w="19050">
            <a:solidFill>
              <a:srgbClr val="FF8F5E"/>
            </a:solidFill>
            <a:prstDash val="solid"/>
          </a:ln>
        </p:spPr>
      </p:sp>
      <p:sp>
        <p:nvSpPr>
          <p:cNvPr id="54" name="Text 52"/>
          <p:cNvSpPr txBox="1"/>
          <p:nvPr/>
        </p:nvSpPr>
        <p:spPr>
          <a:xfrm>
            <a:off x="734885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55" name="Text 53"/>
          <p:cNvSpPr txBox="1"/>
          <p:nvPr/>
        </p:nvSpPr>
        <p:spPr>
          <a:xfrm>
            <a:off x="731520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Li</a:t>
            </a:r>
            <a:endParaRPr lang="en-US" sz="1500" dirty="0"/>
          </a:p>
        </p:txBody>
      </p:sp>
      <p:sp>
        <p:nvSpPr>
          <p:cNvPr id="56" name="Round 5"/>
          <p:cNvSpPr/>
          <p:nvPr/>
        </p:nvSpPr>
        <p:spPr>
          <a:xfrm>
            <a:off x="457200" y="3904488"/>
            <a:ext cx="8229600" cy="530352"/>
          </a:xfrm>
          <a:prstGeom prst="roundRect">
            <a:avLst>
              <a:gd name="adj" fmla="val 17241"/>
            </a:avLst>
          </a:prstGeom>
          <a:solidFill>
            <a:schemeClr val="tx2"/>
          </a:solidFill>
          <a:ln w="9525">
            <a:solidFill>
              <a:schemeClr val="bg2">
                <a:alpha val="30000"/>
              </a:schemeClr>
            </a:solidFill>
            <a:prstDash val="solid"/>
          </a:ln>
        </p:spPr>
      </p:sp>
      <p:sp>
        <p:nvSpPr>
          <p:cNvPr id="57" name="Text 55"/>
          <p:cNvSpPr txBox="1"/>
          <p:nvPr/>
        </p:nvSpPr>
        <p:spPr>
          <a:xfrm>
            <a:off x="594360" y="3904488"/>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5. </a:t>
            </a:r>
            <a:pPr indent="0" marL="0">
              <a:buNone/>
            </a:pPr>
            <a:r>
              <a:rPr lang="en-US" sz="1300" b="1" dirty="0">
                <a:solidFill>
                  <a:schemeClr val="accent6"/>
                </a:solidFill>
              </a:rPr>
              <a:t>electronegativity, </a:t>
            </a:r>
            <a:pPr indent="0" marL="0">
              <a:buNone/>
            </a:pPr>
            <a:r>
              <a:rPr lang="en-US" sz="1300" dirty="0">
                <a:solidFill>
                  <a:schemeClr val="bg1"/>
                </a:solidFill>
              </a:rPr>
              <a:t>lowest → highest</a:t>
            </a:r>
            <a:endParaRPr lang="en-US" sz="1300" dirty="0"/>
          </a:p>
        </p:txBody>
      </p:sp>
      <p:sp>
        <p:nvSpPr>
          <p:cNvPr id="58" name="Tile P"/>
          <p:cNvSpPr/>
          <p:nvPr/>
        </p:nvSpPr>
        <p:spPr>
          <a:xfrm>
            <a:off x="3749040" y="3959352"/>
            <a:ext cx="420624" cy="420624"/>
          </a:xfrm>
          <a:prstGeom prst="roundRect">
            <a:avLst>
              <a:gd name="adj" fmla="val 12000"/>
            </a:avLst>
          </a:prstGeom>
          <a:solidFill>
            <a:srgbClr val="45C08F">
              <a:alpha val="30000"/>
            </a:srgbClr>
          </a:solidFill>
          <a:ln w="19050">
            <a:solidFill>
              <a:srgbClr val="45C08F"/>
            </a:solidFill>
            <a:prstDash val="solid"/>
          </a:ln>
        </p:spPr>
      </p:sp>
      <p:sp>
        <p:nvSpPr>
          <p:cNvPr id="59" name="Text 57"/>
          <p:cNvSpPr txBox="1"/>
          <p:nvPr/>
        </p:nvSpPr>
        <p:spPr>
          <a:xfrm>
            <a:off x="378269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15</a:t>
            </a:r>
            <a:endParaRPr lang="en-US" sz="600" dirty="0"/>
          </a:p>
        </p:txBody>
      </p:sp>
      <p:sp>
        <p:nvSpPr>
          <p:cNvPr id="60" name="Text 58"/>
          <p:cNvSpPr txBox="1"/>
          <p:nvPr/>
        </p:nvSpPr>
        <p:spPr>
          <a:xfrm>
            <a:off x="374904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P</a:t>
            </a:r>
            <a:endParaRPr lang="en-US" sz="1500" dirty="0"/>
          </a:p>
        </p:txBody>
      </p:sp>
      <p:sp>
        <p:nvSpPr>
          <p:cNvPr id="61" name="Tile Na"/>
          <p:cNvSpPr/>
          <p:nvPr/>
        </p:nvSpPr>
        <p:spPr>
          <a:xfrm>
            <a:off x="4937760" y="3959352"/>
            <a:ext cx="420624" cy="420624"/>
          </a:xfrm>
          <a:prstGeom prst="roundRect">
            <a:avLst>
              <a:gd name="adj" fmla="val 12000"/>
            </a:avLst>
          </a:prstGeom>
          <a:solidFill>
            <a:srgbClr val="FF8F5E">
              <a:alpha val="30000"/>
            </a:srgbClr>
          </a:solidFill>
          <a:ln w="19050">
            <a:solidFill>
              <a:srgbClr val="FF8F5E"/>
            </a:solidFill>
            <a:prstDash val="solid"/>
          </a:ln>
        </p:spPr>
      </p:sp>
      <p:sp>
        <p:nvSpPr>
          <p:cNvPr id="62" name="Text 60"/>
          <p:cNvSpPr txBox="1"/>
          <p:nvPr/>
        </p:nvSpPr>
        <p:spPr>
          <a:xfrm>
            <a:off x="497141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63" name="Text 61"/>
          <p:cNvSpPr txBox="1"/>
          <p:nvPr/>
        </p:nvSpPr>
        <p:spPr>
          <a:xfrm>
            <a:off x="493776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a:t>
            </a:r>
            <a:endParaRPr lang="en-US" sz="1500" dirty="0"/>
          </a:p>
        </p:txBody>
      </p:sp>
      <p:sp>
        <p:nvSpPr>
          <p:cNvPr id="64" name="Tile Cl"/>
          <p:cNvSpPr/>
          <p:nvPr/>
        </p:nvSpPr>
        <p:spPr>
          <a:xfrm>
            <a:off x="6126480" y="3959352"/>
            <a:ext cx="420624" cy="420624"/>
          </a:xfrm>
          <a:prstGeom prst="roundRect">
            <a:avLst>
              <a:gd name="adj" fmla="val 12000"/>
            </a:avLst>
          </a:prstGeom>
          <a:solidFill>
            <a:srgbClr val="F477B8">
              <a:alpha val="30000"/>
            </a:srgbClr>
          </a:solidFill>
          <a:ln w="19050">
            <a:solidFill>
              <a:srgbClr val="F477B8"/>
            </a:solidFill>
            <a:prstDash val="solid"/>
          </a:ln>
        </p:spPr>
      </p:sp>
      <p:sp>
        <p:nvSpPr>
          <p:cNvPr id="65" name="Text 63"/>
          <p:cNvSpPr txBox="1"/>
          <p:nvPr/>
        </p:nvSpPr>
        <p:spPr>
          <a:xfrm>
            <a:off x="616013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66" name="Text 64"/>
          <p:cNvSpPr txBox="1"/>
          <p:nvPr/>
        </p:nvSpPr>
        <p:spPr>
          <a:xfrm>
            <a:off x="612648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Cl</a:t>
            </a:r>
            <a:endParaRPr lang="en-US" sz="1500" dirty="0"/>
          </a:p>
        </p:txBody>
      </p:sp>
      <p:sp>
        <p:nvSpPr>
          <p:cNvPr id="67" name="Tile Si"/>
          <p:cNvSpPr/>
          <p:nvPr/>
        </p:nvSpPr>
        <p:spPr>
          <a:xfrm>
            <a:off x="7315200" y="3959352"/>
            <a:ext cx="420624" cy="420624"/>
          </a:xfrm>
          <a:prstGeom prst="roundRect">
            <a:avLst>
              <a:gd name="adj" fmla="val 12000"/>
            </a:avLst>
          </a:prstGeom>
          <a:solidFill>
            <a:srgbClr val="46C7D8">
              <a:alpha val="30000"/>
            </a:srgbClr>
          </a:solidFill>
          <a:ln w="19050">
            <a:solidFill>
              <a:srgbClr val="46C7D8"/>
            </a:solidFill>
            <a:prstDash val="solid"/>
          </a:ln>
        </p:spPr>
      </p:sp>
      <p:sp>
        <p:nvSpPr>
          <p:cNvPr id="68" name="Text 66"/>
          <p:cNvSpPr txBox="1"/>
          <p:nvPr/>
        </p:nvSpPr>
        <p:spPr>
          <a:xfrm>
            <a:off x="734885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14</a:t>
            </a:r>
            <a:endParaRPr lang="en-US" sz="600" dirty="0"/>
          </a:p>
        </p:txBody>
      </p:sp>
      <p:sp>
        <p:nvSpPr>
          <p:cNvPr id="69" name="Text 67"/>
          <p:cNvSpPr txBox="1"/>
          <p:nvPr/>
        </p:nvSpPr>
        <p:spPr>
          <a:xfrm>
            <a:off x="731520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Si</a:t>
            </a:r>
            <a:endParaRPr lang="en-US" sz="15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Mg"/>
          <p:cNvSpPr/>
          <p:nvPr/>
        </p:nvSpPr>
        <p:spPr>
          <a:xfrm>
            <a:off x="624634" y="565380"/>
            <a:ext cx="414941" cy="414941"/>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Mg</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Mixed ranking</a:t>
            </a:r>
            <a:endParaRPr lang="en-US" sz="2800" dirty="0"/>
          </a:p>
        </p:txBody>
      </p:sp>
      <p:sp>
        <p:nvSpPr>
          <p:cNvPr id="10" name="Round 1"/>
          <p:cNvSpPr/>
          <p:nvPr/>
        </p:nvSpPr>
        <p:spPr>
          <a:xfrm>
            <a:off x="457200" y="1417320"/>
            <a:ext cx="8229600" cy="530352"/>
          </a:xfrm>
          <a:prstGeom prst="roundRect">
            <a:avLst>
              <a:gd name="adj" fmla="val 17241"/>
            </a:avLst>
          </a:prstGeom>
          <a:solidFill>
            <a:schemeClr val="tx2"/>
          </a:solidFill>
          <a:ln w="9525">
            <a:solidFill>
              <a:schemeClr val="bg2">
                <a:alpha val="30000"/>
              </a:schemeClr>
            </a:solidFill>
            <a:prstDash val="solid"/>
          </a:ln>
        </p:spPr>
      </p:sp>
      <p:sp>
        <p:nvSpPr>
          <p:cNvPr id="11" name="Text 9"/>
          <p:cNvSpPr txBox="1"/>
          <p:nvPr/>
        </p:nvSpPr>
        <p:spPr>
          <a:xfrm>
            <a:off x="594360" y="1417320"/>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1. </a:t>
            </a:r>
            <a:pPr indent="0" marL="0">
              <a:buNone/>
            </a:pPr>
            <a:r>
              <a:rPr lang="en-US" sz="1300" b="1" dirty="0">
                <a:solidFill>
                  <a:schemeClr val="accent2"/>
                </a:solidFill>
              </a:rPr>
              <a:t>ionization energy, </a:t>
            </a:r>
            <a:pPr indent="0" marL="0">
              <a:buNone/>
            </a:pPr>
            <a:r>
              <a:rPr lang="en-US" sz="1300" dirty="0">
                <a:solidFill>
                  <a:schemeClr val="bg1"/>
                </a:solidFill>
              </a:rPr>
              <a:t>lowest → highest</a:t>
            </a:r>
            <a:endParaRPr lang="en-US" sz="1300" dirty="0"/>
          </a:p>
        </p:txBody>
      </p:sp>
      <p:sp>
        <p:nvSpPr>
          <p:cNvPr id="12" name="Tile Na"/>
          <p:cNvSpPr/>
          <p:nvPr/>
        </p:nvSpPr>
        <p:spPr>
          <a:xfrm>
            <a:off x="3749040" y="1472184"/>
            <a:ext cx="420624" cy="420624"/>
          </a:xfrm>
          <a:prstGeom prst="roundRect">
            <a:avLst>
              <a:gd name="adj" fmla="val 12000"/>
            </a:avLst>
          </a:prstGeom>
          <a:solidFill>
            <a:srgbClr val="FF8F5E">
              <a:alpha val="30000"/>
            </a:srgbClr>
          </a:solidFill>
          <a:ln w="19050">
            <a:solidFill>
              <a:srgbClr val="FF8F5E"/>
            </a:solidFill>
            <a:prstDash val="solid"/>
          </a:ln>
        </p:spPr>
      </p:sp>
      <p:sp>
        <p:nvSpPr>
          <p:cNvPr id="13" name="Text 11"/>
          <p:cNvSpPr txBox="1"/>
          <p:nvPr/>
        </p:nvSpPr>
        <p:spPr>
          <a:xfrm>
            <a:off x="3782690" y="1493215"/>
            <a:ext cx="252374" cy="100950"/>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14" name="Text 12"/>
          <p:cNvSpPr txBox="1"/>
          <p:nvPr/>
        </p:nvSpPr>
        <p:spPr>
          <a:xfrm>
            <a:off x="3749040" y="1539484"/>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a:t>
            </a:r>
            <a:endParaRPr lang="en-US" sz="1500" dirty="0"/>
          </a:p>
        </p:txBody>
      </p:sp>
      <p:sp>
        <p:nvSpPr>
          <p:cNvPr id="15" name="Text 13"/>
          <p:cNvSpPr txBox="1"/>
          <p:nvPr/>
        </p:nvSpPr>
        <p:spPr>
          <a:xfrm>
            <a:off x="4206240" y="1472184"/>
            <a:ext cx="502920" cy="420624"/>
          </a:xfrm>
          <a:prstGeom prst="rect">
            <a:avLst/>
          </a:prstGeom>
          <a:noFill/>
          <a:ln/>
        </p:spPr>
        <p:txBody>
          <a:bodyPr wrap="square" lIns="0" tIns="0" rIns="0" bIns="0" rtlCol="0" anchor="ctr"/>
          <a:lstStyle/>
          <a:p>
            <a:pPr indent="0" marL="0">
              <a:buNone/>
            </a:pPr>
            <a:r>
              <a:rPr lang="en-US" sz="1000" dirty="0">
                <a:solidFill>
                  <a:schemeClr val="bg2"/>
                </a:solidFill>
              </a:rPr>
              <a:t>496</a:t>
            </a:r>
            <a:endParaRPr lang="en-US" sz="1000" dirty="0"/>
          </a:p>
        </p:txBody>
      </p:sp>
      <p:sp>
        <p:nvSpPr>
          <p:cNvPr id="16" name="Text 14"/>
          <p:cNvSpPr txBox="1"/>
          <p:nvPr/>
        </p:nvSpPr>
        <p:spPr>
          <a:xfrm>
            <a:off x="4690872" y="1472184"/>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17" name="Tile Mg"/>
          <p:cNvSpPr/>
          <p:nvPr/>
        </p:nvSpPr>
        <p:spPr>
          <a:xfrm>
            <a:off x="4937760" y="1472184"/>
            <a:ext cx="420624" cy="420624"/>
          </a:xfrm>
          <a:prstGeom prst="roundRect">
            <a:avLst>
              <a:gd name="adj" fmla="val 12000"/>
            </a:avLst>
          </a:prstGeom>
          <a:solidFill>
            <a:srgbClr val="FFCB5C">
              <a:alpha val="30000"/>
            </a:srgbClr>
          </a:solidFill>
          <a:ln w="19050">
            <a:solidFill>
              <a:srgbClr val="FFCB5C"/>
            </a:solidFill>
            <a:prstDash val="solid"/>
          </a:ln>
        </p:spPr>
      </p:sp>
      <p:sp>
        <p:nvSpPr>
          <p:cNvPr id="18" name="Text 16"/>
          <p:cNvSpPr txBox="1"/>
          <p:nvPr/>
        </p:nvSpPr>
        <p:spPr>
          <a:xfrm>
            <a:off x="4971410" y="1493215"/>
            <a:ext cx="252374" cy="100950"/>
          </a:xfrm>
          <a:prstGeom prst="rect">
            <a:avLst/>
          </a:prstGeom>
          <a:noFill/>
          <a:ln/>
        </p:spPr>
        <p:txBody>
          <a:bodyPr wrap="square" lIns="0" tIns="0" rIns="0" bIns="0" rtlCol="0" anchor="t"/>
          <a:lstStyle/>
          <a:p>
            <a:pPr indent="0" marL="0">
              <a:buNone/>
            </a:pPr>
            <a:r>
              <a:rPr lang="en-US" sz="600" dirty="0">
                <a:solidFill>
                  <a:schemeClr val="bg2"/>
                </a:solidFill>
              </a:rPr>
              <a:t>12</a:t>
            </a:r>
            <a:endParaRPr lang="en-US" sz="600" dirty="0"/>
          </a:p>
        </p:txBody>
      </p:sp>
      <p:sp>
        <p:nvSpPr>
          <p:cNvPr id="19" name="Text 17"/>
          <p:cNvSpPr txBox="1"/>
          <p:nvPr/>
        </p:nvSpPr>
        <p:spPr>
          <a:xfrm>
            <a:off x="4937760" y="1539484"/>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Mg</a:t>
            </a:r>
            <a:endParaRPr lang="en-US" sz="1500" dirty="0"/>
          </a:p>
        </p:txBody>
      </p:sp>
      <p:sp>
        <p:nvSpPr>
          <p:cNvPr id="20" name="Text 18"/>
          <p:cNvSpPr txBox="1"/>
          <p:nvPr/>
        </p:nvSpPr>
        <p:spPr>
          <a:xfrm>
            <a:off x="5394960" y="1472184"/>
            <a:ext cx="502920" cy="420624"/>
          </a:xfrm>
          <a:prstGeom prst="rect">
            <a:avLst/>
          </a:prstGeom>
          <a:noFill/>
          <a:ln/>
        </p:spPr>
        <p:txBody>
          <a:bodyPr wrap="square" lIns="0" tIns="0" rIns="0" bIns="0" rtlCol="0" anchor="ctr"/>
          <a:lstStyle/>
          <a:p>
            <a:pPr indent="0" marL="0">
              <a:buNone/>
            </a:pPr>
            <a:r>
              <a:rPr lang="en-US" sz="1000" dirty="0">
                <a:solidFill>
                  <a:schemeClr val="bg2"/>
                </a:solidFill>
              </a:rPr>
              <a:t>738</a:t>
            </a:r>
            <a:endParaRPr lang="en-US" sz="1000" dirty="0"/>
          </a:p>
        </p:txBody>
      </p:sp>
      <p:sp>
        <p:nvSpPr>
          <p:cNvPr id="21" name="Text 19"/>
          <p:cNvSpPr txBox="1"/>
          <p:nvPr/>
        </p:nvSpPr>
        <p:spPr>
          <a:xfrm>
            <a:off x="5879592" y="1472184"/>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22" name="Tile S"/>
          <p:cNvSpPr/>
          <p:nvPr/>
        </p:nvSpPr>
        <p:spPr>
          <a:xfrm>
            <a:off x="6126480" y="1472184"/>
            <a:ext cx="420624" cy="420624"/>
          </a:xfrm>
          <a:prstGeom prst="roundRect">
            <a:avLst>
              <a:gd name="adj" fmla="val 12000"/>
            </a:avLst>
          </a:prstGeom>
          <a:solidFill>
            <a:srgbClr val="45C08F">
              <a:alpha val="30000"/>
            </a:srgbClr>
          </a:solidFill>
          <a:ln w="19050">
            <a:solidFill>
              <a:srgbClr val="45C08F"/>
            </a:solidFill>
            <a:prstDash val="solid"/>
          </a:ln>
        </p:spPr>
      </p:sp>
      <p:sp>
        <p:nvSpPr>
          <p:cNvPr id="23" name="Text 21"/>
          <p:cNvSpPr txBox="1"/>
          <p:nvPr/>
        </p:nvSpPr>
        <p:spPr>
          <a:xfrm>
            <a:off x="6160130" y="1493215"/>
            <a:ext cx="252374" cy="100950"/>
          </a:xfrm>
          <a:prstGeom prst="rect">
            <a:avLst/>
          </a:prstGeom>
          <a:noFill/>
          <a:ln/>
        </p:spPr>
        <p:txBody>
          <a:bodyPr wrap="square" lIns="0" tIns="0" rIns="0" bIns="0" rtlCol="0" anchor="t"/>
          <a:lstStyle/>
          <a:p>
            <a:pPr indent="0" marL="0">
              <a:buNone/>
            </a:pPr>
            <a:r>
              <a:rPr lang="en-US" sz="600" dirty="0">
                <a:solidFill>
                  <a:schemeClr val="bg2"/>
                </a:solidFill>
              </a:rPr>
              <a:t>16</a:t>
            </a:r>
            <a:endParaRPr lang="en-US" sz="600" dirty="0"/>
          </a:p>
        </p:txBody>
      </p:sp>
      <p:sp>
        <p:nvSpPr>
          <p:cNvPr id="24" name="Text 22"/>
          <p:cNvSpPr txBox="1"/>
          <p:nvPr/>
        </p:nvSpPr>
        <p:spPr>
          <a:xfrm>
            <a:off x="6126480" y="1539484"/>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S</a:t>
            </a:r>
            <a:endParaRPr lang="en-US" sz="1500" dirty="0"/>
          </a:p>
        </p:txBody>
      </p:sp>
      <p:sp>
        <p:nvSpPr>
          <p:cNvPr id="25" name="Text 23"/>
          <p:cNvSpPr txBox="1"/>
          <p:nvPr/>
        </p:nvSpPr>
        <p:spPr>
          <a:xfrm>
            <a:off x="6583680" y="1472184"/>
            <a:ext cx="502920" cy="420624"/>
          </a:xfrm>
          <a:prstGeom prst="rect">
            <a:avLst/>
          </a:prstGeom>
          <a:noFill/>
          <a:ln/>
        </p:spPr>
        <p:txBody>
          <a:bodyPr wrap="square" lIns="0" tIns="0" rIns="0" bIns="0" rtlCol="0" anchor="ctr"/>
          <a:lstStyle/>
          <a:p>
            <a:pPr indent="0" marL="0">
              <a:buNone/>
            </a:pPr>
            <a:r>
              <a:rPr lang="en-US" sz="1000" dirty="0">
                <a:solidFill>
                  <a:schemeClr val="bg2"/>
                </a:solidFill>
              </a:rPr>
              <a:t>1000</a:t>
            </a:r>
            <a:endParaRPr lang="en-US" sz="1000" dirty="0"/>
          </a:p>
        </p:txBody>
      </p:sp>
      <p:sp>
        <p:nvSpPr>
          <p:cNvPr id="26" name="Round 2"/>
          <p:cNvSpPr/>
          <p:nvPr/>
        </p:nvSpPr>
        <p:spPr>
          <a:xfrm>
            <a:off x="457200" y="2039112"/>
            <a:ext cx="8229600" cy="530352"/>
          </a:xfrm>
          <a:prstGeom prst="roundRect">
            <a:avLst>
              <a:gd name="adj" fmla="val 17241"/>
            </a:avLst>
          </a:prstGeom>
          <a:solidFill>
            <a:schemeClr val="tx2"/>
          </a:solidFill>
          <a:ln w="9525">
            <a:solidFill>
              <a:schemeClr val="bg2">
                <a:alpha val="30000"/>
              </a:schemeClr>
            </a:solidFill>
            <a:prstDash val="solid"/>
          </a:ln>
        </p:spPr>
      </p:sp>
      <p:sp>
        <p:nvSpPr>
          <p:cNvPr id="27" name="Text 25"/>
          <p:cNvSpPr txBox="1"/>
          <p:nvPr/>
        </p:nvSpPr>
        <p:spPr>
          <a:xfrm>
            <a:off x="594360" y="2039112"/>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2. </a:t>
            </a:r>
            <a:pPr indent="0" marL="0">
              <a:buNone/>
            </a:pPr>
            <a:r>
              <a:rPr lang="en-US" sz="1300" b="1" dirty="0">
                <a:solidFill>
                  <a:schemeClr val="accent6"/>
                </a:solidFill>
              </a:rPr>
              <a:t>electronegativity, </a:t>
            </a:r>
            <a:pPr indent="0" marL="0">
              <a:buNone/>
            </a:pPr>
            <a:r>
              <a:rPr lang="en-US" sz="1300" dirty="0">
                <a:solidFill>
                  <a:schemeClr val="bg1"/>
                </a:solidFill>
              </a:rPr>
              <a:t>highest → lowest</a:t>
            </a:r>
            <a:endParaRPr lang="en-US" sz="1300" dirty="0"/>
          </a:p>
        </p:txBody>
      </p:sp>
      <p:sp>
        <p:nvSpPr>
          <p:cNvPr id="28" name="Tile F"/>
          <p:cNvSpPr/>
          <p:nvPr/>
        </p:nvSpPr>
        <p:spPr>
          <a:xfrm>
            <a:off x="3749040" y="2093976"/>
            <a:ext cx="420624" cy="420624"/>
          </a:xfrm>
          <a:prstGeom prst="roundRect">
            <a:avLst>
              <a:gd name="adj" fmla="val 12000"/>
            </a:avLst>
          </a:prstGeom>
          <a:solidFill>
            <a:srgbClr val="F477B8">
              <a:alpha val="30000"/>
            </a:srgbClr>
          </a:solidFill>
          <a:ln w="19050">
            <a:solidFill>
              <a:srgbClr val="F477B8"/>
            </a:solidFill>
            <a:prstDash val="solid"/>
          </a:ln>
        </p:spPr>
      </p:sp>
      <p:sp>
        <p:nvSpPr>
          <p:cNvPr id="29" name="Text 27"/>
          <p:cNvSpPr txBox="1"/>
          <p:nvPr/>
        </p:nvSpPr>
        <p:spPr>
          <a:xfrm>
            <a:off x="3782690" y="2115007"/>
            <a:ext cx="252374" cy="100950"/>
          </a:xfrm>
          <a:prstGeom prst="rect">
            <a:avLst/>
          </a:prstGeom>
          <a:noFill/>
          <a:ln/>
        </p:spPr>
        <p:txBody>
          <a:bodyPr wrap="square" lIns="0" tIns="0" rIns="0" bIns="0" rtlCol="0" anchor="t"/>
          <a:lstStyle/>
          <a:p>
            <a:pPr indent="0" marL="0">
              <a:buNone/>
            </a:pPr>
            <a:r>
              <a:rPr lang="en-US" sz="600" dirty="0">
                <a:solidFill>
                  <a:schemeClr val="bg2"/>
                </a:solidFill>
              </a:rPr>
              <a:t>9</a:t>
            </a:r>
            <a:endParaRPr lang="en-US" sz="600" dirty="0"/>
          </a:p>
        </p:txBody>
      </p:sp>
      <p:sp>
        <p:nvSpPr>
          <p:cNvPr id="30" name="Text 28"/>
          <p:cNvSpPr txBox="1"/>
          <p:nvPr/>
        </p:nvSpPr>
        <p:spPr>
          <a:xfrm>
            <a:off x="3749040" y="2161276"/>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F</a:t>
            </a:r>
            <a:endParaRPr lang="en-US" sz="1500" dirty="0"/>
          </a:p>
        </p:txBody>
      </p:sp>
      <p:sp>
        <p:nvSpPr>
          <p:cNvPr id="31" name="Text 29"/>
          <p:cNvSpPr txBox="1"/>
          <p:nvPr/>
        </p:nvSpPr>
        <p:spPr>
          <a:xfrm>
            <a:off x="4206240" y="2093976"/>
            <a:ext cx="502920" cy="420624"/>
          </a:xfrm>
          <a:prstGeom prst="rect">
            <a:avLst/>
          </a:prstGeom>
          <a:noFill/>
          <a:ln/>
        </p:spPr>
        <p:txBody>
          <a:bodyPr wrap="square" lIns="0" tIns="0" rIns="0" bIns="0" rtlCol="0" anchor="ctr"/>
          <a:lstStyle/>
          <a:p>
            <a:pPr indent="0" marL="0">
              <a:buNone/>
            </a:pPr>
            <a:r>
              <a:rPr lang="en-US" sz="1000" dirty="0">
                <a:solidFill>
                  <a:schemeClr val="bg2"/>
                </a:solidFill>
              </a:rPr>
              <a:t>3.98</a:t>
            </a:r>
            <a:endParaRPr lang="en-US" sz="1000" dirty="0"/>
          </a:p>
        </p:txBody>
      </p:sp>
      <p:sp>
        <p:nvSpPr>
          <p:cNvPr id="32" name="Text 30"/>
          <p:cNvSpPr txBox="1"/>
          <p:nvPr/>
        </p:nvSpPr>
        <p:spPr>
          <a:xfrm>
            <a:off x="4690872" y="2093976"/>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33" name="Tile Cl"/>
          <p:cNvSpPr/>
          <p:nvPr/>
        </p:nvSpPr>
        <p:spPr>
          <a:xfrm>
            <a:off x="4937760" y="2093976"/>
            <a:ext cx="420624" cy="420624"/>
          </a:xfrm>
          <a:prstGeom prst="roundRect">
            <a:avLst>
              <a:gd name="adj" fmla="val 12000"/>
            </a:avLst>
          </a:prstGeom>
          <a:solidFill>
            <a:srgbClr val="F477B8">
              <a:alpha val="30000"/>
            </a:srgbClr>
          </a:solidFill>
          <a:ln w="19050">
            <a:solidFill>
              <a:srgbClr val="F477B8"/>
            </a:solidFill>
            <a:prstDash val="solid"/>
          </a:ln>
        </p:spPr>
      </p:sp>
      <p:sp>
        <p:nvSpPr>
          <p:cNvPr id="34" name="Text 32"/>
          <p:cNvSpPr txBox="1"/>
          <p:nvPr/>
        </p:nvSpPr>
        <p:spPr>
          <a:xfrm>
            <a:off x="4971410" y="2115007"/>
            <a:ext cx="252374" cy="100950"/>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35" name="Text 33"/>
          <p:cNvSpPr txBox="1"/>
          <p:nvPr/>
        </p:nvSpPr>
        <p:spPr>
          <a:xfrm>
            <a:off x="4937760" y="2161276"/>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Cl</a:t>
            </a:r>
            <a:endParaRPr lang="en-US" sz="1500" dirty="0"/>
          </a:p>
        </p:txBody>
      </p:sp>
      <p:sp>
        <p:nvSpPr>
          <p:cNvPr id="36" name="Text 34"/>
          <p:cNvSpPr txBox="1"/>
          <p:nvPr/>
        </p:nvSpPr>
        <p:spPr>
          <a:xfrm>
            <a:off x="5394960" y="2093976"/>
            <a:ext cx="502920" cy="420624"/>
          </a:xfrm>
          <a:prstGeom prst="rect">
            <a:avLst/>
          </a:prstGeom>
          <a:noFill/>
          <a:ln/>
        </p:spPr>
        <p:txBody>
          <a:bodyPr wrap="square" lIns="0" tIns="0" rIns="0" bIns="0" rtlCol="0" anchor="ctr"/>
          <a:lstStyle/>
          <a:p>
            <a:pPr indent="0" marL="0">
              <a:buNone/>
            </a:pPr>
            <a:r>
              <a:rPr lang="en-US" sz="1000" dirty="0">
                <a:solidFill>
                  <a:schemeClr val="bg2"/>
                </a:solidFill>
              </a:rPr>
              <a:t>3.16</a:t>
            </a:r>
            <a:endParaRPr lang="en-US" sz="1000" dirty="0"/>
          </a:p>
        </p:txBody>
      </p:sp>
      <p:sp>
        <p:nvSpPr>
          <p:cNvPr id="37" name="Text 35"/>
          <p:cNvSpPr txBox="1"/>
          <p:nvPr/>
        </p:nvSpPr>
        <p:spPr>
          <a:xfrm>
            <a:off x="5879592" y="2093976"/>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38" name="Tile Br"/>
          <p:cNvSpPr/>
          <p:nvPr/>
        </p:nvSpPr>
        <p:spPr>
          <a:xfrm>
            <a:off x="6126480" y="2093976"/>
            <a:ext cx="420624" cy="420624"/>
          </a:xfrm>
          <a:prstGeom prst="roundRect">
            <a:avLst>
              <a:gd name="adj" fmla="val 12000"/>
            </a:avLst>
          </a:prstGeom>
          <a:solidFill>
            <a:srgbClr val="F477B8">
              <a:alpha val="30000"/>
            </a:srgbClr>
          </a:solidFill>
          <a:ln w="19050">
            <a:solidFill>
              <a:srgbClr val="F477B8"/>
            </a:solidFill>
            <a:prstDash val="solid"/>
          </a:ln>
        </p:spPr>
      </p:sp>
      <p:sp>
        <p:nvSpPr>
          <p:cNvPr id="39" name="Text 37"/>
          <p:cNvSpPr txBox="1"/>
          <p:nvPr/>
        </p:nvSpPr>
        <p:spPr>
          <a:xfrm>
            <a:off x="6160130" y="2115007"/>
            <a:ext cx="252374" cy="100950"/>
          </a:xfrm>
          <a:prstGeom prst="rect">
            <a:avLst/>
          </a:prstGeom>
          <a:noFill/>
          <a:ln/>
        </p:spPr>
        <p:txBody>
          <a:bodyPr wrap="square" lIns="0" tIns="0" rIns="0" bIns="0" rtlCol="0" anchor="t"/>
          <a:lstStyle/>
          <a:p>
            <a:pPr indent="0" marL="0">
              <a:buNone/>
            </a:pPr>
            <a:r>
              <a:rPr lang="en-US" sz="600" dirty="0">
                <a:solidFill>
                  <a:schemeClr val="bg2"/>
                </a:solidFill>
              </a:rPr>
              <a:t>35</a:t>
            </a:r>
            <a:endParaRPr lang="en-US" sz="600" dirty="0"/>
          </a:p>
        </p:txBody>
      </p:sp>
      <p:sp>
        <p:nvSpPr>
          <p:cNvPr id="40" name="Text 38"/>
          <p:cNvSpPr txBox="1"/>
          <p:nvPr/>
        </p:nvSpPr>
        <p:spPr>
          <a:xfrm>
            <a:off x="6126480" y="2161276"/>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Br</a:t>
            </a:r>
            <a:endParaRPr lang="en-US" sz="1500" dirty="0"/>
          </a:p>
        </p:txBody>
      </p:sp>
      <p:sp>
        <p:nvSpPr>
          <p:cNvPr id="41" name="Text 39"/>
          <p:cNvSpPr txBox="1"/>
          <p:nvPr/>
        </p:nvSpPr>
        <p:spPr>
          <a:xfrm>
            <a:off x="6583680" y="2093976"/>
            <a:ext cx="502920" cy="420624"/>
          </a:xfrm>
          <a:prstGeom prst="rect">
            <a:avLst/>
          </a:prstGeom>
          <a:noFill/>
          <a:ln/>
        </p:spPr>
        <p:txBody>
          <a:bodyPr wrap="square" lIns="0" tIns="0" rIns="0" bIns="0" rtlCol="0" anchor="ctr"/>
          <a:lstStyle/>
          <a:p>
            <a:pPr indent="0" marL="0">
              <a:buNone/>
            </a:pPr>
            <a:r>
              <a:rPr lang="en-US" sz="1000" dirty="0">
                <a:solidFill>
                  <a:schemeClr val="bg2"/>
                </a:solidFill>
              </a:rPr>
              <a:t>2.96</a:t>
            </a:r>
            <a:endParaRPr lang="en-US" sz="1000" dirty="0"/>
          </a:p>
        </p:txBody>
      </p:sp>
      <p:sp>
        <p:nvSpPr>
          <p:cNvPr id="42" name="Round 3"/>
          <p:cNvSpPr/>
          <p:nvPr/>
        </p:nvSpPr>
        <p:spPr>
          <a:xfrm>
            <a:off x="457200" y="2660904"/>
            <a:ext cx="8229600" cy="530352"/>
          </a:xfrm>
          <a:prstGeom prst="roundRect">
            <a:avLst>
              <a:gd name="adj" fmla="val 17241"/>
            </a:avLst>
          </a:prstGeom>
          <a:solidFill>
            <a:schemeClr val="tx2"/>
          </a:solidFill>
          <a:ln w="9525">
            <a:solidFill>
              <a:schemeClr val="bg2">
                <a:alpha val="30000"/>
              </a:schemeClr>
            </a:solidFill>
            <a:prstDash val="solid"/>
          </a:ln>
        </p:spPr>
      </p:sp>
      <p:sp>
        <p:nvSpPr>
          <p:cNvPr id="43" name="Text 41"/>
          <p:cNvSpPr txBox="1"/>
          <p:nvPr/>
        </p:nvSpPr>
        <p:spPr>
          <a:xfrm>
            <a:off x="594360" y="2660904"/>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3. </a:t>
            </a:r>
            <a:pPr indent="0" marL="0">
              <a:buNone/>
            </a:pPr>
            <a:r>
              <a:rPr lang="en-US" sz="1300" b="1" dirty="0">
                <a:solidFill>
                  <a:schemeClr val="accent2"/>
                </a:solidFill>
              </a:rPr>
              <a:t>ionization energy, </a:t>
            </a:r>
            <a:pPr indent="0" marL="0">
              <a:buNone/>
            </a:pPr>
            <a:r>
              <a:rPr lang="en-US" sz="1300" dirty="0">
                <a:solidFill>
                  <a:schemeClr val="bg1"/>
                </a:solidFill>
              </a:rPr>
              <a:t>highest → lowest</a:t>
            </a:r>
            <a:endParaRPr lang="en-US" sz="1300" dirty="0"/>
          </a:p>
        </p:txBody>
      </p:sp>
      <p:sp>
        <p:nvSpPr>
          <p:cNvPr id="44" name="Tile Li"/>
          <p:cNvSpPr/>
          <p:nvPr/>
        </p:nvSpPr>
        <p:spPr>
          <a:xfrm>
            <a:off x="3749040" y="2715768"/>
            <a:ext cx="420624" cy="420624"/>
          </a:xfrm>
          <a:prstGeom prst="roundRect">
            <a:avLst>
              <a:gd name="adj" fmla="val 12000"/>
            </a:avLst>
          </a:prstGeom>
          <a:solidFill>
            <a:srgbClr val="FF8F5E">
              <a:alpha val="30000"/>
            </a:srgbClr>
          </a:solidFill>
          <a:ln w="19050">
            <a:solidFill>
              <a:srgbClr val="FF8F5E"/>
            </a:solidFill>
            <a:prstDash val="solid"/>
          </a:ln>
        </p:spPr>
      </p:sp>
      <p:sp>
        <p:nvSpPr>
          <p:cNvPr id="45" name="Text 43"/>
          <p:cNvSpPr txBox="1"/>
          <p:nvPr/>
        </p:nvSpPr>
        <p:spPr>
          <a:xfrm>
            <a:off x="3782690" y="2736799"/>
            <a:ext cx="252374" cy="100950"/>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46" name="Text 44"/>
          <p:cNvSpPr txBox="1"/>
          <p:nvPr/>
        </p:nvSpPr>
        <p:spPr>
          <a:xfrm>
            <a:off x="3749040" y="2783068"/>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Li</a:t>
            </a:r>
            <a:endParaRPr lang="en-US" sz="1500" dirty="0"/>
          </a:p>
        </p:txBody>
      </p:sp>
      <p:sp>
        <p:nvSpPr>
          <p:cNvPr id="47" name="Text 45"/>
          <p:cNvSpPr txBox="1"/>
          <p:nvPr/>
        </p:nvSpPr>
        <p:spPr>
          <a:xfrm>
            <a:off x="4206240" y="2715768"/>
            <a:ext cx="502920" cy="420624"/>
          </a:xfrm>
          <a:prstGeom prst="rect">
            <a:avLst/>
          </a:prstGeom>
          <a:noFill/>
          <a:ln/>
        </p:spPr>
        <p:txBody>
          <a:bodyPr wrap="square" lIns="0" tIns="0" rIns="0" bIns="0" rtlCol="0" anchor="ctr"/>
          <a:lstStyle/>
          <a:p>
            <a:pPr indent="0" marL="0">
              <a:buNone/>
            </a:pPr>
            <a:r>
              <a:rPr lang="en-US" sz="1000" dirty="0">
                <a:solidFill>
                  <a:schemeClr val="bg2"/>
                </a:solidFill>
              </a:rPr>
              <a:t>520</a:t>
            </a:r>
            <a:endParaRPr lang="en-US" sz="1000" dirty="0"/>
          </a:p>
        </p:txBody>
      </p:sp>
      <p:sp>
        <p:nvSpPr>
          <p:cNvPr id="48" name="Text 46"/>
          <p:cNvSpPr txBox="1"/>
          <p:nvPr/>
        </p:nvSpPr>
        <p:spPr>
          <a:xfrm>
            <a:off x="4690872" y="2715768"/>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49" name="Tile Na"/>
          <p:cNvSpPr/>
          <p:nvPr/>
        </p:nvSpPr>
        <p:spPr>
          <a:xfrm>
            <a:off x="4937760" y="2715768"/>
            <a:ext cx="420624" cy="420624"/>
          </a:xfrm>
          <a:prstGeom prst="roundRect">
            <a:avLst>
              <a:gd name="adj" fmla="val 12000"/>
            </a:avLst>
          </a:prstGeom>
          <a:solidFill>
            <a:srgbClr val="FF8F5E">
              <a:alpha val="30000"/>
            </a:srgbClr>
          </a:solidFill>
          <a:ln w="19050">
            <a:solidFill>
              <a:srgbClr val="FF8F5E"/>
            </a:solidFill>
            <a:prstDash val="solid"/>
          </a:ln>
        </p:spPr>
      </p:sp>
      <p:sp>
        <p:nvSpPr>
          <p:cNvPr id="50" name="Text 48"/>
          <p:cNvSpPr txBox="1"/>
          <p:nvPr/>
        </p:nvSpPr>
        <p:spPr>
          <a:xfrm>
            <a:off x="4971410" y="2736799"/>
            <a:ext cx="252374" cy="100950"/>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51" name="Text 49"/>
          <p:cNvSpPr txBox="1"/>
          <p:nvPr/>
        </p:nvSpPr>
        <p:spPr>
          <a:xfrm>
            <a:off x="4937760" y="2783068"/>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a:t>
            </a:r>
            <a:endParaRPr lang="en-US" sz="1500" dirty="0"/>
          </a:p>
        </p:txBody>
      </p:sp>
      <p:sp>
        <p:nvSpPr>
          <p:cNvPr id="52" name="Text 50"/>
          <p:cNvSpPr txBox="1"/>
          <p:nvPr/>
        </p:nvSpPr>
        <p:spPr>
          <a:xfrm>
            <a:off x="5394960" y="2715768"/>
            <a:ext cx="502920" cy="420624"/>
          </a:xfrm>
          <a:prstGeom prst="rect">
            <a:avLst/>
          </a:prstGeom>
          <a:noFill/>
          <a:ln/>
        </p:spPr>
        <p:txBody>
          <a:bodyPr wrap="square" lIns="0" tIns="0" rIns="0" bIns="0" rtlCol="0" anchor="ctr"/>
          <a:lstStyle/>
          <a:p>
            <a:pPr indent="0" marL="0">
              <a:buNone/>
            </a:pPr>
            <a:r>
              <a:rPr lang="en-US" sz="1000" dirty="0">
                <a:solidFill>
                  <a:schemeClr val="bg2"/>
                </a:solidFill>
              </a:rPr>
              <a:t>496</a:t>
            </a:r>
            <a:endParaRPr lang="en-US" sz="1000" dirty="0"/>
          </a:p>
        </p:txBody>
      </p:sp>
      <p:sp>
        <p:nvSpPr>
          <p:cNvPr id="53" name="Text 51"/>
          <p:cNvSpPr txBox="1"/>
          <p:nvPr/>
        </p:nvSpPr>
        <p:spPr>
          <a:xfrm>
            <a:off x="5879592" y="2715768"/>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54" name="Tile K"/>
          <p:cNvSpPr/>
          <p:nvPr/>
        </p:nvSpPr>
        <p:spPr>
          <a:xfrm>
            <a:off x="6126480" y="2715768"/>
            <a:ext cx="420624" cy="420624"/>
          </a:xfrm>
          <a:prstGeom prst="roundRect">
            <a:avLst>
              <a:gd name="adj" fmla="val 12000"/>
            </a:avLst>
          </a:prstGeom>
          <a:solidFill>
            <a:srgbClr val="FF8F5E">
              <a:alpha val="30000"/>
            </a:srgbClr>
          </a:solidFill>
          <a:ln w="19050">
            <a:solidFill>
              <a:srgbClr val="FF8F5E"/>
            </a:solidFill>
            <a:prstDash val="solid"/>
          </a:ln>
        </p:spPr>
      </p:sp>
      <p:sp>
        <p:nvSpPr>
          <p:cNvPr id="55" name="Text 53"/>
          <p:cNvSpPr txBox="1"/>
          <p:nvPr/>
        </p:nvSpPr>
        <p:spPr>
          <a:xfrm>
            <a:off x="6160130" y="2736799"/>
            <a:ext cx="252374" cy="100950"/>
          </a:xfrm>
          <a:prstGeom prst="rect">
            <a:avLst/>
          </a:prstGeom>
          <a:noFill/>
          <a:ln/>
        </p:spPr>
        <p:txBody>
          <a:bodyPr wrap="square" lIns="0" tIns="0" rIns="0" bIns="0" rtlCol="0" anchor="t"/>
          <a:lstStyle/>
          <a:p>
            <a:pPr indent="0" marL="0">
              <a:buNone/>
            </a:pPr>
            <a:r>
              <a:rPr lang="en-US" sz="600" dirty="0">
                <a:solidFill>
                  <a:schemeClr val="bg2"/>
                </a:solidFill>
              </a:rPr>
              <a:t>19</a:t>
            </a:r>
            <a:endParaRPr lang="en-US" sz="600" dirty="0"/>
          </a:p>
        </p:txBody>
      </p:sp>
      <p:sp>
        <p:nvSpPr>
          <p:cNvPr id="56" name="Text 54"/>
          <p:cNvSpPr txBox="1"/>
          <p:nvPr/>
        </p:nvSpPr>
        <p:spPr>
          <a:xfrm>
            <a:off x="6126480" y="2783068"/>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K</a:t>
            </a:r>
            <a:endParaRPr lang="en-US" sz="1500" dirty="0"/>
          </a:p>
        </p:txBody>
      </p:sp>
      <p:sp>
        <p:nvSpPr>
          <p:cNvPr id="57" name="Text 55"/>
          <p:cNvSpPr txBox="1"/>
          <p:nvPr/>
        </p:nvSpPr>
        <p:spPr>
          <a:xfrm>
            <a:off x="6583680" y="2715768"/>
            <a:ext cx="502920" cy="420624"/>
          </a:xfrm>
          <a:prstGeom prst="rect">
            <a:avLst/>
          </a:prstGeom>
          <a:noFill/>
          <a:ln/>
        </p:spPr>
        <p:txBody>
          <a:bodyPr wrap="square" lIns="0" tIns="0" rIns="0" bIns="0" rtlCol="0" anchor="ctr"/>
          <a:lstStyle/>
          <a:p>
            <a:pPr indent="0" marL="0">
              <a:buNone/>
            </a:pPr>
            <a:r>
              <a:rPr lang="en-US" sz="1000" dirty="0">
                <a:solidFill>
                  <a:schemeClr val="bg2"/>
                </a:solidFill>
              </a:rPr>
              <a:t>419</a:t>
            </a:r>
            <a:endParaRPr lang="en-US" sz="1000" dirty="0"/>
          </a:p>
        </p:txBody>
      </p:sp>
      <p:sp>
        <p:nvSpPr>
          <p:cNvPr id="58" name="Round 4"/>
          <p:cNvSpPr/>
          <p:nvPr/>
        </p:nvSpPr>
        <p:spPr>
          <a:xfrm>
            <a:off x="457200" y="3282696"/>
            <a:ext cx="8229600" cy="530352"/>
          </a:xfrm>
          <a:prstGeom prst="roundRect">
            <a:avLst>
              <a:gd name="adj" fmla="val 17241"/>
            </a:avLst>
          </a:prstGeom>
          <a:solidFill>
            <a:schemeClr val="tx2"/>
          </a:solidFill>
          <a:ln w="9525">
            <a:solidFill>
              <a:schemeClr val="bg2">
                <a:alpha val="30000"/>
              </a:schemeClr>
            </a:solidFill>
            <a:prstDash val="solid"/>
          </a:ln>
        </p:spPr>
      </p:sp>
      <p:sp>
        <p:nvSpPr>
          <p:cNvPr id="59" name="Text 57"/>
          <p:cNvSpPr txBox="1"/>
          <p:nvPr/>
        </p:nvSpPr>
        <p:spPr>
          <a:xfrm>
            <a:off x="594360" y="3282696"/>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4. </a:t>
            </a:r>
            <a:pPr indent="0" marL="0">
              <a:buNone/>
            </a:pPr>
            <a:r>
              <a:rPr lang="en-US" sz="1300" b="1" dirty="0">
                <a:solidFill>
                  <a:schemeClr val="accent1"/>
                </a:solidFill>
              </a:rPr>
              <a:t>atomic radius, </a:t>
            </a:r>
            <a:pPr indent="0" marL="0">
              <a:buNone/>
            </a:pPr>
            <a:r>
              <a:rPr lang="en-US" sz="1300" dirty="0">
                <a:solidFill>
                  <a:schemeClr val="bg1"/>
                </a:solidFill>
              </a:rPr>
              <a:t>largest → smallest</a:t>
            </a:r>
            <a:endParaRPr lang="en-US" sz="1300" dirty="0"/>
          </a:p>
        </p:txBody>
      </p:sp>
      <p:sp>
        <p:nvSpPr>
          <p:cNvPr id="60" name="Tile Li"/>
          <p:cNvSpPr/>
          <p:nvPr/>
        </p:nvSpPr>
        <p:spPr>
          <a:xfrm>
            <a:off x="3749040" y="3337560"/>
            <a:ext cx="420624" cy="420624"/>
          </a:xfrm>
          <a:prstGeom prst="roundRect">
            <a:avLst>
              <a:gd name="adj" fmla="val 12000"/>
            </a:avLst>
          </a:prstGeom>
          <a:solidFill>
            <a:srgbClr val="FF8F5E">
              <a:alpha val="30000"/>
            </a:srgbClr>
          </a:solidFill>
          <a:ln w="19050">
            <a:solidFill>
              <a:srgbClr val="FF8F5E"/>
            </a:solidFill>
            <a:prstDash val="solid"/>
          </a:ln>
        </p:spPr>
      </p:sp>
      <p:sp>
        <p:nvSpPr>
          <p:cNvPr id="61" name="Text 59"/>
          <p:cNvSpPr txBox="1"/>
          <p:nvPr/>
        </p:nvSpPr>
        <p:spPr>
          <a:xfrm>
            <a:off x="378269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3</a:t>
            </a:r>
            <a:endParaRPr lang="en-US" sz="600" dirty="0"/>
          </a:p>
        </p:txBody>
      </p:sp>
      <p:sp>
        <p:nvSpPr>
          <p:cNvPr id="62" name="Text 60"/>
          <p:cNvSpPr txBox="1"/>
          <p:nvPr/>
        </p:nvSpPr>
        <p:spPr>
          <a:xfrm>
            <a:off x="374904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Li</a:t>
            </a:r>
            <a:endParaRPr lang="en-US" sz="1500" dirty="0"/>
          </a:p>
        </p:txBody>
      </p:sp>
      <p:sp>
        <p:nvSpPr>
          <p:cNvPr id="63" name="Text 61"/>
          <p:cNvSpPr txBox="1"/>
          <p:nvPr/>
        </p:nvSpPr>
        <p:spPr>
          <a:xfrm>
            <a:off x="4206240" y="3337560"/>
            <a:ext cx="502920" cy="420624"/>
          </a:xfrm>
          <a:prstGeom prst="rect">
            <a:avLst/>
          </a:prstGeom>
          <a:noFill/>
          <a:ln/>
        </p:spPr>
        <p:txBody>
          <a:bodyPr wrap="square" lIns="0" tIns="0" rIns="0" bIns="0" rtlCol="0" anchor="ctr"/>
          <a:lstStyle/>
          <a:p>
            <a:pPr indent="0" marL="0">
              <a:buNone/>
            </a:pPr>
            <a:r>
              <a:rPr lang="en-US" sz="1000" dirty="0">
                <a:solidFill>
                  <a:schemeClr val="bg2"/>
                </a:solidFill>
              </a:rPr>
              <a:t>167</a:t>
            </a:r>
            <a:endParaRPr lang="en-US" sz="1000" dirty="0"/>
          </a:p>
        </p:txBody>
      </p:sp>
      <p:sp>
        <p:nvSpPr>
          <p:cNvPr id="64" name="Text 62"/>
          <p:cNvSpPr txBox="1"/>
          <p:nvPr/>
        </p:nvSpPr>
        <p:spPr>
          <a:xfrm>
            <a:off x="4690872" y="3337560"/>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65" name="Tile C"/>
          <p:cNvSpPr/>
          <p:nvPr/>
        </p:nvSpPr>
        <p:spPr>
          <a:xfrm>
            <a:off x="4937760" y="3337560"/>
            <a:ext cx="420624" cy="420624"/>
          </a:xfrm>
          <a:prstGeom prst="roundRect">
            <a:avLst>
              <a:gd name="adj" fmla="val 12000"/>
            </a:avLst>
          </a:prstGeom>
          <a:solidFill>
            <a:srgbClr val="45C08F">
              <a:alpha val="30000"/>
            </a:srgbClr>
          </a:solidFill>
          <a:ln w="19050">
            <a:solidFill>
              <a:srgbClr val="45C08F"/>
            </a:solidFill>
            <a:prstDash val="solid"/>
          </a:ln>
        </p:spPr>
      </p:sp>
      <p:sp>
        <p:nvSpPr>
          <p:cNvPr id="66" name="Text 64"/>
          <p:cNvSpPr txBox="1"/>
          <p:nvPr/>
        </p:nvSpPr>
        <p:spPr>
          <a:xfrm>
            <a:off x="497141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6</a:t>
            </a:r>
            <a:endParaRPr lang="en-US" sz="600" dirty="0"/>
          </a:p>
        </p:txBody>
      </p:sp>
      <p:sp>
        <p:nvSpPr>
          <p:cNvPr id="67" name="Text 65"/>
          <p:cNvSpPr txBox="1"/>
          <p:nvPr/>
        </p:nvSpPr>
        <p:spPr>
          <a:xfrm>
            <a:off x="493776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C</a:t>
            </a:r>
            <a:endParaRPr lang="en-US" sz="1500" dirty="0"/>
          </a:p>
        </p:txBody>
      </p:sp>
      <p:sp>
        <p:nvSpPr>
          <p:cNvPr id="68" name="Text 66"/>
          <p:cNvSpPr txBox="1"/>
          <p:nvPr/>
        </p:nvSpPr>
        <p:spPr>
          <a:xfrm>
            <a:off x="5394960" y="3337560"/>
            <a:ext cx="502920" cy="420624"/>
          </a:xfrm>
          <a:prstGeom prst="rect">
            <a:avLst/>
          </a:prstGeom>
          <a:noFill/>
          <a:ln/>
        </p:spPr>
        <p:txBody>
          <a:bodyPr wrap="square" lIns="0" tIns="0" rIns="0" bIns="0" rtlCol="0" anchor="ctr"/>
          <a:lstStyle/>
          <a:p>
            <a:pPr indent="0" marL="0">
              <a:buNone/>
            </a:pPr>
            <a:r>
              <a:rPr lang="en-US" sz="1000" dirty="0">
                <a:solidFill>
                  <a:schemeClr val="bg2"/>
                </a:solidFill>
              </a:rPr>
              <a:t>67</a:t>
            </a:r>
            <a:endParaRPr lang="en-US" sz="1000" dirty="0"/>
          </a:p>
        </p:txBody>
      </p:sp>
      <p:sp>
        <p:nvSpPr>
          <p:cNvPr id="69" name="Text 67"/>
          <p:cNvSpPr txBox="1"/>
          <p:nvPr/>
        </p:nvSpPr>
        <p:spPr>
          <a:xfrm>
            <a:off x="5879592" y="3337560"/>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70" name="Tile N"/>
          <p:cNvSpPr/>
          <p:nvPr/>
        </p:nvSpPr>
        <p:spPr>
          <a:xfrm>
            <a:off x="6126480" y="3337560"/>
            <a:ext cx="420624" cy="420624"/>
          </a:xfrm>
          <a:prstGeom prst="roundRect">
            <a:avLst>
              <a:gd name="adj" fmla="val 12000"/>
            </a:avLst>
          </a:prstGeom>
          <a:solidFill>
            <a:srgbClr val="45C08F">
              <a:alpha val="30000"/>
            </a:srgbClr>
          </a:solidFill>
          <a:ln w="19050">
            <a:solidFill>
              <a:srgbClr val="45C08F"/>
            </a:solidFill>
            <a:prstDash val="solid"/>
          </a:ln>
        </p:spPr>
      </p:sp>
      <p:sp>
        <p:nvSpPr>
          <p:cNvPr id="71" name="Text 69"/>
          <p:cNvSpPr txBox="1"/>
          <p:nvPr/>
        </p:nvSpPr>
        <p:spPr>
          <a:xfrm>
            <a:off x="616013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7</a:t>
            </a:r>
            <a:endParaRPr lang="en-US" sz="600" dirty="0"/>
          </a:p>
        </p:txBody>
      </p:sp>
      <p:sp>
        <p:nvSpPr>
          <p:cNvPr id="72" name="Text 70"/>
          <p:cNvSpPr txBox="1"/>
          <p:nvPr/>
        </p:nvSpPr>
        <p:spPr>
          <a:xfrm>
            <a:off x="612648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t>
            </a:r>
            <a:endParaRPr lang="en-US" sz="1500" dirty="0"/>
          </a:p>
        </p:txBody>
      </p:sp>
      <p:sp>
        <p:nvSpPr>
          <p:cNvPr id="73" name="Text 71"/>
          <p:cNvSpPr txBox="1"/>
          <p:nvPr/>
        </p:nvSpPr>
        <p:spPr>
          <a:xfrm>
            <a:off x="6583680" y="3337560"/>
            <a:ext cx="502920" cy="420624"/>
          </a:xfrm>
          <a:prstGeom prst="rect">
            <a:avLst/>
          </a:prstGeom>
          <a:noFill/>
          <a:ln/>
        </p:spPr>
        <p:txBody>
          <a:bodyPr wrap="square" lIns="0" tIns="0" rIns="0" bIns="0" rtlCol="0" anchor="ctr"/>
          <a:lstStyle/>
          <a:p>
            <a:pPr indent="0" marL="0">
              <a:buNone/>
            </a:pPr>
            <a:r>
              <a:rPr lang="en-US" sz="1000" dirty="0">
                <a:solidFill>
                  <a:schemeClr val="bg2"/>
                </a:solidFill>
              </a:rPr>
              <a:t>56</a:t>
            </a:r>
            <a:endParaRPr lang="en-US" sz="1000" dirty="0"/>
          </a:p>
        </p:txBody>
      </p:sp>
      <p:sp>
        <p:nvSpPr>
          <p:cNvPr id="74" name="Text 72"/>
          <p:cNvSpPr txBox="1"/>
          <p:nvPr/>
        </p:nvSpPr>
        <p:spPr>
          <a:xfrm>
            <a:off x="7068312" y="3337560"/>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75" name="Tile O"/>
          <p:cNvSpPr/>
          <p:nvPr/>
        </p:nvSpPr>
        <p:spPr>
          <a:xfrm>
            <a:off x="7315200" y="3337560"/>
            <a:ext cx="420624" cy="420624"/>
          </a:xfrm>
          <a:prstGeom prst="roundRect">
            <a:avLst>
              <a:gd name="adj" fmla="val 12000"/>
            </a:avLst>
          </a:prstGeom>
          <a:solidFill>
            <a:srgbClr val="45C08F">
              <a:alpha val="30000"/>
            </a:srgbClr>
          </a:solidFill>
          <a:ln w="19050">
            <a:solidFill>
              <a:srgbClr val="45C08F"/>
            </a:solidFill>
            <a:prstDash val="solid"/>
          </a:ln>
        </p:spPr>
      </p:sp>
      <p:sp>
        <p:nvSpPr>
          <p:cNvPr id="76" name="Text 74"/>
          <p:cNvSpPr txBox="1"/>
          <p:nvPr/>
        </p:nvSpPr>
        <p:spPr>
          <a:xfrm>
            <a:off x="7348850" y="3358591"/>
            <a:ext cx="252374" cy="100950"/>
          </a:xfrm>
          <a:prstGeom prst="rect">
            <a:avLst/>
          </a:prstGeom>
          <a:noFill/>
          <a:ln/>
        </p:spPr>
        <p:txBody>
          <a:bodyPr wrap="square" lIns="0" tIns="0" rIns="0" bIns="0" rtlCol="0" anchor="t"/>
          <a:lstStyle/>
          <a:p>
            <a:pPr indent="0" marL="0">
              <a:buNone/>
            </a:pPr>
            <a:r>
              <a:rPr lang="en-US" sz="600" dirty="0">
                <a:solidFill>
                  <a:schemeClr val="bg2"/>
                </a:solidFill>
              </a:rPr>
              <a:t>8</a:t>
            </a:r>
            <a:endParaRPr lang="en-US" sz="600" dirty="0"/>
          </a:p>
        </p:txBody>
      </p:sp>
      <p:sp>
        <p:nvSpPr>
          <p:cNvPr id="77" name="Text 75"/>
          <p:cNvSpPr txBox="1"/>
          <p:nvPr/>
        </p:nvSpPr>
        <p:spPr>
          <a:xfrm>
            <a:off x="7315200" y="3404860"/>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O</a:t>
            </a:r>
            <a:endParaRPr lang="en-US" sz="1500" dirty="0"/>
          </a:p>
        </p:txBody>
      </p:sp>
      <p:sp>
        <p:nvSpPr>
          <p:cNvPr id="78" name="Text 76"/>
          <p:cNvSpPr txBox="1"/>
          <p:nvPr/>
        </p:nvSpPr>
        <p:spPr>
          <a:xfrm>
            <a:off x="7772400" y="3337560"/>
            <a:ext cx="502920" cy="420624"/>
          </a:xfrm>
          <a:prstGeom prst="rect">
            <a:avLst/>
          </a:prstGeom>
          <a:noFill/>
          <a:ln/>
        </p:spPr>
        <p:txBody>
          <a:bodyPr wrap="square" lIns="0" tIns="0" rIns="0" bIns="0" rtlCol="0" anchor="ctr"/>
          <a:lstStyle/>
          <a:p>
            <a:pPr indent="0" marL="0">
              <a:buNone/>
            </a:pPr>
            <a:r>
              <a:rPr lang="en-US" sz="1000" dirty="0">
                <a:solidFill>
                  <a:schemeClr val="bg2"/>
                </a:solidFill>
              </a:rPr>
              <a:t>48</a:t>
            </a:r>
            <a:endParaRPr lang="en-US" sz="1000" dirty="0"/>
          </a:p>
        </p:txBody>
      </p:sp>
      <p:sp>
        <p:nvSpPr>
          <p:cNvPr id="79" name="Round 5"/>
          <p:cNvSpPr/>
          <p:nvPr/>
        </p:nvSpPr>
        <p:spPr>
          <a:xfrm>
            <a:off x="457200" y="3904488"/>
            <a:ext cx="8229600" cy="530352"/>
          </a:xfrm>
          <a:prstGeom prst="roundRect">
            <a:avLst>
              <a:gd name="adj" fmla="val 17241"/>
            </a:avLst>
          </a:prstGeom>
          <a:solidFill>
            <a:schemeClr val="tx2"/>
          </a:solidFill>
          <a:ln w="9525">
            <a:solidFill>
              <a:schemeClr val="bg2">
                <a:alpha val="30000"/>
              </a:schemeClr>
            </a:solidFill>
            <a:prstDash val="solid"/>
          </a:ln>
        </p:spPr>
      </p:sp>
      <p:sp>
        <p:nvSpPr>
          <p:cNvPr id="80" name="Text 78"/>
          <p:cNvSpPr txBox="1"/>
          <p:nvPr/>
        </p:nvSpPr>
        <p:spPr>
          <a:xfrm>
            <a:off x="594360" y="3904488"/>
            <a:ext cx="3108960" cy="530352"/>
          </a:xfrm>
          <a:prstGeom prst="rect">
            <a:avLst/>
          </a:prstGeom>
          <a:noFill/>
          <a:ln/>
        </p:spPr>
        <p:txBody>
          <a:bodyPr wrap="square" lIns="0" tIns="0" rIns="0" bIns="0" rtlCol="0" anchor="ctr"/>
          <a:lstStyle/>
          <a:p>
            <a:pPr indent="0" marL="0">
              <a:buNone/>
            </a:pPr>
            <a:r>
              <a:rPr lang="en-US" sz="1300" b="1" dirty="0">
                <a:solidFill>
                  <a:schemeClr val="accent2"/>
                </a:solidFill>
              </a:rPr>
              <a:t>5. </a:t>
            </a:r>
            <a:pPr indent="0" marL="0">
              <a:buNone/>
            </a:pPr>
            <a:r>
              <a:rPr lang="en-US" sz="1300" b="1" dirty="0">
                <a:solidFill>
                  <a:schemeClr val="accent6"/>
                </a:solidFill>
              </a:rPr>
              <a:t>electronegativity, </a:t>
            </a:r>
            <a:pPr indent="0" marL="0">
              <a:buNone/>
            </a:pPr>
            <a:r>
              <a:rPr lang="en-US" sz="1300" dirty="0">
                <a:solidFill>
                  <a:schemeClr val="bg1"/>
                </a:solidFill>
              </a:rPr>
              <a:t>lowest → highest</a:t>
            </a:r>
            <a:endParaRPr lang="en-US" sz="1300" dirty="0"/>
          </a:p>
        </p:txBody>
      </p:sp>
      <p:sp>
        <p:nvSpPr>
          <p:cNvPr id="81" name="Tile Na"/>
          <p:cNvSpPr/>
          <p:nvPr/>
        </p:nvSpPr>
        <p:spPr>
          <a:xfrm>
            <a:off x="3749040" y="3959352"/>
            <a:ext cx="420624" cy="420624"/>
          </a:xfrm>
          <a:prstGeom prst="roundRect">
            <a:avLst>
              <a:gd name="adj" fmla="val 12000"/>
            </a:avLst>
          </a:prstGeom>
          <a:solidFill>
            <a:srgbClr val="FF8F5E">
              <a:alpha val="30000"/>
            </a:srgbClr>
          </a:solidFill>
          <a:ln w="19050">
            <a:solidFill>
              <a:srgbClr val="FF8F5E"/>
            </a:solidFill>
            <a:prstDash val="solid"/>
          </a:ln>
        </p:spPr>
      </p:sp>
      <p:sp>
        <p:nvSpPr>
          <p:cNvPr id="82" name="Text 80"/>
          <p:cNvSpPr txBox="1"/>
          <p:nvPr/>
        </p:nvSpPr>
        <p:spPr>
          <a:xfrm>
            <a:off x="378269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11</a:t>
            </a:r>
            <a:endParaRPr lang="en-US" sz="600" dirty="0"/>
          </a:p>
        </p:txBody>
      </p:sp>
      <p:sp>
        <p:nvSpPr>
          <p:cNvPr id="83" name="Text 81"/>
          <p:cNvSpPr txBox="1"/>
          <p:nvPr/>
        </p:nvSpPr>
        <p:spPr>
          <a:xfrm>
            <a:off x="374904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Na</a:t>
            </a:r>
            <a:endParaRPr lang="en-US" sz="1500" dirty="0"/>
          </a:p>
        </p:txBody>
      </p:sp>
      <p:sp>
        <p:nvSpPr>
          <p:cNvPr id="84" name="Text 82"/>
          <p:cNvSpPr txBox="1"/>
          <p:nvPr/>
        </p:nvSpPr>
        <p:spPr>
          <a:xfrm>
            <a:off x="4206240" y="3959352"/>
            <a:ext cx="502920" cy="420624"/>
          </a:xfrm>
          <a:prstGeom prst="rect">
            <a:avLst/>
          </a:prstGeom>
          <a:noFill/>
          <a:ln/>
        </p:spPr>
        <p:txBody>
          <a:bodyPr wrap="square" lIns="0" tIns="0" rIns="0" bIns="0" rtlCol="0" anchor="ctr"/>
          <a:lstStyle/>
          <a:p>
            <a:pPr indent="0" marL="0">
              <a:buNone/>
            </a:pPr>
            <a:r>
              <a:rPr lang="en-US" sz="1000" dirty="0">
                <a:solidFill>
                  <a:schemeClr val="bg2"/>
                </a:solidFill>
              </a:rPr>
              <a:t>0.93</a:t>
            </a:r>
            <a:endParaRPr lang="en-US" sz="1000" dirty="0"/>
          </a:p>
        </p:txBody>
      </p:sp>
      <p:sp>
        <p:nvSpPr>
          <p:cNvPr id="85" name="Text 83"/>
          <p:cNvSpPr txBox="1"/>
          <p:nvPr/>
        </p:nvSpPr>
        <p:spPr>
          <a:xfrm>
            <a:off x="4690872" y="3959352"/>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86" name="Tile Si"/>
          <p:cNvSpPr/>
          <p:nvPr/>
        </p:nvSpPr>
        <p:spPr>
          <a:xfrm>
            <a:off x="4937760" y="3959352"/>
            <a:ext cx="420624" cy="420624"/>
          </a:xfrm>
          <a:prstGeom prst="roundRect">
            <a:avLst>
              <a:gd name="adj" fmla="val 12000"/>
            </a:avLst>
          </a:prstGeom>
          <a:solidFill>
            <a:srgbClr val="46C7D8">
              <a:alpha val="30000"/>
            </a:srgbClr>
          </a:solidFill>
          <a:ln w="19050">
            <a:solidFill>
              <a:srgbClr val="46C7D8"/>
            </a:solidFill>
            <a:prstDash val="solid"/>
          </a:ln>
        </p:spPr>
      </p:sp>
      <p:sp>
        <p:nvSpPr>
          <p:cNvPr id="87" name="Text 85"/>
          <p:cNvSpPr txBox="1"/>
          <p:nvPr/>
        </p:nvSpPr>
        <p:spPr>
          <a:xfrm>
            <a:off x="497141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14</a:t>
            </a:r>
            <a:endParaRPr lang="en-US" sz="600" dirty="0"/>
          </a:p>
        </p:txBody>
      </p:sp>
      <p:sp>
        <p:nvSpPr>
          <p:cNvPr id="88" name="Text 86"/>
          <p:cNvSpPr txBox="1"/>
          <p:nvPr/>
        </p:nvSpPr>
        <p:spPr>
          <a:xfrm>
            <a:off x="493776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Si</a:t>
            </a:r>
            <a:endParaRPr lang="en-US" sz="1500" dirty="0"/>
          </a:p>
        </p:txBody>
      </p:sp>
      <p:sp>
        <p:nvSpPr>
          <p:cNvPr id="89" name="Text 87"/>
          <p:cNvSpPr txBox="1"/>
          <p:nvPr/>
        </p:nvSpPr>
        <p:spPr>
          <a:xfrm>
            <a:off x="5394960" y="3959352"/>
            <a:ext cx="502920" cy="420624"/>
          </a:xfrm>
          <a:prstGeom prst="rect">
            <a:avLst/>
          </a:prstGeom>
          <a:noFill/>
          <a:ln/>
        </p:spPr>
        <p:txBody>
          <a:bodyPr wrap="square" lIns="0" tIns="0" rIns="0" bIns="0" rtlCol="0" anchor="ctr"/>
          <a:lstStyle/>
          <a:p>
            <a:pPr indent="0" marL="0">
              <a:buNone/>
            </a:pPr>
            <a:r>
              <a:rPr lang="en-US" sz="1000" dirty="0">
                <a:solidFill>
                  <a:schemeClr val="bg2"/>
                </a:solidFill>
              </a:rPr>
              <a:t>1.90</a:t>
            </a:r>
            <a:endParaRPr lang="en-US" sz="1000" dirty="0"/>
          </a:p>
        </p:txBody>
      </p:sp>
      <p:sp>
        <p:nvSpPr>
          <p:cNvPr id="90" name="Text 88"/>
          <p:cNvSpPr txBox="1"/>
          <p:nvPr/>
        </p:nvSpPr>
        <p:spPr>
          <a:xfrm>
            <a:off x="5879592" y="3959352"/>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91" name="Tile P"/>
          <p:cNvSpPr/>
          <p:nvPr/>
        </p:nvSpPr>
        <p:spPr>
          <a:xfrm>
            <a:off x="6126480" y="3959352"/>
            <a:ext cx="420624" cy="420624"/>
          </a:xfrm>
          <a:prstGeom prst="roundRect">
            <a:avLst>
              <a:gd name="adj" fmla="val 12000"/>
            </a:avLst>
          </a:prstGeom>
          <a:solidFill>
            <a:srgbClr val="45C08F">
              <a:alpha val="30000"/>
            </a:srgbClr>
          </a:solidFill>
          <a:ln w="19050">
            <a:solidFill>
              <a:srgbClr val="45C08F"/>
            </a:solidFill>
            <a:prstDash val="solid"/>
          </a:ln>
        </p:spPr>
      </p:sp>
      <p:sp>
        <p:nvSpPr>
          <p:cNvPr id="92" name="Text 90"/>
          <p:cNvSpPr txBox="1"/>
          <p:nvPr/>
        </p:nvSpPr>
        <p:spPr>
          <a:xfrm>
            <a:off x="616013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15</a:t>
            </a:r>
            <a:endParaRPr lang="en-US" sz="600" dirty="0"/>
          </a:p>
        </p:txBody>
      </p:sp>
      <p:sp>
        <p:nvSpPr>
          <p:cNvPr id="93" name="Text 91"/>
          <p:cNvSpPr txBox="1"/>
          <p:nvPr/>
        </p:nvSpPr>
        <p:spPr>
          <a:xfrm>
            <a:off x="612648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P</a:t>
            </a:r>
            <a:endParaRPr lang="en-US" sz="1500" dirty="0"/>
          </a:p>
        </p:txBody>
      </p:sp>
      <p:sp>
        <p:nvSpPr>
          <p:cNvPr id="94" name="Text 92"/>
          <p:cNvSpPr txBox="1"/>
          <p:nvPr/>
        </p:nvSpPr>
        <p:spPr>
          <a:xfrm>
            <a:off x="6583680" y="3959352"/>
            <a:ext cx="502920" cy="420624"/>
          </a:xfrm>
          <a:prstGeom prst="rect">
            <a:avLst/>
          </a:prstGeom>
          <a:noFill/>
          <a:ln/>
        </p:spPr>
        <p:txBody>
          <a:bodyPr wrap="square" lIns="0" tIns="0" rIns="0" bIns="0" rtlCol="0" anchor="ctr"/>
          <a:lstStyle/>
          <a:p>
            <a:pPr indent="0" marL="0">
              <a:buNone/>
            </a:pPr>
            <a:r>
              <a:rPr lang="en-US" sz="1000" dirty="0">
                <a:solidFill>
                  <a:schemeClr val="bg2"/>
                </a:solidFill>
              </a:rPr>
              <a:t>2.19</a:t>
            </a:r>
            <a:endParaRPr lang="en-US" sz="1000" dirty="0"/>
          </a:p>
        </p:txBody>
      </p:sp>
      <p:sp>
        <p:nvSpPr>
          <p:cNvPr id="95" name="Text 93"/>
          <p:cNvSpPr txBox="1"/>
          <p:nvPr/>
        </p:nvSpPr>
        <p:spPr>
          <a:xfrm>
            <a:off x="7068312" y="3959352"/>
            <a:ext cx="228600" cy="420624"/>
          </a:xfrm>
          <a:prstGeom prst="rect">
            <a:avLst/>
          </a:prstGeom>
          <a:noFill/>
          <a:ln/>
        </p:spPr>
        <p:txBody>
          <a:bodyPr wrap="square" lIns="0" tIns="0" rIns="0" bIns="0" rtlCol="0" anchor="ctr"/>
          <a:lstStyle/>
          <a:p>
            <a:pPr indent="0" marL="0">
              <a:buNone/>
            </a:pPr>
            <a:r>
              <a:rPr lang="en-US" sz="1200" dirty="0">
                <a:solidFill>
                  <a:schemeClr val="bg2"/>
                </a:solidFill>
              </a:rPr>
              <a:t>→</a:t>
            </a:r>
            <a:endParaRPr lang="en-US" sz="1200" dirty="0"/>
          </a:p>
        </p:txBody>
      </p:sp>
      <p:sp>
        <p:nvSpPr>
          <p:cNvPr id="96" name="Tile Cl"/>
          <p:cNvSpPr/>
          <p:nvPr/>
        </p:nvSpPr>
        <p:spPr>
          <a:xfrm>
            <a:off x="7315200" y="3959352"/>
            <a:ext cx="420624" cy="420624"/>
          </a:xfrm>
          <a:prstGeom prst="roundRect">
            <a:avLst>
              <a:gd name="adj" fmla="val 12000"/>
            </a:avLst>
          </a:prstGeom>
          <a:solidFill>
            <a:srgbClr val="F477B8">
              <a:alpha val="30000"/>
            </a:srgbClr>
          </a:solidFill>
          <a:ln w="19050">
            <a:solidFill>
              <a:srgbClr val="F477B8"/>
            </a:solidFill>
            <a:prstDash val="solid"/>
          </a:ln>
        </p:spPr>
      </p:sp>
      <p:sp>
        <p:nvSpPr>
          <p:cNvPr id="97" name="Text 95"/>
          <p:cNvSpPr txBox="1"/>
          <p:nvPr/>
        </p:nvSpPr>
        <p:spPr>
          <a:xfrm>
            <a:off x="7348850" y="3980383"/>
            <a:ext cx="252374" cy="100950"/>
          </a:xfrm>
          <a:prstGeom prst="rect">
            <a:avLst/>
          </a:prstGeom>
          <a:noFill/>
          <a:ln/>
        </p:spPr>
        <p:txBody>
          <a:bodyPr wrap="square" lIns="0" tIns="0" rIns="0" bIns="0" rtlCol="0" anchor="t"/>
          <a:lstStyle/>
          <a:p>
            <a:pPr indent="0" marL="0">
              <a:buNone/>
            </a:pPr>
            <a:r>
              <a:rPr lang="en-US" sz="600" dirty="0">
                <a:solidFill>
                  <a:schemeClr val="bg2"/>
                </a:solidFill>
              </a:rPr>
              <a:t>17</a:t>
            </a:r>
            <a:endParaRPr lang="en-US" sz="600" dirty="0"/>
          </a:p>
        </p:txBody>
      </p:sp>
      <p:sp>
        <p:nvSpPr>
          <p:cNvPr id="98" name="Text 96"/>
          <p:cNvSpPr txBox="1"/>
          <p:nvPr/>
        </p:nvSpPr>
        <p:spPr>
          <a:xfrm>
            <a:off x="7315200" y="4026652"/>
            <a:ext cx="420624" cy="336499"/>
          </a:xfrm>
          <a:prstGeom prst="rect">
            <a:avLst/>
          </a:prstGeom>
          <a:noFill/>
          <a:ln/>
        </p:spPr>
        <p:txBody>
          <a:bodyPr wrap="square" lIns="0" tIns="0" rIns="0" bIns="0" rtlCol="0" anchor="ctr"/>
          <a:lstStyle/>
          <a:p>
            <a:pPr algn="ctr" indent="0" marL="0">
              <a:buNone/>
            </a:pPr>
            <a:r>
              <a:rPr lang="en-US" sz="1500" b="1" dirty="0">
                <a:solidFill>
                  <a:schemeClr val="bg1"/>
                </a:solidFill>
              </a:rPr>
              <a:t>Cl</a:t>
            </a:r>
            <a:endParaRPr lang="en-US" sz="1500" dirty="0"/>
          </a:p>
        </p:txBody>
      </p:sp>
      <p:sp>
        <p:nvSpPr>
          <p:cNvPr id="99" name="Text 97"/>
          <p:cNvSpPr txBox="1"/>
          <p:nvPr/>
        </p:nvSpPr>
        <p:spPr>
          <a:xfrm>
            <a:off x="7772400" y="3959352"/>
            <a:ext cx="502920" cy="420624"/>
          </a:xfrm>
          <a:prstGeom prst="rect">
            <a:avLst/>
          </a:prstGeom>
          <a:noFill/>
          <a:ln/>
        </p:spPr>
        <p:txBody>
          <a:bodyPr wrap="square" lIns="0" tIns="0" rIns="0" bIns="0" rtlCol="0" anchor="ctr"/>
          <a:lstStyle/>
          <a:p>
            <a:pPr indent="0" marL="0">
              <a:buNone/>
            </a:pPr>
            <a:r>
              <a:rPr lang="en-US" sz="1000" dirty="0">
                <a:solidFill>
                  <a:schemeClr val="bg2"/>
                </a:solidFill>
              </a:rPr>
              <a:t>3.16</a:t>
            </a:r>
            <a:endParaRPr lang="en-US" sz="10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Mg"/>
          <p:cNvSpPr/>
          <p:nvPr/>
        </p:nvSpPr>
        <p:spPr>
          <a:xfrm>
            <a:off x="624634" y="565380"/>
            <a:ext cx="414941" cy="414941"/>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Mg</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list is in order of increasing ionization energy?</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F, O, N</a:t>
            </a:r>
            <a:endParaRPr lang="en-US" sz="1600" dirty="0"/>
          </a:p>
        </p:txBody>
      </p:sp>
      <p:sp>
        <p:nvSpPr>
          <p:cNvPr id="12"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3" name="Text 11"/>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K, Na, Li</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Li, Na, K</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Cl, S, P</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ection tile 7"/>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Mg"/>
          <p:cNvSpPr/>
          <p:nvPr/>
        </p:nvSpPr>
        <p:spPr>
          <a:xfrm>
            <a:off x="624634" y="565380"/>
            <a:ext cx="414941" cy="414941"/>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7</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Mg</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7 of 9</a:t>
            </a:r>
            <a:endParaRPr lang="en-US" sz="1200" dirty="0"/>
          </a:p>
        </p:txBody>
      </p:sp>
      <p:sp>
        <p:nvSpPr>
          <p:cNvPr id="9"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Which list is in order of increasing ionization energy?</a:t>
            </a:r>
            <a:endParaRPr lang="en-US" sz="2000" dirty="0"/>
          </a:p>
        </p:txBody>
      </p:sp>
      <p:sp>
        <p:nvSpPr>
          <p:cNvPr id="10"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1" name="Text 9"/>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2" name="Text 10"/>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F, O, N</a:t>
            </a:r>
            <a:endParaRPr lang="en-US" sz="1600" dirty="0"/>
          </a:p>
        </p:txBody>
      </p:sp>
      <p:sp>
        <p:nvSpPr>
          <p:cNvPr id="13"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4" name="Text 12"/>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5" name="Text 13"/>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K, Na, Li</a:t>
            </a:r>
            <a:endParaRPr lang="en-US" sz="1600" dirty="0"/>
          </a:p>
        </p:txBody>
      </p:sp>
      <p:sp>
        <p:nvSpPr>
          <p:cNvPr id="16"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7" name="Text 15"/>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8" name="Text 16"/>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Li, Na, K</a:t>
            </a:r>
            <a:endParaRPr lang="en-US" sz="1600" dirty="0"/>
          </a:p>
        </p:txBody>
      </p:sp>
      <p:sp>
        <p:nvSpPr>
          <p:cNvPr id="19"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20" name="Text 18"/>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1" name="Text 19"/>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Cl, S, P</a:t>
            </a:r>
            <a:endParaRPr lang="en-US" sz="1600" dirty="0"/>
          </a:p>
        </p:txBody>
      </p:sp>
      <p:sp>
        <p:nvSpPr>
          <p:cNvPr id="22"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3" name="Text 21"/>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Going up group 1 (K → Na → Li), atoms get smaller, so ionization energy increases.</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ection tile 8"/>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O"/>
          <p:cNvSpPr/>
          <p:nvPr/>
        </p:nvSpPr>
        <p:spPr>
          <a:xfrm>
            <a:off x="730986" y="671733"/>
            <a:ext cx="202236" cy="202236"/>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O</a:t>
            </a:r>
            <a:endParaRPr lang="en-US" sz="2400" dirty="0"/>
          </a:p>
        </p:txBody>
      </p:sp>
      <p:sp>
        <p:nvSpPr>
          <p:cNvPr id="6"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8 of 9 · about 6 min</a:t>
            </a:r>
            <a:endParaRPr lang="en-US" sz="1200" dirty="0"/>
          </a:p>
        </p:txBody>
      </p:sp>
      <p:sp>
        <p:nvSpPr>
          <p:cNvPr id="7"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Spot the mistake: fix the claims</a:t>
            </a:r>
            <a:endParaRPr lang="en-US" sz="3000" dirty="0"/>
          </a:p>
        </p:txBody>
      </p:sp>
      <p:sp>
        <p:nvSpPr>
          <p:cNvPr id="8"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9" name="Text 7"/>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10" name="Text 8"/>
          <p:cNvSpPr/>
          <p:nvPr/>
        </p:nvSpPr>
        <p:spPr>
          <a:xfrm>
            <a:off x="685800" y="2039112"/>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11" name="Text 9"/>
          <p:cNvSpPr txBox="1"/>
          <p:nvPr/>
        </p:nvSpPr>
        <p:spPr>
          <a:xfrm>
            <a:off x="1554480" y="1947672"/>
            <a:ext cx="2697480" cy="457200"/>
          </a:xfrm>
          <a:prstGeom prst="rect">
            <a:avLst/>
          </a:prstGeom>
          <a:noFill/>
          <a:ln/>
        </p:spPr>
        <p:txBody>
          <a:bodyPr wrap="square" lIns="0" tIns="0" rIns="0" bIns="0" rtlCol="0" anchor="ctr"/>
          <a:lstStyle/>
          <a:p>
            <a:pPr indent="0" marL="0">
              <a:buNone/>
            </a:pPr>
            <a:r>
              <a:rPr lang="en-US" sz="1400" dirty="0">
                <a:solidFill>
                  <a:schemeClr val="bg1"/>
                </a:solidFill>
              </a:rPr>
              <a:t>Check the direction and the reason</a:t>
            </a:r>
            <a:endParaRPr lang="en-US" sz="1400" dirty="0"/>
          </a:p>
        </p:txBody>
      </p:sp>
      <p:sp>
        <p:nvSpPr>
          <p:cNvPr id="12" name="Text 10"/>
          <p:cNvSpPr/>
          <p:nvPr/>
        </p:nvSpPr>
        <p:spPr>
          <a:xfrm>
            <a:off x="685800" y="2752344"/>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13" name="Text 11"/>
          <p:cNvSpPr txBox="1"/>
          <p:nvPr/>
        </p:nvSpPr>
        <p:spPr>
          <a:xfrm>
            <a:off x="1554480" y="2660904"/>
            <a:ext cx="2697480" cy="457200"/>
          </a:xfrm>
          <a:prstGeom prst="rect">
            <a:avLst/>
          </a:prstGeom>
          <a:noFill/>
          <a:ln/>
        </p:spPr>
        <p:txBody>
          <a:bodyPr wrap="square" lIns="0" tIns="0" rIns="0" bIns="0" rtlCol="0" anchor="ctr"/>
          <a:lstStyle/>
          <a:p>
            <a:pPr indent="0" marL="0">
              <a:buNone/>
            </a:pPr>
            <a:r>
              <a:rPr lang="en-US" sz="1400" dirty="0">
                <a:solidFill>
                  <a:schemeClr val="bg1"/>
                </a:solidFill>
              </a:rPr>
              <a:t>Spot the mistake</a:t>
            </a:r>
            <a:endParaRPr lang="en-US" sz="1400" dirty="0"/>
          </a:p>
        </p:txBody>
      </p:sp>
      <p:sp>
        <p:nvSpPr>
          <p:cNvPr id="14" name="Text 12"/>
          <p:cNvSpPr/>
          <p:nvPr/>
        </p:nvSpPr>
        <p:spPr>
          <a:xfrm>
            <a:off x="685800" y="346557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15" name="Text 13"/>
          <p:cNvSpPr txBox="1"/>
          <p:nvPr/>
        </p:nvSpPr>
        <p:spPr>
          <a:xfrm>
            <a:off x="1874520" y="3374136"/>
            <a:ext cx="2377440" cy="457200"/>
          </a:xfrm>
          <a:prstGeom prst="rect">
            <a:avLst/>
          </a:prstGeom>
          <a:noFill/>
          <a:ln/>
        </p:spPr>
        <p:txBody>
          <a:bodyPr wrap="square" lIns="0" tIns="0" rIns="0" bIns="0" rtlCol="0" anchor="ctr"/>
          <a:lstStyle/>
          <a:p>
            <a:pPr indent="0" marL="0">
              <a:buNone/>
            </a:pPr>
            <a:r>
              <a:rPr lang="en-US" sz="1400" dirty="0">
                <a:solidFill>
                  <a:schemeClr val="bg1"/>
                </a:solidFill>
              </a:rPr>
              <a:t>Sulfur vs. sodium</a:t>
            </a:r>
            <a:endParaRPr lang="en-US" sz="1400" dirty="0"/>
          </a:p>
        </p:txBody>
      </p:sp>
      <p:sp>
        <p:nvSpPr>
          <p:cNvPr id="16"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7" name="Text 15"/>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the next section</a:t>
            </a:r>
            <a:endParaRPr lang="en-US" sz="1500" dirty="0"/>
          </a:p>
        </p:txBody>
      </p:sp>
      <p:sp>
        <p:nvSpPr>
          <p:cNvPr id="18" name="Text 16"/>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9" name="Text 17"/>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Find and fix the mistake in 5 student claims</a:t>
            </a:r>
            <a:endParaRPr lang="en-US" sz="1400" dirty="0"/>
          </a:p>
        </p:txBody>
      </p:sp>
      <p:sp>
        <p:nvSpPr>
          <p:cNvPr id="20" name="Text 18"/>
          <p:cNvSpPr/>
          <p:nvPr/>
        </p:nvSpPr>
        <p:spPr>
          <a:xfrm>
            <a:off x="4892040" y="2633472"/>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21" name="Text 19"/>
          <p:cNvSpPr txBox="1"/>
          <p:nvPr/>
        </p:nvSpPr>
        <p:spPr>
          <a:xfrm>
            <a:off x="5303520" y="2560320"/>
            <a:ext cx="3200400" cy="457200"/>
          </a:xfrm>
          <a:prstGeom prst="rect">
            <a:avLst/>
          </a:prstGeom>
          <a:noFill/>
          <a:ln/>
        </p:spPr>
        <p:txBody>
          <a:bodyPr wrap="square" lIns="0" tIns="0" rIns="0" bIns="0" rtlCol="0" anchor="ctr"/>
          <a:lstStyle/>
          <a:p>
            <a:pPr indent="0" marL="0">
              <a:buNone/>
            </a:pPr>
            <a:r>
              <a:rPr lang="en-US" sz="1400" dirty="0">
                <a:solidFill>
                  <a:schemeClr val="bg1"/>
                </a:solidFill>
              </a:rPr>
              <a:t>Answer the quick check correctly</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ection tile 8"/>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O"/>
          <p:cNvSpPr/>
          <p:nvPr/>
        </p:nvSpPr>
        <p:spPr>
          <a:xfrm>
            <a:off x="730986" y="671733"/>
            <a:ext cx="202236" cy="202236"/>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O</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Read</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Check the direction and the reason</a:t>
            </a:r>
            <a:endParaRPr lang="en-US" sz="2800" dirty="0"/>
          </a:p>
        </p:txBody>
      </p:sp>
      <p:sp>
        <p:nvSpPr>
          <p:cNvPr id="9" name="Text 7"/>
          <p:cNvSpPr txBox="1"/>
          <p:nvPr/>
        </p:nvSpPr>
        <p:spPr>
          <a:xfrm>
            <a:off x="457200" y="1371600"/>
            <a:ext cx="8229600" cy="914400"/>
          </a:xfrm>
          <a:prstGeom prst="rect">
            <a:avLst/>
          </a:prstGeom>
          <a:noFill/>
          <a:ln/>
        </p:spPr>
        <p:txBody>
          <a:bodyPr wrap="square" lIns="0" tIns="0" rIns="0" bIns="0" rtlCol="0" anchor="t"/>
          <a:lstStyle/>
          <a:p>
            <a:pPr indent="0" marL="0">
              <a:spcAft>
                <a:spcPts val="800"/>
              </a:spcAft>
              <a:buNone/>
            </a:pPr>
            <a:r>
              <a:rPr lang="en-US" sz="1500" dirty="0">
                <a:solidFill>
                  <a:schemeClr val="bg1"/>
                </a:solidFill>
              </a:rPr>
              <a:t>A claim about a trend has two parts: the direction (which atom is larger, or has the higher value) and the reason (more shells down a group, or more protons pulling the same shells across a period). A claim can be wrong in either part.</a:t>
            </a:r>
            <a:endParaRPr lang="en-US" sz="1500" dirty="0"/>
          </a:p>
        </p:txBody>
      </p:sp>
      <p:sp>
        <p:nvSpPr>
          <p:cNvPr id="10" name="Example claim"/>
          <p:cNvSpPr/>
          <p:nvPr/>
        </p:nvSpPr>
        <p:spPr>
          <a:xfrm>
            <a:off x="457200" y="2514600"/>
            <a:ext cx="8229600" cy="1280160"/>
          </a:xfrm>
          <a:prstGeom prst="roundRect">
            <a:avLst>
              <a:gd name="adj" fmla="val 7143"/>
            </a:avLst>
          </a:prstGeom>
          <a:solidFill>
            <a:schemeClr val="tx2"/>
          </a:solidFill>
          <a:ln w="9525">
            <a:solidFill>
              <a:schemeClr val="bg2">
                <a:alpha val="30000"/>
              </a:schemeClr>
            </a:solidFill>
            <a:prstDash val="solid"/>
          </a:ln>
        </p:spPr>
      </p:sp>
      <p:sp>
        <p:nvSpPr>
          <p:cNvPr id="11" name="Text 9"/>
          <p:cNvSpPr txBox="1"/>
          <p:nvPr/>
        </p:nvSpPr>
        <p:spPr>
          <a:xfrm>
            <a:off x="640080" y="2514600"/>
            <a:ext cx="7863840" cy="1280160"/>
          </a:xfrm>
          <a:prstGeom prst="rect">
            <a:avLst/>
          </a:prstGeom>
          <a:noFill/>
          <a:ln/>
        </p:spPr>
        <p:txBody>
          <a:bodyPr wrap="square" lIns="0" tIns="0" rIns="0" bIns="0" rtlCol="0" anchor="ctr"/>
          <a:lstStyle/>
          <a:p>
            <a:pPr indent="0" marL="0">
              <a:buNone/>
            </a:pPr>
            <a:r>
              <a:rPr lang="en-US" sz="1800" b="1" dirty="0">
                <a:solidFill>
                  <a:schemeClr val="accent4"/>
                </a:solidFill>
              </a:rPr>
              <a:t>Example: </a:t>
            </a:r>
            <a:pPr indent="0" marL="0">
              <a:buNone/>
            </a:pPr>
            <a:r>
              <a:rPr lang="en-US" sz="1800" dirty="0">
                <a:solidFill>
                  <a:schemeClr val="bg1"/>
                </a:solidFill>
              </a:rPr>
              <a:t>"Potassium is larger than sodium </a:t>
            </a:r>
            <a:pPr indent="0" marL="0">
              <a:buNone/>
            </a:pPr>
            <a:r>
              <a:rPr lang="en-US" sz="1800" i="1" dirty="0">
                <a:solidFill>
                  <a:schemeClr val="accent1"/>
                </a:solidFill>
              </a:rPr>
              <a:t>(direction)</a:t>
            </a:r>
            <a:pPr indent="0" marL="0">
              <a:buNone/>
            </a:pPr>
            <a:r>
              <a:rPr lang="en-US" sz="1800" dirty="0">
                <a:solidFill>
                  <a:schemeClr val="bg1"/>
                </a:solidFill>
              </a:rPr>
              <a:t> because it has one more shell </a:t>
            </a:r>
            <a:pPr indent="0" marL="0">
              <a:buNone/>
            </a:pPr>
            <a:r>
              <a:rPr lang="en-US" sz="1800" i="1" dirty="0">
                <a:solidFill>
                  <a:schemeClr val="accent2"/>
                </a:solidFill>
              </a:rPr>
              <a:t>(reason)</a:t>
            </a:r>
            <a:pPr indent="0" marL="0">
              <a:buNone/>
            </a:pPr>
            <a:r>
              <a:rPr lang="en-US" sz="1800" dirty="0">
                <a:solidFill>
                  <a:schemeClr val="bg1"/>
                </a:solidFill>
              </a:rPr>
              <a:t>."</a:t>
            </a:r>
            <a:endParaRPr lang="en-US" sz="18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ection tile 8"/>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O"/>
          <p:cNvSpPr/>
          <p:nvPr/>
        </p:nvSpPr>
        <p:spPr>
          <a:xfrm>
            <a:off x="730986" y="671733"/>
            <a:ext cx="202236" cy="202236"/>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O</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txBox="1"/>
          <p:nvPr/>
        </p:nvSpPr>
        <p:spPr>
          <a:xfrm>
            <a:off x="22860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Spot the mistake</a:t>
            </a:r>
            <a:endParaRPr lang="en-US" sz="2800" dirty="0"/>
          </a:p>
        </p:txBody>
      </p:sp>
      <p:sp>
        <p:nvSpPr>
          <p:cNvPr id="9" name="Claim 1"/>
          <p:cNvSpPr/>
          <p:nvPr/>
        </p:nvSpPr>
        <p:spPr>
          <a:xfrm>
            <a:off x="457200" y="1325880"/>
            <a:ext cx="8229600" cy="566928"/>
          </a:xfrm>
          <a:prstGeom prst="roundRect">
            <a:avLst>
              <a:gd name="adj" fmla="val 16129"/>
            </a:avLst>
          </a:prstGeom>
          <a:solidFill>
            <a:schemeClr val="tx2"/>
          </a:solidFill>
          <a:ln w="9525">
            <a:solidFill>
              <a:schemeClr val="bg2">
                <a:alpha val="30000"/>
              </a:schemeClr>
            </a:solidFill>
            <a:prstDash val="solid"/>
          </a:ln>
        </p:spPr>
      </p:sp>
      <p:sp>
        <p:nvSpPr>
          <p:cNvPr id="10" name="Text 8"/>
          <p:cNvSpPr txBox="1"/>
          <p:nvPr/>
        </p:nvSpPr>
        <p:spPr>
          <a:xfrm>
            <a:off x="594360" y="1344168"/>
            <a:ext cx="6583680" cy="530352"/>
          </a:xfrm>
          <a:prstGeom prst="rect">
            <a:avLst/>
          </a:prstGeom>
          <a:noFill/>
          <a:ln/>
        </p:spPr>
        <p:txBody>
          <a:bodyPr wrap="square" lIns="0" tIns="0" rIns="0" bIns="0" rtlCol="0" anchor="ctr"/>
          <a:lstStyle/>
          <a:p>
            <a:pPr indent="0" marL="0">
              <a:buNone/>
            </a:pPr>
            <a:r>
              <a:rPr lang="en-US" sz="1200" dirty="0">
                <a:solidFill>
                  <a:schemeClr val="bg1"/>
                </a:solidFill>
              </a:rPr>
              <a:t>1. "Chlorine is larger than sodium because it has more protons."</a:t>
            </a:r>
            <a:endParaRPr lang="en-US" sz="1200" dirty="0"/>
          </a:p>
        </p:txBody>
      </p:sp>
      <p:sp>
        <p:nvSpPr>
          <p:cNvPr id="11" name="Text 9"/>
          <p:cNvSpPr txBox="1"/>
          <p:nvPr/>
        </p:nvSpPr>
        <p:spPr>
          <a:xfrm>
            <a:off x="7223760" y="1325880"/>
            <a:ext cx="1371600" cy="566928"/>
          </a:xfrm>
          <a:prstGeom prst="rect">
            <a:avLst/>
          </a:prstGeom>
          <a:noFill/>
          <a:ln/>
        </p:spPr>
        <p:txBody>
          <a:bodyPr wrap="square" lIns="0" tIns="0" rIns="0" bIns="0" rtlCol="0" anchor="ctr"/>
          <a:lstStyle/>
          <a:p>
            <a:pPr algn="ctr" indent="0" marL="0">
              <a:buNone/>
            </a:pPr>
            <a:r>
              <a:rPr lang="en-US" sz="1100" dirty="0">
                <a:solidFill>
                  <a:schemeClr val="bg2"/>
                </a:solidFill>
              </a:rPr>
              <a:t>Correct, or fix it?</a:t>
            </a:r>
            <a:endParaRPr lang="en-US" sz="1100" dirty="0"/>
          </a:p>
        </p:txBody>
      </p:sp>
      <p:sp>
        <p:nvSpPr>
          <p:cNvPr id="12" name="Claim 2"/>
          <p:cNvSpPr/>
          <p:nvPr/>
        </p:nvSpPr>
        <p:spPr>
          <a:xfrm>
            <a:off x="457200" y="1965960"/>
            <a:ext cx="8229600" cy="566928"/>
          </a:xfrm>
          <a:prstGeom prst="roundRect">
            <a:avLst>
              <a:gd name="adj" fmla="val 16129"/>
            </a:avLst>
          </a:prstGeom>
          <a:solidFill>
            <a:schemeClr val="tx2"/>
          </a:solidFill>
          <a:ln w="9525">
            <a:solidFill>
              <a:schemeClr val="bg2">
                <a:alpha val="30000"/>
              </a:schemeClr>
            </a:solidFill>
            <a:prstDash val="solid"/>
          </a:ln>
        </p:spPr>
      </p:sp>
      <p:sp>
        <p:nvSpPr>
          <p:cNvPr id="13" name="Text 11"/>
          <p:cNvSpPr txBox="1"/>
          <p:nvPr/>
        </p:nvSpPr>
        <p:spPr>
          <a:xfrm>
            <a:off x="594360" y="1984248"/>
            <a:ext cx="6583680" cy="530352"/>
          </a:xfrm>
          <a:prstGeom prst="rect">
            <a:avLst/>
          </a:prstGeom>
          <a:noFill/>
          <a:ln/>
        </p:spPr>
        <p:txBody>
          <a:bodyPr wrap="square" lIns="0" tIns="0" rIns="0" bIns="0" rtlCol="0" anchor="ctr"/>
          <a:lstStyle/>
          <a:p>
            <a:pPr indent="0" marL="0">
              <a:buNone/>
            </a:pPr>
            <a:r>
              <a:rPr lang="en-US" sz="1200" dirty="0">
                <a:solidFill>
                  <a:schemeClr val="bg1"/>
                </a:solidFill>
              </a:rPr>
              <a:t>2. "Potassium is larger than sodium because it has more shells."</a:t>
            </a:r>
            <a:endParaRPr lang="en-US" sz="1200" dirty="0"/>
          </a:p>
        </p:txBody>
      </p:sp>
      <p:sp>
        <p:nvSpPr>
          <p:cNvPr id="14" name="Text 12"/>
          <p:cNvSpPr txBox="1"/>
          <p:nvPr/>
        </p:nvSpPr>
        <p:spPr>
          <a:xfrm>
            <a:off x="7223760" y="1965960"/>
            <a:ext cx="1371600" cy="566928"/>
          </a:xfrm>
          <a:prstGeom prst="rect">
            <a:avLst/>
          </a:prstGeom>
          <a:noFill/>
          <a:ln/>
        </p:spPr>
        <p:txBody>
          <a:bodyPr wrap="square" lIns="0" tIns="0" rIns="0" bIns="0" rtlCol="0" anchor="ctr"/>
          <a:lstStyle/>
          <a:p>
            <a:pPr algn="ctr" indent="0" marL="0">
              <a:buNone/>
            </a:pPr>
            <a:r>
              <a:rPr lang="en-US" sz="1100" dirty="0">
                <a:solidFill>
                  <a:schemeClr val="bg2"/>
                </a:solidFill>
              </a:rPr>
              <a:t>Correct, or fix it?</a:t>
            </a:r>
            <a:endParaRPr lang="en-US" sz="1100" dirty="0"/>
          </a:p>
        </p:txBody>
      </p:sp>
      <p:sp>
        <p:nvSpPr>
          <p:cNvPr id="15" name="Claim 3"/>
          <p:cNvSpPr/>
          <p:nvPr/>
        </p:nvSpPr>
        <p:spPr>
          <a:xfrm>
            <a:off x="457200" y="2606040"/>
            <a:ext cx="8229600" cy="566928"/>
          </a:xfrm>
          <a:prstGeom prst="roundRect">
            <a:avLst>
              <a:gd name="adj" fmla="val 16129"/>
            </a:avLst>
          </a:prstGeom>
          <a:solidFill>
            <a:schemeClr val="tx2"/>
          </a:solidFill>
          <a:ln w="9525">
            <a:solidFill>
              <a:schemeClr val="bg2">
                <a:alpha val="30000"/>
              </a:schemeClr>
            </a:solidFill>
            <a:prstDash val="solid"/>
          </a:ln>
        </p:spPr>
      </p:sp>
      <p:sp>
        <p:nvSpPr>
          <p:cNvPr id="16" name="Text 14"/>
          <p:cNvSpPr txBox="1"/>
          <p:nvPr/>
        </p:nvSpPr>
        <p:spPr>
          <a:xfrm>
            <a:off x="594360" y="2624328"/>
            <a:ext cx="6583680" cy="530352"/>
          </a:xfrm>
          <a:prstGeom prst="rect">
            <a:avLst/>
          </a:prstGeom>
          <a:noFill/>
          <a:ln/>
        </p:spPr>
        <p:txBody>
          <a:bodyPr wrap="square" lIns="0" tIns="0" rIns="0" bIns="0" rtlCol="0" anchor="ctr"/>
          <a:lstStyle/>
          <a:p>
            <a:pPr indent="0" marL="0">
              <a:buNone/>
            </a:pPr>
            <a:r>
              <a:rPr lang="en-US" sz="1200" dirty="0">
                <a:solidFill>
                  <a:schemeClr val="bg1"/>
                </a:solidFill>
              </a:rPr>
              <a:t>3. "Sodium has a higher ionization energy than magnesium because it is larger."</a:t>
            </a:r>
            <a:endParaRPr lang="en-US" sz="1200" dirty="0"/>
          </a:p>
        </p:txBody>
      </p:sp>
      <p:sp>
        <p:nvSpPr>
          <p:cNvPr id="17" name="Text 15"/>
          <p:cNvSpPr txBox="1"/>
          <p:nvPr/>
        </p:nvSpPr>
        <p:spPr>
          <a:xfrm>
            <a:off x="7223760" y="2606040"/>
            <a:ext cx="1371600" cy="566928"/>
          </a:xfrm>
          <a:prstGeom prst="rect">
            <a:avLst/>
          </a:prstGeom>
          <a:noFill/>
          <a:ln/>
        </p:spPr>
        <p:txBody>
          <a:bodyPr wrap="square" lIns="0" tIns="0" rIns="0" bIns="0" rtlCol="0" anchor="ctr"/>
          <a:lstStyle/>
          <a:p>
            <a:pPr algn="ctr" indent="0" marL="0">
              <a:buNone/>
            </a:pPr>
            <a:r>
              <a:rPr lang="en-US" sz="1100" dirty="0">
                <a:solidFill>
                  <a:schemeClr val="bg2"/>
                </a:solidFill>
              </a:rPr>
              <a:t>Correct, or fix it?</a:t>
            </a:r>
            <a:endParaRPr lang="en-US" sz="1100" dirty="0"/>
          </a:p>
        </p:txBody>
      </p:sp>
      <p:sp>
        <p:nvSpPr>
          <p:cNvPr id="18" name="Claim 4"/>
          <p:cNvSpPr/>
          <p:nvPr/>
        </p:nvSpPr>
        <p:spPr>
          <a:xfrm>
            <a:off x="457200" y="3246120"/>
            <a:ext cx="8229600" cy="566928"/>
          </a:xfrm>
          <a:prstGeom prst="roundRect">
            <a:avLst>
              <a:gd name="adj" fmla="val 16129"/>
            </a:avLst>
          </a:prstGeom>
          <a:solidFill>
            <a:schemeClr val="tx2"/>
          </a:solidFill>
          <a:ln w="9525">
            <a:solidFill>
              <a:schemeClr val="bg2">
                <a:alpha val="30000"/>
              </a:schemeClr>
            </a:solidFill>
            <a:prstDash val="solid"/>
          </a:ln>
        </p:spPr>
      </p:sp>
      <p:sp>
        <p:nvSpPr>
          <p:cNvPr id="19" name="Text 17"/>
          <p:cNvSpPr txBox="1"/>
          <p:nvPr/>
        </p:nvSpPr>
        <p:spPr>
          <a:xfrm>
            <a:off x="594360" y="3264408"/>
            <a:ext cx="6583680" cy="530352"/>
          </a:xfrm>
          <a:prstGeom prst="rect">
            <a:avLst/>
          </a:prstGeom>
          <a:noFill/>
          <a:ln/>
        </p:spPr>
        <p:txBody>
          <a:bodyPr wrap="square" lIns="0" tIns="0" rIns="0" bIns="0" rtlCol="0" anchor="ctr"/>
          <a:lstStyle/>
          <a:p>
            <a:pPr indent="0" marL="0">
              <a:buNone/>
            </a:pPr>
            <a:r>
              <a:rPr lang="en-US" sz="1200" dirty="0">
                <a:solidFill>
                  <a:schemeClr val="bg1"/>
                </a:solidFill>
              </a:rPr>
              <a:t>4. "Fluorine has a higher electronegativity than iodine because fluorine has more shells."</a:t>
            </a:r>
            <a:endParaRPr lang="en-US" sz="1200" dirty="0"/>
          </a:p>
        </p:txBody>
      </p:sp>
      <p:sp>
        <p:nvSpPr>
          <p:cNvPr id="20" name="Text 18"/>
          <p:cNvSpPr txBox="1"/>
          <p:nvPr/>
        </p:nvSpPr>
        <p:spPr>
          <a:xfrm>
            <a:off x="7223760" y="3246120"/>
            <a:ext cx="1371600" cy="566928"/>
          </a:xfrm>
          <a:prstGeom prst="rect">
            <a:avLst/>
          </a:prstGeom>
          <a:noFill/>
          <a:ln/>
        </p:spPr>
        <p:txBody>
          <a:bodyPr wrap="square" lIns="0" tIns="0" rIns="0" bIns="0" rtlCol="0" anchor="ctr"/>
          <a:lstStyle/>
          <a:p>
            <a:pPr algn="ctr" indent="0" marL="0">
              <a:buNone/>
            </a:pPr>
            <a:r>
              <a:rPr lang="en-US" sz="1100" dirty="0">
                <a:solidFill>
                  <a:schemeClr val="bg2"/>
                </a:solidFill>
              </a:rPr>
              <a:t>Correct, or fix it?</a:t>
            </a:r>
            <a:endParaRPr lang="en-US" sz="1100" dirty="0"/>
          </a:p>
        </p:txBody>
      </p:sp>
      <p:sp>
        <p:nvSpPr>
          <p:cNvPr id="21" name="Claim 5"/>
          <p:cNvSpPr/>
          <p:nvPr/>
        </p:nvSpPr>
        <p:spPr>
          <a:xfrm>
            <a:off x="457200" y="3886200"/>
            <a:ext cx="8229600" cy="566928"/>
          </a:xfrm>
          <a:prstGeom prst="roundRect">
            <a:avLst>
              <a:gd name="adj" fmla="val 16129"/>
            </a:avLst>
          </a:prstGeom>
          <a:solidFill>
            <a:schemeClr val="tx2"/>
          </a:solidFill>
          <a:ln w="9525">
            <a:solidFill>
              <a:schemeClr val="bg2">
                <a:alpha val="30000"/>
              </a:schemeClr>
            </a:solidFill>
            <a:prstDash val="solid"/>
          </a:ln>
        </p:spPr>
      </p:sp>
      <p:sp>
        <p:nvSpPr>
          <p:cNvPr id="22" name="Text 20"/>
          <p:cNvSpPr txBox="1"/>
          <p:nvPr/>
        </p:nvSpPr>
        <p:spPr>
          <a:xfrm>
            <a:off x="594360" y="3904488"/>
            <a:ext cx="6583680" cy="530352"/>
          </a:xfrm>
          <a:prstGeom prst="rect">
            <a:avLst/>
          </a:prstGeom>
          <a:noFill/>
          <a:ln/>
        </p:spPr>
        <p:txBody>
          <a:bodyPr wrap="square" lIns="0" tIns="0" rIns="0" bIns="0" rtlCol="0" anchor="ctr"/>
          <a:lstStyle/>
          <a:p>
            <a:pPr indent="0" marL="0">
              <a:buNone/>
            </a:pPr>
            <a:r>
              <a:rPr lang="en-US" sz="1200" dirty="0">
                <a:solidFill>
                  <a:schemeClr val="bg1"/>
                </a:solidFill>
              </a:rPr>
              <a:t>5. "Oxygen has a larger radius than lithium because it is farther right."</a:t>
            </a:r>
            <a:endParaRPr lang="en-US" sz="1200" dirty="0"/>
          </a:p>
        </p:txBody>
      </p:sp>
      <p:sp>
        <p:nvSpPr>
          <p:cNvPr id="23" name="Text 21"/>
          <p:cNvSpPr txBox="1"/>
          <p:nvPr/>
        </p:nvSpPr>
        <p:spPr>
          <a:xfrm>
            <a:off x="7223760" y="3886200"/>
            <a:ext cx="1371600" cy="566928"/>
          </a:xfrm>
          <a:prstGeom prst="rect">
            <a:avLst/>
          </a:prstGeom>
          <a:noFill/>
          <a:ln/>
        </p:spPr>
        <p:txBody>
          <a:bodyPr wrap="square" lIns="0" tIns="0" rIns="0" bIns="0" rtlCol="0" anchor="ctr"/>
          <a:lstStyle/>
          <a:p>
            <a:pPr algn="ctr" indent="0" marL="0">
              <a:buNone/>
            </a:pPr>
            <a:r>
              <a:rPr lang="en-US" sz="1100" dirty="0">
                <a:solidFill>
                  <a:schemeClr val="bg2"/>
                </a:solidFill>
              </a:rPr>
              <a:t>Correct, or fix it?</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ection tile 8"/>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O"/>
          <p:cNvSpPr/>
          <p:nvPr/>
        </p:nvSpPr>
        <p:spPr>
          <a:xfrm>
            <a:off x="730986" y="671733"/>
            <a:ext cx="202236" cy="202236"/>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O</a:t>
            </a:r>
            <a:endParaRPr lang="en-US" sz="2400" dirty="0"/>
          </a:p>
        </p:txBody>
      </p:sp>
      <p:sp>
        <p:nvSpPr>
          <p:cNvPr id="6" name="Text 4"/>
          <p:cNvSpPr/>
          <p:nvPr/>
        </p:nvSpPr>
        <p:spPr>
          <a:xfrm>
            <a:off x="1417320" y="310896"/>
            <a:ext cx="731520" cy="274320"/>
          </a:xfrm>
          <a:prstGeom prst="roundRect">
            <a:avLst>
              <a:gd name="adj" fmla="val 43333"/>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tx1"/>
                </a:solidFill>
              </a:rPr>
              <a:t>Try it</a:t>
            </a:r>
            <a:endParaRPr lang="en-US" sz="1100" dirty="0"/>
          </a:p>
        </p:txBody>
      </p:sp>
      <p:sp>
        <p:nvSpPr>
          <p:cNvPr id="7" name="Text 5"/>
          <p:cNvSpPr/>
          <p:nvPr/>
        </p:nvSpPr>
        <p:spPr>
          <a:xfrm>
            <a:off x="224028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20040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9"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Spot the mistake</a:t>
            </a:r>
            <a:endParaRPr lang="en-US" sz="2800" dirty="0"/>
          </a:p>
        </p:txBody>
      </p:sp>
      <p:sp>
        <p:nvSpPr>
          <p:cNvPr id="10" name="Claim 1"/>
          <p:cNvSpPr/>
          <p:nvPr/>
        </p:nvSpPr>
        <p:spPr>
          <a:xfrm>
            <a:off x="457200" y="1325880"/>
            <a:ext cx="8229600" cy="566928"/>
          </a:xfrm>
          <a:prstGeom prst="roundRect">
            <a:avLst>
              <a:gd name="adj" fmla="val 16129"/>
            </a:avLst>
          </a:prstGeom>
          <a:solidFill>
            <a:schemeClr val="tx2"/>
          </a:solidFill>
          <a:ln w="9525">
            <a:solidFill>
              <a:schemeClr val="bg2">
                <a:alpha val="30000"/>
              </a:schemeClr>
            </a:solidFill>
            <a:prstDash val="solid"/>
          </a:ln>
        </p:spPr>
      </p:sp>
      <p:sp>
        <p:nvSpPr>
          <p:cNvPr id="11" name="Text 9"/>
          <p:cNvSpPr txBox="1"/>
          <p:nvPr/>
        </p:nvSpPr>
        <p:spPr>
          <a:xfrm>
            <a:off x="594360" y="1344168"/>
            <a:ext cx="4206240" cy="530352"/>
          </a:xfrm>
          <a:prstGeom prst="rect">
            <a:avLst/>
          </a:prstGeom>
          <a:noFill/>
          <a:ln/>
        </p:spPr>
        <p:txBody>
          <a:bodyPr wrap="square" lIns="0" tIns="0" rIns="0" bIns="0" rtlCol="0" anchor="ctr"/>
          <a:lstStyle/>
          <a:p>
            <a:pPr indent="0" marL="0">
              <a:buNone/>
            </a:pPr>
            <a:r>
              <a:rPr lang="en-US" sz="1200" dirty="0">
                <a:solidFill>
                  <a:schemeClr val="bg1"/>
                </a:solidFill>
              </a:rPr>
              <a:t>1. "Chlorine is larger than sodium because it has more protons."</a:t>
            </a:r>
            <a:endParaRPr lang="en-US" sz="1200" dirty="0"/>
          </a:p>
        </p:txBody>
      </p:sp>
      <p:sp>
        <p:nvSpPr>
          <p:cNvPr id="12" name="Text 10"/>
          <p:cNvSpPr txBox="1"/>
          <p:nvPr/>
        </p:nvSpPr>
        <p:spPr>
          <a:xfrm>
            <a:off x="4892040" y="1344168"/>
            <a:ext cx="3703320" cy="530352"/>
          </a:xfrm>
          <a:prstGeom prst="rect">
            <a:avLst/>
          </a:prstGeom>
          <a:noFill/>
          <a:ln/>
        </p:spPr>
        <p:txBody>
          <a:bodyPr wrap="square" lIns="0" tIns="0" rIns="0" bIns="0" rtlCol="0" anchor="ctr"/>
          <a:lstStyle/>
          <a:p>
            <a:pPr indent="0" marL="0">
              <a:buNone/>
            </a:pPr>
            <a:r>
              <a:rPr lang="en-US" sz="1100" b="1" dirty="0">
                <a:solidFill>
                  <a:schemeClr val="accent3"/>
                </a:solidFill>
              </a:rPr>
              <a:t>Wrong direction: </a:t>
            </a:r>
            <a:pPr indent="0" marL="0">
              <a:buNone/>
            </a:pPr>
            <a:r>
              <a:rPr lang="en-US" sz="1100" dirty="0">
                <a:solidFill>
                  <a:schemeClr val="bg1"/>
                </a:solidFill>
              </a:rPr>
              <a:t>Chlorine is smaller than sodium: its extra protons pull the same 3 shells in tighter.</a:t>
            </a:r>
            <a:endParaRPr lang="en-US" sz="1100" dirty="0"/>
          </a:p>
        </p:txBody>
      </p:sp>
      <p:sp>
        <p:nvSpPr>
          <p:cNvPr id="13" name="Claim 2"/>
          <p:cNvSpPr/>
          <p:nvPr/>
        </p:nvSpPr>
        <p:spPr>
          <a:xfrm>
            <a:off x="457200" y="1965960"/>
            <a:ext cx="8229600" cy="566928"/>
          </a:xfrm>
          <a:prstGeom prst="roundRect">
            <a:avLst>
              <a:gd name="adj" fmla="val 16129"/>
            </a:avLst>
          </a:prstGeom>
          <a:solidFill>
            <a:schemeClr val="tx2"/>
          </a:solidFill>
          <a:ln w="9525">
            <a:solidFill>
              <a:schemeClr val="bg2">
                <a:alpha val="30000"/>
              </a:schemeClr>
            </a:solidFill>
            <a:prstDash val="solid"/>
          </a:ln>
        </p:spPr>
      </p:sp>
      <p:sp>
        <p:nvSpPr>
          <p:cNvPr id="14" name="Text 12"/>
          <p:cNvSpPr txBox="1"/>
          <p:nvPr/>
        </p:nvSpPr>
        <p:spPr>
          <a:xfrm>
            <a:off x="594360" y="1984248"/>
            <a:ext cx="4206240" cy="530352"/>
          </a:xfrm>
          <a:prstGeom prst="rect">
            <a:avLst/>
          </a:prstGeom>
          <a:noFill/>
          <a:ln/>
        </p:spPr>
        <p:txBody>
          <a:bodyPr wrap="square" lIns="0" tIns="0" rIns="0" bIns="0" rtlCol="0" anchor="ctr"/>
          <a:lstStyle/>
          <a:p>
            <a:pPr indent="0" marL="0">
              <a:buNone/>
            </a:pPr>
            <a:r>
              <a:rPr lang="en-US" sz="1200" dirty="0">
                <a:solidFill>
                  <a:schemeClr val="bg1"/>
                </a:solidFill>
              </a:rPr>
              <a:t>2. "Potassium is larger than sodium because it has more shells."</a:t>
            </a:r>
            <a:endParaRPr lang="en-US" sz="1200" dirty="0"/>
          </a:p>
        </p:txBody>
      </p:sp>
      <p:sp>
        <p:nvSpPr>
          <p:cNvPr id="15" name="Text 13"/>
          <p:cNvSpPr txBox="1"/>
          <p:nvPr/>
        </p:nvSpPr>
        <p:spPr>
          <a:xfrm>
            <a:off x="4892040" y="1984248"/>
            <a:ext cx="3703320" cy="530352"/>
          </a:xfrm>
          <a:prstGeom prst="rect">
            <a:avLst/>
          </a:prstGeom>
          <a:noFill/>
          <a:ln/>
        </p:spPr>
        <p:txBody>
          <a:bodyPr wrap="square" lIns="0" tIns="0" rIns="0" bIns="0" rtlCol="0" anchor="ctr"/>
          <a:lstStyle/>
          <a:p>
            <a:pPr indent="0" marL="0">
              <a:buNone/>
            </a:pPr>
            <a:r>
              <a:rPr lang="en-US" sz="1100" b="1" dirty="0">
                <a:solidFill>
                  <a:schemeClr val="accent4"/>
                </a:solidFill>
              </a:rPr>
              <a:t>Correct: </a:t>
            </a:r>
            <a:pPr indent="0" marL="0">
              <a:buNone/>
            </a:pPr>
            <a:endParaRPr lang="en-US" sz="1100" dirty="0"/>
          </a:p>
        </p:txBody>
      </p:sp>
      <p:sp>
        <p:nvSpPr>
          <p:cNvPr id="16" name="Claim 3"/>
          <p:cNvSpPr/>
          <p:nvPr/>
        </p:nvSpPr>
        <p:spPr>
          <a:xfrm>
            <a:off x="457200" y="2606040"/>
            <a:ext cx="8229600" cy="566928"/>
          </a:xfrm>
          <a:prstGeom prst="roundRect">
            <a:avLst>
              <a:gd name="adj" fmla="val 16129"/>
            </a:avLst>
          </a:prstGeom>
          <a:solidFill>
            <a:schemeClr val="tx2"/>
          </a:solidFill>
          <a:ln w="9525">
            <a:solidFill>
              <a:schemeClr val="bg2">
                <a:alpha val="30000"/>
              </a:schemeClr>
            </a:solidFill>
            <a:prstDash val="solid"/>
          </a:ln>
        </p:spPr>
      </p:sp>
      <p:sp>
        <p:nvSpPr>
          <p:cNvPr id="17" name="Text 15"/>
          <p:cNvSpPr txBox="1"/>
          <p:nvPr/>
        </p:nvSpPr>
        <p:spPr>
          <a:xfrm>
            <a:off x="594360" y="2624328"/>
            <a:ext cx="4206240" cy="530352"/>
          </a:xfrm>
          <a:prstGeom prst="rect">
            <a:avLst/>
          </a:prstGeom>
          <a:noFill/>
          <a:ln/>
        </p:spPr>
        <p:txBody>
          <a:bodyPr wrap="square" lIns="0" tIns="0" rIns="0" bIns="0" rtlCol="0" anchor="ctr"/>
          <a:lstStyle/>
          <a:p>
            <a:pPr indent="0" marL="0">
              <a:buNone/>
            </a:pPr>
            <a:r>
              <a:rPr lang="en-US" sz="1200" dirty="0">
                <a:solidFill>
                  <a:schemeClr val="bg1"/>
                </a:solidFill>
              </a:rPr>
              <a:t>3. "Sodium has a higher ionization energy than magnesium because it is larger."</a:t>
            </a:r>
            <a:endParaRPr lang="en-US" sz="1200" dirty="0"/>
          </a:p>
        </p:txBody>
      </p:sp>
      <p:sp>
        <p:nvSpPr>
          <p:cNvPr id="18" name="Text 16"/>
          <p:cNvSpPr txBox="1"/>
          <p:nvPr/>
        </p:nvSpPr>
        <p:spPr>
          <a:xfrm>
            <a:off x="4892040" y="2624328"/>
            <a:ext cx="3703320" cy="530352"/>
          </a:xfrm>
          <a:prstGeom prst="rect">
            <a:avLst/>
          </a:prstGeom>
          <a:noFill/>
          <a:ln/>
        </p:spPr>
        <p:txBody>
          <a:bodyPr wrap="square" lIns="0" tIns="0" rIns="0" bIns="0" rtlCol="0" anchor="ctr"/>
          <a:lstStyle/>
          <a:p>
            <a:pPr indent="0" marL="0">
              <a:buNone/>
            </a:pPr>
            <a:r>
              <a:rPr lang="en-US" sz="1100" b="1" dirty="0">
                <a:solidFill>
                  <a:schemeClr val="accent3"/>
                </a:solidFill>
              </a:rPr>
              <a:t>Wrong direction: </a:t>
            </a:r>
            <a:pPr indent="0" marL="0">
              <a:buNone/>
            </a:pPr>
            <a:r>
              <a:rPr lang="en-US" sz="1100" dirty="0">
                <a:solidFill>
                  <a:schemeClr val="bg1"/>
                </a:solidFill>
              </a:rPr>
              <a:t>Sodium has a lower ionization energy: it is larger and holds its outer electron loosely.</a:t>
            </a:r>
            <a:endParaRPr lang="en-US" sz="1100" dirty="0"/>
          </a:p>
        </p:txBody>
      </p:sp>
      <p:sp>
        <p:nvSpPr>
          <p:cNvPr id="19" name="Claim 4"/>
          <p:cNvSpPr/>
          <p:nvPr/>
        </p:nvSpPr>
        <p:spPr>
          <a:xfrm>
            <a:off x="457200" y="3246120"/>
            <a:ext cx="8229600" cy="566928"/>
          </a:xfrm>
          <a:prstGeom prst="roundRect">
            <a:avLst>
              <a:gd name="adj" fmla="val 16129"/>
            </a:avLst>
          </a:prstGeom>
          <a:solidFill>
            <a:schemeClr val="tx2"/>
          </a:solidFill>
          <a:ln w="9525">
            <a:solidFill>
              <a:schemeClr val="bg2">
                <a:alpha val="30000"/>
              </a:schemeClr>
            </a:solidFill>
            <a:prstDash val="solid"/>
          </a:ln>
        </p:spPr>
      </p:sp>
      <p:sp>
        <p:nvSpPr>
          <p:cNvPr id="20" name="Text 18"/>
          <p:cNvSpPr txBox="1"/>
          <p:nvPr/>
        </p:nvSpPr>
        <p:spPr>
          <a:xfrm>
            <a:off x="594360" y="3264408"/>
            <a:ext cx="4206240" cy="530352"/>
          </a:xfrm>
          <a:prstGeom prst="rect">
            <a:avLst/>
          </a:prstGeom>
          <a:noFill/>
          <a:ln/>
        </p:spPr>
        <p:txBody>
          <a:bodyPr wrap="square" lIns="0" tIns="0" rIns="0" bIns="0" rtlCol="0" anchor="ctr"/>
          <a:lstStyle/>
          <a:p>
            <a:pPr indent="0" marL="0">
              <a:buNone/>
            </a:pPr>
            <a:r>
              <a:rPr lang="en-US" sz="1200" dirty="0">
                <a:solidFill>
                  <a:schemeClr val="bg1"/>
                </a:solidFill>
              </a:rPr>
              <a:t>4. "Fluorine has a higher electronegativity than iodine because fluorine has more shells."</a:t>
            </a:r>
            <a:endParaRPr lang="en-US" sz="1200" dirty="0"/>
          </a:p>
        </p:txBody>
      </p:sp>
      <p:sp>
        <p:nvSpPr>
          <p:cNvPr id="21" name="Text 19"/>
          <p:cNvSpPr txBox="1"/>
          <p:nvPr/>
        </p:nvSpPr>
        <p:spPr>
          <a:xfrm>
            <a:off x="4892040" y="3264408"/>
            <a:ext cx="3703320" cy="530352"/>
          </a:xfrm>
          <a:prstGeom prst="rect">
            <a:avLst/>
          </a:prstGeom>
          <a:noFill/>
          <a:ln/>
        </p:spPr>
        <p:txBody>
          <a:bodyPr wrap="square" lIns="0" tIns="0" rIns="0" bIns="0" rtlCol="0" anchor="ctr"/>
          <a:lstStyle/>
          <a:p>
            <a:pPr indent="0" marL="0">
              <a:buNone/>
            </a:pPr>
            <a:r>
              <a:rPr lang="en-US" sz="1100" b="1" dirty="0">
                <a:solidFill>
                  <a:schemeClr val="accent3"/>
                </a:solidFill>
              </a:rPr>
              <a:t>Wrong reason: </a:t>
            </a:r>
            <a:pPr indent="0" marL="0">
              <a:buNone/>
            </a:pPr>
            <a:r>
              <a:rPr lang="en-US" sz="1100" dirty="0">
                <a:solidFill>
                  <a:schemeClr val="bg1"/>
                </a:solidFill>
              </a:rPr>
              <a:t>Fluorine is smaller (fewer shells), so its nucleus pulls shared electrons harder.</a:t>
            </a:r>
            <a:endParaRPr lang="en-US" sz="1100" dirty="0"/>
          </a:p>
        </p:txBody>
      </p:sp>
      <p:sp>
        <p:nvSpPr>
          <p:cNvPr id="22" name="Claim 5"/>
          <p:cNvSpPr/>
          <p:nvPr/>
        </p:nvSpPr>
        <p:spPr>
          <a:xfrm>
            <a:off x="457200" y="3886200"/>
            <a:ext cx="8229600" cy="566928"/>
          </a:xfrm>
          <a:prstGeom prst="roundRect">
            <a:avLst>
              <a:gd name="adj" fmla="val 16129"/>
            </a:avLst>
          </a:prstGeom>
          <a:solidFill>
            <a:schemeClr val="tx2"/>
          </a:solidFill>
          <a:ln w="9525">
            <a:solidFill>
              <a:schemeClr val="bg2">
                <a:alpha val="30000"/>
              </a:schemeClr>
            </a:solidFill>
            <a:prstDash val="solid"/>
          </a:ln>
        </p:spPr>
      </p:sp>
      <p:sp>
        <p:nvSpPr>
          <p:cNvPr id="23" name="Text 21"/>
          <p:cNvSpPr txBox="1"/>
          <p:nvPr/>
        </p:nvSpPr>
        <p:spPr>
          <a:xfrm>
            <a:off x="594360" y="3904488"/>
            <a:ext cx="4206240" cy="530352"/>
          </a:xfrm>
          <a:prstGeom prst="rect">
            <a:avLst/>
          </a:prstGeom>
          <a:noFill/>
          <a:ln/>
        </p:spPr>
        <p:txBody>
          <a:bodyPr wrap="square" lIns="0" tIns="0" rIns="0" bIns="0" rtlCol="0" anchor="ctr"/>
          <a:lstStyle/>
          <a:p>
            <a:pPr indent="0" marL="0">
              <a:buNone/>
            </a:pPr>
            <a:r>
              <a:rPr lang="en-US" sz="1200" dirty="0">
                <a:solidFill>
                  <a:schemeClr val="bg1"/>
                </a:solidFill>
              </a:rPr>
              <a:t>5. "Oxygen has a larger radius than lithium because it is farther right."</a:t>
            </a:r>
            <a:endParaRPr lang="en-US" sz="1200" dirty="0"/>
          </a:p>
        </p:txBody>
      </p:sp>
      <p:sp>
        <p:nvSpPr>
          <p:cNvPr id="24" name="Text 22"/>
          <p:cNvSpPr txBox="1"/>
          <p:nvPr/>
        </p:nvSpPr>
        <p:spPr>
          <a:xfrm>
            <a:off x="4892040" y="3904488"/>
            <a:ext cx="3703320" cy="530352"/>
          </a:xfrm>
          <a:prstGeom prst="rect">
            <a:avLst/>
          </a:prstGeom>
          <a:noFill/>
          <a:ln/>
        </p:spPr>
        <p:txBody>
          <a:bodyPr wrap="square" lIns="0" tIns="0" rIns="0" bIns="0" rtlCol="0" anchor="ctr"/>
          <a:lstStyle/>
          <a:p>
            <a:pPr indent="0" marL="0">
              <a:buNone/>
            </a:pPr>
            <a:r>
              <a:rPr lang="en-US" sz="1100" b="1" dirty="0">
                <a:solidFill>
                  <a:schemeClr val="accent3"/>
                </a:solidFill>
              </a:rPr>
              <a:t>Wrong direction: </a:t>
            </a:r>
            <a:pPr indent="0" marL="0">
              <a:buNone/>
            </a:pPr>
            <a:r>
              <a:rPr lang="en-US" sz="1100" dirty="0">
                <a:solidFill>
                  <a:schemeClr val="bg1"/>
                </a:solidFill>
              </a:rPr>
              <a:t>Oxygen is smaller: more protons pull the same 2 shells.</a:t>
            </a:r>
            <a:endParaRPr lang="en-US" sz="11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ection tile 8"/>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O"/>
          <p:cNvSpPr/>
          <p:nvPr/>
        </p:nvSpPr>
        <p:spPr>
          <a:xfrm>
            <a:off x="730986" y="671733"/>
            <a:ext cx="202236" cy="202236"/>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O</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txBox="1"/>
          <p:nvPr/>
        </p:nvSpPr>
        <p:spPr>
          <a:xfrm>
            <a:off x="26060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8"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 student says, “Sulfur has a higher ionization energy than sodium.” Which reason supports this?</a:t>
            </a:r>
            <a:endParaRPr lang="en-US" sz="2000" dirty="0"/>
          </a:p>
        </p:txBody>
      </p:sp>
      <p:sp>
        <p:nvSpPr>
          <p:cNvPr id="9"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0" name="Text 8"/>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1" name="Text 9"/>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1"/>
                </a:solidFill>
              </a:rPr>
              <a:t>Sulfur has more shells</a:t>
            </a:r>
            <a:endParaRPr lang="en-US" sz="1600" dirty="0"/>
          </a:p>
        </p:txBody>
      </p:sp>
      <p:sp>
        <p:nvSpPr>
          <p:cNvPr id="12" name="Option B"/>
          <p:cNvSpPr/>
          <p:nvPr/>
        </p:nvSpPr>
        <p:spPr>
          <a:xfrm>
            <a:off x="457200" y="2231136"/>
            <a:ext cx="8229600" cy="457200"/>
          </a:xfrm>
          <a:prstGeom prst="roundRect">
            <a:avLst>
              <a:gd name="adj" fmla="val 18000"/>
            </a:avLst>
          </a:prstGeom>
          <a:solidFill>
            <a:schemeClr val="tx2"/>
          </a:solidFill>
          <a:ln w="9525">
            <a:solidFill>
              <a:schemeClr val="bg2">
                <a:alpha val="35000"/>
              </a:schemeClr>
            </a:solidFill>
            <a:prstDash val="solid"/>
          </a:ln>
        </p:spPr>
      </p:sp>
      <p:sp>
        <p:nvSpPr>
          <p:cNvPr id="13" name="Text 11"/>
          <p:cNvSpPr/>
          <p:nvPr/>
        </p:nvSpPr>
        <p:spPr>
          <a:xfrm>
            <a:off x="548640" y="2304288"/>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4" name="Text 12"/>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dirty="0">
                <a:solidFill>
                  <a:schemeClr val="bg1"/>
                </a:solidFill>
              </a:rPr>
              <a:t>Sulfur is smaller, so its outer electrons are held tighter</a:t>
            </a:r>
            <a:endParaRPr lang="en-US" sz="1600" dirty="0"/>
          </a:p>
        </p:txBody>
      </p:sp>
      <p:sp>
        <p:nvSpPr>
          <p:cNvPr id="15"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6" name="Text 14"/>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7" name="Text 15"/>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1"/>
                </a:solidFill>
              </a:rPr>
              <a:t>Sulfur is a nonmetal, so it has no electrons to lose</a:t>
            </a:r>
            <a:endParaRPr lang="en-US" sz="1600" dirty="0"/>
          </a:p>
        </p:txBody>
      </p:sp>
      <p:sp>
        <p:nvSpPr>
          <p:cNvPr id="18"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19" name="Text 17"/>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0" name="Text 18"/>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1"/>
                </a:solidFill>
              </a:rPr>
              <a:t>Sodium has more protons</a:t>
            </a:r>
            <a:endParaRPr lang="en-US" sz="16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ection tile 8"/>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O"/>
          <p:cNvSpPr/>
          <p:nvPr/>
        </p:nvSpPr>
        <p:spPr>
          <a:xfrm>
            <a:off x="730986" y="671733"/>
            <a:ext cx="202236" cy="202236"/>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8</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O</a:t>
            </a:r>
            <a:endParaRPr lang="en-US" sz="2400" dirty="0"/>
          </a:p>
        </p:txBody>
      </p:sp>
      <p:sp>
        <p:nvSpPr>
          <p:cNvPr id="6" name="Text 4"/>
          <p:cNvSpPr/>
          <p:nvPr/>
        </p:nvSpPr>
        <p:spPr>
          <a:xfrm>
            <a:off x="1417320" y="310896"/>
            <a:ext cx="105156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Quick check</a:t>
            </a:r>
            <a:endParaRPr lang="en-US" sz="1100" dirty="0"/>
          </a:p>
        </p:txBody>
      </p:sp>
      <p:sp>
        <p:nvSpPr>
          <p:cNvPr id="7" name="Text 5"/>
          <p:cNvSpPr/>
          <p:nvPr/>
        </p:nvSpPr>
        <p:spPr>
          <a:xfrm>
            <a:off x="2560320" y="310896"/>
            <a:ext cx="822960" cy="274320"/>
          </a:xfrm>
          <a:prstGeom prst="roundRect">
            <a:avLst>
              <a:gd name="adj" fmla="val 43333"/>
            </a:avLst>
          </a:prstGeom>
          <a:solidFill>
            <a:schemeClr val="accent4"/>
          </a:solidFill>
          <a:ln w="6350">
            <a:solidFill>
              <a:schemeClr val="accent4"/>
            </a:solidFill>
          </a:ln>
        </p:spPr>
        <p:txBody>
          <a:bodyPr wrap="square" lIns="0" tIns="0" rIns="0" bIns="0" rtlCol="0" anchor="ctr"/>
          <a:lstStyle/>
          <a:p>
            <a:pPr algn="ctr" indent="0" marL="0">
              <a:buNone/>
            </a:pPr>
            <a:r>
              <a:rPr lang="en-US" sz="1100" b="1" dirty="0">
                <a:solidFill>
                  <a:schemeClr val="tx1"/>
                </a:solidFill>
              </a:rPr>
              <a:t>Answer</a:t>
            </a:r>
            <a:endParaRPr lang="en-US" sz="1100" dirty="0"/>
          </a:p>
        </p:txBody>
      </p:sp>
      <p:sp>
        <p:nvSpPr>
          <p:cNvPr id="8" name="Text 6"/>
          <p:cNvSpPr txBox="1"/>
          <p:nvPr/>
        </p:nvSpPr>
        <p:spPr>
          <a:xfrm>
            <a:off x="352044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8 of 9</a:t>
            </a:r>
            <a:endParaRPr lang="en-US" sz="1200" dirty="0"/>
          </a:p>
        </p:txBody>
      </p:sp>
      <p:sp>
        <p:nvSpPr>
          <p:cNvPr id="9" name="Text 0"/>
          <p:cNvSpPr/>
          <p:nvPr>
            <p:ph idx="100" type="title" hasCustomPrompt="1"/>
          </p:nvPr>
        </p:nvSpPr>
        <p:spPr>
          <a:xfrm>
            <a:off x="1417320" y="658368"/>
            <a:ext cx="7269480" cy="841248"/>
          </a:xfrm>
          <a:prstGeom prst="rect">
            <a:avLst/>
          </a:prstGeom>
          <a:noFill/>
          <a:ln/>
        </p:spPr>
        <p:txBody>
          <a:bodyPr wrap="square" lIns="0" tIns="0" rIns="0" bIns="0" rtlCol="0" anchor="t"/>
          <a:lstStyle/>
          <a:p>
            <a:pPr algn="l" indent="0" marL="0">
              <a:buNone/>
            </a:pPr>
            <a:r>
              <a:rPr lang="en-US" sz="2000" b="1" dirty="0">
                <a:solidFill>
                  <a:schemeClr val="bg1"/>
                </a:solidFill>
              </a:rPr>
              <a:t>A student says, “Sulfur has a higher ionization energy than sodium.” Which reason supports this?</a:t>
            </a:r>
            <a:endParaRPr lang="en-US" sz="2000" dirty="0"/>
          </a:p>
        </p:txBody>
      </p:sp>
      <p:sp>
        <p:nvSpPr>
          <p:cNvPr id="10" name="Option A"/>
          <p:cNvSpPr/>
          <p:nvPr/>
        </p:nvSpPr>
        <p:spPr>
          <a:xfrm>
            <a:off x="457200" y="1645920"/>
            <a:ext cx="8229600" cy="457200"/>
          </a:xfrm>
          <a:prstGeom prst="roundRect">
            <a:avLst>
              <a:gd name="adj" fmla="val 18000"/>
            </a:avLst>
          </a:prstGeom>
          <a:solidFill>
            <a:schemeClr val="tx2"/>
          </a:solidFill>
          <a:ln w="9525">
            <a:solidFill>
              <a:schemeClr val="bg2">
                <a:alpha val="35000"/>
              </a:schemeClr>
            </a:solidFill>
            <a:prstDash val="solid"/>
          </a:ln>
        </p:spPr>
      </p:sp>
      <p:sp>
        <p:nvSpPr>
          <p:cNvPr id="11" name="Text 9"/>
          <p:cNvSpPr/>
          <p:nvPr/>
        </p:nvSpPr>
        <p:spPr>
          <a:xfrm>
            <a:off x="548640" y="1719072"/>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12" name="Text 10"/>
          <p:cNvSpPr txBox="1"/>
          <p:nvPr/>
        </p:nvSpPr>
        <p:spPr>
          <a:xfrm>
            <a:off x="969264" y="1645920"/>
            <a:ext cx="7626096" cy="457200"/>
          </a:xfrm>
          <a:prstGeom prst="rect">
            <a:avLst/>
          </a:prstGeom>
          <a:noFill/>
          <a:ln/>
        </p:spPr>
        <p:txBody>
          <a:bodyPr wrap="square" lIns="0" tIns="0" rIns="0" bIns="0" rtlCol="0" anchor="ctr"/>
          <a:lstStyle/>
          <a:p>
            <a:pPr indent="0" marL="0">
              <a:buNone/>
            </a:pPr>
            <a:r>
              <a:rPr lang="en-US" sz="1600" dirty="0">
                <a:solidFill>
                  <a:schemeClr val="bg2"/>
                </a:solidFill>
              </a:rPr>
              <a:t>Sulfur has more shells</a:t>
            </a:r>
            <a:endParaRPr lang="en-US" sz="1600" dirty="0"/>
          </a:p>
        </p:txBody>
      </p:sp>
      <p:sp>
        <p:nvSpPr>
          <p:cNvPr id="13" name="Option B"/>
          <p:cNvSpPr/>
          <p:nvPr/>
        </p:nvSpPr>
        <p:spPr>
          <a:xfrm>
            <a:off x="457200" y="2231136"/>
            <a:ext cx="8229600" cy="457200"/>
          </a:xfrm>
          <a:prstGeom prst="roundRect">
            <a:avLst>
              <a:gd name="adj" fmla="val 18000"/>
            </a:avLst>
          </a:prstGeom>
          <a:solidFill>
            <a:schemeClr val="accent4">
              <a:alpha val="20000"/>
            </a:schemeClr>
          </a:solidFill>
          <a:ln w="25400">
            <a:solidFill>
              <a:schemeClr val="accent4"/>
            </a:solidFill>
            <a:prstDash val="solid"/>
          </a:ln>
        </p:spPr>
      </p:sp>
      <p:sp>
        <p:nvSpPr>
          <p:cNvPr id="14" name="Text 12"/>
          <p:cNvSpPr/>
          <p:nvPr/>
        </p:nvSpPr>
        <p:spPr>
          <a:xfrm>
            <a:off x="548640" y="2304288"/>
            <a:ext cx="310896" cy="310896"/>
          </a:xfrm>
          <a:prstGeom prst="roundRect">
            <a:avLst>
              <a:gd name="adj" fmla="val 20588"/>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tx1"/>
                </a:solidFill>
              </a:rPr>
              <a:t>B</a:t>
            </a:r>
            <a:endParaRPr lang="en-US" sz="1300" dirty="0"/>
          </a:p>
        </p:txBody>
      </p:sp>
      <p:sp>
        <p:nvSpPr>
          <p:cNvPr id="15" name="Text 13"/>
          <p:cNvSpPr txBox="1"/>
          <p:nvPr/>
        </p:nvSpPr>
        <p:spPr>
          <a:xfrm>
            <a:off x="969264" y="2231136"/>
            <a:ext cx="7626096" cy="457200"/>
          </a:xfrm>
          <a:prstGeom prst="rect">
            <a:avLst/>
          </a:prstGeom>
          <a:noFill/>
          <a:ln/>
        </p:spPr>
        <p:txBody>
          <a:bodyPr wrap="square" lIns="0" tIns="0" rIns="0" bIns="0" rtlCol="0" anchor="ctr"/>
          <a:lstStyle/>
          <a:p>
            <a:pPr indent="0" marL="0">
              <a:buNone/>
            </a:pPr>
            <a:r>
              <a:rPr lang="en-US" sz="1600" b="1" dirty="0">
                <a:solidFill>
                  <a:schemeClr val="bg1"/>
                </a:solidFill>
              </a:rPr>
              <a:t>Sulfur is smaller, so its outer electrons are held tighter</a:t>
            </a:r>
            <a:endParaRPr lang="en-US" sz="1600" dirty="0"/>
          </a:p>
        </p:txBody>
      </p:sp>
      <p:sp>
        <p:nvSpPr>
          <p:cNvPr id="16" name="Option C"/>
          <p:cNvSpPr/>
          <p:nvPr/>
        </p:nvSpPr>
        <p:spPr>
          <a:xfrm>
            <a:off x="457200" y="2816352"/>
            <a:ext cx="8229600" cy="457200"/>
          </a:xfrm>
          <a:prstGeom prst="roundRect">
            <a:avLst>
              <a:gd name="adj" fmla="val 18000"/>
            </a:avLst>
          </a:prstGeom>
          <a:solidFill>
            <a:schemeClr val="tx2"/>
          </a:solidFill>
          <a:ln w="9525">
            <a:solidFill>
              <a:schemeClr val="bg2">
                <a:alpha val="35000"/>
              </a:schemeClr>
            </a:solidFill>
            <a:prstDash val="solid"/>
          </a:ln>
        </p:spPr>
      </p:sp>
      <p:sp>
        <p:nvSpPr>
          <p:cNvPr id="17" name="Text 15"/>
          <p:cNvSpPr/>
          <p:nvPr/>
        </p:nvSpPr>
        <p:spPr>
          <a:xfrm>
            <a:off x="548640" y="2889504"/>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8" name="Text 16"/>
          <p:cNvSpPr txBox="1"/>
          <p:nvPr/>
        </p:nvSpPr>
        <p:spPr>
          <a:xfrm>
            <a:off x="969264" y="2816352"/>
            <a:ext cx="7626096" cy="457200"/>
          </a:xfrm>
          <a:prstGeom prst="rect">
            <a:avLst/>
          </a:prstGeom>
          <a:noFill/>
          <a:ln/>
        </p:spPr>
        <p:txBody>
          <a:bodyPr wrap="square" lIns="0" tIns="0" rIns="0" bIns="0" rtlCol="0" anchor="ctr"/>
          <a:lstStyle/>
          <a:p>
            <a:pPr indent="0" marL="0">
              <a:buNone/>
            </a:pPr>
            <a:r>
              <a:rPr lang="en-US" sz="1600" dirty="0">
                <a:solidFill>
                  <a:schemeClr val="bg2"/>
                </a:solidFill>
              </a:rPr>
              <a:t>Sulfur is a nonmetal, so it has no electrons to lose</a:t>
            </a:r>
            <a:endParaRPr lang="en-US" sz="1600" dirty="0"/>
          </a:p>
        </p:txBody>
      </p:sp>
      <p:sp>
        <p:nvSpPr>
          <p:cNvPr id="19" name="Option D"/>
          <p:cNvSpPr/>
          <p:nvPr/>
        </p:nvSpPr>
        <p:spPr>
          <a:xfrm>
            <a:off x="457200" y="3401568"/>
            <a:ext cx="8229600" cy="457200"/>
          </a:xfrm>
          <a:prstGeom prst="roundRect">
            <a:avLst>
              <a:gd name="adj" fmla="val 18000"/>
            </a:avLst>
          </a:prstGeom>
          <a:solidFill>
            <a:schemeClr val="tx2"/>
          </a:solidFill>
          <a:ln w="9525">
            <a:solidFill>
              <a:schemeClr val="bg2">
                <a:alpha val="35000"/>
              </a:schemeClr>
            </a:solidFill>
            <a:prstDash val="solid"/>
          </a:ln>
        </p:spPr>
      </p:sp>
      <p:sp>
        <p:nvSpPr>
          <p:cNvPr id="20" name="Text 18"/>
          <p:cNvSpPr/>
          <p:nvPr/>
        </p:nvSpPr>
        <p:spPr>
          <a:xfrm>
            <a:off x="548640" y="3474720"/>
            <a:ext cx="310896" cy="310896"/>
          </a:xfrm>
          <a:prstGeom prst="roundRect">
            <a:avLst>
              <a:gd name="adj" fmla="val 20588"/>
            </a:avLst>
          </a:prstGeom>
          <a:solidFill>
            <a:schemeClr val="bg2">
              <a:alpha val="22000"/>
            </a:schemeClr>
          </a:solidFill>
          <a:ln w="6350">
            <a:solidFill>
              <a:schemeClr val="bg2">
                <a:alpha val="22000"/>
              </a:schemeClr>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21" name="Text 19"/>
          <p:cNvSpPr txBox="1"/>
          <p:nvPr/>
        </p:nvSpPr>
        <p:spPr>
          <a:xfrm>
            <a:off x="969264" y="3401568"/>
            <a:ext cx="7626096" cy="457200"/>
          </a:xfrm>
          <a:prstGeom prst="rect">
            <a:avLst/>
          </a:prstGeom>
          <a:noFill/>
          <a:ln/>
        </p:spPr>
        <p:txBody>
          <a:bodyPr wrap="square" lIns="0" tIns="0" rIns="0" bIns="0" rtlCol="0" anchor="ctr"/>
          <a:lstStyle/>
          <a:p>
            <a:pPr indent="0" marL="0">
              <a:buNone/>
            </a:pPr>
            <a:r>
              <a:rPr lang="en-US" sz="1600" dirty="0">
                <a:solidFill>
                  <a:schemeClr val="bg2"/>
                </a:solidFill>
              </a:rPr>
              <a:t>Sodium has more protons</a:t>
            </a:r>
            <a:endParaRPr lang="en-US" sz="1600" dirty="0"/>
          </a:p>
        </p:txBody>
      </p:sp>
      <p:sp>
        <p:nvSpPr>
          <p:cNvPr id="22" name="Why box"/>
          <p:cNvSpPr/>
          <p:nvPr/>
        </p:nvSpPr>
        <p:spPr>
          <a:xfrm>
            <a:off x="457200" y="4114800"/>
            <a:ext cx="8229600" cy="621792"/>
          </a:xfrm>
          <a:prstGeom prst="roundRect">
            <a:avLst>
              <a:gd name="adj" fmla="val 14706"/>
            </a:avLst>
          </a:prstGeom>
          <a:solidFill>
            <a:schemeClr val="accent4">
              <a:alpha val="12000"/>
            </a:schemeClr>
          </a:solidFill>
          <a:ln w="9525">
            <a:solidFill>
              <a:schemeClr val="accent4">
                <a:alpha val="60000"/>
              </a:schemeClr>
            </a:solidFill>
            <a:prstDash val="solid"/>
          </a:ln>
        </p:spPr>
      </p:sp>
      <p:sp>
        <p:nvSpPr>
          <p:cNvPr id="23" name="Text 21"/>
          <p:cNvSpPr txBox="1"/>
          <p:nvPr/>
        </p:nvSpPr>
        <p:spPr>
          <a:xfrm>
            <a:off x="640080" y="4114800"/>
            <a:ext cx="7863840" cy="621792"/>
          </a:xfrm>
          <a:prstGeom prst="rect">
            <a:avLst/>
          </a:prstGeom>
          <a:noFill/>
          <a:ln/>
        </p:spPr>
        <p:txBody>
          <a:bodyPr wrap="square" lIns="0" tIns="0" rIns="0" bIns="0" rtlCol="0" anchor="ctr"/>
          <a:lstStyle/>
          <a:p>
            <a:pPr indent="0" marL="0">
              <a:buNone/>
            </a:pPr>
            <a:r>
              <a:rPr lang="en-US" sz="1400" b="1" dirty="0">
                <a:solidFill>
                  <a:schemeClr val="accent4"/>
                </a:solidFill>
              </a:rPr>
              <a:t>Why: </a:t>
            </a:r>
            <a:pPr indent="0" marL="0">
              <a:buNone/>
            </a:pPr>
            <a:r>
              <a:rPr lang="en-US" sz="1400" dirty="0">
                <a:solidFill>
                  <a:schemeClr val="bg1"/>
                </a:solidFill>
              </a:rPr>
              <a:t>Same period: sulfur has more protons pulling the same 3 shells, so it is smaller and holds its electrons tighter.</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ection tile 9"/>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Ca"/>
          <p:cNvSpPr/>
          <p:nvPr/>
        </p:nvSpPr>
        <p:spPr>
          <a:xfrm>
            <a:off x="570909" y="511656"/>
            <a:ext cx="522390" cy="522390"/>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9</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Ca</a:t>
            </a:r>
            <a:endParaRPr lang="en-US" sz="2400" dirty="0"/>
          </a:p>
        </p:txBody>
      </p:sp>
      <p:sp>
        <p:nvSpPr>
          <p:cNvPr id="6"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Section 9 of 9 · about 10 min</a:t>
            </a:r>
            <a:endParaRPr lang="en-US" sz="1200" dirty="0"/>
          </a:p>
        </p:txBody>
      </p:sp>
      <p:sp>
        <p:nvSpPr>
          <p:cNvPr id="7"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Final check</a:t>
            </a:r>
            <a:endParaRPr lang="en-US" sz="3000" dirty="0"/>
          </a:p>
        </p:txBody>
      </p:sp>
      <p:sp>
        <p:nvSpPr>
          <p:cNvPr id="8" name="In this section"/>
          <p:cNvSpPr/>
          <p:nvPr/>
        </p:nvSpPr>
        <p:spPr>
          <a:xfrm>
            <a:off x="45720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9" name="Text 7"/>
          <p:cNvSpPr txBox="1"/>
          <p:nvPr/>
        </p:nvSpPr>
        <p:spPr>
          <a:xfrm>
            <a:off x="685800" y="1536192"/>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In this section</a:t>
            </a:r>
            <a:endParaRPr lang="en-US" sz="1500" dirty="0"/>
          </a:p>
        </p:txBody>
      </p:sp>
      <p:sp>
        <p:nvSpPr>
          <p:cNvPr id="10" name="Text 8"/>
          <p:cNvSpPr/>
          <p:nvPr/>
        </p:nvSpPr>
        <p:spPr>
          <a:xfrm>
            <a:off x="685800" y="2039112"/>
            <a:ext cx="109728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Quick review</a:t>
            </a:r>
            <a:endParaRPr lang="en-US" sz="1100" dirty="0"/>
          </a:p>
        </p:txBody>
      </p:sp>
      <p:sp>
        <p:nvSpPr>
          <p:cNvPr id="11" name="Text 9"/>
          <p:cNvSpPr txBox="1"/>
          <p:nvPr/>
        </p:nvSpPr>
        <p:spPr>
          <a:xfrm>
            <a:off x="1920240" y="1947672"/>
            <a:ext cx="2331720" cy="457200"/>
          </a:xfrm>
          <a:prstGeom prst="rect">
            <a:avLst/>
          </a:prstGeom>
          <a:noFill/>
          <a:ln/>
        </p:spPr>
        <p:txBody>
          <a:bodyPr wrap="square" lIns="0" tIns="0" rIns="0" bIns="0" rtlCol="0" anchor="ctr"/>
          <a:lstStyle/>
          <a:p>
            <a:pPr indent="0" marL="0">
              <a:buNone/>
            </a:pPr>
            <a:r>
              <a:rPr lang="en-US" sz="1400" dirty="0">
                <a:solidFill>
                  <a:schemeClr val="bg1"/>
                </a:solidFill>
              </a:rPr>
              <a:t>Key ideas to know</a:t>
            </a:r>
            <a:endParaRPr lang="en-US" sz="1400" dirty="0"/>
          </a:p>
        </p:txBody>
      </p:sp>
      <p:sp>
        <p:nvSpPr>
          <p:cNvPr id="12" name="Text 10"/>
          <p:cNvSpPr/>
          <p:nvPr/>
        </p:nvSpPr>
        <p:spPr>
          <a:xfrm>
            <a:off x="685800" y="2752344"/>
            <a:ext cx="100584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Final check</a:t>
            </a:r>
            <a:endParaRPr lang="en-US" sz="1100" dirty="0"/>
          </a:p>
        </p:txBody>
      </p:sp>
      <p:sp>
        <p:nvSpPr>
          <p:cNvPr id="13" name="Text 11"/>
          <p:cNvSpPr txBox="1"/>
          <p:nvPr/>
        </p:nvSpPr>
        <p:spPr>
          <a:xfrm>
            <a:off x="1828800" y="2660904"/>
            <a:ext cx="2423160" cy="457200"/>
          </a:xfrm>
          <a:prstGeom prst="rect">
            <a:avLst/>
          </a:prstGeom>
          <a:noFill/>
          <a:ln/>
        </p:spPr>
        <p:txBody>
          <a:bodyPr wrap="square" lIns="0" tIns="0" rIns="0" bIns="0" rtlCol="0" anchor="ctr"/>
          <a:lstStyle/>
          <a:p>
            <a:pPr indent="0" marL="0">
              <a:buNone/>
            </a:pPr>
            <a:r>
              <a:rPr lang="en-US" sz="1400" dirty="0">
                <a:solidFill>
                  <a:schemeClr val="bg1"/>
                </a:solidFill>
              </a:rPr>
              <a:t>10 questions, 8 to pass</a:t>
            </a:r>
            <a:endParaRPr lang="en-US" sz="1400" dirty="0"/>
          </a:p>
        </p:txBody>
      </p:sp>
      <p:sp>
        <p:nvSpPr>
          <p:cNvPr id="14" name="To unlock the next section"/>
          <p:cNvSpPr/>
          <p:nvPr/>
        </p:nvSpPr>
        <p:spPr>
          <a:xfrm>
            <a:off x="4663440" y="1371600"/>
            <a:ext cx="4023360" cy="3108960"/>
          </a:xfrm>
          <a:prstGeom prst="roundRect">
            <a:avLst>
              <a:gd name="adj" fmla="val 2941"/>
            </a:avLst>
          </a:prstGeom>
          <a:solidFill>
            <a:schemeClr val="tx2"/>
          </a:solidFill>
          <a:ln w="9525">
            <a:solidFill>
              <a:schemeClr val="bg2">
                <a:alpha val="30000"/>
              </a:schemeClr>
            </a:solidFill>
            <a:prstDash val="solid"/>
          </a:ln>
        </p:spPr>
      </p:sp>
      <p:sp>
        <p:nvSpPr>
          <p:cNvPr id="15" name="Text 13"/>
          <p:cNvSpPr txBox="1"/>
          <p:nvPr/>
        </p:nvSpPr>
        <p:spPr>
          <a:xfrm>
            <a:off x="4892040" y="1536192"/>
            <a:ext cx="3566160" cy="292608"/>
          </a:xfrm>
          <a:prstGeom prst="rect">
            <a:avLst/>
          </a:prstGeom>
          <a:noFill/>
          <a:ln/>
        </p:spPr>
        <p:txBody>
          <a:bodyPr wrap="square" lIns="0" tIns="0" rIns="0" bIns="0" rtlCol="0" anchor="t"/>
          <a:lstStyle/>
          <a:p>
            <a:pPr indent="0" marL="0">
              <a:buNone/>
            </a:pPr>
            <a:r>
              <a:rPr lang="en-US" sz="1500" b="1" dirty="0">
                <a:solidFill>
                  <a:schemeClr val="accent4"/>
                </a:solidFill>
              </a:rPr>
              <a:t>To unlock your results</a:t>
            </a:r>
            <a:endParaRPr lang="en-US" sz="1500" dirty="0"/>
          </a:p>
        </p:txBody>
      </p:sp>
      <p:sp>
        <p:nvSpPr>
          <p:cNvPr id="16" name="Text 14"/>
          <p:cNvSpPr/>
          <p:nvPr/>
        </p:nvSpPr>
        <p:spPr>
          <a:xfrm>
            <a:off x="4892040" y="2066544"/>
            <a:ext cx="256032" cy="256032"/>
          </a:xfrm>
          <a:prstGeom prst="roundRect">
            <a:avLst>
              <a:gd name="adj" fmla="val 17857"/>
            </a:avLst>
          </a:prstGeom>
          <a:solidFill>
            <a:schemeClr val="tx1"/>
          </a:solidFill>
          <a:ln w="15875">
            <a:solidFill>
              <a:schemeClr val="bg2"/>
            </a:solidFill>
          </a:ln>
        </p:spPr>
        <p:txBody>
          <a:bodyPr wrap="square" lIns="0" tIns="0" rIns="0" bIns="0" rtlCol="0" anchor="ctr"/>
          <a:lstStyle/>
          <a:p>
            <a:pPr algn="ctr" indent="0" marL="0">
              <a:buNone/>
            </a:pPr>
            <a:endParaRPr lang="en-US" sz="1200" dirty="0"/>
          </a:p>
        </p:txBody>
      </p:sp>
      <p:sp>
        <p:nvSpPr>
          <p:cNvPr id="17" name="Text 15"/>
          <p:cNvSpPr txBox="1"/>
          <p:nvPr/>
        </p:nvSpPr>
        <p:spPr>
          <a:xfrm>
            <a:off x="5303520" y="1993392"/>
            <a:ext cx="3200400" cy="457200"/>
          </a:xfrm>
          <a:prstGeom prst="rect">
            <a:avLst/>
          </a:prstGeom>
          <a:noFill/>
          <a:ln/>
        </p:spPr>
        <p:txBody>
          <a:bodyPr wrap="square" lIns="0" tIns="0" rIns="0" bIns="0" rtlCol="0" anchor="ctr"/>
          <a:lstStyle/>
          <a:p>
            <a:pPr indent="0" marL="0">
              <a:buNone/>
            </a:pPr>
            <a:r>
              <a:rPr lang="en-US" sz="1400" dirty="0">
                <a:solidFill>
                  <a:schemeClr val="bg1"/>
                </a:solidFill>
              </a:rPr>
              <a:t>Score 8 or more out of 10 on the final check</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ection tile 9"/>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Ca"/>
          <p:cNvSpPr/>
          <p:nvPr/>
        </p:nvSpPr>
        <p:spPr>
          <a:xfrm>
            <a:off x="570909" y="511656"/>
            <a:ext cx="522390" cy="522390"/>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9</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Ca</a:t>
            </a:r>
            <a:endParaRPr lang="en-US" sz="2400" dirty="0"/>
          </a:p>
        </p:txBody>
      </p:sp>
      <p:sp>
        <p:nvSpPr>
          <p:cNvPr id="6" name="Text 4"/>
          <p:cNvSpPr/>
          <p:nvPr/>
        </p:nvSpPr>
        <p:spPr>
          <a:xfrm>
            <a:off x="1417320" y="310896"/>
            <a:ext cx="1097280" cy="274320"/>
          </a:xfrm>
          <a:prstGeom prst="roundRect">
            <a:avLst>
              <a:gd name="adj" fmla="val 43333"/>
            </a:avLst>
          </a:prstGeom>
          <a:solidFill>
            <a:schemeClr val="accent5">
              <a:alpha val="65000"/>
            </a:schemeClr>
          </a:solidFill>
          <a:ln w="6350">
            <a:solidFill>
              <a:schemeClr val="accent5">
                <a:alpha val="65000"/>
              </a:schemeClr>
            </a:solidFill>
          </a:ln>
        </p:spPr>
        <p:txBody>
          <a:bodyPr wrap="square" lIns="0" tIns="0" rIns="0" bIns="0" rtlCol="0" anchor="ctr"/>
          <a:lstStyle/>
          <a:p>
            <a:pPr algn="ctr" indent="0" marL="0">
              <a:buNone/>
            </a:pPr>
            <a:r>
              <a:rPr lang="en-US" sz="1100" b="1" dirty="0">
                <a:solidFill>
                  <a:schemeClr val="bg1"/>
                </a:solidFill>
              </a:rPr>
              <a:t>Quick review</a:t>
            </a:r>
            <a:endParaRPr lang="en-US" sz="1100" dirty="0"/>
          </a:p>
        </p:txBody>
      </p:sp>
      <p:sp>
        <p:nvSpPr>
          <p:cNvPr id="7" name="Text 5"/>
          <p:cNvSpPr txBox="1"/>
          <p:nvPr/>
        </p:nvSpPr>
        <p:spPr>
          <a:xfrm>
            <a:off x="265176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9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Key ideas before the final check</a:t>
            </a:r>
            <a:endParaRPr lang="en-US" sz="2800" dirty="0"/>
          </a:p>
        </p:txBody>
      </p:sp>
      <p:sp>
        <p:nvSpPr>
          <p:cNvPr id="9" name="Bullet"/>
          <p:cNvSpPr/>
          <p:nvPr/>
        </p:nvSpPr>
        <p:spPr>
          <a:xfrm>
            <a:off x="502920" y="1399032"/>
            <a:ext cx="118872" cy="118872"/>
          </a:xfrm>
          <a:prstGeom prst="ellipse">
            <a:avLst/>
          </a:prstGeom>
          <a:solidFill>
            <a:schemeClr val="accent2"/>
          </a:solidFill>
          <a:ln w="6350">
            <a:solidFill>
              <a:schemeClr val="accent2"/>
            </a:solidFill>
            <a:prstDash val="solid"/>
          </a:ln>
        </p:spPr>
      </p:sp>
      <p:sp>
        <p:nvSpPr>
          <p:cNvPr id="10" name="Text 8"/>
          <p:cNvSpPr txBox="1"/>
          <p:nvPr/>
        </p:nvSpPr>
        <p:spPr>
          <a:xfrm>
            <a:off x="749808" y="1325880"/>
            <a:ext cx="4572000" cy="685800"/>
          </a:xfrm>
          <a:prstGeom prst="rect">
            <a:avLst/>
          </a:prstGeom>
          <a:noFill/>
          <a:ln/>
        </p:spPr>
        <p:txBody>
          <a:bodyPr wrap="square" lIns="0" tIns="0" rIns="0" bIns="0" rtlCol="0" anchor="t"/>
          <a:lstStyle/>
          <a:p>
            <a:pPr indent="0" marL="0">
              <a:buNone/>
            </a:pPr>
            <a:r>
              <a:rPr lang="en-US" sz="1300" dirty="0">
                <a:solidFill>
                  <a:schemeClr val="bg1"/>
                </a:solidFill>
              </a:rPr>
              <a:t>Atomic radius grows down a group (more shells) and shrinks across a period (more protons pull the same shells in).</a:t>
            </a:r>
            <a:endParaRPr lang="en-US" sz="1300" dirty="0"/>
          </a:p>
        </p:txBody>
      </p:sp>
      <p:sp>
        <p:nvSpPr>
          <p:cNvPr id="11" name="Bullet"/>
          <p:cNvSpPr/>
          <p:nvPr/>
        </p:nvSpPr>
        <p:spPr>
          <a:xfrm>
            <a:off x="502920" y="2130552"/>
            <a:ext cx="118872" cy="118872"/>
          </a:xfrm>
          <a:prstGeom prst="ellipse">
            <a:avLst/>
          </a:prstGeom>
          <a:solidFill>
            <a:schemeClr val="accent2"/>
          </a:solidFill>
          <a:ln w="6350">
            <a:solidFill>
              <a:schemeClr val="accent2"/>
            </a:solidFill>
            <a:prstDash val="solid"/>
          </a:ln>
        </p:spPr>
      </p:sp>
      <p:sp>
        <p:nvSpPr>
          <p:cNvPr id="12" name="Text 10"/>
          <p:cNvSpPr txBox="1"/>
          <p:nvPr/>
        </p:nvSpPr>
        <p:spPr>
          <a:xfrm>
            <a:off x="749808" y="2057400"/>
            <a:ext cx="4572000" cy="685800"/>
          </a:xfrm>
          <a:prstGeom prst="rect">
            <a:avLst/>
          </a:prstGeom>
          <a:noFill/>
          <a:ln/>
        </p:spPr>
        <p:txBody>
          <a:bodyPr wrap="square" lIns="0" tIns="0" rIns="0" bIns="0" rtlCol="0" anchor="t"/>
          <a:lstStyle/>
          <a:p>
            <a:pPr indent="0" marL="0">
              <a:buNone/>
            </a:pPr>
            <a:r>
              <a:rPr lang="en-US" sz="1300" dirty="0">
                <a:solidFill>
                  <a:schemeClr val="bg1"/>
                </a:solidFill>
              </a:rPr>
              <a:t>Ionization energy is the energy to remove an outer electron. It is high toward the top right.</a:t>
            </a:r>
            <a:endParaRPr lang="en-US" sz="1300" dirty="0"/>
          </a:p>
        </p:txBody>
      </p:sp>
      <p:sp>
        <p:nvSpPr>
          <p:cNvPr id="13" name="Bullet"/>
          <p:cNvSpPr/>
          <p:nvPr/>
        </p:nvSpPr>
        <p:spPr>
          <a:xfrm>
            <a:off x="502920" y="2862072"/>
            <a:ext cx="118872" cy="118872"/>
          </a:xfrm>
          <a:prstGeom prst="ellipse">
            <a:avLst/>
          </a:prstGeom>
          <a:solidFill>
            <a:schemeClr val="accent2"/>
          </a:solidFill>
          <a:ln w="6350">
            <a:solidFill>
              <a:schemeClr val="accent2"/>
            </a:solidFill>
            <a:prstDash val="solid"/>
          </a:ln>
        </p:spPr>
      </p:sp>
      <p:sp>
        <p:nvSpPr>
          <p:cNvPr id="14" name="Text 12"/>
          <p:cNvSpPr txBox="1"/>
          <p:nvPr/>
        </p:nvSpPr>
        <p:spPr>
          <a:xfrm>
            <a:off x="749808" y="2788920"/>
            <a:ext cx="4572000" cy="685800"/>
          </a:xfrm>
          <a:prstGeom prst="rect">
            <a:avLst/>
          </a:prstGeom>
          <a:noFill/>
          <a:ln/>
        </p:spPr>
        <p:txBody>
          <a:bodyPr wrap="square" lIns="0" tIns="0" rIns="0" bIns="0" rtlCol="0" anchor="t"/>
          <a:lstStyle/>
          <a:p>
            <a:pPr indent="0" marL="0">
              <a:buNone/>
            </a:pPr>
            <a:r>
              <a:rPr lang="en-US" sz="1300" dirty="0">
                <a:solidFill>
                  <a:schemeClr val="bg1"/>
                </a:solidFill>
              </a:rPr>
              <a:t>Electronegativity is the pull on shared electrons in a bond. Fluorine is highest; noble gases are left out.</a:t>
            </a:r>
            <a:endParaRPr lang="en-US" sz="1300" dirty="0"/>
          </a:p>
        </p:txBody>
      </p:sp>
      <p:sp>
        <p:nvSpPr>
          <p:cNvPr id="15" name="Bullet"/>
          <p:cNvSpPr/>
          <p:nvPr/>
        </p:nvSpPr>
        <p:spPr>
          <a:xfrm>
            <a:off x="502920" y="3593592"/>
            <a:ext cx="118872" cy="118872"/>
          </a:xfrm>
          <a:prstGeom prst="ellipse">
            <a:avLst/>
          </a:prstGeom>
          <a:solidFill>
            <a:schemeClr val="accent2"/>
          </a:solidFill>
          <a:ln w="6350">
            <a:solidFill>
              <a:schemeClr val="accent2"/>
            </a:solidFill>
            <a:prstDash val="solid"/>
          </a:ln>
        </p:spPr>
      </p:sp>
      <p:sp>
        <p:nvSpPr>
          <p:cNvPr id="16" name="Text 14"/>
          <p:cNvSpPr txBox="1"/>
          <p:nvPr/>
        </p:nvSpPr>
        <p:spPr>
          <a:xfrm>
            <a:off x="749808" y="3520440"/>
            <a:ext cx="4572000" cy="685800"/>
          </a:xfrm>
          <a:prstGeom prst="rect">
            <a:avLst/>
          </a:prstGeom>
          <a:noFill/>
          <a:ln/>
        </p:spPr>
        <p:txBody>
          <a:bodyPr wrap="square" lIns="0" tIns="0" rIns="0" bIns="0" rtlCol="0" anchor="t"/>
          <a:lstStyle/>
          <a:p>
            <a:pPr indent="0" marL="0">
              <a:buNone/>
            </a:pPr>
            <a:r>
              <a:rPr lang="en-US" sz="1300" dirty="0">
                <a:solidFill>
                  <a:schemeClr val="bg1"/>
                </a:solidFill>
              </a:rPr>
              <a:t>Shortcut: the smaller atom has the higher ionization energy and electronegativity.</a:t>
            </a:r>
            <a:endParaRPr lang="en-US" sz="1300" dirty="0"/>
          </a:p>
        </p:txBody>
      </p:sp>
      <p:sp>
        <p:nvSpPr>
          <p:cNvPr id="17" name="Atomic radius trend"/>
          <p:cNvSpPr/>
          <p:nvPr/>
        </p:nvSpPr>
        <p:spPr>
          <a:xfrm>
            <a:off x="5577840" y="1325880"/>
            <a:ext cx="3108960" cy="868680"/>
          </a:xfrm>
          <a:prstGeom prst="roundRect">
            <a:avLst>
              <a:gd name="adj" fmla="val 10526"/>
            </a:avLst>
          </a:prstGeom>
          <a:solidFill>
            <a:schemeClr val="tx2"/>
          </a:solidFill>
          <a:ln w="9525">
            <a:solidFill>
              <a:schemeClr val="bg2">
                <a:alpha val="30000"/>
              </a:schemeClr>
            </a:solidFill>
            <a:prstDash val="solid"/>
          </a:ln>
        </p:spPr>
      </p:sp>
      <p:sp>
        <p:nvSpPr>
          <p:cNvPr id="18" name="Trend bar"/>
          <p:cNvSpPr/>
          <p:nvPr/>
        </p:nvSpPr>
        <p:spPr>
          <a:xfrm>
            <a:off x="5577840" y="1371600"/>
            <a:ext cx="64008" cy="777240"/>
          </a:xfrm>
          <a:prstGeom prst="rect">
            <a:avLst/>
          </a:prstGeom>
          <a:solidFill>
            <a:schemeClr val="accent1"/>
          </a:solidFill>
          <a:ln w="6350">
            <a:solidFill>
              <a:schemeClr val="accent1"/>
            </a:solidFill>
            <a:prstDash val="solid"/>
          </a:ln>
        </p:spPr>
      </p:sp>
      <p:sp>
        <p:nvSpPr>
          <p:cNvPr id="19" name="Text 17"/>
          <p:cNvSpPr txBox="1"/>
          <p:nvPr/>
        </p:nvSpPr>
        <p:spPr>
          <a:xfrm>
            <a:off x="5760720" y="1325880"/>
            <a:ext cx="2834640" cy="868680"/>
          </a:xfrm>
          <a:prstGeom prst="rect">
            <a:avLst/>
          </a:prstGeom>
          <a:noFill/>
          <a:ln/>
        </p:spPr>
        <p:txBody>
          <a:bodyPr wrap="square" lIns="0" tIns="0" rIns="0" bIns="0" rtlCol="0" anchor="ctr"/>
          <a:lstStyle/>
          <a:p>
            <a:pPr indent="0" marL="0">
              <a:buNone/>
            </a:pPr>
            <a:r>
              <a:rPr lang="en-US" sz="1300" b="1" dirty="0">
                <a:solidFill>
                  <a:schemeClr val="accent1"/>
                </a:solidFill>
              </a:rPr>
              <a:t>Atomic radius</a:t>
            </a:r>
            <a:endParaRPr lang="en-US" sz="1300" dirty="0"/>
          </a:p>
          <a:p>
            <a:pPr indent="0" marL="0">
              <a:buNone/>
            </a:pPr>
            <a:r>
              <a:rPr lang="en-US" sz="1300" dirty="0">
                <a:solidFill>
                  <a:schemeClr val="bg2"/>
                </a:solidFill>
              </a:rPr>
              <a:t>Across a period: </a:t>
            </a:r>
            <a:pPr indent="0" marL="0">
              <a:buNone/>
            </a:pPr>
            <a:r>
              <a:rPr lang="en-US" sz="1300" b="1" dirty="0">
                <a:solidFill>
                  <a:schemeClr val="bg1"/>
                </a:solidFill>
              </a:rPr>
              <a:t>gets smaller →</a:t>
            </a:r>
            <a:endParaRPr lang="en-US" sz="1300" dirty="0"/>
          </a:p>
          <a:p>
            <a:pPr indent="0" marL="0">
              <a:buNone/>
            </a:pPr>
            <a:r>
              <a:rPr lang="en-US" sz="1300" dirty="0">
                <a:solidFill>
                  <a:schemeClr val="bg2"/>
                </a:solidFill>
              </a:rPr>
              <a:t>Down a group: </a:t>
            </a:r>
            <a:pPr indent="0" marL="0">
              <a:buNone/>
            </a:pPr>
            <a:r>
              <a:rPr lang="en-US" sz="1300" b="1" dirty="0">
                <a:solidFill>
                  <a:schemeClr val="bg1"/>
                </a:solidFill>
              </a:rPr>
              <a:t>gets larger ↓</a:t>
            </a:r>
            <a:endParaRPr lang="en-US" sz="1300" dirty="0"/>
          </a:p>
        </p:txBody>
      </p:sp>
      <p:sp>
        <p:nvSpPr>
          <p:cNvPr id="20" name="Ionization energy trend"/>
          <p:cNvSpPr/>
          <p:nvPr/>
        </p:nvSpPr>
        <p:spPr>
          <a:xfrm>
            <a:off x="5577840" y="2286000"/>
            <a:ext cx="3108960" cy="868680"/>
          </a:xfrm>
          <a:prstGeom prst="roundRect">
            <a:avLst>
              <a:gd name="adj" fmla="val 10526"/>
            </a:avLst>
          </a:prstGeom>
          <a:solidFill>
            <a:schemeClr val="tx2"/>
          </a:solidFill>
          <a:ln w="9525">
            <a:solidFill>
              <a:schemeClr val="bg2">
                <a:alpha val="30000"/>
              </a:schemeClr>
            </a:solidFill>
            <a:prstDash val="solid"/>
          </a:ln>
        </p:spPr>
      </p:sp>
      <p:sp>
        <p:nvSpPr>
          <p:cNvPr id="21" name="Trend bar"/>
          <p:cNvSpPr/>
          <p:nvPr/>
        </p:nvSpPr>
        <p:spPr>
          <a:xfrm>
            <a:off x="5577840" y="2331720"/>
            <a:ext cx="64008" cy="777240"/>
          </a:xfrm>
          <a:prstGeom prst="rect">
            <a:avLst/>
          </a:prstGeom>
          <a:solidFill>
            <a:schemeClr val="accent2"/>
          </a:solidFill>
          <a:ln w="6350">
            <a:solidFill>
              <a:schemeClr val="accent2"/>
            </a:solidFill>
            <a:prstDash val="solid"/>
          </a:ln>
        </p:spPr>
      </p:sp>
      <p:sp>
        <p:nvSpPr>
          <p:cNvPr id="22" name="Text 20"/>
          <p:cNvSpPr txBox="1"/>
          <p:nvPr/>
        </p:nvSpPr>
        <p:spPr>
          <a:xfrm>
            <a:off x="5760720" y="2286000"/>
            <a:ext cx="2834640" cy="868680"/>
          </a:xfrm>
          <a:prstGeom prst="rect">
            <a:avLst/>
          </a:prstGeom>
          <a:noFill/>
          <a:ln/>
        </p:spPr>
        <p:txBody>
          <a:bodyPr wrap="square" lIns="0" tIns="0" rIns="0" bIns="0" rtlCol="0" anchor="ctr"/>
          <a:lstStyle/>
          <a:p>
            <a:pPr indent="0" marL="0">
              <a:buNone/>
            </a:pPr>
            <a:r>
              <a:rPr lang="en-US" sz="1300" b="1" dirty="0">
                <a:solidFill>
                  <a:schemeClr val="accent2"/>
                </a:solidFill>
              </a:rPr>
              <a:t>Ionization energy</a:t>
            </a:r>
            <a:endParaRPr lang="en-US" sz="1300" dirty="0"/>
          </a:p>
          <a:p>
            <a:pPr indent="0" marL="0">
              <a:buNone/>
            </a:pPr>
            <a:r>
              <a:rPr lang="en-US" sz="1300" dirty="0">
                <a:solidFill>
                  <a:schemeClr val="bg2"/>
                </a:solidFill>
              </a:rPr>
              <a:t>Across a period: </a:t>
            </a:r>
            <a:pPr indent="0" marL="0">
              <a:buNone/>
            </a:pPr>
            <a:r>
              <a:rPr lang="en-US" sz="1300" b="1" dirty="0">
                <a:solidFill>
                  <a:schemeClr val="bg1"/>
                </a:solidFill>
              </a:rPr>
              <a:t>gets higher →</a:t>
            </a:r>
            <a:endParaRPr lang="en-US" sz="1300" dirty="0"/>
          </a:p>
          <a:p>
            <a:pPr indent="0" marL="0">
              <a:buNone/>
            </a:pPr>
            <a:r>
              <a:rPr lang="en-US" sz="1300" dirty="0">
                <a:solidFill>
                  <a:schemeClr val="bg2"/>
                </a:solidFill>
              </a:rPr>
              <a:t>Down a group: </a:t>
            </a:r>
            <a:pPr indent="0" marL="0">
              <a:buNone/>
            </a:pPr>
            <a:r>
              <a:rPr lang="en-US" sz="1300" b="1" dirty="0">
                <a:solidFill>
                  <a:schemeClr val="bg1"/>
                </a:solidFill>
              </a:rPr>
              <a:t>gets lower ↓</a:t>
            </a:r>
            <a:endParaRPr lang="en-US" sz="1300" dirty="0"/>
          </a:p>
        </p:txBody>
      </p:sp>
      <p:sp>
        <p:nvSpPr>
          <p:cNvPr id="23" name="Electronegativity trend"/>
          <p:cNvSpPr/>
          <p:nvPr/>
        </p:nvSpPr>
        <p:spPr>
          <a:xfrm>
            <a:off x="5577840" y="3246120"/>
            <a:ext cx="3108960" cy="868680"/>
          </a:xfrm>
          <a:prstGeom prst="roundRect">
            <a:avLst>
              <a:gd name="adj" fmla="val 10526"/>
            </a:avLst>
          </a:prstGeom>
          <a:solidFill>
            <a:schemeClr val="tx2"/>
          </a:solidFill>
          <a:ln w="9525">
            <a:solidFill>
              <a:schemeClr val="bg2">
                <a:alpha val="30000"/>
              </a:schemeClr>
            </a:solidFill>
            <a:prstDash val="solid"/>
          </a:ln>
        </p:spPr>
      </p:sp>
      <p:sp>
        <p:nvSpPr>
          <p:cNvPr id="24" name="Trend bar"/>
          <p:cNvSpPr/>
          <p:nvPr/>
        </p:nvSpPr>
        <p:spPr>
          <a:xfrm>
            <a:off x="5577840" y="3291840"/>
            <a:ext cx="64008" cy="777240"/>
          </a:xfrm>
          <a:prstGeom prst="rect">
            <a:avLst/>
          </a:prstGeom>
          <a:solidFill>
            <a:schemeClr val="accent6"/>
          </a:solidFill>
          <a:ln w="6350">
            <a:solidFill>
              <a:schemeClr val="accent6"/>
            </a:solidFill>
            <a:prstDash val="solid"/>
          </a:ln>
        </p:spPr>
      </p:sp>
      <p:sp>
        <p:nvSpPr>
          <p:cNvPr id="25" name="Text 23"/>
          <p:cNvSpPr txBox="1"/>
          <p:nvPr/>
        </p:nvSpPr>
        <p:spPr>
          <a:xfrm>
            <a:off x="5760720" y="3246120"/>
            <a:ext cx="2834640" cy="868680"/>
          </a:xfrm>
          <a:prstGeom prst="rect">
            <a:avLst/>
          </a:prstGeom>
          <a:noFill/>
          <a:ln/>
        </p:spPr>
        <p:txBody>
          <a:bodyPr wrap="square" lIns="0" tIns="0" rIns="0" bIns="0" rtlCol="0" anchor="ctr"/>
          <a:lstStyle/>
          <a:p>
            <a:pPr indent="0" marL="0">
              <a:buNone/>
            </a:pPr>
            <a:r>
              <a:rPr lang="en-US" sz="1300" b="1" dirty="0">
                <a:solidFill>
                  <a:schemeClr val="accent6"/>
                </a:solidFill>
              </a:rPr>
              <a:t>Electronegativity</a:t>
            </a:r>
            <a:endParaRPr lang="en-US" sz="1300" dirty="0"/>
          </a:p>
          <a:p>
            <a:pPr indent="0" marL="0">
              <a:buNone/>
            </a:pPr>
            <a:r>
              <a:rPr lang="en-US" sz="1300" dirty="0">
                <a:solidFill>
                  <a:schemeClr val="bg2"/>
                </a:solidFill>
              </a:rPr>
              <a:t>Across a period: </a:t>
            </a:r>
            <a:pPr indent="0" marL="0">
              <a:buNone/>
            </a:pPr>
            <a:r>
              <a:rPr lang="en-US" sz="1300" b="1" dirty="0">
                <a:solidFill>
                  <a:schemeClr val="bg1"/>
                </a:solidFill>
              </a:rPr>
              <a:t>gets higher →</a:t>
            </a:r>
            <a:endParaRPr lang="en-US" sz="1300" dirty="0"/>
          </a:p>
          <a:p>
            <a:pPr indent="0" marL="0">
              <a:buNone/>
            </a:pPr>
            <a:r>
              <a:rPr lang="en-US" sz="1300" dirty="0">
                <a:solidFill>
                  <a:schemeClr val="bg2"/>
                </a:solidFill>
              </a:rPr>
              <a:t>Down a group: </a:t>
            </a:r>
            <a:pPr indent="0" marL="0">
              <a:buNone/>
            </a:pPr>
            <a:r>
              <a:rPr lang="en-US" sz="1300" b="1" dirty="0">
                <a:solidFill>
                  <a:schemeClr val="bg1"/>
                </a:solidFill>
              </a:rPr>
              <a:t>gets lower ↓</a:t>
            </a:r>
            <a:endParaRPr lang="en-US" sz="13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ection tile 9"/>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Ca"/>
          <p:cNvSpPr/>
          <p:nvPr/>
        </p:nvSpPr>
        <p:spPr>
          <a:xfrm>
            <a:off x="570909" y="511656"/>
            <a:ext cx="522390" cy="522390"/>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9</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Ca</a:t>
            </a:r>
            <a:endParaRPr lang="en-US" sz="2400" dirty="0"/>
          </a:p>
        </p:txBody>
      </p:sp>
      <p:sp>
        <p:nvSpPr>
          <p:cNvPr id="6" name="Text 4"/>
          <p:cNvSpPr/>
          <p:nvPr/>
        </p:nvSpPr>
        <p:spPr>
          <a:xfrm>
            <a:off x="1417320" y="310896"/>
            <a:ext cx="1005840" cy="274320"/>
          </a:xfrm>
          <a:prstGeom prst="roundRect">
            <a:avLst>
              <a:gd name="adj" fmla="val 43333"/>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tx1"/>
                </a:solidFill>
              </a:rPr>
              <a:t>Final check</a:t>
            </a:r>
            <a:endParaRPr lang="en-US" sz="1100" dirty="0"/>
          </a:p>
        </p:txBody>
      </p:sp>
      <p:sp>
        <p:nvSpPr>
          <p:cNvPr id="7" name="Text 5"/>
          <p:cNvSpPr txBox="1"/>
          <p:nvPr/>
        </p:nvSpPr>
        <p:spPr>
          <a:xfrm>
            <a:off x="2560320" y="320040"/>
            <a:ext cx="2743200" cy="256032"/>
          </a:xfrm>
          <a:prstGeom prst="rect">
            <a:avLst/>
          </a:prstGeom>
          <a:noFill/>
          <a:ln/>
        </p:spPr>
        <p:txBody>
          <a:bodyPr wrap="square" lIns="0" tIns="0" rIns="0" bIns="0" rtlCol="0" anchor="ctr"/>
          <a:lstStyle/>
          <a:p>
            <a:pPr indent="0" marL="0">
              <a:buNone/>
            </a:pPr>
            <a:r>
              <a:rPr lang="en-US" sz="1200" dirty="0">
                <a:solidFill>
                  <a:schemeClr val="bg2"/>
                </a:solidFill>
              </a:rPr>
              <a:t>Section 9 of 9</a:t>
            </a:r>
            <a:endParaRPr lang="en-US" sz="1200" dirty="0"/>
          </a:p>
        </p:txBody>
      </p:sp>
      <p:sp>
        <p:nvSpPr>
          <p:cNvPr id="8" name="Text 0"/>
          <p:cNvSpPr/>
          <p:nvPr>
            <p:ph idx="100" type="title" hasCustomPrompt="1"/>
          </p:nvPr>
        </p:nvSpPr>
        <p:spPr>
          <a:xfrm>
            <a:off x="1417320" y="621792"/>
            <a:ext cx="7269480" cy="512064"/>
          </a:xfrm>
          <a:prstGeom prst="rect">
            <a:avLst/>
          </a:prstGeom>
          <a:noFill/>
          <a:ln/>
        </p:spPr>
        <p:txBody>
          <a:bodyPr wrap="square" lIns="0" tIns="0" rIns="0" bIns="0" rtlCol="0" anchor="ctr"/>
          <a:lstStyle/>
          <a:p>
            <a:pPr algn="l" indent="0" marL="0">
              <a:buNone/>
            </a:pPr>
            <a:r>
              <a:rPr lang="en-US" sz="2800" b="1" dirty="0">
                <a:solidFill>
                  <a:schemeClr val="bg1"/>
                </a:solidFill>
              </a:rPr>
              <a:t>Final check</a:t>
            </a:r>
            <a:endParaRPr lang="en-US" sz="2800" dirty="0"/>
          </a:p>
        </p:txBody>
      </p:sp>
      <p:sp>
        <p:nvSpPr>
          <p:cNvPr id="9" name="Pass score card"/>
          <p:cNvSpPr/>
          <p:nvPr/>
        </p:nvSpPr>
        <p:spPr>
          <a:xfrm>
            <a:off x="457200" y="1325880"/>
            <a:ext cx="3108960" cy="2788920"/>
          </a:xfrm>
          <a:prstGeom prst="roundRect">
            <a:avLst>
              <a:gd name="adj" fmla="val 3279"/>
            </a:avLst>
          </a:prstGeom>
          <a:solidFill>
            <a:schemeClr val="tx2"/>
          </a:solidFill>
          <a:ln w="9525">
            <a:solidFill>
              <a:schemeClr val="bg2">
                <a:alpha val="30000"/>
              </a:schemeClr>
            </a:solidFill>
            <a:prstDash val="solid"/>
          </a:ln>
        </p:spPr>
      </p:sp>
      <p:sp>
        <p:nvSpPr>
          <p:cNvPr id="10" name="Text 8"/>
          <p:cNvSpPr txBox="1"/>
          <p:nvPr/>
        </p:nvSpPr>
        <p:spPr>
          <a:xfrm>
            <a:off x="457200" y="1691640"/>
            <a:ext cx="3108960" cy="1188720"/>
          </a:xfrm>
          <a:prstGeom prst="rect">
            <a:avLst/>
          </a:prstGeom>
          <a:noFill/>
          <a:ln/>
        </p:spPr>
        <p:txBody>
          <a:bodyPr wrap="square" lIns="0" tIns="0" rIns="0" bIns="0" rtlCol="0" anchor="ctr"/>
          <a:lstStyle/>
          <a:p>
            <a:pPr algn="ctr" indent="0" marL="0">
              <a:buNone/>
            </a:pPr>
            <a:r>
              <a:rPr lang="en-US" sz="6600" b="1" dirty="0">
                <a:solidFill>
                  <a:schemeClr val="accent2"/>
                </a:solidFill>
              </a:rPr>
              <a:t>8/10</a:t>
            </a:r>
            <a:endParaRPr lang="en-US" sz="6600" dirty="0"/>
          </a:p>
        </p:txBody>
      </p:sp>
      <p:sp>
        <p:nvSpPr>
          <p:cNvPr id="11" name="Text 9"/>
          <p:cNvSpPr txBox="1"/>
          <p:nvPr/>
        </p:nvSpPr>
        <p:spPr>
          <a:xfrm>
            <a:off x="457200" y="2880360"/>
            <a:ext cx="3108960" cy="365760"/>
          </a:xfrm>
          <a:prstGeom prst="rect">
            <a:avLst/>
          </a:prstGeom>
          <a:noFill/>
          <a:ln/>
        </p:spPr>
        <p:txBody>
          <a:bodyPr wrap="square" lIns="0" tIns="0" rIns="0" bIns="0" rtlCol="0" anchor="t"/>
          <a:lstStyle/>
          <a:p>
            <a:pPr algn="ctr" indent="0" marL="0">
              <a:buNone/>
            </a:pPr>
            <a:r>
              <a:rPr lang="en-US" sz="1600" dirty="0">
                <a:solidFill>
                  <a:schemeClr val="bg1"/>
                </a:solidFill>
              </a:rPr>
              <a:t>to pass</a:t>
            </a:r>
            <a:endParaRPr lang="en-US" sz="1600" dirty="0"/>
          </a:p>
        </p:txBody>
      </p:sp>
      <p:sp>
        <p:nvSpPr>
          <p:cNvPr id="12" name="Text 10"/>
          <p:cNvSpPr txBox="1"/>
          <p:nvPr/>
        </p:nvSpPr>
        <p:spPr>
          <a:xfrm>
            <a:off x="457200" y="3310128"/>
            <a:ext cx="3108960" cy="320040"/>
          </a:xfrm>
          <a:prstGeom prst="rect">
            <a:avLst/>
          </a:prstGeom>
          <a:noFill/>
          <a:ln/>
        </p:spPr>
        <p:txBody>
          <a:bodyPr wrap="square" lIns="0" tIns="0" rIns="0" bIns="0" rtlCol="0" anchor="t"/>
          <a:lstStyle/>
          <a:p>
            <a:pPr algn="ctr" indent="0" marL="0">
              <a:buNone/>
            </a:pPr>
            <a:r>
              <a:rPr lang="en-US" sz="1200" dirty="0">
                <a:solidFill>
                  <a:schemeClr val="bg2"/>
                </a:solidFill>
              </a:rPr>
              <a:t>10 questions, picked at random</a:t>
            </a:r>
            <a:endParaRPr lang="en-US" sz="1200" dirty="0"/>
          </a:p>
        </p:txBody>
      </p:sp>
      <p:sp>
        <p:nvSpPr>
          <p:cNvPr id="13" name="Text 11"/>
          <p:cNvSpPr txBox="1"/>
          <p:nvPr/>
        </p:nvSpPr>
        <p:spPr>
          <a:xfrm>
            <a:off x="3931920" y="1298448"/>
            <a:ext cx="4754880" cy="658368"/>
          </a:xfrm>
          <a:prstGeom prst="rect">
            <a:avLst/>
          </a:prstGeom>
          <a:noFill/>
          <a:ln/>
        </p:spPr>
        <p:txBody>
          <a:bodyPr wrap="square" lIns="0" tIns="0" rIns="0" bIns="0" rtlCol="0" anchor="t"/>
          <a:lstStyle/>
          <a:p>
            <a:pPr indent="0" marL="0">
              <a:buNone/>
            </a:pPr>
            <a:r>
              <a:rPr lang="en-US" sz="1400" b="1" dirty="0">
                <a:solidFill>
                  <a:schemeClr val="accent1"/>
                </a:solidFill>
              </a:rPr>
              <a:t>Full screen</a:t>
            </a:r>
            <a:endParaRPr lang="en-US" sz="1400" dirty="0"/>
          </a:p>
          <a:p>
            <a:pPr indent="0" marL="0">
              <a:buNone/>
            </a:pPr>
            <a:r>
              <a:rPr lang="en-US" sz="1400" dirty="0">
                <a:solidFill>
                  <a:schemeClr val="bg1"/>
                </a:solidFill>
              </a:rPr>
              <a:t>The check opens in full screen. Leaving the page locks it, so raise your hand and wait.</a:t>
            </a:r>
            <a:endParaRPr lang="en-US" sz="1400" dirty="0"/>
          </a:p>
        </p:txBody>
      </p:sp>
      <p:sp>
        <p:nvSpPr>
          <p:cNvPr id="14" name="Text 12"/>
          <p:cNvSpPr txBox="1"/>
          <p:nvPr/>
        </p:nvSpPr>
        <p:spPr>
          <a:xfrm>
            <a:off x="3931920" y="2084832"/>
            <a:ext cx="4754880" cy="658368"/>
          </a:xfrm>
          <a:prstGeom prst="rect">
            <a:avLst/>
          </a:prstGeom>
          <a:noFill/>
          <a:ln/>
        </p:spPr>
        <p:txBody>
          <a:bodyPr wrap="square" lIns="0" tIns="0" rIns="0" bIns="0" rtlCol="0" anchor="t"/>
          <a:lstStyle/>
          <a:p>
            <a:pPr indent="0" marL="0">
              <a:buNone/>
            </a:pPr>
            <a:r>
              <a:rPr lang="en-US" sz="1400" b="1" dirty="0">
                <a:solidFill>
                  <a:schemeClr val="accent1"/>
                </a:solidFill>
              </a:rPr>
              <a:t>New questions</a:t>
            </a:r>
            <a:endParaRPr lang="en-US" sz="1400" dirty="0"/>
          </a:p>
          <a:p>
            <a:pPr indent="0" marL="0">
              <a:buNone/>
            </a:pPr>
            <a:r>
              <a:rPr lang="en-US" sz="1400" dirty="0">
                <a:solidFill>
                  <a:schemeClr val="bg1"/>
                </a:solidFill>
              </a:rPr>
              <a:t>Each retake gives you different questions.</a:t>
            </a:r>
            <a:endParaRPr lang="en-US" sz="1400" dirty="0"/>
          </a:p>
        </p:txBody>
      </p:sp>
      <p:sp>
        <p:nvSpPr>
          <p:cNvPr id="15" name="Text 13"/>
          <p:cNvSpPr txBox="1"/>
          <p:nvPr/>
        </p:nvSpPr>
        <p:spPr>
          <a:xfrm>
            <a:off x="3931920" y="2871216"/>
            <a:ext cx="4754880" cy="658368"/>
          </a:xfrm>
          <a:prstGeom prst="rect">
            <a:avLst/>
          </a:prstGeom>
          <a:noFill/>
          <a:ln/>
        </p:spPr>
        <p:txBody>
          <a:bodyPr wrap="square" lIns="0" tIns="0" rIns="0" bIns="0" rtlCol="0" anchor="t"/>
          <a:lstStyle/>
          <a:p>
            <a:pPr indent="0" marL="0">
              <a:buNone/>
            </a:pPr>
            <a:r>
              <a:rPr lang="en-US" sz="1400" b="1" dirty="0">
                <a:solidFill>
                  <a:schemeClr val="accent1"/>
                </a:solidFill>
              </a:rPr>
              <a:t>Quick review</a:t>
            </a:r>
            <a:endParaRPr lang="en-US" sz="1400" dirty="0"/>
          </a:p>
          <a:p>
            <a:pPr indent="0" marL="0">
              <a:buNone/>
            </a:pPr>
            <a:r>
              <a:rPr lang="en-US" sz="1400" dirty="0">
                <a:solidFill>
                  <a:schemeClr val="bg1"/>
                </a:solidFill>
              </a:rPr>
              <a:t>After 3 tries, a review of the key ideas comes first.</a:t>
            </a:r>
            <a:endParaRPr lang="en-US" sz="1400" dirty="0"/>
          </a:p>
        </p:txBody>
      </p:sp>
      <p:sp>
        <p:nvSpPr>
          <p:cNvPr id="16" name="Text 14"/>
          <p:cNvSpPr txBox="1"/>
          <p:nvPr/>
        </p:nvSpPr>
        <p:spPr>
          <a:xfrm>
            <a:off x="3931920" y="3657600"/>
            <a:ext cx="4754880" cy="658368"/>
          </a:xfrm>
          <a:prstGeom prst="rect">
            <a:avLst/>
          </a:prstGeom>
          <a:noFill/>
          <a:ln/>
        </p:spPr>
        <p:txBody>
          <a:bodyPr wrap="square" lIns="0" tIns="0" rIns="0" bIns="0" rtlCol="0" anchor="t"/>
          <a:lstStyle/>
          <a:p>
            <a:pPr indent="0" marL="0">
              <a:buNone/>
            </a:pPr>
            <a:r>
              <a:rPr lang="en-US" sz="1400" b="1" dirty="0">
                <a:solidFill>
                  <a:schemeClr val="accent1"/>
                </a:solidFill>
              </a:rPr>
              <a:t>Scores</a:t>
            </a:r>
            <a:endParaRPr lang="en-US" sz="1400" dirty="0"/>
          </a:p>
          <a:p>
            <a:pPr indent="0" marL="0">
              <a:buNone/>
            </a:pPr>
            <a:r>
              <a:rPr lang="en-US" sz="1400" dirty="0">
                <a:solidFill>
                  <a:schemeClr val="bg1"/>
                </a:solidFill>
              </a:rPr>
              <a:t>When you pass, your scores send to your teacher.</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ection tile 10"/>
          <p:cNvSpPr/>
          <p:nvPr/>
        </p:nvSpPr>
        <p:spPr>
          <a:xfrm>
            <a:off x="457200" y="301752"/>
            <a:ext cx="749808" cy="841248"/>
          </a:xfrm>
          <a:prstGeom prst="roundRect">
            <a:avLst>
              <a:gd name="adj" fmla="val 12000"/>
            </a:avLst>
          </a:prstGeom>
          <a:solidFill>
            <a:schemeClr val="accent1">
              <a:alpha val="18000"/>
            </a:schemeClr>
          </a:solidFill>
          <a:ln w="19050">
            <a:solidFill>
              <a:schemeClr val="accent1"/>
            </a:solidFill>
            <a:prstDash val="solid"/>
          </a:ln>
        </p:spPr>
      </p:sp>
      <p:sp>
        <p:nvSpPr>
          <p:cNvPr id="3" name="Atom He"/>
          <p:cNvSpPr/>
          <p:nvPr/>
        </p:nvSpPr>
        <p:spPr>
          <a:xfrm>
            <a:off x="749625" y="690372"/>
            <a:ext cx="164958" cy="164958"/>
          </a:xfrm>
          <a:prstGeom prst="ellipse">
            <a:avLst/>
          </a:prstGeom>
          <a:solidFill>
            <a:schemeClr val="accent1">
              <a:alpha val="30000"/>
            </a:schemeClr>
          </a:solidFill>
          <a:ln w="9525">
            <a:solidFill>
              <a:srgbClr val="A0F0FF"/>
            </a:solidFill>
            <a:prstDash val="dash"/>
          </a:ln>
        </p:spPr>
      </p:sp>
      <p:sp>
        <p:nvSpPr>
          <p:cNvPr id="4" name="Text 2"/>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10</a:t>
            </a:r>
            <a:endParaRPr lang="en-US" sz="1200" dirty="0"/>
          </a:p>
        </p:txBody>
      </p:sp>
      <p:sp>
        <p:nvSpPr>
          <p:cNvPr id="5" name="Text 3"/>
          <p:cNvSpPr txBox="1"/>
          <p:nvPr/>
        </p:nvSpPr>
        <p:spPr>
          <a:xfrm>
            <a:off x="457200" y="562539"/>
            <a:ext cx="749808" cy="420624"/>
          </a:xfrm>
          <a:prstGeom prst="rect">
            <a:avLst/>
          </a:prstGeom>
          <a:noFill/>
          <a:ln/>
        </p:spPr>
        <p:txBody>
          <a:bodyPr wrap="square" lIns="0" tIns="0" rIns="0" bIns="0" rtlCol="0" anchor="ctr"/>
          <a:lstStyle/>
          <a:p>
            <a:pPr algn="ctr" indent="0" marL="0">
              <a:buNone/>
            </a:pPr>
            <a:r>
              <a:rPr lang="en-US" sz="2400" b="1" dirty="0">
                <a:solidFill>
                  <a:schemeClr val="bg1"/>
                </a:solidFill>
              </a:rPr>
              <a:t>He</a:t>
            </a:r>
            <a:endParaRPr lang="en-US" sz="2400" dirty="0"/>
          </a:p>
        </p:txBody>
      </p:sp>
      <p:sp>
        <p:nvSpPr>
          <p:cNvPr id="6"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Results</a:t>
            </a:r>
            <a:endParaRPr lang="en-US" sz="1200" dirty="0"/>
          </a:p>
        </p:txBody>
      </p:sp>
      <p:sp>
        <p:nvSpPr>
          <p:cNvPr id="7"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When you pass</a:t>
            </a:r>
            <a:endParaRPr lang="en-US" sz="3000" dirty="0"/>
          </a:p>
        </p:txBody>
      </p:sp>
      <p:sp>
        <p:nvSpPr>
          <p:cNvPr id="8" name="Text 6"/>
          <p:cNvSpPr/>
          <p:nvPr/>
        </p:nvSpPr>
        <p:spPr>
          <a:xfrm>
            <a:off x="457200" y="1417320"/>
            <a:ext cx="420624" cy="42062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9" name="Text 7"/>
          <p:cNvSpPr txBox="1"/>
          <p:nvPr/>
        </p:nvSpPr>
        <p:spPr>
          <a:xfrm>
            <a:off x="1051560" y="1353312"/>
            <a:ext cx="3291840" cy="548640"/>
          </a:xfrm>
          <a:prstGeom prst="rect">
            <a:avLst/>
          </a:prstGeom>
          <a:noFill/>
          <a:ln/>
        </p:spPr>
        <p:txBody>
          <a:bodyPr wrap="square" lIns="0" tIns="0" rIns="0" bIns="0" rtlCol="0" anchor="ctr"/>
          <a:lstStyle/>
          <a:p>
            <a:pPr indent="0" marL="0">
              <a:buNone/>
            </a:pPr>
            <a:r>
              <a:rPr lang="en-US" sz="1500" dirty="0">
                <a:solidFill>
                  <a:schemeClr val="bg1"/>
                </a:solidFill>
              </a:rPr>
              <a:t>Open your results page (the He tile)</a:t>
            </a:r>
            <a:endParaRPr lang="en-US" sz="1500" dirty="0"/>
          </a:p>
        </p:txBody>
      </p:sp>
      <p:sp>
        <p:nvSpPr>
          <p:cNvPr id="10" name="Text 8"/>
          <p:cNvSpPr/>
          <p:nvPr/>
        </p:nvSpPr>
        <p:spPr>
          <a:xfrm>
            <a:off x="457200" y="2194560"/>
            <a:ext cx="420624" cy="42062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Text 9"/>
          <p:cNvSpPr txBox="1"/>
          <p:nvPr/>
        </p:nvSpPr>
        <p:spPr>
          <a:xfrm>
            <a:off x="1051560" y="2130552"/>
            <a:ext cx="3291840" cy="548640"/>
          </a:xfrm>
          <a:prstGeom prst="rect">
            <a:avLst/>
          </a:prstGeom>
          <a:noFill/>
          <a:ln/>
        </p:spPr>
        <p:txBody>
          <a:bodyPr wrap="square" lIns="0" tIns="0" rIns="0" bIns="0" rtlCol="0" anchor="ctr"/>
          <a:lstStyle/>
          <a:p>
            <a:pPr indent="0" marL="0">
              <a:buNone/>
            </a:pPr>
            <a:r>
              <a:rPr lang="en-US" sz="1500" dirty="0">
                <a:solidFill>
                  <a:schemeClr val="bg1"/>
                </a:solidFill>
              </a:rPr>
              <a:t>Look for "Sent! Your teacher will see your scores."</a:t>
            </a:r>
            <a:endParaRPr lang="en-US" sz="1500" dirty="0"/>
          </a:p>
        </p:txBody>
      </p:sp>
      <p:sp>
        <p:nvSpPr>
          <p:cNvPr id="12" name="Text 10"/>
          <p:cNvSpPr/>
          <p:nvPr/>
        </p:nvSpPr>
        <p:spPr>
          <a:xfrm>
            <a:off x="457200" y="2971800"/>
            <a:ext cx="420624" cy="420624"/>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3" name="Text 11"/>
          <p:cNvSpPr txBox="1"/>
          <p:nvPr/>
        </p:nvSpPr>
        <p:spPr>
          <a:xfrm>
            <a:off x="1051560" y="2907792"/>
            <a:ext cx="3291840" cy="548640"/>
          </a:xfrm>
          <a:prstGeom prst="rect">
            <a:avLst/>
          </a:prstGeom>
          <a:noFill/>
          <a:ln/>
        </p:spPr>
        <p:txBody>
          <a:bodyPr wrap="square" lIns="0" tIns="0" rIns="0" bIns="0" rtlCol="0" anchor="ctr"/>
          <a:lstStyle/>
          <a:p>
            <a:pPr indent="0" marL="0">
              <a:buNone/>
            </a:pPr>
            <a:r>
              <a:rPr lang="en-US" sz="1500" dirty="0">
                <a:solidFill>
                  <a:schemeClr val="bg1"/>
                </a:solidFill>
              </a:rPr>
              <a:t>No message? Click Send my scores to my teacher</a:t>
            </a:r>
            <a:endParaRPr lang="en-US" sz="1500" dirty="0"/>
          </a:p>
        </p:txBody>
      </p:sp>
      <p:sp>
        <p:nvSpPr>
          <p:cNvPr id="14" name="Goals card"/>
          <p:cNvSpPr/>
          <p:nvPr/>
        </p:nvSpPr>
        <p:spPr>
          <a:xfrm>
            <a:off x="4709160" y="1325880"/>
            <a:ext cx="3977640" cy="3108960"/>
          </a:xfrm>
          <a:prstGeom prst="roundRect">
            <a:avLst>
              <a:gd name="adj" fmla="val 2941"/>
            </a:avLst>
          </a:prstGeom>
          <a:solidFill>
            <a:schemeClr val="tx2"/>
          </a:solidFill>
          <a:ln w="9525">
            <a:solidFill>
              <a:schemeClr val="bg2">
                <a:alpha val="30000"/>
              </a:schemeClr>
            </a:solidFill>
            <a:prstDash val="solid"/>
          </a:ln>
        </p:spPr>
      </p:sp>
      <p:sp>
        <p:nvSpPr>
          <p:cNvPr id="15" name="Text 13"/>
          <p:cNvSpPr txBox="1"/>
          <p:nvPr/>
        </p:nvSpPr>
        <p:spPr>
          <a:xfrm>
            <a:off x="4937760" y="1463040"/>
            <a:ext cx="3566160" cy="274320"/>
          </a:xfrm>
          <a:prstGeom prst="rect">
            <a:avLst/>
          </a:prstGeom>
          <a:noFill/>
          <a:ln/>
        </p:spPr>
        <p:txBody>
          <a:bodyPr wrap="square" lIns="0" tIns="0" rIns="0" bIns="0" rtlCol="0" anchor="t"/>
          <a:lstStyle/>
          <a:p>
            <a:pPr indent="0" marL="0">
              <a:buNone/>
            </a:pPr>
            <a:r>
              <a:rPr lang="en-US" sz="1400" b="1" dirty="0">
                <a:solidFill>
                  <a:schemeClr val="accent4"/>
                </a:solidFill>
              </a:rPr>
              <a:t>Your goals</a:t>
            </a:r>
            <a:endParaRPr lang="en-US" sz="1400" dirty="0"/>
          </a:p>
        </p:txBody>
      </p:sp>
      <p:sp>
        <p:nvSpPr>
          <p:cNvPr id="16" name="Text 14"/>
          <p:cNvSpPr/>
          <p:nvPr/>
        </p:nvSpPr>
        <p:spPr>
          <a:xfrm>
            <a:off x="4937760" y="187452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7" name="Text 15"/>
          <p:cNvSpPr txBox="1"/>
          <p:nvPr/>
        </p:nvSpPr>
        <p:spPr>
          <a:xfrm>
            <a:off x="5321808" y="1828800"/>
            <a:ext cx="3246120" cy="384048"/>
          </a:xfrm>
          <a:prstGeom prst="rect">
            <a:avLst/>
          </a:prstGeom>
          <a:noFill/>
          <a:ln/>
        </p:spPr>
        <p:txBody>
          <a:bodyPr wrap="square" lIns="0" tIns="0" rIns="0" bIns="0" rtlCol="0" anchor="ctr"/>
          <a:lstStyle/>
          <a:p>
            <a:pPr indent="0" marL="0">
              <a:buNone/>
            </a:pPr>
            <a:r>
              <a:rPr lang="en-US" sz="1200" dirty="0">
                <a:solidFill>
                  <a:schemeClr val="bg1"/>
                </a:solidFill>
              </a:rPr>
              <a:t>Find periods and groups and describe a periodic trend</a:t>
            </a:r>
            <a:endParaRPr lang="en-US" sz="1200" dirty="0"/>
          </a:p>
        </p:txBody>
      </p:sp>
      <p:sp>
        <p:nvSpPr>
          <p:cNvPr id="18" name="Text 16"/>
          <p:cNvSpPr/>
          <p:nvPr/>
        </p:nvSpPr>
        <p:spPr>
          <a:xfrm>
            <a:off x="4937760" y="228600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19" name="Text 17"/>
          <p:cNvSpPr txBox="1"/>
          <p:nvPr/>
        </p:nvSpPr>
        <p:spPr>
          <a:xfrm>
            <a:off x="5321808" y="2240280"/>
            <a:ext cx="3246120" cy="384048"/>
          </a:xfrm>
          <a:prstGeom prst="rect">
            <a:avLst/>
          </a:prstGeom>
          <a:noFill/>
          <a:ln/>
        </p:spPr>
        <p:txBody>
          <a:bodyPr wrap="square" lIns="0" tIns="0" rIns="0" bIns="0" rtlCol="0" anchor="ctr"/>
          <a:lstStyle/>
          <a:p>
            <a:pPr indent="0" marL="0">
              <a:buNone/>
            </a:pPr>
            <a:r>
              <a:rPr lang="en-US" sz="1200" dirty="0">
                <a:solidFill>
                  <a:schemeClr val="bg1"/>
                </a:solidFill>
              </a:rPr>
              <a:t>Predict atomic radius and explain why it changes</a:t>
            </a:r>
            <a:endParaRPr lang="en-US" sz="1200" dirty="0"/>
          </a:p>
        </p:txBody>
      </p:sp>
      <p:sp>
        <p:nvSpPr>
          <p:cNvPr id="20" name="Text 18"/>
          <p:cNvSpPr/>
          <p:nvPr/>
        </p:nvSpPr>
        <p:spPr>
          <a:xfrm>
            <a:off x="4937760" y="269748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1" name="Text 19"/>
          <p:cNvSpPr txBox="1"/>
          <p:nvPr/>
        </p:nvSpPr>
        <p:spPr>
          <a:xfrm>
            <a:off x="5321808" y="2651760"/>
            <a:ext cx="3246120" cy="384048"/>
          </a:xfrm>
          <a:prstGeom prst="rect">
            <a:avLst/>
          </a:prstGeom>
          <a:noFill/>
          <a:ln/>
        </p:spPr>
        <p:txBody>
          <a:bodyPr wrap="square" lIns="0" tIns="0" rIns="0" bIns="0" rtlCol="0" anchor="ctr"/>
          <a:lstStyle/>
          <a:p>
            <a:pPr indent="0" marL="0">
              <a:buNone/>
            </a:pPr>
            <a:r>
              <a:rPr lang="en-US" sz="1200" dirty="0">
                <a:solidFill>
                  <a:schemeClr val="bg1"/>
                </a:solidFill>
              </a:rPr>
              <a:t>Predict ionization energy</a:t>
            </a:r>
            <a:endParaRPr lang="en-US" sz="1200" dirty="0"/>
          </a:p>
        </p:txBody>
      </p:sp>
      <p:sp>
        <p:nvSpPr>
          <p:cNvPr id="22" name="Text 20"/>
          <p:cNvSpPr/>
          <p:nvPr/>
        </p:nvSpPr>
        <p:spPr>
          <a:xfrm>
            <a:off x="4937760" y="310896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3" name="Text 21"/>
          <p:cNvSpPr txBox="1"/>
          <p:nvPr/>
        </p:nvSpPr>
        <p:spPr>
          <a:xfrm>
            <a:off x="5321808" y="3063240"/>
            <a:ext cx="3246120" cy="384048"/>
          </a:xfrm>
          <a:prstGeom prst="rect">
            <a:avLst/>
          </a:prstGeom>
          <a:noFill/>
          <a:ln/>
        </p:spPr>
        <p:txBody>
          <a:bodyPr wrap="square" lIns="0" tIns="0" rIns="0" bIns="0" rtlCol="0" anchor="ctr"/>
          <a:lstStyle/>
          <a:p>
            <a:pPr indent="0" marL="0">
              <a:buNone/>
            </a:pPr>
            <a:r>
              <a:rPr lang="en-US" sz="1200" dirty="0">
                <a:solidFill>
                  <a:schemeClr val="bg1"/>
                </a:solidFill>
              </a:rPr>
              <a:t>Predict electronegativity</a:t>
            </a:r>
            <a:endParaRPr lang="en-US" sz="1200" dirty="0"/>
          </a:p>
        </p:txBody>
      </p:sp>
      <p:sp>
        <p:nvSpPr>
          <p:cNvPr id="24" name="Text 22"/>
          <p:cNvSpPr/>
          <p:nvPr/>
        </p:nvSpPr>
        <p:spPr>
          <a:xfrm>
            <a:off x="4937760" y="352044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5" name="Text 23"/>
          <p:cNvSpPr txBox="1"/>
          <p:nvPr/>
        </p:nvSpPr>
        <p:spPr>
          <a:xfrm>
            <a:off x="5321808" y="3474720"/>
            <a:ext cx="3246120" cy="384048"/>
          </a:xfrm>
          <a:prstGeom prst="rect">
            <a:avLst/>
          </a:prstGeom>
          <a:noFill/>
          <a:ln/>
        </p:spPr>
        <p:txBody>
          <a:bodyPr wrap="square" lIns="0" tIns="0" rIns="0" bIns="0" rtlCol="0" anchor="ctr"/>
          <a:lstStyle/>
          <a:p>
            <a:pPr indent="0" marL="0">
              <a:buNone/>
            </a:pPr>
            <a:r>
              <a:rPr lang="en-US" sz="1200" dirty="0">
                <a:solidFill>
                  <a:schemeClr val="bg1"/>
                </a:solidFill>
              </a:rPr>
              <a:t>Use atomic radius to explain all three trends</a:t>
            </a:r>
            <a:endParaRPr lang="en-US" sz="1200" dirty="0"/>
          </a:p>
        </p:txBody>
      </p:sp>
      <p:sp>
        <p:nvSpPr>
          <p:cNvPr id="26" name="Text 24"/>
          <p:cNvSpPr/>
          <p:nvPr/>
        </p:nvSpPr>
        <p:spPr>
          <a:xfrm>
            <a:off x="4937760" y="3931920"/>
            <a:ext cx="256032" cy="256032"/>
          </a:xfrm>
          <a:prstGeom prst="roundRect">
            <a:avLst>
              <a:gd name="adj" fmla="val 17857"/>
            </a:avLst>
          </a:prstGeom>
          <a:solidFill>
            <a:schemeClr val="accent4"/>
          </a:solidFill>
          <a:ln w="15875">
            <a:solidFill>
              <a:schemeClr val="accent4"/>
            </a:solidFill>
          </a:ln>
        </p:spPr>
        <p:txBody>
          <a:bodyPr wrap="square" lIns="0" tIns="0" rIns="0" bIns="0" rtlCol="0" anchor="ctr"/>
          <a:lstStyle/>
          <a:p>
            <a:pPr algn="ctr" indent="0" marL="0">
              <a:buNone/>
            </a:pPr>
            <a:r>
              <a:rPr lang="en-US" sz="1200" b="1" dirty="0">
                <a:solidFill>
                  <a:schemeClr val="tx1"/>
                </a:solidFill>
              </a:rPr>
              <a:t>✓</a:t>
            </a:r>
            <a:endParaRPr lang="en-US" sz="1200" dirty="0"/>
          </a:p>
        </p:txBody>
      </p:sp>
      <p:sp>
        <p:nvSpPr>
          <p:cNvPr id="27" name="Text 25"/>
          <p:cNvSpPr txBox="1"/>
          <p:nvPr/>
        </p:nvSpPr>
        <p:spPr>
          <a:xfrm>
            <a:off x="5321808" y="3886200"/>
            <a:ext cx="3246120" cy="384048"/>
          </a:xfrm>
          <a:prstGeom prst="rect">
            <a:avLst/>
          </a:prstGeom>
          <a:noFill/>
          <a:ln/>
        </p:spPr>
        <p:txBody>
          <a:bodyPr wrap="square" lIns="0" tIns="0" rIns="0" bIns="0" rtlCol="0" anchor="ctr"/>
          <a:lstStyle/>
          <a:p>
            <a:pPr indent="0" marL="0">
              <a:buNone/>
            </a:pPr>
            <a:r>
              <a:rPr lang="en-US" sz="1200" dirty="0">
                <a:solidFill>
                  <a:schemeClr val="bg1"/>
                </a:solidFill>
              </a:rPr>
              <a:t>Pass the final check (8 out of 10)</a:t>
            </a:r>
            <a:endParaRPr lang="en-US" sz="12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ile Ca"/>
          <p:cNvSpPr/>
          <p:nvPr/>
        </p:nvSpPr>
        <p:spPr>
          <a:xfrm>
            <a:off x="457200" y="301752"/>
            <a:ext cx="749808" cy="841248"/>
          </a:xfrm>
          <a:prstGeom prst="roundRect">
            <a:avLst>
              <a:gd name="adj" fmla="val 12000"/>
            </a:avLst>
          </a:prstGeom>
          <a:solidFill>
            <a:srgbClr val="FFCB5C">
              <a:alpha val="30000"/>
            </a:srgbClr>
          </a:solidFill>
          <a:ln w="19050">
            <a:solidFill>
              <a:srgbClr val="FFCB5C"/>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20</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Ca</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Done early? Challenge</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Explain it in one sentence each</a:t>
            </a:r>
            <a:endParaRPr lang="en-US" sz="3000" dirty="0"/>
          </a:p>
        </p:txBody>
      </p:sp>
      <p:sp>
        <p:nvSpPr>
          <p:cNvPr id="7" name="Challenge 1"/>
          <p:cNvSpPr/>
          <p:nvPr/>
        </p:nvSpPr>
        <p:spPr>
          <a:xfrm>
            <a:off x="457200" y="1325880"/>
            <a:ext cx="8229600" cy="914400"/>
          </a:xfrm>
          <a:prstGeom prst="roundRect">
            <a:avLst>
              <a:gd name="adj" fmla="val 10000"/>
            </a:avLst>
          </a:prstGeom>
          <a:solidFill>
            <a:schemeClr val="tx2"/>
          </a:solidFill>
          <a:ln w="9525">
            <a:solidFill>
              <a:schemeClr val="bg2">
                <a:alpha val="30000"/>
              </a:schemeClr>
            </a:solidFill>
            <a:prstDash val="solid"/>
          </a:ln>
        </p:spPr>
      </p:sp>
      <p:sp>
        <p:nvSpPr>
          <p:cNvPr id="8" name="Text 6"/>
          <p:cNvSpPr txBox="1"/>
          <p:nvPr/>
        </p:nvSpPr>
        <p:spPr>
          <a:xfrm>
            <a:off x="640080" y="1325880"/>
            <a:ext cx="7863840" cy="914400"/>
          </a:xfrm>
          <a:prstGeom prst="rect">
            <a:avLst/>
          </a:prstGeom>
          <a:noFill/>
          <a:ln/>
        </p:spPr>
        <p:txBody>
          <a:bodyPr wrap="square" lIns="0" tIns="0" rIns="0" bIns="0" rtlCol="0" anchor="ctr"/>
          <a:lstStyle/>
          <a:p>
            <a:pPr indent="0" marL="0">
              <a:buNone/>
            </a:pPr>
            <a:r>
              <a:rPr lang="en-US" sz="1400" b="1" dirty="0">
                <a:solidFill>
                  <a:schemeClr val="bg1"/>
                </a:solidFill>
              </a:rPr>
              <a:t>1. Why does potassium react more easily than lithium?</a:t>
            </a:r>
            <a:endParaRPr lang="en-US" sz="1400" dirty="0"/>
          </a:p>
          <a:p>
            <a:pPr indent="0" marL="0">
              <a:buNone/>
            </a:pPr>
            <a:r>
              <a:rPr lang="en-US" sz="1400" dirty="0">
                <a:solidFill>
                  <a:schemeClr val="accent4"/>
                </a:solidFill>
              </a:rPr>
              <a:t> </a:t>
            </a:r>
            <a:endParaRPr lang="en-US" sz="1400" dirty="0"/>
          </a:p>
        </p:txBody>
      </p:sp>
      <p:sp>
        <p:nvSpPr>
          <p:cNvPr id="9" name="Challenge 2"/>
          <p:cNvSpPr/>
          <p:nvPr/>
        </p:nvSpPr>
        <p:spPr>
          <a:xfrm>
            <a:off x="457200" y="2377440"/>
            <a:ext cx="8229600" cy="914400"/>
          </a:xfrm>
          <a:prstGeom prst="roundRect">
            <a:avLst>
              <a:gd name="adj" fmla="val 10000"/>
            </a:avLst>
          </a:prstGeom>
          <a:solidFill>
            <a:schemeClr val="tx2"/>
          </a:solidFill>
          <a:ln w="9525">
            <a:solidFill>
              <a:schemeClr val="bg2">
                <a:alpha val="30000"/>
              </a:schemeClr>
            </a:solidFill>
            <a:prstDash val="solid"/>
          </a:ln>
        </p:spPr>
      </p:sp>
      <p:sp>
        <p:nvSpPr>
          <p:cNvPr id="10" name="Text 8"/>
          <p:cNvSpPr txBox="1"/>
          <p:nvPr/>
        </p:nvSpPr>
        <p:spPr>
          <a:xfrm>
            <a:off x="640080" y="2377440"/>
            <a:ext cx="7863840" cy="914400"/>
          </a:xfrm>
          <a:prstGeom prst="rect">
            <a:avLst/>
          </a:prstGeom>
          <a:noFill/>
          <a:ln/>
        </p:spPr>
        <p:txBody>
          <a:bodyPr wrap="square" lIns="0" tIns="0" rIns="0" bIns="0" rtlCol="0" anchor="ctr"/>
          <a:lstStyle/>
          <a:p>
            <a:pPr indent="0" marL="0">
              <a:buNone/>
            </a:pPr>
            <a:r>
              <a:rPr lang="en-US" sz="1400" b="1" dirty="0">
                <a:solidFill>
                  <a:schemeClr val="bg1"/>
                </a:solidFill>
              </a:rPr>
              <a:t>2. Why is fluorine the most electronegative element?</a:t>
            </a:r>
            <a:endParaRPr lang="en-US" sz="1400" dirty="0"/>
          </a:p>
          <a:p>
            <a:pPr indent="0" marL="0">
              <a:buNone/>
            </a:pPr>
            <a:r>
              <a:rPr lang="en-US" sz="1400" dirty="0">
                <a:solidFill>
                  <a:schemeClr val="accent4"/>
                </a:solidFill>
              </a:rPr>
              <a:t> </a:t>
            </a:r>
            <a:endParaRPr lang="en-US" sz="1400" dirty="0"/>
          </a:p>
        </p:txBody>
      </p:sp>
      <p:sp>
        <p:nvSpPr>
          <p:cNvPr id="11" name="Challenge 3"/>
          <p:cNvSpPr/>
          <p:nvPr/>
        </p:nvSpPr>
        <p:spPr>
          <a:xfrm>
            <a:off x="457200" y="3429000"/>
            <a:ext cx="8229600" cy="914400"/>
          </a:xfrm>
          <a:prstGeom prst="roundRect">
            <a:avLst>
              <a:gd name="adj" fmla="val 10000"/>
            </a:avLst>
          </a:prstGeom>
          <a:solidFill>
            <a:schemeClr val="tx2"/>
          </a:solidFill>
          <a:ln w="9525">
            <a:solidFill>
              <a:schemeClr val="bg2">
                <a:alpha val="30000"/>
              </a:schemeClr>
            </a:solidFill>
            <a:prstDash val="solid"/>
          </a:ln>
        </p:spPr>
      </p:sp>
      <p:sp>
        <p:nvSpPr>
          <p:cNvPr id="12" name="Text 10"/>
          <p:cNvSpPr txBox="1"/>
          <p:nvPr/>
        </p:nvSpPr>
        <p:spPr>
          <a:xfrm>
            <a:off x="640080" y="3429000"/>
            <a:ext cx="7863840" cy="914400"/>
          </a:xfrm>
          <a:prstGeom prst="rect">
            <a:avLst/>
          </a:prstGeom>
          <a:noFill/>
          <a:ln/>
        </p:spPr>
        <p:txBody>
          <a:bodyPr wrap="square" lIns="0" tIns="0" rIns="0" bIns="0" rtlCol="0" anchor="ctr"/>
          <a:lstStyle/>
          <a:p>
            <a:pPr indent="0" marL="0">
              <a:buNone/>
            </a:pPr>
            <a:r>
              <a:rPr lang="en-US" sz="1400" b="1" dirty="0">
                <a:solidFill>
                  <a:schemeClr val="bg1"/>
                </a:solidFill>
              </a:rPr>
              <a:t>3. Why is argon smaller than sodium?</a:t>
            </a:r>
            <a:endParaRPr lang="en-US" sz="1400" dirty="0"/>
          </a:p>
          <a:p>
            <a:pPr indent="0" marL="0">
              <a:buNone/>
            </a:pPr>
            <a:r>
              <a:rPr lang="en-US" sz="1400" dirty="0">
                <a:solidFill>
                  <a:schemeClr val="accent4"/>
                </a:solidFill>
              </a:rPr>
              <a:t> </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ile Ca"/>
          <p:cNvSpPr/>
          <p:nvPr/>
        </p:nvSpPr>
        <p:spPr>
          <a:xfrm>
            <a:off x="457200" y="301752"/>
            <a:ext cx="749808" cy="841248"/>
          </a:xfrm>
          <a:prstGeom prst="roundRect">
            <a:avLst>
              <a:gd name="adj" fmla="val 12000"/>
            </a:avLst>
          </a:prstGeom>
          <a:solidFill>
            <a:srgbClr val="FFCB5C">
              <a:alpha val="30000"/>
            </a:srgbClr>
          </a:solidFill>
          <a:ln w="19050">
            <a:solidFill>
              <a:srgbClr val="FFCB5C"/>
            </a:solidFill>
            <a:prstDash val="solid"/>
          </a:ln>
        </p:spPr>
      </p:sp>
      <p:sp>
        <p:nvSpPr>
          <p:cNvPr id="3" name="Text 1"/>
          <p:cNvSpPr txBox="1"/>
          <p:nvPr/>
        </p:nvSpPr>
        <p:spPr>
          <a:xfrm>
            <a:off x="517185" y="343814"/>
            <a:ext cx="449885" cy="201900"/>
          </a:xfrm>
          <a:prstGeom prst="rect">
            <a:avLst/>
          </a:prstGeom>
          <a:noFill/>
          <a:ln/>
        </p:spPr>
        <p:txBody>
          <a:bodyPr wrap="square" lIns="0" tIns="0" rIns="0" bIns="0" rtlCol="0" anchor="t"/>
          <a:lstStyle/>
          <a:p>
            <a:pPr indent="0" marL="0">
              <a:buNone/>
            </a:pPr>
            <a:r>
              <a:rPr lang="en-US" sz="1200" dirty="0">
                <a:solidFill>
                  <a:schemeClr val="bg2"/>
                </a:solidFill>
              </a:rPr>
              <a:t>20</a:t>
            </a:r>
            <a:endParaRPr lang="en-US" sz="1200" dirty="0"/>
          </a:p>
        </p:txBody>
      </p:sp>
      <p:sp>
        <p:nvSpPr>
          <p:cNvPr id="4" name="Text 2"/>
          <p:cNvSpPr txBox="1"/>
          <p:nvPr/>
        </p:nvSpPr>
        <p:spPr>
          <a:xfrm>
            <a:off x="457200" y="436352"/>
            <a:ext cx="749808" cy="672998"/>
          </a:xfrm>
          <a:prstGeom prst="rect">
            <a:avLst/>
          </a:prstGeom>
          <a:noFill/>
          <a:ln/>
        </p:spPr>
        <p:txBody>
          <a:bodyPr wrap="square" lIns="0" tIns="0" rIns="0" bIns="0" rtlCol="0" anchor="ctr"/>
          <a:lstStyle/>
          <a:p>
            <a:pPr algn="ctr" indent="0" marL="0">
              <a:buNone/>
            </a:pPr>
            <a:r>
              <a:rPr lang="en-US" sz="3100" b="1" dirty="0">
                <a:solidFill>
                  <a:schemeClr val="bg1"/>
                </a:solidFill>
              </a:rPr>
              <a:t>Ca</a:t>
            </a:r>
            <a:endParaRPr lang="en-US" sz="3100" dirty="0"/>
          </a:p>
        </p:txBody>
      </p:sp>
      <p:sp>
        <p:nvSpPr>
          <p:cNvPr id="5" name="Text 0"/>
          <p:cNvSpPr/>
          <p:nvPr>
            <p:ph idx="100" type="body" hasCustomPrompt="1"/>
          </p:nvPr>
        </p:nvSpPr>
        <p:spPr>
          <a:xfrm>
            <a:off x="1417320" y="329184"/>
            <a:ext cx="7223760" cy="256032"/>
          </a:xfrm>
          <a:prstGeom prst="rect">
            <a:avLst/>
          </a:prstGeom>
          <a:noFill/>
          <a:ln/>
        </p:spPr>
        <p:txBody>
          <a:bodyPr wrap="square" lIns="0" tIns="0" rIns="0" bIns="0" rtlCol="0" anchor="ctr"/>
          <a:lstStyle/>
          <a:p>
            <a:pPr algn="l" indent="0" marL="0">
              <a:buNone/>
            </a:pPr>
            <a:r>
              <a:rPr lang="en-US" sz="1200" dirty="0">
                <a:solidFill>
                  <a:schemeClr val="bg2"/>
                </a:solidFill>
              </a:rPr>
              <a:t>Challenge: answer</a:t>
            </a:r>
            <a:endParaRPr lang="en-US" sz="1200" dirty="0"/>
          </a:p>
        </p:txBody>
      </p:sp>
      <p:sp>
        <p:nvSpPr>
          <p:cNvPr id="6" name="Text 0"/>
          <p:cNvSpPr/>
          <p:nvPr>
            <p:ph idx="101" type="title" hasCustomPrompt="1"/>
          </p:nvPr>
        </p:nvSpPr>
        <p:spPr>
          <a:xfrm>
            <a:off x="1417320" y="603504"/>
            <a:ext cx="7223760" cy="530352"/>
          </a:xfrm>
          <a:prstGeom prst="rect">
            <a:avLst/>
          </a:prstGeom>
          <a:noFill/>
          <a:ln/>
        </p:spPr>
        <p:txBody>
          <a:bodyPr wrap="square" lIns="0" tIns="0" rIns="0" bIns="0" rtlCol="0" anchor="ctr"/>
          <a:lstStyle/>
          <a:p>
            <a:pPr algn="l" indent="0" marL="0">
              <a:buNone/>
            </a:pPr>
            <a:r>
              <a:rPr lang="en-US" sz="3000" b="1" dirty="0">
                <a:solidFill>
                  <a:schemeClr val="bg1"/>
                </a:solidFill>
              </a:rPr>
              <a:t>Explain it in one sentence each</a:t>
            </a:r>
            <a:endParaRPr lang="en-US" sz="3000" dirty="0"/>
          </a:p>
        </p:txBody>
      </p:sp>
      <p:sp>
        <p:nvSpPr>
          <p:cNvPr id="7" name="Challenge 1"/>
          <p:cNvSpPr/>
          <p:nvPr/>
        </p:nvSpPr>
        <p:spPr>
          <a:xfrm>
            <a:off x="457200" y="1325880"/>
            <a:ext cx="8229600" cy="914400"/>
          </a:xfrm>
          <a:prstGeom prst="roundRect">
            <a:avLst>
              <a:gd name="adj" fmla="val 10000"/>
            </a:avLst>
          </a:prstGeom>
          <a:solidFill>
            <a:schemeClr val="tx2"/>
          </a:solidFill>
          <a:ln w="9525">
            <a:solidFill>
              <a:schemeClr val="bg2">
                <a:alpha val="30000"/>
              </a:schemeClr>
            </a:solidFill>
            <a:prstDash val="solid"/>
          </a:ln>
        </p:spPr>
      </p:sp>
      <p:sp>
        <p:nvSpPr>
          <p:cNvPr id="8" name="Text 6"/>
          <p:cNvSpPr txBox="1"/>
          <p:nvPr/>
        </p:nvSpPr>
        <p:spPr>
          <a:xfrm>
            <a:off x="640080" y="1325880"/>
            <a:ext cx="7863840" cy="914400"/>
          </a:xfrm>
          <a:prstGeom prst="rect">
            <a:avLst/>
          </a:prstGeom>
          <a:noFill/>
          <a:ln/>
        </p:spPr>
        <p:txBody>
          <a:bodyPr wrap="square" lIns="0" tIns="0" rIns="0" bIns="0" rtlCol="0" anchor="ctr"/>
          <a:lstStyle/>
          <a:p>
            <a:pPr indent="0" marL="0">
              <a:buNone/>
            </a:pPr>
            <a:r>
              <a:rPr lang="en-US" sz="1400" b="1" dirty="0">
                <a:solidFill>
                  <a:schemeClr val="bg1"/>
                </a:solidFill>
              </a:rPr>
              <a:t>1. Why does potassium react more easily than lithium?</a:t>
            </a:r>
            <a:endParaRPr lang="en-US" sz="1400" dirty="0"/>
          </a:p>
          <a:p>
            <a:pPr indent="0" marL="0">
              <a:buNone/>
            </a:pPr>
            <a:r>
              <a:rPr lang="en-US" sz="1400" dirty="0">
                <a:solidFill>
                  <a:schemeClr val="accent4"/>
                </a:solidFill>
              </a:rPr>
              <a:t>Potassium is larger (more shells), so its outer electron is farther away and easier to remove (lower ionization energy).</a:t>
            </a:r>
            <a:endParaRPr lang="en-US" sz="1400" dirty="0"/>
          </a:p>
        </p:txBody>
      </p:sp>
      <p:sp>
        <p:nvSpPr>
          <p:cNvPr id="9" name="Challenge 2"/>
          <p:cNvSpPr/>
          <p:nvPr/>
        </p:nvSpPr>
        <p:spPr>
          <a:xfrm>
            <a:off x="457200" y="2377440"/>
            <a:ext cx="8229600" cy="914400"/>
          </a:xfrm>
          <a:prstGeom prst="roundRect">
            <a:avLst>
              <a:gd name="adj" fmla="val 10000"/>
            </a:avLst>
          </a:prstGeom>
          <a:solidFill>
            <a:schemeClr val="tx2"/>
          </a:solidFill>
          <a:ln w="9525">
            <a:solidFill>
              <a:schemeClr val="bg2">
                <a:alpha val="30000"/>
              </a:schemeClr>
            </a:solidFill>
            <a:prstDash val="solid"/>
          </a:ln>
        </p:spPr>
      </p:sp>
      <p:sp>
        <p:nvSpPr>
          <p:cNvPr id="10" name="Text 8"/>
          <p:cNvSpPr txBox="1"/>
          <p:nvPr/>
        </p:nvSpPr>
        <p:spPr>
          <a:xfrm>
            <a:off x="640080" y="2377440"/>
            <a:ext cx="7863840" cy="914400"/>
          </a:xfrm>
          <a:prstGeom prst="rect">
            <a:avLst/>
          </a:prstGeom>
          <a:noFill/>
          <a:ln/>
        </p:spPr>
        <p:txBody>
          <a:bodyPr wrap="square" lIns="0" tIns="0" rIns="0" bIns="0" rtlCol="0" anchor="ctr"/>
          <a:lstStyle/>
          <a:p>
            <a:pPr indent="0" marL="0">
              <a:buNone/>
            </a:pPr>
            <a:r>
              <a:rPr lang="en-US" sz="1400" b="1" dirty="0">
                <a:solidFill>
                  <a:schemeClr val="bg1"/>
                </a:solidFill>
              </a:rPr>
              <a:t>2. Why is fluorine the most electronegative element?</a:t>
            </a:r>
            <a:endParaRPr lang="en-US" sz="1400" dirty="0"/>
          </a:p>
          <a:p>
            <a:pPr indent="0" marL="0">
              <a:buNone/>
            </a:pPr>
            <a:r>
              <a:rPr lang="en-US" sz="1400" dirty="0">
                <a:solidFill>
                  <a:schemeClr val="accent4"/>
                </a:solidFill>
              </a:rPr>
              <a:t>It is the smallest atom in group 17 at the top right, so shared electrons get very close to its nucleus.</a:t>
            </a:r>
            <a:endParaRPr lang="en-US" sz="1400" dirty="0"/>
          </a:p>
        </p:txBody>
      </p:sp>
      <p:sp>
        <p:nvSpPr>
          <p:cNvPr id="11" name="Challenge 3"/>
          <p:cNvSpPr/>
          <p:nvPr/>
        </p:nvSpPr>
        <p:spPr>
          <a:xfrm>
            <a:off x="457200" y="3429000"/>
            <a:ext cx="8229600" cy="914400"/>
          </a:xfrm>
          <a:prstGeom prst="roundRect">
            <a:avLst>
              <a:gd name="adj" fmla="val 10000"/>
            </a:avLst>
          </a:prstGeom>
          <a:solidFill>
            <a:schemeClr val="tx2"/>
          </a:solidFill>
          <a:ln w="9525">
            <a:solidFill>
              <a:schemeClr val="bg2">
                <a:alpha val="30000"/>
              </a:schemeClr>
            </a:solidFill>
            <a:prstDash val="solid"/>
          </a:ln>
        </p:spPr>
      </p:sp>
      <p:sp>
        <p:nvSpPr>
          <p:cNvPr id="12" name="Text 10"/>
          <p:cNvSpPr txBox="1"/>
          <p:nvPr/>
        </p:nvSpPr>
        <p:spPr>
          <a:xfrm>
            <a:off x="640080" y="3429000"/>
            <a:ext cx="7863840" cy="914400"/>
          </a:xfrm>
          <a:prstGeom prst="rect">
            <a:avLst/>
          </a:prstGeom>
          <a:noFill/>
          <a:ln/>
        </p:spPr>
        <p:txBody>
          <a:bodyPr wrap="square" lIns="0" tIns="0" rIns="0" bIns="0" rtlCol="0" anchor="ctr"/>
          <a:lstStyle/>
          <a:p>
            <a:pPr indent="0" marL="0">
              <a:buNone/>
            </a:pPr>
            <a:r>
              <a:rPr lang="en-US" sz="1400" b="1" dirty="0">
                <a:solidFill>
                  <a:schemeClr val="bg1"/>
                </a:solidFill>
              </a:rPr>
              <a:t>3. Why is argon smaller than sodium?</a:t>
            </a:r>
            <a:endParaRPr lang="en-US" sz="1400" dirty="0"/>
          </a:p>
          <a:p>
            <a:pPr indent="0" marL="0">
              <a:buNone/>
            </a:pPr>
            <a:r>
              <a:rPr lang="en-US" sz="1400" dirty="0">
                <a:solidFill>
                  <a:schemeClr val="accent4"/>
                </a:solidFill>
              </a:rPr>
              <a:t>Same 3 shells, but 18 protons instead of 11 pull the electrons in tighter.</a:t>
            </a:r>
            <a:endParaRPr lang="en-US" sz="1400" dirty="0"/>
          </a:p>
        </p:txBody>
      </p:sp>
      <p:sp>
        <p:nvSpPr>
          <p:cNvPr id="25" name="Slide Number Placeholder 0"/>
          <p:cNvSpPr>
            <a:spLocks noGrp="1"/>
          </p:cNvSpPr>
          <p:nvPr>
            <p:ph type="sldNum" sz="quarter" idx="4294967295"/>
          </p:nvPr>
        </p:nvSpPr>
        <p:spPr>
          <a:xfrm>
            <a:off x="827532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9BAD6"/>
                </a:solidFill>
              </a:defRPr>
            </a:lvl1pPr>
          </a:lstStyle>
          <a:p>
            <a:pPr algn="r"/>
            <a:fld id="{F7021451-1387-4CA6-816F-3879F97B5CBC}" type="slidenum">
              <a:rPr b="0" lang="en-US"/>
              <a:t>68</a:t>
            </a:fld>
            <a:endParaRPr lang="en-US"/>
          </a:p>
        </p:txBody>
      </p:sp>
    </p:spTree>
  </p:cSld>
  <p:clrMapOvr>
    <a:masterClrMapping/>
  </p:clrMapOvr>
</p:sld>
</file>

<file path=ppt/theme/theme1.xml><?xml version="1.0" encoding="utf-8"?>
<a:theme xmlns:a="http://schemas.openxmlformats.org/drawingml/2006/main" name="Periodic Trends">
  <a:themeElements>
    <a:clrScheme name="Periodic Trends">
      <a:dk1>
        <a:srgbClr val="0D1628"/>
      </a:dk1>
      <a:lt1>
        <a:srgbClr val="FFFFFF"/>
      </a:lt1>
      <a:dk2>
        <a:srgbClr val="18253F"/>
      </a:dk2>
      <a:lt2>
        <a:srgbClr val="A9BAD6"/>
      </a:lt2>
      <a:accent1>
        <a:srgbClr val="5FE1FF"/>
      </a:accent1>
      <a:accent2>
        <a:srgbClr val="F6B93B"/>
      </a:accent2>
      <a:accent3>
        <a:srgbClr val="FF7D66"/>
      </a:accent3>
      <a:accent4>
        <a:srgbClr val="4ADE80"/>
      </a:accent4>
      <a:accent5>
        <a:srgbClr val="A084FF"/>
      </a:accent5>
      <a:accent6>
        <a:srgbClr val="FF8FD0"/>
      </a:accent6>
      <a:hlink>
        <a:srgbClr val="5FE1FF"/>
      </a:hlink>
      <a:folHlink>
        <a:srgbClr val="A084FF"/>
      </a:folHlink>
    </a:clrScheme>
    <a:fontScheme name="Periodic Trend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Periodic Trends</dc:title>
  <dc:subject>Chemistry Unit 2 self-taught lesson walkthrough</dc:subject>
  <dc:creator>PptxGenJS</dc:creator>
  <cp:lastModifiedBy>PptxGenJS</cp:lastModifiedBy>
  <cp:revision>1</cp:revision>
  <dcterms:created xsi:type="dcterms:W3CDTF">2026-10-21T01:12:50Z</dcterms:created>
  <dcterms:modified xsi:type="dcterms:W3CDTF">2026-10-21T01:12:50Z</dcterms:modified>
</cp:coreProperties>
</file>