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6d53c2ec-0b17-29b7-0be6-d37fbcc723d0}">
          <p14:sldIdLst/>
        </p14:section>
        <p14:section name="Default-1" id="{552b46d6-456f-355c-47f8-4985b7241163}">
          <p14:sldIdLst>
            <p14:sldId id="256"/>
          </p14:sldIdLst>
        </p14:section>
        <p14:section name="1 Fireflies" id="{c114ad44-d01c-6df2-3db8-a780df07ef83}">
          <p14:sldIdLst>
            <p14:sldId id="257"/>
            <p14:sldId id="258"/>
            <p14:sldId id="259"/>
            <p14:sldId id="260"/>
            <p14:sldId id="261"/>
          </p14:sldIdLst>
        </p14:section>
        <p14:section name="2 What ATP is" id="{33a64b9f-9483-bb99-ae25-103e516723b4}">
          <p14:sldIdLst>
            <p14:sldId id="262"/>
            <p14:sldId id="263"/>
            <p14:sldId id="264"/>
            <p14:sldId id="265"/>
            <p14:sldId id="266"/>
            <p14:sldId id="267"/>
            <p14:sldId id="268"/>
            <p14:sldId id="269"/>
          </p14:sldIdLst>
        </p14:section>
        <p14:section name="3 ATP cycle" id="{4f5f988f-e0d7-b036-1734-2fbf1856c3f6}">
          <p14:sldIdLst>
            <p14:sldId id="270"/>
            <p14:sldId id="271"/>
            <p14:sldId id="272"/>
            <p14:sldId id="273"/>
            <p14:sldId id="274"/>
            <p14:sldId id="275"/>
            <p14:sldId id="276"/>
            <p14:sldId id="277"/>
            <p14:sldId id="278"/>
            <p14:sldId id="279"/>
          </p14:sldIdLst>
        </p14:section>
        <p14:section name="4 Currency" id="{58cf7135-3a10-2ee9-bd30-ddfe504fb33c}">
          <p14:sldIdLst>
            <p14:sldId id="280"/>
            <p14:sldId id="281"/>
            <p14:sldId id="282"/>
            <p14:sldId id="283"/>
            <p14:sldId id="284"/>
            <p14:sldId id="285"/>
          </p14:sldIdLst>
        </p14:section>
        <p14:section name="5 Cell jobs" id="{c755d8ef-9d16-5ee4-c1c1-c01dabc95473}">
          <p14:sldIdLst>
            <p14:sldId id="286"/>
            <p14:sldId id="287"/>
            <p14:sldId id="288"/>
            <p14:sldId id="289"/>
            <p14:sldId id="290"/>
            <p14:sldId id="291"/>
          </p14:sldIdLst>
        </p14:section>
        <p14:section name="6 Spot the mistake" id="{3a7f4c4c-4cd8-f553-164f-be40a5f2fcc2}">
          <p14:sldIdLst>
            <p14:sldId id="292"/>
            <p14:sldId id="293"/>
            <p14:sldId id="294"/>
            <p14:sldId id="295"/>
            <p14:sldId id="296"/>
            <p14:sldId id="297"/>
            <p14:sldId id="298"/>
            <p14:sldId id="299"/>
            <p14:sldId id="300"/>
            <p14:sldId id="301"/>
            <p14:sldId id="302"/>
            <p14:sldId id="303"/>
            <p14:sldId id="304"/>
            <p14:sldId id="305"/>
            <p14:sldId id="306"/>
            <p14:sldId id="307"/>
            <p14:sldId id="308"/>
            <p14:sldId id="309"/>
          </p14:sldIdLst>
        </p14:section>
        <p14:section name="7 Final check" id="{19c1a912-8e53-195e-fdf5-d7d3dc189b95}">
          <p14:sldIdLst>
            <p14:sldId id="310"/>
            <p14:sldId id="31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work through the lesson on their Chromebooks. Use this deck to go through it together, one section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aloud. Ask: glucose has more energy, so which tube do you predict will glow? Take a quick vote before running the tubes.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a moment to commit to a letter before advancing to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Adding ATP. Only ATP brought back the glow, even though glucose has more energy. Why not the others: "Adding water": Water stayed dark. "Adding glucose (sugar)": Glucose stayed dark, even with more energy. "All three": Only one tube glowed.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ask students to write their first idea in the lesson. Don't explain yet; the rest of the lesson answers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each part: base and sugar (adenosine), then the three phosphates. The energy is in the bonds, especially the last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label spots 1–3 in the lesson. Choices: adenosine, phosphate groups, bond that stores energy, glucose.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adenosine (base + sugar). 2 = phosphate groups. 3 = the bond that stores energy. Glucose is not part of ATP.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a moment to commit to a letter before advancing to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In the chemical bonds between the phosphate groups. ATP stores chemical energy in the bonds between its phosphates. Why not the others: "Inside the sugar only": The usable energy is in the phosphate bonds. "In the water around ATP": Water isn't part of ATP. "In the cell's DNA": DNA stores genetic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a moment to commit to a letter before advancing to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Three phosphate groups. Tri = three. ATP has three phosphate groups. Why not the others: "Three sugars": There is one sugar. "Three bonds to glucose": ATP isn't bonded to glucose. "Three cells": It's one molecule.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 two. Your body recycles about its own weight in ATP each day, so each molecule is used over and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of 4 in the lesson's step-through.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of 4 in the lesson's step-through.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of 4 in the lesson's step-through.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of 4 in the lesson's step-through.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sort in the lesson. Ask a few for their reasoning ("does it tell you which way?") before showing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Respiration (and the light reactions in plants) charge ATP. Almost every job a cell does spends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a moment to commit to a letter before advancing to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ADP and a phosphate group. ATP → ADP + P + energy. The ADP gets recharged later. Why not the others: "Glucose and oxygen": Those are inputs of respiration. "Nothing; ATP is destroyed": ATP is recycled, not destroyed. "Carbon dioxide and water": Those are products of respiration.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vending machine only takes quarters. The cell's machines only take ATP. Respiration "makes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a minute to solve all three before showing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Multiply glucose × ATP per glucose: about 36 with oxygen, 2 with fermentation.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a moment to commit to a letter before advancing to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It directly powers most cell processes with small, ready-to-use amounts of energy. Like money, ATP is the form of energy every cell job can spend. Why not the others: "It stores the cell's genetic information": That's DNA. "It breaks down nutrients into smaller molecules": Respiration breaks down nutrients; ATP is what it produces. "It is only used in muscle cells": Every cell uses ATP.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cell transport: active transport (low → high) costs ATP; diffusion and osmosis (high → low) don't.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sort in the lesson. Ask a few for their reasoning ("does it tell you which way?") before showing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Doing work and moving "uphill" costs ATP; diffusion and osmosis go "downhill" on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a moment to commit to a letter before advancing to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It provides the energy for vital processes like cell division, building proteins, and moving. Every organism needs ATP to run its cells. Why not the others: "It is only needed for muscles in animals": Plants, fungi, and bacteria use ATP too. "It stores oxygen for the cell": ATP doesn't store oxygen. "It is only used during photosynthesis": All organisms use ATP.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a moment to commit to a letter before advancing to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ATP stores energy, not genetic information. DNA stores genetic information; ATP carries energy. Why not the others: "ATP is only found in muscles": Not Jordan's mistake. "ATP has four phosphates": ATP has three phosphates, but that isn't what Jordan said. "Nothing is wrong": Think about what DNA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a moment to commit to a letter before advancing to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In the bonds between its phosphate groups. Chemical energy is stored in the phosphate bonds.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a moment to commit to a letter before advancing to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It becomes ADP + P and gets recharged into ATP. ATP is recycled over and over. Why not the others: "It turns into glucose": ATP doesn't become glucose. "It turns into DNA": ATP doesn't become DNA. "Nothing is wrong": ATP is reused.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a moment to commit to a letter before advancing to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Cellular respiration, using energy from glucose. Respiration uses energy from food to reattach the phosphate.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a moment to commit to a letter before advancing to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The energy must be moved into ATP first; muscle proteins only use ATP. Glucose is the $100 bill; ATP is the quarters. Why not the others: "Muscles use DNA for energy": DNA isn't an energy source. "Muscles don't need energy": Muscles need lots of energy. "Nothing is wrong": Remember the vending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a moment to commit to a letter before advancing to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Cellular respiration. Respiration "makes change" from glucose into ATP.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reread their first idea from Section 1 before answering.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a moment to commit to a letter before advancing to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The glow reaction can only spend ATP, and the ground-up tails couldn't turn glucose into ATP. Cell machines take ATP. Without working cells doing respiration, the glucose couldn't be "changed" into ATP. Why not the others: "Glucose has less energy than ATP": Glucose has more energy, but not in a usable form. "Glucose blocks light": Glucose doesn't block light. "Water was mixed into the glucose": Every tube had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a moment to commit to a letter before advancing to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ADP and phosphate. The glow spent the ATP: ATP → ADP + P + energy (light). Why not the others: "Glucose": ATP doesn't turn back into glucose. "Light bulbs": The light was energy released. "DNA": ATP doesn't become DNA.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take the 10-question final check in the lesson (8 of 10 to pass). It is not shown on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DIVIDER-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6400800" cy="2011680"/>
          </a:xfrm>
          <a:prstGeom prst="rect">
            <a:avLst/>
          </a:prstGeom>
          <a:noFill/>
          <a:ln/>
        </p:spPr>
        <p:txBody>
          <a:bodyPr wrap="square" rtlCol="0"/>
          <a:lstStyle>
            <a:lvl1pPr algn="l" indent="0" marL="0">
              <a:buNone/>
              <a:defRPr lang="en-US" sz="5000" b="1" dirty="0">
                <a:solidFill>
                  <a:schemeClr val="tx1"/>
                </a:solidFill>
              </a:defRPr>
            </a:lvl1pPr>
          </a:lstStyle>
          <a:p>
            <a:pPr algn="l" indent="0" marL="0">
              <a:buNone/>
            </a:pPr>
            <a:endParaRPr lang="en-US" sz="5000" dirty="0"/>
          </a:p>
        </p:txBody>
      </p:sp>
      <p:sp>
        <p:nvSpPr>
          <p:cNvPr id="3" name="Text 0"/>
          <p:cNvSpPr/>
          <p:nvPr>
            <p:ph idx="101" type="body" hasCustomPrompt="1"/>
          </p:nvPr>
        </p:nvSpPr>
        <p:spPr>
          <a:xfrm>
            <a:off x="731520" y="3977640"/>
            <a:ext cx="6400800" cy="1280160"/>
          </a:xfrm>
          <a:prstGeom prst="rect">
            <a:avLst/>
          </a:prstGeom>
          <a:noFill/>
          <a:ln/>
        </p:spPr>
        <p:txBody>
          <a:bodyPr wrap="square" rtlCol="0"/>
          <a:lstStyle>
            <a:lvl1pPr algn="l" indent="0" marL="0">
              <a:buNone/>
              <a:defRPr lang="en-US" sz="2000" dirty="0">
                <a:solidFill>
                  <a:schemeClr val="tx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4114800" y="2240280"/>
            <a:ext cx="7498080" cy="457200"/>
          </a:xfrm>
          <a:prstGeom prst="rect">
            <a:avLst/>
          </a:prstGeom>
          <a:noFill/>
          <a:ln/>
        </p:spPr>
        <p:txBody>
          <a:bodyPr wrap="square" rtlCol="0"/>
          <a:lstStyle>
            <a:lvl1pPr algn="l" indent="0" marL="0">
              <a:buNone/>
              <a:defRPr lang="en-US" sz="2000" dirty="0">
                <a:solidFill>
                  <a:schemeClr val="tx2"/>
                </a:solidFill>
              </a:defRPr>
            </a:lvl1pPr>
          </a:lstStyle>
          <a:p>
            <a:pPr algn="l" indent="0" marL="0">
              <a:buNone/>
            </a:pPr>
            <a:endParaRPr lang="en-US" sz="2000" dirty="0"/>
          </a:p>
        </p:txBody>
      </p:sp>
      <p:sp>
        <p:nvSpPr>
          <p:cNvPr id="3" name="Text 0"/>
          <p:cNvSpPr/>
          <p:nvPr>
            <p:ph idx="101" type="title" hasCustomPrompt="1"/>
          </p:nvPr>
        </p:nvSpPr>
        <p:spPr>
          <a:xfrm>
            <a:off x="4114800" y="2788920"/>
            <a:ext cx="7498080" cy="146304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100" dirty="0">
                <a:solidFill>
                  <a:schemeClr val="tx2"/>
                </a:solidFill>
              </a:rPr>
              <a:t>ATP: The Energy Currency</a:t>
            </a:r>
            <a:endParaRPr lang="en-US" sz="11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4.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6400800" cy="2011680"/>
          </a:xfrm>
          <a:prstGeom prst="rect">
            <a:avLst/>
          </a:prstGeom>
          <a:noFill/>
          <a:ln/>
        </p:spPr>
        <p:txBody>
          <a:bodyPr wrap="square" lIns="0" tIns="0" rIns="0" bIns="0" rtlCol="0" anchor="b"/>
          <a:lstStyle/>
          <a:p>
            <a:pPr algn="l" indent="0" marL="0">
              <a:buNone/>
            </a:pPr>
            <a:r>
              <a:rPr lang="en-US" sz="5000" b="1" dirty="0">
                <a:solidFill>
                  <a:schemeClr val="tx1"/>
                </a:solidFill>
              </a:rPr>
              <a:t>ATP: The Energy Currency</a:t>
            </a:r>
            <a:endParaRPr lang="en-US" sz="5000" dirty="0"/>
          </a:p>
        </p:txBody>
      </p:sp>
      <p:sp>
        <p:nvSpPr>
          <p:cNvPr id="3" name="Text 0"/>
          <p:cNvSpPr/>
          <p:nvPr>
            <p:ph idx="101" type="body" hasCustomPrompt="1"/>
          </p:nvPr>
        </p:nvSpPr>
        <p:spPr>
          <a:xfrm>
            <a:off x="731520" y="3977640"/>
            <a:ext cx="6400800" cy="1280160"/>
          </a:xfrm>
          <a:prstGeom prst="rect">
            <a:avLst/>
          </a:prstGeom>
          <a:noFill/>
          <a:ln/>
        </p:spPr>
        <p:txBody>
          <a:bodyPr wrap="square" lIns="0" tIns="0" rIns="0" bIns="0" rtlCol="0" anchor="t"/>
          <a:lstStyle/>
          <a:p>
            <a:pPr algn="l" indent="0" marL="0">
              <a:buNone/>
            </a:pPr>
            <a:r>
              <a:rPr lang="en-US" sz="2000" dirty="0">
                <a:solidFill>
                  <a:schemeClr val="tx2"/>
                </a:solidFill>
              </a:rPr>
              <a:t>Biology · Unit 2: Energy Flow</a:t>
            </a:r>
            <a:endParaRPr lang="en-US" sz="2000" dirty="0"/>
          </a:p>
          <a:p>
            <a:pPr algn="l" indent="0" marL="0">
              <a:buNone/>
            </a:pPr>
            <a:r>
              <a:rPr lang="en-US" sz="2000" dirty="0">
                <a:solidFill>
                  <a:schemeClr val="tx2"/>
                </a:solidFill>
              </a:rPr>
              <a:t>Why every cell "pays" for its work with ATP</a:t>
            </a:r>
            <a:endParaRPr lang="en-US" sz="2000" dirty="0"/>
          </a:p>
        </p:txBody>
      </p:sp>
      <p:pic>
        <p:nvPicPr>
          <p:cNvPr id="4" name="Image 0" descr="ATP molecule">    </p:cNvPr>
          <p:cNvPicPr>
            <a:picLocks noChangeAspect="1"/>
          </p:cNvPicPr>
          <p:nvPr/>
        </p:nvPicPr>
        <p:blipFill>
          <a:blip r:embed="rId1"/>
          <a:stretch>
            <a:fillRect/>
          </a:stretch>
        </p:blipFill>
        <p:spPr>
          <a:xfrm>
            <a:off x="7498080" y="2191459"/>
            <a:ext cx="4206240" cy="165212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ection tile Fireflies"/>
          <p:cNvSpPr/>
          <p:nvPr/>
        </p:nvSpPr>
        <p:spPr>
          <a:xfrm>
            <a:off x="1097280" y="1783080"/>
            <a:ext cx="2377440" cy="2615184"/>
          </a:xfrm>
          <a:prstGeom prst="roundRect">
            <a:avLst>
              <a:gd name="adj" fmla="val 8000"/>
            </a:avLst>
          </a:prstGeom>
          <a:solidFill>
            <a:schemeClr val="bg2"/>
          </a:solidFill>
          <a:ln w="44450">
            <a:solidFill>
              <a:schemeClr val="accent1"/>
            </a:solidFill>
            <a:prstDash val="solid"/>
          </a:ln>
        </p:spPr>
      </p:sp>
      <p:sp>
        <p:nvSpPr>
          <p:cNvPr id="3" name="Text 1"/>
          <p:cNvSpPr txBox="1"/>
          <p:nvPr/>
        </p:nvSpPr>
        <p:spPr>
          <a:xfrm>
            <a:off x="1263701" y="1901952"/>
            <a:ext cx="950976" cy="427939"/>
          </a:xfrm>
          <a:prstGeom prst="rect">
            <a:avLst/>
          </a:prstGeom>
          <a:noFill/>
          <a:ln/>
        </p:spPr>
        <p:txBody>
          <a:bodyPr wrap="square" lIns="0" tIns="0" rIns="0" bIns="0" rtlCol="0" anchor="ctr"/>
          <a:lstStyle/>
          <a:p>
            <a:pPr indent="0" marL="0">
              <a:buNone/>
            </a:pPr>
            <a:r>
              <a:rPr lang="en-US" sz="2340" dirty="0">
                <a:solidFill>
                  <a:schemeClr val="tx2"/>
                </a:solidFill>
              </a:rPr>
              <a:t>1</a:t>
            </a:r>
            <a:endParaRPr lang="en-US" sz="2340" dirty="0"/>
          </a:p>
        </p:txBody>
      </p:sp>
      <p:pic>
        <p:nvPicPr>
          <p:cNvPr id="4" name="Image 0" descr="Fireflies icon">    </p:cNvPr>
          <p:cNvPicPr>
            <a:picLocks noChangeAspect="1"/>
          </p:cNvPicPr>
          <p:nvPr/>
        </p:nvPicPr>
        <p:blipFill>
          <a:blip r:embed="rId1"/>
          <a:stretch>
            <a:fillRect/>
          </a:stretch>
        </p:blipFill>
        <p:spPr>
          <a:xfrm>
            <a:off x="1691640" y="2258568"/>
            <a:ext cx="1188720" cy="1188720"/>
          </a:xfrm>
          <a:prstGeom prst="rect">
            <a:avLst/>
          </a:prstGeom>
        </p:spPr>
      </p:pic>
      <p:sp>
        <p:nvSpPr>
          <p:cNvPr id="5" name="Text 2"/>
          <p:cNvSpPr txBox="1"/>
          <p:nvPr/>
        </p:nvSpPr>
        <p:spPr>
          <a:xfrm>
            <a:off x="1097280" y="3637483"/>
            <a:ext cx="2377440" cy="523037"/>
          </a:xfrm>
          <a:prstGeom prst="rect">
            <a:avLst/>
          </a:prstGeom>
          <a:noFill/>
          <a:ln/>
        </p:spPr>
        <p:txBody>
          <a:bodyPr wrap="square" lIns="0" tIns="0" rIns="0" bIns="0" rtlCol="0" anchor="ctr"/>
          <a:lstStyle/>
          <a:p>
            <a:pPr algn="ctr" indent="0" marL="0">
              <a:buNone/>
            </a:pPr>
            <a:r>
              <a:rPr lang="en-US" sz="1950" dirty="0">
                <a:solidFill>
                  <a:schemeClr val="tx2"/>
                </a:solidFill>
              </a:rPr>
              <a:t>Fireflies</a:t>
            </a:r>
            <a:endParaRPr lang="en-US" sz="1950" dirty="0"/>
          </a:p>
        </p:txBody>
      </p:sp>
      <p:sp>
        <p:nvSpPr>
          <p:cNvPr id="6" name="Text 0"/>
          <p:cNvSpPr/>
          <p:nvPr>
            <p:ph idx="100" type="body" hasCustomPrompt="1"/>
          </p:nvPr>
        </p:nvSpPr>
        <p:spPr>
          <a:xfrm>
            <a:off x="4114800" y="2240280"/>
            <a:ext cx="7498080" cy="457200"/>
          </a:xfrm>
          <a:prstGeom prst="rect">
            <a:avLst/>
          </a:prstGeom>
          <a:noFill/>
          <a:ln/>
        </p:spPr>
        <p:txBody>
          <a:bodyPr wrap="square" lIns="0" tIns="0" rIns="0" bIns="0" rtlCol="0" anchor="b"/>
          <a:lstStyle/>
          <a:p>
            <a:pPr algn="l" indent="0" marL="0">
              <a:buNone/>
            </a:pPr>
            <a:r>
              <a:rPr lang="en-US" sz="2000" dirty="0">
                <a:solidFill>
                  <a:schemeClr val="tx2"/>
                </a:solidFill>
              </a:rPr>
              <a:t>Section 1 of 7 · about 7 min</a:t>
            </a:r>
            <a:endParaRPr lang="en-US" sz="2000" dirty="0"/>
          </a:p>
        </p:txBody>
      </p:sp>
      <p:sp>
        <p:nvSpPr>
          <p:cNvPr id="7" name="Text 0"/>
          <p:cNvSpPr/>
          <p:nvPr>
            <p:ph idx="101" type="title" hasCustomPrompt="1"/>
          </p:nvPr>
        </p:nvSpPr>
        <p:spPr>
          <a:xfrm>
            <a:off x="4114800" y="2788920"/>
            <a:ext cx="7498080" cy="1463040"/>
          </a:xfrm>
          <a:prstGeom prst="rect">
            <a:avLst/>
          </a:prstGeom>
          <a:noFill/>
          <a:ln/>
        </p:spPr>
        <p:txBody>
          <a:bodyPr wrap="square" lIns="0" tIns="0" rIns="0" bIns="0" rtlCol="0" anchor="t"/>
          <a:lstStyle/>
          <a:p>
            <a:pPr algn="l" indent="0" marL="0">
              <a:buNone/>
            </a:pPr>
            <a:r>
              <a:rPr lang="en-US" sz="4400" b="1" dirty="0">
                <a:solidFill>
                  <a:schemeClr val="tx1"/>
                </a:solidFill>
              </a:rPr>
              <a:t>The firefly glow test</a:t>
            </a:r>
            <a:endParaRPr lang="en-US" sz="4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Phenomenon: the firefly glow test</a:t>
            </a:r>
            <a:endParaRPr lang="en-US" sz="3200" dirty="0"/>
          </a:p>
        </p:txBody>
      </p:sp>
      <p:sp>
        <p:nvSpPr>
          <p:cNvPr id="3" name="tag"/>
          <p:cNvSpPr/>
          <p:nvPr/>
        </p:nvSpPr>
        <p:spPr>
          <a:xfrm>
            <a:off x="548640" y="329184"/>
            <a:ext cx="676656" cy="329184"/>
          </a:xfrm>
          <a:prstGeom prst="roundRect">
            <a:avLst>
              <a:gd name="adj" fmla="val 50000"/>
            </a:avLst>
          </a:prstGeom>
          <a:solidFill>
            <a:schemeClr val="accent3">
              <a:alpha val="18000"/>
            </a:schemeClr>
          </a:solidFill>
          <a:ln w="12700">
            <a:solidFill>
              <a:schemeClr val="accent3"/>
            </a:solidFill>
            <a:prstDash val="solid"/>
          </a:ln>
        </p:spPr>
      </p:sp>
      <p:sp>
        <p:nvSpPr>
          <p:cNvPr id="4" name="Text 2"/>
          <p:cNvSpPr txBox="1"/>
          <p:nvPr/>
        </p:nvSpPr>
        <p:spPr>
          <a:xfrm>
            <a:off x="548640" y="329184"/>
            <a:ext cx="676656" cy="329184"/>
          </a:xfrm>
          <a:prstGeom prst="rect">
            <a:avLst/>
          </a:prstGeom>
          <a:noFill/>
          <a:ln/>
        </p:spPr>
        <p:txBody>
          <a:bodyPr wrap="square" lIns="0" tIns="0" rIns="0" bIns="0" rtlCol="0" anchor="ctr"/>
          <a:lstStyle/>
          <a:p>
            <a:pPr algn="ctr" indent="0" marL="0">
              <a:buNone/>
            </a:pPr>
            <a:r>
              <a:rPr lang="en-US" sz="1300" b="1" dirty="0">
                <a:solidFill>
                  <a:schemeClr val="accent3"/>
                </a:solidFill>
              </a:rPr>
              <a:t>Read</a:t>
            </a:r>
            <a:endParaRPr lang="en-US" sz="1300" dirty="0"/>
          </a:p>
        </p:txBody>
      </p:sp>
      <p:sp>
        <p:nvSpPr>
          <p:cNvPr id="6" name="Text 3"/>
          <p:cNvSpPr txBox="1"/>
          <p:nvPr/>
        </p:nvSpPr>
        <p:spPr>
          <a:xfrm>
            <a:off x="548640" y="1600200"/>
            <a:ext cx="11064240" cy="2011680"/>
          </a:xfrm>
          <a:prstGeom prst="rect">
            <a:avLst/>
          </a:prstGeom>
          <a:noFill/>
          <a:ln/>
        </p:spPr>
        <p:txBody>
          <a:bodyPr wrap="square" lIns="0" tIns="0" rIns="0" bIns="0" rtlCol="0" anchor="t"/>
          <a:lstStyle/>
          <a:p>
            <a:pPr indent="0" marL="0">
              <a:spcAft>
                <a:spcPts val="600"/>
              </a:spcAft>
              <a:buNone/>
            </a:pPr>
            <a:r>
              <a:rPr lang="en-US" sz="2000" dirty="0">
                <a:solidFill>
                  <a:schemeClr val="tx1"/>
                </a:solidFill>
              </a:rPr>
              <a:t>Fireflies make light with chemicals in their tails. In 1947, scientists ground up firefly tails in water. The mixture glowed for a few minutes and then went </a:t>
            </a:r>
            <a:pPr indent="0" marL="0">
              <a:spcAft>
                <a:spcPts val="600"/>
              </a:spcAft>
              <a:buNone/>
            </a:pPr>
            <a:r>
              <a:rPr lang="en-US" sz="2000" b="1" dirty="0">
                <a:solidFill>
                  <a:schemeClr val="tx1"/>
                </a:solidFill>
              </a:rPr>
              <a:t>dark</a:t>
            </a:r>
            <a:pPr indent="0" marL="0">
              <a:spcAft>
                <a:spcPts val="600"/>
              </a:spcAft>
              <a:buNone/>
            </a:pPr>
            <a:r>
              <a:rPr lang="en-US" sz="2000" dirty="0">
                <a:solidFill>
                  <a:schemeClr val="tx1"/>
                </a:solidFill>
              </a:rPr>
              <a:t>.</a:t>
            </a:r>
            <a:endParaRPr lang="en-US" sz="2000" dirty="0"/>
          </a:p>
          <a:p>
            <a:pPr indent="0" marL="0">
              <a:spcAft>
                <a:spcPts val="600"/>
              </a:spcAft>
              <a:buNone/>
            </a:pPr>
            <a:r>
              <a:rPr lang="en-US" sz="2000" dirty="0">
                <a:solidFill>
                  <a:schemeClr val="tx1"/>
                </a:solidFill>
              </a:rPr>
              <a:t> </a:t>
            </a:r>
            <a:endParaRPr lang="en-US" sz="2000" dirty="0"/>
          </a:p>
          <a:p>
            <a:pPr indent="0" marL="0">
              <a:spcAft>
                <a:spcPts val="600"/>
              </a:spcAft>
              <a:buNone/>
            </a:pPr>
            <a:r>
              <a:rPr lang="en-US" sz="2000" dirty="0">
                <a:solidFill>
                  <a:schemeClr val="tx1"/>
                </a:solidFill>
              </a:rPr>
              <a:t>They added different things to three tubes of the dark mixture. </a:t>
            </a:r>
            <a:pPr indent="0" marL="0">
              <a:spcAft>
                <a:spcPts val="600"/>
              </a:spcAft>
              <a:buNone/>
            </a:pPr>
            <a:r>
              <a:rPr lang="en-US" sz="2000" b="1" dirty="0">
                <a:solidFill>
                  <a:schemeClr val="tx1"/>
                </a:solidFill>
              </a:rPr>
              <a:t>Glucose holds much more energy than one molecule of ATP.</a:t>
            </a:r>
            <a:pPr indent="0" marL="0">
              <a:spcAft>
                <a:spcPts val="600"/>
              </a:spcAft>
              <a:buNone/>
            </a:pPr>
            <a:r>
              <a:rPr lang="en-US" sz="2000" dirty="0">
                <a:solidFill>
                  <a:schemeClr val="tx1"/>
                </a:solidFill>
              </a:rPr>
              <a:t> Which one will bring back the glow?</a:t>
            </a:r>
            <a:endParaRPr lang="en-US" sz="2000" dirty="0"/>
          </a:p>
        </p:txBody>
      </p:sp>
      <p:pic>
        <p:nvPicPr>
          <p:cNvPr id="7" name="Image 0" descr="Three tubes of dark firefly extract with buttons to add water, glucose, or ATP">    </p:cNvPr>
          <p:cNvPicPr>
            <a:picLocks noChangeAspect="1"/>
          </p:cNvPicPr>
          <p:nvPr/>
        </p:nvPicPr>
        <p:blipFill>
          <a:blip r:embed="rId1"/>
          <a:stretch>
            <a:fillRect/>
          </a:stretch>
        </p:blipFill>
        <p:spPr>
          <a:xfrm>
            <a:off x="2100943" y="3703320"/>
            <a:ext cx="7959634" cy="2560320"/>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Predict: which tube will glow?</a:t>
            </a:r>
            <a:endParaRPr lang="en-US" sz="3200" dirty="0"/>
          </a:p>
        </p:txBody>
      </p:sp>
      <p:sp>
        <p:nvSpPr>
          <p:cNvPr id="3" name="tag"/>
          <p:cNvSpPr/>
          <p:nvPr/>
        </p:nvSpPr>
        <p:spPr>
          <a:xfrm>
            <a:off x="548640" y="329184"/>
            <a:ext cx="1348740" cy="329184"/>
          </a:xfrm>
          <a:prstGeom prst="roundRect">
            <a:avLst>
              <a:gd name="adj" fmla="val 50000"/>
            </a:avLst>
          </a:prstGeom>
          <a:solidFill>
            <a:schemeClr val="accent6">
              <a:alpha val="18000"/>
            </a:schemeClr>
          </a:solidFill>
          <a:ln w="12700">
            <a:solidFill>
              <a:schemeClr val="accent6"/>
            </a:solidFill>
            <a:prstDash val="solid"/>
          </a:ln>
        </p:spPr>
      </p:sp>
      <p:sp>
        <p:nvSpPr>
          <p:cNvPr id="4" name="Text 2"/>
          <p:cNvSpPr txBox="1"/>
          <p:nvPr/>
        </p:nvSpPr>
        <p:spPr>
          <a:xfrm>
            <a:off x="548640" y="329184"/>
            <a:ext cx="1348740" cy="329184"/>
          </a:xfrm>
          <a:prstGeom prst="rect">
            <a:avLst/>
          </a:prstGeom>
          <a:noFill/>
          <a:ln/>
        </p:spPr>
        <p:txBody>
          <a:bodyPr wrap="square" lIns="0" tIns="0" rIns="0" bIns="0" rtlCol="0" anchor="ctr"/>
          <a:lstStyle/>
          <a:p>
            <a:pPr algn="ctr" indent="0" marL="0">
              <a:buNone/>
            </a:pPr>
            <a:r>
              <a:rPr lang="en-US" sz="1300" b="1" dirty="0">
                <a:solidFill>
                  <a:schemeClr val="accent6"/>
                </a:solidFill>
              </a:rPr>
              <a:t>Quick check</a:t>
            </a:r>
            <a:endParaRPr lang="en-US" sz="1300" dirty="0"/>
          </a:p>
        </p:txBody>
      </p:sp>
      <p:sp>
        <p:nvSpPr>
          <p:cNvPr id="6" name="Text 3"/>
          <p:cNvSpPr txBox="1"/>
          <p:nvPr/>
        </p:nvSpPr>
        <p:spPr>
          <a:xfrm>
            <a:off x="548640" y="1600200"/>
            <a:ext cx="11064240" cy="868680"/>
          </a:xfrm>
          <a:prstGeom prst="rect">
            <a:avLst/>
          </a:prstGeom>
          <a:noFill/>
          <a:ln/>
        </p:spPr>
        <p:txBody>
          <a:bodyPr wrap="square" lIns="0" tIns="0" rIns="0" bIns="0" rtlCol="0" anchor="t"/>
          <a:lstStyle/>
          <a:p>
            <a:pPr indent="0" marL="0">
              <a:spcAft>
                <a:spcPts val="600"/>
              </a:spcAft>
              <a:buNone/>
            </a:pPr>
            <a:r>
              <a:rPr lang="en-US" sz="2400" dirty="0">
                <a:solidFill>
                  <a:schemeClr val="tx1"/>
                </a:solidFill>
              </a:rPr>
              <a:t>Which one will bring the glow back?</a:t>
            </a:r>
            <a:endParaRPr lang="en-US" sz="2400" dirty="0"/>
          </a:p>
        </p:txBody>
      </p:sp>
      <p:sp>
        <p:nvSpPr>
          <p:cNvPr id="7" name="option A"/>
          <p:cNvSpPr/>
          <p:nvPr/>
        </p:nvSpPr>
        <p:spPr>
          <a:xfrm>
            <a:off x="548640" y="2560320"/>
            <a:ext cx="7680960" cy="621792"/>
          </a:xfrm>
          <a:prstGeom prst="roundRect">
            <a:avLst>
              <a:gd name="adj" fmla="val 17647"/>
            </a:avLst>
          </a:prstGeom>
          <a:solidFill>
            <a:schemeClr val="bg2"/>
          </a:solidFill>
          <a:ln w="12700">
            <a:solidFill>
              <a:schemeClr val="bg2"/>
            </a:solidFill>
            <a:prstDash val="solid"/>
          </a:ln>
        </p:spPr>
      </p:sp>
      <p:sp>
        <p:nvSpPr>
          <p:cNvPr id="8" name="letter"/>
          <p:cNvSpPr/>
          <p:nvPr/>
        </p:nvSpPr>
        <p:spPr>
          <a:xfrm>
            <a:off x="713232" y="2679192"/>
            <a:ext cx="384048" cy="384048"/>
          </a:xfrm>
          <a:prstGeom prst="ellipse">
            <a:avLst/>
          </a:prstGeom>
          <a:solidFill>
            <a:schemeClr val="bg1"/>
          </a:solidFill>
          <a:ln w="12700">
            <a:solidFill>
              <a:schemeClr val="bg1"/>
            </a:solidFill>
            <a:prstDash val="solid"/>
          </a:ln>
        </p:spPr>
      </p:sp>
      <p:sp>
        <p:nvSpPr>
          <p:cNvPr id="9" name="Text 6"/>
          <p:cNvSpPr txBox="1"/>
          <p:nvPr/>
        </p:nvSpPr>
        <p:spPr>
          <a:xfrm>
            <a:off x="713232" y="2679192"/>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A</a:t>
            </a:r>
            <a:endParaRPr lang="en-US" sz="1500" dirty="0"/>
          </a:p>
        </p:txBody>
      </p:sp>
      <p:sp>
        <p:nvSpPr>
          <p:cNvPr id="10" name="Text 7"/>
          <p:cNvSpPr txBox="1"/>
          <p:nvPr/>
        </p:nvSpPr>
        <p:spPr>
          <a:xfrm>
            <a:off x="1280160" y="2560320"/>
            <a:ext cx="6355080" cy="621792"/>
          </a:xfrm>
          <a:prstGeom prst="rect">
            <a:avLst/>
          </a:prstGeom>
          <a:noFill/>
          <a:ln/>
        </p:spPr>
        <p:txBody>
          <a:bodyPr wrap="square" lIns="0" tIns="0" rIns="0" bIns="0" rtlCol="0" anchor="ctr"/>
          <a:lstStyle/>
          <a:p>
            <a:pPr indent="0" marL="0">
              <a:buNone/>
            </a:pPr>
            <a:r>
              <a:rPr lang="en-US" sz="2000" dirty="0">
                <a:solidFill>
                  <a:schemeClr val="tx1"/>
                </a:solidFill>
              </a:rPr>
              <a:t>Adding water</a:t>
            </a:r>
            <a:endParaRPr lang="en-US" sz="2000" dirty="0"/>
          </a:p>
        </p:txBody>
      </p:sp>
      <p:sp>
        <p:nvSpPr>
          <p:cNvPr id="11" name="option B"/>
          <p:cNvSpPr/>
          <p:nvPr/>
        </p:nvSpPr>
        <p:spPr>
          <a:xfrm>
            <a:off x="548640" y="3328416"/>
            <a:ext cx="7680960" cy="621792"/>
          </a:xfrm>
          <a:prstGeom prst="roundRect">
            <a:avLst>
              <a:gd name="adj" fmla="val 17647"/>
            </a:avLst>
          </a:prstGeom>
          <a:solidFill>
            <a:schemeClr val="bg2"/>
          </a:solidFill>
          <a:ln w="12700">
            <a:solidFill>
              <a:schemeClr val="bg2"/>
            </a:solidFill>
            <a:prstDash val="solid"/>
          </a:ln>
        </p:spPr>
      </p:sp>
      <p:sp>
        <p:nvSpPr>
          <p:cNvPr id="12" name="letter"/>
          <p:cNvSpPr/>
          <p:nvPr/>
        </p:nvSpPr>
        <p:spPr>
          <a:xfrm>
            <a:off x="713232" y="3447288"/>
            <a:ext cx="384048" cy="384048"/>
          </a:xfrm>
          <a:prstGeom prst="ellipse">
            <a:avLst/>
          </a:prstGeom>
          <a:solidFill>
            <a:schemeClr val="bg1"/>
          </a:solidFill>
          <a:ln w="12700">
            <a:solidFill>
              <a:schemeClr val="bg1"/>
            </a:solidFill>
            <a:prstDash val="solid"/>
          </a:ln>
        </p:spPr>
      </p:sp>
      <p:sp>
        <p:nvSpPr>
          <p:cNvPr id="13" name="Text 10"/>
          <p:cNvSpPr txBox="1"/>
          <p:nvPr/>
        </p:nvSpPr>
        <p:spPr>
          <a:xfrm>
            <a:off x="713232" y="3447288"/>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B</a:t>
            </a:r>
            <a:endParaRPr lang="en-US" sz="1500" dirty="0"/>
          </a:p>
        </p:txBody>
      </p:sp>
      <p:sp>
        <p:nvSpPr>
          <p:cNvPr id="14" name="Text 11"/>
          <p:cNvSpPr txBox="1"/>
          <p:nvPr/>
        </p:nvSpPr>
        <p:spPr>
          <a:xfrm>
            <a:off x="1280160" y="3328416"/>
            <a:ext cx="6355080" cy="621792"/>
          </a:xfrm>
          <a:prstGeom prst="rect">
            <a:avLst/>
          </a:prstGeom>
          <a:noFill/>
          <a:ln/>
        </p:spPr>
        <p:txBody>
          <a:bodyPr wrap="square" lIns="0" tIns="0" rIns="0" bIns="0" rtlCol="0" anchor="ctr"/>
          <a:lstStyle/>
          <a:p>
            <a:pPr indent="0" marL="0">
              <a:buNone/>
            </a:pPr>
            <a:r>
              <a:rPr lang="en-US" sz="2000" dirty="0">
                <a:solidFill>
                  <a:schemeClr val="tx1"/>
                </a:solidFill>
              </a:rPr>
              <a:t>Adding glucose (sugar)</a:t>
            </a:r>
            <a:endParaRPr lang="en-US" sz="2000" dirty="0"/>
          </a:p>
        </p:txBody>
      </p:sp>
      <p:sp>
        <p:nvSpPr>
          <p:cNvPr id="15" name="option C"/>
          <p:cNvSpPr/>
          <p:nvPr/>
        </p:nvSpPr>
        <p:spPr>
          <a:xfrm>
            <a:off x="548640" y="4096512"/>
            <a:ext cx="7680960" cy="621792"/>
          </a:xfrm>
          <a:prstGeom prst="roundRect">
            <a:avLst>
              <a:gd name="adj" fmla="val 17647"/>
            </a:avLst>
          </a:prstGeom>
          <a:solidFill>
            <a:schemeClr val="bg2"/>
          </a:solidFill>
          <a:ln w="12700">
            <a:solidFill>
              <a:schemeClr val="bg2"/>
            </a:solidFill>
            <a:prstDash val="solid"/>
          </a:ln>
        </p:spPr>
      </p:sp>
      <p:sp>
        <p:nvSpPr>
          <p:cNvPr id="16" name="letter"/>
          <p:cNvSpPr/>
          <p:nvPr/>
        </p:nvSpPr>
        <p:spPr>
          <a:xfrm>
            <a:off x="713232" y="4215384"/>
            <a:ext cx="384048" cy="384048"/>
          </a:xfrm>
          <a:prstGeom prst="ellipse">
            <a:avLst/>
          </a:prstGeom>
          <a:solidFill>
            <a:schemeClr val="bg1"/>
          </a:solidFill>
          <a:ln w="12700">
            <a:solidFill>
              <a:schemeClr val="bg1"/>
            </a:solidFill>
            <a:prstDash val="solid"/>
          </a:ln>
        </p:spPr>
      </p:sp>
      <p:sp>
        <p:nvSpPr>
          <p:cNvPr id="17" name="Text 14"/>
          <p:cNvSpPr txBox="1"/>
          <p:nvPr/>
        </p:nvSpPr>
        <p:spPr>
          <a:xfrm>
            <a:off x="713232" y="4215384"/>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C</a:t>
            </a:r>
            <a:endParaRPr lang="en-US" sz="1500" dirty="0"/>
          </a:p>
        </p:txBody>
      </p:sp>
      <p:sp>
        <p:nvSpPr>
          <p:cNvPr id="18" name="Text 15"/>
          <p:cNvSpPr txBox="1"/>
          <p:nvPr/>
        </p:nvSpPr>
        <p:spPr>
          <a:xfrm>
            <a:off x="1280160" y="4096512"/>
            <a:ext cx="6355080" cy="621792"/>
          </a:xfrm>
          <a:prstGeom prst="rect">
            <a:avLst/>
          </a:prstGeom>
          <a:noFill/>
          <a:ln/>
        </p:spPr>
        <p:txBody>
          <a:bodyPr wrap="square" lIns="0" tIns="0" rIns="0" bIns="0" rtlCol="0" anchor="ctr"/>
          <a:lstStyle/>
          <a:p>
            <a:pPr indent="0" marL="0">
              <a:buNone/>
            </a:pPr>
            <a:r>
              <a:rPr lang="en-US" sz="2000" dirty="0">
                <a:solidFill>
                  <a:schemeClr val="tx1"/>
                </a:solidFill>
              </a:rPr>
              <a:t>Adding ATP</a:t>
            </a:r>
            <a:endParaRPr lang="en-US" sz="2000" dirty="0"/>
          </a:p>
        </p:txBody>
      </p:sp>
      <p:sp>
        <p:nvSpPr>
          <p:cNvPr id="19" name="option D"/>
          <p:cNvSpPr/>
          <p:nvPr/>
        </p:nvSpPr>
        <p:spPr>
          <a:xfrm>
            <a:off x="548640" y="4864608"/>
            <a:ext cx="7680960" cy="621792"/>
          </a:xfrm>
          <a:prstGeom prst="roundRect">
            <a:avLst>
              <a:gd name="adj" fmla="val 17647"/>
            </a:avLst>
          </a:prstGeom>
          <a:solidFill>
            <a:schemeClr val="bg2"/>
          </a:solidFill>
          <a:ln w="12700">
            <a:solidFill>
              <a:schemeClr val="bg2"/>
            </a:solidFill>
            <a:prstDash val="solid"/>
          </a:ln>
        </p:spPr>
      </p:sp>
      <p:sp>
        <p:nvSpPr>
          <p:cNvPr id="20" name="letter"/>
          <p:cNvSpPr/>
          <p:nvPr/>
        </p:nvSpPr>
        <p:spPr>
          <a:xfrm>
            <a:off x="713232" y="4983480"/>
            <a:ext cx="384048" cy="384048"/>
          </a:xfrm>
          <a:prstGeom prst="ellipse">
            <a:avLst/>
          </a:prstGeom>
          <a:solidFill>
            <a:schemeClr val="bg1"/>
          </a:solidFill>
          <a:ln w="12700">
            <a:solidFill>
              <a:schemeClr val="bg1"/>
            </a:solidFill>
            <a:prstDash val="solid"/>
          </a:ln>
        </p:spPr>
      </p:sp>
      <p:sp>
        <p:nvSpPr>
          <p:cNvPr id="21" name="Text 18"/>
          <p:cNvSpPr txBox="1"/>
          <p:nvPr/>
        </p:nvSpPr>
        <p:spPr>
          <a:xfrm>
            <a:off x="713232" y="4983480"/>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D</a:t>
            </a:r>
            <a:endParaRPr lang="en-US" sz="1500" dirty="0"/>
          </a:p>
        </p:txBody>
      </p:sp>
      <p:sp>
        <p:nvSpPr>
          <p:cNvPr id="22" name="Text 19"/>
          <p:cNvSpPr txBox="1"/>
          <p:nvPr/>
        </p:nvSpPr>
        <p:spPr>
          <a:xfrm>
            <a:off x="1280160" y="4864608"/>
            <a:ext cx="6355080" cy="621792"/>
          </a:xfrm>
          <a:prstGeom prst="rect">
            <a:avLst/>
          </a:prstGeom>
          <a:noFill/>
          <a:ln/>
        </p:spPr>
        <p:txBody>
          <a:bodyPr wrap="square" lIns="0" tIns="0" rIns="0" bIns="0" rtlCol="0" anchor="ctr"/>
          <a:lstStyle/>
          <a:p>
            <a:pPr indent="0" marL="0">
              <a:buNone/>
            </a:pPr>
            <a:r>
              <a:rPr lang="en-US" sz="2000" dirty="0">
                <a:solidFill>
                  <a:schemeClr val="tx1"/>
                </a:solidFill>
              </a:rPr>
              <a:t>All three</a:t>
            </a:r>
            <a:endParaRPr lang="en-US" sz="2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Predict: which tube will glow?</a:t>
            </a:r>
            <a:endParaRPr lang="en-US" sz="3200" dirty="0"/>
          </a:p>
        </p:txBody>
      </p:sp>
      <p:sp>
        <p:nvSpPr>
          <p:cNvPr id="3" name="tag"/>
          <p:cNvSpPr/>
          <p:nvPr/>
        </p:nvSpPr>
        <p:spPr>
          <a:xfrm>
            <a:off x="548640" y="329184"/>
            <a:ext cx="868680" cy="329184"/>
          </a:xfrm>
          <a:prstGeom prst="roundRect">
            <a:avLst>
              <a:gd name="adj" fmla="val 50000"/>
            </a:avLst>
          </a:prstGeom>
          <a:solidFill>
            <a:schemeClr val="accent5">
              <a:alpha val="18000"/>
            </a:schemeClr>
          </a:solidFill>
          <a:ln w="12700">
            <a:solidFill>
              <a:schemeClr val="accent5"/>
            </a:solidFill>
            <a:prstDash val="solid"/>
          </a:ln>
        </p:spPr>
      </p:sp>
      <p:sp>
        <p:nvSpPr>
          <p:cNvPr id="4" name="Text 2"/>
          <p:cNvSpPr txBox="1"/>
          <p:nvPr/>
        </p:nvSpPr>
        <p:spPr>
          <a:xfrm>
            <a:off x="548640" y="329184"/>
            <a:ext cx="868680" cy="329184"/>
          </a:xfrm>
          <a:prstGeom prst="rect">
            <a:avLst/>
          </a:prstGeom>
          <a:noFill/>
          <a:ln/>
        </p:spPr>
        <p:txBody>
          <a:bodyPr wrap="square" lIns="0" tIns="0" rIns="0" bIns="0" rtlCol="0" anchor="ctr"/>
          <a:lstStyle/>
          <a:p>
            <a:pPr algn="ctr" indent="0" marL="0">
              <a:buNone/>
            </a:pPr>
            <a:r>
              <a:rPr lang="en-US" sz="1300" b="1" dirty="0">
                <a:solidFill>
                  <a:schemeClr val="accent5"/>
                </a:solidFill>
              </a:rPr>
              <a:t>Answer</a:t>
            </a:r>
            <a:endParaRPr lang="en-US" sz="1300" dirty="0"/>
          </a:p>
        </p:txBody>
      </p:sp>
      <p:sp>
        <p:nvSpPr>
          <p:cNvPr id="6" name="Text 3"/>
          <p:cNvSpPr txBox="1"/>
          <p:nvPr/>
        </p:nvSpPr>
        <p:spPr>
          <a:xfrm>
            <a:off x="548640" y="1600200"/>
            <a:ext cx="11064240" cy="868680"/>
          </a:xfrm>
          <a:prstGeom prst="rect">
            <a:avLst/>
          </a:prstGeom>
          <a:noFill/>
          <a:ln/>
        </p:spPr>
        <p:txBody>
          <a:bodyPr wrap="square" lIns="0" tIns="0" rIns="0" bIns="0" rtlCol="0" anchor="t"/>
          <a:lstStyle/>
          <a:p>
            <a:pPr indent="0" marL="0">
              <a:spcAft>
                <a:spcPts val="600"/>
              </a:spcAft>
              <a:buNone/>
            </a:pPr>
            <a:r>
              <a:rPr lang="en-US" sz="2400" dirty="0">
                <a:solidFill>
                  <a:schemeClr val="tx1"/>
                </a:solidFill>
              </a:rPr>
              <a:t>Which one will bring the glow back?</a:t>
            </a:r>
            <a:endParaRPr lang="en-US" sz="2400" dirty="0"/>
          </a:p>
        </p:txBody>
      </p:sp>
      <p:sp>
        <p:nvSpPr>
          <p:cNvPr id="7" name="option A"/>
          <p:cNvSpPr/>
          <p:nvPr/>
        </p:nvSpPr>
        <p:spPr>
          <a:xfrm>
            <a:off x="548640" y="2560320"/>
            <a:ext cx="7680960" cy="621792"/>
          </a:xfrm>
          <a:prstGeom prst="roundRect">
            <a:avLst>
              <a:gd name="adj" fmla="val 17647"/>
            </a:avLst>
          </a:prstGeom>
          <a:solidFill>
            <a:schemeClr val="bg2"/>
          </a:solidFill>
          <a:ln w="12700">
            <a:solidFill>
              <a:schemeClr val="bg2"/>
            </a:solidFill>
            <a:prstDash val="solid"/>
          </a:ln>
        </p:spPr>
      </p:sp>
      <p:sp>
        <p:nvSpPr>
          <p:cNvPr id="8" name="letter"/>
          <p:cNvSpPr/>
          <p:nvPr/>
        </p:nvSpPr>
        <p:spPr>
          <a:xfrm>
            <a:off x="713232" y="2679192"/>
            <a:ext cx="384048" cy="384048"/>
          </a:xfrm>
          <a:prstGeom prst="ellipse">
            <a:avLst/>
          </a:prstGeom>
          <a:solidFill>
            <a:schemeClr val="bg1"/>
          </a:solidFill>
          <a:ln w="12700">
            <a:solidFill>
              <a:schemeClr val="bg1"/>
            </a:solidFill>
            <a:prstDash val="solid"/>
          </a:ln>
        </p:spPr>
      </p:sp>
      <p:sp>
        <p:nvSpPr>
          <p:cNvPr id="9" name="Text 6"/>
          <p:cNvSpPr txBox="1"/>
          <p:nvPr/>
        </p:nvSpPr>
        <p:spPr>
          <a:xfrm>
            <a:off x="713232" y="2679192"/>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A</a:t>
            </a:r>
            <a:endParaRPr lang="en-US" sz="1500" dirty="0"/>
          </a:p>
        </p:txBody>
      </p:sp>
      <p:sp>
        <p:nvSpPr>
          <p:cNvPr id="10" name="Text 7"/>
          <p:cNvSpPr txBox="1"/>
          <p:nvPr/>
        </p:nvSpPr>
        <p:spPr>
          <a:xfrm>
            <a:off x="1280160" y="2560320"/>
            <a:ext cx="6355080" cy="621792"/>
          </a:xfrm>
          <a:prstGeom prst="rect">
            <a:avLst/>
          </a:prstGeom>
          <a:noFill/>
          <a:ln/>
        </p:spPr>
        <p:txBody>
          <a:bodyPr wrap="square" lIns="0" tIns="0" rIns="0" bIns="0" rtlCol="0" anchor="ctr"/>
          <a:lstStyle/>
          <a:p>
            <a:pPr indent="0" marL="0">
              <a:buNone/>
            </a:pPr>
            <a:r>
              <a:rPr lang="en-US" sz="2000" dirty="0">
                <a:solidFill>
                  <a:schemeClr val="tx2"/>
                </a:solidFill>
              </a:rPr>
              <a:t>Adding water</a:t>
            </a:r>
            <a:endParaRPr lang="en-US" sz="2000" dirty="0"/>
          </a:p>
        </p:txBody>
      </p:sp>
      <p:sp>
        <p:nvSpPr>
          <p:cNvPr id="11" name="option B"/>
          <p:cNvSpPr/>
          <p:nvPr/>
        </p:nvSpPr>
        <p:spPr>
          <a:xfrm>
            <a:off x="548640" y="3328416"/>
            <a:ext cx="7680960" cy="621792"/>
          </a:xfrm>
          <a:prstGeom prst="roundRect">
            <a:avLst>
              <a:gd name="adj" fmla="val 17647"/>
            </a:avLst>
          </a:prstGeom>
          <a:solidFill>
            <a:schemeClr val="bg2"/>
          </a:solidFill>
          <a:ln w="12700">
            <a:solidFill>
              <a:schemeClr val="bg2"/>
            </a:solidFill>
            <a:prstDash val="solid"/>
          </a:ln>
        </p:spPr>
      </p:sp>
      <p:sp>
        <p:nvSpPr>
          <p:cNvPr id="12" name="letter"/>
          <p:cNvSpPr/>
          <p:nvPr/>
        </p:nvSpPr>
        <p:spPr>
          <a:xfrm>
            <a:off x="713232" y="3447288"/>
            <a:ext cx="384048" cy="384048"/>
          </a:xfrm>
          <a:prstGeom prst="ellipse">
            <a:avLst/>
          </a:prstGeom>
          <a:solidFill>
            <a:schemeClr val="bg1"/>
          </a:solidFill>
          <a:ln w="12700">
            <a:solidFill>
              <a:schemeClr val="bg1"/>
            </a:solidFill>
            <a:prstDash val="solid"/>
          </a:ln>
        </p:spPr>
      </p:sp>
      <p:sp>
        <p:nvSpPr>
          <p:cNvPr id="13" name="Text 10"/>
          <p:cNvSpPr txBox="1"/>
          <p:nvPr/>
        </p:nvSpPr>
        <p:spPr>
          <a:xfrm>
            <a:off x="713232" y="3447288"/>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B</a:t>
            </a:r>
            <a:endParaRPr lang="en-US" sz="1500" dirty="0"/>
          </a:p>
        </p:txBody>
      </p:sp>
      <p:sp>
        <p:nvSpPr>
          <p:cNvPr id="14" name="Text 11"/>
          <p:cNvSpPr txBox="1"/>
          <p:nvPr/>
        </p:nvSpPr>
        <p:spPr>
          <a:xfrm>
            <a:off x="1280160" y="3328416"/>
            <a:ext cx="6355080" cy="621792"/>
          </a:xfrm>
          <a:prstGeom prst="rect">
            <a:avLst/>
          </a:prstGeom>
          <a:noFill/>
          <a:ln/>
        </p:spPr>
        <p:txBody>
          <a:bodyPr wrap="square" lIns="0" tIns="0" rIns="0" bIns="0" rtlCol="0" anchor="ctr"/>
          <a:lstStyle/>
          <a:p>
            <a:pPr indent="0" marL="0">
              <a:buNone/>
            </a:pPr>
            <a:r>
              <a:rPr lang="en-US" sz="2000" dirty="0">
                <a:solidFill>
                  <a:schemeClr val="tx2"/>
                </a:solidFill>
              </a:rPr>
              <a:t>Adding glucose (sugar)</a:t>
            </a:r>
            <a:endParaRPr lang="en-US" sz="2000" dirty="0"/>
          </a:p>
        </p:txBody>
      </p:sp>
      <p:sp>
        <p:nvSpPr>
          <p:cNvPr id="15" name="option C"/>
          <p:cNvSpPr/>
          <p:nvPr/>
        </p:nvSpPr>
        <p:spPr>
          <a:xfrm>
            <a:off x="548640" y="4096512"/>
            <a:ext cx="7680960" cy="621792"/>
          </a:xfrm>
          <a:prstGeom prst="roundRect">
            <a:avLst>
              <a:gd name="adj" fmla="val 17647"/>
            </a:avLst>
          </a:prstGeom>
          <a:solidFill>
            <a:schemeClr val="accent5">
              <a:alpha val="20000"/>
            </a:schemeClr>
          </a:solidFill>
          <a:ln w="25400">
            <a:solidFill>
              <a:schemeClr val="accent5"/>
            </a:solidFill>
            <a:prstDash val="solid"/>
          </a:ln>
        </p:spPr>
      </p:sp>
      <p:sp>
        <p:nvSpPr>
          <p:cNvPr id="16" name="letter"/>
          <p:cNvSpPr/>
          <p:nvPr/>
        </p:nvSpPr>
        <p:spPr>
          <a:xfrm>
            <a:off x="713232" y="4215384"/>
            <a:ext cx="384048" cy="384048"/>
          </a:xfrm>
          <a:prstGeom prst="ellipse">
            <a:avLst/>
          </a:prstGeom>
          <a:solidFill>
            <a:schemeClr val="accent5"/>
          </a:solidFill>
          <a:ln w="12700">
            <a:solidFill>
              <a:schemeClr val="accent5"/>
            </a:solidFill>
            <a:prstDash val="solid"/>
          </a:ln>
        </p:spPr>
      </p:sp>
      <p:sp>
        <p:nvSpPr>
          <p:cNvPr id="17" name="Text 14"/>
          <p:cNvSpPr txBox="1"/>
          <p:nvPr/>
        </p:nvSpPr>
        <p:spPr>
          <a:xfrm>
            <a:off x="713232" y="4215384"/>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C</a:t>
            </a:r>
            <a:endParaRPr lang="en-US" sz="1500" dirty="0"/>
          </a:p>
        </p:txBody>
      </p:sp>
      <p:sp>
        <p:nvSpPr>
          <p:cNvPr id="18" name="Text 15"/>
          <p:cNvSpPr txBox="1"/>
          <p:nvPr/>
        </p:nvSpPr>
        <p:spPr>
          <a:xfrm>
            <a:off x="1280160" y="4096512"/>
            <a:ext cx="6355080" cy="621792"/>
          </a:xfrm>
          <a:prstGeom prst="rect">
            <a:avLst/>
          </a:prstGeom>
          <a:noFill/>
          <a:ln/>
        </p:spPr>
        <p:txBody>
          <a:bodyPr wrap="square" lIns="0" tIns="0" rIns="0" bIns="0" rtlCol="0" anchor="ctr"/>
          <a:lstStyle/>
          <a:p>
            <a:pPr indent="0" marL="0">
              <a:buNone/>
            </a:pPr>
            <a:r>
              <a:rPr lang="en-US" sz="2000" dirty="0">
                <a:solidFill>
                  <a:schemeClr val="tx1"/>
                </a:solidFill>
              </a:rPr>
              <a:t>Adding ATP</a:t>
            </a:r>
            <a:endParaRPr lang="en-US" sz="2000" dirty="0"/>
          </a:p>
        </p:txBody>
      </p:sp>
      <p:sp>
        <p:nvSpPr>
          <p:cNvPr id="19" name="Text 16"/>
          <p:cNvSpPr txBox="1"/>
          <p:nvPr/>
        </p:nvSpPr>
        <p:spPr>
          <a:xfrm>
            <a:off x="7726680" y="4096512"/>
            <a:ext cx="411480" cy="621792"/>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sp>
        <p:nvSpPr>
          <p:cNvPr id="20" name="option D"/>
          <p:cNvSpPr/>
          <p:nvPr/>
        </p:nvSpPr>
        <p:spPr>
          <a:xfrm>
            <a:off x="548640" y="4864608"/>
            <a:ext cx="7680960" cy="621792"/>
          </a:xfrm>
          <a:prstGeom prst="roundRect">
            <a:avLst>
              <a:gd name="adj" fmla="val 17647"/>
            </a:avLst>
          </a:prstGeom>
          <a:solidFill>
            <a:schemeClr val="bg2"/>
          </a:solidFill>
          <a:ln w="12700">
            <a:solidFill>
              <a:schemeClr val="bg2"/>
            </a:solidFill>
            <a:prstDash val="solid"/>
          </a:ln>
        </p:spPr>
      </p:sp>
      <p:sp>
        <p:nvSpPr>
          <p:cNvPr id="21" name="letter"/>
          <p:cNvSpPr/>
          <p:nvPr/>
        </p:nvSpPr>
        <p:spPr>
          <a:xfrm>
            <a:off x="713232" y="4983480"/>
            <a:ext cx="384048" cy="384048"/>
          </a:xfrm>
          <a:prstGeom prst="ellipse">
            <a:avLst/>
          </a:prstGeom>
          <a:solidFill>
            <a:schemeClr val="bg1"/>
          </a:solidFill>
          <a:ln w="12700">
            <a:solidFill>
              <a:schemeClr val="bg1"/>
            </a:solidFill>
            <a:prstDash val="solid"/>
          </a:ln>
        </p:spPr>
      </p:sp>
      <p:sp>
        <p:nvSpPr>
          <p:cNvPr id="22" name="Text 19"/>
          <p:cNvSpPr txBox="1"/>
          <p:nvPr/>
        </p:nvSpPr>
        <p:spPr>
          <a:xfrm>
            <a:off x="713232" y="4983480"/>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D</a:t>
            </a:r>
            <a:endParaRPr lang="en-US" sz="1500" dirty="0"/>
          </a:p>
        </p:txBody>
      </p:sp>
      <p:sp>
        <p:nvSpPr>
          <p:cNvPr id="23" name="Text 20"/>
          <p:cNvSpPr txBox="1"/>
          <p:nvPr/>
        </p:nvSpPr>
        <p:spPr>
          <a:xfrm>
            <a:off x="1280160" y="4864608"/>
            <a:ext cx="6355080" cy="621792"/>
          </a:xfrm>
          <a:prstGeom prst="rect">
            <a:avLst/>
          </a:prstGeom>
          <a:noFill/>
          <a:ln/>
        </p:spPr>
        <p:txBody>
          <a:bodyPr wrap="square" lIns="0" tIns="0" rIns="0" bIns="0" rtlCol="0" anchor="ctr"/>
          <a:lstStyle/>
          <a:p>
            <a:pPr indent="0" marL="0">
              <a:buNone/>
            </a:pPr>
            <a:r>
              <a:rPr lang="en-US" sz="2000" dirty="0">
                <a:solidFill>
                  <a:schemeClr val="tx2"/>
                </a:solidFill>
              </a:rPr>
              <a:t>All three</a:t>
            </a:r>
            <a:endParaRPr lang="en-US" sz="2000" dirty="0"/>
          </a:p>
        </p:txBody>
      </p:sp>
      <p:sp>
        <p:nvSpPr>
          <p:cNvPr id="24" name="panel"/>
          <p:cNvSpPr/>
          <p:nvPr/>
        </p:nvSpPr>
        <p:spPr>
          <a:xfrm>
            <a:off x="8503920" y="2560320"/>
            <a:ext cx="3136392" cy="2926080"/>
          </a:xfrm>
          <a:prstGeom prst="roundRect">
            <a:avLst>
              <a:gd name="adj" fmla="val 3750"/>
            </a:avLst>
          </a:prstGeom>
          <a:solidFill>
            <a:schemeClr val="accent5">
              <a:alpha val="12000"/>
            </a:schemeClr>
          </a:solidFill>
          <a:ln w="12700">
            <a:solidFill>
              <a:schemeClr val="accent5"/>
            </a:solidFill>
            <a:prstDash val="solid"/>
          </a:ln>
        </p:spPr>
      </p:sp>
      <p:sp>
        <p:nvSpPr>
          <p:cNvPr id="25" name="Text 22"/>
          <p:cNvSpPr txBox="1"/>
          <p:nvPr/>
        </p:nvSpPr>
        <p:spPr>
          <a:xfrm>
            <a:off x="8686800" y="2697480"/>
            <a:ext cx="2788920" cy="265176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Why</a:t>
            </a:r>
            <a:endParaRPr lang="en-US" sz="1700" dirty="0"/>
          </a:p>
          <a:p>
            <a:pPr indent="0" marL="0">
              <a:spcAft>
                <a:spcPts val="600"/>
              </a:spcAft>
              <a:buNone/>
            </a:pPr>
            <a:r>
              <a:rPr lang="en-US" sz="1700" dirty="0">
                <a:solidFill>
                  <a:schemeClr val="tx1"/>
                </a:solidFill>
              </a:rPr>
              <a:t>Only ATP brought back the glow, even though glucose has more energy.</a:t>
            </a:r>
            <a:endParaRPr lang="en-US" sz="17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The result</a:t>
            </a:r>
            <a:endParaRPr lang="en-US" sz="3200" dirty="0"/>
          </a:p>
        </p:txBody>
      </p:sp>
      <p:sp>
        <p:nvSpPr>
          <p:cNvPr id="3" name="tag"/>
          <p:cNvSpPr/>
          <p:nvPr/>
        </p:nvSpPr>
        <p:spPr>
          <a:xfrm>
            <a:off x="548640" y="329184"/>
            <a:ext cx="868680" cy="329184"/>
          </a:xfrm>
          <a:prstGeom prst="roundRect">
            <a:avLst>
              <a:gd name="adj" fmla="val 50000"/>
            </a:avLst>
          </a:prstGeom>
          <a:solidFill>
            <a:schemeClr val="accent5">
              <a:alpha val="18000"/>
            </a:schemeClr>
          </a:solidFill>
          <a:ln w="12700">
            <a:solidFill>
              <a:schemeClr val="accent5"/>
            </a:solidFill>
            <a:prstDash val="solid"/>
          </a:ln>
        </p:spPr>
      </p:sp>
      <p:sp>
        <p:nvSpPr>
          <p:cNvPr id="4" name="Text 2"/>
          <p:cNvSpPr txBox="1"/>
          <p:nvPr/>
        </p:nvSpPr>
        <p:spPr>
          <a:xfrm>
            <a:off x="548640" y="329184"/>
            <a:ext cx="868680" cy="329184"/>
          </a:xfrm>
          <a:prstGeom prst="rect">
            <a:avLst/>
          </a:prstGeom>
          <a:noFill/>
          <a:ln/>
        </p:spPr>
        <p:txBody>
          <a:bodyPr wrap="square" lIns="0" tIns="0" rIns="0" bIns="0" rtlCol="0" anchor="ctr"/>
          <a:lstStyle/>
          <a:p>
            <a:pPr algn="ctr" indent="0" marL="0">
              <a:buNone/>
            </a:pPr>
            <a:r>
              <a:rPr lang="en-US" sz="1300" b="1" dirty="0">
                <a:solidFill>
                  <a:schemeClr val="accent5"/>
                </a:solidFill>
              </a:rPr>
              <a:t>Answer</a:t>
            </a:r>
            <a:endParaRPr lang="en-US" sz="1300" dirty="0"/>
          </a:p>
        </p:txBody>
      </p:sp>
      <p:pic>
        <p:nvPicPr>
          <p:cNvPr id="6" name="Image 0" descr="Water and glucose tubes are still dark; the ATP tube glows">    </p:cNvPr>
          <p:cNvPicPr>
            <a:picLocks noChangeAspect="1"/>
          </p:cNvPicPr>
          <p:nvPr/>
        </p:nvPicPr>
        <p:blipFill>
          <a:blip r:embed="rId1"/>
          <a:stretch>
            <a:fillRect/>
          </a:stretch>
        </p:blipFill>
        <p:spPr>
          <a:xfrm>
            <a:off x="548640" y="1558082"/>
            <a:ext cx="11064240" cy="3558957"/>
          </a:xfrm>
          <a:prstGeom prst="rect">
            <a:avLst/>
          </a:prstGeom>
        </p:spPr>
      </p:pic>
      <p:sp>
        <p:nvSpPr>
          <p:cNvPr id="7" name="panel"/>
          <p:cNvSpPr/>
          <p:nvPr/>
        </p:nvSpPr>
        <p:spPr>
          <a:xfrm>
            <a:off x="548640" y="5257800"/>
            <a:ext cx="11064240" cy="914400"/>
          </a:xfrm>
          <a:prstGeom prst="roundRect">
            <a:avLst>
              <a:gd name="adj" fmla="val 12000"/>
            </a:avLst>
          </a:prstGeom>
          <a:solidFill>
            <a:schemeClr val="accent4">
              <a:alpha val="12000"/>
            </a:schemeClr>
          </a:solidFill>
          <a:ln w="12700">
            <a:solidFill>
              <a:schemeClr val="accent4"/>
            </a:solidFill>
            <a:prstDash val="solid"/>
          </a:ln>
        </p:spPr>
      </p:sp>
      <p:sp>
        <p:nvSpPr>
          <p:cNvPr id="8" name="Text 4"/>
          <p:cNvSpPr txBox="1"/>
          <p:nvPr/>
        </p:nvSpPr>
        <p:spPr>
          <a:xfrm>
            <a:off x="749808" y="5367528"/>
            <a:ext cx="10661904" cy="694944"/>
          </a:xfrm>
          <a:prstGeom prst="rect">
            <a:avLst/>
          </a:prstGeom>
          <a:noFill/>
          <a:ln/>
        </p:spPr>
        <p:txBody>
          <a:bodyPr wrap="square" lIns="0" tIns="0" rIns="0" bIns="0" rtlCol="0" anchor="ctr"/>
          <a:lstStyle/>
          <a:p>
            <a:pPr indent="0" marL="0">
              <a:spcAft>
                <a:spcPts val="600"/>
              </a:spcAft>
              <a:buNone/>
            </a:pPr>
            <a:r>
              <a:rPr lang="en-US" sz="1700" b="1" dirty="0">
                <a:solidFill>
                  <a:schemeClr val="tx1"/>
                </a:solidFill>
              </a:rPr>
              <a:t>Your first idea:</a:t>
            </a:r>
            <a:pPr indent="0" marL="0">
              <a:spcAft>
                <a:spcPts val="600"/>
              </a:spcAft>
              <a:buNone/>
            </a:pPr>
            <a:r>
              <a:rPr lang="en-US" sz="1700" dirty="0">
                <a:solidFill>
                  <a:schemeClr val="tx1"/>
                </a:solidFill>
              </a:rPr>
              <a:t> glucose has more energy. So why did only ATP bring back the glow?</a:t>
            </a:r>
            <a:endParaRPr lang="en-US" sz="17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tile ATP"/>
          <p:cNvSpPr/>
          <p:nvPr/>
        </p:nvSpPr>
        <p:spPr>
          <a:xfrm>
            <a:off x="1097280" y="1783080"/>
            <a:ext cx="2377440" cy="2615184"/>
          </a:xfrm>
          <a:prstGeom prst="roundRect">
            <a:avLst>
              <a:gd name="adj" fmla="val 8000"/>
            </a:avLst>
          </a:prstGeom>
          <a:solidFill>
            <a:schemeClr val="bg2"/>
          </a:solidFill>
          <a:ln w="44450">
            <a:solidFill>
              <a:schemeClr val="accent1"/>
            </a:solidFill>
            <a:prstDash val="solid"/>
          </a:ln>
        </p:spPr>
      </p:sp>
      <p:sp>
        <p:nvSpPr>
          <p:cNvPr id="3" name="Text 1"/>
          <p:cNvSpPr txBox="1"/>
          <p:nvPr/>
        </p:nvSpPr>
        <p:spPr>
          <a:xfrm>
            <a:off x="1263701" y="1901952"/>
            <a:ext cx="950976" cy="427939"/>
          </a:xfrm>
          <a:prstGeom prst="rect">
            <a:avLst/>
          </a:prstGeom>
          <a:noFill/>
          <a:ln/>
        </p:spPr>
        <p:txBody>
          <a:bodyPr wrap="square" lIns="0" tIns="0" rIns="0" bIns="0" rtlCol="0" anchor="ctr"/>
          <a:lstStyle/>
          <a:p>
            <a:pPr indent="0" marL="0">
              <a:buNone/>
            </a:pPr>
            <a:r>
              <a:rPr lang="en-US" sz="2340" dirty="0">
                <a:solidFill>
                  <a:schemeClr val="tx2"/>
                </a:solidFill>
              </a:rPr>
              <a:t>2</a:t>
            </a:r>
            <a:endParaRPr lang="en-US" sz="2340" dirty="0"/>
          </a:p>
        </p:txBody>
      </p:sp>
      <p:pic>
        <p:nvPicPr>
          <p:cNvPr id="4" name="Image 0" descr="ATP icon">    </p:cNvPr>
          <p:cNvPicPr>
            <a:picLocks noChangeAspect="1"/>
          </p:cNvPicPr>
          <p:nvPr/>
        </p:nvPicPr>
        <p:blipFill>
          <a:blip r:embed="rId1"/>
          <a:stretch>
            <a:fillRect/>
          </a:stretch>
        </p:blipFill>
        <p:spPr>
          <a:xfrm>
            <a:off x="1691640" y="2258568"/>
            <a:ext cx="1188720" cy="1188720"/>
          </a:xfrm>
          <a:prstGeom prst="rect">
            <a:avLst/>
          </a:prstGeom>
        </p:spPr>
      </p:pic>
      <p:sp>
        <p:nvSpPr>
          <p:cNvPr id="5" name="Text 2"/>
          <p:cNvSpPr txBox="1"/>
          <p:nvPr/>
        </p:nvSpPr>
        <p:spPr>
          <a:xfrm>
            <a:off x="1097280" y="3637483"/>
            <a:ext cx="2377440" cy="523037"/>
          </a:xfrm>
          <a:prstGeom prst="rect">
            <a:avLst/>
          </a:prstGeom>
          <a:noFill/>
          <a:ln/>
        </p:spPr>
        <p:txBody>
          <a:bodyPr wrap="square" lIns="0" tIns="0" rIns="0" bIns="0" rtlCol="0" anchor="ctr"/>
          <a:lstStyle/>
          <a:p>
            <a:pPr algn="ctr" indent="0" marL="0">
              <a:buNone/>
            </a:pPr>
            <a:r>
              <a:rPr lang="en-US" sz="1950" dirty="0">
                <a:solidFill>
                  <a:schemeClr val="tx2"/>
                </a:solidFill>
              </a:rPr>
              <a:t>ATP</a:t>
            </a:r>
            <a:endParaRPr lang="en-US" sz="1950" dirty="0"/>
          </a:p>
        </p:txBody>
      </p:sp>
      <p:sp>
        <p:nvSpPr>
          <p:cNvPr id="6" name="Text 0"/>
          <p:cNvSpPr/>
          <p:nvPr>
            <p:ph idx="100" type="body" hasCustomPrompt="1"/>
          </p:nvPr>
        </p:nvSpPr>
        <p:spPr>
          <a:xfrm>
            <a:off x="4114800" y="2240280"/>
            <a:ext cx="7498080" cy="457200"/>
          </a:xfrm>
          <a:prstGeom prst="rect">
            <a:avLst/>
          </a:prstGeom>
          <a:noFill/>
          <a:ln/>
        </p:spPr>
        <p:txBody>
          <a:bodyPr wrap="square" lIns="0" tIns="0" rIns="0" bIns="0" rtlCol="0" anchor="b"/>
          <a:lstStyle/>
          <a:p>
            <a:pPr algn="l" indent="0" marL="0">
              <a:buNone/>
            </a:pPr>
            <a:r>
              <a:rPr lang="en-US" sz="2000" dirty="0">
                <a:solidFill>
                  <a:schemeClr val="tx2"/>
                </a:solidFill>
              </a:rPr>
              <a:t>Section 2 of 7 · about 6 min</a:t>
            </a:r>
            <a:endParaRPr lang="en-US" sz="2000" dirty="0"/>
          </a:p>
        </p:txBody>
      </p:sp>
      <p:sp>
        <p:nvSpPr>
          <p:cNvPr id="7" name="Text 0"/>
          <p:cNvSpPr/>
          <p:nvPr>
            <p:ph idx="101" type="title" hasCustomPrompt="1"/>
          </p:nvPr>
        </p:nvSpPr>
        <p:spPr>
          <a:xfrm>
            <a:off x="4114800" y="2788920"/>
            <a:ext cx="7498080" cy="1463040"/>
          </a:xfrm>
          <a:prstGeom prst="rect">
            <a:avLst/>
          </a:prstGeom>
          <a:noFill/>
          <a:ln/>
        </p:spPr>
        <p:txBody>
          <a:bodyPr wrap="square" lIns="0" tIns="0" rIns="0" bIns="0" rtlCol="0" anchor="t"/>
          <a:lstStyle/>
          <a:p>
            <a:pPr algn="l" indent="0" marL="0">
              <a:buNone/>
            </a:pPr>
            <a:r>
              <a:rPr lang="en-US" sz="4400" b="1" dirty="0">
                <a:solidFill>
                  <a:schemeClr val="tx1"/>
                </a:solidFill>
              </a:rPr>
              <a:t>What ATP is</a:t>
            </a:r>
            <a:endParaRPr lang="en-US" sz="4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A molecule built to carry energy</a:t>
            </a:r>
            <a:endParaRPr lang="en-US" sz="3200" dirty="0"/>
          </a:p>
        </p:txBody>
      </p:sp>
      <p:sp>
        <p:nvSpPr>
          <p:cNvPr id="3" name="tag"/>
          <p:cNvSpPr/>
          <p:nvPr/>
        </p:nvSpPr>
        <p:spPr>
          <a:xfrm>
            <a:off x="548640" y="329184"/>
            <a:ext cx="676656" cy="329184"/>
          </a:xfrm>
          <a:prstGeom prst="roundRect">
            <a:avLst>
              <a:gd name="adj" fmla="val 50000"/>
            </a:avLst>
          </a:prstGeom>
          <a:solidFill>
            <a:schemeClr val="accent3">
              <a:alpha val="18000"/>
            </a:schemeClr>
          </a:solidFill>
          <a:ln w="12700">
            <a:solidFill>
              <a:schemeClr val="accent3"/>
            </a:solidFill>
            <a:prstDash val="solid"/>
          </a:ln>
        </p:spPr>
      </p:sp>
      <p:sp>
        <p:nvSpPr>
          <p:cNvPr id="4" name="Text 2"/>
          <p:cNvSpPr txBox="1"/>
          <p:nvPr/>
        </p:nvSpPr>
        <p:spPr>
          <a:xfrm>
            <a:off x="548640" y="329184"/>
            <a:ext cx="676656" cy="329184"/>
          </a:xfrm>
          <a:prstGeom prst="rect">
            <a:avLst/>
          </a:prstGeom>
          <a:noFill/>
          <a:ln/>
        </p:spPr>
        <p:txBody>
          <a:bodyPr wrap="square" lIns="0" tIns="0" rIns="0" bIns="0" rtlCol="0" anchor="ctr"/>
          <a:lstStyle/>
          <a:p>
            <a:pPr algn="ctr" indent="0" marL="0">
              <a:buNone/>
            </a:pPr>
            <a:r>
              <a:rPr lang="en-US" sz="1300" b="1" dirty="0">
                <a:solidFill>
                  <a:schemeClr val="accent3"/>
                </a:solidFill>
              </a:rPr>
              <a:t>Read</a:t>
            </a:r>
            <a:endParaRPr lang="en-US" sz="1300" dirty="0"/>
          </a:p>
        </p:txBody>
      </p:sp>
      <p:sp>
        <p:nvSpPr>
          <p:cNvPr id="6" name="Text 3"/>
          <p:cNvSpPr txBox="1"/>
          <p:nvPr/>
        </p:nvSpPr>
        <p:spPr>
          <a:xfrm>
            <a:off x="548640" y="1600200"/>
            <a:ext cx="4937760" cy="4480560"/>
          </a:xfrm>
          <a:prstGeom prst="rect">
            <a:avLst/>
          </a:prstGeom>
          <a:noFill/>
          <a:ln/>
        </p:spPr>
        <p:txBody>
          <a:bodyPr wrap="square" lIns="0" tIns="0" rIns="0" bIns="0" rtlCol="0" anchor="t"/>
          <a:lstStyle/>
          <a:p>
            <a:pPr indent="0" marL="0">
              <a:spcAft>
                <a:spcPts val="600"/>
              </a:spcAft>
              <a:buNone/>
            </a:pPr>
            <a:r>
              <a:rPr lang="en-US" sz="1900" b="1" dirty="0">
                <a:solidFill>
                  <a:schemeClr val="tx1"/>
                </a:solidFill>
              </a:rPr>
              <a:t>ATP</a:t>
            </a:r>
            <a:pPr indent="0" marL="0">
              <a:spcAft>
                <a:spcPts val="600"/>
              </a:spcAft>
              <a:buNone/>
            </a:pPr>
            <a:r>
              <a:rPr lang="en-US" sz="1900" dirty="0">
                <a:solidFill>
                  <a:schemeClr val="tx1"/>
                </a:solidFill>
              </a:rPr>
              <a:t> = </a:t>
            </a:r>
            <a:pPr indent="0" marL="0">
              <a:spcAft>
                <a:spcPts val="600"/>
              </a:spcAft>
              <a:buNone/>
            </a:pPr>
            <a:r>
              <a:rPr lang="en-US" sz="1900" b="1" dirty="0">
                <a:solidFill>
                  <a:schemeClr val="tx1"/>
                </a:solidFill>
              </a:rPr>
              <a:t>adenosine triphosphate</a:t>
            </a:r>
            <a:endParaRPr lang="en-US" sz="1900" dirty="0"/>
          </a:p>
          <a:p>
            <a:pPr indent="0" marL="0">
              <a:spcAft>
                <a:spcPts val="600"/>
              </a:spcAft>
              <a:buNone/>
            </a:pPr>
            <a:r>
              <a:rPr lang="en-US" sz="1900" dirty="0">
                <a:solidFill>
                  <a:schemeClr val="tx1"/>
                </a:solidFill>
              </a:rPr>
              <a:t>• </a:t>
            </a:r>
            <a:pPr indent="0" marL="0">
              <a:spcAft>
                <a:spcPts val="600"/>
              </a:spcAft>
              <a:buNone/>
            </a:pPr>
            <a:r>
              <a:rPr lang="en-US" sz="1900" b="1" dirty="0">
                <a:solidFill>
                  <a:schemeClr val="tx1"/>
                </a:solidFill>
              </a:rPr>
              <a:t>Adenosine:</a:t>
            </a:r>
            <a:pPr indent="0" marL="0">
              <a:spcAft>
                <a:spcPts val="600"/>
              </a:spcAft>
              <a:buNone/>
            </a:pPr>
            <a:r>
              <a:rPr lang="en-US" sz="1900" dirty="0">
                <a:solidFill>
                  <a:schemeClr val="tx1"/>
                </a:solidFill>
              </a:rPr>
              <a:t> a base attached to a sugar</a:t>
            </a:r>
            <a:endParaRPr lang="en-US" sz="1900" dirty="0"/>
          </a:p>
          <a:p>
            <a:pPr indent="0" marL="0">
              <a:spcAft>
                <a:spcPts val="600"/>
              </a:spcAft>
              <a:buNone/>
            </a:pPr>
            <a:r>
              <a:rPr lang="en-US" sz="1900" dirty="0">
                <a:solidFill>
                  <a:schemeClr val="tx1"/>
                </a:solidFill>
              </a:rPr>
              <a:t>• </a:t>
            </a:r>
            <a:pPr indent="0" marL="0">
              <a:spcAft>
                <a:spcPts val="600"/>
              </a:spcAft>
              <a:buNone/>
            </a:pPr>
            <a:r>
              <a:rPr lang="en-US" sz="1900" b="1" dirty="0">
                <a:solidFill>
                  <a:schemeClr val="tx1"/>
                </a:solidFill>
              </a:rPr>
              <a:t>Three phosphate groups</a:t>
            </a:r>
            <a:pPr indent="0" marL="0">
              <a:spcAft>
                <a:spcPts val="600"/>
              </a:spcAft>
              <a:buNone/>
            </a:pPr>
            <a:r>
              <a:rPr lang="en-US" sz="1900" dirty="0">
                <a:solidFill>
                  <a:schemeClr val="tx1"/>
                </a:solidFill>
              </a:rPr>
              <a:t> ("tri" = three)</a:t>
            </a:r>
            <a:endParaRPr lang="en-US" sz="1900" dirty="0"/>
          </a:p>
          <a:p>
            <a:pPr indent="0" marL="0">
              <a:spcAft>
                <a:spcPts val="600"/>
              </a:spcAft>
              <a:buNone/>
            </a:pPr>
            <a:r>
              <a:rPr lang="en-US" sz="1900" dirty="0">
                <a:solidFill>
                  <a:schemeClr val="tx1"/>
                </a:solidFill>
              </a:rPr>
              <a:t> </a:t>
            </a:r>
            <a:endParaRPr lang="en-US" sz="1900" dirty="0"/>
          </a:p>
          <a:p>
            <a:pPr indent="0" marL="0">
              <a:spcAft>
                <a:spcPts val="600"/>
              </a:spcAft>
              <a:buNone/>
            </a:pPr>
            <a:r>
              <a:rPr lang="en-US" sz="1900" dirty="0">
                <a:solidFill>
                  <a:schemeClr val="tx1"/>
                </a:solidFill>
              </a:rPr>
              <a:t>The energy is </a:t>
            </a:r>
            <a:pPr indent="0" marL="0">
              <a:spcAft>
                <a:spcPts val="600"/>
              </a:spcAft>
              <a:buNone/>
            </a:pPr>
            <a:r>
              <a:rPr lang="en-US" sz="1900" b="1" dirty="0">
                <a:solidFill>
                  <a:schemeClr val="tx1"/>
                </a:solidFill>
              </a:rPr>
              <a:t>chemical energy stored in the bonds</a:t>
            </a:r>
            <a:pPr indent="0" marL="0">
              <a:spcAft>
                <a:spcPts val="600"/>
              </a:spcAft>
              <a:buNone/>
            </a:pPr>
            <a:r>
              <a:rPr lang="en-US" sz="1900" dirty="0">
                <a:solidFill>
                  <a:schemeClr val="tx1"/>
                </a:solidFill>
              </a:rPr>
              <a:t> between the phosphates. The </a:t>
            </a:r>
            <a:pPr indent="0" marL="0">
              <a:spcAft>
                <a:spcPts val="600"/>
              </a:spcAft>
              <a:buNone/>
            </a:pPr>
            <a:r>
              <a:rPr lang="en-US" sz="1900" b="1" dirty="0">
                <a:solidFill>
                  <a:schemeClr val="tx1"/>
                </a:solidFill>
              </a:rPr>
              <a:t>last bond</a:t>
            </a:r>
            <a:pPr indent="0" marL="0">
              <a:spcAft>
                <a:spcPts val="600"/>
              </a:spcAft>
              <a:buNone/>
            </a:pPr>
            <a:r>
              <a:rPr lang="en-US" sz="1900" dirty="0">
                <a:solidFill>
                  <a:schemeClr val="tx1"/>
                </a:solidFill>
              </a:rPr>
              <a:t> is the one the cell usually breaks.</a:t>
            </a:r>
            <a:endParaRPr lang="en-US" sz="1900" dirty="0"/>
          </a:p>
        </p:txBody>
      </p:sp>
      <p:pic>
        <p:nvPicPr>
          <p:cNvPr id="7" name="Image 0" descr="Labeled ATP: adenosine, three phosphate groups, energy stored in the last bond">    </p:cNvPr>
          <p:cNvPicPr>
            <a:picLocks noChangeAspect="1"/>
          </p:cNvPicPr>
          <p:nvPr/>
        </p:nvPicPr>
        <p:blipFill>
          <a:blip r:embed="rId1"/>
          <a:stretch>
            <a:fillRect/>
          </a:stretch>
        </p:blipFill>
        <p:spPr>
          <a:xfrm>
            <a:off x="5669280" y="2673219"/>
            <a:ext cx="5943600" cy="2334521"/>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Try it: label ATP</a:t>
            </a:r>
            <a:endParaRPr lang="en-US" sz="3200" dirty="0"/>
          </a:p>
        </p:txBody>
      </p:sp>
      <p:sp>
        <p:nvSpPr>
          <p:cNvPr id="3" name="tag"/>
          <p:cNvSpPr/>
          <p:nvPr/>
        </p:nvSpPr>
        <p:spPr>
          <a:xfrm>
            <a:off x="548640" y="329184"/>
            <a:ext cx="868680" cy="329184"/>
          </a:xfrm>
          <a:prstGeom prst="roundRect">
            <a:avLst>
              <a:gd name="adj" fmla="val 50000"/>
            </a:avLst>
          </a:prstGeom>
          <a:solidFill>
            <a:schemeClr val="accent5">
              <a:alpha val="18000"/>
            </a:schemeClr>
          </a:solidFill>
          <a:ln w="12700">
            <a:solidFill>
              <a:schemeClr val="accent5"/>
            </a:solidFill>
            <a:prstDash val="solid"/>
          </a:ln>
        </p:spPr>
      </p:sp>
      <p:sp>
        <p:nvSpPr>
          <p:cNvPr id="4" name="Text 2"/>
          <p:cNvSpPr txBox="1"/>
          <p:nvPr/>
        </p:nvSpPr>
        <p:spPr>
          <a:xfrm>
            <a:off x="548640" y="329184"/>
            <a:ext cx="868680" cy="329184"/>
          </a:xfrm>
          <a:prstGeom prst="rect">
            <a:avLst/>
          </a:prstGeom>
          <a:noFill/>
          <a:ln/>
        </p:spPr>
        <p:txBody>
          <a:bodyPr wrap="square" lIns="0" tIns="0" rIns="0" bIns="0" rtlCol="0" anchor="ctr"/>
          <a:lstStyle/>
          <a:p>
            <a:pPr algn="ctr" indent="0" marL="0">
              <a:buNone/>
            </a:pPr>
            <a:r>
              <a:rPr lang="en-US" sz="1300" b="1" dirty="0">
                <a:solidFill>
                  <a:schemeClr val="accent5"/>
                </a:solidFill>
              </a:rPr>
              <a:t>Try it</a:t>
            </a:r>
            <a:endParaRPr lang="en-US" sz="1300" dirty="0"/>
          </a:p>
        </p:txBody>
      </p:sp>
      <p:pic>
        <p:nvPicPr>
          <p:cNvPr id="6" name="Image 0" descr="ATP with numbered spots 1 to 3">    </p:cNvPr>
          <p:cNvPicPr>
            <a:picLocks noChangeAspect="1"/>
          </p:cNvPicPr>
          <p:nvPr/>
        </p:nvPicPr>
        <p:blipFill>
          <a:blip r:embed="rId1"/>
          <a:stretch>
            <a:fillRect/>
          </a:stretch>
        </p:blipFill>
        <p:spPr>
          <a:xfrm>
            <a:off x="548640" y="2464278"/>
            <a:ext cx="6949440" cy="2752404"/>
          </a:xfrm>
          <a:prstGeom prst="rect">
            <a:avLst/>
          </a:prstGeom>
        </p:spPr>
      </p:pic>
      <p:sp>
        <p:nvSpPr>
          <p:cNvPr id="7" name="Text 3"/>
          <p:cNvSpPr txBox="1"/>
          <p:nvPr/>
        </p:nvSpPr>
        <p:spPr>
          <a:xfrm>
            <a:off x="7772400" y="1828800"/>
            <a:ext cx="3840480" cy="4114800"/>
          </a:xfrm>
          <a:prstGeom prst="rect">
            <a:avLst/>
          </a:prstGeom>
          <a:noFill/>
          <a:ln/>
        </p:spPr>
        <p:txBody>
          <a:bodyPr wrap="square" lIns="0" tIns="0" rIns="0" bIns="0" rtlCol="0" anchor="t"/>
          <a:lstStyle/>
          <a:p>
            <a:pPr indent="0" marL="0">
              <a:spcAft>
                <a:spcPts val="600"/>
              </a:spcAft>
              <a:buNone/>
            </a:pPr>
            <a:r>
              <a:rPr lang="en-US" sz="1900" dirty="0">
                <a:solidFill>
                  <a:schemeClr val="tx1"/>
                </a:solidFill>
              </a:rPr>
              <a:t>Label spots </a:t>
            </a:r>
            <a:pPr indent="0" marL="0">
              <a:spcAft>
                <a:spcPts val="600"/>
              </a:spcAft>
              <a:buNone/>
            </a:pPr>
            <a:r>
              <a:rPr lang="en-US" sz="1900" b="1" dirty="0">
                <a:solidFill>
                  <a:schemeClr val="tx1"/>
                </a:solidFill>
              </a:rPr>
              <a:t>1</a:t>
            </a:r>
            <a:pPr indent="0" marL="0">
              <a:spcAft>
                <a:spcPts val="600"/>
              </a:spcAft>
              <a:buNone/>
            </a:pPr>
            <a:r>
              <a:rPr lang="en-US" sz="1900" dirty="0">
                <a:solidFill>
                  <a:schemeClr val="tx1"/>
                </a:solidFill>
              </a:rPr>
              <a:t>, </a:t>
            </a:r>
            <a:pPr indent="0" marL="0">
              <a:spcAft>
                <a:spcPts val="600"/>
              </a:spcAft>
              <a:buNone/>
            </a:pPr>
            <a:r>
              <a:rPr lang="en-US" sz="1900" b="1" dirty="0">
                <a:solidFill>
                  <a:schemeClr val="tx1"/>
                </a:solidFill>
              </a:rPr>
              <a:t>2</a:t>
            </a:r>
            <a:pPr indent="0" marL="0">
              <a:spcAft>
                <a:spcPts val="600"/>
              </a:spcAft>
              <a:buNone/>
            </a:pPr>
            <a:r>
              <a:rPr lang="en-US" sz="1900" dirty="0">
                <a:solidFill>
                  <a:schemeClr val="tx1"/>
                </a:solidFill>
              </a:rPr>
              <a:t>, and </a:t>
            </a:r>
            <a:pPr indent="0" marL="0">
              <a:spcAft>
                <a:spcPts val="600"/>
              </a:spcAft>
              <a:buNone/>
            </a:pPr>
            <a:r>
              <a:rPr lang="en-US" sz="1900" b="1" dirty="0">
                <a:solidFill>
                  <a:schemeClr val="tx1"/>
                </a:solidFill>
              </a:rPr>
              <a:t>3</a:t>
            </a:r>
            <a:pPr indent="0" marL="0">
              <a:spcAft>
                <a:spcPts val="600"/>
              </a:spcAft>
              <a:buNone/>
            </a:pPr>
            <a:r>
              <a:rPr lang="en-US" sz="1900" dirty="0">
                <a:solidFill>
                  <a:schemeClr val="tx1"/>
                </a:solidFill>
              </a:rPr>
              <a:t>.</a:t>
            </a:r>
            <a:endParaRPr lang="en-US" sz="1900" dirty="0"/>
          </a:p>
          <a:p>
            <a:pPr indent="0" marL="0">
              <a:spcAft>
                <a:spcPts val="600"/>
              </a:spcAft>
              <a:buNone/>
            </a:pPr>
            <a:r>
              <a:rPr lang="en-US" sz="1900" dirty="0">
                <a:solidFill>
                  <a:schemeClr val="tx1"/>
                </a:solidFill>
              </a:rPr>
              <a:t> </a:t>
            </a:r>
            <a:endParaRPr lang="en-US" sz="1900" dirty="0"/>
          </a:p>
          <a:p>
            <a:pPr indent="0" marL="0">
              <a:spcAft>
                <a:spcPts val="600"/>
              </a:spcAft>
              <a:buNone/>
            </a:pPr>
            <a:r>
              <a:rPr lang="en-US" sz="1900" dirty="0">
                <a:solidFill>
                  <a:schemeClr val="tx1"/>
                </a:solidFill>
              </a:rPr>
              <a:t>Choices:</a:t>
            </a:r>
            <a:endParaRPr lang="en-US" sz="1900" dirty="0"/>
          </a:p>
          <a:p>
            <a:pPr indent="0" marL="0">
              <a:spcAft>
                <a:spcPts val="600"/>
              </a:spcAft>
              <a:buNone/>
            </a:pPr>
            <a:r>
              <a:rPr lang="en-US" sz="1900" dirty="0">
                <a:solidFill>
                  <a:schemeClr val="tx1"/>
                </a:solidFill>
              </a:rPr>
              <a:t>Adenosine (base + sugar) · Phosphate groups · Bond that stores energy · Glucose</a:t>
            </a:r>
            <a:endParaRPr lang="en-US" sz="19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Try it: label ATP</a:t>
            </a:r>
            <a:endParaRPr lang="en-US" sz="3200" dirty="0"/>
          </a:p>
        </p:txBody>
      </p:sp>
      <p:sp>
        <p:nvSpPr>
          <p:cNvPr id="3" name="tag"/>
          <p:cNvSpPr/>
          <p:nvPr/>
        </p:nvSpPr>
        <p:spPr>
          <a:xfrm>
            <a:off x="548640" y="329184"/>
            <a:ext cx="868680" cy="329184"/>
          </a:xfrm>
          <a:prstGeom prst="roundRect">
            <a:avLst>
              <a:gd name="adj" fmla="val 50000"/>
            </a:avLst>
          </a:prstGeom>
          <a:solidFill>
            <a:schemeClr val="accent5">
              <a:alpha val="18000"/>
            </a:schemeClr>
          </a:solidFill>
          <a:ln w="12700">
            <a:solidFill>
              <a:schemeClr val="accent5"/>
            </a:solidFill>
            <a:prstDash val="solid"/>
          </a:ln>
        </p:spPr>
      </p:sp>
      <p:sp>
        <p:nvSpPr>
          <p:cNvPr id="4" name="Text 2"/>
          <p:cNvSpPr txBox="1"/>
          <p:nvPr/>
        </p:nvSpPr>
        <p:spPr>
          <a:xfrm>
            <a:off x="548640" y="329184"/>
            <a:ext cx="868680" cy="329184"/>
          </a:xfrm>
          <a:prstGeom prst="rect">
            <a:avLst/>
          </a:prstGeom>
          <a:noFill/>
          <a:ln/>
        </p:spPr>
        <p:txBody>
          <a:bodyPr wrap="square" lIns="0" tIns="0" rIns="0" bIns="0" rtlCol="0" anchor="ctr"/>
          <a:lstStyle/>
          <a:p>
            <a:pPr algn="ctr" indent="0" marL="0">
              <a:buNone/>
            </a:pPr>
            <a:r>
              <a:rPr lang="en-US" sz="1300" b="1" dirty="0">
                <a:solidFill>
                  <a:schemeClr val="accent5"/>
                </a:solidFill>
              </a:rPr>
              <a:t>Answer</a:t>
            </a:r>
            <a:endParaRPr lang="en-US" sz="1300" dirty="0"/>
          </a:p>
        </p:txBody>
      </p:sp>
      <p:pic>
        <p:nvPicPr>
          <p:cNvPr id="6" name="Image 0" descr="Answer: labeled ATP">    </p:cNvPr>
          <p:cNvPicPr>
            <a:picLocks noChangeAspect="1"/>
          </p:cNvPicPr>
          <p:nvPr/>
        </p:nvPicPr>
        <p:blipFill>
          <a:blip r:embed="rId1"/>
          <a:stretch>
            <a:fillRect/>
          </a:stretch>
        </p:blipFill>
        <p:spPr>
          <a:xfrm>
            <a:off x="548640" y="2475683"/>
            <a:ext cx="6949440" cy="2729594"/>
          </a:xfrm>
          <a:prstGeom prst="rect">
            <a:avLst/>
          </a:prstGeom>
        </p:spPr>
      </p:pic>
      <p:sp>
        <p:nvSpPr>
          <p:cNvPr id="7" name="Text 3"/>
          <p:cNvSpPr txBox="1"/>
          <p:nvPr/>
        </p:nvSpPr>
        <p:spPr>
          <a:xfrm>
            <a:off x="7772400" y="1828800"/>
            <a:ext cx="3840480" cy="4114800"/>
          </a:xfrm>
          <a:prstGeom prst="rect">
            <a:avLst/>
          </a:prstGeom>
          <a:noFill/>
          <a:ln/>
        </p:spPr>
        <p:txBody>
          <a:bodyPr wrap="square" lIns="0" tIns="0" rIns="0" bIns="0" rtlCol="0" anchor="t"/>
          <a:lstStyle/>
          <a:p>
            <a:pPr indent="0" marL="0">
              <a:spcAft>
                <a:spcPts val="600"/>
              </a:spcAft>
              <a:buNone/>
            </a:pPr>
            <a:r>
              <a:rPr lang="en-US" sz="1900" b="1" dirty="0">
                <a:solidFill>
                  <a:schemeClr val="tx1"/>
                </a:solidFill>
              </a:rPr>
              <a:t>1</a:t>
            </a:r>
            <a:pPr indent="0" marL="0">
              <a:spcAft>
                <a:spcPts val="600"/>
              </a:spcAft>
              <a:buNone/>
            </a:pPr>
            <a:r>
              <a:rPr lang="en-US" sz="1900" dirty="0">
                <a:solidFill>
                  <a:schemeClr val="tx1"/>
                </a:solidFill>
              </a:rPr>
              <a:t> Adenosine (base + sugar)</a:t>
            </a:r>
            <a:endParaRPr lang="en-US" sz="1900" dirty="0"/>
          </a:p>
          <a:p>
            <a:pPr indent="0" marL="0">
              <a:spcAft>
                <a:spcPts val="600"/>
              </a:spcAft>
              <a:buNone/>
            </a:pPr>
            <a:r>
              <a:rPr lang="en-US" sz="1900" b="1" dirty="0">
                <a:solidFill>
                  <a:schemeClr val="tx1"/>
                </a:solidFill>
              </a:rPr>
              <a:t>2</a:t>
            </a:r>
            <a:pPr indent="0" marL="0">
              <a:spcAft>
                <a:spcPts val="600"/>
              </a:spcAft>
              <a:buNone/>
            </a:pPr>
            <a:r>
              <a:rPr lang="en-US" sz="1900" dirty="0">
                <a:solidFill>
                  <a:schemeClr val="tx1"/>
                </a:solidFill>
              </a:rPr>
              <a:t> Phosphate groups</a:t>
            </a:r>
            <a:endParaRPr lang="en-US" sz="1900" dirty="0"/>
          </a:p>
          <a:p>
            <a:pPr indent="0" marL="0">
              <a:spcAft>
                <a:spcPts val="600"/>
              </a:spcAft>
              <a:buNone/>
            </a:pPr>
            <a:r>
              <a:rPr lang="en-US" sz="1900" b="1" dirty="0">
                <a:solidFill>
                  <a:schemeClr val="tx1"/>
                </a:solidFill>
              </a:rPr>
              <a:t>3</a:t>
            </a:r>
            <a:pPr indent="0" marL="0">
              <a:spcAft>
                <a:spcPts val="600"/>
              </a:spcAft>
              <a:buNone/>
            </a:pPr>
            <a:r>
              <a:rPr lang="en-US" sz="1900" dirty="0">
                <a:solidFill>
                  <a:schemeClr val="tx1"/>
                </a:solidFill>
              </a:rPr>
              <a:t> Bond that stores energy</a:t>
            </a:r>
            <a:endParaRPr lang="en-US" sz="19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Quick check</a:t>
            </a:r>
            <a:endParaRPr lang="en-US" sz="3200" dirty="0"/>
          </a:p>
        </p:txBody>
      </p:sp>
      <p:sp>
        <p:nvSpPr>
          <p:cNvPr id="3" name="tag"/>
          <p:cNvSpPr/>
          <p:nvPr/>
        </p:nvSpPr>
        <p:spPr>
          <a:xfrm>
            <a:off x="548640" y="329184"/>
            <a:ext cx="1348740" cy="329184"/>
          </a:xfrm>
          <a:prstGeom prst="roundRect">
            <a:avLst>
              <a:gd name="adj" fmla="val 50000"/>
            </a:avLst>
          </a:prstGeom>
          <a:solidFill>
            <a:schemeClr val="accent6">
              <a:alpha val="18000"/>
            </a:schemeClr>
          </a:solidFill>
          <a:ln w="12700">
            <a:solidFill>
              <a:schemeClr val="accent6"/>
            </a:solidFill>
            <a:prstDash val="solid"/>
          </a:ln>
        </p:spPr>
      </p:sp>
      <p:sp>
        <p:nvSpPr>
          <p:cNvPr id="4" name="Text 2"/>
          <p:cNvSpPr txBox="1"/>
          <p:nvPr/>
        </p:nvSpPr>
        <p:spPr>
          <a:xfrm>
            <a:off x="548640" y="329184"/>
            <a:ext cx="1348740" cy="329184"/>
          </a:xfrm>
          <a:prstGeom prst="rect">
            <a:avLst/>
          </a:prstGeom>
          <a:noFill/>
          <a:ln/>
        </p:spPr>
        <p:txBody>
          <a:bodyPr wrap="square" lIns="0" tIns="0" rIns="0" bIns="0" rtlCol="0" anchor="ctr"/>
          <a:lstStyle/>
          <a:p>
            <a:pPr algn="ctr" indent="0" marL="0">
              <a:buNone/>
            </a:pPr>
            <a:r>
              <a:rPr lang="en-US" sz="1300" b="1" dirty="0">
                <a:solidFill>
                  <a:schemeClr val="accent6"/>
                </a:solidFill>
              </a:rPr>
              <a:t>Quick check</a:t>
            </a:r>
            <a:endParaRPr lang="en-US" sz="1300" dirty="0"/>
          </a:p>
        </p:txBody>
      </p:sp>
      <p:sp>
        <p:nvSpPr>
          <p:cNvPr id="6" name="Text 3"/>
          <p:cNvSpPr txBox="1"/>
          <p:nvPr/>
        </p:nvSpPr>
        <p:spPr>
          <a:xfrm>
            <a:off x="548640" y="1600200"/>
            <a:ext cx="11064240" cy="868680"/>
          </a:xfrm>
          <a:prstGeom prst="rect">
            <a:avLst/>
          </a:prstGeom>
          <a:noFill/>
          <a:ln/>
        </p:spPr>
        <p:txBody>
          <a:bodyPr wrap="square" lIns="0" tIns="0" rIns="0" bIns="0" rtlCol="0" anchor="t"/>
          <a:lstStyle/>
          <a:p>
            <a:pPr indent="0" marL="0">
              <a:spcAft>
                <a:spcPts val="600"/>
              </a:spcAft>
              <a:buNone/>
            </a:pPr>
            <a:r>
              <a:rPr lang="en-US" sz="2400" dirty="0">
                <a:solidFill>
                  <a:schemeClr val="tx1"/>
                </a:solidFill>
              </a:rPr>
              <a:t>Where is the energy in ATP stored?</a:t>
            </a:r>
            <a:endParaRPr lang="en-US" sz="2400" dirty="0"/>
          </a:p>
        </p:txBody>
      </p:sp>
      <p:sp>
        <p:nvSpPr>
          <p:cNvPr id="7" name="option A"/>
          <p:cNvSpPr/>
          <p:nvPr/>
        </p:nvSpPr>
        <p:spPr>
          <a:xfrm>
            <a:off x="548640" y="2560320"/>
            <a:ext cx="7680960" cy="621792"/>
          </a:xfrm>
          <a:prstGeom prst="roundRect">
            <a:avLst>
              <a:gd name="adj" fmla="val 17647"/>
            </a:avLst>
          </a:prstGeom>
          <a:solidFill>
            <a:schemeClr val="bg2"/>
          </a:solidFill>
          <a:ln w="12700">
            <a:solidFill>
              <a:schemeClr val="bg2"/>
            </a:solidFill>
            <a:prstDash val="solid"/>
          </a:ln>
        </p:spPr>
      </p:sp>
      <p:sp>
        <p:nvSpPr>
          <p:cNvPr id="8" name="letter"/>
          <p:cNvSpPr/>
          <p:nvPr/>
        </p:nvSpPr>
        <p:spPr>
          <a:xfrm>
            <a:off x="713232" y="2679192"/>
            <a:ext cx="384048" cy="384048"/>
          </a:xfrm>
          <a:prstGeom prst="ellipse">
            <a:avLst/>
          </a:prstGeom>
          <a:solidFill>
            <a:schemeClr val="bg1"/>
          </a:solidFill>
          <a:ln w="12700">
            <a:solidFill>
              <a:schemeClr val="bg1"/>
            </a:solidFill>
            <a:prstDash val="solid"/>
          </a:ln>
        </p:spPr>
      </p:sp>
      <p:sp>
        <p:nvSpPr>
          <p:cNvPr id="9" name="Text 6"/>
          <p:cNvSpPr txBox="1"/>
          <p:nvPr/>
        </p:nvSpPr>
        <p:spPr>
          <a:xfrm>
            <a:off x="713232" y="2679192"/>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A</a:t>
            </a:r>
            <a:endParaRPr lang="en-US" sz="1500" dirty="0"/>
          </a:p>
        </p:txBody>
      </p:sp>
      <p:sp>
        <p:nvSpPr>
          <p:cNvPr id="10" name="Text 7"/>
          <p:cNvSpPr txBox="1"/>
          <p:nvPr/>
        </p:nvSpPr>
        <p:spPr>
          <a:xfrm>
            <a:off x="1280160" y="2560320"/>
            <a:ext cx="6355080" cy="621792"/>
          </a:xfrm>
          <a:prstGeom prst="rect">
            <a:avLst/>
          </a:prstGeom>
          <a:noFill/>
          <a:ln/>
        </p:spPr>
        <p:txBody>
          <a:bodyPr wrap="square" lIns="0" tIns="0" rIns="0" bIns="0" rtlCol="0" anchor="ctr"/>
          <a:lstStyle/>
          <a:p>
            <a:pPr indent="0" marL="0">
              <a:buNone/>
            </a:pPr>
            <a:r>
              <a:rPr lang="en-US" sz="2000" dirty="0">
                <a:solidFill>
                  <a:schemeClr val="tx1"/>
                </a:solidFill>
              </a:rPr>
              <a:t>Inside the sugar only</a:t>
            </a:r>
            <a:endParaRPr lang="en-US" sz="2000" dirty="0"/>
          </a:p>
        </p:txBody>
      </p:sp>
      <p:sp>
        <p:nvSpPr>
          <p:cNvPr id="11" name="option B"/>
          <p:cNvSpPr/>
          <p:nvPr/>
        </p:nvSpPr>
        <p:spPr>
          <a:xfrm>
            <a:off x="548640" y="3328416"/>
            <a:ext cx="7680960" cy="621792"/>
          </a:xfrm>
          <a:prstGeom prst="roundRect">
            <a:avLst>
              <a:gd name="adj" fmla="val 17647"/>
            </a:avLst>
          </a:prstGeom>
          <a:solidFill>
            <a:schemeClr val="bg2"/>
          </a:solidFill>
          <a:ln w="12700">
            <a:solidFill>
              <a:schemeClr val="bg2"/>
            </a:solidFill>
            <a:prstDash val="solid"/>
          </a:ln>
        </p:spPr>
      </p:sp>
      <p:sp>
        <p:nvSpPr>
          <p:cNvPr id="12" name="letter"/>
          <p:cNvSpPr/>
          <p:nvPr/>
        </p:nvSpPr>
        <p:spPr>
          <a:xfrm>
            <a:off x="713232" y="3447288"/>
            <a:ext cx="384048" cy="384048"/>
          </a:xfrm>
          <a:prstGeom prst="ellipse">
            <a:avLst/>
          </a:prstGeom>
          <a:solidFill>
            <a:schemeClr val="bg1"/>
          </a:solidFill>
          <a:ln w="12700">
            <a:solidFill>
              <a:schemeClr val="bg1"/>
            </a:solidFill>
            <a:prstDash val="solid"/>
          </a:ln>
        </p:spPr>
      </p:sp>
      <p:sp>
        <p:nvSpPr>
          <p:cNvPr id="13" name="Text 10"/>
          <p:cNvSpPr txBox="1"/>
          <p:nvPr/>
        </p:nvSpPr>
        <p:spPr>
          <a:xfrm>
            <a:off x="713232" y="3447288"/>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B</a:t>
            </a:r>
            <a:endParaRPr lang="en-US" sz="1500" dirty="0"/>
          </a:p>
        </p:txBody>
      </p:sp>
      <p:sp>
        <p:nvSpPr>
          <p:cNvPr id="14" name="Text 11"/>
          <p:cNvSpPr txBox="1"/>
          <p:nvPr/>
        </p:nvSpPr>
        <p:spPr>
          <a:xfrm>
            <a:off x="1280160" y="3328416"/>
            <a:ext cx="6355080" cy="621792"/>
          </a:xfrm>
          <a:prstGeom prst="rect">
            <a:avLst/>
          </a:prstGeom>
          <a:noFill/>
          <a:ln/>
        </p:spPr>
        <p:txBody>
          <a:bodyPr wrap="square" lIns="0" tIns="0" rIns="0" bIns="0" rtlCol="0" anchor="ctr"/>
          <a:lstStyle/>
          <a:p>
            <a:pPr indent="0" marL="0">
              <a:buNone/>
            </a:pPr>
            <a:r>
              <a:rPr lang="en-US" sz="2000" dirty="0">
                <a:solidFill>
                  <a:schemeClr val="tx1"/>
                </a:solidFill>
              </a:rPr>
              <a:t>In the water around ATP</a:t>
            </a:r>
            <a:endParaRPr lang="en-US" sz="2000" dirty="0"/>
          </a:p>
        </p:txBody>
      </p:sp>
      <p:sp>
        <p:nvSpPr>
          <p:cNvPr id="15" name="option C"/>
          <p:cNvSpPr/>
          <p:nvPr/>
        </p:nvSpPr>
        <p:spPr>
          <a:xfrm>
            <a:off x="548640" y="4096512"/>
            <a:ext cx="7680960" cy="621792"/>
          </a:xfrm>
          <a:prstGeom prst="roundRect">
            <a:avLst>
              <a:gd name="adj" fmla="val 17647"/>
            </a:avLst>
          </a:prstGeom>
          <a:solidFill>
            <a:schemeClr val="bg2"/>
          </a:solidFill>
          <a:ln w="12700">
            <a:solidFill>
              <a:schemeClr val="bg2"/>
            </a:solidFill>
            <a:prstDash val="solid"/>
          </a:ln>
        </p:spPr>
      </p:sp>
      <p:sp>
        <p:nvSpPr>
          <p:cNvPr id="16" name="letter"/>
          <p:cNvSpPr/>
          <p:nvPr/>
        </p:nvSpPr>
        <p:spPr>
          <a:xfrm>
            <a:off x="713232" y="4215384"/>
            <a:ext cx="384048" cy="384048"/>
          </a:xfrm>
          <a:prstGeom prst="ellipse">
            <a:avLst/>
          </a:prstGeom>
          <a:solidFill>
            <a:schemeClr val="bg1"/>
          </a:solidFill>
          <a:ln w="12700">
            <a:solidFill>
              <a:schemeClr val="bg1"/>
            </a:solidFill>
            <a:prstDash val="solid"/>
          </a:ln>
        </p:spPr>
      </p:sp>
      <p:sp>
        <p:nvSpPr>
          <p:cNvPr id="17" name="Text 14"/>
          <p:cNvSpPr txBox="1"/>
          <p:nvPr/>
        </p:nvSpPr>
        <p:spPr>
          <a:xfrm>
            <a:off x="713232" y="4215384"/>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C</a:t>
            </a:r>
            <a:endParaRPr lang="en-US" sz="1500" dirty="0"/>
          </a:p>
        </p:txBody>
      </p:sp>
      <p:sp>
        <p:nvSpPr>
          <p:cNvPr id="18" name="Text 15"/>
          <p:cNvSpPr txBox="1"/>
          <p:nvPr/>
        </p:nvSpPr>
        <p:spPr>
          <a:xfrm>
            <a:off x="1280160" y="4096512"/>
            <a:ext cx="6355080" cy="621792"/>
          </a:xfrm>
          <a:prstGeom prst="rect">
            <a:avLst/>
          </a:prstGeom>
          <a:noFill/>
          <a:ln/>
        </p:spPr>
        <p:txBody>
          <a:bodyPr wrap="square" lIns="0" tIns="0" rIns="0" bIns="0" rtlCol="0" anchor="ctr"/>
          <a:lstStyle/>
          <a:p>
            <a:pPr indent="0" marL="0">
              <a:buNone/>
            </a:pPr>
            <a:r>
              <a:rPr lang="en-US" sz="2000" dirty="0">
                <a:solidFill>
                  <a:schemeClr val="tx1"/>
                </a:solidFill>
              </a:rPr>
              <a:t>In the cell's DNA</a:t>
            </a:r>
            <a:endParaRPr lang="en-US" sz="2000" dirty="0"/>
          </a:p>
        </p:txBody>
      </p:sp>
      <p:sp>
        <p:nvSpPr>
          <p:cNvPr id="19" name="option D"/>
          <p:cNvSpPr/>
          <p:nvPr/>
        </p:nvSpPr>
        <p:spPr>
          <a:xfrm>
            <a:off x="548640" y="4864608"/>
            <a:ext cx="7680960" cy="621792"/>
          </a:xfrm>
          <a:prstGeom prst="roundRect">
            <a:avLst>
              <a:gd name="adj" fmla="val 17647"/>
            </a:avLst>
          </a:prstGeom>
          <a:solidFill>
            <a:schemeClr val="bg2"/>
          </a:solidFill>
          <a:ln w="12700">
            <a:solidFill>
              <a:schemeClr val="bg2"/>
            </a:solidFill>
            <a:prstDash val="solid"/>
          </a:ln>
        </p:spPr>
      </p:sp>
      <p:sp>
        <p:nvSpPr>
          <p:cNvPr id="20" name="letter"/>
          <p:cNvSpPr/>
          <p:nvPr/>
        </p:nvSpPr>
        <p:spPr>
          <a:xfrm>
            <a:off x="713232" y="4983480"/>
            <a:ext cx="384048" cy="384048"/>
          </a:xfrm>
          <a:prstGeom prst="ellipse">
            <a:avLst/>
          </a:prstGeom>
          <a:solidFill>
            <a:schemeClr val="bg1"/>
          </a:solidFill>
          <a:ln w="12700">
            <a:solidFill>
              <a:schemeClr val="bg1"/>
            </a:solidFill>
            <a:prstDash val="solid"/>
          </a:ln>
        </p:spPr>
      </p:sp>
      <p:sp>
        <p:nvSpPr>
          <p:cNvPr id="21" name="Text 18"/>
          <p:cNvSpPr txBox="1"/>
          <p:nvPr/>
        </p:nvSpPr>
        <p:spPr>
          <a:xfrm>
            <a:off x="713232" y="4983480"/>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D</a:t>
            </a:r>
            <a:endParaRPr lang="en-US" sz="1500" dirty="0"/>
          </a:p>
        </p:txBody>
      </p:sp>
      <p:sp>
        <p:nvSpPr>
          <p:cNvPr id="22" name="Text 19"/>
          <p:cNvSpPr txBox="1"/>
          <p:nvPr/>
        </p:nvSpPr>
        <p:spPr>
          <a:xfrm>
            <a:off x="1280160" y="4864608"/>
            <a:ext cx="6355080" cy="621792"/>
          </a:xfrm>
          <a:prstGeom prst="rect">
            <a:avLst/>
          </a:prstGeom>
          <a:noFill/>
          <a:ln/>
        </p:spPr>
        <p:txBody>
          <a:bodyPr wrap="square" lIns="0" tIns="0" rIns="0" bIns="0" rtlCol="0" anchor="ctr"/>
          <a:lstStyle/>
          <a:p>
            <a:pPr indent="0" marL="0">
              <a:buNone/>
            </a:pPr>
            <a:r>
              <a:rPr lang="en-US" sz="2000" dirty="0">
                <a:solidFill>
                  <a:schemeClr val="tx1"/>
                </a:solidFill>
              </a:rPr>
              <a:t>In the chemical bonds between the phosphate groups</a:t>
            </a:r>
            <a:endParaRPr lang="en-US" sz="2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Quick check</a:t>
            </a:r>
            <a:endParaRPr lang="en-US" sz="3200" dirty="0"/>
          </a:p>
        </p:txBody>
      </p:sp>
      <p:sp>
        <p:nvSpPr>
          <p:cNvPr id="3" name="tag"/>
          <p:cNvSpPr/>
          <p:nvPr/>
        </p:nvSpPr>
        <p:spPr>
          <a:xfrm>
            <a:off x="548640" y="329184"/>
            <a:ext cx="868680" cy="329184"/>
          </a:xfrm>
          <a:prstGeom prst="roundRect">
            <a:avLst>
              <a:gd name="adj" fmla="val 50000"/>
            </a:avLst>
          </a:prstGeom>
          <a:solidFill>
            <a:schemeClr val="accent5">
              <a:alpha val="18000"/>
            </a:schemeClr>
          </a:solidFill>
          <a:ln w="12700">
            <a:solidFill>
              <a:schemeClr val="accent5"/>
            </a:solidFill>
            <a:prstDash val="solid"/>
          </a:ln>
        </p:spPr>
      </p:sp>
      <p:sp>
        <p:nvSpPr>
          <p:cNvPr id="4" name="Text 2"/>
          <p:cNvSpPr txBox="1"/>
          <p:nvPr/>
        </p:nvSpPr>
        <p:spPr>
          <a:xfrm>
            <a:off x="548640" y="329184"/>
            <a:ext cx="868680" cy="329184"/>
          </a:xfrm>
          <a:prstGeom prst="rect">
            <a:avLst/>
          </a:prstGeom>
          <a:noFill/>
          <a:ln/>
        </p:spPr>
        <p:txBody>
          <a:bodyPr wrap="square" lIns="0" tIns="0" rIns="0" bIns="0" rtlCol="0" anchor="ctr"/>
          <a:lstStyle/>
          <a:p>
            <a:pPr algn="ctr" indent="0" marL="0">
              <a:buNone/>
            </a:pPr>
            <a:r>
              <a:rPr lang="en-US" sz="1300" b="1" dirty="0">
                <a:solidFill>
                  <a:schemeClr val="accent5"/>
                </a:solidFill>
              </a:rPr>
              <a:t>Answer</a:t>
            </a:r>
            <a:endParaRPr lang="en-US" sz="1300" dirty="0"/>
          </a:p>
        </p:txBody>
      </p:sp>
      <p:sp>
        <p:nvSpPr>
          <p:cNvPr id="6" name="Text 3"/>
          <p:cNvSpPr txBox="1"/>
          <p:nvPr/>
        </p:nvSpPr>
        <p:spPr>
          <a:xfrm>
            <a:off x="548640" y="1600200"/>
            <a:ext cx="11064240" cy="868680"/>
          </a:xfrm>
          <a:prstGeom prst="rect">
            <a:avLst/>
          </a:prstGeom>
          <a:noFill/>
          <a:ln/>
        </p:spPr>
        <p:txBody>
          <a:bodyPr wrap="square" lIns="0" tIns="0" rIns="0" bIns="0" rtlCol="0" anchor="t"/>
          <a:lstStyle/>
          <a:p>
            <a:pPr indent="0" marL="0">
              <a:spcAft>
                <a:spcPts val="600"/>
              </a:spcAft>
              <a:buNone/>
            </a:pPr>
            <a:r>
              <a:rPr lang="en-US" sz="2400" dirty="0">
                <a:solidFill>
                  <a:schemeClr val="tx1"/>
                </a:solidFill>
              </a:rPr>
              <a:t>Where is the energy in ATP stored?</a:t>
            </a:r>
            <a:endParaRPr lang="en-US" sz="2400" dirty="0"/>
          </a:p>
        </p:txBody>
      </p:sp>
      <p:sp>
        <p:nvSpPr>
          <p:cNvPr id="7" name="option A"/>
          <p:cNvSpPr/>
          <p:nvPr/>
        </p:nvSpPr>
        <p:spPr>
          <a:xfrm>
            <a:off x="548640" y="2560320"/>
            <a:ext cx="7680960" cy="621792"/>
          </a:xfrm>
          <a:prstGeom prst="roundRect">
            <a:avLst>
              <a:gd name="adj" fmla="val 17647"/>
            </a:avLst>
          </a:prstGeom>
          <a:solidFill>
            <a:schemeClr val="bg2"/>
          </a:solidFill>
          <a:ln w="12700">
            <a:solidFill>
              <a:schemeClr val="bg2"/>
            </a:solidFill>
            <a:prstDash val="solid"/>
          </a:ln>
        </p:spPr>
      </p:sp>
      <p:sp>
        <p:nvSpPr>
          <p:cNvPr id="8" name="letter"/>
          <p:cNvSpPr/>
          <p:nvPr/>
        </p:nvSpPr>
        <p:spPr>
          <a:xfrm>
            <a:off x="713232" y="2679192"/>
            <a:ext cx="384048" cy="384048"/>
          </a:xfrm>
          <a:prstGeom prst="ellipse">
            <a:avLst/>
          </a:prstGeom>
          <a:solidFill>
            <a:schemeClr val="bg1"/>
          </a:solidFill>
          <a:ln w="12700">
            <a:solidFill>
              <a:schemeClr val="bg1"/>
            </a:solidFill>
            <a:prstDash val="solid"/>
          </a:ln>
        </p:spPr>
      </p:sp>
      <p:sp>
        <p:nvSpPr>
          <p:cNvPr id="9" name="Text 6"/>
          <p:cNvSpPr txBox="1"/>
          <p:nvPr/>
        </p:nvSpPr>
        <p:spPr>
          <a:xfrm>
            <a:off x="713232" y="2679192"/>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A</a:t>
            </a:r>
            <a:endParaRPr lang="en-US" sz="1500" dirty="0"/>
          </a:p>
        </p:txBody>
      </p:sp>
      <p:sp>
        <p:nvSpPr>
          <p:cNvPr id="10" name="Text 7"/>
          <p:cNvSpPr txBox="1"/>
          <p:nvPr/>
        </p:nvSpPr>
        <p:spPr>
          <a:xfrm>
            <a:off x="1280160" y="2560320"/>
            <a:ext cx="6355080" cy="621792"/>
          </a:xfrm>
          <a:prstGeom prst="rect">
            <a:avLst/>
          </a:prstGeom>
          <a:noFill/>
          <a:ln/>
        </p:spPr>
        <p:txBody>
          <a:bodyPr wrap="square" lIns="0" tIns="0" rIns="0" bIns="0" rtlCol="0" anchor="ctr"/>
          <a:lstStyle/>
          <a:p>
            <a:pPr indent="0" marL="0">
              <a:buNone/>
            </a:pPr>
            <a:r>
              <a:rPr lang="en-US" sz="2000" dirty="0">
                <a:solidFill>
                  <a:schemeClr val="tx2"/>
                </a:solidFill>
              </a:rPr>
              <a:t>Inside the sugar only</a:t>
            </a:r>
            <a:endParaRPr lang="en-US" sz="2000" dirty="0"/>
          </a:p>
        </p:txBody>
      </p:sp>
      <p:sp>
        <p:nvSpPr>
          <p:cNvPr id="11" name="option B"/>
          <p:cNvSpPr/>
          <p:nvPr/>
        </p:nvSpPr>
        <p:spPr>
          <a:xfrm>
            <a:off x="548640" y="3328416"/>
            <a:ext cx="7680960" cy="621792"/>
          </a:xfrm>
          <a:prstGeom prst="roundRect">
            <a:avLst>
              <a:gd name="adj" fmla="val 17647"/>
            </a:avLst>
          </a:prstGeom>
          <a:solidFill>
            <a:schemeClr val="bg2"/>
          </a:solidFill>
          <a:ln w="12700">
            <a:solidFill>
              <a:schemeClr val="bg2"/>
            </a:solidFill>
            <a:prstDash val="solid"/>
          </a:ln>
        </p:spPr>
      </p:sp>
      <p:sp>
        <p:nvSpPr>
          <p:cNvPr id="12" name="letter"/>
          <p:cNvSpPr/>
          <p:nvPr/>
        </p:nvSpPr>
        <p:spPr>
          <a:xfrm>
            <a:off x="713232" y="3447288"/>
            <a:ext cx="384048" cy="384048"/>
          </a:xfrm>
          <a:prstGeom prst="ellipse">
            <a:avLst/>
          </a:prstGeom>
          <a:solidFill>
            <a:schemeClr val="bg1"/>
          </a:solidFill>
          <a:ln w="12700">
            <a:solidFill>
              <a:schemeClr val="bg1"/>
            </a:solidFill>
            <a:prstDash val="solid"/>
          </a:ln>
        </p:spPr>
      </p:sp>
      <p:sp>
        <p:nvSpPr>
          <p:cNvPr id="13" name="Text 10"/>
          <p:cNvSpPr txBox="1"/>
          <p:nvPr/>
        </p:nvSpPr>
        <p:spPr>
          <a:xfrm>
            <a:off x="713232" y="3447288"/>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B</a:t>
            </a:r>
            <a:endParaRPr lang="en-US" sz="1500" dirty="0"/>
          </a:p>
        </p:txBody>
      </p:sp>
      <p:sp>
        <p:nvSpPr>
          <p:cNvPr id="14" name="Text 11"/>
          <p:cNvSpPr txBox="1"/>
          <p:nvPr/>
        </p:nvSpPr>
        <p:spPr>
          <a:xfrm>
            <a:off x="1280160" y="3328416"/>
            <a:ext cx="6355080" cy="621792"/>
          </a:xfrm>
          <a:prstGeom prst="rect">
            <a:avLst/>
          </a:prstGeom>
          <a:noFill/>
          <a:ln/>
        </p:spPr>
        <p:txBody>
          <a:bodyPr wrap="square" lIns="0" tIns="0" rIns="0" bIns="0" rtlCol="0" anchor="ctr"/>
          <a:lstStyle/>
          <a:p>
            <a:pPr indent="0" marL="0">
              <a:buNone/>
            </a:pPr>
            <a:r>
              <a:rPr lang="en-US" sz="2000" dirty="0">
                <a:solidFill>
                  <a:schemeClr val="tx2"/>
                </a:solidFill>
              </a:rPr>
              <a:t>In the water around ATP</a:t>
            </a:r>
            <a:endParaRPr lang="en-US" sz="2000" dirty="0"/>
          </a:p>
        </p:txBody>
      </p:sp>
      <p:sp>
        <p:nvSpPr>
          <p:cNvPr id="15" name="option C"/>
          <p:cNvSpPr/>
          <p:nvPr/>
        </p:nvSpPr>
        <p:spPr>
          <a:xfrm>
            <a:off x="548640" y="4096512"/>
            <a:ext cx="7680960" cy="621792"/>
          </a:xfrm>
          <a:prstGeom prst="roundRect">
            <a:avLst>
              <a:gd name="adj" fmla="val 17647"/>
            </a:avLst>
          </a:prstGeom>
          <a:solidFill>
            <a:schemeClr val="bg2"/>
          </a:solidFill>
          <a:ln w="12700">
            <a:solidFill>
              <a:schemeClr val="bg2"/>
            </a:solidFill>
            <a:prstDash val="solid"/>
          </a:ln>
        </p:spPr>
      </p:sp>
      <p:sp>
        <p:nvSpPr>
          <p:cNvPr id="16" name="letter"/>
          <p:cNvSpPr/>
          <p:nvPr/>
        </p:nvSpPr>
        <p:spPr>
          <a:xfrm>
            <a:off x="713232" y="4215384"/>
            <a:ext cx="384048" cy="384048"/>
          </a:xfrm>
          <a:prstGeom prst="ellipse">
            <a:avLst/>
          </a:prstGeom>
          <a:solidFill>
            <a:schemeClr val="bg1"/>
          </a:solidFill>
          <a:ln w="12700">
            <a:solidFill>
              <a:schemeClr val="bg1"/>
            </a:solidFill>
            <a:prstDash val="solid"/>
          </a:ln>
        </p:spPr>
      </p:sp>
      <p:sp>
        <p:nvSpPr>
          <p:cNvPr id="17" name="Text 14"/>
          <p:cNvSpPr txBox="1"/>
          <p:nvPr/>
        </p:nvSpPr>
        <p:spPr>
          <a:xfrm>
            <a:off x="713232" y="4215384"/>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C</a:t>
            </a:r>
            <a:endParaRPr lang="en-US" sz="1500" dirty="0"/>
          </a:p>
        </p:txBody>
      </p:sp>
      <p:sp>
        <p:nvSpPr>
          <p:cNvPr id="18" name="Text 15"/>
          <p:cNvSpPr txBox="1"/>
          <p:nvPr/>
        </p:nvSpPr>
        <p:spPr>
          <a:xfrm>
            <a:off x="1280160" y="4096512"/>
            <a:ext cx="6355080" cy="621792"/>
          </a:xfrm>
          <a:prstGeom prst="rect">
            <a:avLst/>
          </a:prstGeom>
          <a:noFill/>
          <a:ln/>
        </p:spPr>
        <p:txBody>
          <a:bodyPr wrap="square" lIns="0" tIns="0" rIns="0" bIns="0" rtlCol="0" anchor="ctr"/>
          <a:lstStyle/>
          <a:p>
            <a:pPr indent="0" marL="0">
              <a:buNone/>
            </a:pPr>
            <a:r>
              <a:rPr lang="en-US" sz="2000" dirty="0">
                <a:solidFill>
                  <a:schemeClr val="tx2"/>
                </a:solidFill>
              </a:rPr>
              <a:t>In the cell's DNA</a:t>
            </a:r>
            <a:endParaRPr lang="en-US" sz="2000" dirty="0"/>
          </a:p>
        </p:txBody>
      </p:sp>
      <p:sp>
        <p:nvSpPr>
          <p:cNvPr id="19" name="option D"/>
          <p:cNvSpPr/>
          <p:nvPr/>
        </p:nvSpPr>
        <p:spPr>
          <a:xfrm>
            <a:off x="548640" y="4864608"/>
            <a:ext cx="7680960" cy="621792"/>
          </a:xfrm>
          <a:prstGeom prst="roundRect">
            <a:avLst>
              <a:gd name="adj" fmla="val 17647"/>
            </a:avLst>
          </a:prstGeom>
          <a:solidFill>
            <a:schemeClr val="accent5">
              <a:alpha val="20000"/>
            </a:schemeClr>
          </a:solidFill>
          <a:ln w="25400">
            <a:solidFill>
              <a:schemeClr val="accent5"/>
            </a:solidFill>
            <a:prstDash val="solid"/>
          </a:ln>
        </p:spPr>
      </p:sp>
      <p:sp>
        <p:nvSpPr>
          <p:cNvPr id="20" name="letter"/>
          <p:cNvSpPr/>
          <p:nvPr/>
        </p:nvSpPr>
        <p:spPr>
          <a:xfrm>
            <a:off x="713232" y="4983480"/>
            <a:ext cx="384048" cy="384048"/>
          </a:xfrm>
          <a:prstGeom prst="ellipse">
            <a:avLst/>
          </a:prstGeom>
          <a:solidFill>
            <a:schemeClr val="accent5"/>
          </a:solidFill>
          <a:ln w="12700">
            <a:solidFill>
              <a:schemeClr val="accent5"/>
            </a:solidFill>
            <a:prstDash val="solid"/>
          </a:ln>
        </p:spPr>
      </p:sp>
      <p:sp>
        <p:nvSpPr>
          <p:cNvPr id="21" name="Text 18"/>
          <p:cNvSpPr txBox="1"/>
          <p:nvPr/>
        </p:nvSpPr>
        <p:spPr>
          <a:xfrm>
            <a:off x="713232" y="498348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D</a:t>
            </a:r>
            <a:endParaRPr lang="en-US" sz="1500" dirty="0"/>
          </a:p>
        </p:txBody>
      </p:sp>
      <p:sp>
        <p:nvSpPr>
          <p:cNvPr id="22" name="Text 19"/>
          <p:cNvSpPr txBox="1"/>
          <p:nvPr/>
        </p:nvSpPr>
        <p:spPr>
          <a:xfrm>
            <a:off x="1280160" y="4864608"/>
            <a:ext cx="6355080" cy="621792"/>
          </a:xfrm>
          <a:prstGeom prst="rect">
            <a:avLst/>
          </a:prstGeom>
          <a:noFill/>
          <a:ln/>
        </p:spPr>
        <p:txBody>
          <a:bodyPr wrap="square" lIns="0" tIns="0" rIns="0" bIns="0" rtlCol="0" anchor="ctr"/>
          <a:lstStyle/>
          <a:p>
            <a:pPr indent="0" marL="0">
              <a:buNone/>
            </a:pPr>
            <a:r>
              <a:rPr lang="en-US" sz="2000" dirty="0">
                <a:solidFill>
                  <a:schemeClr val="tx1"/>
                </a:solidFill>
              </a:rPr>
              <a:t>In the chemical bonds between the phosphate groups</a:t>
            </a:r>
            <a:endParaRPr lang="en-US" sz="2000" dirty="0"/>
          </a:p>
        </p:txBody>
      </p:sp>
      <p:sp>
        <p:nvSpPr>
          <p:cNvPr id="23" name="Text 20"/>
          <p:cNvSpPr txBox="1"/>
          <p:nvPr/>
        </p:nvSpPr>
        <p:spPr>
          <a:xfrm>
            <a:off x="7726680" y="4864608"/>
            <a:ext cx="411480" cy="621792"/>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sp>
        <p:nvSpPr>
          <p:cNvPr id="24" name="panel"/>
          <p:cNvSpPr/>
          <p:nvPr/>
        </p:nvSpPr>
        <p:spPr>
          <a:xfrm>
            <a:off x="8503920" y="2560320"/>
            <a:ext cx="3136392" cy="2926080"/>
          </a:xfrm>
          <a:prstGeom prst="roundRect">
            <a:avLst>
              <a:gd name="adj" fmla="val 3750"/>
            </a:avLst>
          </a:prstGeom>
          <a:solidFill>
            <a:schemeClr val="accent5">
              <a:alpha val="12000"/>
            </a:schemeClr>
          </a:solidFill>
          <a:ln w="12700">
            <a:solidFill>
              <a:schemeClr val="accent5"/>
            </a:solidFill>
            <a:prstDash val="solid"/>
          </a:ln>
        </p:spPr>
      </p:sp>
      <p:sp>
        <p:nvSpPr>
          <p:cNvPr id="25" name="Text 22"/>
          <p:cNvSpPr txBox="1"/>
          <p:nvPr/>
        </p:nvSpPr>
        <p:spPr>
          <a:xfrm>
            <a:off x="8686800" y="2697480"/>
            <a:ext cx="2788920" cy="265176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Why</a:t>
            </a:r>
            <a:endParaRPr lang="en-US" sz="1700" dirty="0"/>
          </a:p>
          <a:p>
            <a:pPr indent="0" marL="0">
              <a:spcAft>
                <a:spcPts val="600"/>
              </a:spcAft>
              <a:buNone/>
            </a:pPr>
            <a:r>
              <a:rPr lang="en-US" sz="1700" dirty="0">
                <a:solidFill>
                  <a:schemeClr val="tx1"/>
                </a:solidFill>
              </a:rPr>
              <a:t>ATP stores chemical energy in the bonds between its phosphates.</a:t>
            </a:r>
            <a:endParaRPr lang="en-US" sz="17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Quick check</a:t>
            </a:r>
            <a:endParaRPr lang="en-US" sz="3200" dirty="0"/>
          </a:p>
        </p:txBody>
      </p:sp>
      <p:sp>
        <p:nvSpPr>
          <p:cNvPr id="3" name="tag"/>
          <p:cNvSpPr/>
          <p:nvPr/>
        </p:nvSpPr>
        <p:spPr>
          <a:xfrm>
            <a:off x="548640" y="329184"/>
            <a:ext cx="1348740" cy="329184"/>
          </a:xfrm>
          <a:prstGeom prst="roundRect">
            <a:avLst>
              <a:gd name="adj" fmla="val 50000"/>
            </a:avLst>
          </a:prstGeom>
          <a:solidFill>
            <a:schemeClr val="accent6">
              <a:alpha val="18000"/>
            </a:schemeClr>
          </a:solidFill>
          <a:ln w="12700">
            <a:solidFill>
              <a:schemeClr val="accent6"/>
            </a:solidFill>
            <a:prstDash val="solid"/>
          </a:ln>
        </p:spPr>
      </p:sp>
      <p:sp>
        <p:nvSpPr>
          <p:cNvPr id="4" name="Text 2"/>
          <p:cNvSpPr txBox="1"/>
          <p:nvPr/>
        </p:nvSpPr>
        <p:spPr>
          <a:xfrm>
            <a:off x="548640" y="329184"/>
            <a:ext cx="1348740" cy="329184"/>
          </a:xfrm>
          <a:prstGeom prst="rect">
            <a:avLst/>
          </a:prstGeom>
          <a:noFill/>
          <a:ln/>
        </p:spPr>
        <p:txBody>
          <a:bodyPr wrap="square" lIns="0" tIns="0" rIns="0" bIns="0" rtlCol="0" anchor="ctr"/>
          <a:lstStyle/>
          <a:p>
            <a:pPr algn="ctr" indent="0" marL="0">
              <a:buNone/>
            </a:pPr>
            <a:r>
              <a:rPr lang="en-US" sz="1300" b="1" dirty="0">
                <a:solidFill>
                  <a:schemeClr val="accent6"/>
                </a:solidFill>
              </a:rPr>
              <a:t>Quick check</a:t>
            </a:r>
            <a:endParaRPr lang="en-US" sz="1300" dirty="0"/>
          </a:p>
        </p:txBody>
      </p:sp>
      <p:sp>
        <p:nvSpPr>
          <p:cNvPr id="6" name="Text 3"/>
          <p:cNvSpPr txBox="1"/>
          <p:nvPr/>
        </p:nvSpPr>
        <p:spPr>
          <a:xfrm>
            <a:off x="548640" y="1600200"/>
            <a:ext cx="11064240" cy="868680"/>
          </a:xfrm>
          <a:prstGeom prst="rect">
            <a:avLst/>
          </a:prstGeom>
          <a:noFill/>
          <a:ln/>
        </p:spPr>
        <p:txBody>
          <a:bodyPr wrap="square" lIns="0" tIns="0" rIns="0" bIns="0" rtlCol="0" anchor="t"/>
          <a:lstStyle/>
          <a:p>
            <a:pPr indent="0" marL="0">
              <a:spcAft>
                <a:spcPts val="600"/>
              </a:spcAft>
              <a:buNone/>
            </a:pPr>
            <a:r>
              <a:rPr lang="en-US" sz="2400" dirty="0">
                <a:solidFill>
                  <a:schemeClr val="tx1"/>
                </a:solidFill>
              </a:rPr>
              <a:t>What does "tri" in adenosine triphosphate mean?</a:t>
            </a:r>
            <a:endParaRPr lang="en-US" sz="2400" dirty="0"/>
          </a:p>
        </p:txBody>
      </p:sp>
      <p:sp>
        <p:nvSpPr>
          <p:cNvPr id="7" name="option A"/>
          <p:cNvSpPr/>
          <p:nvPr/>
        </p:nvSpPr>
        <p:spPr>
          <a:xfrm>
            <a:off x="548640" y="2560320"/>
            <a:ext cx="7680960" cy="621792"/>
          </a:xfrm>
          <a:prstGeom prst="roundRect">
            <a:avLst>
              <a:gd name="adj" fmla="val 17647"/>
            </a:avLst>
          </a:prstGeom>
          <a:solidFill>
            <a:schemeClr val="bg2"/>
          </a:solidFill>
          <a:ln w="12700">
            <a:solidFill>
              <a:schemeClr val="bg2"/>
            </a:solidFill>
            <a:prstDash val="solid"/>
          </a:ln>
        </p:spPr>
      </p:sp>
      <p:sp>
        <p:nvSpPr>
          <p:cNvPr id="8" name="letter"/>
          <p:cNvSpPr/>
          <p:nvPr/>
        </p:nvSpPr>
        <p:spPr>
          <a:xfrm>
            <a:off x="713232" y="2679192"/>
            <a:ext cx="384048" cy="384048"/>
          </a:xfrm>
          <a:prstGeom prst="ellipse">
            <a:avLst/>
          </a:prstGeom>
          <a:solidFill>
            <a:schemeClr val="bg1"/>
          </a:solidFill>
          <a:ln w="12700">
            <a:solidFill>
              <a:schemeClr val="bg1"/>
            </a:solidFill>
            <a:prstDash val="solid"/>
          </a:ln>
        </p:spPr>
      </p:sp>
      <p:sp>
        <p:nvSpPr>
          <p:cNvPr id="9" name="Text 6"/>
          <p:cNvSpPr txBox="1"/>
          <p:nvPr/>
        </p:nvSpPr>
        <p:spPr>
          <a:xfrm>
            <a:off x="713232" y="2679192"/>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A</a:t>
            </a:r>
            <a:endParaRPr lang="en-US" sz="1500" dirty="0"/>
          </a:p>
        </p:txBody>
      </p:sp>
      <p:sp>
        <p:nvSpPr>
          <p:cNvPr id="10" name="Text 7"/>
          <p:cNvSpPr txBox="1"/>
          <p:nvPr/>
        </p:nvSpPr>
        <p:spPr>
          <a:xfrm>
            <a:off x="1280160" y="2560320"/>
            <a:ext cx="6355080" cy="621792"/>
          </a:xfrm>
          <a:prstGeom prst="rect">
            <a:avLst/>
          </a:prstGeom>
          <a:noFill/>
          <a:ln/>
        </p:spPr>
        <p:txBody>
          <a:bodyPr wrap="square" lIns="0" tIns="0" rIns="0" bIns="0" rtlCol="0" anchor="ctr"/>
          <a:lstStyle/>
          <a:p>
            <a:pPr indent="0" marL="0">
              <a:buNone/>
            </a:pPr>
            <a:r>
              <a:rPr lang="en-US" sz="2000" dirty="0">
                <a:solidFill>
                  <a:schemeClr val="tx1"/>
                </a:solidFill>
              </a:rPr>
              <a:t>Three bonds to glucose</a:t>
            </a:r>
            <a:endParaRPr lang="en-US" sz="2000" dirty="0"/>
          </a:p>
        </p:txBody>
      </p:sp>
      <p:sp>
        <p:nvSpPr>
          <p:cNvPr id="11" name="option B"/>
          <p:cNvSpPr/>
          <p:nvPr/>
        </p:nvSpPr>
        <p:spPr>
          <a:xfrm>
            <a:off x="548640" y="3328416"/>
            <a:ext cx="7680960" cy="621792"/>
          </a:xfrm>
          <a:prstGeom prst="roundRect">
            <a:avLst>
              <a:gd name="adj" fmla="val 17647"/>
            </a:avLst>
          </a:prstGeom>
          <a:solidFill>
            <a:schemeClr val="bg2"/>
          </a:solidFill>
          <a:ln w="12700">
            <a:solidFill>
              <a:schemeClr val="bg2"/>
            </a:solidFill>
            <a:prstDash val="solid"/>
          </a:ln>
        </p:spPr>
      </p:sp>
      <p:sp>
        <p:nvSpPr>
          <p:cNvPr id="12" name="letter"/>
          <p:cNvSpPr/>
          <p:nvPr/>
        </p:nvSpPr>
        <p:spPr>
          <a:xfrm>
            <a:off x="713232" y="3447288"/>
            <a:ext cx="384048" cy="384048"/>
          </a:xfrm>
          <a:prstGeom prst="ellipse">
            <a:avLst/>
          </a:prstGeom>
          <a:solidFill>
            <a:schemeClr val="bg1"/>
          </a:solidFill>
          <a:ln w="12700">
            <a:solidFill>
              <a:schemeClr val="bg1"/>
            </a:solidFill>
            <a:prstDash val="solid"/>
          </a:ln>
        </p:spPr>
      </p:sp>
      <p:sp>
        <p:nvSpPr>
          <p:cNvPr id="13" name="Text 10"/>
          <p:cNvSpPr txBox="1"/>
          <p:nvPr/>
        </p:nvSpPr>
        <p:spPr>
          <a:xfrm>
            <a:off x="713232" y="3447288"/>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B</a:t>
            </a:r>
            <a:endParaRPr lang="en-US" sz="1500" dirty="0"/>
          </a:p>
        </p:txBody>
      </p:sp>
      <p:sp>
        <p:nvSpPr>
          <p:cNvPr id="14" name="Text 11"/>
          <p:cNvSpPr txBox="1"/>
          <p:nvPr/>
        </p:nvSpPr>
        <p:spPr>
          <a:xfrm>
            <a:off x="1280160" y="3328416"/>
            <a:ext cx="6355080" cy="621792"/>
          </a:xfrm>
          <a:prstGeom prst="rect">
            <a:avLst/>
          </a:prstGeom>
          <a:noFill/>
          <a:ln/>
        </p:spPr>
        <p:txBody>
          <a:bodyPr wrap="square" lIns="0" tIns="0" rIns="0" bIns="0" rtlCol="0" anchor="ctr"/>
          <a:lstStyle/>
          <a:p>
            <a:pPr indent="0" marL="0">
              <a:buNone/>
            </a:pPr>
            <a:r>
              <a:rPr lang="en-US" sz="2000" dirty="0">
                <a:solidFill>
                  <a:schemeClr val="tx1"/>
                </a:solidFill>
              </a:rPr>
              <a:t>Three cells</a:t>
            </a:r>
            <a:endParaRPr lang="en-US" sz="2000" dirty="0"/>
          </a:p>
        </p:txBody>
      </p:sp>
      <p:sp>
        <p:nvSpPr>
          <p:cNvPr id="15" name="option C"/>
          <p:cNvSpPr/>
          <p:nvPr/>
        </p:nvSpPr>
        <p:spPr>
          <a:xfrm>
            <a:off x="548640" y="4096512"/>
            <a:ext cx="7680960" cy="621792"/>
          </a:xfrm>
          <a:prstGeom prst="roundRect">
            <a:avLst>
              <a:gd name="adj" fmla="val 17647"/>
            </a:avLst>
          </a:prstGeom>
          <a:solidFill>
            <a:schemeClr val="bg2"/>
          </a:solidFill>
          <a:ln w="12700">
            <a:solidFill>
              <a:schemeClr val="bg2"/>
            </a:solidFill>
            <a:prstDash val="solid"/>
          </a:ln>
        </p:spPr>
      </p:sp>
      <p:sp>
        <p:nvSpPr>
          <p:cNvPr id="16" name="letter"/>
          <p:cNvSpPr/>
          <p:nvPr/>
        </p:nvSpPr>
        <p:spPr>
          <a:xfrm>
            <a:off x="713232" y="4215384"/>
            <a:ext cx="384048" cy="384048"/>
          </a:xfrm>
          <a:prstGeom prst="ellipse">
            <a:avLst/>
          </a:prstGeom>
          <a:solidFill>
            <a:schemeClr val="bg1"/>
          </a:solidFill>
          <a:ln w="12700">
            <a:solidFill>
              <a:schemeClr val="bg1"/>
            </a:solidFill>
            <a:prstDash val="solid"/>
          </a:ln>
        </p:spPr>
      </p:sp>
      <p:sp>
        <p:nvSpPr>
          <p:cNvPr id="17" name="Text 14"/>
          <p:cNvSpPr txBox="1"/>
          <p:nvPr/>
        </p:nvSpPr>
        <p:spPr>
          <a:xfrm>
            <a:off x="713232" y="4215384"/>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C</a:t>
            </a:r>
            <a:endParaRPr lang="en-US" sz="1500" dirty="0"/>
          </a:p>
        </p:txBody>
      </p:sp>
      <p:sp>
        <p:nvSpPr>
          <p:cNvPr id="18" name="Text 15"/>
          <p:cNvSpPr txBox="1"/>
          <p:nvPr/>
        </p:nvSpPr>
        <p:spPr>
          <a:xfrm>
            <a:off x="1280160" y="4096512"/>
            <a:ext cx="6355080" cy="621792"/>
          </a:xfrm>
          <a:prstGeom prst="rect">
            <a:avLst/>
          </a:prstGeom>
          <a:noFill/>
          <a:ln/>
        </p:spPr>
        <p:txBody>
          <a:bodyPr wrap="square" lIns="0" tIns="0" rIns="0" bIns="0" rtlCol="0" anchor="ctr"/>
          <a:lstStyle/>
          <a:p>
            <a:pPr indent="0" marL="0">
              <a:buNone/>
            </a:pPr>
            <a:r>
              <a:rPr lang="en-US" sz="2000" dirty="0">
                <a:solidFill>
                  <a:schemeClr val="tx1"/>
                </a:solidFill>
              </a:rPr>
              <a:t>Three phosphate groups</a:t>
            </a:r>
            <a:endParaRPr lang="en-US" sz="2000" dirty="0"/>
          </a:p>
        </p:txBody>
      </p:sp>
      <p:sp>
        <p:nvSpPr>
          <p:cNvPr id="19" name="option D"/>
          <p:cNvSpPr/>
          <p:nvPr/>
        </p:nvSpPr>
        <p:spPr>
          <a:xfrm>
            <a:off x="548640" y="4864608"/>
            <a:ext cx="7680960" cy="621792"/>
          </a:xfrm>
          <a:prstGeom prst="roundRect">
            <a:avLst>
              <a:gd name="adj" fmla="val 17647"/>
            </a:avLst>
          </a:prstGeom>
          <a:solidFill>
            <a:schemeClr val="bg2"/>
          </a:solidFill>
          <a:ln w="12700">
            <a:solidFill>
              <a:schemeClr val="bg2"/>
            </a:solidFill>
            <a:prstDash val="solid"/>
          </a:ln>
        </p:spPr>
      </p:sp>
      <p:sp>
        <p:nvSpPr>
          <p:cNvPr id="20" name="letter"/>
          <p:cNvSpPr/>
          <p:nvPr/>
        </p:nvSpPr>
        <p:spPr>
          <a:xfrm>
            <a:off x="713232" y="4983480"/>
            <a:ext cx="384048" cy="384048"/>
          </a:xfrm>
          <a:prstGeom prst="ellipse">
            <a:avLst/>
          </a:prstGeom>
          <a:solidFill>
            <a:schemeClr val="bg1"/>
          </a:solidFill>
          <a:ln w="12700">
            <a:solidFill>
              <a:schemeClr val="bg1"/>
            </a:solidFill>
            <a:prstDash val="solid"/>
          </a:ln>
        </p:spPr>
      </p:sp>
      <p:sp>
        <p:nvSpPr>
          <p:cNvPr id="21" name="Text 18"/>
          <p:cNvSpPr txBox="1"/>
          <p:nvPr/>
        </p:nvSpPr>
        <p:spPr>
          <a:xfrm>
            <a:off x="713232" y="4983480"/>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D</a:t>
            </a:r>
            <a:endParaRPr lang="en-US" sz="1500" dirty="0"/>
          </a:p>
        </p:txBody>
      </p:sp>
      <p:sp>
        <p:nvSpPr>
          <p:cNvPr id="22" name="Text 19"/>
          <p:cNvSpPr txBox="1"/>
          <p:nvPr/>
        </p:nvSpPr>
        <p:spPr>
          <a:xfrm>
            <a:off x="1280160" y="4864608"/>
            <a:ext cx="6355080" cy="621792"/>
          </a:xfrm>
          <a:prstGeom prst="rect">
            <a:avLst/>
          </a:prstGeom>
          <a:noFill/>
          <a:ln/>
        </p:spPr>
        <p:txBody>
          <a:bodyPr wrap="square" lIns="0" tIns="0" rIns="0" bIns="0" rtlCol="0" anchor="ctr"/>
          <a:lstStyle/>
          <a:p>
            <a:pPr indent="0" marL="0">
              <a:buNone/>
            </a:pPr>
            <a:r>
              <a:rPr lang="en-US" sz="2000" dirty="0">
                <a:solidFill>
                  <a:schemeClr val="tx1"/>
                </a:solidFill>
              </a:rPr>
              <a:t>Three sugars</a:t>
            </a:r>
            <a:endParaRPr lang="en-US" sz="2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Quick check</a:t>
            </a:r>
            <a:endParaRPr lang="en-US" sz="3200" dirty="0"/>
          </a:p>
        </p:txBody>
      </p:sp>
      <p:sp>
        <p:nvSpPr>
          <p:cNvPr id="3" name="tag"/>
          <p:cNvSpPr/>
          <p:nvPr/>
        </p:nvSpPr>
        <p:spPr>
          <a:xfrm>
            <a:off x="548640" y="329184"/>
            <a:ext cx="868680" cy="329184"/>
          </a:xfrm>
          <a:prstGeom prst="roundRect">
            <a:avLst>
              <a:gd name="adj" fmla="val 50000"/>
            </a:avLst>
          </a:prstGeom>
          <a:solidFill>
            <a:schemeClr val="accent5">
              <a:alpha val="18000"/>
            </a:schemeClr>
          </a:solidFill>
          <a:ln w="12700">
            <a:solidFill>
              <a:schemeClr val="accent5"/>
            </a:solidFill>
            <a:prstDash val="solid"/>
          </a:ln>
        </p:spPr>
      </p:sp>
      <p:sp>
        <p:nvSpPr>
          <p:cNvPr id="4" name="Text 2"/>
          <p:cNvSpPr txBox="1"/>
          <p:nvPr/>
        </p:nvSpPr>
        <p:spPr>
          <a:xfrm>
            <a:off x="548640" y="329184"/>
            <a:ext cx="868680" cy="329184"/>
          </a:xfrm>
          <a:prstGeom prst="rect">
            <a:avLst/>
          </a:prstGeom>
          <a:noFill/>
          <a:ln/>
        </p:spPr>
        <p:txBody>
          <a:bodyPr wrap="square" lIns="0" tIns="0" rIns="0" bIns="0" rtlCol="0" anchor="ctr"/>
          <a:lstStyle/>
          <a:p>
            <a:pPr algn="ctr" indent="0" marL="0">
              <a:buNone/>
            </a:pPr>
            <a:r>
              <a:rPr lang="en-US" sz="1300" b="1" dirty="0">
                <a:solidFill>
                  <a:schemeClr val="accent5"/>
                </a:solidFill>
              </a:rPr>
              <a:t>Answer</a:t>
            </a:r>
            <a:endParaRPr lang="en-US" sz="1300" dirty="0"/>
          </a:p>
        </p:txBody>
      </p:sp>
      <p:sp>
        <p:nvSpPr>
          <p:cNvPr id="6" name="Text 3"/>
          <p:cNvSpPr txBox="1"/>
          <p:nvPr/>
        </p:nvSpPr>
        <p:spPr>
          <a:xfrm>
            <a:off x="548640" y="1600200"/>
            <a:ext cx="11064240" cy="868680"/>
          </a:xfrm>
          <a:prstGeom prst="rect">
            <a:avLst/>
          </a:prstGeom>
          <a:noFill/>
          <a:ln/>
        </p:spPr>
        <p:txBody>
          <a:bodyPr wrap="square" lIns="0" tIns="0" rIns="0" bIns="0" rtlCol="0" anchor="t"/>
          <a:lstStyle/>
          <a:p>
            <a:pPr indent="0" marL="0">
              <a:spcAft>
                <a:spcPts val="600"/>
              </a:spcAft>
              <a:buNone/>
            </a:pPr>
            <a:r>
              <a:rPr lang="en-US" sz="2400" dirty="0">
                <a:solidFill>
                  <a:schemeClr val="tx1"/>
                </a:solidFill>
              </a:rPr>
              <a:t>What does "tri" in adenosine triphosphate mean?</a:t>
            </a:r>
            <a:endParaRPr lang="en-US" sz="2400" dirty="0"/>
          </a:p>
        </p:txBody>
      </p:sp>
      <p:sp>
        <p:nvSpPr>
          <p:cNvPr id="7" name="option A"/>
          <p:cNvSpPr/>
          <p:nvPr/>
        </p:nvSpPr>
        <p:spPr>
          <a:xfrm>
            <a:off x="548640" y="2560320"/>
            <a:ext cx="7680960" cy="621792"/>
          </a:xfrm>
          <a:prstGeom prst="roundRect">
            <a:avLst>
              <a:gd name="adj" fmla="val 17647"/>
            </a:avLst>
          </a:prstGeom>
          <a:solidFill>
            <a:schemeClr val="bg2"/>
          </a:solidFill>
          <a:ln w="12700">
            <a:solidFill>
              <a:schemeClr val="bg2"/>
            </a:solidFill>
            <a:prstDash val="solid"/>
          </a:ln>
        </p:spPr>
      </p:sp>
      <p:sp>
        <p:nvSpPr>
          <p:cNvPr id="8" name="letter"/>
          <p:cNvSpPr/>
          <p:nvPr/>
        </p:nvSpPr>
        <p:spPr>
          <a:xfrm>
            <a:off x="713232" y="2679192"/>
            <a:ext cx="384048" cy="384048"/>
          </a:xfrm>
          <a:prstGeom prst="ellipse">
            <a:avLst/>
          </a:prstGeom>
          <a:solidFill>
            <a:schemeClr val="bg1"/>
          </a:solidFill>
          <a:ln w="12700">
            <a:solidFill>
              <a:schemeClr val="bg1"/>
            </a:solidFill>
            <a:prstDash val="solid"/>
          </a:ln>
        </p:spPr>
      </p:sp>
      <p:sp>
        <p:nvSpPr>
          <p:cNvPr id="9" name="Text 6"/>
          <p:cNvSpPr txBox="1"/>
          <p:nvPr/>
        </p:nvSpPr>
        <p:spPr>
          <a:xfrm>
            <a:off x="713232" y="2679192"/>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A</a:t>
            </a:r>
            <a:endParaRPr lang="en-US" sz="1500" dirty="0"/>
          </a:p>
        </p:txBody>
      </p:sp>
      <p:sp>
        <p:nvSpPr>
          <p:cNvPr id="10" name="Text 7"/>
          <p:cNvSpPr txBox="1"/>
          <p:nvPr/>
        </p:nvSpPr>
        <p:spPr>
          <a:xfrm>
            <a:off x="1280160" y="2560320"/>
            <a:ext cx="6355080" cy="621792"/>
          </a:xfrm>
          <a:prstGeom prst="rect">
            <a:avLst/>
          </a:prstGeom>
          <a:noFill/>
          <a:ln/>
        </p:spPr>
        <p:txBody>
          <a:bodyPr wrap="square" lIns="0" tIns="0" rIns="0" bIns="0" rtlCol="0" anchor="ctr"/>
          <a:lstStyle/>
          <a:p>
            <a:pPr indent="0" marL="0">
              <a:buNone/>
            </a:pPr>
            <a:r>
              <a:rPr lang="en-US" sz="2000" dirty="0">
                <a:solidFill>
                  <a:schemeClr val="tx2"/>
                </a:solidFill>
              </a:rPr>
              <a:t>Three bonds to glucose</a:t>
            </a:r>
            <a:endParaRPr lang="en-US" sz="2000" dirty="0"/>
          </a:p>
        </p:txBody>
      </p:sp>
      <p:sp>
        <p:nvSpPr>
          <p:cNvPr id="11" name="option B"/>
          <p:cNvSpPr/>
          <p:nvPr/>
        </p:nvSpPr>
        <p:spPr>
          <a:xfrm>
            <a:off x="548640" y="3328416"/>
            <a:ext cx="7680960" cy="621792"/>
          </a:xfrm>
          <a:prstGeom prst="roundRect">
            <a:avLst>
              <a:gd name="adj" fmla="val 17647"/>
            </a:avLst>
          </a:prstGeom>
          <a:solidFill>
            <a:schemeClr val="bg2"/>
          </a:solidFill>
          <a:ln w="12700">
            <a:solidFill>
              <a:schemeClr val="bg2"/>
            </a:solidFill>
            <a:prstDash val="solid"/>
          </a:ln>
        </p:spPr>
      </p:sp>
      <p:sp>
        <p:nvSpPr>
          <p:cNvPr id="12" name="letter"/>
          <p:cNvSpPr/>
          <p:nvPr/>
        </p:nvSpPr>
        <p:spPr>
          <a:xfrm>
            <a:off x="713232" y="3447288"/>
            <a:ext cx="384048" cy="384048"/>
          </a:xfrm>
          <a:prstGeom prst="ellipse">
            <a:avLst/>
          </a:prstGeom>
          <a:solidFill>
            <a:schemeClr val="bg1"/>
          </a:solidFill>
          <a:ln w="12700">
            <a:solidFill>
              <a:schemeClr val="bg1"/>
            </a:solidFill>
            <a:prstDash val="solid"/>
          </a:ln>
        </p:spPr>
      </p:sp>
      <p:sp>
        <p:nvSpPr>
          <p:cNvPr id="13" name="Text 10"/>
          <p:cNvSpPr txBox="1"/>
          <p:nvPr/>
        </p:nvSpPr>
        <p:spPr>
          <a:xfrm>
            <a:off x="713232" y="3447288"/>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B</a:t>
            </a:r>
            <a:endParaRPr lang="en-US" sz="1500" dirty="0"/>
          </a:p>
        </p:txBody>
      </p:sp>
      <p:sp>
        <p:nvSpPr>
          <p:cNvPr id="14" name="Text 11"/>
          <p:cNvSpPr txBox="1"/>
          <p:nvPr/>
        </p:nvSpPr>
        <p:spPr>
          <a:xfrm>
            <a:off x="1280160" y="3328416"/>
            <a:ext cx="6355080" cy="621792"/>
          </a:xfrm>
          <a:prstGeom prst="rect">
            <a:avLst/>
          </a:prstGeom>
          <a:noFill/>
          <a:ln/>
        </p:spPr>
        <p:txBody>
          <a:bodyPr wrap="square" lIns="0" tIns="0" rIns="0" bIns="0" rtlCol="0" anchor="ctr"/>
          <a:lstStyle/>
          <a:p>
            <a:pPr indent="0" marL="0">
              <a:buNone/>
            </a:pPr>
            <a:r>
              <a:rPr lang="en-US" sz="2000" dirty="0">
                <a:solidFill>
                  <a:schemeClr val="tx2"/>
                </a:solidFill>
              </a:rPr>
              <a:t>Three cells</a:t>
            </a:r>
            <a:endParaRPr lang="en-US" sz="2000" dirty="0"/>
          </a:p>
        </p:txBody>
      </p:sp>
      <p:sp>
        <p:nvSpPr>
          <p:cNvPr id="15" name="option C"/>
          <p:cNvSpPr/>
          <p:nvPr/>
        </p:nvSpPr>
        <p:spPr>
          <a:xfrm>
            <a:off x="548640" y="4096512"/>
            <a:ext cx="7680960" cy="621792"/>
          </a:xfrm>
          <a:prstGeom prst="roundRect">
            <a:avLst>
              <a:gd name="adj" fmla="val 17647"/>
            </a:avLst>
          </a:prstGeom>
          <a:solidFill>
            <a:schemeClr val="accent5">
              <a:alpha val="20000"/>
            </a:schemeClr>
          </a:solidFill>
          <a:ln w="25400">
            <a:solidFill>
              <a:schemeClr val="accent5"/>
            </a:solidFill>
            <a:prstDash val="solid"/>
          </a:ln>
        </p:spPr>
      </p:sp>
      <p:sp>
        <p:nvSpPr>
          <p:cNvPr id="16" name="letter"/>
          <p:cNvSpPr/>
          <p:nvPr/>
        </p:nvSpPr>
        <p:spPr>
          <a:xfrm>
            <a:off x="713232" y="4215384"/>
            <a:ext cx="384048" cy="384048"/>
          </a:xfrm>
          <a:prstGeom prst="ellipse">
            <a:avLst/>
          </a:prstGeom>
          <a:solidFill>
            <a:schemeClr val="accent5"/>
          </a:solidFill>
          <a:ln w="12700">
            <a:solidFill>
              <a:schemeClr val="accent5"/>
            </a:solidFill>
            <a:prstDash val="solid"/>
          </a:ln>
        </p:spPr>
      </p:sp>
      <p:sp>
        <p:nvSpPr>
          <p:cNvPr id="17" name="Text 14"/>
          <p:cNvSpPr txBox="1"/>
          <p:nvPr/>
        </p:nvSpPr>
        <p:spPr>
          <a:xfrm>
            <a:off x="713232" y="4215384"/>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C</a:t>
            </a:r>
            <a:endParaRPr lang="en-US" sz="1500" dirty="0"/>
          </a:p>
        </p:txBody>
      </p:sp>
      <p:sp>
        <p:nvSpPr>
          <p:cNvPr id="18" name="Text 15"/>
          <p:cNvSpPr txBox="1"/>
          <p:nvPr/>
        </p:nvSpPr>
        <p:spPr>
          <a:xfrm>
            <a:off x="1280160" y="4096512"/>
            <a:ext cx="6355080" cy="621792"/>
          </a:xfrm>
          <a:prstGeom prst="rect">
            <a:avLst/>
          </a:prstGeom>
          <a:noFill/>
          <a:ln/>
        </p:spPr>
        <p:txBody>
          <a:bodyPr wrap="square" lIns="0" tIns="0" rIns="0" bIns="0" rtlCol="0" anchor="ctr"/>
          <a:lstStyle/>
          <a:p>
            <a:pPr indent="0" marL="0">
              <a:buNone/>
            </a:pPr>
            <a:r>
              <a:rPr lang="en-US" sz="2000" dirty="0">
                <a:solidFill>
                  <a:schemeClr val="tx1"/>
                </a:solidFill>
              </a:rPr>
              <a:t>Three phosphate groups</a:t>
            </a:r>
            <a:endParaRPr lang="en-US" sz="2000" dirty="0"/>
          </a:p>
        </p:txBody>
      </p:sp>
      <p:sp>
        <p:nvSpPr>
          <p:cNvPr id="19" name="Text 16"/>
          <p:cNvSpPr txBox="1"/>
          <p:nvPr/>
        </p:nvSpPr>
        <p:spPr>
          <a:xfrm>
            <a:off x="7726680" y="4096512"/>
            <a:ext cx="411480" cy="621792"/>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sp>
        <p:nvSpPr>
          <p:cNvPr id="20" name="option D"/>
          <p:cNvSpPr/>
          <p:nvPr/>
        </p:nvSpPr>
        <p:spPr>
          <a:xfrm>
            <a:off x="548640" y="4864608"/>
            <a:ext cx="7680960" cy="621792"/>
          </a:xfrm>
          <a:prstGeom prst="roundRect">
            <a:avLst>
              <a:gd name="adj" fmla="val 17647"/>
            </a:avLst>
          </a:prstGeom>
          <a:solidFill>
            <a:schemeClr val="bg2"/>
          </a:solidFill>
          <a:ln w="12700">
            <a:solidFill>
              <a:schemeClr val="bg2"/>
            </a:solidFill>
            <a:prstDash val="solid"/>
          </a:ln>
        </p:spPr>
      </p:sp>
      <p:sp>
        <p:nvSpPr>
          <p:cNvPr id="21" name="letter"/>
          <p:cNvSpPr/>
          <p:nvPr/>
        </p:nvSpPr>
        <p:spPr>
          <a:xfrm>
            <a:off x="713232" y="4983480"/>
            <a:ext cx="384048" cy="384048"/>
          </a:xfrm>
          <a:prstGeom prst="ellipse">
            <a:avLst/>
          </a:prstGeom>
          <a:solidFill>
            <a:schemeClr val="bg1"/>
          </a:solidFill>
          <a:ln w="12700">
            <a:solidFill>
              <a:schemeClr val="bg1"/>
            </a:solidFill>
            <a:prstDash val="solid"/>
          </a:ln>
        </p:spPr>
      </p:sp>
      <p:sp>
        <p:nvSpPr>
          <p:cNvPr id="22" name="Text 19"/>
          <p:cNvSpPr txBox="1"/>
          <p:nvPr/>
        </p:nvSpPr>
        <p:spPr>
          <a:xfrm>
            <a:off x="713232" y="4983480"/>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D</a:t>
            </a:r>
            <a:endParaRPr lang="en-US" sz="1500" dirty="0"/>
          </a:p>
        </p:txBody>
      </p:sp>
      <p:sp>
        <p:nvSpPr>
          <p:cNvPr id="23" name="Text 20"/>
          <p:cNvSpPr txBox="1"/>
          <p:nvPr/>
        </p:nvSpPr>
        <p:spPr>
          <a:xfrm>
            <a:off x="1280160" y="4864608"/>
            <a:ext cx="6355080" cy="621792"/>
          </a:xfrm>
          <a:prstGeom prst="rect">
            <a:avLst/>
          </a:prstGeom>
          <a:noFill/>
          <a:ln/>
        </p:spPr>
        <p:txBody>
          <a:bodyPr wrap="square" lIns="0" tIns="0" rIns="0" bIns="0" rtlCol="0" anchor="ctr"/>
          <a:lstStyle/>
          <a:p>
            <a:pPr indent="0" marL="0">
              <a:buNone/>
            </a:pPr>
            <a:r>
              <a:rPr lang="en-US" sz="2000" dirty="0">
                <a:solidFill>
                  <a:schemeClr val="tx2"/>
                </a:solidFill>
              </a:rPr>
              <a:t>Three sugars</a:t>
            </a:r>
            <a:endParaRPr lang="en-US" sz="2000" dirty="0"/>
          </a:p>
        </p:txBody>
      </p:sp>
      <p:sp>
        <p:nvSpPr>
          <p:cNvPr id="24" name="panel"/>
          <p:cNvSpPr/>
          <p:nvPr/>
        </p:nvSpPr>
        <p:spPr>
          <a:xfrm>
            <a:off x="8503920" y="2560320"/>
            <a:ext cx="3136392" cy="2926080"/>
          </a:xfrm>
          <a:prstGeom prst="roundRect">
            <a:avLst>
              <a:gd name="adj" fmla="val 3750"/>
            </a:avLst>
          </a:prstGeom>
          <a:solidFill>
            <a:schemeClr val="accent5">
              <a:alpha val="12000"/>
            </a:schemeClr>
          </a:solidFill>
          <a:ln w="12700">
            <a:solidFill>
              <a:schemeClr val="accent5"/>
            </a:solidFill>
            <a:prstDash val="solid"/>
          </a:ln>
        </p:spPr>
      </p:sp>
      <p:sp>
        <p:nvSpPr>
          <p:cNvPr id="25" name="Text 22"/>
          <p:cNvSpPr txBox="1"/>
          <p:nvPr/>
        </p:nvSpPr>
        <p:spPr>
          <a:xfrm>
            <a:off x="8686800" y="2697480"/>
            <a:ext cx="2788920" cy="265176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Why</a:t>
            </a:r>
            <a:endParaRPr lang="en-US" sz="1700" dirty="0"/>
          </a:p>
          <a:p>
            <a:pPr indent="0" marL="0">
              <a:spcAft>
                <a:spcPts val="600"/>
              </a:spcAft>
              <a:buNone/>
            </a:pPr>
            <a:r>
              <a:rPr lang="en-US" sz="1700" dirty="0">
                <a:solidFill>
                  <a:schemeClr val="tx1"/>
                </a:solidFill>
              </a:rPr>
              <a:t>Tri = three. ATP has three phosphate groups.</a:t>
            </a:r>
            <a:endParaRPr lang="en-US" sz="17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ection tile Recharge"/>
          <p:cNvSpPr/>
          <p:nvPr/>
        </p:nvSpPr>
        <p:spPr>
          <a:xfrm>
            <a:off x="1097280" y="1783080"/>
            <a:ext cx="2377440" cy="2615184"/>
          </a:xfrm>
          <a:prstGeom prst="roundRect">
            <a:avLst>
              <a:gd name="adj" fmla="val 8000"/>
            </a:avLst>
          </a:prstGeom>
          <a:solidFill>
            <a:schemeClr val="bg2"/>
          </a:solidFill>
          <a:ln w="44450">
            <a:solidFill>
              <a:schemeClr val="accent1"/>
            </a:solidFill>
            <a:prstDash val="solid"/>
          </a:ln>
        </p:spPr>
      </p:sp>
      <p:sp>
        <p:nvSpPr>
          <p:cNvPr id="3" name="Text 1"/>
          <p:cNvSpPr txBox="1"/>
          <p:nvPr/>
        </p:nvSpPr>
        <p:spPr>
          <a:xfrm>
            <a:off x="1263701" y="1901952"/>
            <a:ext cx="950976" cy="427939"/>
          </a:xfrm>
          <a:prstGeom prst="rect">
            <a:avLst/>
          </a:prstGeom>
          <a:noFill/>
          <a:ln/>
        </p:spPr>
        <p:txBody>
          <a:bodyPr wrap="square" lIns="0" tIns="0" rIns="0" bIns="0" rtlCol="0" anchor="ctr"/>
          <a:lstStyle/>
          <a:p>
            <a:pPr indent="0" marL="0">
              <a:buNone/>
            </a:pPr>
            <a:r>
              <a:rPr lang="en-US" sz="2340" dirty="0">
                <a:solidFill>
                  <a:schemeClr val="tx2"/>
                </a:solidFill>
              </a:rPr>
              <a:t>3</a:t>
            </a:r>
            <a:endParaRPr lang="en-US" sz="2340" dirty="0"/>
          </a:p>
        </p:txBody>
      </p:sp>
      <p:pic>
        <p:nvPicPr>
          <p:cNvPr id="4" name="Image 0" descr="Recharge icon">    </p:cNvPr>
          <p:cNvPicPr>
            <a:picLocks noChangeAspect="1"/>
          </p:cNvPicPr>
          <p:nvPr/>
        </p:nvPicPr>
        <p:blipFill>
          <a:blip r:embed="rId1"/>
          <a:stretch>
            <a:fillRect/>
          </a:stretch>
        </p:blipFill>
        <p:spPr>
          <a:xfrm>
            <a:off x="1691640" y="2258568"/>
            <a:ext cx="1188720" cy="1188720"/>
          </a:xfrm>
          <a:prstGeom prst="rect">
            <a:avLst/>
          </a:prstGeom>
        </p:spPr>
      </p:pic>
      <p:sp>
        <p:nvSpPr>
          <p:cNvPr id="5" name="Text 2"/>
          <p:cNvSpPr txBox="1"/>
          <p:nvPr/>
        </p:nvSpPr>
        <p:spPr>
          <a:xfrm>
            <a:off x="1097280" y="3637483"/>
            <a:ext cx="2377440" cy="523037"/>
          </a:xfrm>
          <a:prstGeom prst="rect">
            <a:avLst/>
          </a:prstGeom>
          <a:noFill/>
          <a:ln/>
        </p:spPr>
        <p:txBody>
          <a:bodyPr wrap="square" lIns="0" tIns="0" rIns="0" bIns="0" rtlCol="0" anchor="ctr"/>
          <a:lstStyle/>
          <a:p>
            <a:pPr algn="ctr" indent="0" marL="0">
              <a:buNone/>
            </a:pPr>
            <a:r>
              <a:rPr lang="en-US" sz="1950" dirty="0">
                <a:solidFill>
                  <a:schemeClr val="tx2"/>
                </a:solidFill>
              </a:rPr>
              <a:t>Recharge</a:t>
            </a:r>
            <a:endParaRPr lang="en-US" sz="1950" dirty="0"/>
          </a:p>
        </p:txBody>
      </p:sp>
      <p:sp>
        <p:nvSpPr>
          <p:cNvPr id="6" name="Text 0"/>
          <p:cNvSpPr/>
          <p:nvPr>
            <p:ph idx="100" type="body" hasCustomPrompt="1"/>
          </p:nvPr>
        </p:nvSpPr>
        <p:spPr>
          <a:xfrm>
            <a:off x="4114800" y="2240280"/>
            <a:ext cx="7498080" cy="457200"/>
          </a:xfrm>
          <a:prstGeom prst="rect">
            <a:avLst/>
          </a:prstGeom>
          <a:noFill/>
          <a:ln/>
        </p:spPr>
        <p:txBody>
          <a:bodyPr wrap="square" lIns="0" tIns="0" rIns="0" bIns="0" rtlCol="0" anchor="b"/>
          <a:lstStyle/>
          <a:p>
            <a:pPr algn="l" indent="0" marL="0">
              <a:buNone/>
            </a:pPr>
            <a:r>
              <a:rPr lang="en-US" sz="2000" dirty="0">
                <a:solidFill>
                  <a:schemeClr val="tx2"/>
                </a:solidFill>
              </a:rPr>
              <a:t>Section 3 of 7 · about 7 min</a:t>
            </a:r>
            <a:endParaRPr lang="en-US" sz="2000" dirty="0"/>
          </a:p>
        </p:txBody>
      </p:sp>
      <p:sp>
        <p:nvSpPr>
          <p:cNvPr id="7" name="Text 0"/>
          <p:cNvSpPr/>
          <p:nvPr>
            <p:ph idx="101" type="title" hasCustomPrompt="1"/>
          </p:nvPr>
        </p:nvSpPr>
        <p:spPr>
          <a:xfrm>
            <a:off x="4114800" y="2788920"/>
            <a:ext cx="7498080" cy="1463040"/>
          </a:xfrm>
          <a:prstGeom prst="rect">
            <a:avLst/>
          </a:prstGeom>
          <a:noFill/>
          <a:ln/>
        </p:spPr>
        <p:txBody>
          <a:bodyPr wrap="square" lIns="0" tIns="0" rIns="0" bIns="0" rtlCol="0" anchor="t"/>
          <a:lstStyle/>
          <a:p>
            <a:pPr algn="l" indent="0" marL="0">
              <a:buNone/>
            </a:pPr>
            <a:r>
              <a:rPr lang="en-US" sz="4400" b="1" dirty="0">
                <a:solidFill>
                  <a:schemeClr val="tx1"/>
                </a:solidFill>
              </a:rPr>
              <a:t>Charging and spending ATP</a:t>
            </a:r>
            <a:endParaRPr lang="en-US" sz="4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A rechargeable battery</a:t>
            </a:r>
            <a:endParaRPr lang="en-US" sz="3200" dirty="0"/>
          </a:p>
        </p:txBody>
      </p:sp>
      <p:sp>
        <p:nvSpPr>
          <p:cNvPr id="3" name="tag"/>
          <p:cNvSpPr/>
          <p:nvPr/>
        </p:nvSpPr>
        <p:spPr>
          <a:xfrm>
            <a:off x="548640" y="329184"/>
            <a:ext cx="676656" cy="329184"/>
          </a:xfrm>
          <a:prstGeom prst="roundRect">
            <a:avLst>
              <a:gd name="adj" fmla="val 50000"/>
            </a:avLst>
          </a:prstGeom>
          <a:solidFill>
            <a:schemeClr val="accent3">
              <a:alpha val="18000"/>
            </a:schemeClr>
          </a:solidFill>
          <a:ln w="12700">
            <a:solidFill>
              <a:schemeClr val="accent3"/>
            </a:solidFill>
            <a:prstDash val="solid"/>
          </a:ln>
        </p:spPr>
      </p:sp>
      <p:sp>
        <p:nvSpPr>
          <p:cNvPr id="4" name="Text 2"/>
          <p:cNvSpPr txBox="1"/>
          <p:nvPr/>
        </p:nvSpPr>
        <p:spPr>
          <a:xfrm>
            <a:off x="548640" y="329184"/>
            <a:ext cx="676656" cy="329184"/>
          </a:xfrm>
          <a:prstGeom prst="rect">
            <a:avLst/>
          </a:prstGeom>
          <a:noFill/>
          <a:ln/>
        </p:spPr>
        <p:txBody>
          <a:bodyPr wrap="square" lIns="0" tIns="0" rIns="0" bIns="0" rtlCol="0" anchor="ctr"/>
          <a:lstStyle/>
          <a:p>
            <a:pPr algn="ctr" indent="0" marL="0">
              <a:buNone/>
            </a:pPr>
            <a:r>
              <a:rPr lang="en-US" sz="1300" b="1" dirty="0">
                <a:solidFill>
                  <a:schemeClr val="accent3"/>
                </a:solidFill>
              </a:rPr>
              <a:t>Read</a:t>
            </a:r>
            <a:endParaRPr lang="en-US" sz="1300" dirty="0"/>
          </a:p>
        </p:txBody>
      </p:sp>
      <p:sp>
        <p:nvSpPr>
          <p:cNvPr id="6" name="panel"/>
          <p:cNvSpPr/>
          <p:nvPr/>
        </p:nvSpPr>
        <p:spPr>
          <a:xfrm>
            <a:off x="548640" y="1691640"/>
            <a:ext cx="5486400" cy="566928"/>
          </a:xfrm>
          <a:prstGeom prst="roundRect">
            <a:avLst>
              <a:gd name="adj" fmla="val 19355"/>
            </a:avLst>
          </a:prstGeom>
          <a:solidFill>
            <a:schemeClr val="bg1"/>
          </a:solidFill>
          <a:ln w="12700">
            <a:solidFill>
              <a:schemeClr val="tx2"/>
            </a:solidFill>
            <a:prstDash val="solid"/>
          </a:ln>
        </p:spPr>
      </p:sp>
      <p:sp>
        <p:nvSpPr>
          <p:cNvPr id="7" name="Text 4"/>
          <p:cNvSpPr txBox="1"/>
          <p:nvPr/>
        </p:nvSpPr>
        <p:spPr>
          <a:xfrm>
            <a:off x="548640" y="1691640"/>
            <a:ext cx="5486400" cy="566928"/>
          </a:xfrm>
          <a:prstGeom prst="rect">
            <a:avLst/>
          </a:prstGeom>
          <a:noFill/>
          <a:ln/>
        </p:spPr>
        <p:txBody>
          <a:bodyPr wrap="square" lIns="0" tIns="0" rIns="0" bIns="0" rtlCol="0" anchor="ctr"/>
          <a:lstStyle/>
          <a:p>
            <a:pPr algn="ctr" indent="0" marL="0">
              <a:buNone/>
            </a:pPr>
            <a:r>
              <a:rPr lang="en-US" sz="2000" dirty="0">
                <a:solidFill>
                  <a:schemeClr val="accent6"/>
                </a:solidFill>
              </a:rPr>
              <a:t>Spending:</a:t>
            </a:r>
            <a:pPr algn="ctr" indent="0" marL="0">
              <a:buNone/>
            </a:pPr>
            <a:r>
              <a:rPr lang="en-US" sz="2000" dirty="0">
                <a:solidFill>
                  <a:schemeClr val="tx1"/>
                </a:solidFill>
              </a:rPr>
              <a:t>  ATP → ADP + P + energy</a:t>
            </a:r>
            <a:endParaRPr lang="en-US" sz="2000" dirty="0"/>
          </a:p>
        </p:txBody>
      </p:sp>
      <p:sp>
        <p:nvSpPr>
          <p:cNvPr id="8" name="panel"/>
          <p:cNvSpPr/>
          <p:nvPr/>
        </p:nvSpPr>
        <p:spPr>
          <a:xfrm>
            <a:off x="6217920" y="1691640"/>
            <a:ext cx="5394960" cy="566928"/>
          </a:xfrm>
          <a:prstGeom prst="roundRect">
            <a:avLst>
              <a:gd name="adj" fmla="val 19355"/>
            </a:avLst>
          </a:prstGeom>
          <a:solidFill>
            <a:schemeClr val="bg1"/>
          </a:solidFill>
          <a:ln w="12700">
            <a:solidFill>
              <a:schemeClr val="tx2"/>
            </a:solidFill>
            <a:prstDash val="solid"/>
          </a:ln>
        </p:spPr>
      </p:sp>
      <p:sp>
        <p:nvSpPr>
          <p:cNvPr id="9" name="Text 6"/>
          <p:cNvSpPr txBox="1"/>
          <p:nvPr/>
        </p:nvSpPr>
        <p:spPr>
          <a:xfrm>
            <a:off x="6217920" y="1691640"/>
            <a:ext cx="5394960" cy="566928"/>
          </a:xfrm>
          <a:prstGeom prst="rect">
            <a:avLst/>
          </a:prstGeom>
          <a:noFill/>
          <a:ln/>
        </p:spPr>
        <p:txBody>
          <a:bodyPr wrap="square" lIns="0" tIns="0" rIns="0" bIns="0" rtlCol="0" anchor="ctr"/>
          <a:lstStyle/>
          <a:p>
            <a:pPr algn="ctr" indent="0" marL="0">
              <a:buNone/>
            </a:pPr>
            <a:r>
              <a:rPr lang="en-US" sz="2000" dirty="0">
                <a:solidFill>
                  <a:schemeClr val="accent5"/>
                </a:solidFill>
              </a:rPr>
              <a:t>Charging:</a:t>
            </a:r>
            <a:pPr algn="ctr" indent="0" marL="0">
              <a:buNone/>
            </a:pPr>
            <a:r>
              <a:rPr lang="en-US" sz="2000" dirty="0">
                <a:solidFill>
                  <a:schemeClr val="tx1"/>
                </a:solidFill>
              </a:rPr>
              <a:t>  ADP + P + energy → ATP</a:t>
            </a:r>
            <a:endParaRPr lang="en-US" sz="2000" dirty="0"/>
          </a:p>
        </p:txBody>
      </p:sp>
      <p:sp>
        <p:nvSpPr>
          <p:cNvPr id="10" name="Text 7"/>
          <p:cNvSpPr txBox="1"/>
          <p:nvPr/>
        </p:nvSpPr>
        <p:spPr>
          <a:xfrm>
            <a:off x="548640" y="2560320"/>
            <a:ext cx="11064240" cy="3474720"/>
          </a:xfrm>
          <a:prstGeom prst="rect">
            <a:avLst/>
          </a:prstGeom>
          <a:noFill/>
          <a:ln/>
        </p:spPr>
        <p:txBody>
          <a:bodyPr wrap="square" lIns="0" tIns="0" rIns="0" bIns="0" rtlCol="0" anchor="t"/>
          <a:lstStyle/>
          <a:p>
            <a:pPr indent="0" marL="0">
              <a:spcAft>
                <a:spcPts val="600"/>
              </a:spcAft>
              <a:buNone/>
            </a:pPr>
            <a:r>
              <a:rPr lang="en-US" sz="2000" dirty="0">
                <a:solidFill>
                  <a:schemeClr val="tx1"/>
                </a:solidFill>
              </a:rPr>
              <a:t>When a cell needs energy, it breaks the last bond and pops off one phosphate. That releases energy, and ATP becomes </a:t>
            </a:r>
            <a:pPr indent="0" marL="0">
              <a:spcAft>
                <a:spcPts val="600"/>
              </a:spcAft>
              <a:buNone/>
            </a:pPr>
            <a:r>
              <a:rPr lang="en-US" sz="2000" b="1" dirty="0">
                <a:solidFill>
                  <a:schemeClr val="tx1"/>
                </a:solidFill>
              </a:rPr>
              <a:t>ADP</a:t>
            </a:r>
            <a:pPr indent="0" marL="0">
              <a:spcAft>
                <a:spcPts val="600"/>
              </a:spcAft>
              <a:buNone/>
            </a:pPr>
            <a:r>
              <a:rPr lang="en-US" sz="2000" dirty="0">
                <a:solidFill>
                  <a:schemeClr val="tx1"/>
                </a:solidFill>
              </a:rPr>
              <a:t> ("di" = two phosphates).</a:t>
            </a:r>
            <a:endParaRPr lang="en-US" sz="2000" dirty="0"/>
          </a:p>
          <a:p>
            <a:pPr indent="0" marL="0">
              <a:spcAft>
                <a:spcPts val="600"/>
              </a:spcAft>
              <a:buNone/>
            </a:pPr>
            <a:r>
              <a:rPr lang="en-US" sz="2000" dirty="0">
                <a:solidFill>
                  <a:schemeClr val="tx1"/>
                </a:solidFill>
              </a:rPr>
              <a:t> </a:t>
            </a:r>
            <a:endParaRPr lang="en-US" sz="2000" dirty="0"/>
          </a:p>
          <a:p>
            <a:pPr indent="0" marL="0">
              <a:spcAft>
                <a:spcPts val="600"/>
              </a:spcAft>
              <a:buNone/>
            </a:pPr>
            <a:r>
              <a:rPr lang="en-US" sz="2000" b="1" dirty="0">
                <a:solidFill>
                  <a:schemeClr val="tx1"/>
                </a:solidFill>
              </a:rPr>
              <a:t>Cellular respiration</a:t>
            </a:r>
            <a:pPr indent="0" marL="0">
              <a:spcAft>
                <a:spcPts val="600"/>
              </a:spcAft>
              <a:buNone/>
            </a:pPr>
            <a:r>
              <a:rPr lang="en-US" sz="2000" dirty="0">
                <a:solidFill>
                  <a:schemeClr val="tx1"/>
                </a:solidFill>
              </a:rPr>
              <a:t> uses energy from glucose to stick the phosphate back on, recharging ADP into ATP. Your cells recycle each ATP over and over, about your whole body weight in ATP every day.</a:t>
            </a:r>
            <a:endParaRPr lang="en-US" sz="2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The ATP cycle: 1. Charged</a:t>
            </a:r>
            <a:endParaRPr lang="en-US" sz="3200" dirty="0"/>
          </a:p>
        </p:txBody>
      </p:sp>
      <p:sp>
        <p:nvSpPr>
          <p:cNvPr id="3" name="tag"/>
          <p:cNvSpPr/>
          <p:nvPr/>
        </p:nvSpPr>
        <p:spPr>
          <a:xfrm>
            <a:off x="548640" y="329184"/>
            <a:ext cx="1636776" cy="329184"/>
          </a:xfrm>
          <a:prstGeom prst="roundRect">
            <a:avLst>
              <a:gd name="adj" fmla="val 50000"/>
            </a:avLst>
          </a:prstGeom>
          <a:solidFill>
            <a:schemeClr val="accent3">
              <a:alpha val="18000"/>
            </a:schemeClr>
          </a:solidFill>
          <a:ln w="12700">
            <a:solidFill>
              <a:schemeClr val="accent3"/>
            </a:solidFill>
            <a:prstDash val="solid"/>
          </a:ln>
        </p:spPr>
      </p:sp>
      <p:sp>
        <p:nvSpPr>
          <p:cNvPr id="4" name="Text 2"/>
          <p:cNvSpPr txBox="1"/>
          <p:nvPr/>
        </p:nvSpPr>
        <p:spPr>
          <a:xfrm>
            <a:off x="548640" y="329184"/>
            <a:ext cx="1636776" cy="329184"/>
          </a:xfrm>
          <a:prstGeom prst="rect">
            <a:avLst/>
          </a:prstGeom>
          <a:noFill/>
          <a:ln/>
        </p:spPr>
        <p:txBody>
          <a:bodyPr wrap="square" lIns="0" tIns="0" rIns="0" bIns="0" rtlCol="0" anchor="ctr"/>
          <a:lstStyle/>
          <a:p>
            <a:pPr algn="ctr" indent="0" marL="0">
              <a:buNone/>
            </a:pPr>
            <a:r>
              <a:rPr lang="en-US" sz="1300" b="1" dirty="0">
                <a:solidFill>
                  <a:schemeClr val="accent3"/>
                </a:solidFill>
              </a:rPr>
              <a:t>Worked example</a:t>
            </a:r>
            <a:endParaRPr lang="en-US" sz="1300" dirty="0"/>
          </a:p>
        </p:txBody>
      </p:sp>
      <p:pic>
        <p:nvPicPr>
          <p:cNvPr id="6" name="Image 0" descr="ATP cycle step 1">    </p:cNvPr>
          <p:cNvPicPr>
            <a:picLocks noChangeAspect="1"/>
          </p:cNvPicPr>
          <p:nvPr/>
        </p:nvPicPr>
        <p:blipFill>
          <a:blip r:embed="rId1"/>
          <a:stretch>
            <a:fillRect/>
          </a:stretch>
        </p:blipFill>
        <p:spPr>
          <a:xfrm>
            <a:off x="548640" y="2281798"/>
            <a:ext cx="7498080" cy="3117364"/>
          </a:xfrm>
          <a:prstGeom prst="rect">
            <a:avLst/>
          </a:prstGeom>
        </p:spPr>
      </p:pic>
      <p:sp>
        <p:nvSpPr>
          <p:cNvPr id="7" name="Text 3"/>
          <p:cNvSpPr txBox="1"/>
          <p:nvPr/>
        </p:nvSpPr>
        <p:spPr>
          <a:xfrm>
            <a:off x="8321040" y="2011680"/>
            <a:ext cx="3291840" cy="3840480"/>
          </a:xfrm>
          <a:prstGeom prst="rect">
            <a:avLst/>
          </a:prstGeom>
          <a:noFill/>
          <a:ln/>
        </p:spPr>
        <p:txBody>
          <a:bodyPr wrap="square" lIns="0" tIns="0" rIns="0" bIns="0" rtlCol="0" anchor="t"/>
          <a:lstStyle/>
          <a:p>
            <a:pPr indent="0" marL="0">
              <a:spcAft>
                <a:spcPts val="600"/>
              </a:spcAft>
              <a:buNone/>
            </a:pPr>
            <a:r>
              <a:rPr lang="en-US" sz="2000" dirty="0">
                <a:solidFill>
                  <a:schemeClr val="tx1"/>
                </a:solidFill>
              </a:rPr>
              <a:t>ATP has three phosphates. Like a fully charged battery.</a:t>
            </a:r>
            <a:endParaRPr lang="en-US" sz="2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The ATP cycle: 2. Spend</a:t>
            </a:r>
            <a:endParaRPr lang="en-US" sz="3200" dirty="0"/>
          </a:p>
        </p:txBody>
      </p:sp>
      <p:sp>
        <p:nvSpPr>
          <p:cNvPr id="3" name="tag"/>
          <p:cNvSpPr/>
          <p:nvPr/>
        </p:nvSpPr>
        <p:spPr>
          <a:xfrm>
            <a:off x="548640" y="329184"/>
            <a:ext cx="1636776" cy="329184"/>
          </a:xfrm>
          <a:prstGeom prst="roundRect">
            <a:avLst>
              <a:gd name="adj" fmla="val 50000"/>
            </a:avLst>
          </a:prstGeom>
          <a:solidFill>
            <a:schemeClr val="accent3">
              <a:alpha val="18000"/>
            </a:schemeClr>
          </a:solidFill>
          <a:ln w="12700">
            <a:solidFill>
              <a:schemeClr val="accent3"/>
            </a:solidFill>
            <a:prstDash val="solid"/>
          </a:ln>
        </p:spPr>
      </p:sp>
      <p:sp>
        <p:nvSpPr>
          <p:cNvPr id="4" name="Text 2"/>
          <p:cNvSpPr txBox="1"/>
          <p:nvPr/>
        </p:nvSpPr>
        <p:spPr>
          <a:xfrm>
            <a:off x="548640" y="329184"/>
            <a:ext cx="1636776" cy="329184"/>
          </a:xfrm>
          <a:prstGeom prst="rect">
            <a:avLst/>
          </a:prstGeom>
          <a:noFill/>
          <a:ln/>
        </p:spPr>
        <p:txBody>
          <a:bodyPr wrap="square" lIns="0" tIns="0" rIns="0" bIns="0" rtlCol="0" anchor="ctr"/>
          <a:lstStyle/>
          <a:p>
            <a:pPr algn="ctr" indent="0" marL="0">
              <a:buNone/>
            </a:pPr>
            <a:r>
              <a:rPr lang="en-US" sz="1300" b="1" dirty="0">
                <a:solidFill>
                  <a:schemeClr val="accent3"/>
                </a:solidFill>
              </a:rPr>
              <a:t>Worked example</a:t>
            </a:r>
            <a:endParaRPr lang="en-US" sz="1300" dirty="0"/>
          </a:p>
        </p:txBody>
      </p:sp>
      <p:pic>
        <p:nvPicPr>
          <p:cNvPr id="6" name="Image 0" descr="ATP cycle step 2">    </p:cNvPr>
          <p:cNvPicPr>
            <a:picLocks noChangeAspect="1"/>
          </p:cNvPicPr>
          <p:nvPr/>
        </p:nvPicPr>
        <p:blipFill>
          <a:blip r:embed="rId1"/>
          <a:stretch>
            <a:fillRect/>
          </a:stretch>
        </p:blipFill>
        <p:spPr>
          <a:xfrm>
            <a:off x="548640" y="2281798"/>
            <a:ext cx="7498080" cy="3117364"/>
          </a:xfrm>
          <a:prstGeom prst="rect">
            <a:avLst/>
          </a:prstGeom>
        </p:spPr>
      </p:pic>
      <p:sp>
        <p:nvSpPr>
          <p:cNvPr id="7" name="Text 3"/>
          <p:cNvSpPr txBox="1"/>
          <p:nvPr/>
        </p:nvSpPr>
        <p:spPr>
          <a:xfrm>
            <a:off x="8321040" y="2011680"/>
            <a:ext cx="3291840" cy="3840480"/>
          </a:xfrm>
          <a:prstGeom prst="rect">
            <a:avLst/>
          </a:prstGeom>
          <a:noFill/>
          <a:ln/>
        </p:spPr>
        <p:txBody>
          <a:bodyPr wrap="square" lIns="0" tIns="0" rIns="0" bIns="0" rtlCol="0" anchor="t"/>
          <a:lstStyle/>
          <a:p>
            <a:pPr indent="0" marL="0">
              <a:spcAft>
                <a:spcPts val="600"/>
              </a:spcAft>
              <a:buNone/>
            </a:pPr>
            <a:r>
              <a:rPr lang="en-US" sz="2000" dirty="0">
                <a:solidFill>
                  <a:schemeClr val="tx1"/>
                </a:solidFill>
              </a:rPr>
              <a:t>The cell breaks the last bond to power a job. Energy is released.</a:t>
            </a:r>
            <a:endParaRPr lang="en-US" sz="2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The ATP cycle: 3. Left over</a:t>
            </a:r>
            <a:endParaRPr lang="en-US" sz="3200" dirty="0"/>
          </a:p>
        </p:txBody>
      </p:sp>
      <p:sp>
        <p:nvSpPr>
          <p:cNvPr id="3" name="tag"/>
          <p:cNvSpPr/>
          <p:nvPr/>
        </p:nvSpPr>
        <p:spPr>
          <a:xfrm>
            <a:off x="548640" y="329184"/>
            <a:ext cx="1636776" cy="329184"/>
          </a:xfrm>
          <a:prstGeom prst="roundRect">
            <a:avLst>
              <a:gd name="adj" fmla="val 50000"/>
            </a:avLst>
          </a:prstGeom>
          <a:solidFill>
            <a:schemeClr val="accent3">
              <a:alpha val="18000"/>
            </a:schemeClr>
          </a:solidFill>
          <a:ln w="12700">
            <a:solidFill>
              <a:schemeClr val="accent3"/>
            </a:solidFill>
            <a:prstDash val="solid"/>
          </a:ln>
        </p:spPr>
      </p:sp>
      <p:sp>
        <p:nvSpPr>
          <p:cNvPr id="4" name="Text 2"/>
          <p:cNvSpPr txBox="1"/>
          <p:nvPr/>
        </p:nvSpPr>
        <p:spPr>
          <a:xfrm>
            <a:off x="548640" y="329184"/>
            <a:ext cx="1636776" cy="329184"/>
          </a:xfrm>
          <a:prstGeom prst="rect">
            <a:avLst/>
          </a:prstGeom>
          <a:noFill/>
          <a:ln/>
        </p:spPr>
        <p:txBody>
          <a:bodyPr wrap="square" lIns="0" tIns="0" rIns="0" bIns="0" rtlCol="0" anchor="ctr"/>
          <a:lstStyle/>
          <a:p>
            <a:pPr algn="ctr" indent="0" marL="0">
              <a:buNone/>
            </a:pPr>
            <a:r>
              <a:rPr lang="en-US" sz="1300" b="1" dirty="0">
                <a:solidFill>
                  <a:schemeClr val="accent3"/>
                </a:solidFill>
              </a:rPr>
              <a:t>Worked example</a:t>
            </a:r>
            <a:endParaRPr lang="en-US" sz="1300" dirty="0"/>
          </a:p>
        </p:txBody>
      </p:sp>
      <p:pic>
        <p:nvPicPr>
          <p:cNvPr id="6" name="Image 0" descr="ATP cycle step 3">    </p:cNvPr>
          <p:cNvPicPr>
            <a:picLocks noChangeAspect="1"/>
          </p:cNvPicPr>
          <p:nvPr/>
        </p:nvPicPr>
        <p:blipFill>
          <a:blip r:embed="rId1"/>
          <a:stretch>
            <a:fillRect/>
          </a:stretch>
        </p:blipFill>
        <p:spPr>
          <a:xfrm>
            <a:off x="548640" y="2281798"/>
            <a:ext cx="7498080" cy="3117364"/>
          </a:xfrm>
          <a:prstGeom prst="rect">
            <a:avLst/>
          </a:prstGeom>
        </p:spPr>
      </p:pic>
      <p:sp>
        <p:nvSpPr>
          <p:cNvPr id="7" name="Text 3"/>
          <p:cNvSpPr txBox="1"/>
          <p:nvPr/>
        </p:nvSpPr>
        <p:spPr>
          <a:xfrm>
            <a:off x="8321040" y="2011680"/>
            <a:ext cx="3291840" cy="3840480"/>
          </a:xfrm>
          <a:prstGeom prst="rect">
            <a:avLst/>
          </a:prstGeom>
          <a:noFill/>
          <a:ln/>
        </p:spPr>
        <p:txBody>
          <a:bodyPr wrap="square" lIns="0" tIns="0" rIns="0" bIns="0" rtlCol="0" anchor="t"/>
          <a:lstStyle/>
          <a:p>
            <a:pPr indent="0" marL="0">
              <a:spcAft>
                <a:spcPts val="600"/>
              </a:spcAft>
              <a:buNone/>
            </a:pPr>
            <a:r>
              <a:rPr lang="en-US" sz="2000" dirty="0">
                <a:solidFill>
                  <a:schemeClr val="tx1"/>
                </a:solidFill>
              </a:rPr>
              <a:t>Now it is ADP (two phosphates) plus a loose phosphate. Like a used battery.</a:t>
            </a:r>
            <a:endParaRPr lang="en-US" sz="2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The ATP cycle: 4. Recharge</a:t>
            </a:r>
            <a:endParaRPr lang="en-US" sz="3200" dirty="0"/>
          </a:p>
        </p:txBody>
      </p:sp>
      <p:sp>
        <p:nvSpPr>
          <p:cNvPr id="3" name="tag"/>
          <p:cNvSpPr/>
          <p:nvPr/>
        </p:nvSpPr>
        <p:spPr>
          <a:xfrm>
            <a:off x="548640" y="329184"/>
            <a:ext cx="1636776" cy="329184"/>
          </a:xfrm>
          <a:prstGeom prst="roundRect">
            <a:avLst>
              <a:gd name="adj" fmla="val 50000"/>
            </a:avLst>
          </a:prstGeom>
          <a:solidFill>
            <a:schemeClr val="accent3">
              <a:alpha val="18000"/>
            </a:schemeClr>
          </a:solidFill>
          <a:ln w="12700">
            <a:solidFill>
              <a:schemeClr val="accent3"/>
            </a:solidFill>
            <a:prstDash val="solid"/>
          </a:ln>
        </p:spPr>
      </p:sp>
      <p:sp>
        <p:nvSpPr>
          <p:cNvPr id="4" name="Text 2"/>
          <p:cNvSpPr txBox="1"/>
          <p:nvPr/>
        </p:nvSpPr>
        <p:spPr>
          <a:xfrm>
            <a:off x="548640" y="329184"/>
            <a:ext cx="1636776" cy="329184"/>
          </a:xfrm>
          <a:prstGeom prst="rect">
            <a:avLst/>
          </a:prstGeom>
          <a:noFill/>
          <a:ln/>
        </p:spPr>
        <p:txBody>
          <a:bodyPr wrap="square" lIns="0" tIns="0" rIns="0" bIns="0" rtlCol="0" anchor="ctr"/>
          <a:lstStyle/>
          <a:p>
            <a:pPr algn="ctr" indent="0" marL="0">
              <a:buNone/>
            </a:pPr>
            <a:r>
              <a:rPr lang="en-US" sz="1300" b="1" dirty="0">
                <a:solidFill>
                  <a:schemeClr val="accent3"/>
                </a:solidFill>
              </a:rPr>
              <a:t>Worked example</a:t>
            </a:r>
            <a:endParaRPr lang="en-US" sz="1300" dirty="0"/>
          </a:p>
        </p:txBody>
      </p:sp>
      <p:pic>
        <p:nvPicPr>
          <p:cNvPr id="6" name="Image 0" descr="ATP cycle step 4">    </p:cNvPr>
          <p:cNvPicPr>
            <a:picLocks noChangeAspect="1"/>
          </p:cNvPicPr>
          <p:nvPr/>
        </p:nvPicPr>
        <p:blipFill>
          <a:blip r:embed="rId1"/>
          <a:stretch>
            <a:fillRect/>
          </a:stretch>
        </p:blipFill>
        <p:spPr>
          <a:xfrm>
            <a:off x="548640" y="2281798"/>
            <a:ext cx="7498080" cy="3117364"/>
          </a:xfrm>
          <a:prstGeom prst="rect">
            <a:avLst/>
          </a:prstGeom>
        </p:spPr>
      </p:pic>
      <p:sp>
        <p:nvSpPr>
          <p:cNvPr id="7" name="Text 3"/>
          <p:cNvSpPr txBox="1"/>
          <p:nvPr/>
        </p:nvSpPr>
        <p:spPr>
          <a:xfrm>
            <a:off x="8321040" y="2011680"/>
            <a:ext cx="3291840" cy="3840480"/>
          </a:xfrm>
          <a:prstGeom prst="rect">
            <a:avLst/>
          </a:prstGeom>
          <a:noFill/>
          <a:ln/>
        </p:spPr>
        <p:txBody>
          <a:bodyPr wrap="square" lIns="0" tIns="0" rIns="0" bIns="0" rtlCol="0" anchor="t"/>
          <a:lstStyle/>
          <a:p>
            <a:pPr indent="0" marL="0">
              <a:spcAft>
                <a:spcPts val="600"/>
              </a:spcAft>
              <a:buNone/>
            </a:pPr>
            <a:r>
              <a:rPr lang="en-US" sz="2000" dirty="0">
                <a:solidFill>
                  <a:schemeClr val="tx1"/>
                </a:solidFill>
              </a:rPr>
              <a:t>Cellular respiration in the mitochondria uses energy from glucose to reattach the phosphate. ADP becomes ATP again, and the cycle repeats.</a:t>
            </a:r>
            <a:endParaRPr lang="en-US" sz="2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Try it: charging or spending?</a:t>
            </a:r>
            <a:endParaRPr lang="en-US" sz="3200" dirty="0"/>
          </a:p>
        </p:txBody>
      </p:sp>
      <p:sp>
        <p:nvSpPr>
          <p:cNvPr id="3" name="tag"/>
          <p:cNvSpPr/>
          <p:nvPr/>
        </p:nvSpPr>
        <p:spPr>
          <a:xfrm>
            <a:off x="548640" y="329184"/>
            <a:ext cx="868680" cy="329184"/>
          </a:xfrm>
          <a:prstGeom prst="roundRect">
            <a:avLst>
              <a:gd name="adj" fmla="val 50000"/>
            </a:avLst>
          </a:prstGeom>
          <a:solidFill>
            <a:schemeClr val="accent5">
              <a:alpha val="18000"/>
            </a:schemeClr>
          </a:solidFill>
          <a:ln w="12700">
            <a:solidFill>
              <a:schemeClr val="accent5"/>
            </a:solidFill>
            <a:prstDash val="solid"/>
          </a:ln>
        </p:spPr>
      </p:sp>
      <p:sp>
        <p:nvSpPr>
          <p:cNvPr id="4" name="Text 2"/>
          <p:cNvSpPr txBox="1"/>
          <p:nvPr/>
        </p:nvSpPr>
        <p:spPr>
          <a:xfrm>
            <a:off x="548640" y="329184"/>
            <a:ext cx="868680" cy="329184"/>
          </a:xfrm>
          <a:prstGeom prst="rect">
            <a:avLst/>
          </a:prstGeom>
          <a:noFill/>
          <a:ln/>
        </p:spPr>
        <p:txBody>
          <a:bodyPr wrap="square" lIns="0" tIns="0" rIns="0" bIns="0" rtlCol="0" anchor="ctr"/>
          <a:lstStyle/>
          <a:p>
            <a:pPr algn="ctr" indent="0" marL="0">
              <a:buNone/>
            </a:pPr>
            <a:r>
              <a:rPr lang="en-US" sz="1300" b="1" dirty="0">
                <a:solidFill>
                  <a:schemeClr val="accent5"/>
                </a:solidFill>
              </a:rPr>
              <a:t>Try it</a:t>
            </a:r>
            <a:endParaRPr lang="en-US" sz="1300" dirty="0"/>
          </a:p>
        </p:txBody>
      </p:sp>
      <p:sp>
        <p:nvSpPr>
          <p:cNvPr id="6" name="Text 3"/>
          <p:cNvSpPr txBox="1"/>
          <p:nvPr/>
        </p:nvSpPr>
        <p:spPr>
          <a:xfrm>
            <a:off x="548640" y="1554480"/>
            <a:ext cx="11064240" cy="457200"/>
          </a:xfrm>
          <a:prstGeom prst="rect">
            <a:avLst/>
          </a:prstGeom>
          <a:noFill/>
          <a:ln/>
        </p:spPr>
        <p:txBody>
          <a:bodyPr wrap="square" lIns="0" tIns="0" rIns="0" bIns="0" rtlCol="0" anchor="t"/>
          <a:lstStyle/>
          <a:p>
            <a:pPr indent="0" marL="0">
              <a:spcAft>
                <a:spcPts val="600"/>
              </a:spcAft>
              <a:buNone/>
            </a:pPr>
            <a:r>
              <a:rPr lang="en-US" sz="1800" dirty="0">
                <a:solidFill>
                  <a:schemeClr val="tx2"/>
                </a:solidFill>
              </a:rPr>
              <a:t>Does each process charge ADP → ATP or spend ATP → ADP?</a:t>
            </a:r>
            <a:endParaRPr lang="en-US" sz="1800" dirty="0"/>
          </a:p>
        </p:txBody>
      </p:sp>
      <p:sp>
        <p:nvSpPr>
          <p:cNvPr id="7" name="panel"/>
          <p:cNvSpPr/>
          <p:nvPr/>
        </p:nvSpPr>
        <p:spPr>
          <a:xfrm>
            <a:off x="548640" y="2103120"/>
            <a:ext cx="11064240" cy="1417320"/>
          </a:xfrm>
          <a:prstGeom prst="roundRect">
            <a:avLst>
              <a:gd name="adj" fmla="val 7742"/>
            </a:avLst>
          </a:prstGeom>
          <a:solidFill>
            <a:schemeClr val="bg1"/>
          </a:solidFill>
          <a:ln w="9525">
            <a:solidFill>
              <a:schemeClr val="tx2"/>
            </a:solidFill>
            <a:prstDash val="solid"/>
          </a:ln>
        </p:spPr>
      </p:sp>
      <p:sp>
        <p:nvSpPr>
          <p:cNvPr id="8" name="chip"/>
          <p:cNvSpPr/>
          <p:nvPr/>
        </p:nvSpPr>
        <p:spPr>
          <a:xfrm>
            <a:off x="731520" y="2240280"/>
            <a:ext cx="4147718" cy="402336"/>
          </a:xfrm>
          <a:prstGeom prst="roundRect">
            <a:avLst>
              <a:gd name="adj" fmla="val 50000"/>
            </a:avLst>
          </a:prstGeom>
          <a:solidFill>
            <a:schemeClr val="bg2"/>
          </a:solidFill>
          <a:ln w="12700">
            <a:solidFill>
              <a:schemeClr val="tx2"/>
            </a:solidFill>
            <a:prstDash val="solid"/>
          </a:ln>
        </p:spPr>
      </p:sp>
      <p:sp>
        <p:nvSpPr>
          <p:cNvPr id="9" name="Text 6"/>
          <p:cNvSpPr txBox="1"/>
          <p:nvPr/>
        </p:nvSpPr>
        <p:spPr>
          <a:xfrm>
            <a:off x="731520" y="2240280"/>
            <a:ext cx="4147718" cy="402336"/>
          </a:xfrm>
          <a:prstGeom prst="rect">
            <a:avLst/>
          </a:prstGeom>
          <a:noFill/>
          <a:ln/>
        </p:spPr>
        <p:txBody>
          <a:bodyPr wrap="square" lIns="0" tIns="0" rIns="0" bIns="0" rtlCol="0" anchor="ctr"/>
          <a:lstStyle/>
          <a:p>
            <a:pPr algn="ctr" indent="0" marL="0">
              <a:buNone/>
            </a:pPr>
            <a:r>
              <a:rPr lang="en-US" sz="1500" dirty="0">
                <a:solidFill>
                  <a:schemeClr val="tx1"/>
                </a:solidFill>
              </a:rPr>
              <a:t>Cellular respiration breaking down glucose</a:t>
            </a:r>
            <a:endParaRPr lang="en-US" sz="1500" dirty="0"/>
          </a:p>
        </p:txBody>
      </p:sp>
      <p:sp>
        <p:nvSpPr>
          <p:cNvPr id="10" name="chip"/>
          <p:cNvSpPr/>
          <p:nvPr/>
        </p:nvSpPr>
        <p:spPr>
          <a:xfrm>
            <a:off x="5007254" y="2240280"/>
            <a:ext cx="3699662" cy="402336"/>
          </a:xfrm>
          <a:prstGeom prst="roundRect">
            <a:avLst>
              <a:gd name="adj" fmla="val 50000"/>
            </a:avLst>
          </a:prstGeom>
          <a:solidFill>
            <a:schemeClr val="bg2"/>
          </a:solidFill>
          <a:ln w="12700">
            <a:solidFill>
              <a:schemeClr val="tx2"/>
            </a:solidFill>
            <a:prstDash val="solid"/>
          </a:ln>
        </p:spPr>
      </p:sp>
      <p:sp>
        <p:nvSpPr>
          <p:cNvPr id="11" name="Text 8"/>
          <p:cNvSpPr txBox="1"/>
          <p:nvPr/>
        </p:nvSpPr>
        <p:spPr>
          <a:xfrm>
            <a:off x="5007254" y="2240280"/>
            <a:ext cx="3699662" cy="402336"/>
          </a:xfrm>
          <a:prstGeom prst="rect">
            <a:avLst/>
          </a:prstGeom>
          <a:noFill/>
          <a:ln/>
        </p:spPr>
        <p:txBody>
          <a:bodyPr wrap="square" lIns="0" tIns="0" rIns="0" bIns="0" rtlCol="0" anchor="ctr"/>
          <a:lstStyle/>
          <a:p>
            <a:pPr algn="ctr" indent="0" marL="0">
              <a:buNone/>
            </a:pPr>
            <a:r>
              <a:rPr lang="en-US" sz="1500" dirty="0">
                <a:solidFill>
                  <a:schemeClr val="tx1"/>
                </a:solidFill>
              </a:rPr>
              <a:t>The light reactions of photosynthesis</a:t>
            </a:r>
            <a:endParaRPr lang="en-US" sz="1500" dirty="0"/>
          </a:p>
        </p:txBody>
      </p:sp>
      <p:sp>
        <p:nvSpPr>
          <p:cNvPr id="12" name="chip"/>
          <p:cNvSpPr/>
          <p:nvPr/>
        </p:nvSpPr>
        <p:spPr>
          <a:xfrm>
            <a:off x="8834933" y="2240280"/>
            <a:ext cx="2176272" cy="402336"/>
          </a:xfrm>
          <a:prstGeom prst="roundRect">
            <a:avLst>
              <a:gd name="adj" fmla="val 50000"/>
            </a:avLst>
          </a:prstGeom>
          <a:solidFill>
            <a:schemeClr val="bg2"/>
          </a:solidFill>
          <a:ln w="12700">
            <a:solidFill>
              <a:schemeClr val="tx2"/>
            </a:solidFill>
            <a:prstDash val="solid"/>
          </a:ln>
        </p:spPr>
      </p:sp>
      <p:sp>
        <p:nvSpPr>
          <p:cNvPr id="13" name="Text 10"/>
          <p:cNvSpPr txBox="1"/>
          <p:nvPr/>
        </p:nvSpPr>
        <p:spPr>
          <a:xfrm>
            <a:off x="8834933" y="2240280"/>
            <a:ext cx="2176272" cy="402336"/>
          </a:xfrm>
          <a:prstGeom prst="rect">
            <a:avLst/>
          </a:prstGeom>
          <a:noFill/>
          <a:ln/>
        </p:spPr>
        <p:txBody>
          <a:bodyPr wrap="square" lIns="0" tIns="0" rIns="0" bIns="0" rtlCol="0" anchor="ctr"/>
          <a:lstStyle/>
          <a:p>
            <a:pPr algn="ctr" indent="0" marL="0">
              <a:buNone/>
            </a:pPr>
            <a:r>
              <a:rPr lang="en-US" sz="1500" dirty="0">
                <a:solidFill>
                  <a:schemeClr val="tx1"/>
                </a:solidFill>
              </a:rPr>
              <a:t>A muscle contracting</a:t>
            </a:r>
            <a:endParaRPr lang="en-US" sz="1500" dirty="0"/>
          </a:p>
        </p:txBody>
      </p:sp>
      <p:sp>
        <p:nvSpPr>
          <p:cNvPr id="14" name="chip"/>
          <p:cNvSpPr/>
          <p:nvPr/>
        </p:nvSpPr>
        <p:spPr>
          <a:xfrm>
            <a:off x="731520" y="2770632"/>
            <a:ext cx="2355494" cy="402336"/>
          </a:xfrm>
          <a:prstGeom prst="roundRect">
            <a:avLst>
              <a:gd name="adj" fmla="val 50000"/>
            </a:avLst>
          </a:prstGeom>
          <a:solidFill>
            <a:schemeClr val="bg2"/>
          </a:solidFill>
          <a:ln w="12700">
            <a:solidFill>
              <a:schemeClr val="tx2"/>
            </a:solidFill>
            <a:prstDash val="solid"/>
          </a:ln>
        </p:spPr>
      </p:sp>
      <p:sp>
        <p:nvSpPr>
          <p:cNvPr id="15" name="Text 12"/>
          <p:cNvSpPr txBox="1"/>
          <p:nvPr/>
        </p:nvSpPr>
        <p:spPr>
          <a:xfrm>
            <a:off x="731520" y="2770632"/>
            <a:ext cx="2355494" cy="402336"/>
          </a:xfrm>
          <a:prstGeom prst="rect">
            <a:avLst/>
          </a:prstGeom>
          <a:noFill/>
          <a:ln/>
        </p:spPr>
        <p:txBody>
          <a:bodyPr wrap="square" lIns="0" tIns="0" rIns="0" bIns="0" rtlCol="0" anchor="ctr"/>
          <a:lstStyle/>
          <a:p>
            <a:pPr algn="ctr" indent="0" marL="0">
              <a:buNone/>
            </a:pPr>
            <a:r>
              <a:rPr lang="en-US" sz="1500" dirty="0">
                <a:solidFill>
                  <a:schemeClr val="tx1"/>
                </a:solidFill>
              </a:rPr>
              <a:t>A firefly making light</a:t>
            </a:r>
            <a:endParaRPr lang="en-US" sz="1500" dirty="0"/>
          </a:p>
        </p:txBody>
      </p:sp>
      <p:sp>
        <p:nvSpPr>
          <p:cNvPr id="16" name="chip"/>
          <p:cNvSpPr/>
          <p:nvPr/>
        </p:nvSpPr>
        <p:spPr>
          <a:xfrm>
            <a:off x="3215030" y="2770632"/>
            <a:ext cx="3699662" cy="402336"/>
          </a:xfrm>
          <a:prstGeom prst="roundRect">
            <a:avLst>
              <a:gd name="adj" fmla="val 50000"/>
            </a:avLst>
          </a:prstGeom>
          <a:solidFill>
            <a:schemeClr val="bg2"/>
          </a:solidFill>
          <a:ln w="12700">
            <a:solidFill>
              <a:schemeClr val="tx2"/>
            </a:solidFill>
            <a:prstDash val="solid"/>
          </a:ln>
        </p:spPr>
      </p:sp>
      <p:sp>
        <p:nvSpPr>
          <p:cNvPr id="17" name="Text 14"/>
          <p:cNvSpPr txBox="1"/>
          <p:nvPr/>
        </p:nvSpPr>
        <p:spPr>
          <a:xfrm>
            <a:off x="3215030" y="2770632"/>
            <a:ext cx="3699662" cy="402336"/>
          </a:xfrm>
          <a:prstGeom prst="rect">
            <a:avLst/>
          </a:prstGeom>
          <a:noFill/>
          <a:ln/>
        </p:spPr>
        <p:txBody>
          <a:bodyPr wrap="square" lIns="0" tIns="0" rIns="0" bIns="0" rtlCol="0" anchor="ctr"/>
          <a:lstStyle/>
          <a:p>
            <a:pPr algn="ctr" indent="0" marL="0">
              <a:buNone/>
            </a:pPr>
            <a:r>
              <a:rPr lang="en-US" sz="1500" dirty="0">
                <a:solidFill>
                  <a:schemeClr val="tx1"/>
                </a:solidFill>
              </a:rPr>
              <a:t>Pumping molecules across the membrane</a:t>
            </a:r>
            <a:endParaRPr lang="en-US" sz="1500" dirty="0"/>
          </a:p>
        </p:txBody>
      </p:sp>
      <p:sp>
        <p:nvSpPr>
          <p:cNvPr id="18" name="chip"/>
          <p:cNvSpPr/>
          <p:nvPr/>
        </p:nvSpPr>
        <p:spPr>
          <a:xfrm>
            <a:off x="7042709" y="2770632"/>
            <a:ext cx="1997050" cy="402336"/>
          </a:xfrm>
          <a:prstGeom prst="roundRect">
            <a:avLst>
              <a:gd name="adj" fmla="val 50000"/>
            </a:avLst>
          </a:prstGeom>
          <a:solidFill>
            <a:schemeClr val="bg2"/>
          </a:solidFill>
          <a:ln w="12700">
            <a:solidFill>
              <a:schemeClr val="tx2"/>
            </a:solidFill>
            <a:prstDash val="solid"/>
          </a:ln>
        </p:spPr>
      </p:sp>
      <p:sp>
        <p:nvSpPr>
          <p:cNvPr id="19" name="Text 16"/>
          <p:cNvSpPr txBox="1"/>
          <p:nvPr/>
        </p:nvSpPr>
        <p:spPr>
          <a:xfrm>
            <a:off x="7042709" y="2770632"/>
            <a:ext cx="1997050" cy="402336"/>
          </a:xfrm>
          <a:prstGeom prst="rect">
            <a:avLst/>
          </a:prstGeom>
          <a:noFill/>
          <a:ln/>
        </p:spPr>
        <p:txBody>
          <a:bodyPr wrap="square" lIns="0" tIns="0" rIns="0" bIns="0" rtlCol="0" anchor="ctr"/>
          <a:lstStyle/>
          <a:p>
            <a:pPr algn="ctr" indent="0" marL="0">
              <a:buNone/>
            </a:pPr>
            <a:r>
              <a:rPr lang="en-US" sz="1500" dirty="0">
                <a:solidFill>
                  <a:schemeClr val="tx1"/>
                </a:solidFill>
              </a:rPr>
              <a:t>Building a protein</a:t>
            </a:r>
            <a:endParaRPr lang="en-US" sz="1500" dirty="0"/>
          </a:p>
        </p:txBody>
      </p:sp>
      <p:sp>
        <p:nvSpPr>
          <p:cNvPr id="20" name="bin Charges ADP → ATP"/>
          <p:cNvSpPr/>
          <p:nvPr/>
        </p:nvSpPr>
        <p:spPr>
          <a:xfrm>
            <a:off x="548640" y="3749040"/>
            <a:ext cx="5417820" cy="2423160"/>
          </a:xfrm>
          <a:prstGeom prst="roundRect">
            <a:avLst>
              <a:gd name="adj" fmla="val 4528"/>
            </a:avLst>
          </a:prstGeom>
          <a:solidFill>
            <a:schemeClr val="bg2">
              <a:alpha val="70000"/>
            </a:schemeClr>
          </a:solidFill>
          <a:ln w="19050">
            <a:solidFill>
              <a:schemeClr val="tx2"/>
            </a:solidFill>
            <a:prstDash val="dash"/>
          </a:ln>
        </p:spPr>
      </p:sp>
      <p:sp>
        <p:nvSpPr>
          <p:cNvPr id="21" name="Text 18"/>
          <p:cNvSpPr txBox="1"/>
          <p:nvPr/>
        </p:nvSpPr>
        <p:spPr>
          <a:xfrm>
            <a:off x="731520" y="3858768"/>
            <a:ext cx="5052060" cy="384048"/>
          </a:xfrm>
          <a:prstGeom prst="rect">
            <a:avLst/>
          </a:prstGeom>
          <a:noFill/>
          <a:ln/>
        </p:spPr>
        <p:txBody>
          <a:bodyPr wrap="square" lIns="0" tIns="0" rIns="0" bIns="0" rtlCol="0" anchor="t"/>
          <a:lstStyle/>
          <a:p>
            <a:pPr indent="0" marL="0">
              <a:spcAft>
                <a:spcPts val="600"/>
              </a:spcAft>
              <a:buNone/>
            </a:pPr>
            <a:r>
              <a:rPr lang="en-US" sz="1900" b="1" dirty="0">
                <a:solidFill>
                  <a:schemeClr val="tx1"/>
                </a:solidFill>
              </a:rPr>
              <a:t>Charges ADP → ATP</a:t>
            </a:r>
            <a:endParaRPr lang="en-US" sz="1900" dirty="0"/>
          </a:p>
        </p:txBody>
      </p:sp>
      <p:sp>
        <p:nvSpPr>
          <p:cNvPr id="22" name="bin Spends ATP → ADP"/>
          <p:cNvSpPr/>
          <p:nvPr/>
        </p:nvSpPr>
        <p:spPr>
          <a:xfrm>
            <a:off x="6195060" y="3749040"/>
            <a:ext cx="5417820" cy="2423160"/>
          </a:xfrm>
          <a:prstGeom prst="roundRect">
            <a:avLst>
              <a:gd name="adj" fmla="val 4528"/>
            </a:avLst>
          </a:prstGeom>
          <a:solidFill>
            <a:schemeClr val="bg2">
              <a:alpha val="70000"/>
            </a:schemeClr>
          </a:solidFill>
          <a:ln w="19050">
            <a:solidFill>
              <a:schemeClr val="tx2"/>
            </a:solidFill>
            <a:prstDash val="dash"/>
          </a:ln>
        </p:spPr>
      </p:sp>
      <p:sp>
        <p:nvSpPr>
          <p:cNvPr id="23" name="Text 20"/>
          <p:cNvSpPr txBox="1"/>
          <p:nvPr/>
        </p:nvSpPr>
        <p:spPr>
          <a:xfrm>
            <a:off x="6377940" y="3858768"/>
            <a:ext cx="5052060" cy="384048"/>
          </a:xfrm>
          <a:prstGeom prst="rect">
            <a:avLst/>
          </a:prstGeom>
          <a:noFill/>
          <a:ln/>
        </p:spPr>
        <p:txBody>
          <a:bodyPr wrap="square" lIns="0" tIns="0" rIns="0" bIns="0" rtlCol="0" anchor="t"/>
          <a:lstStyle/>
          <a:p>
            <a:pPr indent="0" marL="0">
              <a:spcAft>
                <a:spcPts val="600"/>
              </a:spcAft>
              <a:buNone/>
            </a:pPr>
            <a:r>
              <a:rPr lang="en-US" sz="1900" b="1" dirty="0">
                <a:solidFill>
                  <a:schemeClr val="tx1"/>
                </a:solidFill>
              </a:rPr>
              <a:t>Spends ATP → ADP</a:t>
            </a:r>
            <a:endParaRPr lang="en-US" sz="19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Try it: charging or spending?</a:t>
            </a:r>
            <a:endParaRPr lang="en-US" sz="3200" dirty="0"/>
          </a:p>
        </p:txBody>
      </p:sp>
      <p:sp>
        <p:nvSpPr>
          <p:cNvPr id="3" name="tag"/>
          <p:cNvSpPr/>
          <p:nvPr/>
        </p:nvSpPr>
        <p:spPr>
          <a:xfrm>
            <a:off x="548640" y="329184"/>
            <a:ext cx="868680" cy="329184"/>
          </a:xfrm>
          <a:prstGeom prst="roundRect">
            <a:avLst>
              <a:gd name="adj" fmla="val 50000"/>
            </a:avLst>
          </a:prstGeom>
          <a:solidFill>
            <a:schemeClr val="accent5">
              <a:alpha val="18000"/>
            </a:schemeClr>
          </a:solidFill>
          <a:ln w="12700">
            <a:solidFill>
              <a:schemeClr val="accent5"/>
            </a:solidFill>
            <a:prstDash val="solid"/>
          </a:ln>
        </p:spPr>
      </p:sp>
      <p:sp>
        <p:nvSpPr>
          <p:cNvPr id="4" name="Text 2"/>
          <p:cNvSpPr txBox="1"/>
          <p:nvPr/>
        </p:nvSpPr>
        <p:spPr>
          <a:xfrm>
            <a:off x="548640" y="329184"/>
            <a:ext cx="868680" cy="329184"/>
          </a:xfrm>
          <a:prstGeom prst="rect">
            <a:avLst/>
          </a:prstGeom>
          <a:noFill/>
          <a:ln/>
        </p:spPr>
        <p:txBody>
          <a:bodyPr wrap="square" lIns="0" tIns="0" rIns="0" bIns="0" rtlCol="0" anchor="ctr"/>
          <a:lstStyle/>
          <a:p>
            <a:pPr algn="ctr" indent="0" marL="0">
              <a:buNone/>
            </a:pPr>
            <a:r>
              <a:rPr lang="en-US" sz="1300" b="1" dirty="0">
                <a:solidFill>
                  <a:schemeClr val="accent5"/>
                </a:solidFill>
              </a:rPr>
              <a:t>Answer</a:t>
            </a:r>
            <a:endParaRPr lang="en-US" sz="1300" dirty="0"/>
          </a:p>
        </p:txBody>
      </p:sp>
      <p:sp>
        <p:nvSpPr>
          <p:cNvPr id="6" name="Text 3"/>
          <p:cNvSpPr txBox="1"/>
          <p:nvPr/>
        </p:nvSpPr>
        <p:spPr>
          <a:xfrm>
            <a:off x="548640" y="1554480"/>
            <a:ext cx="11064240" cy="457200"/>
          </a:xfrm>
          <a:prstGeom prst="rect">
            <a:avLst/>
          </a:prstGeom>
          <a:noFill/>
          <a:ln/>
        </p:spPr>
        <p:txBody>
          <a:bodyPr wrap="square" lIns="0" tIns="0" rIns="0" bIns="0" rtlCol="0" anchor="t"/>
          <a:lstStyle/>
          <a:p>
            <a:pPr indent="0" marL="0">
              <a:spcAft>
                <a:spcPts val="600"/>
              </a:spcAft>
              <a:buNone/>
            </a:pPr>
            <a:r>
              <a:rPr lang="en-US" sz="1800" dirty="0">
                <a:solidFill>
                  <a:schemeClr val="tx2"/>
                </a:solidFill>
              </a:rPr>
              <a:t>Does each process charge ADP → ATP or spend ATP → ADP?</a:t>
            </a:r>
            <a:endParaRPr lang="en-US" sz="1800" dirty="0"/>
          </a:p>
        </p:txBody>
      </p:sp>
      <p:sp>
        <p:nvSpPr>
          <p:cNvPr id="7" name="bin Charges ADP → ATP"/>
          <p:cNvSpPr/>
          <p:nvPr/>
        </p:nvSpPr>
        <p:spPr>
          <a:xfrm>
            <a:off x="548640" y="2148840"/>
            <a:ext cx="5417820" cy="4023360"/>
          </a:xfrm>
          <a:prstGeom prst="roundRect">
            <a:avLst>
              <a:gd name="adj" fmla="val 2727"/>
            </a:avLst>
          </a:prstGeom>
          <a:solidFill>
            <a:schemeClr val="bg2">
              <a:alpha val="70000"/>
            </a:schemeClr>
          </a:solidFill>
          <a:ln w="19050">
            <a:solidFill>
              <a:schemeClr val="accent5"/>
            </a:solidFill>
            <a:prstDash val="dash"/>
          </a:ln>
        </p:spPr>
      </p:sp>
      <p:sp>
        <p:nvSpPr>
          <p:cNvPr id="8" name="Text 5"/>
          <p:cNvSpPr txBox="1"/>
          <p:nvPr/>
        </p:nvSpPr>
        <p:spPr>
          <a:xfrm>
            <a:off x="731520" y="2258568"/>
            <a:ext cx="5052060" cy="384048"/>
          </a:xfrm>
          <a:prstGeom prst="rect">
            <a:avLst/>
          </a:prstGeom>
          <a:noFill/>
          <a:ln/>
        </p:spPr>
        <p:txBody>
          <a:bodyPr wrap="square" lIns="0" tIns="0" rIns="0" bIns="0" rtlCol="0" anchor="t"/>
          <a:lstStyle/>
          <a:p>
            <a:pPr indent="0" marL="0">
              <a:spcAft>
                <a:spcPts val="600"/>
              </a:spcAft>
              <a:buNone/>
            </a:pPr>
            <a:r>
              <a:rPr lang="en-US" sz="1900" b="1" dirty="0">
                <a:solidFill>
                  <a:schemeClr val="tx1"/>
                </a:solidFill>
              </a:rPr>
              <a:t>Charges ADP → ATP</a:t>
            </a:r>
            <a:endParaRPr lang="en-US" sz="1900" dirty="0"/>
          </a:p>
        </p:txBody>
      </p:sp>
      <p:sp>
        <p:nvSpPr>
          <p:cNvPr id="9" name="chip"/>
          <p:cNvSpPr/>
          <p:nvPr/>
        </p:nvSpPr>
        <p:spPr>
          <a:xfrm>
            <a:off x="731520" y="2788920"/>
            <a:ext cx="4147718" cy="402336"/>
          </a:xfrm>
          <a:prstGeom prst="roundRect">
            <a:avLst>
              <a:gd name="adj" fmla="val 50000"/>
            </a:avLst>
          </a:prstGeom>
          <a:solidFill>
            <a:schemeClr val="bg2"/>
          </a:solidFill>
          <a:ln w="12700">
            <a:solidFill>
              <a:schemeClr val="accent5"/>
            </a:solidFill>
            <a:prstDash val="solid"/>
          </a:ln>
        </p:spPr>
      </p:sp>
      <p:sp>
        <p:nvSpPr>
          <p:cNvPr id="10" name="Text 7"/>
          <p:cNvSpPr txBox="1"/>
          <p:nvPr/>
        </p:nvSpPr>
        <p:spPr>
          <a:xfrm>
            <a:off x="731520" y="2788920"/>
            <a:ext cx="4147718" cy="402336"/>
          </a:xfrm>
          <a:prstGeom prst="rect">
            <a:avLst/>
          </a:prstGeom>
          <a:noFill/>
          <a:ln/>
        </p:spPr>
        <p:txBody>
          <a:bodyPr wrap="square" lIns="0" tIns="0" rIns="0" bIns="0" rtlCol="0" anchor="ctr"/>
          <a:lstStyle/>
          <a:p>
            <a:pPr algn="ctr" indent="0" marL="0">
              <a:buNone/>
            </a:pPr>
            <a:r>
              <a:rPr lang="en-US" sz="1500" dirty="0">
                <a:solidFill>
                  <a:schemeClr val="tx1"/>
                </a:solidFill>
              </a:rPr>
              <a:t>Cellular respiration breaking down glucose</a:t>
            </a:r>
            <a:endParaRPr lang="en-US" sz="1500" dirty="0"/>
          </a:p>
        </p:txBody>
      </p:sp>
      <p:sp>
        <p:nvSpPr>
          <p:cNvPr id="11" name="chip"/>
          <p:cNvSpPr/>
          <p:nvPr/>
        </p:nvSpPr>
        <p:spPr>
          <a:xfrm>
            <a:off x="731520" y="3319272"/>
            <a:ext cx="3699662" cy="402336"/>
          </a:xfrm>
          <a:prstGeom prst="roundRect">
            <a:avLst>
              <a:gd name="adj" fmla="val 50000"/>
            </a:avLst>
          </a:prstGeom>
          <a:solidFill>
            <a:schemeClr val="bg2"/>
          </a:solidFill>
          <a:ln w="12700">
            <a:solidFill>
              <a:schemeClr val="accent5"/>
            </a:solidFill>
            <a:prstDash val="solid"/>
          </a:ln>
        </p:spPr>
      </p:sp>
      <p:sp>
        <p:nvSpPr>
          <p:cNvPr id="12" name="Text 9"/>
          <p:cNvSpPr txBox="1"/>
          <p:nvPr/>
        </p:nvSpPr>
        <p:spPr>
          <a:xfrm>
            <a:off x="731520" y="3319272"/>
            <a:ext cx="3699662" cy="402336"/>
          </a:xfrm>
          <a:prstGeom prst="rect">
            <a:avLst/>
          </a:prstGeom>
          <a:noFill/>
          <a:ln/>
        </p:spPr>
        <p:txBody>
          <a:bodyPr wrap="square" lIns="0" tIns="0" rIns="0" bIns="0" rtlCol="0" anchor="ctr"/>
          <a:lstStyle/>
          <a:p>
            <a:pPr algn="ctr" indent="0" marL="0">
              <a:buNone/>
            </a:pPr>
            <a:r>
              <a:rPr lang="en-US" sz="1500" dirty="0">
                <a:solidFill>
                  <a:schemeClr val="tx1"/>
                </a:solidFill>
              </a:rPr>
              <a:t>The light reactions of photosynthesis</a:t>
            </a:r>
            <a:endParaRPr lang="en-US" sz="1500" dirty="0"/>
          </a:p>
        </p:txBody>
      </p:sp>
      <p:sp>
        <p:nvSpPr>
          <p:cNvPr id="13" name="bin Spends ATP → ADP"/>
          <p:cNvSpPr/>
          <p:nvPr/>
        </p:nvSpPr>
        <p:spPr>
          <a:xfrm>
            <a:off x="6195060" y="2148840"/>
            <a:ext cx="5417820" cy="4023360"/>
          </a:xfrm>
          <a:prstGeom prst="roundRect">
            <a:avLst>
              <a:gd name="adj" fmla="val 2727"/>
            </a:avLst>
          </a:prstGeom>
          <a:solidFill>
            <a:schemeClr val="bg2">
              <a:alpha val="70000"/>
            </a:schemeClr>
          </a:solidFill>
          <a:ln w="19050">
            <a:solidFill>
              <a:schemeClr val="accent5"/>
            </a:solidFill>
            <a:prstDash val="dash"/>
          </a:ln>
        </p:spPr>
      </p:sp>
      <p:sp>
        <p:nvSpPr>
          <p:cNvPr id="14" name="Text 11"/>
          <p:cNvSpPr txBox="1"/>
          <p:nvPr/>
        </p:nvSpPr>
        <p:spPr>
          <a:xfrm>
            <a:off x="6377940" y="2258568"/>
            <a:ext cx="5052060" cy="384048"/>
          </a:xfrm>
          <a:prstGeom prst="rect">
            <a:avLst/>
          </a:prstGeom>
          <a:noFill/>
          <a:ln/>
        </p:spPr>
        <p:txBody>
          <a:bodyPr wrap="square" lIns="0" tIns="0" rIns="0" bIns="0" rtlCol="0" anchor="t"/>
          <a:lstStyle/>
          <a:p>
            <a:pPr indent="0" marL="0">
              <a:spcAft>
                <a:spcPts val="600"/>
              </a:spcAft>
              <a:buNone/>
            </a:pPr>
            <a:r>
              <a:rPr lang="en-US" sz="1900" b="1" dirty="0">
                <a:solidFill>
                  <a:schemeClr val="tx1"/>
                </a:solidFill>
              </a:rPr>
              <a:t>Spends ATP → ADP</a:t>
            </a:r>
            <a:endParaRPr lang="en-US" sz="1900" dirty="0"/>
          </a:p>
        </p:txBody>
      </p:sp>
      <p:sp>
        <p:nvSpPr>
          <p:cNvPr id="15" name="chip"/>
          <p:cNvSpPr/>
          <p:nvPr/>
        </p:nvSpPr>
        <p:spPr>
          <a:xfrm>
            <a:off x="6377940" y="2788920"/>
            <a:ext cx="2176272" cy="402336"/>
          </a:xfrm>
          <a:prstGeom prst="roundRect">
            <a:avLst>
              <a:gd name="adj" fmla="val 50000"/>
            </a:avLst>
          </a:prstGeom>
          <a:solidFill>
            <a:schemeClr val="bg2"/>
          </a:solidFill>
          <a:ln w="12700">
            <a:solidFill>
              <a:schemeClr val="accent5"/>
            </a:solidFill>
            <a:prstDash val="solid"/>
          </a:ln>
        </p:spPr>
      </p:sp>
      <p:sp>
        <p:nvSpPr>
          <p:cNvPr id="16" name="Text 13"/>
          <p:cNvSpPr txBox="1"/>
          <p:nvPr/>
        </p:nvSpPr>
        <p:spPr>
          <a:xfrm>
            <a:off x="6377940" y="2788920"/>
            <a:ext cx="2176272" cy="402336"/>
          </a:xfrm>
          <a:prstGeom prst="rect">
            <a:avLst/>
          </a:prstGeom>
          <a:noFill/>
          <a:ln/>
        </p:spPr>
        <p:txBody>
          <a:bodyPr wrap="square" lIns="0" tIns="0" rIns="0" bIns="0" rtlCol="0" anchor="ctr"/>
          <a:lstStyle/>
          <a:p>
            <a:pPr algn="ctr" indent="0" marL="0">
              <a:buNone/>
            </a:pPr>
            <a:r>
              <a:rPr lang="en-US" sz="1500" dirty="0">
                <a:solidFill>
                  <a:schemeClr val="tx1"/>
                </a:solidFill>
              </a:rPr>
              <a:t>A muscle contracting</a:t>
            </a:r>
            <a:endParaRPr lang="en-US" sz="1500" dirty="0"/>
          </a:p>
        </p:txBody>
      </p:sp>
      <p:sp>
        <p:nvSpPr>
          <p:cNvPr id="17" name="chip"/>
          <p:cNvSpPr/>
          <p:nvPr/>
        </p:nvSpPr>
        <p:spPr>
          <a:xfrm>
            <a:off x="8682228" y="2788920"/>
            <a:ext cx="2355494" cy="402336"/>
          </a:xfrm>
          <a:prstGeom prst="roundRect">
            <a:avLst>
              <a:gd name="adj" fmla="val 50000"/>
            </a:avLst>
          </a:prstGeom>
          <a:solidFill>
            <a:schemeClr val="bg2"/>
          </a:solidFill>
          <a:ln w="12700">
            <a:solidFill>
              <a:schemeClr val="accent5"/>
            </a:solidFill>
            <a:prstDash val="solid"/>
          </a:ln>
        </p:spPr>
      </p:sp>
      <p:sp>
        <p:nvSpPr>
          <p:cNvPr id="18" name="Text 15"/>
          <p:cNvSpPr txBox="1"/>
          <p:nvPr/>
        </p:nvSpPr>
        <p:spPr>
          <a:xfrm>
            <a:off x="8682228" y="2788920"/>
            <a:ext cx="2355494" cy="402336"/>
          </a:xfrm>
          <a:prstGeom prst="rect">
            <a:avLst/>
          </a:prstGeom>
          <a:noFill/>
          <a:ln/>
        </p:spPr>
        <p:txBody>
          <a:bodyPr wrap="square" lIns="0" tIns="0" rIns="0" bIns="0" rtlCol="0" anchor="ctr"/>
          <a:lstStyle/>
          <a:p>
            <a:pPr algn="ctr" indent="0" marL="0">
              <a:buNone/>
            </a:pPr>
            <a:r>
              <a:rPr lang="en-US" sz="1500" dirty="0">
                <a:solidFill>
                  <a:schemeClr val="tx1"/>
                </a:solidFill>
              </a:rPr>
              <a:t>A firefly making light</a:t>
            </a:r>
            <a:endParaRPr lang="en-US" sz="1500" dirty="0"/>
          </a:p>
        </p:txBody>
      </p:sp>
      <p:sp>
        <p:nvSpPr>
          <p:cNvPr id="19" name="chip"/>
          <p:cNvSpPr/>
          <p:nvPr/>
        </p:nvSpPr>
        <p:spPr>
          <a:xfrm>
            <a:off x="6377940" y="3319272"/>
            <a:ext cx="3699662" cy="402336"/>
          </a:xfrm>
          <a:prstGeom prst="roundRect">
            <a:avLst>
              <a:gd name="adj" fmla="val 50000"/>
            </a:avLst>
          </a:prstGeom>
          <a:solidFill>
            <a:schemeClr val="bg2"/>
          </a:solidFill>
          <a:ln w="12700">
            <a:solidFill>
              <a:schemeClr val="accent5"/>
            </a:solidFill>
            <a:prstDash val="solid"/>
          </a:ln>
        </p:spPr>
      </p:sp>
      <p:sp>
        <p:nvSpPr>
          <p:cNvPr id="20" name="Text 17"/>
          <p:cNvSpPr txBox="1"/>
          <p:nvPr/>
        </p:nvSpPr>
        <p:spPr>
          <a:xfrm>
            <a:off x="6377940" y="3319272"/>
            <a:ext cx="3699662" cy="402336"/>
          </a:xfrm>
          <a:prstGeom prst="rect">
            <a:avLst/>
          </a:prstGeom>
          <a:noFill/>
          <a:ln/>
        </p:spPr>
        <p:txBody>
          <a:bodyPr wrap="square" lIns="0" tIns="0" rIns="0" bIns="0" rtlCol="0" anchor="ctr"/>
          <a:lstStyle/>
          <a:p>
            <a:pPr algn="ctr" indent="0" marL="0">
              <a:buNone/>
            </a:pPr>
            <a:r>
              <a:rPr lang="en-US" sz="1500" dirty="0">
                <a:solidFill>
                  <a:schemeClr val="tx1"/>
                </a:solidFill>
              </a:rPr>
              <a:t>Pumping molecules across the membrane</a:t>
            </a:r>
            <a:endParaRPr lang="en-US" sz="1500" dirty="0"/>
          </a:p>
        </p:txBody>
      </p:sp>
      <p:sp>
        <p:nvSpPr>
          <p:cNvPr id="21" name="chip"/>
          <p:cNvSpPr/>
          <p:nvPr/>
        </p:nvSpPr>
        <p:spPr>
          <a:xfrm>
            <a:off x="6377940" y="3849624"/>
            <a:ext cx="1997050" cy="402336"/>
          </a:xfrm>
          <a:prstGeom prst="roundRect">
            <a:avLst>
              <a:gd name="adj" fmla="val 50000"/>
            </a:avLst>
          </a:prstGeom>
          <a:solidFill>
            <a:schemeClr val="bg2"/>
          </a:solidFill>
          <a:ln w="12700">
            <a:solidFill>
              <a:schemeClr val="accent5"/>
            </a:solidFill>
            <a:prstDash val="solid"/>
          </a:ln>
        </p:spPr>
      </p:sp>
      <p:sp>
        <p:nvSpPr>
          <p:cNvPr id="22" name="Text 19"/>
          <p:cNvSpPr txBox="1"/>
          <p:nvPr/>
        </p:nvSpPr>
        <p:spPr>
          <a:xfrm>
            <a:off x="6377940" y="3849624"/>
            <a:ext cx="1997050" cy="402336"/>
          </a:xfrm>
          <a:prstGeom prst="rect">
            <a:avLst/>
          </a:prstGeom>
          <a:noFill/>
          <a:ln/>
        </p:spPr>
        <p:txBody>
          <a:bodyPr wrap="square" lIns="0" tIns="0" rIns="0" bIns="0" rtlCol="0" anchor="ctr"/>
          <a:lstStyle/>
          <a:p>
            <a:pPr algn="ctr" indent="0" marL="0">
              <a:buNone/>
            </a:pPr>
            <a:r>
              <a:rPr lang="en-US" sz="1500" dirty="0">
                <a:solidFill>
                  <a:schemeClr val="tx1"/>
                </a:solidFill>
              </a:rPr>
              <a:t>Building a protein</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Quick check</a:t>
            </a:r>
            <a:endParaRPr lang="en-US" sz="3200" dirty="0"/>
          </a:p>
        </p:txBody>
      </p:sp>
      <p:sp>
        <p:nvSpPr>
          <p:cNvPr id="3" name="tag"/>
          <p:cNvSpPr/>
          <p:nvPr/>
        </p:nvSpPr>
        <p:spPr>
          <a:xfrm>
            <a:off x="548640" y="329184"/>
            <a:ext cx="1348740" cy="329184"/>
          </a:xfrm>
          <a:prstGeom prst="roundRect">
            <a:avLst>
              <a:gd name="adj" fmla="val 50000"/>
            </a:avLst>
          </a:prstGeom>
          <a:solidFill>
            <a:schemeClr val="accent6">
              <a:alpha val="18000"/>
            </a:schemeClr>
          </a:solidFill>
          <a:ln w="12700">
            <a:solidFill>
              <a:schemeClr val="accent6"/>
            </a:solidFill>
            <a:prstDash val="solid"/>
          </a:ln>
        </p:spPr>
      </p:sp>
      <p:sp>
        <p:nvSpPr>
          <p:cNvPr id="4" name="Text 2"/>
          <p:cNvSpPr txBox="1"/>
          <p:nvPr/>
        </p:nvSpPr>
        <p:spPr>
          <a:xfrm>
            <a:off x="548640" y="329184"/>
            <a:ext cx="1348740" cy="329184"/>
          </a:xfrm>
          <a:prstGeom prst="rect">
            <a:avLst/>
          </a:prstGeom>
          <a:noFill/>
          <a:ln/>
        </p:spPr>
        <p:txBody>
          <a:bodyPr wrap="square" lIns="0" tIns="0" rIns="0" bIns="0" rtlCol="0" anchor="ctr"/>
          <a:lstStyle/>
          <a:p>
            <a:pPr algn="ctr" indent="0" marL="0">
              <a:buNone/>
            </a:pPr>
            <a:r>
              <a:rPr lang="en-US" sz="1300" b="1" dirty="0">
                <a:solidFill>
                  <a:schemeClr val="accent6"/>
                </a:solidFill>
              </a:rPr>
              <a:t>Quick check</a:t>
            </a:r>
            <a:endParaRPr lang="en-US" sz="1300" dirty="0"/>
          </a:p>
        </p:txBody>
      </p:sp>
      <p:sp>
        <p:nvSpPr>
          <p:cNvPr id="6" name="Text 3"/>
          <p:cNvSpPr txBox="1"/>
          <p:nvPr/>
        </p:nvSpPr>
        <p:spPr>
          <a:xfrm>
            <a:off x="548640" y="1600200"/>
            <a:ext cx="11064240" cy="868680"/>
          </a:xfrm>
          <a:prstGeom prst="rect">
            <a:avLst/>
          </a:prstGeom>
          <a:noFill/>
          <a:ln/>
        </p:spPr>
        <p:txBody>
          <a:bodyPr wrap="square" lIns="0" tIns="0" rIns="0" bIns="0" rtlCol="0" anchor="t"/>
          <a:lstStyle/>
          <a:p>
            <a:pPr indent="0" marL="0">
              <a:spcAft>
                <a:spcPts val="600"/>
              </a:spcAft>
              <a:buNone/>
            </a:pPr>
            <a:r>
              <a:rPr lang="en-US" sz="2400" dirty="0">
                <a:solidFill>
                  <a:schemeClr val="tx1"/>
                </a:solidFill>
              </a:rPr>
              <a:t>When ATP releases its energy, what is left over?</a:t>
            </a:r>
            <a:endParaRPr lang="en-US" sz="2400" dirty="0"/>
          </a:p>
        </p:txBody>
      </p:sp>
      <p:sp>
        <p:nvSpPr>
          <p:cNvPr id="7" name="option A"/>
          <p:cNvSpPr/>
          <p:nvPr/>
        </p:nvSpPr>
        <p:spPr>
          <a:xfrm>
            <a:off x="548640" y="2560320"/>
            <a:ext cx="7680960" cy="621792"/>
          </a:xfrm>
          <a:prstGeom prst="roundRect">
            <a:avLst>
              <a:gd name="adj" fmla="val 17647"/>
            </a:avLst>
          </a:prstGeom>
          <a:solidFill>
            <a:schemeClr val="bg2"/>
          </a:solidFill>
          <a:ln w="12700">
            <a:solidFill>
              <a:schemeClr val="bg2"/>
            </a:solidFill>
            <a:prstDash val="solid"/>
          </a:ln>
        </p:spPr>
      </p:sp>
      <p:sp>
        <p:nvSpPr>
          <p:cNvPr id="8" name="letter"/>
          <p:cNvSpPr/>
          <p:nvPr/>
        </p:nvSpPr>
        <p:spPr>
          <a:xfrm>
            <a:off x="713232" y="2679192"/>
            <a:ext cx="384048" cy="384048"/>
          </a:xfrm>
          <a:prstGeom prst="ellipse">
            <a:avLst/>
          </a:prstGeom>
          <a:solidFill>
            <a:schemeClr val="bg1"/>
          </a:solidFill>
          <a:ln w="12700">
            <a:solidFill>
              <a:schemeClr val="bg1"/>
            </a:solidFill>
            <a:prstDash val="solid"/>
          </a:ln>
        </p:spPr>
      </p:sp>
      <p:sp>
        <p:nvSpPr>
          <p:cNvPr id="9" name="Text 6"/>
          <p:cNvSpPr txBox="1"/>
          <p:nvPr/>
        </p:nvSpPr>
        <p:spPr>
          <a:xfrm>
            <a:off x="713232" y="2679192"/>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A</a:t>
            </a:r>
            <a:endParaRPr lang="en-US" sz="1500" dirty="0"/>
          </a:p>
        </p:txBody>
      </p:sp>
      <p:sp>
        <p:nvSpPr>
          <p:cNvPr id="10" name="Text 7"/>
          <p:cNvSpPr txBox="1"/>
          <p:nvPr/>
        </p:nvSpPr>
        <p:spPr>
          <a:xfrm>
            <a:off x="1280160" y="2560320"/>
            <a:ext cx="6355080" cy="621792"/>
          </a:xfrm>
          <a:prstGeom prst="rect">
            <a:avLst/>
          </a:prstGeom>
          <a:noFill/>
          <a:ln/>
        </p:spPr>
        <p:txBody>
          <a:bodyPr wrap="square" lIns="0" tIns="0" rIns="0" bIns="0" rtlCol="0" anchor="ctr"/>
          <a:lstStyle/>
          <a:p>
            <a:pPr indent="0" marL="0">
              <a:buNone/>
            </a:pPr>
            <a:r>
              <a:rPr lang="en-US" sz="2000" dirty="0">
                <a:solidFill>
                  <a:schemeClr val="tx1"/>
                </a:solidFill>
              </a:rPr>
              <a:t>Carbon dioxide and water</a:t>
            </a:r>
            <a:endParaRPr lang="en-US" sz="2000" dirty="0"/>
          </a:p>
        </p:txBody>
      </p:sp>
      <p:sp>
        <p:nvSpPr>
          <p:cNvPr id="11" name="option B"/>
          <p:cNvSpPr/>
          <p:nvPr/>
        </p:nvSpPr>
        <p:spPr>
          <a:xfrm>
            <a:off x="548640" y="3328416"/>
            <a:ext cx="7680960" cy="621792"/>
          </a:xfrm>
          <a:prstGeom prst="roundRect">
            <a:avLst>
              <a:gd name="adj" fmla="val 17647"/>
            </a:avLst>
          </a:prstGeom>
          <a:solidFill>
            <a:schemeClr val="bg2"/>
          </a:solidFill>
          <a:ln w="12700">
            <a:solidFill>
              <a:schemeClr val="bg2"/>
            </a:solidFill>
            <a:prstDash val="solid"/>
          </a:ln>
        </p:spPr>
      </p:sp>
      <p:sp>
        <p:nvSpPr>
          <p:cNvPr id="12" name="letter"/>
          <p:cNvSpPr/>
          <p:nvPr/>
        </p:nvSpPr>
        <p:spPr>
          <a:xfrm>
            <a:off x="713232" y="3447288"/>
            <a:ext cx="384048" cy="384048"/>
          </a:xfrm>
          <a:prstGeom prst="ellipse">
            <a:avLst/>
          </a:prstGeom>
          <a:solidFill>
            <a:schemeClr val="bg1"/>
          </a:solidFill>
          <a:ln w="12700">
            <a:solidFill>
              <a:schemeClr val="bg1"/>
            </a:solidFill>
            <a:prstDash val="solid"/>
          </a:ln>
        </p:spPr>
      </p:sp>
      <p:sp>
        <p:nvSpPr>
          <p:cNvPr id="13" name="Text 10"/>
          <p:cNvSpPr txBox="1"/>
          <p:nvPr/>
        </p:nvSpPr>
        <p:spPr>
          <a:xfrm>
            <a:off x="713232" y="3447288"/>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B</a:t>
            </a:r>
            <a:endParaRPr lang="en-US" sz="1500" dirty="0"/>
          </a:p>
        </p:txBody>
      </p:sp>
      <p:sp>
        <p:nvSpPr>
          <p:cNvPr id="14" name="Text 11"/>
          <p:cNvSpPr txBox="1"/>
          <p:nvPr/>
        </p:nvSpPr>
        <p:spPr>
          <a:xfrm>
            <a:off x="1280160" y="3328416"/>
            <a:ext cx="6355080" cy="621792"/>
          </a:xfrm>
          <a:prstGeom prst="rect">
            <a:avLst/>
          </a:prstGeom>
          <a:noFill/>
          <a:ln/>
        </p:spPr>
        <p:txBody>
          <a:bodyPr wrap="square" lIns="0" tIns="0" rIns="0" bIns="0" rtlCol="0" anchor="ctr"/>
          <a:lstStyle/>
          <a:p>
            <a:pPr indent="0" marL="0">
              <a:buNone/>
            </a:pPr>
            <a:r>
              <a:rPr lang="en-US" sz="2000" dirty="0">
                <a:solidFill>
                  <a:schemeClr val="tx1"/>
                </a:solidFill>
              </a:rPr>
              <a:t>ADP and a phosphate group</a:t>
            </a:r>
            <a:endParaRPr lang="en-US" sz="2000" dirty="0"/>
          </a:p>
        </p:txBody>
      </p:sp>
      <p:sp>
        <p:nvSpPr>
          <p:cNvPr id="15" name="option C"/>
          <p:cNvSpPr/>
          <p:nvPr/>
        </p:nvSpPr>
        <p:spPr>
          <a:xfrm>
            <a:off x="548640" y="4096512"/>
            <a:ext cx="7680960" cy="621792"/>
          </a:xfrm>
          <a:prstGeom prst="roundRect">
            <a:avLst>
              <a:gd name="adj" fmla="val 17647"/>
            </a:avLst>
          </a:prstGeom>
          <a:solidFill>
            <a:schemeClr val="bg2"/>
          </a:solidFill>
          <a:ln w="12700">
            <a:solidFill>
              <a:schemeClr val="bg2"/>
            </a:solidFill>
            <a:prstDash val="solid"/>
          </a:ln>
        </p:spPr>
      </p:sp>
      <p:sp>
        <p:nvSpPr>
          <p:cNvPr id="16" name="letter"/>
          <p:cNvSpPr/>
          <p:nvPr/>
        </p:nvSpPr>
        <p:spPr>
          <a:xfrm>
            <a:off x="713232" y="4215384"/>
            <a:ext cx="384048" cy="384048"/>
          </a:xfrm>
          <a:prstGeom prst="ellipse">
            <a:avLst/>
          </a:prstGeom>
          <a:solidFill>
            <a:schemeClr val="bg1"/>
          </a:solidFill>
          <a:ln w="12700">
            <a:solidFill>
              <a:schemeClr val="bg1"/>
            </a:solidFill>
            <a:prstDash val="solid"/>
          </a:ln>
        </p:spPr>
      </p:sp>
      <p:sp>
        <p:nvSpPr>
          <p:cNvPr id="17" name="Text 14"/>
          <p:cNvSpPr txBox="1"/>
          <p:nvPr/>
        </p:nvSpPr>
        <p:spPr>
          <a:xfrm>
            <a:off x="713232" y="4215384"/>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C</a:t>
            </a:r>
            <a:endParaRPr lang="en-US" sz="1500" dirty="0"/>
          </a:p>
        </p:txBody>
      </p:sp>
      <p:sp>
        <p:nvSpPr>
          <p:cNvPr id="18" name="Text 15"/>
          <p:cNvSpPr txBox="1"/>
          <p:nvPr/>
        </p:nvSpPr>
        <p:spPr>
          <a:xfrm>
            <a:off x="1280160" y="4096512"/>
            <a:ext cx="6355080" cy="621792"/>
          </a:xfrm>
          <a:prstGeom prst="rect">
            <a:avLst/>
          </a:prstGeom>
          <a:noFill/>
          <a:ln/>
        </p:spPr>
        <p:txBody>
          <a:bodyPr wrap="square" lIns="0" tIns="0" rIns="0" bIns="0" rtlCol="0" anchor="ctr"/>
          <a:lstStyle/>
          <a:p>
            <a:pPr indent="0" marL="0">
              <a:buNone/>
            </a:pPr>
            <a:r>
              <a:rPr lang="en-US" sz="2000" dirty="0">
                <a:solidFill>
                  <a:schemeClr val="tx1"/>
                </a:solidFill>
              </a:rPr>
              <a:t>Glucose and oxygen</a:t>
            </a:r>
            <a:endParaRPr lang="en-US" sz="2000" dirty="0"/>
          </a:p>
        </p:txBody>
      </p:sp>
      <p:sp>
        <p:nvSpPr>
          <p:cNvPr id="19" name="option D"/>
          <p:cNvSpPr/>
          <p:nvPr/>
        </p:nvSpPr>
        <p:spPr>
          <a:xfrm>
            <a:off x="548640" y="4864608"/>
            <a:ext cx="7680960" cy="621792"/>
          </a:xfrm>
          <a:prstGeom prst="roundRect">
            <a:avLst>
              <a:gd name="adj" fmla="val 17647"/>
            </a:avLst>
          </a:prstGeom>
          <a:solidFill>
            <a:schemeClr val="bg2"/>
          </a:solidFill>
          <a:ln w="12700">
            <a:solidFill>
              <a:schemeClr val="bg2"/>
            </a:solidFill>
            <a:prstDash val="solid"/>
          </a:ln>
        </p:spPr>
      </p:sp>
      <p:sp>
        <p:nvSpPr>
          <p:cNvPr id="20" name="letter"/>
          <p:cNvSpPr/>
          <p:nvPr/>
        </p:nvSpPr>
        <p:spPr>
          <a:xfrm>
            <a:off x="713232" y="4983480"/>
            <a:ext cx="384048" cy="384048"/>
          </a:xfrm>
          <a:prstGeom prst="ellipse">
            <a:avLst/>
          </a:prstGeom>
          <a:solidFill>
            <a:schemeClr val="bg1"/>
          </a:solidFill>
          <a:ln w="12700">
            <a:solidFill>
              <a:schemeClr val="bg1"/>
            </a:solidFill>
            <a:prstDash val="solid"/>
          </a:ln>
        </p:spPr>
      </p:sp>
      <p:sp>
        <p:nvSpPr>
          <p:cNvPr id="21" name="Text 18"/>
          <p:cNvSpPr txBox="1"/>
          <p:nvPr/>
        </p:nvSpPr>
        <p:spPr>
          <a:xfrm>
            <a:off x="713232" y="4983480"/>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D</a:t>
            </a:r>
            <a:endParaRPr lang="en-US" sz="1500" dirty="0"/>
          </a:p>
        </p:txBody>
      </p:sp>
      <p:sp>
        <p:nvSpPr>
          <p:cNvPr id="22" name="Text 19"/>
          <p:cNvSpPr txBox="1"/>
          <p:nvPr/>
        </p:nvSpPr>
        <p:spPr>
          <a:xfrm>
            <a:off x="1280160" y="4864608"/>
            <a:ext cx="6355080" cy="621792"/>
          </a:xfrm>
          <a:prstGeom prst="rect">
            <a:avLst/>
          </a:prstGeom>
          <a:noFill/>
          <a:ln/>
        </p:spPr>
        <p:txBody>
          <a:bodyPr wrap="square" lIns="0" tIns="0" rIns="0" bIns="0" rtlCol="0" anchor="ctr"/>
          <a:lstStyle/>
          <a:p>
            <a:pPr indent="0" marL="0">
              <a:buNone/>
            </a:pPr>
            <a:r>
              <a:rPr lang="en-US" sz="2000" dirty="0">
                <a:solidFill>
                  <a:schemeClr val="tx1"/>
                </a:solidFill>
              </a:rPr>
              <a:t>Nothing; ATP is destroyed</a:t>
            </a:r>
            <a:endParaRPr lang="en-US" sz="2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Quick check</a:t>
            </a:r>
            <a:endParaRPr lang="en-US" sz="3200" dirty="0"/>
          </a:p>
        </p:txBody>
      </p:sp>
      <p:sp>
        <p:nvSpPr>
          <p:cNvPr id="3" name="tag"/>
          <p:cNvSpPr/>
          <p:nvPr/>
        </p:nvSpPr>
        <p:spPr>
          <a:xfrm>
            <a:off x="548640" y="329184"/>
            <a:ext cx="868680" cy="329184"/>
          </a:xfrm>
          <a:prstGeom prst="roundRect">
            <a:avLst>
              <a:gd name="adj" fmla="val 50000"/>
            </a:avLst>
          </a:prstGeom>
          <a:solidFill>
            <a:schemeClr val="accent5">
              <a:alpha val="18000"/>
            </a:schemeClr>
          </a:solidFill>
          <a:ln w="12700">
            <a:solidFill>
              <a:schemeClr val="accent5"/>
            </a:solidFill>
            <a:prstDash val="solid"/>
          </a:ln>
        </p:spPr>
      </p:sp>
      <p:sp>
        <p:nvSpPr>
          <p:cNvPr id="4" name="Text 2"/>
          <p:cNvSpPr txBox="1"/>
          <p:nvPr/>
        </p:nvSpPr>
        <p:spPr>
          <a:xfrm>
            <a:off x="548640" y="329184"/>
            <a:ext cx="868680" cy="329184"/>
          </a:xfrm>
          <a:prstGeom prst="rect">
            <a:avLst/>
          </a:prstGeom>
          <a:noFill/>
          <a:ln/>
        </p:spPr>
        <p:txBody>
          <a:bodyPr wrap="square" lIns="0" tIns="0" rIns="0" bIns="0" rtlCol="0" anchor="ctr"/>
          <a:lstStyle/>
          <a:p>
            <a:pPr algn="ctr" indent="0" marL="0">
              <a:buNone/>
            </a:pPr>
            <a:r>
              <a:rPr lang="en-US" sz="1300" b="1" dirty="0">
                <a:solidFill>
                  <a:schemeClr val="accent5"/>
                </a:solidFill>
              </a:rPr>
              <a:t>Answer</a:t>
            </a:r>
            <a:endParaRPr lang="en-US" sz="1300" dirty="0"/>
          </a:p>
        </p:txBody>
      </p:sp>
      <p:sp>
        <p:nvSpPr>
          <p:cNvPr id="6" name="Text 3"/>
          <p:cNvSpPr txBox="1"/>
          <p:nvPr/>
        </p:nvSpPr>
        <p:spPr>
          <a:xfrm>
            <a:off x="548640" y="1600200"/>
            <a:ext cx="11064240" cy="868680"/>
          </a:xfrm>
          <a:prstGeom prst="rect">
            <a:avLst/>
          </a:prstGeom>
          <a:noFill/>
          <a:ln/>
        </p:spPr>
        <p:txBody>
          <a:bodyPr wrap="square" lIns="0" tIns="0" rIns="0" bIns="0" rtlCol="0" anchor="t"/>
          <a:lstStyle/>
          <a:p>
            <a:pPr indent="0" marL="0">
              <a:spcAft>
                <a:spcPts val="600"/>
              </a:spcAft>
              <a:buNone/>
            </a:pPr>
            <a:r>
              <a:rPr lang="en-US" sz="2400" dirty="0">
                <a:solidFill>
                  <a:schemeClr val="tx1"/>
                </a:solidFill>
              </a:rPr>
              <a:t>When ATP releases its energy, what is left over?</a:t>
            </a:r>
            <a:endParaRPr lang="en-US" sz="2400" dirty="0"/>
          </a:p>
        </p:txBody>
      </p:sp>
      <p:sp>
        <p:nvSpPr>
          <p:cNvPr id="7" name="option A"/>
          <p:cNvSpPr/>
          <p:nvPr/>
        </p:nvSpPr>
        <p:spPr>
          <a:xfrm>
            <a:off x="548640" y="2560320"/>
            <a:ext cx="7680960" cy="621792"/>
          </a:xfrm>
          <a:prstGeom prst="roundRect">
            <a:avLst>
              <a:gd name="adj" fmla="val 17647"/>
            </a:avLst>
          </a:prstGeom>
          <a:solidFill>
            <a:schemeClr val="bg2"/>
          </a:solidFill>
          <a:ln w="12700">
            <a:solidFill>
              <a:schemeClr val="bg2"/>
            </a:solidFill>
            <a:prstDash val="solid"/>
          </a:ln>
        </p:spPr>
      </p:sp>
      <p:sp>
        <p:nvSpPr>
          <p:cNvPr id="8" name="letter"/>
          <p:cNvSpPr/>
          <p:nvPr/>
        </p:nvSpPr>
        <p:spPr>
          <a:xfrm>
            <a:off x="713232" y="2679192"/>
            <a:ext cx="384048" cy="384048"/>
          </a:xfrm>
          <a:prstGeom prst="ellipse">
            <a:avLst/>
          </a:prstGeom>
          <a:solidFill>
            <a:schemeClr val="bg1"/>
          </a:solidFill>
          <a:ln w="12700">
            <a:solidFill>
              <a:schemeClr val="bg1"/>
            </a:solidFill>
            <a:prstDash val="solid"/>
          </a:ln>
        </p:spPr>
      </p:sp>
      <p:sp>
        <p:nvSpPr>
          <p:cNvPr id="9" name="Text 6"/>
          <p:cNvSpPr txBox="1"/>
          <p:nvPr/>
        </p:nvSpPr>
        <p:spPr>
          <a:xfrm>
            <a:off x="713232" y="2679192"/>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A</a:t>
            </a:r>
            <a:endParaRPr lang="en-US" sz="1500" dirty="0"/>
          </a:p>
        </p:txBody>
      </p:sp>
      <p:sp>
        <p:nvSpPr>
          <p:cNvPr id="10" name="Text 7"/>
          <p:cNvSpPr txBox="1"/>
          <p:nvPr/>
        </p:nvSpPr>
        <p:spPr>
          <a:xfrm>
            <a:off x="1280160" y="2560320"/>
            <a:ext cx="6355080" cy="621792"/>
          </a:xfrm>
          <a:prstGeom prst="rect">
            <a:avLst/>
          </a:prstGeom>
          <a:noFill/>
          <a:ln/>
        </p:spPr>
        <p:txBody>
          <a:bodyPr wrap="square" lIns="0" tIns="0" rIns="0" bIns="0" rtlCol="0" anchor="ctr"/>
          <a:lstStyle/>
          <a:p>
            <a:pPr indent="0" marL="0">
              <a:buNone/>
            </a:pPr>
            <a:r>
              <a:rPr lang="en-US" sz="2000" dirty="0">
                <a:solidFill>
                  <a:schemeClr val="tx2"/>
                </a:solidFill>
              </a:rPr>
              <a:t>Carbon dioxide and water</a:t>
            </a:r>
            <a:endParaRPr lang="en-US" sz="2000" dirty="0"/>
          </a:p>
        </p:txBody>
      </p:sp>
      <p:sp>
        <p:nvSpPr>
          <p:cNvPr id="11" name="option B"/>
          <p:cNvSpPr/>
          <p:nvPr/>
        </p:nvSpPr>
        <p:spPr>
          <a:xfrm>
            <a:off x="548640" y="3328416"/>
            <a:ext cx="7680960" cy="621792"/>
          </a:xfrm>
          <a:prstGeom prst="roundRect">
            <a:avLst>
              <a:gd name="adj" fmla="val 17647"/>
            </a:avLst>
          </a:prstGeom>
          <a:solidFill>
            <a:schemeClr val="accent5">
              <a:alpha val="20000"/>
            </a:schemeClr>
          </a:solidFill>
          <a:ln w="25400">
            <a:solidFill>
              <a:schemeClr val="accent5"/>
            </a:solidFill>
            <a:prstDash val="solid"/>
          </a:ln>
        </p:spPr>
      </p:sp>
      <p:sp>
        <p:nvSpPr>
          <p:cNvPr id="12" name="letter"/>
          <p:cNvSpPr/>
          <p:nvPr/>
        </p:nvSpPr>
        <p:spPr>
          <a:xfrm>
            <a:off x="713232" y="3447288"/>
            <a:ext cx="384048" cy="384048"/>
          </a:xfrm>
          <a:prstGeom prst="ellipse">
            <a:avLst/>
          </a:prstGeom>
          <a:solidFill>
            <a:schemeClr val="accent5"/>
          </a:solidFill>
          <a:ln w="12700">
            <a:solidFill>
              <a:schemeClr val="accent5"/>
            </a:solidFill>
            <a:prstDash val="solid"/>
          </a:ln>
        </p:spPr>
      </p:sp>
      <p:sp>
        <p:nvSpPr>
          <p:cNvPr id="13" name="Text 10"/>
          <p:cNvSpPr txBox="1"/>
          <p:nvPr/>
        </p:nvSpPr>
        <p:spPr>
          <a:xfrm>
            <a:off x="713232" y="3447288"/>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B</a:t>
            </a:r>
            <a:endParaRPr lang="en-US" sz="1500" dirty="0"/>
          </a:p>
        </p:txBody>
      </p:sp>
      <p:sp>
        <p:nvSpPr>
          <p:cNvPr id="14" name="Text 11"/>
          <p:cNvSpPr txBox="1"/>
          <p:nvPr/>
        </p:nvSpPr>
        <p:spPr>
          <a:xfrm>
            <a:off x="1280160" y="3328416"/>
            <a:ext cx="6355080" cy="621792"/>
          </a:xfrm>
          <a:prstGeom prst="rect">
            <a:avLst/>
          </a:prstGeom>
          <a:noFill/>
          <a:ln/>
        </p:spPr>
        <p:txBody>
          <a:bodyPr wrap="square" lIns="0" tIns="0" rIns="0" bIns="0" rtlCol="0" anchor="ctr"/>
          <a:lstStyle/>
          <a:p>
            <a:pPr indent="0" marL="0">
              <a:buNone/>
            </a:pPr>
            <a:r>
              <a:rPr lang="en-US" sz="2000" dirty="0">
                <a:solidFill>
                  <a:schemeClr val="tx1"/>
                </a:solidFill>
              </a:rPr>
              <a:t>ADP and a phosphate group</a:t>
            </a:r>
            <a:endParaRPr lang="en-US" sz="2000" dirty="0"/>
          </a:p>
        </p:txBody>
      </p:sp>
      <p:sp>
        <p:nvSpPr>
          <p:cNvPr id="15" name="Text 12"/>
          <p:cNvSpPr txBox="1"/>
          <p:nvPr/>
        </p:nvSpPr>
        <p:spPr>
          <a:xfrm>
            <a:off x="7726680" y="3328416"/>
            <a:ext cx="411480" cy="621792"/>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sp>
        <p:nvSpPr>
          <p:cNvPr id="16" name="option C"/>
          <p:cNvSpPr/>
          <p:nvPr/>
        </p:nvSpPr>
        <p:spPr>
          <a:xfrm>
            <a:off x="548640" y="4096512"/>
            <a:ext cx="7680960" cy="621792"/>
          </a:xfrm>
          <a:prstGeom prst="roundRect">
            <a:avLst>
              <a:gd name="adj" fmla="val 17647"/>
            </a:avLst>
          </a:prstGeom>
          <a:solidFill>
            <a:schemeClr val="bg2"/>
          </a:solidFill>
          <a:ln w="12700">
            <a:solidFill>
              <a:schemeClr val="bg2"/>
            </a:solidFill>
            <a:prstDash val="solid"/>
          </a:ln>
        </p:spPr>
      </p:sp>
      <p:sp>
        <p:nvSpPr>
          <p:cNvPr id="17" name="letter"/>
          <p:cNvSpPr/>
          <p:nvPr/>
        </p:nvSpPr>
        <p:spPr>
          <a:xfrm>
            <a:off x="713232" y="4215384"/>
            <a:ext cx="384048" cy="384048"/>
          </a:xfrm>
          <a:prstGeom prst="ellipse">
            <a:avLst/>
          </a:prstGeom>
          <a:solidFill>
            <a:schemeClr val="bg1"/>
          </a:solidFill>
          <a:ln w="12700">
            <a:solidFill>
              <a:schemeClr val="bg1"/>
            </a:solidFill>
            <a:prstDash val="solid"/>
          </a:ln>
        </p:spPr>
      </p:sp>
      <p:sp>
        <p:nvSpPr>
          <p:cNvPr id="18" name="Text 15"/>
          <p:cNvSpPr txBox="1"/>
          <p:nvPr/>
        </p:nvSpPr>
        <p:spPr>
          <a:xfrm>
            <a:off x="713232" y="4215384"/>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C</a:t>
            </a:r>
            <a:endParaRPr lang="en-US" sz="1500" dirty="0"/>
          </a:p>
        </p:txBody>
      </p:sp>
      <p:sp>
        <p:nvSpPr>
          <p:cNvPr id="19" name="Text 16"/>
          <p:cNvSpPr txBox="1"/>
          <p:nvPr/>
        </p:nvSpPr>
        <p:spPr>
          <a:xfrm>
            <a:off x="1280160" y="4096512"/>
            <a:ext cx="6355080" cy="621792"/>
          </a:xfrm>
          <a:prstGeom prst="rect">
            <a:avLst/>
          </a:prstGeom>
          <a:noFill/>
          <a:ln/>
        </p:spPr>
        <p:txBody>
          <a:bodyPr wrap="square" lIns="0" tIns="0" rIns="0" bIns="0" rtlCol="0" anchor="ctr"/>
          <a:lstStyle/>
          <a:p>
            <a:pPr indent="0" marL="0">
              <a:buNone/>
            </a:pPr>
            <a:r>
              <a:rPr lang="en-US" sz="2000" dirty="0">
                <a:solidFill>
                  <a:schemeClr val="tx2"/>
                </a:solidFill>
              </a:rPr>
              <a:t>Glucose and oxygen</a:t>
            </a:r>
            <a:endParaRPr lang="en-US" sz="2000" dirty="0"/>
          </a:p>
        </p:txBody>
      </p:sp>
      <p:sp>
        <p:nvSpPr>
          <p:cNvPr id="20" name="option D"/>
          <p:cNvSpPr/>
          <p:nvPr/>
        </p:nvSpPr>
        <p:spPr>
          <a:xfrm>
            <a:off x="548640" y="4864608"/>
            <a:ext cx="7680960" cy="621792"/>
          </a:xfrm>
          <a:prstGeom prst="roundRect">
            <a:avLst>
              <a:gd name="adj" fmla="val 17647"/>
            </a:avLst>
          </a:prstGeom>
          <a:solidFill>
            <a:schemeClr val="bg2"/>
          </a:solidFill>
          <a:ln w="12700">
            <a:solidFill>
              <a:schemeClr val="bg2"/>
            </a:solidFill>
            <a:prstDash val="solid"/>
          </a:ln>
        </p:spPr>
      </p:sp>
      <p:sp>
        <p:nvSpPr>
          <p:cNvPr id="21" name="letter"/>
          <p:cNvSpPr/>
          <p:nvPr/>
        </p:nvSpPr>
        <p:spPr>
          <a:xfrm>
            <a:off x="713232" y="4983480"/>
            <a:ext cx="384048" cy="384048"/>
          </a:xfrm>
          <a:prstGeom prst="ellipse">
            <a:avLst/>
          </a:prstGeom>
          <a:solidFill>
            <a:schemeClr val="bg1"/>
          </a:solidFill>
          <a:ln w="12700">
            <a:solidFill>
              <a:schemeClr val="bg1"/>
            </a:solidFill>
            <a:prstDash val="solid"/>
          </a:ln>
        </p:spPr>
      </p:sp>
      <p:sp>
        <p:nvSpPr>
          <p:cNvPr id="22" name="Text 19"/>
          <p:cNvSpPr txBox="1"/>
          <p:nvPr/>
        </p:nvSpPr>
        <p:spPr>
          <a:xfrm>
            <a:off x="713232" y="4983480"/>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D</a:t>
            </a:r>
            <a:endParaRPr lang="en-US" sz="1500" dirty="0"/>
          </a:p>
        </p:txBody>
      </p:sp>
      <p:sp>
        <p:nvSpPr>
          <p:cNvPr id="23" name="Text 20"/>
          <p:cNvSpPr txBox="1"/>
          <p:nvPr/>
        </p:nvSpPr>
        <p:spPr>
          <a:xfrm>
            <a:off x="1280160" y="4864608"/>
            <a:ext cx="6355080" cy="621792"/>
          </a:xfrm>
          <a:prstGeom prst="rect">
            <a:avLst/>
          </a:prstGeom>
          <a:noFill/>
          <a:ln/>
        </p:spPr>
        <p:txBody>
          <a:bodyPr wrap="square" lIns="0" tIns="0" rIns="0" bIns="0" rtlCol="0" anchor="ctr"/>
          <a:lstStyle/>
          <a:p>
            <a:pPr indent="0" marL="0">
              <a:buNone/>
            </a:pPr>
            <a:r>
              <a:rPr lang="en-US" sz="2000" dirty="0">
                <a:solidFill>
                  <a:schemeClr val="tx2"/>
                </a:solidFill>
              </a:rPr>
              <a:t>Nothing; ATP is destroyed</a:t>
            </a:r>
            <a:endParaRPr lang="en-US" sz="2000" dirty="0"/>
          </a:p>
        </p:txBody>
      </p:sp>
      <p:sp>
        <p:nvSpPr>
          <p:cNvPr id="24" name="panel"/>
          <p:cNvSpPr/>
          <p:nvPr/>
        </p:nvSpPr>
        <p:spPr>
          <a:xfrm>
            <a:off x="8503920" y="2560320"/>
            <a:ext cx="3136392" cy="2926080"/>
          </a:xfrm>
          <a:prstGeom prst="roundRect">
            <a:avLst>
              <a:gd name="adj" fmla="val 3750"/>
            </a:avLst>
          </a:prstGeom>
          <a:solidFill>
            <a:schemeClr val="accent5">
              <a:alpha val="12000"/>
            </a:schemeClr>
          </a:solidFill>
          <a:ln w="12700">
            <a:solidFill>
              <a:schemeClr val="accent5"/>
            </a:solidFill>
            <a:prstDash val="solid"/>
          </a:ln>
        </p:spPr>
      </p:sp>
      <p:sp>
        <p:nvSpPr>
          <p:cNvPr id="25" name="Text 22"/>
          <p:cNvSpPr txBox="1"/>
          <p:nvPr/>
        </p:nvSpPr>
        <p:spPr>
          <a:xfrm>
            <a:off x="8686800" y="2697480"/>
            <a:ext cx="2788920" cy="265176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Why</a:t>
            </a:r>
            <a:endParaRPr lang="en-US" sz="1700" dirty="0"/>
          </a:p>
          <a:p>
            <a:pPr indent="0" marL="0">
              <a:spcAft>
                <a:spcPts val="600"/>
              </a:spcAft>
              <a:buNone/>
            </a:pPr>
            <a:r>
              <a:rPr lang="en-US" sz="1700" dirty="0">
                <a:solidFill>
                  <a:schemeClr val="tx1"/>
                </a:solidFill>
              </a:rPr>
              <a:t>ATP → ADP + P + energy. The ADP gets recharged later.</a:t>
            </a:r>
            <a:endParaRPr lang="en-US" sz="17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ection tile Currency"/>
          <p:cNvSpPr/>
          <p:nvPr/>
        </p:nvSpPr>
        <p:spPr>
          <a:xfrm>
            <a:off x="1097280" y="1783080"/>
            <a:ext cx="2377440" cy="2615184"/>
          </a:xfrm>
          <a:prstGeom prst="roundRect">
            <a:avLst>
              <a:gd name="adj" fmla="val 8000"/>
            </a:avLst>
          </a:prstGeom>
          <a:solidFill>
            <a:schemeClr val="bg2"/>
          </a:solidFill>
          <a:ln w="44450">
            <a:solidFill>
              <a:schemeClr val="accent1"/>
            </a:solidFill>
            <a:prstDash val="solid"/>
          </a:ln>
        </p:spPr>
      </p:sp>
      <p:sp>
        <p:nvSpPr>
          <p:cNvPr id="3" name="Text 1"/>
          <p:cNvSpPr txBox="1"/>
          <p:nvPr/>
        </p:nvSpPr>
        <p:spPr>
          <a:xfrm>
            <a:off x="1263701" y="1901952"/>
            <a:ext cx="950976" cy="427939"/>
          </a:xfrm>
          <a:prstGeom prst="rect">
            <a:avLst/>
          </a:prstGeom>
          <a:noFill/>
          <a:ln/>
        </p:spPr>
        <p:txBody>
          <a:bodyPr wrap="square" lIns="0" tIns="0" rIns="0" bIns="0" rtlCol="0" anchor="ctr"/>
          <a:lstStyle/>
          <a:p>
            <a:pPr indent="0" marL="0">
              <a:buNone/>
            </a:pPr>
            <a:r>
              <a:rPr lang="en-US" sz="2340" dirty="0">
                <a:solidFill>
                  <a:schemeClr val="tx2"/>
                </a:solidFill>
              </a:rPr>
              <a:t>4</a:t>
            </a:r>
            <a:endParaRPr lang="en-US" sz="2340" dirty="0"/>
          </a:p>
        </p:txBody>
      </p:sp>
      <p:pic>
        <p:nvPicPr>
          <p:cNvPr id="4" name="Image 0" descr="Currency icon">    </p:cNvPr>
          <p:cNvPicPr>
            <a:picLocks noChangeAspect="1"/>
          </p:cNvPicPr>
          <p:nvPr/>
        </p:nvPicPr>
        <p:blipFill>
          <a:blip r:embed="rId1"/>
          <a:stretch>
            <a:fillRect/>
          </a:stretch>
        </p:blipFill>
        <p:spPr>
          <a:xfrm>
            <a:off x="1691640" y="2258568"/>
            <a:ext cx="1188720" cy="1188720"/>
          </a:xfrm>
          <a:prstGeom prst="rect">
            <a:avLst/>
          </a:prstGeom>
        </p:spPr>
      </p:pic>
      <p:sp>
        <p:nvSpPr>
          <p:cNvPr id="5" name="Text 2"/>
          <p:cNvSpPr txBox="1"/>
          <p:nvPr/>
        </p:nvSpPr>
        <p:spPr>
          <a:xfrm>
            <a:off x="1097280" y="3637483"/>
            <a:ext cx="2377440" cy="523037"/>
          </a:xfrm>
          <a:prstGeom prst="rect">
            <a:avLst/>
          </a:prstGeom>
          <a:noFill/>
          <a:ln/>
        </p:spPr>
        <p:txBody>
          <a:bodyPr wrap="square" lIns="0" tIns="0" rIns="0" bIns="0" rtlCol="0" anchor="ctr"/>
          <a:lstStyle/>
          <a:p>
            <a:pPr algn="ctr" indent="0" marL="0">
              <a:buNone/>
            </a:pPr>
            <a:r>
              <a:rPr lang="en-US" sz="1950" dirty="0">
                <a:solidFill>
                  <a:schemeClr val="tx2"/>
                </a:solidFill>
              </a:rPr>
              <a:t>Currency</a:t>
            </a:r>
            <a:endParaRPr lang="en-US" sz="1950" dirty="0"/>
          </a:p>
        </p:txBody>
      </p:sp>
      <p:sp>
        <p:nvSpPr>
          <p:cNvPr id="6" name="Text 0"/>
          <p:cNvSpPr/>
          <p:nvPr>
            <p:ph idx="100" type="body" hasCustomPrompt="1"/>
          </p:nvPr>
        </p:nvSpPr>
        <p:spPr>
          <a:xfrm>
            <a:off x="4114800" y="2240280"/>
            <a:ext cx="7498080" cy="457200"/>
          </a:xfrm>
          <a:prstGeom prst="rect">
            <a:avLst/>
          </a:prstGeom>
          <a:noFill/>
          <a:ln/>
        </p:spPr>
        <p:txBody>
          <a:bodyPr wrap="square" lIns="0" tIns="0" rIns="0" bIns="0" rtlCol="0" anchor="b"/>
          <a:lstStyle/>
          <a:p>
            <a:pPr algn="l" indent="0" marL="0">
              <a:buNone/>
            </a:pPr>
            <a:r>
              <a:rPr lang="en-US" sz="2000" dirty="0">
                <a:solidFill>
                  <a:schemeClr val="tx2"/>
                </a:solidFill>
              </a:rPr>
              <a:t>Section 4 of 7 · about 5 min</a:t>
            </a:r>
            <a:endParaRPr lang="en-US" sz="2000" dirty="0"/>
          </a:p>
        </p:txBody>
      </p:sp>
      <p:sp>
        <p:nvSpPr>
          <p:cNvPr id="7" name="Text 0"/>
          <p:cNvSpPr/>
          <p:nvPr>
            <p:ph idx="101" type="title" hasCustomPrompt="1"/>
          </p:nvPr>
        </p:nvSpPr>
        <p:spPr>
          <a:xfrm>
            <a:off x="4114800" y="2788920"/>
            <a:ext cx="7498080" cy="1463040"/>
          </a:xfrm>
          <a:prstGeom prst="rect">
            <a:avLst/>
          </a:prstGeom>
          <a:noFill/>
          <a:ln/>
        </p:spPr>
        <p:txBody>
          <a:bodyPr wrap="square" lIns="0" tIns="0" rIns="0" bIns="0" rtlCol="0" anchor="t"/>
          <a:lstStyle/>
          <a:p>
            <a:pPr algn="l" indent="0" marL="0">
              <a:buNone/>
            </a:pPr>
            <a:r>
              <a:rPr lang="en-US" sz="4400" b="1" dirty="0">
                <a:solidFill>
                  <a:schemeClr val="tx1"/>
                </a:solidFill>
              </a:rPr>
              <a:t>Why ATP is the energy currency</a:t>
            </a:r>
            <a:endParaRPr lang="en-US" sz="4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A $100 bill vs. quarters</a:t>
            </a:r>
            <a:endParaRPr lang="en-US" sz="3200" dirty="0"/>
          </a:p>
        </p:txBody>
      </p:sp>
      <p:sp>
        <p:nvSpPr>
          <p:cNvPr id="3" name="tag"/>
          <p:cNvSpPr/>
          <p:nvPr/>
        </p:nvSpPr>
        <p:spPr>
          <a:xfrm>
            <a:off x="548640" y="329184"/>
            <a:ext cx="676656" cy="329184"/>
          </a:xfrm>
          <a:prstGeom prst="roundRect">
            <a:avLst>
              <a:gd name="adj" fmla="val 50000"/>
            </a:avLst>
          </a:prstGeom>
          <a:solidFill>
            <a:schemeClr val="accent3">
              <a:alpha val="18000"/>
            </a:schemeClr>
          </a:solidFill>
          <a:ln w="12700">
            <a:solidFill>
              <a:schemeClr val="accent3"/>
            </a:solidFill>
            <a:prstDash val="solid"/>
          </a:ln>
        </p:spPr>
      </p:sp>
      <p:sp>
        <p:nvSpPr>
          <p:cNvPr id="4" name="Text 2"/>
          <p:cNvSpPr txBox="1"/>
          <p:nvPr/>
        </p:nvSpPr>
        <p:spPr>
          <a:xfrm>
            <a:off x="548640" y="329184"/>
            <a:ext cx="676656" cy="329184"/>
          </a:xfrm>
          <a:prstGeom prst="rect">
            <a:avLst/>
          </a:prstGeom>
          <a:noFill/>
          <a:ln/>
        </p:spPr>
        <p:txBody>
          <a:bodyPr wrap="square" lIns="0" tIns="0" rIns="0" bIns="0" rtlCol="0" anchor="ctr"/>
          <a:lstStyle/>
          <a:p>
            <a:pPr algn="ctr" indent="0" marL="0">
              <a:buNone/>
            </a:pPr>
            <a:r>
              <a:rPr lang="en-US" sz="1300" b="1" dirty="0">
                <a:solidFill>
                  <a:schemeClr val="accent3"/>
                </a:solidFill>
              </a:rPr>
              <a:t>Read</a:t>
            </a:r>
            <a:endParaRPr lang="en-US" sz="1300" dirty="0"/>
          </a:p>
        </p:txBody>
      </p:sp>
      <p:pic>
        <p:nvPicPr>
          <p:cNvPr id="6" name="Image 0" descr="A $100 bill labeled glucose becomes many ATP coins">    </p:cNvPr>
          <p:cNvPicPr>
            <a:picLocks noChangeAspect="1"/>
          </p:cNvPicPr>
          <p:nvPr/>
        </p:nvPicPr>
        <p:blipFill>
          <a:blip r:embed="rId1"/>
          <a:stretch>
            <a:fillRect/>
          </a:stretch>
        </p:blipFill>
        <p:spPr>
          <a:xfrm>
            <a:off x="548640" y="1622910"/>
            <a:ext cx="11064240" cy="1234740"/>
          </a:xfrm>
          <a:prstGeom prst="rect">
            <a:avLst/>
          </a:prstGeom>
        </p:spPr>
      </p:pic>
      <p:sp>
        <p:nvSpPr>
          <p:cNvPr id="7" name="Text 3"/>
          <p:cNvSpPr txBox="1"/>
          <p:nvPr/>
        </p:nvSpPr>
        <p:spPr>
          <a:xfrm>
            <a:off x="548640" y="3063240"/>
            <a:ext cx="11064240" cy="3108960"/>
          </a:xfrm>
          <a:prstGeom prst="rect">
            <a:avLst/>
          </a:prstGeom>
          <a:noFill/>
          <a:ln/>
        </p:spPr>
        <p:txBody>
          <a:bodyPr wrap="square" lIns="0" tIns="0" rIns="0" bIns="0" rtlCol="0" anchor="t"/>
          <a:lstStyle/>
          <a:p>
            <a:pPr indent="0" marL="0">
              <a:spcAft>
                <a:spcPts val="600"/>
              </a:spcAft>
              <a:buNone/>
            </a:pPr>
            <a:r>
              <a:rPr lang="en-US" sz="2000" dirty="0">
                <a:solidFill>
                  <a:schemeClr val="tx1"/>
                </a:solidFill>
              </a:rPr>
              <a:t>Glucose holds a lot of energy, like a </a:t>
            </a:r>
            <a:pPr indent="0" marL="0">
              <a:spcAft>
                <a:spcPts val="600"/>
              </a:spcAft>
              <a:buNone/>
            </a:pPr>
            <a:r>
              <a:rPr lang="en-US" sz="2000" b="1" dirty="0">
                <a:solidFill>
                  <a:schemeClr val="tx1"/>
                </a:solidFill>
              </a:rPr>
              <a:t>$100 bill</a:t>
            </a:r>
            <a:pPr indent="0" marL="0">
              <a:spcAft>
                <a:spcPts val="600"/>
              </a:spcAft>
              <a:buNone/>
            </a:pPr>
            <a:r>
              <a:rPr lang="en-US" sz="2000" dirty="0">
                <a:solidFill>
                  <a:schemeClr val="tx1"/>
                </a:solidFill>
              </a:rPr>
              <a:t>. But a vending machine only takes </a:t>
            </a:r>
            <a:pPr indent="0" marL="0">
              <a:spcAft>
                <a:spcPts val="600"/>
              </a:spcAft>
              <a:buNone/>
            </a:pPr>
            <a:r>
              <a:rPr lang="en-US" sz="2000" b="1" dirty="0">
                <a:solidFill>
                  <a:schemeClr val="tx1"/>
                </a:solidFill>
              </a:rPr>
              <a:t>quarters</a:t>
            </a:r>
            <a:pPr indent="0" marL="0">
              <a:spcAft>
                <a:spcPts val="600"/>
              </a:spcAft>
              <a:buNone/>
            </a:pPr>
            <a:r>
              <a:rPr lang="en-US" sz="2000" dirty="0">
                <a:solidFill>
                  <a:schemeClr val="tx1"/>
                </a:solidFill>
              </a:rPr>
              <a:t>. The machines inside a cell (the proteins that move muscles, pump molecules, and make light) can only "take" </a:t>
            </a:r>
            <a:pPr indent="0" marL="0">
              <a:spcAft>
                <a:spcPts val="600"/>
              </a:spcAft>
              <a:buNone/>
            </a:pPr>
            <a:r>
              <a:rPr lang="en-US" sz="2000" b="1" dirty="0">
                <a:solidFill>
                  <a:schemeClr val="tx1"/>
                </a:solidFill>
              </a:rPr>
              <a:t>ATP</a:t>
            </a:r>
            <a:pPr indent="0" marL="0">
              <a:spcAft>
                <a:spcPts val="600"/>
              </a:spcAft>
              <a:buNone/>
            </a:pPr>
            <a:r>
              <a:rPr lang="en-US" sz="2000" dirty="0">
                <a:solidFill>
                  <a:schemeClr val="tx1"/>
                </a:solidFill>
              </a:rPr>
              <a:t>.</a:t>
            </a:r>
            <a:endParaRPr lang="en-US" sz="2000" dirty="0"/>
          </a:p>
          <a:p>
            <a:pPr indent="0" marL="0">
              <a:spcAft>
                <a:spcPts val="600"/>
              </a:spcAft>
              <a:buNone/>
            </a:pPr>
            <a:r>
              <a:rPr lang="en-US" sz="2000" dirty="0">
                <a:solidFill>
                  <a:schemeClr val="tx1"/>
                </a:solidFill>
              </a:rPr>
              <a:t> </a:t>
            </a:r>
            <a:endParaRPr lang="en-US" sz="2000" dirty="0"/>
          </a:p>
          <a:p>
            <a:pPr indent="0" marL="0">
              <a:spcAft>
                <a:spcPts val="600"/>
              </a:spcAft>
              <a:buNone/>
            </a:pPr>
            <a:r>
              <a:rPr lang="en-US" sz="2000" dirty="0">
                <a:solidFill>
                  <a:schemeClr val="tx1"/>
                </a:solidFill>
              </a:rPr>
              <a:t>Cellular respiration turns one glucose into about </a:t>
            </a:r>
            <a:pPr indent="0" marL="0">
              <a:spcAft>
                <a:spcPts val="600"/>
              </a:spcAft>
              <a:buNone/>
            </a:pPr>
            <a:r>
              <a:rPr lang="en-US" sz="2000" b="1" dirty="0">
                <a:solidFill>
                  <a:schemeClr val="tx1"/>
                </a:solidFill>
              </a:rPr>
              <a:t>36 ATP</a:t>
            </a:r>
            <a:pPr indent="0" marL="0">
              <a:spcAft>
                <a:spcPts val="600"/>
              </a:spcAft>
              <a:buNone/>
            </a:pPr>
            <a:r>
              <a:rPr lang="en-US" sz="2000" dirty="0">
                <a:solidFill>
                  <a:schemeClr val="tx1"/>
                </a:solidFill>
              </a:rPr>
              <a:t> with oxygen, or only </a:t>
            </a:r>
            <a:pPr indent="0" marL="0">
              <a:spcAft>
                <a:spcPts val="600"/>
              </a:spcAft>
              <a:buNone/>
            </a:pPr>
            <a:r>
              <a:rPr lang="en-US" sz="2000" b="1" dirty="0">
                <a:solidFill>
                  <a:schemeClr val="tx1"/>
                </a:solidFill>
              </a:rPr>
              <a:t>2</a:t>
            </a:r>
            <a:pPr indent="0" marL="0">
              <a:spcAft>
                <a:spcPts val="600"/>
              </a:spcAft>
              <a:buNone/>
            </a:pPr>
            <a:r>
              <a:rPr lang="en-US" sz="2000" dirty="0">
                <a:solidFill>
                  <a:schemeClr val="tx1"/>
                </a:solidFill>
              </a:rPr>
              <a:t> with fermentation. That is why ATP is the cell's </a:t>
            </a:r>
            <a:pPr indent="0" marL="0">
              <a:spcAft>
                <a:spcPts val="600"/>
              </a:spcAft>
              <a:buNone/>
            </a:pPr>
            <a:r>
              <a:rPr lang="en-US" sz="2000" b="1" dirty="0">
                <a:solidFill>
                  <a:schemeClr val="tx1"/>
                </a:solidFill>
              </a:rPr>
              <a:t>energy currency</a:t>
            </a:r>
            <a:pPr indent="0" marL="0">
              <a:spcAft>
                <a:spcPts val="600"/>
              </a:spcAft>
              <a:buNone/>
            </a:pPr>
            <a:r>
              <a:rPr lang="en-US" sz="2000" dirty="0">
                <a:solidFill>
                  <a:schemeClr val="tx1"/>
                </a:solidFill>
              </a:rPr>
              <a:t>.</a:t>
            </a:r>
            <a:endParaRPr lang="en-US" sz="2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Try it: count the ATP</a:t>
            </a:r>
            <a:endParaRPr lang="en-US" sz="3200" dirty="0"/>
          </a:p>
        </p:txBody>
      </p:sp>
      <p:sp>
        <p:nvSpPr>
          <p:cNvPr id="3" name="tag"/>
          <p:cNvSpPr/>
          <p:nvPr/>
        </p:nvSpPr>
        <p:spPr>
          <a:xfrm>
            <a:off x="548640" y="329184"/>
            <a:ext cx="868680" cy="329184"/>
          </a:xfrm>
          <a:prstGeom prst="roundRect">
            <a:avLst>
              <a:gd name="adj" fmla="val 50000"/>
            </a:avLst>
          </a:prstGeom>
          <a:solidFill>
            <a:schemeClr val="accent5">
              <a:alpha val="18000"/>
            </a:schemeClr>
          </a:solidFill>
          <a:ln w="12700">
            <a:solidFill>
              <a:schemeClr val="accent5"/>
            </a:solidFill>
            <a:prstDash val="solid"/>
          </a:ln>
        </p:spPr>
      </p:sp>
      <p:sp>
        <p:nvSpPr>
          <p:cNvPr id="4" name="Text 2"/>
          <p:cNvSpPr txBox="1"/>
          <p:nvPr/>
        </p:nvSpPr>
        <p:spPr>
          <a:xfrm>
            <a:off x="548640" y="329184"/>
            <a:ext cx="868680" cy="329184"/>
          </a:xfrm>
          <a:prstGeom prst="rect">
            <a:avLst/>
          </a:prstGeom>
          <a:noFill/>
          <a:ln/>
        </p:spPr>
        <p:txBody>
          <a:bodyPr wrap="square" lIns="0" tIns="0" rIns="0" bIns="0" rtlCol="0" anchor="ctr"/>
          <a:lstStyle/>
          <a:p>
            <a:pPr algn="ctr" indent="0" marL="0">
              <a:buNone/>
            </a:pPr>
            <a:r>
              <a:rPr lang="en-US" sz="1300" b="1" dirty="0">
                <a:solidFill>
                  <a:schemeClr val="accent5"/>
                </a:solidFill>
              </a:rPr>
              <a:t>Try it</a:t>
            </a:r>
            <a:endParaRPr lang="en-US" sz="1300" dirty="0"/>
          </a:p>
        </p:txBody>
      </p:sp>
      <p:sp>
        <p:nvSpPr>
          <p:cNvPr id="6" name="panel"/>
          <p:cNvSpPr/>
          <p:nvPr/>
        </p:nvSpPr>
        <p:spPr>
          <a:xfrm>
            <a:off x="548640" y="1691640"/>
            <a:ext cx="11064240" cy="1234440"/>
          </a:xfrm>
          <a:prstGeom prst="roundRect">
            <a:avLst>
              <a:gd name="adj" fmla="val 8889"/>
            </a:avLst>
          </a:prstGeom>
          <a:solidFill>
            <a:schemeClr val="bg2"/>
          </a:solidFill>
          <a:ln w="12700">
            <a:solidFill>
              <a:schemeClr val="bg2"/>
            </a:solidFill>
            <a:prstDash val="solid"/>
          </a:ln>
        </p:spPr>
      </p:sp>
      <p:sp>
        <p:nvSpPr>
          <p:cNvPr id="7" name="Text 4"/>
          <p:cNvSpPr txBox="1"/>
          <p:nvPr/>
        </p:nvSpPr>
        <p:spPr>
          <a:xfrm>
            <a:off x="777240" y="1783080"/>
            <a:ext cx="6949440" cy="1051560"/>
          </a:xfrm>
          <a:prstGeom prst="rect">
            <a:avLst/>
          </a:prstGeom>
          <a:noFill/>
          <a:ln/>
        </p:spPr>
        <p:txBody>
          <a:bodyPr wrap="square" lIns="0" tIns="0" rIns="0" bIns="0" rtlCol="0" anchor="ctr"/>
          <a:lstStyle/>
          <a:p>
            <a:pPr indent="0" marL="0">
              <a:spcAft>
                <a:spcPts val="600"/>
              </a:spcAft>
              <a:buNone/>
            </a:pPr>
            <a:r>
              <a:rPr lang="en-US" sz="2000" dirty="0">
                <a:solidFill>
                  <a:schemeClr val="tx1"/>
                </a:solidFill>
              </a:rPr>
              <a:t>A muscle cell breaks down </a:t>
            </a:r>
            <a:pPr indent="0" marL="0">
              <a:spcAft>
                <a:spcPts val="600"/>
              </a:spcAft>
              <a:buNone/>
            </a:pPr>
            <a:r>
              <a:rPr lang="en-US" sz="2000" b="1" dirty="0">
                <a:solidFill>
                  <a:schemeClr val="tx1"/>
                </a:solidFill>
              </a:rPr>
              <a:t>2 glucose</a:t>
            </a:r>
            <a:pPr indent="0" marL="0">
              <a:spcAft>
                <a:spcPts val="600"/>
              </a:spcAft>
              <a:buNone/>
            </a:pPr>
            <a:r>
              <a:rPr lang="en-US" sz="2000" dirty="0">
                <a:solidFill>
                  <a:schemeClr val="tx1"/>
                </a:solidFill>
              </a:rPr>
              <a:t> with oxygen. About how many ATP?</a:t>
            </a:r>
            <a:endParaRPr lang="en-US" sz="2000" dirty="0"/>
          </a:p>
        </p:txBody>
      </p:sp>
      <p:sp>
        <p:nvSpPr>
          <p:cNvPr id="8" name="panel"/>
          <p:cNvSpPr/>
          <p:nvPr/>
        </p:nvSpPr>
        <p:spPr>
          <a:xfrm>
            <a:off x="548640" y="3154680"/>
            <a:ext cx="11064240" cy="1234440"/>
          </a:xfrm>
          <a:prstGeom prst="roundRect">
            <a:avLst>
              <a:gd name="adj" fmla="val 8889"/>
            </a:avLst>
          </a:prstGeom>
          <a:solidFill>
            <a:schemeClr val="bg2"/>
          </a:solidFill>
          <a:ln w="12700">
            <a:solidFill>
              <a:schemeClr val="bg2"/>
            </a:solidFill>
            <a:prstDash val="solid"/>
          </a:ln>
        </p:spPr>
      </p:sp>
      <p:sp>
        <p:nvSpPr>
          <p:cNvPr id="9" name="Text 6"/>
          <p:cNvSpPr txBox="1"/>
          <p:nvPr/>
        </p:nvSpPr>
        <p:spPr>
          <a:xfrm>
            <a:off x="777240" y="3246120"/>
            <a:ext cx="6949440" cy="1051560"/>
          </a:xfrm>
          <a:prstGeom prst="rect">
            <a:avLst/>
          </a:prstGeom>
          <a:noFill/>
          <a:ln/>
        </p:spPr>
        <p:txBody>
          <a:bodyPr wrap="square" lIns="0" tIns="0" rIns="0" bIns="0" rtlCol="0" anchor="ctr"/>
          <a:lstStyle/>
          <a:p>
            <a:pPr indent="0" marL="0">
              <a:spcAft>
                <a:spcPts val="600"/>
              </a:spcAft>
              <a:buNone/>
            </a:pPr>
            <a:r>
              <a:rPr lang="en-US" sz="2000" dirty="0">
                <a:solidFill>
                  <a:schemeClr val="tx1"/>
                </a:solidFill>
              </a:rPr>
              <a:t>Without oxygen, that cell uses fermentation on </a:t>
            </a:r>
            <a:pPr indent="0" marL="0">
              <a:spcAft>
                <a:spcPts val="600"/>
              </a:spcAft>
              <a:buNone/>
            </a:pPr>
            <a:r>
              <a:rPr lang="en-US" sz="2000" b="1" dirty="0">
                <a:solidFill>
                  <a:schemeClr val="tx1"/>
                </a:solidFill>
              </a:rPr>
              <a:t>2 glucose</a:t>
            </a:r>
            <a:pPr indent="0" marL="0">
              <a:spcAft>
                <a:spcPts val="600"/>
              </a:spcAft>
              <a:buNone/>
            </a:pPr>
            <a:r>
              <a:rPr lang="en-US" sz="2000" dirty="0">
                <a:solidFill>
                  <a:schemeClr val="tx1"/>
                </a:solidFill>
              </a:rPr>
              <a:t>. How many ATP?</a:t>
            </a:r>
            <a:endParaRPr lang="en-US" sz="2000" dirty="0"/>
          </a:p>
        </p:txBody>
      </p:sp>
      <p:sp>
        <p:nvSpPr>
          <p:cNvPr id="10" name="panel"/>
          <p:cNvSpPr/>
          <p:nvPr/>
        </p:nvSpPr>
        <p:spPr>
          <a:xfrm>
            <a:off x="548640" y="4617720"/>
            <a:ext cx="11064240" cy="1234440"/>
          </a:xfrm>
          <a:prstGeom prst="roundRect">
            <a:avLst>
              <a:gd name="adj" fmla="val 8889"/>
            </a:avLst>
          </a:prstGeom>
          <a:solidFill>
            <a:schemeClr val="bg2"/>
          </a:solidFill>
          <a:ln w="12700">
            <a:solidFill>
              <a:schemeClr val="bg2"/>
            </a:solidFill>
            <a:prstDash val="solid"/>
          </a:ln>
        </p:spPr>
      </p:sp>
      <p:sp>
        <p:nvSpPr>
          <p:cNvPr id="11" name="Text 8"/>
          <p:cNvSpPr txBox="1"/>
          <p:nvPr/>
        </p:nvSpPr>
        <p:spPr>
          <a:xfrm>
            <a:off x="777240" y="4709160"/>
            <a:ext cx="6949440" cy="1051560"/>
          </a:xfrm>
          <a:prstGeom prst="rect">
            <a:avLst/>
          </a:prstGeom>
          <a:noFill/>
          <a:ln/>
        </p:spPr>
        <p:txBody>
          <a:bodyPr wrap="square" lIns="0" tIns="0" rIns="0" bIns="0" rtlCol="0" anchor="ctr"/>
          <a:lstStyle/>
          <a:p>
            <a:pPr indent="0" marL="0">
              <a:spcAft>
                <a:spcPts val="600"/>
              </a:spcAft>
              <a:buNone/>
            </a:pPr>
            <a:r>
              <a:rPr lang="en-US" sz="2000" dirty="0">
                <a:solidFill>
                  <a:schemeClr val="tx1"/>
                </a:solidFill>
              </a:rPr>
              <a:t>A cell breaks down </a:t>
            </a:r>
            <a:pPr indent="0" marL="0">
              <a:spcAft>
                <a:spcPts val="600"/>
              </a:spcAft>
              <a:buNone/>
            </a:pPr>
            <a:r>
              <a:rPr lang="en-US" sz="2000" b="1" dirty="0">
                <a:solidFill>
                  <a:schemeClr val="tx1"/>
                </a:solidFill>
              </a:rPr>
              <a:t>5 glucose</a:t>
            </a:r>
            <a:pPr indent="0" marL="0">
              <a:spcAft>
                <a:spcPts val="600"/>
              </a:spcAft>
              <a:buNone/>
            </a:pPr>
            <a:r>
              <a:rPr lang="en-US" sz="2000" dirty="0">
                <a:solidFill>
                  <a:schemeClr val="tx1"/>
                </a:solidFill>
              </a:rPr>
              <a:t> with oxygen. About how many ATP?</a:t>
            </a:r>
            <a:endParaRPr lang="en-US" sz="2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Try it: count the ATP</a:t>
            </a:r>
            <a:endParaRPr lang="en-US" sz="3200" dirty="0"/>
          </a:p>
        </p:txBody>
      </p:sp>
      <p:sp>
        <p:nvSpPr>
          <p:cNvPr id="3" name="tag"/>
          <p:cNvSpPr/>
          <p:nvPr/>
        </p:nvSpPr>
        <p:spPr>
          <a:xfrm>
            <a:off x="548640" y="329184"/>
            <a:ext cx="868680" cy="329184"/>
          </a:xfrm>
          <a:prstGeom prst="roundRect">
            <a:avLst>
              <a:gd name="adj" fmla="val 50000"/>
            </a:avLst>
          </a:prstGeom>
          <a:solidFill>
            <a:schemeClr val="accent5">
              <a:alpha val="18000"/>
            </a:schemeClr>
          </a:solidFill>
          <a:ln w="12700">
            <a:solidFill>
              <a:schemeClr val="accent5"/>
            </a:solidFill>
            <a:prstDash val="solid"/>
          </a:ln>
        </p:spPr>
      </p:sp>
      <p:sp>
        <p:nvSpPr>
          <p:cNvPr id="4" name="Text 2"/>
          <p:cNvSpPr txBox="1"/>
          <p:nvPr/>
        </p:nvSpPr>
        <p:spPr>
          <a:xfrm>
            <a:off x="548640" y="329184"/>
            <a:ext cx="868680" cy="329184"/>
          </a:xfrm>
          <a:prstGeom prst="rect">
            <a:avLst/>
          </a:prstGeom>
          <a:noFill/>
          <a:ln/>
        </p:spPr>
        <p:txBody>
          <a:bodyPr wrap="square" lIns="0" tIns="0" rIns="0" bIns="0" rtlCol="0" anchor="ctr"/>
          <a:lstStyle/>
          <a:p>
            <a:pPr algn="ctr" indent="0" marL="0">
              <a:buNone/>
            </a:pPr>
            <a:r>
              <a:rPr lang="en-US" sz="1300" b="1" dirty="0">
                <a:solidFill>
                  <a:schemeClr val="accent5"/>
                </a:solidFill>
              </a:rPr>
              <a:t>Answer</a:t>
            </a:r>
            <a:endParaRPr lang="en-US" sz="1300" dirty="0"/>
          </a:p>
        </p:txBody>
      </p:sp>
      <p:sp>
        <p:nvSpPr>
          <p:cNvPr id="6" name="panel"/>
          <p:cNvSpPr/>
          <p:nvPr/>
        </p:nvSpPr>
        <p:spPr>
          <a:xfrm>
            <a:off x="548640" y="1691640"/>
            <a:ext cx="11064240" cy="1234440"/>
          </a:xfrm>
          <a:prstGeom prst="roundRect">
            <a:avLst>
              <a:gd name="adj" fmla="val 8889"/>
            </a:avLst>
          </a:prstGeom>
          <a:solidFill>
            <a:schemeClr val="bg2"/>
          </a:solidFill>
          <a:ln w="12700">
            <a:solidFill>
              <a:schemeClr val="bg2"/>
            </a:solidFill>
            <a:prstDash val="solid"/>
          </a:ln>
        </p:spPr>
      </p:sp>
      <p:sp>
        <p:nvSpPr>
          <p:cNvPr id="7" name="Text 4"/>
          <p:cNvSpPr txBox="1"/>
          <p:nvPr/>
        </p:nvSpPr>
        <p:spPr>
          <a:xfrm>
            <a:off x="777240" y="1783080"/>
            <a:ext cx="6949440" cy="1051560"/>
          </a:xfrm>
          <a:prstGeom prst="rect">
            <a:avLst/>
          </a:prstGeom>
          <a:noFill/>
          <a:ln/>
        </p:spPr>
        <p:txBody>
          <a:bodyPr wrap="square" lIns="0" tIns="0" rIns="0" bIns="0" rtlCol="0" anchor="ctr"/>
          <a:lstStyle/>
          <a:p>
            <a:pPr indent="0" marL="0">
              <a:spcAft>
                <a:spcPts val="600"/>
              </a:spcAft>
              <a:buNone/>
            </a:pPr>
            <a:r>
              <a:rPr lang="en-US" sz="2000" dirty="0">
                <a:solidFill>
                  <a:schemeClr val="tx1"/>
                </a:solidFill>
              </a:rPr>
              <a:t>A muscle cell breaks down </a:t>
            </a:r>
            <a:pPr indent="0" marL="0">
              <a:spcAft>
                <a:spcPts val="600"/>
              </a:spcAft>
              <a:buNone/>
            </a:pPr>
            <a:r>
              <a:rPr lang="en-US" sz="2000" b="1" dirty="0">
                <a:solidFill>
                  <a:schemeClr val="tx1"/>
                </a:solidFill>
              </a:rPr>
              <a:t>2 glucose</a:t>
            </a:r>
            <a:pPr indent="0" marL="0">
              <a:spcAft>
                <a:spcPts val="600"/>
              </a:spcAft>
              <a:buNone/>
            </a:pPr>
            <a:r>
              <a:rPr lang="en-US" sz="2000" dirty="0">
                <a:solidFill>
                  <a:schemeClr val="tx1"/>
                </a:solidFill>
              </a:rPr>
              <a:t> with oxygen. About how many ATP?</a:t>
            </a:r>
            <a:endParaRPr lang="en-US" sz="2000" dirty="0"/>
          </a:p>
        </p:txBody>
      </p:sp>
      <p:sp>
        <p:nvSpPr>
          <p:cNvPr id="8" name="Text 5"/>
          <p:cNvSpPr txBox="1"/>
          <p:nvPr/>
        </p:nvSpPr>
        <p:spPr>
          <a:xfrm>
            <a:off x="7863840" y="1783080"/>
            <a:ext cx="3566160" cy="1051560"/>
          </a:xfrm>
          <a:prstGeom prst="rect">
            <a:avLst/>
          </a:prstGeom>
          <a:noFill/>
          <a:ln/>
        </p:spPr>
        <p:txBody>
          <a:bodyPr wrap="square" lIns="0" tIns="0" rIns="0" bIns="0" rtlCol="0" anchor="ctr"/>
          <a:lstStyle/>
          <a:p>
            <a:pPr indent="0" marL="0">
              <a:spcAft>
                <a:spcPts val="600"/>
              </a:spcAft>
              <a:buNone/>
            </a:pPr>
            <a:r>
              <a:rPr lang="en-US" sz="2200" dirty="0">
                <a:solidFill>
                  <a:schemeClr val="accent5"/>
                </a:solidFill>
              </a:rPr>
              <a:t>2 × 36 = </a:t>
            </a:r>
            <a:pPr indent="0" marL="0">
              <a:spcAft>
                <a:spcPts val="600"/>
              </a:spcAft>
              <a:buNone/>
            </a:pPr>
            <a:r>
              <a:rPr lang="en-US" sz="2200" b="1" dirty="0">
                <a:solidFill>
                  <a:schemeClr val="accent5"/>
                </a:solidFill>
              </a:rPr>
              <a:t>72 ATP</a:t>
            </a:r>
            <a:endParaRPr lang="en-US" sz="2200" dirty="0"/>
          </a:p>
        </p:txBody>
      </p:sp>
      <p:sp>
        <p:nvSpPr>
          <p:cNvPr id="9" name="panel"/>
          <p:cNvSpPr/>
          <p:nvPr/>
        </p:nvSpPr>
        <p:spPr>
          <a:xfrm>
            <a:off x="548640" y="3154680"/>
            <a:ext cx="11064240" cy="1234440"/>
          </a:xfrm>
          <a:prstGeom prst="roundRect">
            <a:avLst>
              <a:gd name="adj" fmla="val 8889"/>
            </a:avLst>
          </a:prstGeom>
          <a:solidFill>
            <a:schemeClr val="bg2"/>
          </a:solidFill>
          <a:ln w="12700">
            <a:solidFill>
              <a:schemeClr val="bg2"/>
            </a:solidFill>
            <a:prstDash val="solid"/>
          </a:ln>
        </p:spPr>
      </p:sp>
      <p:sp>
        <p:nvSpPr>
          <p:cNvPr id="10" name="Text 7"/>
          <p:cNvSpPr txBox="1"/>
          <p:nvPr/>
        </p:nvSpPr>
        <p:spPr>
          <a:xfrm>
            <a:off x="777240" y="3246120"/>
            <a:ext cx="6949440" cy="1051560"/>
          </a:xfrm>
          <a:prstGeom prst="rect">
            <a:avLst/>
          </a:prstGeom>
          <a:noFill/>
          <a:ln/>
        </p:spPr>
        <p:txBody>
          <a:bodyPr wrap="square" lIns="0" tIns="0" rIns="0" bIns="0" rtlCol="0" anchor="ctr"/>
          <a:lstStyle/>
          <a:p>
            <a:pPr indent="0" marL="0">
              <a:spcAft>
                <a:spcPts val="600"/>
              </a:spcAft>
              <a:buNone/>
            </a:pPr>
            <a:r>
              <a:rPr lang="en-US" sz="2000" dirty="0">
                <a:solidFill>
                  <a:schemeClr val="tx1"/>
                </a:solidFill>
              </a:rPr>
              <a:t>Without oxygen, that cell uses fermentation on </a:t>
            </a:r>
            <a:pPr indent="0" marL="0">
              <a:spcAft>
                <a:spcPts val="600"/>
              </a:spcAft>
              <a:buNone/>
            </a:pPr>
            <a:r>
              <a:rPr lang="en-US" sz="2000" b="1" dirty="0">
                <a:solidFill>
                  <a:schemeClr val="tx1"/>
                </a:solidFill>
              </a:rPr>
              <a:t>2 glucose</a:t>
            </a:r>
            <a:pPr indent="0" marL="0">
              <a:spcAft>
                <a:spcPts val="600"/>
              </a:spcAft>
              <a:buNone/>
            </a:pPr>
            <a:r>
              <a:rPr lang="en-US" sz="2000" dirty="0">
                <a:solidFill>
                  <a:schemeClr val="tx1"/>
                </a:solidFill>
              </a:rPr>
              <a:t>. How many ATP?</a:t>
            </a:r>
            <a:endParaRPr lang="en-US" sz="2000" dirty="0"/>
          </a:p>
        </p:txBody>
      </p:sp>
      <p:sp>
        <p:nvSpPr>
          <p:cNvPr id="11" name="Text 8"/>
          <p:cNvSpPr txBox="1"/>
          <p:nvPr/>
        </p:nvSpPr>
        <p:spPr>
          <a:xfrm>
            <a:off x="7863840" y="3246120"/>
            <a:ext cx="3566160" cy="1051560"/>
          </a:xfrm>
          <a:prstGeom prst="rect">
            <a:avLst/>
          </a:prstGeom>
          <a:noFill/>
          <a:ln/>
        </p:spPr>
        <p:txBody>
          <a:bodyPr wrap="square" lIns="0" tIns="0" rIns="0" bIns="0" rtlCol="0" anchor="ctr"/>
          <a:lstStyle/>
          <a:p>
            <a:pPr indent="0" marL="0">
              <a:spcAft>
                <a:spcPts val="600"/>
              </a:spcAft>
              <a:buNone/>
            </a:pPr>
            <a:r>
              <a:rPr lang="en-US" sz="2200" dirty="0">
                <a:solidFill>
                  <a:schemeClr val="accent5"/>
                </a:solidFill>
              </a:rPr>
              <a:t>2 × 2 = </a:t>
            </a:r>
            <a:pPr indent="0" marL="0">
              <a:spcAft>
                <a:spcPts val="600"/>
              </a:spcAft>
              <a:buNone/>
            </a:pPr>
            <a:r>
              <a:rPr lang="en-US" sz="2200" b="1" dirty="0">
                <a:solidFill>
                  <a:schemeClr val="accent5"/>
                </a:solidFill>
              </a:rPr>
              <a:t>4 ATP</a:t>
            </a:r>
            <a:endParaRPr lang="en-US" sz="2200" dirty="0"/>
          </a:p>
        </p:txBody>
      </p:sp>
      <p:sp>
        <p:nvSpPr>
          <p:cNvPr id="12" name="panel"/>
          <p:cNvSpPr/>
          <p:nvPr/>
        </p:nvSpPr>
        <p:spPr>
          <a:xfrm>
            <a:off x="548640" y="4617720"/>
            <a:ext cx="11064240" cy="1234440"/>
          </a:xfrm>
          <a:prstGeom prst="roundRect">
            <a:avLst>
              <a:gd name="adj" fmla="val 8889"/>
            </a:avLst>
          </a:prstGeom>
          <a:solidFill>
            <a:schemeClr val="bg2"/>
          </a:solidFill>
          <a:ln w="12700">
            <a:solidFill>
              <a:schemeClr val="bg2"/>
            </a:solidFill>
            <a:prstDash val="solid"/>
          </a:ln>
        </p:spPr>
      </p:sp>
      <p:sp>
        <p:nvSpPr>
          <p:cNvPr id="13" name="Text 10"/>
          <p:cNvSpPr txBox="1"/>
          <p:nvPr/>
        </p:nvSpPr>
        <p:spPr>
          <a:xfrm>
            <a:off x="777240" y="4709160"/>
            <a:ext cx="6949440" cy="1051560"/>
          </a:xfrm>
          <a:prstGeom prst="rect">
            <a:avLst/>
          </a:prstGeom>
          <a:noFill/>
          <a:ln/>
        </p:spPr>
        <p:txBody>
          <a:bodyPr wrap="square" lIns="0" tIns="0" rIns="0" bIns="0" rtlCol="0" anchor="ctr"/>
          <a:lstStyle/>
          <a:p>
            <a:pPr indent="0" marL="0">
              <a:spcAft>
                <a:spcPts val="600"/>
              </a:spcAft>
              <a:buNone/>
            </a:pPr>
            <a:r>
              <a:rPr lang="en-US" sz="2000" dirty="0">
                <a:solidFill>
                  <a:schemeClr val="tx1"/>
                </a:solidFill>
              </a:rPr>
              <a:t>A cell breaks down </a:t>
            </a:r>
            <a:pPr indent="0" marL="0">
              <a:spcAft>
                <a:spcPts val="600"/>
              </a:spcAft>
              <a:buNone/>
            </a:pPr>
            <a:r>
              <a:rPr lang="en-US" sz="2000" b="1" dirty="0">
                <a:solidFill>
                  <a:schemeClr val="tx1"/>
                </a:solidFill>
              </a:rPr>
              <a:t>5 glucose</a:t>
            </a:r>
            <a:pPr indent="0" marL="0">
              <a:spcAft>
                <a:spcPts val="600"/>
              </a:spcAft>
              <a:buNone/>
            </a:pPr>
            <a:r>
              <a:rPr lang="en-US" sz="2000" dirty="0">
                <a:solidFill>
                  <a:schemeClr val="tx1"/>
                </a:solidFill>
              </a:rPr>
              <a:t> with oxygen. About how many ATP?</a:t>
            </a:r>
            <a:endParaRPr lang="en-US" sz="2000" dirty="0"/>
          </a:p>
        </p:txBody>
      </p:sp>
      <p:sp>
        <p:nvSpPr>
          <p:cNvPr id="14" name="Text 11"/>
          <p:cNvSpPr txBox="1"/>
          <p:nvPr/>
        </p:nvSpPr>
        <p:spPr>
          <a:xfrm>
            <a:off x="7863840" y="4709160"/>
            <a:ext cx="3566160" cy="1051560"/>
          </a:xfrm>
          <a:prstGeom prst="rect">
            <a:avLst/>
          </a:prstGeom>
          <a:noFill/>
          <a:ln/>
        </p:spPr>
        <p:txBody>
          <a:bodyPr wrap="square" lIns="0" tIns="0" rIns="0" bIns="0" rtlCol="0" anchor="ctr"/>
          <a:lstStyle/>
          <a:p>
            <a:pPr indent="0" marL="0">
              <a:spcAft>
                <a:spcPts val="600"/>
              </a:spcAft>
              <a:buNone/>
            </a:pPr>
            <a:r>
              <a:rPr lang="en-US" sz="2200" dirty="0">
                <a:solidFill>
                  <a:schemeClr val="accent5"/>
                </a:solidFill>
              </a:rPr>
              <a:t>5 × 36 = </a:t>
            </a:r>
            <a:pPr indent="0" marL="0">
              <a:spcAft>
                <a:spcPts val="600"/>
              </a:spcAft>
              <a:buNone/>
            </a:pPr>
            <a:r>
              <a:rPr lang="en-US" sz="2200" b="1" dirty="0">
                <a:solidFill>
                  <a:schemeClr val="accent5"/>
                </a:solidFill>
              </a:rPr>
              <a:t>180 ATP</a:t>
            </a:r>
            <a:endParaRPr lang="en-US" sz="22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Quick check</a:t>
            </a:r>
            <a:endParaRPr lang="en-US" sz="3200" dirty="0"/>
          </a:p>
        </p:txBody>
      </p:sp>
      <p:sp>
        <p:nvSpPr>
          <p:cNvPr id="3" name="tag"/>
          <p:cNvSpPr/>
          <p:nvPr/>
        </p:nvSpPr>
        <p:spPr>
          <a:xfrm>
            <a:off x="548640" y="329184"/>
            <a:ext cx="1348740" cy="329184"/>
          </a:xfrm>
          <a:prstGeom prst="roundRect">
            <a:avLst>
              <a:gd name="adj" fmla="val 50000"/>
            </a:avLst>
          </a:prstGeom>
          <a:solidFill>
            <a:schemeClr val="accent6">
              <a:alpha val="18000"/>
            </a:schemeClr>
          </a:solidFill>
          <a:ln w="12700">
            <a:solidFill>
              <a:schemeClr val="accent6"/>
            </a:solidFill>
            <a:prstDash val="solid"/>
          </a:ln>
        </p:spPr>
      </p:sp>
      <p:sp>
        <p:nvSpPr>
          <p:cNvPr id="4" name="Text 2"/>
          <p:cNvSpPr txBox="1"/>
          <p:nvPr/>
        </p:nvSpPr>
        <p:spPr>
          <a:xfrm>
            <a:off x="548640" y="329184"/>
            <a:ext cx="1348740" cy="329184"/>
          </a:xfrm>
          <a:prstGeom prst="rect">
            <a:avLst/>
          </a:prstGeom>
          <a:noFill/>
          <a:ln/>
        </p:spPr>
        <p:txBody>
          <a:bodyPr wrap="square" lIns="0" tIns="0" rIns="0" bIns="0" rtlCol="0" anchor="ctr"/>
          <a:lstStyle/>
          <a:p>
            <a:pPr algn="ctr" indent="0" marL="0">
              <a:buNone/>
            </a:pPr>
            <a:r>
              <a:rPr lang="en-US" sz="1300" b="1" dirty="0">
                <a:solidFill>
                  <a:schemeClr val="accent6"/>
                </a:solidFill>
              </a:rPr>
              <a:t>Quick check</a:t>
            </a:r>
            <a:endParaRPr lang="en-US" sz="1300" dirty="0"/>
          </a:p>
        </p:txBody>
      </p:sp>
      <p:sp>
        <p:nvSpPr>
          <p:cNvPr id="6" name="Text 3"/>
          <p:cNvSpPr txBox="1"/>
          <p:nvPr/>
        </p:nvSpPr>
        <p:spPr>
          <a:xfrm>
            <a:off x="548640" y="1600200"/>
            <a:ext cx="11064240" cy="868680"/>
          </a:xfrm>
          <a:prstGeom prst="rect">
            <a:avLst/>
          </a:prstGeom>
          <a:noFill/>
          <a:ln/>
        </p:spPr>
        <p:txBody>
          <a:bodyPr wrap="square" lIns="0" tIns="0" rIns="0" bIns="0" rtlCol="0" anchor="t"/>
          <a:lstStyle/>
          <a:p>
            <a:pPr indent="0" marL="0">
              <a:spcAft>
                <a:spcPts val="600"/>
              </a:spcAft>
              <a:buNone/>
            </a:pPr>
            <a:r>
              <a:rPr lang="en-US" sz="2400" dirty="0">
                <a:solidFill>
                  <a:schemeClr val="tx1"/>
                </a:solidFill>
              </a:rPr>
              <a:t>Why is ATP called the "energy currency" of the cell?</a:t>
            </a:r>
            <a:endParaRPr lang="en-US" sz="2400" dirty="0"/>
          </a:p>
        </p:txBody>
      </p:sp>
      <p:sp>
        <p:nvSpPr>
          <p:cNvPr id="7" name="option A"/>
          <p:cNvSpPr/>
          <p:nvPr/>
        </p:nvSpPr>
        <p:spPr>
          <a:xfrm>
            <a:off x="548640" y="2560320"/>
            <a:ext cx="7680960" cy="621792"/>
          </a:xfrm>
          <a:prstGeom prst="roundRect">
            <a:avLst>
              <a:gd name="adj" fmla="val 17647"/>
            </a:avLst>
          </a:prstGeom>
          <a:solidFill>
            <a:schemeClr val="bg2"/>
          </a:solidFill>
          <a:ln w="12700">
            <a:solidFill>
              <a:schemeClr val="bg2"/>
            </a:solidFill>
            <a:prstDash val="solid"/>
          </a:ln>
        </p:spPr>
      </p:sp>
      <p:sp>
        <p:nvSpPr>
          <p:cNvPr id="8" name="letter"/>
          <p:cNvSpPr/>
          <p:nvPr/>
        </p:nvSpPr>
        <p:spPr>
          <a:xfrm>
            <a:off x="713232" y="2679192"/>
            <a:ext cx="384048" cy="384048"/>
          </a:xfrm>
          <a:prstGeom prst="ellipse">
            <a:avLst/>
          </a:prstGeom>
          <a:solidFill>
            <a:schemeClr val="bg1"/>
          </a:solidFill>
          <a:ln w="12700">
            <a:solidFill>
              <a:schemeClr val="bg1"/>
            </a:solidFill>
            <a:prstDash val="solid"/>
          </a:ln>
        </p:spPr>
      </p:sp>
      <p:sp>
        <p:nvSpPr>
          <p:cNvPr id="9" name="Text 6"/>
          <p:cNvSpPr txBox="1"/>
          <p:nvPr/>
        </p:nvSpPr>
        <p:spPr>
          <a:xfrm>
            <a:off x="713232" y="2679192"/>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A</a:t>
            </a:r>
            <a:endParaRPr lang="en-US" sz="1500" dirty="0"/>
          </a:p>
        </p:txBody>
      </p:sp>
      <p:sp>
        <p:nvSpPr>
          <p:cNvPr id="10" name="Text 7"/>
          <p:cNvSpPr txBox="1"/>
          <p:nvPr/>
        </p:nvSpPr>
        <p:spPr>
          <a:xfrm>
            <a:off x="1280160" y="2560320"/>
            <a:ext cx="6355080" cy="621792"/>
          </a:xfrm>
          <a:prstGeom prst="rect">
            <a:avLst/>
          </a:prstGeom>
          <a:noFill/>
          <a:ln/>
        </p:spPr>
        <p:txBody>
          <a:bodyPr wrap="square" lIns="0" tIns="0" rIns="0" bIns="0" rtlCol="0" anchor="ctr"/>
          <a:lstStyle/>
          <a:p>
            <a:pPr indent="0" marL="0">
              <a:buNone/>
            </a:pPr>
            <a:r>
              <a:rPr lang="en-US" sz="2000" dirty="0">
                <a:solidFill>
                  <a:schemeClr val="tx1"/>
                </a:solidFill>
              </a:rPr>
              <a:t>It directly powers most cell processes with small, ready-to-use amounts of energy</a:t>
            </a:r>
            <a:endParaRPr lang="en-US" sz="2000" dirty="0"/>
          </a:p>
        </p:txBody>
      </p:sp>
      <p:sp>
        <p:nvSpPr>
          <p:cNvPr id="11" name="option B"/>
          <p:cNvSpPr/>
          <p:nvPr/>
        </p:nvSpPr>
        <p:spPr>
          <a:xfrm>
            <a:off x="548640" y="3328416"/>
            <a:ext cx="7680960" cy="621792"/>
          </a:xfrm>
          <a:prstGeom prst="roundRect">
            <a:avLst>
              <a:gd name="adj" fmla="val 17647"/>
            </a:avLst>
          </a:prstGeom>
          <a:solidFill>
            <a:schemeClr val="bg2"/>
          </a:solidFill>
          <a:ln w="12700">
            <a:solidFill>
              <a:schemeClr val="bg2"/>
            </a:solidFill>
            <a:prstDash val="solid"/>
          </a:ln>
        </p:spPr>
      </p:sp>
      <p:sp>
        <p:nvSpPr>
          <p:cNvPr id="12" name="letter"/>
          <p:cNvSpPr/>
          <p:nvPr/>
        </p:nvSpPr>
        <p:spPr>
          <a:xfrm>
            <a:off x="713232" y="3447288"/>
            <a:ext cx="384048" cy="384048"/>
          </a:xfrm>
          <a:prstGeom prst="ellipse">
            <a:avLst/>
          </a:prstGeom>
          <a:solidFill>
            <a:schemeClr val="bg1"/>
          </a:solidFill>
          <a:ln w="12700">
            <a:solidFill>
              <a:schemeClr val="bg1"/>
            </a:solidFill>
            <a:prstDash val="solid"/>
          </a:ln>
        </p:spPr>
      </p:sp>
      <p:sp>
        <p:nvSpPr>
          <p:cNvPr id="13" name="Text 10"/>
          <p:cNvSpPr txBox="1"/>
          <p:nvPr/>
        </p:nvSpPr>
        <p:spPr>
          <a:xfrm>
            <a:off x="713232" y="3447288"/>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B</a:t>
            </a:r>
            <a:endParaRPr lang="en-US" sz="1500" dirty="0"/>
          </a:p>
        </p:txBody>
      </p:sp>
      <p:sp>
        <p:nvSpPr>
          <p:cNvPr id="14" name="Text 11"/>
          <p:cNvSpPr txBox="1"/>
          <p:nvPr/>
        </p:nvSpPr>
        <p:spPr>
          <a:xfrm>
            <a:off x="1280160" y="3328416"/>
            <a:ext cx="6355080" cy="621792"/>
          </a:xfrm>
          <a:prstGeom prst="rect">
            <a:avLst/>
          </a:prstGeom>
          <a:noFill/>
          <a:ln/>
        </p:spPr>
        <p:txBody>
          <a:bodyPr wrap="square" lIns="0" tIns="0" rIns="0" bIns="0" rtlCol="0" anchor="ctr"/>
          <a:lstStyle/>
          <a:p>
            <a:pPr indent="0" marL="0">
              <a:buNone/>
            </a:pPr>
            <a:r>
              <a:rPr lang="en-US" sz="2000" dirty="0">
                <a:solidFill>
                  <a:schemeClr val="tx1"/>
                </a:solidFill>
              </a:rPr>
              <a:t>It stores the cell's genetic information</a:t>
            </a:r>
            <a:endParaRPr lang="en-US" sz="2000" dirty="0"/>
          </a:p>
        </p:txBody>
      </p:sp>
      <p:sp>
        <p:nvSpPr>
          <p:cNvPr id="15" name="option C"/>
          <p:cNvSpPr/>
          <p:nvPr/>
        </p:nvSpPr>
        <p:spPr>
          <a:xfrm>
            <a:off x="548640" y="4096512"/>
            <a:ext cx="7680960" cy="621792"/>
          </a:xfrm>
          <a:prstGeom prst="roundRect">
            <a:avLst>
              <a:gd name="adj" fmla="val 17647"/>
            </a:avLst>
          </a:prstGeom>
          <a:solidFill>
            <a:schemeClr val="bg2"/>
          </a:solidFill>
          <a:ln w="12700">
            <a:solidFill>
              <a:schemeClr val="bg2"/>
            </a:solidFill>
            <a:prstDash val="solid"/>
          </a:ln>
        </p:spPr>
      </p:sp>
      <p:sp>
        <p:nvSpPr>
          <p:cNvPr id="16" name="letter"/>
          <p:cNvSpPr/>
          <p:nvPr/>
        </p:nvSpPr>
        <p:spPr>
          <a:xfrm>
            <a:off x="713232" y="4215384"/>
            <a:ext cx="384048" cy="384048"/>
          </a:xfrm>
          <a:prstGeom prst="ellipse">
            <a:avLst/>
          </a:prstGeom>
          <a:solidFill>
            <a:schemeClr val="bg1"/>
          </a:solidFill>
          <a:ln w="12700">
            <a:solidFill>
              <a:schemeClr val="bg1"/>
            </a:solidFill>
            <a:prstDash val="solid"/>
          </a:ln>
        </p:spPr>
      </p:sp>
      <p:sp>
        <p:nvSpPr>
          <p:cNvPr id="17" name="Text 14"/>
          <p:cNvSpPr txBox="1"/>
          <p:nvPr/>
        </p:nvSpPr>
        <p:spPr>
          <a:xfrm>
            <a:off x="713232" y="4215384"/>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C</a:t>
            </a:r>
            <a:endParaRPr lang="en-US" sz="1500" dirty="0"/>
          </a:p>
        </p:txBody>
      </p:sp>
      <p:sp>
        <p:nvSpPr>
          <p:cNvPr id="18" name="Text 15"/>
          <p:cNvSpPr txBox="1"/>
          <p:nvPr/>
        </p:nvSpPr>
        <p:spPr>
          <a:xfrm>
            <a:off x="1280160" y="4096512"/>
            <a:ext cx="6355080" cy="621792"/>
          </a:xfrm>
          <a:prstGeom prst="rect">
            <a:avLst/>
          </a:prstGeom>
          <a:noFill/>
          <a:ln/>
        </p:spPr>
        <p:txBody>
          <a:bodyPr wrap="square" lIns="0" tIns="0" rIns="0" bIns="0" rtlCol="0" anchor="ctr"/>
          <a:lstStyle/>
          <a:p>
            <a:pPr indent="0" marL="0">
              <a:buNone/>
            </a:pPr>
            <a:r>
              <a:rPr lang="en-US" sz="2000" dirty="0">
                <a:solidFill>
                  <a:schemeClr val="tx1"/>
                </a:solidFill>
              </a:rPr>
              <a:t>It breaks down nutrients into smaller molecules</a:t>
            </a:r>
            <a:endParaRPr lang="en-US" sz="2000" dirty="0"/>
          </a:p>
        </p:txBody>
      </p:sp>
      <p:sp>
        <p:nvSpPr>
          <p:cNvPr id="19" name="option D"/>
          <p:cNvSpPr/>
          <p:nvPr/>
        </p:nvSpPr>
        <p:spPr>
          <a:xfrm>
            <a:off x="548640" y="4864608"/>
            <a:ext cx="7680960" cy="621792"/>
          </a:xfrm>
          <a:prstGeom prst="roundRect">
            <a:avLst>
              <a:gd name="adj" fmla="val 17647"/>
            </a:avLst>
          </a:prstGeom>
          <a:solidFill>
            <a:schemeClr val="bg2"/>
          </a:solidFill>
          <a:ln w="12700">
            <a:solidFill>
              <a:schemeClr val="bg2"/>
            </a:solidFill>
            <a:prstDash val="solid"/>
          </a:ln>
        </p:spPr>
      </p:sp>
      <p:sp>
        <p:nvSpPr>
          <p:cNvPr id="20" name="letter"/>
          <p:cNvSpPr/>
          <p:nvPr/>
        </p:nvSpPr>
        <p:spPr>
          <a:xfrm>
            <a:off x="713232" y="4983480"/>
            <a:ext cx="384048" cy="384048"/>
          </a:xfrm>
          <a:prstGeom prst="ellipse">
            <a:avLst/>
          </a:prstGeom>
          <a:solidFill>
            <a:schemeClr val="bg1"/>
          </a:solidFill>
          <a:ln w="12700">
            <a:solidFill>
              <a:schemeClr val="bg1"/>
            </a:solidFill>
            <a:prstDash val="solid"/>
          </a:ln>
        </p:spPr>
      </p:sp>
      <p:sp>
        <p:nvSpPr>
          <p:cNvPr id="21" name="Text 18"/>
          <p:cNvSpPr txBox="1"/>
          <p:nvPr/>
        </p:nvSpPr>
        <p:spPr>
          <a:xfrm>
            <a:off x="713232" y="4983480"/>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D</a:t>
            </a:r>
            <a:endParaRPr lang="en-US" sz="1500" dirty="0"/>
          </a:p>
        </p:txBody>
      </p:sp>
      <p:sp>
        <p:nvSpPr>
          <p:cNvPr id="22" name="Text 19"/>
          <p:cNvSpPr txBox="1"/>
          <p:nvPr/>
        </p:nvSpPr>
        <p:spPr>
          <a:xfrm>
            <a:off x="1280160" y="4864608"/>
            <a:ext cx="6355080" cy="621792"/>
          </a:xfrm>
          <a:prstGeom prst="rect">
            <a:avLst/>
          </a:prstGeom>
          <a:noFill/>
          <a:ln/>
        </p:spPr>
        <p:txBody>
          <a:bodyPr wrap="square" lIns="0" tIns="0" rIns="0" bIns="0" rtlCol="0" anchor="ctr"/>
          <a:lstStyle/>
          <a:p>
            <a:pPr indent="0" marL="0">
              <a:buNone/>
            </a:pPr>
            <a:r>
              <a:rPr lang="en-US" sz="2000" dirty="0">
                <a:solidFill>
                  <a:schemeClr val="tx1"/>
                </a:solidFill>
              </a:rPr>
              <a:t>It is only used in muscle cells</a:t>
            </a:r>
            <a:endParaRPr lang="en-US" sz="2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Quick check</a:t>
            </a:r>
            <a:endParaRPr lang="en-US" sz="3200" dirty="0"/>
          </a:p>
        </p:txBody>
      </p:sp>
      <p:sp>
        <p:nvSpPr>
          <p:cNvPr id="3" name="tag"/>
          <p:cNvSpPr/>
          <p:nvPr/>
        </p:nvSpPr>
        <p:spPr>
          <a:xfrm>
            <a:off x="548640" y="329184"/>
            <a:ext cx="868680" cy="329184"/>
          </a:xfrm>
          <a:prstGeom prst="roundRect">
            <a:avLst>
              <a:gd name="adj" fmla="val 50000"/>
            </a:avLst>
          </a:prstGeom>
          <a:solidFill>
            <a:schemeClr val="accent5">
              <a:alpha val="18000"/>
            </a:schemeClr>
          </a:solidFill>
          <a:ln w="12700">
            <a:solidFill>
              <a:schemeClr val="accent5"/>
            </a:solidFill>
            <a:prstDash val="solid"/>
          </a:ln>
        </p:spPr>
      </p:sp>
      <p:sp>
        <p:nvSpPr>
          <p:cNvPr id="4" name="Text 2"/>
          <p:cNvSpPr txBox="1"/>
          <p:nvPr/>
        </p:nvSpPr>
        <p:spPr>
          <a:xfrm>
            <a:off x="548640" y="329184"/>
            <a:ext cx="868680" cy="329184"/>
          </a:xfrm>
          <a:prstGeom prst="rect">
            <a:avLst/>
          </a:prstGeom>
          <a:noFill/>
          <a:ln/>
        </p:spPr>
        <p:txBody>
          <a:bodyPr wrap="square" lIns="0" tIns="0" rIns="0" bIns="0" rtlCol="0" anchor="ctr"/>
          <a:lstStyle/>
          <a:p>
            <a:pPr algn="ctr" indent="0" marL="0">
              <a:buNone/>
            </a:pPr>
            <a:r>
              <a:rPr lang="en-US" sz="1300" b="1" dirty="0">
                <a:solidFill>
                  <a:schemeClr val="accent5"/>
                </a:solidFill>
              </a:rPr>
              <a:t>Answer</a:t>
            </a:r>
            <a:endParaRPr lang="en-US" sz="1300" dirty="0"/>
          </a:p>
        </p:txBody>
      </p:sp>
      <p:sp>
        <p:nvSpPr>
          <p:cNvPr id="6" name="Text 3"/>
          <p:cNvSpPr txBox="1"/>
          <p:nvPr/>
        </p:nvSpPr>
        <p:spPr>
          <a:xfrm>
            <a:off x="548640" y="1600200"/>
            <a:ext cx="11064240" cy="868680"/>
          </a:xfrm>
          <a:prstGeom prst="rect">
            <a:avLst/>
          </a:prstGeom>
          <a:noFill/>
          <a:ln/>
        </p:spPr>
        <p:txBody>
          <a:bodyPr wrap="square" lIns="0" tIns="0" rIns="0" bIns="0" rtlCol="0" anchor="t"/>
          <a:lstStyle/>
          <a:p>
            <a:pPr indent="0" marL="0">
              <a:spcAft>
                <a:spcPts val="600"/>
              </a:spcAft>
              <a:buNone/>
            </a:pPr>
            <a:r>
              <a:rPr lang="en-US" sz="2400" dirty="0">
                <a:solidFill>
                  <a:schemeClr val="tx1"/>
                </a:solidFill>
              </a:rPr>
              <a:t>Why is ATP called the "energy currency" of the cell?</a:t>
            </a:r>
            <a:endParaRPr lang="en-US" sz="2400" dirty="0"/>
          </a:p>
        </p:txBody>
      </p:sp>
      <p:sp>
        <p:nvSpPr>
          <p:cNvPr id="7" name="option A"/>
          <p:cNvSpPr/>
          <p:nvPr/>
        </p:nvSpPr>
        <p:spPr>
          <a:xfrm>
            <a:off x="548640" y="2560320"/>
            <a:ext cx="7680960" cy="621792"/>
          </a:xfrm>
          <a:prstGeom prst="roundRect">
            <a:avLst>
              <a:gd name="adj" fmla="val 17647"/>
            </a:avLst>
          </a:prstGeom>
          <a:solidFill>
            <a:schemeClr val="accent5">
              <a:alpha val="20000"/>
            </a:schemeClr>
          </a:solidFill>
          <a:ln w="25400">
            <a:solidFill>
              <a:schemeClr val="accent5"/>
            </a:solidFill>
            <a:prstDash val="solid"/>
          </a:ln>
        </p:spPr>
      </p:sp>
      <p:sp>
        <p:nvSpPr>
          <p:cNvPr id="8" name="letter"/>
          <p:cNvSpPr/>
          <p:nvPr/>
        </p:nvSpPr>
        <p:spPr>
          <a:xfrm>
            <a:off x="713232" y="2679192"/>
            <a:ext cx="384048" cy="384048"/>
          </a:xfrm>
          <a:prstGeom prst="ellipse">
            <a:avLst/>
          </a:prstGeom>
          <a:solidFill>
            <a:schemeClr val="accent5"/>
          </a:solidFill>
          <a:ln w="12700">
            <a:solidFill>
              <a:schemeClr val="accent5"/>
            </a:solidFill>
            <a:prstDash val="solid"/>
          </a:ln>
        </p:spPr>
      </p:sp>
      <p:sp>
        <p:nvSpPr>
          <p:cNvPr id="9" name="Text 6"/>
          <p:cNvSpPr txBox="1"/>
          <p:nvPr/>
        </p:nvSpPr>
        <p:spPr>
          <a:xfrm>
            <a:off x="713232" y="2679192"/>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A</a:t>
            </a:r>
            <a:endParaRPr lang="en-US" sz="1500" dirty="0"/>
          </a:p>
        </p:txBody>
      </p:sp>
      <p:sp>
        <p:nvSpPr>
          <p:cNvPr id="10" name="Text 7"/>
          <p:cNvSpPr txBox="1"/>
          <p:nvPr/>
        </p:nvSpPr>
        <p:spPr>
          <a:xfrm>
            <a:off x="1280160" y="2560320"/>
            <a:ext cx="6355080" cy="621792"/>
          </a:xfrm>
          <a:prstGeom prst="rect">
            <a:avLst/>
          </a:prstGeom>
          <a:noFill/>
          <a:ln/>
        </p:spPr>
        <p:txBody>
          <a:bodyPr wrap="square" lIns="0" tIns="0" rIns="0" bIns="0" rtlCol="0" anchor="ctr"/>
          <a:lstStyle/>
          <a:p>
            <a:pPr indent="0" marL="0">
              <a:buNone/>
            </a:pPr>
            <a:r>
              <a:rPr lang="en-US" sz="2000" dirty="0">
                <a:solidFill>
                  <a:schemeClr val="tx1"/>
                </a:solidFill>
              </a:rPr>
              <a:t>It directly powers most cell processes with small, ready-to-use amounts of energy</a:t>
            </a:r>
            <a:endParaRPr lang="en-US" sz="2000" dirty="0"/>
          </a:p>
        </p:txBody>
      </p:sp>
      <p:sp>
        <p:nvSpPr>
          <p:cNvPr id="11" name="Text 8"/>
          <p:cNvSpPr txBox="1"/>
          <p:nvPr/>
        </p:nvSpPr>
        <p:spPr>
          <a:xfrm>
            <a:off x="7726680" y="2560320"/>
            <a:ext cx="411480" cy="621792"/>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sp>
        <p:nvSpPr>
          <p:cNvPr id="12" name="option B"/>
          <p:cNvSpPr/>
          <p:nvPr/>
        </p:nvSpPr>
        <p:spPr>
          <a:xfrm>
            <a:off x="548640" y="3328416"/>
            <a:ext cx="7680960" cy="621792"/>
          </a:xfrm>
          <a:prstGeom prst="roundRect">
            <a:avLst>
              <a:gd name="adj" fmla="val 17647"/>
            </a:avLst>
          </a:prstGeom>
          <a:solidFill>
            <a:schemeClr val="bg2"/>
          </a:solidFill>
          <a:ln w="12700">
            <a:solidFill>
              <a:schemeClr val="bg2"/>
            </a:solidFill>
            <a:prstDash val="solid"/>
          </a:ln>
        </p:spPr>
      </p:sp>
      <p:sp>
        <p:nvSpPr>
          <p:cNvPr id="13" name="letter"/>
          <p:cNvSpPr/>
          <p:nvPr/>
        </p:nvSpPr>
        <p:spPr>
          <a:xfrm>
            <a:off x="713232" y="3447288"/>
            <a:ext cx="384048" cy="384048"/>
          </a:xfrm>
          <a:prstGeom prst="ellipse">
            <a:avLst/>
          </a:prstGeom>
          <a:solidFill>
            <a:schemeClr val="bg1"/>
          </a:solidFill>
          <a:ln w="12700">
            <a:solidFill>
              <a:schemeClr val="bg1"/>
            </a:solidFill>
            <a:prstDash val="solid"/>
          </a:ln>
        </p:spPr>
      </p:sp>
      <p:sp>
        <p:nvSpPr>
          <p:cNvPr id="14" name="Text 11"/>
          <p:cNvSpPr txBox="1"/>
          <p:nvPr/>
        </p:nvSpPr>
        <p:spPr>
          <a:xfrm>
            <a:off x="713232" y="3447288"/>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B</a:t>
            </a:r>
            <a:endParaRPr lang="en-US" sz="1500" dirty="0"/>
          </a:p>
        </p:txBody>
      </p:sp>
      <p:sp>
        <p:nvSpPr>
          <p:cNvPr id="15" name="Text 12"/>
          <p:cNvSpPr txBox="1"/>
          <p:nvPr/>
        </p:nvSpPr>
        <p:spPr>
          <a:xfrm>
            <a:off x="1280160" y="3328416"/>
            <a:ext cx="6355080" cy="621792"/>
          </a:xfrm>
          <a:prstGeom prst="rect">
            <a:avLst/>
          </a:prstGeom>
          <a:noFill/>
          <a:ln/>
        </p:spPr>
        <p:txBody>
          <a:bodyPr wrap="square" lIns="0" tIns="0" rIns="0" bIns="0" rtlCol="0" anchor="ctr"/>
          <a:lstStyle/>
          <a:p>
            <a:pPr indent="0" marL="0">
              <a:buNone/>
            </a:pPr>
            <a:r>
              <a:rPr lang="en-US" sz="2000" dirty="0">
                <a:solidFill>
                  <a:schemeClr val="tx2"/>
                </a:solidFill>
              </a:rPr>
              <a:t>It stores the cell's genetic information</a:t>
            </a:r>
            <a:endParaRPr lang="en-US" sz="2000" dirty="0"/>
          </a:p>
        </p:txBody>
      </p:sp>
      <p:sp>
        <p:nvSpPr>
          <p:cNvPr id="16" name="option C"/>
          <p:cNvSpPr/>
          <p:nvPr/>
        </p:nvSpPr>
        <p:spPr>
          <a:xfrm>
            <a:off x="548640" y="4096512"/>
            <a:ext cx="7680960" cy="621792"/>
          </a:xfrm>
          <a:prstGeom prst="roundRect">
            <a:avLst>
              <a:gd name="adj" fmla="val 17647"/>
            </a:avLst>
          </a:prstGeom>
          <a:solidFill>
            <a:schemeClr val="bg2"/>
          </a:solidFill>
          <a:ln w="12700">
            <a:solidFill>
              <a:schemeClr val="bg2"/>
            </a:solidFill>
            <a:prstDash val="solid"/>
          </a:ln>
        </p:spPr>
      </p:sp>
      <p:sp>
        <p:nvSpPr>
          <p:cNvPr id="17" name="letter"/>
          <p:cNvSpPr/>
          <p:nvPr/>
        </p:nvSpPr>
        <p:spPr>
          <a:xfrm>
            <a:off x="713232" y="4215384"/>
            <a:ext cx="384048" cy="384048"/>
          </a:xfrm>
          <a:prstGeom prst="ellipse">
            <a:avLst/>
          </a:prstGeom>
          <a:solidFill>
            <a:schemeClr val="bg1"/>
          </a:solidFill>
          <a:ln w="12700">
            <a:solidFill>
              <a:schemeClr val="bg1"/>
            </a:solidFill>
            <a:prstDash val="solid"/>
          </a:ln>
        </p:spPr>
      </p:sp>
      <p:sp>
        <p:nvSpPr>
          <p:cNvPr id="18" name="Text 15"/>
          <p:cNvSpPr txBox="1"/>
          <p:nvPr/>
        </p:nvSpPr>
        <p:spPr>
          <a:xfrm>
            <a:off x="713232" y="4215384"/>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C</a:t>
            </a:r>
            <a:endParaRPr lang="en-US" sz="1500" dirty="0"/>
          </a:p>
        </p:txBody>
      </p:sp>
      <p:sp>
        <p:nvSpPr>
          <p:cNvPr id="19" name="Text 16"/>
          <p:cNvSpPr txBox="1"/>
          <p:nvPr/>
        </p:nvSpPr>
        <p:spPr>
          <a:xfrm>
            <a:off x="1280160" y="4096512"/>
            <a:ext cx="6355080" cy="621792"/>
          </a:xfrm>
          <a:prstGeom prst="rect">
            <a:avLst/>
          </a:prstGeom>
          <a:noFill/>
          <a:ln/>
        </p:spPr>
        <p:txBody>
          <a:bodyPr wrap="square" lIns="0" tIns="0" rIns="0" bIns="0" rtlCol="0" anchor="ctr"/>
          <a:lstStyle/>
          <a:p>
            <a:pPr indent="0" marL="0">
              <a:buNone/>
            </a:pPr>
            <a:r>
              <a:rPr lang="en-US" sz="2000" dirty="0">
                <a:solidFill>
                  <a:schemeClr val="tx2"/>
                </a:solidFill>
              </a:rPr>
              <a:t>It breaks down nutrients into smaller molecules</a:t>
            </a:r>
            <a:endParaRPr lang="en-US" sz="2000" dirty="0"/>
          </a:p>
        </p:txBody>
      </p:sp>
      <p:sp>
        <p:nvSpPr>
          <p:cNvPr id="20" name="option D"/>
          <p:cNvSpPr/>
          <p:nvPr/>
        </p:nvSpPr>
        <p:spPr>
          <a:xfrm>
            <a:off x="548640" y="4864608"/>
            <a:ext cx="7680960" cy="621792"/>
          </a:xfrm>
          <a:prstGeom prst="roundRect">
            <a:avLst>
              <a:gd name="adj" fmla="val 17647"/>
            </a:avLst>
          </a:prstGeom>
          <a:solidFill>
            <a:schemeClr val="bg2"/>
          </a:solidFill>
          <a:ln w="12700">
            <a:solidFill>
              <a:schemeClr val="bg2"/>
            </a:solidFill>
            <a:prstDash val="solid"/>
          </a:ln>
        </p:spPr>
      </p:sp>
      <p:sp>
        <p:nvSpPr>
          <p:cNvPr id="21" name="letter"/>
          <p:cNvSpPr/>
          <p:nvPr/>
        </p:nvSpPr>
        <p:spPr>
          <a:xfrm>
            <a:off x="713232" y="4983480"/>
            <a:ext cx="384048" cy="384048"/>
          </a:xfrm>
          <a:prstGeom prst="ellipse">
            <a:avLst/>
          </a:prstGeom>
          <a:solidFill>
            <a:schemeClr val="bg1"/>
          </a:solidFill>
          <a:ln w="12700">
            <a:solidFill>
              <a:schemeClr val="bg1"/>
            </a:solidFill>
            <a:prstDash val="solid"/>
          </a:ln>
        </p:spPr>
      </p:sp>
      <p:sp>
        <p:nvSpPr>
          <p:cNvPr id="22" name="Text 19"/>
          <p:cNvSpPr txBox="1"/>
          <p:nvPr/>
        </p:nvSpPr>
        <p:spPr>
          <a:xfrm>
            <a:off x="713232" y="4983480"/>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D</a:t>
            </a:r>
            <a:endParaRPr lang="en-US" sz="1500" dirty="0"/>
          </a:p>
        </p:txBody>
      </p:sp>
      <p:sp>
        <p:nvSpPr>
          <p:cNvPr id="23" name="Text 20"/>
          <p:cNvSpPr txBox="1"/>
          <p:nvPr/>
        </p:nvSpPr>
        <p:spPr>
          <a:xfrm>
            <a:off x="1280160" y="4864608"/>
            <a:ext cx="6355080" cy="621792"/>
          </a:xfrm>
          <a:prstGeom prst="rect">
            <a:avLst/>
          </a:prstGeom>
          <a:noFill/>
          <a:ln/>
        </p:spPr>
        <p:txBody>
          <a:bodyPr wrap="square" lIns="0" tIns="0" rIns="0" bIns="0" rtlCol="0" anchor="ctr"/>
          <a:lstStyle/>
          <a:p>
            <a:pPr indent="0" marL="0">
              <a:buNone/>
            </a:pPr>
            <a:r>
              <a:rPr lang="en-US" sz="2000" dirty="0">
                <a:solidFill>
                  <a:schemeClr val="tx2"/>
                </a:solidFill>
              </a:rPr>
              <a:t>It is only used in muscle cells</a:t>
            </a:r>
            <a:endParaRPr lang="en-US" sz="2000" dirty="0"/>
          </a:p>
        </p:txBody>
      </p:sp>
      <p:sp>
        <p:nvSpPr>
          <p:cNvPr id="24" name="panel"/>
          <p:cNvSpPr/>
          <p:nvPr/>
        </p:nvSpPr>
        <p:spPr>
          <a:xfrm>
            <a:off x="8503920" y="2560320"/>
            <a:ext cx="3136392" cy="2926080"/>
          </a:xfrm>
          <a:prstGeom prst="roundRect">
            <a:avLst>
              <a:gd name="adj" fmla="val 3750"/>
            </a:avLst>
          </a:prstGeom>
          <a:solidFill>
            <a:schemeClr val="accent5">
              <a:alpha val="12000"/>
            </a:schemeClr>
          </a:solidFill>
          <a:ln w="12700">
            <a:solidFill>
              <a:schemeClr val="accent5"/>
            </a:solidFill>
            <a:prstDash val="solid"/>
          </a:ln>
        </p:spPr>
      </p:sp>
      <p:sp>
        <p:nvSpPr>
          <p:cNvPr id="25" name="Text 22"/>
          <p:cNvSpPr txBox="1"/>
          <p:nvPr/>
        </p:nvSpPr>
        <p:spPr>
          <a:xfrm>
            <a:off x="8686800" y="2697480"/>
            <a:ext cx="2788920" cy="265176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Why</a:t>
            </a:r>
            <a:endParaRPr lang="en-US" sz="1700" dirty="0"/>
          </a:p>
          <a:p>
            <a:pPr indent="0" marL="0">
              <a:spcAft>
                <a:spcPts val="600"/>
              </a:spcAft>
              <a:buNone/>
            </a:pPr>
            <a:r>
              <a:rPr lang="en-US" sz="1700" dirty="0">
                <a:solidFill>
                  <a:schemeClr val="tx1"/>
                </a:solidFill>
              </a:rPr>
              <a:t>Like money, ATP is the form of energy every cell job can spend.</a:t>
            </a:r>
            <a:endParaRPr lang="en-US" sz="17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ection tile Jobs"/>
          <p:cNvSpPr/>
          <p:nvPr/>
        </p:nvSpPr>
        <p:spPr>
          <a:xfrm>
            <a:off x="1097280" y="1783080"/>
            <a:ext cx="2377440" cy="2615184"/>
          </a:xfrm>
          <a:prstGeom prst="roundRect">
            <a:avLst>
              <a:gd name="adj" fmla="val 8000"/>
            </a:avLst>
          </a:prstGeom>
          <a:solidFill>
            <a:schemeClr val="bg2"/>
          </a:solidFill>
          <a:ln w="44450">
            <a:solidFill>
              <a:schemeClr val="accent1"/>
            </a:solidFill>
            <a:prstDash val="solid"/>
          </a:ln>
        </p:spPr>
      </p:sp>
      <p:sp>
        <p:nvSpPr>
          <p:cNvPr id="3" name="Text 1"/>
          <p:cNvSpPr txBox="1"/>
          <p:nvPr/>
        </p:nvSpPr>
        <p:spPr>
          <a:xfrm>
            <a:off x="1263701" y="1901952"/>
            <a:ext cx="950976" cy="427939"/>
          </a:xfrm>
          <a:prstGeom prst="rect">
            <a:avLst/>
          </a:prstGeom>
          <a:noFill/>
          <a:ln/>
        </p:spPr>
        <p:txBody>
          <a:bodyPr wrap="square" lIns="0" tIns="0" rIns="0" bIns="0" rtlCol="0" anchor="ctr"/>
          <a:lstStyle/>
          <a:p>
            <a:pPr indent="0" marL="0">
              <a:buNone/>
            </a:pPr>
            <a:r>
              <a:rPr lang="en-US" sz="2340" dirty="0">
                <a:solidFill>
                  <a:schemeClr val="tx2"/>
                </a:solidFill>
              </a:rPr>
              <a:t>5</a:t>
            </a:r>
            <a:endParaRPr lang="en-US" sz="2340" dirty="0"/>
          </a:p>
        </p:txBody>
      </p:sp>
      <p:pic>
        <p:nvPicPr>
          <p:cNvPr id="4" name="Image 0" descr="Jobs icon">    </p:cNvPr>
          <p:cNvPicPr>
            <a:picLocks noChangeAspect="1"/>
          </p:cNvPicPr>
          <p:nvPr/>
        </p:nvPicPr>
        <p:blipFill>
          <a:blip r:embed="rId1"/>
          <a:stretch>
            <a:fillRect/>
          </a:stretch>
        </p:blipFill>
        <p:spPr>
          <a:xfrm>
            <a:off x="1691640" y="2258568"/>
            <a:ext cx="1188720" cy="1188720"/>
          </a:xfrm>
          <a:prstGeom prst="rect">
            <a:avLst/>
          </a:prstGeom>
        </p:spPr>
      </p:pic>
      <p:sp>
        <p:nvSpPr>
          <p:cNvPr id="5" name="Text 2"/>
          <p:cNvSpPr txBox="1"/>
          <p:nvPr/>
        </p:nvSpPr>
        <p:spPr>
          <a:xfrm>
            <a:off x="1097280" y="3637483"/>
            <a:ext cx="2377440" cy="523037"/>
          </a:xfrm>
          <a:prstGeom prst="rect">
            <a:avLst/>
          </a:prstGeom>
          <a:noFill/>
          <a:ln/>
        </p:spPr>
        <p:txBody>
          <a:bodyPr wrap="square" lIns="0" tIns="0" rIns="0" bIns="0" rtlCol="0" anchor="ctr"/>
          <a:lstStyle/>
          <a:p>
            <a:pPr algn="ctr" indent="0" marL="0">
              <a:buNone/>
            </a:pPr>
            <a:r>
              <a:rPr lang="en-US" sz="1950" dirty="0">
                <a:solidFill>
                  <a:schemeClr val="tx2"/>
                </a:solidFill>
              </a:rPr>
              <a:t>Jobs</a:t>
            </a:r>
            <a:endParaRPr lang="en-US" sz="1950" dirty="0"/>
          </a:p>
        </p:txBody>
      </p:sp>
      <p:sp>
        <p:nvSpPr>
          <p:cNvPr id="6" name="Text 0"/>
          <p:cNvSpPr/>
          <p:nvPr>
            <p:ph idx="100" type="body" hasCustomPrompt="1"/>
          </p:nvPr>
        </p:nvSpPr>
        <p:spPr>
          <a:xfrm>
            <a:off x="4114800" y="2240280"/>
            <a:ext cx="7498080" cy="457200"/>
          </a:xfrm>
          <a:prstGeom prst="rect">
            <a:avLst/>
          </a:prstGeom>
          <a:noFill/>
          <a:ln/>
        </p:spPr>
        <p:txBody>
          <a:bodyPr wrap="square" lIns="0" tIns="0" rIns="0" bIns="0" rtlCol="0" anchor="b"/>
          <a:lstStyle/>
          <a:p>
            <a:pPr algn="l" indent="0" marL="0">
              <a:buNone/>
            </a:pPr>
            <a:r>
              <a:rPr lang="en-US" sz="2000" dirty="0">
                <a:solidFill>
                  <a:schemeClr val="tx2"/>
                </a:solidFill>
              </a:rPr>
              <a:t>Section 5 of 7 · about 6 min</a:t>
            </a:r>
            <a:endParaRPr lang="en-US" sz="2000" dirty="0"/>
          </a:p>
        </p:txBody>
      </p:sp>
      <p:sp>
        <p:nvSpPr>
          <p:cNvPr id="7" name="Text 0"/>
          <p:cNvSpPr/>
          <p:nvPr>
            <p:ph idx="101" type="title" hasCustomPrompt="1"/>
          </p:nvPr>
        </p:nvSpPr>
        <p:spPr>
          <a:xfrm>
            <a:off x="4114800" y="2788920"/>
            <a:ext cx="7498080" cy="1463040"/>
          </a:xfrm>
          <a:prstGeom prst="rect">
            <a:avLst/>
          </a:prstGeom>
          <a:noFill/>
          <a:ln/>
        </p:spPr>
        <p:txBody>
          <a:bodyPr wrap="square" lIns="0" tIns="0" rIns="0" bIns="0" rtlCol="0" anchor="t"/>
          <a:lstStyle/>
          <a:p>
            <a:pPr algn="l" indent="0" marL="0">
              <a:buNone/>
            </a:pPr>
            <a:r>
              <a:rPr lang="en-US" sz="4400" b="1" dirty="0">
                <a:solidFill>
                  <a:schemeClr val="tx1"/>
                </a:solidFill>
              </a:rPr>
              <a:t>What cells spend ATP on</a:t>
            </a:r>
            <a:endParaRPr lang="en-US" sz="4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Jobs that cost ATP</a:t>
            </a:r>
            <a:endParaRPr lang="en-US" sz="3200" dirty="0"/>
          </a:p>
        </p:txBody>
      </p:sp>
      <p:sp>
        <p:nvSpPr>
          <p:cNvPr id="3" name="tag"/>
          <p:cNvSpPr/>
          <p:nvPr/>
        </p:nvSpPr>
        <p:spPr>
          <a:xfrm>
            <a:off x="548640" y="329184"/>
            <a:ext cx="676656" cy="329184"/>
          </a:xfrm>
          <a:prstGeom prst="roundRect">
            <a:avLst>
              <a:gd name="adj" fmla="val 50000"/>
            </a:avLst>
          </a:prstGeom>
          <a:solidFill>
            <a:schemeClr val="accent3">
              <a:alpha val="18000"/>
            </a:schemeClr>
          </a:solidFill>
          <a:ln w="12700">
            <a:solidFill>
              <a:schemeClr val="accent3"/>
            </a:solidFill>
            <a:prstDash val="solid"/>
          </a:ln>
        </p:spPr>
      </p:sp>
      <p:sp>
        <p:nvSpPr>
          <p:cNvPr id="4" name="Text 2"/>
          <p:cNvSpPr txBox="1"/>
          <p:nvPr/>
        </p:nvSpPr>
        <p:spPr>
          <a:xfrm>
            <a:off x="548640" y="329184"/>
            <a:ext cx="676656" cy="329184"/>
          </a:xfrm>
          <a:prstGeom prst="rect">
            <a:avLst/>
          </a:prstGeom>
          <a:noFill/>
          <a:ln/>
        </p:spPr>
        <p:txBody>
          <a:bodyPr wrap="square" lIns="0" tIns="0" rIns="0" bIns="0" rtlCol="0" anchor="ctr"/>
          <a:lstStyle/>
          <a:p>
            <a:pPr algn="ctr" indent="0" marL="0">
              <a:buNone/>
            </a:pPr>
            <a:r>
              <a:rPr lang="en-US" sz="1300" b="1" dirty="0">
                <a:solidFill>
                  <a:schemeClr val="accent3"/>
                </a:solidFill>
              </a:rPr>
              <a:t>Read</a:t>
            </a:r>
            <a:endParaRPr lang="en-US" sz="1300" dirty="0"/>
          </a:p>
        </p:txBody>
      </p:sp>
      <p:sp>
        <p:nvSpPr>
          <p:cNvPr id="6" name="Text 3"/>
          <p:cNvSpPr txBox="1"/>
          <p:nvPr/>
        </p:nvSpPr>
        <p:spPr>
          <a:xfrm>
            <a:off x="548640" y="1600200"/>
            <a:ext cx="5760720" cy="457200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Almost everything a cell does costs ATP:</a:t>
            </a:r>
            <a:endParaRPr lang="en-US" sz="2000" dirty="0"/>
          </a:p>
          <a:p>
            <a:pPr indent="0" marL="0">
              <a:spcAft>
                <a:spcPts val="600"/>
              </a:spcAft>
              <a:buNone/>
            </a:pPr>
            <a:r>
              <a:rPr lang="en-US" sz="2000" dirty="0">
                <a:solidFill>
                  <a:schemeClr val="tx1"/>
                </a:solidFill>
              </a:rPr>
              <a:t>• </a:t>
            </a:r>
            <a:pPr indent="0" marL="0">
              <a:spcAft>
                <a:spcPts val="600"/>
              </a:spcAft>
              <a:buNone/>
            </a:pPr>
            <a:r>
              <a:rPr lang="en-US" sz="2000" b="1" dirty="0">
                <a:solidFill>
                  <a:schemeClr val="tx1"/>
                </a:solidFill>
              </a:rPr>
              <a:t>Moving:</a:t>
            </a:r>
            <a:pPr indent="0" marL="0">
              <a:spcAft>
                <a:spcPts val="600"/>
              </a:spcAft>
              <a:buNone/>
            </a:pPr>
            <a:r>
              <a:rPr lang="en-US" sz="2000" dirty="0">
                <a:solidFill>
                  <a:schemeClr val="tx1"/>
                </a:solidFill>
              </a:rPr>
              <a:t> muscles contracting</a:t>
            </a:r>
            <a:endParaRPr lang="en-US" sz="2000" dirty="0"/>
          </a:p>
          <a:p>
            <a:pPr indent="0" marL="0">
              <a:spcAft>
                <a:spcPts val="600"/>
              </a:spcAft>
              <a:buNone/>
            </a:pPr>
            <a:r>
              <a:rPr lang="en-US" sz="2000" dirty="0">
                <a:solidFill>
                  <a:schemeClr val="tx1"/>
                </a:solidFill>
              </a:rPr>
              <a:t>• </a:t>
            </a:r>
            <a:pPr indent="0" marL="0">
              <a:spcAft>
                <a:spcPts val="600"/>
              </a:spcAft>
              <a:buNone/>
            </a:pPr>
            <a:r>
              <a:rPr lang="en-US" sz="2000" b="1" dirty="0">
                <a:solidFill>
                  <a:schemeClr val="tx1"/>
                </a:solidFill>
              </a:rPr>
              <a:t>Building:</a:t>
            </a:r>
            <a:pPr indent="0" marL="0">
              <a:spcAft>
                <a:spcPts val="600"/>
              </a:spcAft>
              <a:buNone/>
            </a:pPr>
            <a:r>
              <a:rPr lang="en-US" sz="2000" dirty="0">
                <a:solidFill>
                  <a:schemeClr val="tx1"/>
                </a:solidFill>
              </a:rPr>
              <a:t> making proteins and DNA</a:t>
            </a:r>
            <a:endParaRPr lang="en-US" sz="2000" dirty="0"/>
          </a:p>
          <a:p>
            <a:pPr indent="0" marL="0">
              <a:spcAft>
                <a:spcPts val="600"/>
              </a:spcAft>
              <a:buNone/>
            </a:pPr>
            <a:r>
              <a:rPr lang="en-US" sz="2000" dirty="0">
                <a:solidFill>
                  <a:schemeClr val="tx1"/>
                </a:solidFill>
              </a:rPr>
              <a:t>• </a:t>
            </a:r>
            <a:pPr indent="0" marL="0">
              <a:spcAft>
                <a:spcPts val="600"/>
              </a:spcAft>
              <a:buNone/>
            </a:pPr>
            <a:r>
              <a:rPr lang="en-US" sz="2000" b="1" dirty="0">
                <a:solidFill>
                  <a:schemeClr val="tx1"/>
                </a:solidFill>
              </a:rPr>
              <a:t>Dividing:</a:t>
            </a:r>
            <a:pPr indent="0" marL="0">
              <a:spcAft>
                <a:spcPts val="600"/>
              </a:spcAft>
              <a:buNone/>
            </a:pPr>
            <a:r>
              <a:rPr lang="en-US" sz="2000" dirty="0">
                <a:solidFill>
                  <a:schemeClr val="tx1"/>
                </a:solidFill>
              </a:rPr>
              <a:t> splitting into two cells</a:t>
            </a:r>
            <a:endParaRPr lang="en-US" sz="2000" dirty="0"/>
          </a:p>
          <a:p>
            <a:pPr indent="0" marL="0">
              <a:spcAft>
                <a:spcPts val="600"/>
              </a:spcAft>
              <a:buNone/>
            </a:pPr>
            <a:r>
              <a:rPr lang="en-US" sz="2000" dirty="0">
                <a:solidFill>
                  <a:schemeClr val="tx1"/>
                </a:solidFill>
              </a:rPr>
              <a:t>• </a:t>
            </a:r>
            <a:pPr indent="0" marL="0">
              <a:spcAft>
                <a:spcPts val="600"/>
              </a:spcAft>
              <a:buNone/>
            </a:pPr>
            <a:r>
              <a:rPr lang="en-US" sz="2000" b="1" dirty="0">
                <a:solidFill>
                  <a:schemeClr val="tx1"/>
                </a:solidFill>
              </a:rPr>
              <a:t>Pumping:</a:t>
            </a:r>
            <a:pPr indent="0" marL="0">
              <a:spcAft>
                <a:spcPts val="600"/>
              </a:spcAft>
              <a:buNone/>
            </a:pPr>
            <a:r>
              <a:rPr lang="en-US" sz="2000" dirty="0">
                <a:solidFill>
                  <a:schemeClr val="tx1"/>
                </a:solidFill>
              </a:rPr>
              <a:t> active transport, low → high concentration</a:t>
            </a:r>
            <a:endParaRPr lang="en-US" sz="2000" dirty="0"/>
          </a:p>
          <a:p>
            <a:pPr indent="0" marL="0">
              <a:spcAft>
                <a:spcPts val="600"/>
              </a:spcAft>
              <a:buNone/>
            </a:pPr>
            <a:r>
              <a:rPr lang="en-US" sz="2000" dirty="0">
                <a:solidFill>
                  <a:schemeClr val="tx1"/>
                </a:solidFill>
              </a:rPr>
              <a:t>• </a:t>
            </a:r>
            <a:pPr indent="0" marL="0">
              <a:spcAft>
                <a:spcPts val="600"/>
              </a:spcAft>
              <a:buNone/>
            </a:pPr>
            <a:r>
              <a:rPr lang="en-US" sz="2000" b="1" dirty="0">
                <a:solidFill>
                  <a:schemeClr val="tx1"/>
                </a:solidFill>
              </a:rPr>
              <a:t>Signaling:</a:t>
            </a:r>
            <a:pPr indent="0" marL="0">
              <a:spcAft>
                <a:spcPts val="600"/>
              </a:spcAft>
              <a:buNone/>
            </a:pPr>
            <a:r>
              <a:rPr lang="en-US" sz="2000" dirty="0">
                <a:solidFill>
                  <a:schemeClr val="tx1"/>
                </a:solidFill>
              </a:rPr>
              <a:t> nerve cells sending messages</a:t>
            </a:r>
            <a:endParaRPr lang="en-US" sz="2000" dirty="0"/>
          </a:p>
          <a:p>
            <a:pPr indent="0" marL="0">
              <a:spcAft>
                <a:spcPts val="600"/>
              </a:spcAft>
              <a:buNone/>
            </a:pPr>
            <a:r>
              <a:rPr lang="en-US" sz="2000" dirty="0">
                <a:solidFill>
                  <a:schemeClr val="tx1"/>
                </a:solidFill>
              </a:rPr>
              <a:t>• </a:t>
            </a:r>
            <a:pPr indent="0" marL="0">
              <a:spcAft>
                <a:spcPts val="600"/>
              </a:spcAft>
              <a:buNone/>
            </a:pPr>
            <a:r>
              <a:rPr lang="en-US" sz="2000" b="1" dirty="0">
                <a:solidFill>
                  <a:schemeClr val="tx1"/>
                </a:solidFill>
              </a:rPr>
              <a:t>Making light:</a:t>
            </a:r>
            <a:pPr indent="0" marL="0">
              <a:spcAft>
                <a:spcPts val="600"/>
              </a:spcAft>
              <a:buNone/>
            </a:pPr>
            <a:r>
              <a:rPr lang="en-US" sz="2000" dirty="0">
                <a:solidFill>
                  <a:schemeClr val="tx1"/>
                </a:solidFill>
              </a:rPr>
              <a:t> fireflies!</a:t>
            </a:r>
            <a:endParaRPr lang="en-US" sz="2000" dirty="0"/>
          </a:p>
        </p:txBody>
      </p:sp>
      <p:sp>
        <p:nvSpPr>
          <p:cNvPr id="7" name="panel"/>
          <p:cNvSpPr/>
          <p:nvPr/>
        </p:nvSpPr>
        <p:spPr>
          <a:xfrm>
            <a:off x="6583680" y="1737360"/>
            <a:ext cx="5029200" cy="2926080"/>
          </a:xfrm>
          <a:prstGeom prst="roundRect">
            <a:avLst>
              <a:gd name="adj" fmla="val 3750"/>
            </a:avLst>
          </a:prstGeom>
          <a:solidFill>
            <a:schemeClr val="accent3">
              <a:alpha val="12000"/>
            </a:schemeClr>
          </a:solidFill>
          <a:ln w="12700">
            <a:solidFill>
              <a:schemeClr val="accent3"/>
            </a:solidFill>
            <a:prstDash val="solid"/>
          </a:ln>
        </p:spPr>
      </p:sp>
      <p:sp>
        <p:nvSpPr>
          <p:cNvPr id="8" name="Text 5"/>
          <p:cNvSpPr txBox="1"/>
          <p:nvPr/>
        </p:nvSpPr>
        <p:spPr>
          <a:xfrm>
            <a:off x="6784848" y="1847088"/>
            <a:ext cx="4626864" cy="2706624"/>
          </a:xfrm>
          <a:prstGeom prst="rect">
            <a:avLst/>
          </a:prstGeom>
          <a:noFill/>
          <a:ln/>
        </p:spPr>
        <p:txBody>
          <a:bodyPr wrap="square" lIns="0" tIns="0" rIns="0" bIns="0" rtlCol="0" anchor="ctr"/>
          <a:lstStyle/>
          <a:p>
            <a:pPr indent="0" marL="0">
              <a:spcAft>
                <a:spcPts val="600"/>
              </a:spcAft>
              <a:buNone/>
            </a:pPr>
            <a:r>
              <a:rPr lang="en-US" sz="1900" b="1" dirty="0">
                <a:solidFill>
                  <a:schemeClr val="tx1"/>
                </a:solidFill>
              </a:rPr>
              <a:t>No ATP needed:</a:t>
            </a:r>
            <a:pPr indent="0" marL="0">
              <a:spcAft>
                <a:spcPts val="600"/>
              </a:spcAft>
              <a:buNone/>
            </a:pPr>
            <a:r>
              <a:rPr lang="en-US" sz="1900" dirty="0">
                <a:solidFill>
                  <a:schemeClr val="tx1"/>
                </a:solidFill>
              </a:rPr>
              <a:t> passive transport (diffusion and osmosis). Molecules spread from high to low concentration on their own, like a ball rolling downhill.</a:t>
            </a:r>
            <a:endParaRPr lang="en-US" sz="19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Try it: does it cost ATP?</a:t>
            </a:r>
            <a:endParaRPr lang="en-US" sz="3200" dirty="0"/>
          </a:p>
        </p:txBody>
      </p:sp>
      <p:sp>
        <p:nvSpPr>
          <p:cNvPr id="3" name="tag"/>
          <p:cNvSpPr/>
          <p:nvPr/>
        </p:nvSpPr>
        <p:spPr>
          <a:xfrm>
            <a:off x="548640" y="329184"/>
            <a:ext cx="868680" cy="329184"/>
          </a:xfrm>
          <a:prstGeom prst="roundRect">
            <a:avLst>
              <a:gd name="adj" fmla="val 50000"/>
            </a:avLst>
          </a:prstGeom>
          <a:solidFill>
            <a:schemeClr val="accent5">
              <a:alpha val="18000"/>
            </a:schemeClr>
          </a:solidFill>
          <a:ln w="12700">
            <a:solidFill>
              <a:schemeClr val="accent5"/>
            </a:solidFill>
            <a:prstDash val="solid"/>
          </a:ln>
        </p:spPr>
      </p:sp>
      <p:sp>
        <p:nvSpPr>
          <p:cNvPr id="4" name="Text 2"/>
          <p:cNvSpPr txBox="1"/>
          <p:nvPr/>
        </p:nvSpPr>
        <p:spPr>
          <a:xfrm>
            <a:off x="548640" y="329184"/>
            <a:ext cx="868680" cy="329184"/>
          </a:xfrm>
          <a:prstGeom prst="rect">
            <a:avLst/>
          </a:prstGeom>
          <a:noFill/>
          <a:ln/>
        </p:spPr>
        <p:txBody>
          <a:bodyPr wrap="square" lIns="0" tIns="0" rIns="0" bIns="0" rtlCol="0" anchor="ctr"/>
          <a:lstStyle/>
          <a:p>
            <a:pPr algn="ctr" indent="0" marL="0">
              <a:buNone/>
            </a:pPr>
            <a:r>
              <a:rPr lang="en-US" sz="1300" b="1" dirty="0">
                <a:solidFill>
                  <a:schemeClr val="accent5"/>
                </a:solidFill>
              </a:rPr>
              <a:t>Try it</a:t>
            </a:r>
            <a:endParaRPr lang="en-US" sz="1300" dirty="0"/>
          </a:p>
        </p:txBody>
      </p:sp>
      <p:sp>
        <p:nvSpPr>
          <p:cNvPr id="6" name="Text 3"/>
          <p:cNvSpPr txBox="1"/>
          <p:nvPr/>
        </p:nvSpPr>
        <p:spPr>
          <a:xfrm>
            <a:off x="548640" y="1554480"/>
            <a:ext cx="11064240" cy="457200"/>
          </a:xfrm>
          <a:prstGeom prst="rect">
            <a:avLst/>
          </a:prstGeom>
          <a:noFill/>
          <a:ln/>
        </p:spPr>
        <p:txBody>
          <a:bodyPr wrap="square" lIns="0" tIns="0" rIns="0" bIns="0" rtlCol="0" anchor="t"/>
          <a:lstStyle/>
          <a:p>
            <a:pPr indent="0" marL="0">
              <a:spcAft>
                <a:spcPts val="600"/>
              </a:spcAft>
              <a:buNone/>
            </a:pPr>
            <a:r>
              <a:rPr lang="en-US" sz="1800" dirty="0">
                <a:solidFill>
                  <a:schemeClr val="tx2"/>
                </a:solidFill>
              </a:rPr>
              <a:t>Sort each cell job.</a:t>
            </a:r>
            <a:endParaRPr lang="en-US" sz="1800" dirty="0"/>
          </a:p>
        </p:txBody>
      </p:sp>
      <p:sp>
        <p:nvSpPr>
          <p:cNvPr id="7" name="panel"/>
          <p:cNvSpPr/>
          <p:nvPr/>
        </p:nvSpPr>
        <p:spPr>
          <a:xfrm>
            <a:off x="548640" y="2103120"/>
            <a:ext cx="11064240" cy="1417320"/>
          </a:xfrm>
          <a:prstGeom prst="roundRect">
            <a:avLst>
              <a:gd name="adj" fmla="val 7742"/>
            </a:avLst>
          </a:prstGeom>
          <a:solidFill>
            <a:schemeClr val="bg1"/>
          </a:solidFill>
          <a:ln w="9525">
            <a:solidFill>
              <a:schemeClr val="tx2"/>
            </a:solidFill>
            <a:prstDash val="solid"/>
          </a:ln>
        </p:spPr>
      </p:sp>
      <p:sp>
        <p:nvSpPr>
          <p:cNvPr id="8" name="chip"/>
          <p:cNvSpPr/>
          <p:nvPr/>
        </p:nvSpPr>
        <p:spPr>
          <a:xfrm>
            <a:off x="731520" y="2240280"/>
            <a:ext cx="2176272" cy="402336"/>
          </a:xfrm>
          <a:prstGeom prst="roundRect">
            <a:avLst>
              <a:gd name="adj" fmla="val 50000"/>
            </a:avLst>
          </a:prstGeom>
          <a:solidFill>
            <a:schemeClr val="bg2"/>
          </a:solidFill>
          <a:ln w="12700">
            <a:solidFill>
              <a:schemeClr val="tx2"/>
            </a:solidFill>
            <a:prstDash val="solid"/>
          </a:ln>
        </p:spPr>
      </p:sp>
      <p:sp>
        <p:nvSpPr>
          <p:cNvPr id="9" name="Text 6"/>
          <p:cNvSpPr txBox="1"/>
          <p:nvPr/>
        </p:nvSpPr>
        <p:spPr>
          <a:xfrm>
            <a:off x="731520" y="2240280"/>
            <a:ext cx="2176272" cy="402336"/>
          </a:xfrm>
          <a:prstGeom prst="rect">
            <a:avLst/>
          </a:prstGeom>
          <a:noFill/>
          <a:ln/>
        </p:spPr>
        <p:txBody>
          <a:bodyPr wrap="square" lIns="0" tIns="0" rIns="0" bIns="0" rtlCol="0" anchor="ctr"/>
          <a:lstStyle/>
          <a:p>
            <a:pPr algn="ctr" indent="0" marL="0">
              <a:buNone/>
            </a:pPr>
            <a:r>
              <a:rPr lang="en-US" sz="1500" dirty="0">
                <a:solidFill>
                  <a:schemeClr val="tx1"/>
                </a:solidFill>
              </a:rPr>
              <a:t>A muscle contracting</a:t>
            </a:r>
            <a:endParaRPr lang="en-US" sz="1500" dirty="0"/>
          </a:p>
        </p:txBody>
      </p:sp>
      <p:sp>
        <p:nvSpPr>
          <p:cNvPr id="10" name="chip"/>
          <p:cNvSpPr/>
          <p:nvPr/>
        </p:nvSpPr>
        <p:spPr>
          <a:xfrm>
            <a:off x="3035808" y="2240280"/>
            <a:ext cx="3161995" cy="402336"/>
          </a:xfrm>
          <a:prstGeom prst="roundRect">
            <a:avLst>
              <a:gd name="adj" fmla="val 50000"/>
            </a:avLst>
          </a:prstGeom>
          <a:solidFill>
            <a:schemeClr val="bg2"/>
          </a:solidFill>
          <a:ln w="12700">
            <a:solidFill>
              <a:schemeClr val="tx2"/>
            </a:solidFill>
            <a:prstDash val="solid"/>
          </a:ln>
        </p:spPr>
      </p:sp>
      <p:sp>
        <p:nvSpPr>
          <p:cNvPr id="11" name="Text 8"/>
          <p:cNvSpPr txBox="1"/>
          <p:nvPr/>
        </p:nvSpPr>
        <p:spPr>
          <a:xfrm>
            <a:off x="3035808" y="2240280"/>
            <a:ext cx="3161995" cy="402336"/>
          </a:xfrm>
          <a:prstGeom prst="rect">
            <a:avLst/>
          </a:prstGeom>
          <a:noFill/>
          <a:ln/>
        </p:spPr>
        <p:txBody>
          <a:bodyPr wrap="square" lIns="0" tIns="0" rIns="0" bIns="0" rtlCol="0" anchor="ctr"/>
          <a:lstStyle/>
          <a:p>
            <a:pPr algn="ctr" indent="0" marL="0">
              <a:buNone/>
            </a:pPr>
            <a:r>
              <a:rPr lang="en-US" sz="1500" dirty="0">
                <a:solidFill>
                  <a:schemeClr val="tx1"/>
                </a:solidFill>
              </a:rPr>
              <a:t>Pumping sodium out (low → high)</a:t>
            </a:r>
            <a:endParaRPr lang="en-US" sz="1500" dirty="0"/>
          </a:p>
        </p:txBody>
      </p:sp>
      <p:sp>
        <p:nvSpPr>
          <p:cNvPr id="12" name="chip"/>
          <p:cNvSpPr/>
          <p:nvPr/>
        </p:nvSpPr>
        <p:spPr>
          <a:xfrm>
            <a:off x="6325819" y="2240280"/>
            <a:ext cx="1997050" cy="402336"/>
          </a:xfrm>
          <a:prstGeom prst="roundRect">
            <a:avLst>
              <a:gd name="adj" fmla="val 50000"/>
            </a:avLst>
          </a:prstGeom>
          <a:solidFill>
            <a:schemeClr val="bg2"/>
          </a:solidFill>
          <a:ln w="12700">
            <a:solidFill>
              <a:schemeClr val="tx2"/>
            </a:solidFill>
            <a:prstDash val="solid"/>
          </a:ln>
        </p:spPr>
      </p:sp>
      <p:sp>
        <p:nvSpPr>
          <p:cNvPr id="13" name="Text 10"/>
          <p:cNvSpPr txBox="1"/>
          <p:nvPr/>
        </p:nvSpPr>
        <p:spPr>
          <a:xfrm>
            <a:off x="6325819" y="2240280"/>
            <a:ext cx="1997050" cy="402336"/>
          </a:xfrm>
          <a:prstGeom prst="rect">
            <a:avLst/>
          </a:prstGeom>
          <a:noFill/>
          <a:ln/>
        </p:spPr>
        <p:txBody>
          <a:bodyPr wrap="square" lIns="0" tIns="0" rIns="0" bIns="0" rtlCol="0" anchor="ctr"/>
          <a:lstStyle/>
          <a:p>
            <a:pPr algn="ctr" indent="0" marL="0">
              <a:buNone/>
            </a:pPr>
            <a:r>
              <a:rPr lang="en-US" sz="1500" dirty="0">
                <a:solidFill>
                  <a:schemeClr val="tx1"/>
                </a:solidFill>
              </a:rPr>
              <a:t>Building a protein</a:t>
            </a:r>
            <a:endParaRPr lang="en-US" sz="1500" dirty="0"/>
          </a:p>
        </p:txBody>
      </p:sp>
      <p:sp>
        <p:nvSpPr>
          <p:cNvPr id="14" name="chip"/>
          <p:cNvSpPr/>
          <p:nvPr/>
        </p:nvSpPr>
        <p:spPr>
          <a:xfrm>
            <a:off x="8450885" y="2240280"/>
            <a:ext cx="2355494" cy="402336"/>
          </a:xfrm>
          <a:prstGeom prst="roundRect">
            <a:avLst>
              <a:gd name="adj" fmla="val 50000"/>
            </a:avLst>
          </a:prstGeom>
          <a:solidFill>
            <a:schemeClr val="bg2"/>
          </a:solidFill>
          <a:ln w="12700">
            <a:solidFill>
              <a:schemeClr val="tx2"/>
            </a:solidFill>
            <a:prstDash val="solid"/>
          </a:ln>
        </p:spPr>
      </p:sp>
      <p:sp>
        <p:nvSpPr>
          <p:cNvPr id="15" name="Text 12"/>
          <p:cNvSpPr txBox="1"/>
          <p:nvPr/>
        </p:nvSpPr>
        <p:spPr>
          <a:xfrm>
            <a:off x="8450885" y="2240280"/>
            <a:ext cx="2355494" cy="402336"/>
          </a:xfrm>
          <a:prstGeom prst="rect">
            <a:avLst/>
          </a:prstGeom>
          <a:noFill/>
          <a:ln/>
        </p:spPr>
        <p:txBody>
          <a:bodyPr wrap="square" lIns="0" tIns="0" rIns="0" bIns="0" rtlCol="0" anchor="ctr"/>
          <a:lstStyle/>
          <a:p>
            <a:pPr algn="ctr" indent="0" marL="0">
              <a:buNone/>
            </a:pPr>
            <a:r>
              <a:rPr lang="en-US" sz="1500" dirty="0">
                <a:solidFill>
                  <a:schemeClr val="tx1"/>
                </a:solidFill>
              </a:rPr>
              <a:t>A cell dividing in two</a:t>
            </a:r>
            <a:endParaRPr lang="en-US" sz="1500" dirty="0"/>
          </a:p>
        </p:txBody>
      </p:sp>
      <p:sp>
        <p:nvSpPr>
          <p:cNvPr id="16" name="chip"/>
          <p:cNvSpPr/>
          <p:nvPr/>
        </p:nvSpPr>
        <p:spPr>
          <a:xfrm>
            <a:off x="731520" y="2770632"/>
            <a:ext cx="1907438" cy="402336"/>
          </a:xfrm>
          <a:prstGeom prst="roundRect">
            <a:avLst>
              <a:gd name="adj" fmla="val 50000"/>
            </a:avLst>
          </a:prstGeom>
          <a:solidFill>
            <a:schemeClr val="bg2"/>
          </a:solidFill>
          <a:ln w="12700">
            <a:solidFill>
              <a:schemeClr val="tx2"/>
            </a:solidFill>
            <a:prstDash val="solid"/>
          </a:ln>
        </p:spPr>
      </p:sp>
      <p:sp>
        <p:nvSpPr>
          <p:cNvPr id="17" name="Text 14"/>
          <p:cNvSpPr txBox="1"/>
          <p:nvPr/>
        </p:nvSpPr>
        <p:spPr>
          <a:xfrm>
            <a:off x="731520" y="2770632"/>
            <a:ext cx="1907438" cy="402336"/>
          </a:xfrm>
          <a:prstGeom prst="rect">
            <a:avLst/>
          </a:prstGeom>
          <a:noFill/>
          <a:ln/>
        </p:spPr>
        <p:txBody>
          <a:bodyPr wrap="square" lIns="0" tIns="0" rIns="0" bIns="0" rtlCol="0" anchor="ctr"/>
          <a:lstStyle/>
          <a:p>
            <a:pPr algn="ctr" indent="0" marL="0">
              <a:buNone/>
            </a:pPr>
            <a:r>
              <a:rPr lang="en-US" sz="1500" dirty="0">
                <a:solidFill>
                  <a:schemeClr val="tx1"/>
                </a:solidFill>
              </a:rPr>
              <a:t>A firefly glowing</a:t>
            </a:r>
            <a:endParaRPr lang="en-US" sz="1500" dirty="0"/>
          </a:p>
        </p:txBody>
      </p:sp>
      <p:sp>
        <p:nvSpPr>
          <p:cNvPr id="18" name="chip"/>
          <p:cNvSpPr/>
          <p:nvPr/>
        </p:nvSpPr>
        <p:spPr>
          <a:xfrm>
            <a:off x="2766974" y="2770632"/>
            <a:ext cx="3251606" cy="402336"/>
          </a:xfrm>
          <a:prstGeom prst="roundRect">
            <a:avLst>
              <a:gd name="adj" fmla="val 50000"/>
            </a:avLst>
          </a:prstGeom>
          <a:solidFill>
            <a:schemeClr val="bg2"/>
          </a:solidFill>
          <a:ln w="12700">
            <a:solidFill>
              <a:schemeClr val="tx2"/>
            </a:solidFill>
            <a:prstDash val="solid"/>
          </a:ln>
        </p:spPr>
      </p:sp>
      <p:sp>
        <p:nvSpPr>
          <p:cNvPr id="19" name="Text 16"/>
          <p:cNvSpPr txBox="1"/>
          <p:nvPr/>
        </p:nvSpPr>
        <p:spPr>
          <a:xfrm>
            <a:off x="2766974" y="2770632"/>
            <a:ext cx="3251606" cy="402336"/>
          </a:xfrm>
          <a:prstGeom prst="rect">
            <a:avLst/>
          </a:prstGeom>
          <a:noFill/>
          <a:ln/>
        </p:spPr>
        <p:txBody>
          <a:bodyPr wrap="square" lIns="0" tIns="0" rIns="0" bIns="0" rtlCol="0" anchor="ctr"/>
          <a:lstStyle/>
          <a:p>
            <a:pPr algn="ctr" indent="0" marL="0">
              <a:buNone/>
            </a:pPr>
            <a:r>
              <a:rPr lang="en-US" sz="1500" dirty="0">
                <a:solidFill>
                  <a:schemeClr val="tx1"/>
                </a:solidFill>
              </a:rPr>
              <a:t>Oxygen diffusing in (high → low)</a:t>
            </a:r>
            <a:endParaRPr lang="en-US" sz="1500" dirty="0"/>
          </a:p>
        </p:txBody>
      </p:sp>
      <p:sp>
        <p:nvSpPr>
          <p:cNvPr id="20" name="chip"/>
          <p:cNvSpPr/>
          <p:nvPr/>
        </p:nvSpPr>
        <p:spPr>
          <a:xfrm>
            <a:off x="6146597" y="2770632"/>
            <a:ext cx="2445106" cy="402336"/>
          </a:xfrm>
          <a:prstGeom prst="roundRect">
            <a:avLst>
              <a:gd name="adj" fmla="val 50000"/>
            </a:avLst>
          </a:prstGeom>
          <a:solidFill>
            <a:schemeClr val="bg2"/>
          </a:solidFill>
          <a:ln w="12700">
            <a:solidFill>
              <a:schemeClr val="tx2"/>
            </a:solidFill>
            <a:prstDash val="solid"/>
          </a:ln>
        </p:spPr>
      </p:sp>
      <p:sp>
        <p:nvSpPr>
          <p:cNvPr id="21" name="Text 18"/>
          <p:cNvSpPr txBox="1"/>
          <p:nvPr/>
        </p:nvSpPr>
        <p:spPr>
          <a:xfrm>
            <a:off x="6146597" y="2770632"/>
            <a:ext cx="2445106" cy="402336"/>
          </a:xfrm>
          <a:prstGeom prst="rect">
            <a:avLst/>
          </a:prstGeom>
          <a:noFill/>
          <a:ln/>
        </p:spPr>
        <p:txBody>
          <a:bodyPr wrap="square" lIns="0" tIns="0" rIns="0" bIns="0" rtlCol="0" anchor="ctr"/>
          <a:lstStyle/>
          <a:p>
            <a:pPr algn="ctr" indent="0" marL="0">
              <a:buNone/>
            </a:pPr>
            <a:r>
              <a:rPr lang="en-US" sz="1500" dirty="0">
                <a:solidFill>
                  <a:schemeClr val="tx1"/>
                </a:solidFill>
              </a:rPr>
              <a:t>Water moving by osmosis</a:t>
            </a:r>
            <a:endParaRPr lang="en-US" sz="1500" dirty="0"/>
          </a:p>
        </p:txBody>
      </p:sp>
      <p:sp>
        <p:nvSpPr>
          <p:cNvPr id="22" name="bin Needs ATP"/>
          <p:cNvSpPr/>
          <p:nvPr/>
        </p:nvSpPr>
        <p:spPr>
          <a:xfrm>
            <a:off x="548640" y="3749040"/>
            <a:ext cx="5417820" cy="2423160"/>
          </a:xfrm>
          <a:prstGeom prst="roundRect">
            <a:avLst>
              <a:gd name="adj" fmla="val 4528"/>
            </a:avLst>
          </a:prstGeom>
          <a:solidFill>
            <a:schemeClr val="bg2">
              <a:alpha val="70000"/>
            </a:schemeClr>
          </a:solidFill>
          <a:ln w="19050">
            <a:solidFill>
              <a:schemeClr val="tx2"/>
            </a:solidFill>
            <a:prstDash val="dash"/>
          </a:ln>
        </p:spPr>
      </p:sp>
      <p:sp>
        <p:nvSpPr>
          <p:cNvPr id="23" name="Text 20"/>
          <p:cNvSpPr txBox="1"/>
          <p:nvPr/>
        </p:nvSpPr>
        <p:spPr>
          <a:xfrm>
            <a:off x="731520" y="3858768"/>
            <a:ext cx="5052060" cy="384048"/>
          </a:xfrm>
          <a:prstGeom prst="rect">
            <a:avLst/>
          </a:prstGeom>
          <a:noFill/>
          <a:ln/>
        </p:spPr>
        <p:txBody>
          <a:bodyPr wrap="square" lIns="0" tIns="0" rIns="0" bIns="0" rtlCol="0" anchor="t"/>
          <a:lstStyle/>
          <a:p>
            <a:pPr indent="0" marL="0">
              <a:spcAft>
                <a:spcPts val="600"/>
              </a:spcAft>
              <a:buNone/>
            </a:pPr>
            <a:r>
              <a:rPr lang="en-US" sz="1900" b="1" dirty="0">
                <a:solidFill>
                  <a:schemeClr val="tx1"/>
                </a:solidFill>
              </a:rPr>
              <a:t>Needs ATP</a:t>
            </a:r>
            <a:endParaRPr lang="en-US" sz="1900" dirty="0"/>
          </a:p>
        </p:txBody>
      </p:sp>
      <p:sp>
        <p:nvSpPr>
          <p:cNvPr id="24" name="bin No ATP needed"/>
          <p:cNvSpPr/>
          <p:nvPr/>
        </p:nvSpPr>
        <p:spPr>
          <a:xfrm>
            <a:off x="6195060" y="3749040"/>
            <a:ext cx="5417820" cy="2423160"/>
          </a:xfrm>
          <a:prstGeom prst="roundRect">
            <a:avLst>
              <a:gd name="adj" fmla="val 4528"/>
            </a:avLst>
          </a:prstGeom>
          <a:solidFill>
            <a:schemeClr val="bg2">
              <a:alpha val="70000"/>
            </a:schemeClr>
          </a:solidFill>
          <a:ln w="19050">
            <a:solidFill>
              <a:schemeClr val="tx2"/>
            </a:solidFill>
            <a:prstDash val="dash"/>
          </a:ln>
        </p:spPr>
      </p:sp>
      <p:sp>
        <p:nvSpPr>
          <p:cNvPr id="25" name="Text 22"/>
          <p:cNvSpPr txBox="1"/>
          <p:nvPr/>
        </p:nvSpPr>
        <p:spPr>
          <a:xfrm>
            <a:off x="6377940" y="3858768"/>
            <a:ext cx="5052060" cy="384048"/>
          </a:xfrm>
          <a:prstGeom prst="rect">
            <a:avLst/>
          </a:prstGeom>
          <a:noFill/>
          <a:ln/>
        </p:spPr>
        <p:txBody>
          <a:bodyPr wrap="square" lIns="0" tIns="0" rIns="0" bIns="0" rtlCol="0" anchor="t"/>
          <a:lstStyle/>
          <a:p>
            <a:pPr indent="0" marL="0">
              <a:spcAft>
                <a:spcPts val="600"/>
              </a:spcAft>
              <a:buNone/>
            </a:pPr>
            <a:r>
              <a:rPr lang="en-US" sz="1900" b="1" dirty="0">
                <a:solidFill>
                  <a:schemeClr val="tx1"/>
                </a:solidFill>
              </a:rPr>
              <a:t>No ATP needed</a:t>
            </a:r>
            <a:endParaRPr lang="en-US" sz="19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Try it: does it cost ATP?</a:t>
            </a:r>
            <a:endParaRPr lang="en-US" sz="3200" dirty="0"/>
          </a:p>
        </p:txBody>
      </p:sp>
      <p:sp>
        <p:nvSpPr>
          <p:cNvPr id="3" name="tag"/>
          <p:cNvSpPr/>
          <p:nvPr/>
        </p:nvSpPr>
        <p:spPr>
          <a:xfrm>
            <a:off x="548640" y="329184"/>
            <a:ext cx="868680" cy="329184"/>
          </a:xfrm>
          <a:prstGeom prst="roundRect">
            <a:avLst>
              <a:gd name="adj" fmla="val 50000"/>
            </a:avLst>
          </a:prstGeom>
          <a:solidFill>
            <a:schemeClr val="accent5">
              <a:alpha val="18000"/>
            </a:schemeClr>
          </a:solidFill>
          <a:ln w="12700">
            <a:solidFill>
              <a:schemeClr val="accent5"/>
            </a:solidFill>
            <a:prstDash val="solid"/>
          </a:ln>
        </p:spPr>
      </p:sp>
      <p:sp>
        <p:nvSpPr>
          <p:cNvPr id="4" name="Text 2"/>
          <p:cNvSpPr txBox="1"/>
          <p:nvPr/>
        </p:nvSpPr>
        <p:spPr>
          <a:xfrm>
            <a:off x="548640" y="329184"/>
            <a:ext cx="868680" cy="329184"/>
          </a:xfrm>
          <a:prstGeom prst="rect">
            <a:avLst/>
          </a:prstGeom>
          <a:noFill/>
          <a:ln/>
        </p:spPr>
        <p:txBody>
          <a:bodyPr wrap="square" lIns="0" tIns="0" rIns="0" bIns="0" rtlCol="0" anchor="ctr"/>
          <a:lstStyle/>
          <a:p>
            <a:pPr algn="ctr" indent="0" marL="0">
              <a:buNone/>
            </a:pPr>
            <a:r>
              <a:rPr lang="en-US" sz="1300" b="1" dirty="0">
                <a:solidFill>
                  <a:schemeClr val="accent5"/>
                </a:solidFill>
              </a:rPr>
              <a:t>Answer</a:t>
            </a:r>
            <a:endParaRPr lang="en-US" sz="1300" dirty="0"/>
          </a:p>
        </p:txBody>
      </p:sp>
      <p:sp>
        <p:nvSpPr>
          <p:cNvPr id="6" name="Text 3"/>
          <p:cNvSpPr txBox="1"/>
          <p:nvPr/>
        </p:nvSpPr>
        <p:spPr>
          <a:xfrm>
            <a:off x="548640" y="1554480"/>
            <a:ext cx="11064240" cy="457200"/>
          </a:xfrm>
          <a:prstGeom prst="rect">
            <a:avLst/>
          </a:prstGeom>
          <a:noFill/>
          <a:ln/>
        </p:spPr>
        <p:txBody>
          <a:bodyPr wrap="square" lIns="0" tIns="0" rIns="0" bIns="0" rtlCol="0" anchor="t"/>
          <a:lstStyle/>
          <a:p>
            <a:pPr indent="0" marL="0">
              <a:spcAft>
                <a:spcPts val="600"/>
              </a:spcAft>
              <a:buNone/>
            </a:pPr>
            <a:r>
              <a:rPr lang="en-US" sz="1800" dirty="0">
                <a:solidFill>
                  <a:schemeClr val="tx2"/>
                </a:solidFill>
              </a:rPr>
              <a:t>Sort each cell job.</a:t>
            </a:r>
            <a:endParaRPr lang="en-US" sz="1800" dirty="0"/>
          </a:p>
        </p:txBody>
      </p:sp>
      <p:sp>
        <p:nvSpPr>
          <p:cNvPr id="7" name="bin Needs ATP"/>
          <p:cNvSpPr/>
          <p:nvPr/>
        </p:nvSpPr>
        <p:spPr>
          <a:xfrm>
            <a:off x="548640" y="2148840"/>
            <a:ext cx="5417820" cy="4023360"/>
          </a:xfrm>
          <a:prstGeom prst="roundRect">
            <a:avLst>
              <a:gd name="adj" fmla="val 2727"/>
            </a:avLst>
          </a:prstGeom>
          <a:solidFill>
            <a:schemeClr val="bg2">
              <a:alpha val="70000"/>
            </a:schemeClr>
          </a:solidFill>
          <a:ln w="19050">
            <a:solidFill>
              <a:schemeClr val="accent5"/>
            </a:solidFill>
            <a:prstDash val="dash"/>
          </a:ln>
        </p:spPr>
      </p:sp>
      <p:sp>
        <p:nvSpPr>
          <p:cNvPr id="8" name="Text 5"/>
          <p:cNvSpPr txBox="1"/>
          <p:nvPr/>
        </p:nvSpPr>
        <p:spPr>
          <a:xfrm>
            <a:off x="731520" y="2258568"/>
            <a:ext cx="5052060" cy="384048"/>
          </a:xfrm>
          <a:prstGeom prst="rect">
            <a:avLst/>
          </a:prstGeom>
          <a:noFill/>
          <a:ln/>
        </p:spPr>
        <p:txBody>
          <a:bodyPr wrap="square" lIns="0" tIns="0" rIns="0" bIns="0" rtlCol="0" anchor="t"/>
          <a:lstStyle/>
          <a:p>
            <a:pPr indent="0" marL="0">
              <a:spcAft>
                <a:spcPts val="600"/>
              </a:spcAft>
              <a:buNone/>
            </a:pPr>
            <a:r>
              <a:rPr lang="en-US" sz="1900" b="1" dirty="0">
                <a:solidFill>
                  <a:schemeClr val="tx1"/>
                </a:solidFill>
              </a:rPr>
              <a:t>Needs ATP</a:t>
            </a:r>
            <a:endParaRPr lang="en-US" sz="1900" dirty="0"/>
          </a:p>
        </p:txBody>
      </p:sp>
      <p:sp>
        <p:nvSpPr>
          <p:cNvPr id="9" name="chip"/>
          <p:cNvSpPr/>
          <p:nvPr/>
        </p:nvSpPr>
        <p:spPr>
          <a:xfrm>
            <a:off x="731520" y="2788920"/>
            <a:ext cx="2176272" cy="402336"/>
          </a:xfrm>
          <a:prstGeom prst="roundRect">
            <a:avLst>
              <a:gd name="adj" fmla="val 50000"/>
            </a:avLst>
          </a:prstGeom>
          <a:solidFill>
            <a:schemeClr val="bg2"/>
          </a:solidFill>
          <a:ln w="12700">
            <a:solidFill>
              <a:schemeClr val="accent5"/>
            </a:solidFill>
            <a:prstDash val="solid"/>
          </a:ln>
        </p:spPr>
      </p:sp>
      <p:sp>
        <p:nvSpPr>
          <p:cNvPr id="10" name="Text 7"/>
          <p:cNvSpPr txBox="1"/>
          <p:nvPr/>
        </p:nvSpPr>
        <p:spPr>
          <a:xfrm>
            <a:off x="731520" y="2788920"/>
            <a:ext cx="2176272" cy="402336"/>
          </a:xfrm>
          <a:prstGeom prst="rect">
            <a:avLst/>
          </a:prstGeom>
          <a:noFill/>
          <a:ln/>
        </p:spPr>
        <p:txBody>
          <a:bodyPr wrap="square" lIns="0" tIns="0" rIns="0" bIns="0" rtlCol="0" anchor="ctr"/>
          <a:lstStyle/>
          <a:p>
            <a:pPr algn="ctr" indent="0" marL="0">
              <a:buNone/>
            </a:pPr>
            <a:r>
              <a:rPr lang="en-US" sz="1500" dirty="0">
                <a:solidFill>
                  <a:schemeClr val="tx1"/>
                </a:solidFill>
              </a:rPr>
              <a:t>A muscle contracting</a:t>
            </a:r>
            <a:endParaRPr lang="en-US" sz="1500" dirty="0"/>
          </a:p>
        </p:txBody>
      </p:sp>
      <p:sp>
        <p:nvSpPr>
          <p:cNvPr id="11" name="chip"/>
          <p:cNvSpPr/>
          <p:nvPr/>
        </p:nvSpPr>
        <p:spPr>
          <a:xfrm>
            <a:off x="731520" y="3319272"/>
            <a:ext cx="3161995" cy="402336"/>
          </a:xfrm>
          <a:prstGeom prst="roundRect">
            <a:avLst>
              <a:gd name="adj" fmla="val 50000"/>
            </a:avLst>
          </a:prstGeom>
          <a:solidFill>
            <a:schemeClr val="bg2"/>
          </a:solidFill>
          <a:ln w="12700">
            <a:solidFill>
              <a:schemeClr val="accent5"/>
            </a:solidFill>
            <a:prstDash val="solid"/>
          </a:ln>
        </p:spPr>
      </p:sp>
      <p:sp>
        <p:nvSpPr>
          <p:cNvPr id="12" name="Text 9"/>
          <p:cNvSpPr txBox="1"/>
          <p:nvPr/>
        </p:nvSpPr>
        <p:spPr>
          <a:xfrm>
            <a:off x="731520" y="3319272"/>
            <a:ext cx="3161995" cy="402336"/>
          </a:xfrm>
          <a:prstGeom prst="rect">
            <a:avLst/>
          </a:prstGeom>
          <a:noFill/>
          <a:ln/>
        </p:spPr>
        <p:txBody>
          <a:bodyPr wrap="square" lIns="0" tIns="0" rIns="0" bIns="0" rtlCol="0" anchor="ctr"/>
          <a:lstStyle/>
          <a:p>
            <a:pPr algn="ctr" indent="0" marL="0">
              <a:buNone/>
            </a:pPr>
            <a:r>
              <a:rPr lang="en-US" sz="1500" dirty="0">
                <a:solidFill>
                  <a:schemeClr val="tx1"/>
                </a:solidFill>
              </a:rPr>
              <a:t>Pumping sodium out (low → high)</a:t>
            </a:r>
            <a:endParaRPr lang="en-US" sz="1500" dirty="0"/>
          </a:p>
        </p:txBody>
      </p:sp>
      <p:sp>
        <p:nvSpPr>
          <p:cNvPr id="13" name="chip"/>
          <p:cNvSpPr/>
          <p:nvPr/>
        </p:nvSpPr>
        <p:spPr>
          <a:xfrm>
            <a:off x="731520" y="3849624"/>
            <a:ext cx="1997050" cy="402336"/>
          </a:xfrm>
          <a:prstGeom prst="roundRect">
            <a:avLst>
              <a:gd name="adj" fmla="val 50000"/>
            </a:avLst>
          </a:prstGeom>
          <a:solidFill>
            <a:schemeClr val="bg2"/>
          </a:solidFill>
          <a:ln w="12700">
            <a:solidFill>
              <a:schemeClr val="accent5"/>
            </a:solidFill>
            <a:prstDash val="solid"/>
          </a:ln>
        </p:spPr>
      </p:sp>
      <p:sp>
        <p:nvSpPr>
          <p:cNvPr id="14" name="Text 11"/>
          <p:cNvSpPr txBox="1"/>
          <p:nvPr/>
        </p:nvSpPr>
        <p:spPr>
          <a:xfrm>
            <a:off x="731520" y="3849624"/>
            <a:ext cx="1997050" cy="402336"/>
          </a:xfrm>
          <a:prstGeom prst="rect">
            <a:avLst/>
          </a:prstGeom>
          <a:noFill/>
          <a:ln/>
        </p:spPr>
        <p:txBody>
          <a:bodyPr wrap="square" lIns="0" tIns="0" rIns="0" bIns="0" rtlCol="0" anchor="ctr"/>
          <a:lstStyle/>
          <a:p>
            <a:pPr algn="ctr" indent="0" marL="0">
              <a:buNone/>
            </a:pPr>
            <a:r>
              <a:rPr lang="en-US" sz="1500" dirty="0">
                <a:solidFill>
                  <a:schemeClr val="tx1"/>
                </a:solidFill>
              </a:rPr>
              <a:t>Building a protein</a:t>
            </a:r>
            <a:endParaRPr lang="en-US" sz="1500" dirty="0"/>
          </a:p>
        </p:txBody>
      </p:sp>
      <p:sp>
        <p:nvSpPr>
          <p:cNvPr id="15" name="chip"/>
          <p:cNvSpPr/>
          <p:nvPr/>
        </p:nvSpPr>
        <p:spPr>
          <a:xfrm>
            <a:off x="2856586" y="3849624"/>
            <a:ext cx="2355494" cy="402336"/>
          </a:xfrm>
          <a:prstGeom prst="roundRect">
            <a:avLst>
              <a:gd name="adj" fmla="val 50000"/>
            </a:avLst>
          </a:prstGeom>
          <a:solidFill>
            <a:schemeClr val="bg2"/>
          </a:solidFill>
          <a:ln w="12700">
            <a:solidFill>
              <a:schemeClr val="accent5"/>
            </a:solidFill>
            <a:prstDash val="solid"/>
          </a:ln>
        </p:spPr>
      </p:sp>
      <p:sp>
        <p:nvSpPr>
          <p:cNvPr id="16" name="Text 13"/>
          <p:cNvSpPr txBox="1"/>
          <p:nvPr/>
        </p:nvSpPr>
        <p:spPr>
          <a:xfrm>
            <a:off x="2856586" y="3849624"/>
            <a:ext cx="2355494" cy="402336"/>
          </a:xfrm>
          <a:prstGeom prst="rect">
            <a:avLst/>
          </a:prstGeom>
          <a:noFill/>
          <a:ln/>
        </p:spPr>
        <p:txBody>
          <a:bodyPr wrap="square" lIns="0" tIns="0" rIns="0" bIns="0" rtlCol="0" anchor="ctr"/>
          <a:lstStyle/>
          <a:p>
            <a:pPr algn="ctr" indent="0" marL="0">
              <a:buNone/>
            </a:pPr>
            <a:r>
              <a:rPr lang="en-US" sz="1500" dirty="0">
                <a:solidFill>
                  <a:schemeClr val="tx1"/>
                </a:solidFill>
              </a:rPr>
              <a:t>A cell dividing in two</a:t>
            </a:r>
            <a:endParaRPr lang="en-US" sz="1500" dirty="0"/>
          </a:p>
        </p:txBody>
      </p:sp>
      <p:sp>
        <p:nvSpPr>
          <p:cNvPr id="17" name="chip"/>
          <p:cNvSpPr/>
          <p:nvPr/>
        </p:nvSpPr>
        <p:spPr>
          <a:xfrm>
            <a:off x="731520" y="4379976"/>
            <a:ext cx="1907438" cy="402336"/>
          </a:xfrm>
          <a:prstGeom prst="roundRect">
            <a:avLst>
              <a:gd name="adj" fmla="val 50000"/>
            </a:avLst>
          </a:prstGeom>
          <a:solidFill>
            <a:schemeClr val="bg2"/>
          </a:solidFill>
          <a:ln w="12700">
            <a:solidFill>
              <a:schemeClr val="accent5"/>
            </a:solidFill>
            <a:prstDash val="solid"/>
          </a:ln>
        </p:spPr>
      </p:sp>
      <p:sp>
        <p:nvSpPr>
          <p:cNvPr id="18" name="Text 15"/>
          <p:cNvSpPr txBox="1"/>
          <p:nvPr/>
        </p:nvSpPr>
        <p:spPr>
          <a:xfrm>
            <a:off x="731520" y="4379976"/>
            <a:ext cx="1907438" cy="402336"/>
          </a:xfrm>
          <a:prstGeom prst="rect">
            <a:avLst/>
          </a:prstGeom>
          <a:noFill/>
          <a:ln/>
        </p:spPr>
        <p:txBody>
          <a:bodyPr wrap="square" lIns="0" tIns="0" rIns="0" bIns="0" rtlCol="0" anchor="ctr"/>
          <a:lstStyle/>
          <a:p>
            <a:pPr algn="ctr" indent="0" marL="0">
              <a:buNone/>
            </a:pPr>
            <a:r>
              <a:rPr lang="en-US" sz="1500" dirty="0">
                <a:solidFill>
                  <a:schemeClr val="tx1"/>
                </a:solidFill>
              </a:rPr>
              <a:t>A firefly glowing</a:t>
            </a:r>
            <a:endParaRPr lang="en-US" sz="1500" dirty="0"/>
          </a:p>
        </p:txBody>
      </p:sp>
      <p:sp>
        <p:nvSpPr>
          <p:cNvPr id="19" name="bin No ATP needed"/>
          <p:cNvSpPr/>
          <p:nvPr/>
        </p:nvSpPr>
        <p:spPr>
          <a:xfrm>
            <a:off x="6195060" y="2148840"/>
            <a:ext cx="5417820" cy="4023360"/>
          </a:xfrm>
          <a:prstGeom prst="roundRect">
            <a:avLst>
              <a:gd name="adj" fmla="val 2727"/>
            </a:avLst>
          </a:prstGeom>
          <a:solidFill>
            <a:schemeClr val="bg2">
              <a:alpha val="70000"/>
            </a:schemeClr>
          </a:solidFill>
          <a:ln w="19050">
            <a:solidFill>
              <a:schemeClr val="accent5"/>
            </a:solidFill>
            <a:prstDash val="dash"/>
          </a:ln>
        </p:spPr>
      </p:sp>
      <p:sp>
        <p:nvSpPr>
          <p:cNvPr id="20" name="Text 17"/>
          <p:cNvSpPr txBox="1"/>
          <p:nvPr/>
        </p:nvSpPr>
        <p:spPr>
          <a:xfrm>
            <a:off x="6377940" y="2258568"/>
            <a:ext cx="5052060" cy="384048"/>
          </a:xfrm>
          <a:prstGeom prst="rect">
            <a:avLst/>
          </a:prstGeom>
          <a:noFill/>
          <a:ln/>
        </p:spPr>
        <p:txBody>
          <a:bodyPr wrap="square" lIns="0" tIns="0" rIns="0" bIns="0" rtlCol="0" anchor="t"/>
          <a:lstStyle/>
          <a:p>
            <a:pPr indent="0" marL="0">
              <a:spcAft>
                <a:spcPts val="600"/>
              </a:spcAft>
              <a:buNone/>
            </a:pPr>
            <a:r>
              <a:rPr lang="en-US" sz="1900" b="1" dirty="0">
                <a:solidFill>
                  <a:schemeClr val="tx1"/>
                </a:solidFill>
              </a:rPr>
              <a:t>No ATP needed</a:t>
            </a:r>
            <a:endParaRPr lang="en-US" sz="1900" dirty="0"/>
          </a:p>
        </p:txBody>
      </p:sp>
      <p:sp>
        <p:nvSpPr>
          <p:cNvPr id="21" name="chip"/>
          <p:cNvSpPr/>
          <p:nvPr/>
        </p:nvSpPr>
        <p:spPr>
          <a:xfrm>
            <a:off x="6377940" y="2788920"/>
            <a:ext cx="3251606" cy="402336"/>
          </a:xfrm>
          <a:prstGeom prst="roundRect">
            <a:avLst>
              <a:gd name="adj" fmla="val 50000"/>
            </a:avLst>
          </a:prstGeom>
          <a:solidFill>
            <a:schemeClr val="bg2"/>
          </a:solidFill>
          <a:ln w="12700">
            <a:solidFill>
              <a:schemeClr val="accent5"/>
            </a:solidFill>
            <a:prstDash val="solid"/>
          </a:ln>
        </p:spPr>
      </p:sp>
      <p:sp>
        <p:nvSpPr>
          <p:cNvPr id="22" name="Text 19"/>
          <p:cNvSpPr txBox="1"/>
          <p:nvPr/>
        </p:nvSpPr>
        <p:spPr>
          <a:xfrm>
            <a:off x="6377940" y="2788920"/>
            <a:ext cx="3251606" cy="402336"/>
          </a:xfrm>
          <a:prstGeom prst="rect">
            <a:avLst/>
          </a:prstGeom>
          <a:noFill/>
          <a:ln/>
        </p:spPr>
        <p:txBody>
          <a:bodyPr wrap="square" lIns="0" tIns="0" rIns="0" bIns="0" rtlCol="0" anchor="ctr"/>
          <a:lstStyle/>
          <a:p>
            <a:pPr algn="ctr" indent="0" marL="0">
              <a:buNone/>
            </a:pPr>
            <a:r>
              <a:rPr lang="en-US" sz="1500" dirty="0">
                <a:solidFill>
                  <a:schemeClr val="tx1"/>
                </a:solidFill>
              </a:rPr>
              <a:t>Oxygen diffusing in (high → low)</a:t>
            </a:r>
            <a:endParaRPr lang="en-US" sz="1500" dirty="0"/>
          </a:p>
        </p:txBody>
      </p:sp>
      <p:sp>
        <p:nvSpPr>
          <p:cNvPr id="23" name="chip"/>
          <p:cNvSpPr/>
          <p:nvPr/>
        </p:nvSpPr>
        <p:spPr>
          <a:xfrm>
            <a:off x="6377940" y="3319272"/>
            <a:ext cx="2445106" cy="402336"/>
          </a:xfrm>
          <a:prstGeom prst="roundRect">
            <a:avLst>
              <a:gd name="adj" fmla="val 50000"/>
            </a:avLst>
          </a:prstGeom>
          <a:solidFill>
            <a:schemeClr val="bg2"/>
          </a:solidFill>
          <a:ln w="12700">
            <a:solidFill>
              <a:schemeClr val="accent5"/>
            </a:solidFill>
            <a:prstDash val="solid"/>
          </a:ln>
        </p:spPr>
      </p:sp>
      <p:sp>
        <p:nvSpPr>
          <p:cNvPr id="24" name="Text 21"/>
          <p:cNvSpPr txBox="1"/>
          <p:nvPr/>
        </p:nvSpPr>
        <p:spPr>
          <a:xfrm>
            <a:off x="6377940" y="3319272"/>
            <a:ext cx="2445106" cy="402336"/>
          </a:xfrm>
          <a:prstGeom prst="rect">
            <a:avLst/>
          </a:prstGeom>
          <a:noFill/>
          <a:ln/>
        </p:spPr>
        <p:txBody>
          <a:bodyPr wrap="square" lIns="0" tIns="0" rIns="0" bIns="0" rtlCol="0" anchor="ctr"/>
          <a:lstStyle/>
          <a:p>
            <a:pPr algn="ctr" indent="0" marL="0">
              <a:buNone/>
            </a:pPr>
            <a:r>
              <a:rPr lang="en-US" sz="1500" dirty="0">
                <a:solidFill>
                  <a:schemeClr val="tx1"/>
                </a:solidFill>
              </a:rPr>
              <a:t>Water moving by osmosis</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Quick check</a:t>
            </a:r>
            <a:endParaRPr lang="en-US" sz="3200" dirty="0"/>
          </a:p>
        </p:txBody>
      </p:sp>
      <p:sp>
        <p:nvSpPr>
          <p:cNvPr id="3" name="tag"/>
          <p:cNvSpPr/>
          <p:nvPr/>
        </p:nvSpPr>
        <p:spPr>
          <a:xfrm>
            <a:off x="548640" y="329184"/>
            <a:ext cx="1348740" cy="329184"/>
          </a:xfrm>
          <a:prstGeom prst="roundRect">
            <a:avLst>
              <a:gd name="adj" fmla="val 50000"/>
            </a:avLst>
          </a:prstGeom>
          <a:solidFill>
            <a:schemeClr val="accent6">
              <a:alpha val="18000"/>
            </a:schemeClr>
          </a:solidFill>
          <a:ln w="12700">
            <a:solidFill>
              <a:schemeClr val="accent6"/>
            </a:solidFill>
            <a:prstDash val="solid"/>
          </a:ln>
        </p:spPr>
      </p:sp>
      <p:sp>
        <p:nvSpPr>
          <p:cNvPr id="4" name="Text 2"/>
          <p:cNvSpPr txBox="1"/>
          <p:nvPr/>
        </p:nvSpPr>
        <p:spPr>
          <a:xfrm>
            <a:off x="548640" y="329184"/>
            <a:ext cx="1348740" cy="329184"/>
          </a:xfrm>
          <a:prstGeom prst="rect">
            <a:avLst/>
          </a:prstGeom>
          <a:noFill/>
          <a:ln/>
        </p:spPr>
        <p:txBody>
          <a:bodyPr wrap="square" lIns="0" tIns="0" rIns="0" bIns="0" rtlCol="0" anchor="ctr"/>
          <a:lstStyle/>
          <a:p>
            <a:pPr algn="ctr" indent="0" marL="0">
              <a:buNone/>
            </a:pPr>
            <a:r>
              <a:rPr lang="en-US" sz="1300" b="1" dirty="0">
                <a:solidFill>
                  <a:schemeClr val="accent6"/>
                </a:solidFill>
              </a:rPr>
              <a:t>Quick check</a:t>
            </a:r>
            <a:endParaRPr lang="en-US" sz="1300" dirty="0"/>
          </a:p>
        </p:txBody>
      </p:sp>
      <p:sp>
        <p:nvSpPr>
          <p:cNvPr id="6" name="Text 3"/>
          <p:cNvSpPr txBox="1"/>
          <p:nvPr/>
        </p:nvSpPr>
        <p:spPr>
          <a:xfrm>
            <a:off x="548640" y="1600200"/>
            <a:ext cx="11064240" cy="868680"/>
          </a:xfrm>
          <a:prstGeom prst="rect">
            <a:avLst/>
          </a:prstGeom>
          <a:noFill/>
          <a:ln/>
        </p:spPr>
        <p:txBody>
          <a:bodyPr wrap="square" lIns="0" tIns="0" rIns="0" bIns="0" rtlCol="0" anchor="t"/>
          <a:lstStyle/>
          <a:p>
            <a:pPr indent="0" marL="0">
              <a:spcAft>
                <a:spcPts val="600"/>
              </a:spcAft>
              <a:buNone/>
            </a:pPr>
            <a:r>
              <a:rPr lang="en-US" sz="2400" dirty="0">
                <a:solidFill>
                  <a:schemeClr val="tx1"/>
                </a:solidFill>
              </a:rPr>
              <a:t>Why is ATP essential for the survival of all living things?</a:t>
            </a:r>
            <a:endParaRPr lang="en-US" sz="2400" dirty="0"/>
          </a:p>
        </p:txBody>
      </p:sp>
      <p:sp>
        <p:nvSpPr>
          <p:cNvPr id="7" name="option A"/>
          <p:cNvSpPr/>
          <p:nvPr/>
        </p:nvSpPr>
        <p:spPr>
          <a:xfrm>
            <a:off x="548640" y="2560320"/>
            <a:ext cx="7680960" cy="621792"/>
          </a:xfrm>
          <a:prstGeom prst="roundRect">
            <a:avLst>
              <a:gd name="adj" fmla="val 17647"/>
            </a:avLst>
          </a:prstGeom>
          <a:solidFill>
            <a:schemeClr val="bg2"/>
          </a:solidFill>
          <a:ln w="12700">
            <a:solidFill>
              <a:schemeClr val="bg2"/>
            </a:solidFill>
            <a:prstDash val="solid"/>
          </a:ln>
        </p:spPr>
      </p:sp>
      <p:sp>
        <p:nvSpPr>
          <p:cNvPr id="8" name="letter"/>
          <p:cNvSpPr/>
          <p:nvPr/>
        </p:nvSpPr>
        <p:spPr>
          <a:xfrm>
            <a:off x="713232" y="2679192"/>
            <a:ext cx="384048" cy="384048"/>
          </a:xfrm>
          <a:prstGeom prst="ellipse">
            <a:avLst/>
          </a:prstGeom>
          <a:solidFill>
            <a:schemeClr val="bg1"/>
          </a:solidFill>
          <a:ln w="12700">
            <a:solidFill>
              <a:schemeClr val="bg1"/>
            </a:solidFill>
            <a:prstDash val="solid"/>
          </a:ln>
        </p:spPr>
      </p:sp>
      <p:sp>
        <p:nvSpPr>
          <p:cNvPr id="9" name="Text 6"/>
          <p:cNvSpPr txBox="1"/>
          <p:nvPr/>
        </p:nvSpPr>
        <p:spPr>
          <a:xfrm>
            <a:off x="713232" y="2679192"/>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A</a:t>
            </a:r>
            <a:endParaRPr lang="en-US" sz="1500" dirty="0"/>
          </a:p>
        </p:txBody>
      </p:sp>
      <p:sp>
        <p:nvSpPr>
          <p:cNvPr id="10" name="Text 7"/>
          <p:cNvSpPr txBox="1"/>
          <p:nvPr/>
        </p:nvSpPr>
        <p:spPr>
          <a:xfrm>
            <a:off x="1280160" y="2560320"/>
            <a:ext cx="6355080" cy="621792"/>
          </a:xfrm>
          <a:prstGeom prst="rect">
            <a:avLst/>
          </a:prstGeom>
          <a:noFill/>
          <a:ln/>
        </p:spPr>
        <p:txBody>
          <a:bodyPr wrap="square" lIns="0" tIns="0" rIns="0" bIns="0" rtlCol="0" anchor="ctr"/>
          <a:lstStyle/>
          <a:p>
            <a:pPr indent="0" marL="0">
              <a:buNone/>
            </a:pPr>
            <a:r>
              <a:rPr lang="en-US" sz="2000" dirty="0">
                <a:solidFill>
                  <a:schemeClr val="tx1"/>
                </a:solidFill>
              </a:rPr>
              <a:t>It is only needed for muscles in animals</a:t>
            </a:r>
            <a:endParaRPr lang="en-US" sz="2000" dirty="0"/>
          </a:p>
        </p:txBody>
      </p:sp>
      <p:sp>
        <p:nvSpPr>
          <p:cNvPr id="11" name="option B"/>
          <p:cNvSpPr/>
          <p:nvPr/>
        </p:nvSpPr>
        <p:spPr>
          <a:xfrm>
            <a:off x="548640" y="3328416"/>
            <a:ext cx="7680960" cy="621792"/>
          </a:xfrm>
          <a:prstGeom prst="roundRect">
            <a:avLst>
              <a:gd name="adj" fmla="val 17647"/>
            </a:avLst>
          </a:prstGeom>
          <a:solidFill>
            <a:schemeClr val="bg2"/>
          </a:solidFill>
          <a:ln w="12700">
            <a:solidFill>
              <a:schemeClr val="bg2"/>
            </a:solidFill>
            <a:prstDash val="solid"/>
          </a:ln>
        </p:spPr>
      </p:sp>
      <p:sp>
        <p:nvSpPr>
          <p:cNvPr id="12" name="letter"/>
          <p:cNvSpPr/>
          <p:nvPr/>
        </p:nvSpPr>
        <p:spPr>
          <a:xfrm>
            <a:off x="713232" y="3447288"/>
            <a:ext cx="384048" cy="384048"/>
          </a:xfrm>
          <a:prstGeom prst="ellipse">
            <a:avLst/>
          </a:prstGeom>
          <a:solidFill>
            <a:schemeClr val="bg1"/>
          </a:solidFill>
          <a:ln w="12700">
            <a:solidFill>
              <a:schemeClr val="bg1"/>
            </a:solidFill>
            <a:prstDash val="solid"/>
          </a:ln>
        </p:spPr>
      </p:sp>
      <p:sp>
        <p:nvSpPr>
          <p:cNvPr id="13" name="Text 10"/>
          <p:cNvSpPr txBox="1"/>
          <p:nvPr/>
        </p:nvSpPr>
        <p:spPr>
          <a:xfrm>
            <a:off x="713232" y="3447288"/>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B</a:t>
            </a:r>
            <a:endParaRPr lang="en-US" sz="1500" dirty="0"/>
          </a:p>
        </p:txBody>
      </p:sp>
      <p:sp>
        <p:nvSpPr>
          <p:cNvPr id="14" name="Text 11"/>
          <p:cNvSpPr txBox="1"/>
          <p:nvPr/>
        </p:nvSpPr>
        <p:spPr>
          <a:xfrm>
            <a:off x="1280160" y="3328416"/>
            <a:ext cx="6355080" cy="621792"/>
          </a:xfrm>
          <a:prstGeom prst="rect">
            <a:avLst/>
          </a:prstGeom>
          <a:noFill/>
          <a:ln/>
        </p:spPr>
        <p:txBody>
          <a:bodyPr wrap="square" lIns="0" tIns="0" rIns="0" bIns="0" rtlCol="0" anchor="ctr"/>
          <a:lstStyle/>
          <a:p>
            <a:pPr indent="0" marL="0">
              <a:buNone/>
            </a:pPr>
            <a:r>
              <a:rPr lang="en-US" sz="2000" dirty="0">
                <a:solidFill>
                  <a:schemeClr val="tx1"/>
                </a:solidFill>
              </a:rPr>
              <a:t>It stores oxygen for the cell</a:t>
            </a:r>
            <a:endParaRPr lang="en-US" sz="2000" dirty="0"/>
          </a:p>
        </p:txBody>
      </p:sp>
      <p:sp>
        <p:nvSpPr>
          <p:cNvPr id="15" name="option C"/>
          <p:cNvSpPr/>
          <p:nvPr/>
        </p:nvSpPr>
        <p:spPr>
          <a:xfrm>
            <a:off x="548640" y="4096512"/>
            <a:ext cx="7680960" cy="621792"/>
          </a:xfrm>
          <a:prstGeom prst="roundRect">
            <a:avLst>
              <a:gd name="adj" fmla="val 17647"/>
            </a:avLst>
          </a:prstGeom>
          <a:solidFill>
            <a:schemeClr val="bg2"/>
          </a:solidFill>
          <a:ln w="12700">
            <a:solidFill>
              <a:schemeClr val="bg2"/>
            </a:solidFill>
            <a:prstDash val="solid"/>
          </a:ln>
        </p:spPr>
      </p:sp>
      <p:sp>
        <p:nvSpPr>
          <p:cNvPr id="16" name="letter"/>
          <p:cNvSpPr/>
          <p:nvPr/>
        </p:nvSpPr>
        <p:spPr>
          <a:xfrm>
            <a:off x="713232" y="4215384"/>
            <a:ext cx="384048" cy="384048"/>
          </a:xfrm>
          <a:prstGeom prst="ellipse">
            <a:avLst/>
          </a:prstGeom>
          <a:solidFill>
            <a:schemeClr val="bg1"/>
          </a:solidFill>
          <a:ln w="12700">
            <a:solidFill>
              <a:schemeClr val="bg1"/>
            </a:solidFill>
            <a:prstDash val="solid"/>
          </a:ln>
        </p:spPr>
      </p:sp>
      <p:sp>
        <p:nvSpPr>
          <p:cNvPr id="17" name="Text 14"/>
          <p:cNvSpPr txBox="1"/>
          <p:nvPr/>
        </p:nvSpPr>
        <p:spPr>
          <a:xfrm>
            <a:off x="713232" y="4215384"/>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C</a:t>
            </a:r>
            <a:endParaRPr lang="en-US" sz="1500" dirty="0"/>
          </a:p>
        </p:txBody>
      </p:sp>
      <p:sp>
        <p:nvSpPr>
          <p:cNvPr id="18" name="Text 15"/>
          <p:cNvSpPr txBox="1"/>
          <p:nvPr/>
        </p:nvSpPr>
        <p:spPr>
          <a:xfrm>
            <a:off x="1280160" y="4096512"/>
            <a:ext cx="6355080" cy="621792"/>
          </a:xfrm>
          <a:prstGeom prst="rect">
            <a:avLst/>
          </a:prstGeom>
          <a:noFill/>
          <a:ln/>
        </p:spPr>
        <p:txBody>
          <a:bodyPr wrap="square" lIns="0" tIns="0" rIns="0" bIns="0" rtlCol="0" anchor="ctr"/>
          <a:lstStyle/>
          <a:p>
            <a:pPr indent="0" marL="0">
              <a:buNone/>
            </a:pPr>
            <a:r>
              <a:rPr lang="en-US" sz="2000" dirty="0">
                <a:solidFill>
                  <a:schemeClr val="tx1"/>
                </a:solidFill>
              </a:rPr>
              <a:t>It is only used during photosynthesis</a:t>
            </a:r>
            <a:endParaRPr lang="en-US" sz="2000" dirty="0"/>
          </a:p>
        </p:txBody>
      </p:sp>
      <p:sp>
        <p:nvSpPr>
          <p:cNvPr id="19" name="option D"/>
          <p:cNvSpPr/>
          <p:nvPr/>
        </p:nvSpPr>
        <p:spPr>
          <a:xfrm>
            <a:off x="548640" y="4864608"/>
            <a:ext cx="7680960" cy="621792"/>
          </a:xfrm>
          <a:prstGeom prst="roundRect">
            <a:avLst>
              <a:gd name="adj" fmla="val 17647"/>
            </a:avLst>
          </a:prstGeom>
          <a:solidFill>
            <a:schemeClr val="bg2"/>
          </a:solidFill>
          <a:ln w="12700">
            <a:solidFill>
              <a:schemeClr val="bg2"/>
            </a:solidFill>
            <a:prstDash val="solid"/>
          </a:ln>
        </p:spPr>
      </p:sp>
      <p:sp>
        <p:nvSpPr>
          <p:cNvPr id="20" name="letter"/>
          <p:cNvSpPr/>
          <p:nvPr/>
        </p:nvSpPr>
        <p:spPr>
          <a:xfrm>
            <a:off x="713232" y="4983480"/>
            <a:ext cx="384048" cy="384048"/>
          </a:xfrm>
          <a:prstGeom prst="ellipse">
            <a:avLst/>
          </a:prstGeom>
          <a:solidFill>
            <a:schemeClr val="bg1"/>
          </a:solidFill>
          <a:ln w="12700">
            <a:solidFill>
              <a:schemeClr val="bg1"/>
            </a:solidFill>
            <a:prstDash val="solid"/>
          </a:ln>
        </p:spPr>
      </p:sp>
      <p:sp>
        <p:nvSpPr>
          <p:cNvPr id="21" name="Text 18"/>
          <p:cNvSpPr txBox="1"/>
          <p:nvPr/>
        </p:nvSpPr>
        <p:spPr>
          <a:xfrm>
            <a:off x="713232" y="4983480"/>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D</a:t>
            </a:r>
            <a:endParaRPr lang="en-US" sz="1500" dirty="0"/>
          </a:p>
        </p:txBody>
      </p:sp>
      <p:sp>
        <p:nvSpPr>
          <p:cNvPr id="22" name="Text 19"/>
          <p:cNvSpPr txBox="1"/>
          <p:nvPr/>
        </p:nvSpPr>
        <p:spPr>
          <a:xfrm>
            <a:off x="1280160" y="4864608"/>
            <a:ext cx="6355080" cy="621792"/>
          </a:xfrm>
          <a:prstGeom prst="rect">
            <a:avLst/>
          </a:prstGeom>
          <a:noFill/>
          <a:ln/>
        </p:spPr>
        <p:txBody>
          <a:bodyPr wrap="square" lIns="0" tIns="0" rIns="0" bIns="0" rtlCol="0" anchor="ctr"/>
          <a:lstStyle/>
          <a:p>
            <a:pPr indent="0" marL="0">
              <a:buNone/>
            </a:pPr>
            <a:r>
              <a:rPr lang="en-US" sz="2000" dirty="0">
                <a:solidFill>
                  <a:schemeClr val="tx1"/>
                </a:solidFill>
              </a:rPr>
              <a:t>It provides the energy for vital processes like cell division, building proteins, and moving</a:t>
            </a:r>
            <a:endParaRPr lang="en-US" sz="2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Quick check</a:t>
            </a:r>
            <a:endParaRPr lang="en-US" sz="3200" dirty="0"/>
          </a:p>
        </p:txBody>
      </p:sp>
      <p:sp>
        <p:nvSpPr>
          <p:cNvPr id="3" name="tag"/>
          <p:cNvSpPr/>
          <p:nvPr/>
        </p:nvSpPr>
        <p:spPr>
          <a:xfrm>
            <a:off x="548640" y="329184"/>
            <a:ext cx="868680" cy="329184"/>
          </a:xfrm>
          <a:prstGeom prst="roundRect">
            <a:avLst>
              <a:gd name="adj" fmla="val 50000"/>
            </a:avLst>
          </a:prstGeom>
          <a:solidFill>
            <a:schemeClr val="accent5">
              <a:alpha val="18000"/>
            </a:schemeClr>
          </a:solidFill>
          <a:ln w="12700">
            <a:solidFill>
              <a:schemeClr val="accent5"/>
            </a:solidFill>
            <a:prstDash val="solid"/>
          </a:ln>
        </p:spPr>
      </p:sp>
      <p:sp>
        <p:nvSpPr>
          <p:cNvPr id="4" name="Text 2"/>
          <p:cNvSpPr txBox="1"/>
          <p:nvPr/>
        </p:nvSpPr>
        <p:spPr>
          <a:xfrm>
            <a:off x="548640" y="329184"/>
            <a:ext cx="868680" cy="329184"/>
          </a:xfrm>
          <a:prstGeom prst="rect">
            <a:avLst/>
          </a:prstGeom>
          <a:noFill/>
          <a:ln/>
        </p:spPr>
        <p:txBody>
          <a:bodyPr wrap="square" lIns="0" tIns="0" rIns="0" bIns="0" rtlCol="0" anchor="ctr"/>
          <a:lstStyle/>
          <a:p>
            <a:pPr algn="ctr" indent="0" marL="0">
              <a:buNone/>
            </a:pPr>
            <a:r>
              <a:rPr lang="en-US" sz="1300" b="1" dirty="0">
                <a:solidFill>
                  <a:schemeClr val="accent5"/>
                </a:solidFill>
              </a:rPr>
              <a:t>Answer</a:t>
            </a:r>
            <a:endParaRPr lang="en-US" sz="1300" dirty="0"/>
          </a:p>
        </p:txBody>
      </p:sp>
      <p:sp>
        <p:nvSpPr>
          <p:cNvPr id="6" name="Text 3"/>
          <p:cNvSpPr txBox="1"/>
          <p:nvPr/>
        </p:nvSpPr>
        <p:spPr>
          <a:xfrm>
            <a:off x="548640" y="1600200"/>
            <a:ext cx="11064240" cy="868680"/>
          </a:xfrm>
          <a:prstGeom prst="rect">
            <a:avLst/>
          </a:prstGeom>
          <a:noFill/>
          <a:ln/>
        </p:spPr>
        <p:txBody>
          <a:bodyPr wrap="square" lIns="0" tIns="0" rIns="0" bIns="0" rtlCol="0" anchor="t"/>
          <a:lstStyle/>
          <a:p>
            <a:pPr indent="0" marL="0">
              <a:spcAft>
                <a:spcPts val="600"/>
              </a:spcAft>
              <a:buNone/>
            </a:pPr>
            <a:r>
              <a:rPr lang="en-US" sz="2400" dirty="0">
                <a:solidFill>
                  <a:schemeClr val="tx1"/>
                </a:solidFill>
              </a:rPr>
              <a:t>Why is ATP essential for the survival of all living things?</a:t>
            </a:r>
            <a:endParaRPr lang="en-US" sz="2400" dirty="0"/>
          </a:p>
        </p:txBody>
      </p:sp>
      <p:sp>
        <p:nvSpPr>
          <p:cNvPr id="7" name="option A"/>
          <p:cNvSpPr/>
          <p:nvPr/>
        </p:nvSpPr>
        <p:spPr>
          <a:xfrm>
            <a:off x="548640" y="2560320"/>
            <a:ext cx="7680960" cy="621792"/>
          </a:xfrm>
          <a:prstGeom prst="roundRect">
            <a:avLst>
              <a:gd name="adj" fmla="val 17647"/>
            </a:avLst>
          </a:prstGeom>
          <a:solidFill>
            <a:schemeClr val="bg2"/>
          </a:solidFill>
          <a:ln w="12700">
            <a:solidFill>
              <a:schemeClr val="bg2"/>
            </a:solidFill>
            <a:prstDash val="solid"/>
          </a:ln>
        </p:spPr>
      </p:sp>
      <p:sp>
        <p:nvSpPr>
          <p:cNvPr id="8" name="letter"/>
          <p:cNvSpPr/>
          <p:nvPr/>
        </p:nvSpPr>
        <p:spPr>
          <a:xfrm>
            <a:off x="713232" y="2679192"/>
            <a:ext cx="384048" cy="384048"/>
          </a:xfrm>
          <a:prstGeom prst="ellipse">
            <a:avLst/>
          </a:prstGeom>
          <a:solidFill>
            <a:schemeClr val="bg1"/>
          </a:solidFill>
          <a:ln w="12700">
            <a:solidFill>
              <a:schemeClr val="bg1"/>
            </a:solidFill>
            <a:prstDash val="solid"/>
          </a:ln>
        </p:spPr>
      </p:sp>
      <p:sp>
        <p:nvSpPr>
          <p:cNvPr id="9" name="Text 6"/>
          <p:cNvSpPr txBox="1"/>
          <p:nvPr/>
        </p:nvSpPr>
        <p:spPr>
          <a:xfrm>
            <a:off x="713232" y="2679192"/>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A</a:t>
            </a:r>
            <a:endParaRPr lang="en-US" sz="1500" dirty="0"/>
          </a:p>
        </p:txBody>
      </p:sp>
      <p:sp>
        <p:nvSpPr>
          <p:cNvPr id="10" name="Text 7"/>
          <p:cNvSpPr txBox="1"/>
          <p:nvPr/>
        </p:nvSpPr>
        <p:spPr>
          <a:xfrm>
            <a:off x="1280160" y="2560320"/>
            <a:ext cx="6355080" cy="621792"/>
          </a:xfrm>
          <a:prstGeom prst="rect">
            <a:avLst/>
          </a:prstGeom>
          <a:noFill/>
          <a:ln/>
        </p:spPr>
        <p:txBody>
          <a:bodyPr wrap="square" lIns="0" tIns="0" rIns="0" bIns="0" rtlCol="0" anchor="ctr"/>
          <a:lstStyle/>
          <a:p>
            <a:pPr indent="0" marL="0">
              <a:buNone/>
            </a:pPr>
            <a:r>
              <a:rPr lang="en-US" sz="2000" dirty="0">
                <a:solidFill>
                  <a:schemeClr val="tx2"/>
                </a:solidFill>
              </a:rPr>
              <a:t>It is only needed for muscles in animals</a:t>
            </a:r>
            <a:endParaRPr lang="en-US" sz="2000" dirty="0"/>
          </a:p>
        </p:txBody>
      </p:sp>
      <p:sp>
        <p:nvSpPr>
          <p:cNvPr id="11" name="option B"/>
          <p:cNvSpPr/>
          <p:nvPr/>
        </p:nvSpPr>
        <p:spPr>
          <a:xfrm>
            <a:off x="548640" y="3328416"/>
            <a:ext cx="7680960" cy="621792"/>
          </a:xfrm>
          <a:prstGeom prst="roundRect">
            <a:avLst>
              <a:gd name="adj" fmla="val 17647"/>
            </a:avLst>
          </a:prstGeom>
          <a:solidFill>
            <a:schemeClr val="bg2"/>
          </a:solidFill>
          <a:ln w="12700">
            <a:solidFill>
              <a:schemeClr val="bg2"/>
            </a:solidFill>
            <a:prstDash val="solid"/>
          </a:ln>
        </p:spPr>
      </p:sp>
      <p:sp>
        <p:nvSpPr>
          <p:cNvPr id="12" name="letter"/>
          <p:cNvSpPr/>
          <p:nvPr/>
        </p:nvSpPr>
        <p:spPr>
          <a:xfrm>
            <a:off x="713232" y="3447288"/>
            <a:ext cx="384048" cy="384048"/>
          </a:xfrm>
          <a:prstGeom prst="ellipse">
            <a:avLst/>
          </a:prstGeom>
          <a:solidFill>
            <a:schemeClr val="bg1"/>
          </a:solidFill>
          <a:ln w="12700">
            <a:solidFill>
              <a:schemeClr val="bg1"/>
            </a:solidFill>
            <a:prstDash val="solid"/>
          </a:ln>
        </p:spPr>
      </p:sp>
      <p:sp>
        <p:nvSpPr>
          <p:cNvPr id="13" name="Text 10"/>
          <p:cNvSpPr txBox="1"/>
          <p:nvPr/>
        </p:nvSpPr>
        <p:spPr>
          <a:xfrm>
            <a:off x="713232" y="3447288"/>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B</a:t>
            </a:r>
            <a:endParaRPr lang="en-US" sz="1500" dirty="0"/>
          </a:p>
        </p:txBody>
      </p:sp>
      <p:sp>
        <p:nvSpPr>
          <p:cNvPr id="14" name="Text 11"/>
          <p:cNvSpPr txBox="1"/>
          <p:nvPr/>
        </p:nvSpPr>
        <p:spPr>
          <a:xfrm>
            <a:off x="1280160" y="3328416"/>
            <a:ext cx="6355080" cy="621792"/>
          </a:xfrm>
          <a:prstGeom prst="rect">
            <a:avLst/>
          </a:prstGeom>
          <a:noFill/>
          <a:ln/>
        </p:spPr>
        <p:txBody>
          <a:bodyPr wrap="square" lIns="0" tIns="0" rIns="0" bIns="0" rtlCol="0" anchor="ctr"/>
          <a:lstStyle/>
          <a:p>
            <a:pPr indent="0" marL="0">
              <a:buNone/>
            </a:pPr>
            <a:r>
              <a:rPr lang="en-US" sz="2000" dirty="0">
                <a:solidFill>
                  <a:schemeClr val="tx2"/>
                </a:solidFill>
              </a:rPr>
              <a:t>It stores oxygen for the cell</a:t>
            </a:r>
            <a:endParaRPr lang="en-US" sz="2000" dirty="0"/>
          </a:p>
        </p:txBody>
      </p:sp>
      <p:sp>
        <p:nvSpPr>
          <p:cNvPr id="15" name="option C"/>
          <p:cNvSpPr/>
          <p:nvPr/>
        </p:nvSpPr>
        <p:spPr>
          <a:xfrm>
            <a:off x="548640" y="4096512"/>
            <a:ext cx="7680960" cy="621792"/>
          </a:xfrm>
          <a:prstGeom prst="roundRect">
            <a:avLst>
              <a:gd name="adj" fmla="val 17647"/>
            </a:avLst>
          </a:prstGeom>
          <a:solidFill>
            <a:schemeClr val="bg2"/>
          </a:solidFill>
          <a:ln w="12700">
            <a:solidFill>
              <a:schemeClr val="bg2"/>
            </a:solidFill>
            <a:prstDash val="solid"/>
          </a:ln>
        </p:spPr>
      </p:sp>
      <p:sp>
        <p:nvSpPr>
          <p:cNvPr id="16" name="letter"/>
          <p:cNvSpPr/>
          <p:nvPr/>
        </p:nvSpPr>
        <p:spPr>
          <a:xfrm>
            <a:off x="713232" y="4215384"/>
            <a:ext cx="384048" cy="384048"/>
          </a:xfrm>
          <a:prstGeom prst="ellipse">
            <a:avLst/>
          </a:prstGeom>
          <a:solidFill>
            <a:schemeClr val="bg1"/>
          </a:solidFill>
          <a:ln w="12700">
            <a:solidFill>
              <a:schemeClr val="bg1"/>
            </a:solidFill>
            <a:prstDash val="solid"/>
          </a:ln>
        </p:spPr>
      </p:sp>
      <p:sp>
        <p:nvSpPr>
          <p:cNvPr id="17" name="Text 14"/>
          <p:cNvSpPr txBox="1"/>
          <p:nvPr/>
        </p:nvSpPr>
        <p:spPr>
          <a:xfrm>
            <a:off x="713232" y="4215384"/>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C</a:t>
            </a:r>
            <a:endParaRPr lang="en-US" sz="1500" dirty="0"/>
          </a:p>
        </p:txBody>
      </p:sp>
      <p:sp>
        <p:nvSpPr>
          <p:cNvPr id="18" name="Text 15"/>
          <p:cNvSpPr txBox="1"/>
          <p:nvPr/>
        </p:nvSpPr>
        <p:spPr>
          <a:xfrm>
            <a:off x="1280160" y="4096512"/>
            <a:ext cx="6355080" cy="621792"/>
          </a:xfrm>
          <a:prstGeom prst="rect">
            <a:avLst/>
          </a:prstGeom>
          <a:noFill/>
          <a:ln/>
        </p:spPr>
        <p:txBody>
          <a:bodyPr wrap="square" lIns="0" tIns="0" rIns="0" bIns="0" rtlCol="0" anchor="ctr"/>
          <a:lstStyle/>
          <a:p>
            <a:pPr indent="0" marL="0">
              <a:buNone/>
            </a:pPr>
            <a:r>
              <a:rPr lang="en-US" sz="2000" dirty="0">
                <a:solidFill>
                  <a:schemeClr val="tx2"/>
                </a:solidFill>
              </a:rPr>
              <a:t>It is only used during photosynthesis</a:t>
            </a:r>
            <a:endParaRPr lang="en-US" sz="2000" dirty="0"/>
          </a:p>
        </p:txBody>
      </p:sp>
      <p:sp>
        <p:nvSpPr>
          <p:cNvPr id="19" name="option D"/>
          <p:cNvSpPr/>
          <p:nvPr/>
        </p:nvSpPr>
        <p:spPr>
          <a:xfrm>
            <a:off x="548640" y="4864608"/>
            <a:ext cx="7680960" cy="621792"/>
          </a:xfrm>
          <a:prstGeom prst="roundRect">
            <a:avLst>
              <a:gd name="adj" fmla="val 17647"/>
            </a:avLst>
          </a:prstGeom>
          <a:solidFill>
            <a:schemeClr val="accent5">
              <a:alpha val="20000"/>
            </a:schemeClr>
          </a:solidFill>
          <a:ln w="25400">
            <a:solidFill>
              <a:schemeClr val="accent5"/>
            </a:solidFill>
            <a:prstDash val="solid"/>
          </a:ln>
        </p:spPr>
      </p:sp>
      <p:sp>
        <p:nvSpPr>
          <p:cNvPr id="20" name="letter"/>
          <p:cNvSpPr/>
          <p:nvPr/>
        </p:nvSpPr>
        <p:spPr>
          <a:xfrm>
            <a:off x="713232" y="4983480"/>
            <a:ext cx="384048" cy="384048"/>
          </a:xfrm>
          <a:prstGeom prst="ellipse">
            <a:avLst/>
          </a:prstGeom>
          <a:solidFill>
            <a:schemeClr val="accent5"/>
          </a:solidFill>
          <a:ln w="12700">
            <a:solidFill>
              <a:schemeClr val="accent5"/>
            </a:solidFill>
            <a:prstDash val="solid"/>
          </a:ln>
        </p:spPr>
      </p:sp>
      <p:sp>
        <p:nvSpPr>
          <p:cNvPr id="21" name="Text 18"/>
          <p:cNvSpPr txBox="1"/>
          <p:nvPr/>
        </p:nvSpPr>
        <p:spPr>
          <a:xfrm>
            <a:off x="713232" y="498348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D</a:t>
            </a:r>
            <a:endParaRPr lang="en-US" sz="1500" dirty="0"/>
          </a:p>
        </p:txBody>
      </p:sp>
      <p:sp>
        <p:nvSpPr>
          <p:cNvPr id="22" name="Text 19"/>
          <p:cNvSpPr txBox="1"/>
          <p:nvPr/>
        </p:nvSpPr>
        <p:spPr>
          <a:xfrm>
            <a:off x="1280160" y="4864608"/>
            <a:ext cx="6355080" cy="621792"/>
          </a:xfrm>
          <a:prstGeom prst="rect">
            <a:avLst/>
          </a:prstGeom>
          <a:noFill/>
          <a:ln/>
        </p:spPr>
        <p:txBody>
          <a:bodyPr wrap="square" lIns="0" tIns="0" rIns="0" bIns="0" rtlCol="0" anchor="ctr"/>
          <a:lstStyle/>
          <a:p>
            <a:pPr indent="0" marL="0">
              <a:buNone/>
            </a:pPr>
            <a:r>
              <a:rPr lang="en-US" sz="2000" dirty="0">
                <a:solidFill>
                  <a:schemeClr val="tx1"/>
                </a:solidFill>
              </a:rPr>
              <a:t>It provides the energy for vital processes like cell division, building proteins, and moving</a:t>
            </a:r>
            <a:endParaRPr lang="en-US" sz="2000" dirty="0"/>
          </a:p>
        </p:txBody>
      </p:sp>
      <p:sp>
        <p:nvSpPr>
          <p:cNvPr id="23" name="Text 20"/>
          <p:cNvSpPr txBox="1"/>
          <p:nvPr/>
        </p:nvSpPr>
        <p:spPr>
          <a:xfrm>
            <a:off x="7726680" y="4864608"/>
            <a:ext cx="411480" cy="621792"/>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sp>
        <p:nvSpPr>
          <p:cNvPr id="24" name="panel"/>
          <p:cNvSpPr/>
          <p:nvPr/>
        </p:nvSpPr>
        <p:spPr>
          <a:xfrm>
            <a:off x="8503920" y="2560320"/>
            <a:ext cx="3136392" cy="2926080"/>
          </a:xfrm>
          <a:prstGeom prst="roundRect">
            <a:avLst>
              <a:gd name="adj" fmla="val 3750"/>
            </a:avLst>
          </a:prstGeom>
          <a:solidFill>
            <a:schemeClr val="accent5">
              <a:alpha val="12000"/>
            </a:schemeClr>
          </a:solidFill>
          <a:ln w="12700">
            <a:solidFill>
              <a:schemeClr val="accent5"/>
            </a:solidFill>
            <a:prstDash val="solid"/>
          </a:ln>
        </p:spPr>
      </p:sp>
      <p:sp>
        <p:nvSpPr>
          <p:cNvPr id="25" name="Text 22"/>
          <p:cNvSpPr txBox="1"/>
          <p:nvPr/>
        </p:nvSpPr>
        <p:spPr>
          <a:xfrm>
            <a:off x="8686800" y="2697480"/>
            <a:ext cx="2788920" cy="265176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Why</a:t>
            </a:r>
            <a:endParaRPr lang="en-US" sz="1700" dirty="0"/>
          </a:p>
          <a:p>
            <a:pPr indent="0" marL="0">
              <a:spcAft>
                <a:spcPts val="600"/>
              </a:spcAft>
              <a:buNone/>
            </a:pPr>
            <a:r>
              <a:rPr lang="en-US" sz="1700" dirty="0">
                <a:solidFill>
                  <a:schemeClr val="tx1"/>
                </a:solidFill>
              </a:rPr>
              <a:t>Every organism needs ATP to run its cells.</a:t>
            </a:r>
            <a:endParaRPr lang="en-US" sz="17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ection tile Mistake"/>
          <p:cNvSpPr/>
          <p:nvPr/>
        </p:nvSpPr>
        <p:spPr>
          <a:xfrm>
            <a:off x="1097280" y="1783080"/>
            <a:ext cx="2377440" cy="2615184"/>
          </a:xfrm>
          <a:prstGeom prst="roundRect">
            <a:avLst>
              <a:gd name="adj" fmla="val 8000"/>
            </a:avLst>
          </a:prstGeom>
          <a:solidFill>
            <a:schemeClr val="bg2"/>
          </a:solidFill>
          <a:ln w="44450">
            <a:solidFill>
              <a:schemeClr val="accent1"/>
            </a:solidFill>
            <a:prstDash val="solid"/>
          </a:ln>
        </p:spPr>
      </p:sp>
      <p:sp>
        <p:nvSpPr>
          <p:cNvPr id="3" name="Text 1"/>
          <p:cNvSpPr txBox="1"/>
          <p:nvPr/>
        </p:nvSpPr>
        <p:spPr>
          <a:xfrm>
            <a:off x="1263701" y="1901952"/>
            <a:ext cx="950976" cy="427939"/>
          </a:xfrm>
          <a:prstGeom prst="rect">
            <a:avLst/>
          </a:prstGeom>
          <a:noFill/>
          <a:ln/>
        </p:spPr>
        <p:txBody>
          <a:bodyPr wrap="square" lIns="0" tIns="0" rIns="0" bIns="0" rtlCol="0" anchor="ctr"/>
          <a:lstStyle/>
          <a:p>
            <a:pPr indent="0" marL="0">
              <a:buNone/>
            </a:pPr>
            <a:r>
              <a:rPr lang="en-US" sz="2340" dirty="0">
                <a:solidFill>
                  <a:schemeClr val="tx2"/>
                </a:solidFill>
              </a:rPr>
              <a:t>6</a:t>
            </a:r>
            <a:endParaRPr lang="en-US" sz="2340" dirty="0"/>
          </a:p>
        </p:txBody>
      </p:sp>
      <p:pic>
        <p:nvPicPr>
          <p:cNvPr id="4" name="Image 0" descr="Mistake icon">    </p:cNvPr>
          <p:cNvPicPr>
            <a:picLocks noChangeAspect="1"/>
          </p:cNvPicPr>
          <p:nvPr/>
        </p:nvPicPr>
        <p:blipFill>
          <a:blip r:embed="rId1"/>
          <a:stretch>
            <a:fillRect/>
          </a:stretch>
        </p:blipFill>
        <p:spPr>
          <a:xfrm>
            <a:off x="1691640" y="2258568"/>
            <a:ext cx="1188720" cy="1188720"/>
          </a:xfrm>
          <a:prstGeom prst="rect">
            <a:avLst/>
          </a:prstGeom>
        </p:spPr>
      </p:pic>
      <p:sp>
        <p:nvSpPr>
          <p:cNvPr id="5" name="Text 2"/>
          <p:cNvSpPr txBox="1"/>
          <p:nvPr/>
        </p:nvSpPr>
        <p:spPr>
          <a:xfrm>
            <a:off x="1097280" y="3637483"/>
            <a:ext cx="2377440" cy="523037"/>
          </a:xfrm>
          <a:prstGeom prst="rect">
            <a:avLst/>
          </a:prstGeom>
          <a:noFill/>
          <a:ln/>
        </p:spPr>
        <p:txBody>
          <a:bodyPr wrap="square" lIns="0" tIns="0" rIns="0" bIns="0" rtlCol="0" anchor="ctr"/>
          <a:lstStyle/>
          <a:p>
            <a:pPr algn="ctr" indent="0" marL="0">
              <a:buNone/>
            </a:pPr>
            <a:r>
              <a:rPr lang="en-US" sz="1950" dirty="0">
                <a:solidFill>
                  <a:schemeClr val="tx2"/>
                </a:solidFill>
              </a:rPr>
              <a:t>Mistake</a:t>
            </a:r>
            <a:endParaRPr lang="en-US" sz="1950" dirty="0"/>
          </a:p>
        </p:txBody>
      </p:sp>
      <p:sp>
        <p:nvSpPr>
          <p:cNvPr id="6" name="Text 0"/>
          <p:cNvSpPr/>
          <p:nvPr>
            <p:ph idx="100" type="body" hasCustomPrompt="1"/>
          </p:nvPr>
        </p:nvSpPr>
        <p:spPr>
          <a:xfrm>
            <a:off x="4114800" y="2240280"/>
            <a:ext cx="7498080" cy="457200"/>
          </a:xfrm>
          <a:prstGeom prst="rect">
            <a:avLst/>
          </a:prstGeom>
          <a:noFill/>
          <a:ln/>
        </p:spPr>
        <p:txBody>
          <a:bodyPr wrap="square" lIns="0" tIns="0" rIns="0" bIns="0" rtlCol="0" anchor="b"/>
          <a:lstStyle/>
          <a:p>
            <a:pPr algn="l" indent="0" marL="0">
              <a:buNone/>
            </a:pPr>
            <a:r>
              <a:rPr lang="en-US" sz="2000" dirty="0">
                <a:solidFill>
                  <a:schemeClr val="tx2"/>
                </a:solidFill>
              </a:rPr>
              <a:t>Section 6 of 7 · about 6 min</a:t>
            </a:r>
            <a:endParaRPr lang="en-US" sz="2000" dirty="0"/>
          </a:p>
        </p:txBody>
      </p:sp>
      <p:sp>
        <p:nvSpPr>
          <p:cNvPr id="7" name="Text 0"/>
          <p:cNvSpPr/>
          <p:nvPr>
            <p:ph idx="101" type="title" hasCustomPrompt="1"/>
          </p:nvPr>
        </p:nvSpPr>
        <p:spPr>
          <a:xfrm>
            <a:off x="4114800" y="2788920"/>
            <a:ext cx="7498080" cy="1463040"/>
          </a:xfrm>
          <a:prstGeom prst="rect">
            <a:avLst/>
          </a:prstGeom>
          <a:noFill/>
          <a:ln/>
        </p:spPr>
        <p:txBody>
          <a:bodyPr wrap="square" lIns="0" tIns="0" rIns="0" bIns="0" rtlCol="0" anchor="t"/>
          <a:lstStyle/>
          <a:p>
            <a:pPr algn="l" indent="0" marL="0">
              <a:buNone/>
            </a:pPr>
            <a:r>
              <a:rPr lang="en-US" sz="4400" b="1" dirty="0">
                <a:solidFill>
                  <a:schemeClr val="tx1"/>
                </a:solidFill>
              </a:rPr>
              <a:t>Spot the mistake</a:t>
            </a:r>
            <a:endParaRPr lang="en-US" sz="4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Jordan's mistake</a:t>
            </a:r>
            <a:endParaRPr lang="en-US" sz="3200" dirty="0"/>
          </a:p>
        </p:txBody>
      </p:sp>
      <p:sp>
        <p:nvSpPr>
          <p:cNvPr id="3" name="tag"/>
          <p:cNvSpPr/>
          <p:nvPr/>
        </p:nvSpPr>
        <p:spPr>
          <a:xfrm>
            <a:off x="548640" y="329184"/>
            <a:ext cx="1348740" cy="329184"/>
          </a:xfrm>
          <a:prstGeom prst="roundRect">
            <a:avLst>
              <a:gd name="adj" fmla="val 50000"/>
            </a:avLst>
          </a:prstGeom>
          <a:solidFill>
            <a:schemeClr val="accent6">
              <a:alpha val="18000"/>
            </a:schemeClr>
          </a:solidFill>
          <a:ln w="12700">
            <a:solidFill>
              <a:schemeClr val="accent6"/>
            </a:solidFill>
            <a:prstDash val="solid"/>
          </a:ln>
        </p:spPr>
      </p:sp>
      <p:sp>
        <p:nvSpPr>
          <p:cNvPr id="4" name="Text 2"/>
          <p:cNvSpPr txBox="1"/>
          <p:nvPr/>
        </p:nvSpPr>
        <p:spPr>
          <a:xfrm>
            <a:off x="548640" y="329184"/>
            <a:ext cx="1348740" cy="329184"/>
          </a:xfrm>
          <a:prstGeom prst="rect">
            <a:avLst/>
          </a:prstGeom>
          <a:noFill/>
          <a:ln/>
        </p:spPr>
        <p:txBody>
          <a:bodyPr wrap="square" lIns="0" tIns="0" rIns="0" bIns="0" rtlCol="0" anchor="ctr"/>
          <a:lstStyle/>
          <a:p>
            <a:pPr algn="ctr" indent="0" marL="0">
              <a:buNone/>
            </a:pPr>
            <a:r>
              <a:rPr lang="en-US" sz="1300" b="1" dirty="0">
                <a:solidFill>
                  <a:schemeClr val="accent6"/>
                </a:solidFill>
              </a:rPr>
              <a:t>Quick check</a:t>
            </a:r>
            <a:endParaRPr lang="en-US" sz="1300" dirty="0"/>
          </a:p>
        </p:txBody>
      </p:sp>
      <p:sp>
        <p:nvSpPr>
          <p:cNvPr id="6" name="Text 3"/>
          <p:cNvSpPr txBox="1"/>
          <p:nvPr/>
        </p:nvSpPr>
        <p:spPr>
          <a:xfrm>
            <a:off x="548640" y="1600200"/>
            <a:ext cx="11064240" cy="868680"/>
          </a:xfrm>
          <a:prstGeom prst="rect">
            <a:avLst/>
          </a:prstGeom>
          <a:noFill/>
          <a:ln/>
        </p:spPr>
        <p:txBody>
          <a:bodyPr wrap="square" lIns="0" tIns="0" rIns="0" bIns="0" rtlCol="0" anchor="t"/>
          <a:lstStyle/>
          <a:p>
            <a:pPr indent="0" marL="0">
              <a:spcAft>
                <a:spcPts val="600"/>
              </a:spcAft>
              <a:buNone/>
            </a:pPr>
            <a:r>
              <a:rPr lang="en-US" sz="2400" dirty="0">
                <a:solidFill>
                  <a:schemeClr val="tx1"/>
                </a:solidFill>
              </a:rPr>
              <a:t>Jordan wrote: "ATP stores the cell's genetic information."  What's wrong?</a:t>
            </a:r>
            <a:endParaRPr lang="en-US" sz="2400" dirty="0"/>
          </a:p>
        </p:txBody>
      </p:sp>
      <p:sp>
        <p:nvSpPr>
          <p:cNvPr id="7" name="option A"/>
          <p:cNvSpPr/>
          <p:nvPr/>
        </p:nvSpPr>
        <p:spPr>
          <a:xfrm>
            <a:off x="548640" y="2560320"/>
            <a:ext cx="7680960" cy="621792"/>
          </a:xfrm>
          <a:prstGeom prst="roundRect">
            <a:avLst>
              <a:gd name="adj" fmla="val 17647"/>
            </a:avLst>
          </a:prstGeom>
          <a:solidFill>
            <a:schemeClr val="bg2"/>
          </a:solidFill>
          <a:ln w="12700">
            <a:solidFill>
              <a:schemeClr val="bg2"/>
            </a:solidFill>
            <a:prstDash val="solid"/>
          </a:ln>
        </p:spPr>
      </p:sp>
      <p:sp>
        <p:nvSpPr>
          <p:cNvPr id="8" name="letter"/>
          <p:cNvSpPr/>
          <p:nvPr/>
        </p:nvSpPr>
        <p:spPr>
          <a:xfrm>
            <a:off x="713232" y="2679192"/>
            <a:ext cx="384048" cy="384048"/>
          </a:xfrm>
          <a:prstGeom prst="ellipse">
            <a:avLst/>
          </a:prstGeom>
          <a:solidFill>
            <a:schemeClr val="bg1"/>
          </a:solidFill>
          <a:ln w="12700">
            <a:solidFill>
              <a:schemeClr val="bg1"/>
            </a:solidFill>
            <a:prstDash val="solid"/>
          </a:ln>
        </p:spPr>
      </p:sp>
      <p:sp>
        <p:nvSpPr>
          <p:cNvPr id="9" name="Text 6"/>
          <p:cNvSpPr txBox="1"/>
          <p:nvPr/>
        </p:nvSpPr>
        <p:spPr>
          <a:xfrm>
            <a:off x="713232" y="2679192"/>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A</a:t>
            </a:r>
            <a:endParaRPr lang="en-US" sz="1500" dirty="0"/>
          </a:p>
        </p:txBody>
      </p:sp>
      <p:sp>
        <p:nvSpPr>
          <p:cNvPr id="10" name="Text 7"/>
          <p:cNvSpPr txBox="1"/>
          <p:nvPr/>
        </p:nvSpPr>
        <p:spPr>
          <a:xfrm>
            <a:off x="1280160" y="2560320"/>
            <a:ext cx="6355080" cy="621792"/>
          </a:xfrm>
          <a:prstGeom prst="rect">
            <a:avLst/>
          </a:prstGeom>
          <a:noFill/>
          <a:ln/>
        </p:spPr>
        <p:txBody>
          <a:bodyPr wrap="square" lIns="0" tIns="0" rIns="0" bIns="0" rtlCol="0" anchor="ctr"/>
          <a:lstStyle/>
          <a:p>
            <a:pPr indent="0" marL="0">
              <a:buNone/>
            </a:pPr>
            <a:r>
              <a:rPr lang="en-US" sz="2000" dirty="0">
                <a:solidFill>
                  <a:schemeClr val="tx1"/>
                </a:solidFill>
              </a:rPr>
              <a:t>ATP has four phosphates</a:t>
            </a:r>
            <a:endParaRPr lang="en-US" sz="2000" dirty="0"/>
          </a:p>
        </p:txBody>
      </p:sp>
      <p:sp>
        <p:nvSpPr>
          <p:cNvPr id="11" name="option B"/>
          <p:cNvSpPr/>
          <p:nvPr/>
        </p:nvSpPr>
        <p:spPr>
          <a:xfrm>
            <a:off x="548640" y="3328416"/>
            <a:ext cx="7680960" cy="621792"/>
          </a:xfrm>
          <a:prstGeom prst="roundRect">
            <a:avLst>
              <a:gd name="adj" fmla="val 17647"/>
            </a:avLst>
          </a:prstGeom>
          <a:solidFill>
            <a:schemeClr val="bg2"/>
          </a:solidFill>
          <a:ln w="12700">
            <a:solidFill>
              <a:schemeClr val="bg2"/>
            </a:solidFill>
            <a:prstDash val="solid"/>
          </a:ln>
        </p:spPr>
      </p:sp>
      <p:sp>
        <p:nvSpPr>
          <p:cNvPr id="12" name="letter"/>
          <p:cNvSpPr/>
          <p:nvPr/>
        </p:nvSpPr>
        <p:spPr>
          <a:xfrm>
            <a:off x="713232" y="3447288"/>
            <a:ext cx="384048" cy="384048"/>
          </a:xfrm>
          <a:prstGeom prst="ellipse">
            <a:avLst/>
          </a:prstGeom>
          <a:solidFill>
            <a:schemeClr val="bg1"/>
          </a:solidFill>
          <a:ln w="12700">
            <a:solidFill>
              <a:schemeClr val="bg1"/>
            </a:solidFill>
            <a:prstDash val="solid"/>
          </a:ln>
        </p:spPr>
      </p:sp>
      <p:sp>
        <p:nvSpPr>
          <p:cNvPr id="13" name="Text 10"/>
          <p:cNvSpPr txBox="1"/>
          <p:nvPr/>
        </p:nvSpPr>
        <p:spPr>
          <a:xfrm>
            <a:off x="713232" y="3447288"/>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B</a:t>
            </a:r>
            <a:endParaRPr lang="en-US" sz="1500" dirty="0"/>
          </a:p>
        </p:txBody>
      </p:sp>
      <p:sp>
        <p:nvSpPr>
          <p:cNvPr id="14" name="Text 11"/>
          <p:cNvSpPr txBox="1"/>
          <p:nvPr/>
        </p:nvSpPr>
        <p:spPr>
          <a:xfrm>
            <a:off x="1280160" y="3328416"/>
            <a:ext cx="6355080" cy="621792"/>
          </a:xfrm>
          <a:prstGeom prst="rect">
            <a:avLst/>
          </a:prstGeom>
          <a:noFill/>
          <a:ln/>
        </p:spPr>
        <p:txBody>
          <a:bodyPr wrap="square" lIns="0" tIns="0" rIns="0" bIns="0" rtlCol="0" anchor="ctr"/>
          <a:lstStyle/>
          <a:p>
            <a:pPr indent="0" marL="0">
              <a:buNone/>
            </a:pPr>
            <a:r>
              <a:rPr lang="en-US" sz="2000" dirty="0">
                <a:solidFill>
                  <a:schemeClr val="tx1"/>
                </a:solidFill>
              </a:rPr>
              <a:t>Nothing is wrong</a:t>
            </a:r>
            <a:endParaRPr lang="en-US" sz="2000" dirty="0"/>
          </a:p>
        </p:txBody>
      </p:sp>
      <p:sp>
        <p:nvSpPr>
          <p:cNvPr id="15" name="option C"/>
          <p:cNvSpPr/>
          <p:nvPr/>
        </p:nvSpPr>
        <p:spPr>
          <a:xfrm>
            <a:off x="548640" y="4096512"/>
            <a:ext cx="7680960" cy="621792"/>
          </a:xfrm>
          <a:prstGeom prst="roundRect">
            <a:avLst>
              <a:gd name="adj" fmla="val 17647"/>
            </a:avLst>
          </a:prstGeom>
          <a:solidFill>
            <a:schemeClr val="bg2"/>
          </a:solidFill>
          <a:ln w="12700">
            <a:solidFill>
              <a:schemeClr val="bg2"/>
            </a:solidFill>
            <a:prstDash val="solid"/>
          </a:ln>
        </p:spPr>
      </p:sp>
      <p:sp>
        <p:nvSpPr>
          <p:cNvPr id="16" name="letter"/>
          <p:cNvSpPr/>
          <p:nvPr/>
        </p:nvSpPr>
        <p:spPr>
          <a:xfrm>
            <a:off x="713232" y="4215384"/>
            <a:ext cx="384048" cy="384048"/>
          </a:xfrm>
          <a:prstGeom prst="ellipse">
            <a:avLst/>
          </a:prstGeom>
          <a:solidFill>
            <a:schemeClr val="bg1"/>
          </a:solidFill>
          <a:ln w="12700">
            <a:solidFill>
              <a:schemeClr val="bg1"/>
            </a:solidFill>
            <a:prstDash val="solid"/>
          </a:ln>
        </p:spPr>
      </p:sp>
      <p:sp>
        <p:nvSpPr>
          <p:cNvPr id="17" name="Text 14"/>
          <p:cNvSpPr txBox="1"/>
          <p:nvPr/>
        </p:nvSpPr>
        <p:spPr>
          <a:xfrm>
            <a:off x="713232" y="4215384"/>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C</a:t>
            </a:r>
            <a:endParaRPr lang="en-US" sz="1500" dirty="0"/>
          </a:p>
        </p:txBody>
      </p:sp>
      <p:sp>
        <p:nvSpPr>
          <p:cNvPr id="18" name="Text 15"/>
          <p:cNvSpPr txBox="1"/>
          <p:nvPr/>
        </p:nvSpPr>
        <p:spPr>
          <a:xfrm>
            <a:off x="1280160" y="4096512"/>
            <a:ext cx="6355080" cy="621792"/>
          </a:xfrm>
          <a:prstGeom prst="rect">
            <a:avLst/>
          </a:prstGeom>
          <a:noFill/>
          <a:ln/>
        </p:spPr>
        <p:txBody>
          <a:bodyPr wrap="square" lIns="0" tIns="0" rIns="0" bIns="0" rtlCol="0" anchor="ctr"/>
          <a:lstStyle/>
          <a:p>
            <a:pPr indent="0" marL="0">
              <a:buNone/>
            </a:pPr>
            <a:r>
              <a:rPr lang="en-US" sz="2000" dirty="0">
                <a:solidFill>
                  <a:schemeClr val="tx1"/>
                </a:solidFill>
              </a:rPr>
              <a:t>ATP stores energy, not genetic information</a:t>
            </a:r>
            <a:endParaRPr lang="en-US" sz="2000" dirty="0"/>
          </a:p>
        </p:txBody>
      </p:sp>
      <p:sp>
        <p:nvSpPr>
          <p:cNvPr id="19" name="option D"/>
          <p:cNvSpPr/>
          <p:nvPr/>
        </p:nvSpPr>
        <p:spPr>
          <a:xfrm>
            <a:off x="548640" y="4864608"/>
            <a:ext cx="7680960" cy="621792"/>
          </a:xfrm>
          <a:prstGeom prst="roundRect">
            <a:avLst>
              <a:gd name="adj" fmla="val 17647"/>
            </a:avLst>
          </a:prstGeom>
          <a:solidFill>
            <a:schemeClr val="bg2"/>
          </a:solidFill>
          <a:ln w="12700">
            <a:solidFill>
              <a:schemeClr val="bg2"/>
            </a:solidFill>
            <a:prstDash val="solid"/>
          </a:ln>
        </p:spPr>
      </p:sp>
      <p:sp>
        <p:nvSpPr>
          <p:cNvPr id="20" name="letter"/>
          <p:cNvSpPr/>
          <p:nvPr/>
        </p:nvSpPr>
        <p:spPr>
          <a:xfrm>
            <a:off x="713232" y="4983480"/>
            <a:ext cx="384048" cy="384048"/>
          </a:xfrm>
          <a:prstGeom prst="ellipse">
            <a:avLst/>
          </a:prstGeom>
          <a:solidFill>
            <a:schemeClr val="bg1"/>
          </a:solidFill>
          <a:ln w="12700">
            <a:solidFill>
              <a:schemeClr val="bg1"/>
            </a:solidFill>
            <a:prstDash val="solid"/>
          </a:ln>
        </p:spPr>
      </p:sp>
      <p:sp>
        <p:nvSpPr>
          <p:cNvPr id="21" name="Text 18"/>
          <p:cNvSpPr txBox="1"/>
          <p:nvPr/>
        </p:nvSpPr>
        <p:spPr>
          <a:xfrm>
            <a:off x="713232" y="4983480"/>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D</a:t>
            </a:r>
            <a:endParaRPr lang="en-US" sz="1500" dirty="0"/>
          </a:p>
        </p:txBody>
      </p:sp>
      <p:sp>
        <p:nvSpPr>
          <p:cNvPr id="22" name="Text 19"/>
          <p:cNvSpPr txBox="1"/>
          <p:nvPr/>
        </p:nvSpPr>
        <p:spPr>
          <a:xfrm>
            <a:off x="1280160" y="4864608"/>
            <a:ext cx="6355080" cy="621792"/>
          </a:xfrm>
          <a:prstGeom prst="rect">
            <a:avLst/>
          </a:prstGeom>
          <a:noFill/>
          <a:ln/>
        </p:spPr>
        <p:txBody>
          <a:bodyPr wrap="square" lIns="0" tIns="0" rIns="0" bIns="0" rtlCol="0" anchor="ctr"/>
          <a:lstStyle/>
          <a:p>
            <a:pPr indent="0" marL="0">
              <a:buNone/>
            </a:pPr>
            <a:r>
              <a:rPr lang="en-US" sz="2000" dirty="0">
                <a:solidFill>
                  <a:schemeClr val="tx1"/>
                </a:solidFill>
              </a:rPr>
              <a:t>ATP is only found in muscles</a:t>
            </a:r>
            <a:endParaRPr lang="en-US" sz="2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Jordan's mistake</a:t>
            </a:r>
            <a:endParaRPr lang="en-US" sz="3200" dirty="0"/>
          </a:p>
        </p:txBody>
      </p:sp>
      <p:sp>
        <p:nvSpPr>
          <p:cNvPr id="3" name="tag"/>
          <p:cNvSpPr/>
          <p:nvPr/>
        </p:nvSpPr>
        <p:spPr>
          <a:xfrm>
            <a:off x="548640" y="329184"/>
            <a:ext cx="868680" cy="329184"/>
          </a:xfrm>
          <a:prstGeom prst="roundRect">
            <a:avLst>
              <a:gd name="adj" fmla="val 50000"/>
            </a:avLst>
          </a:prstGeom>
          <a:solidFill>
            <a:schemeClr val="accent5">
              <a:alpha val="18000"/>
            </a:schemeClr>
          </a:solidFill>
          <a:ln w="12700">
            <a:solidFill>
              <a:schemeClr val="accent5"/>
            </a:solidFill>
            <a:prstDash val="solid"/>
          </a:ln>
        </p:spPr>
      </p:sp>
      <p:sp>
        <p:nvSpPr>
          <p:cNvPr id="4" name="Text 2"/>
          <p:cNvSpPr txBox="1"/>
          <p:nvPr/>
        </p:nvSpPr>
        <p:spPr>
          <a:xfrm>
            <a:off x="548640" y="329184"/>
            <a:ext cx="868680" cy="329184"/>
          </a:xfrm>
          <a:prstGeom prst="rect">
            <a:avLst/>
          </a:prstGeom>
          <a:noFill/>
          <a:ln/>
        </p:spPr>
        <p:txBody>
          <a:bodyPr wrap="square" lIns="0" tIns="0" rIns="0" bIns="0" rtlCol="0" anchor="ctr"/>
          <a:lstStyle/>
          <a:p>
            <a:pPr algn="ctr" indent="0" marL="0">
              <a:buNone/>
            </a:pPr>
            <a:r>
              <a:rPr lang="en-US" sz="1300" b="1" dirty="0">
                <a:solidFill>
                  <a:schemeClr val="accent5"/>
                </a:solidFill>
              </a:rPr>
              <a:t>Answer</a:t>
            </a:r>
            <a:endParaRPr lang="en-US" sz="1300" dirty="0"/>
          </a:p>
        </p:txBody>
      </p:sp>
      <p:sp>
        <p:nvSpPr>
          <p:cNvPr id="6" name="Text 3"/>
          <p:cNvSpPr txBox="1"/>
          <p:nvPr/>
        </p:nvSpPr>
        <p:spPr>
          <a:xfrm>
            <a:off x="548640" y="1600200"/>
            <a:ext cx="11064240" cy="868680"/>
          </a:xfrm>
          <a:prstGeom prst="rect">
            <a:avLst/>
          </a:prstGeom>
          <a:noFill/>
          <a:ln/>
        </p:spPr>
        <p:txBody>
          <a:bodyPr wrap="square" lIns="0" tIns="0" rIns="0" bIns="0" rtlCol="0" anchor="t"/>
          <a:lstStyle/>
          <a:p>
            <a:pPr indent="0" marL="0">
              <a:spcAft>
                <a:spcPts val="600"/>
              </a:spcAft>
              <a:buNone/>
            </a:pPr>
            <a:r>
              <a:rPr lang="en-US" sz="2400" dirty="0">
                <a:solidFill>
                  <a:schemeClr val="tx1"/>
                </a:solidFill>
              </a:rPr>
              <a:t>Jordan wrote: "ATP stores the cell's genetic information."  What's wrong?</a:t>
            </a:r>
            <a:endParaRPr lang="en-US" sz="2400" dirty="0"/>
          </a:p>
        </p:txBody>
      </p:sp>
      <p:sp>
        <p:nvSpPr>
          <p:cNvPr id="7" name="option A"/>
          <p:cNvSpPr/>
          <p:nvPr/>
        </p:nvSpPr>
        <p:spPr>
          <a:xfrm>
            <a:off x="548640" y="2560320"/>
            <a:ext cx="7680960" cy="621792"/>
          </a:xfrm>
          <a:prstGeom prst="roundRect">
            <a:avLst>
              <a:gd name="adj" fmla="val 17647"/>
            </a:avLst>
          </a:prstGeom>
          <a:solidFill>
            <a:schemeClr val="bg2"/>
          </a:solidFill>
          <a:ln w="12700">
            <a:solidFill>
              <a:schemeClr val="bg2"/>
            </a:solidFill>
            <a:prstDash val="solid"/>
          </a:ln>
        </p:spPr>
      </p:sp>
      <p:sp>
        <p:nvSpPr>
          <p:cNvPr id="8" name="letter"/>
          <p:cNvSpPr/>
          <p:nvPr/>
        </p:nvSpPr>
        <p:spPr>
          <a:xfrm>
            <a:off x="713232" y="2679192"/>
            <a:ext cx="384048" cy="384048"/>
          </a:xfrm>
          <a:prstGeom prst="ellipse">
            <a:avLst/>
          </a:prstGeom>
          <a:solidFill>
            <a:schemeClr val="bg1"/>
          </a:solidFill>
          <a:ln w="12700">
            <a:solidFill>
              <a:schemeClr val="bg1"/>
            </a:solidFill>
            <a:prstDash val="solid"/>
          </a:ln>
        </p:spPr>
      </p:sp>
      <p:sp>
        <p:nvSpPr>
          <p:cNvPr id="9" name="Text 6"/>
          <p:cNvSpPr txBox="1"/>
          <p:nvPr/>
        </p:nvSpPr>
        <p:spPr>
          <a:xfrm>
            <a:off x="713232" y="2679192"/>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A</a:t>
            </a:r>
            <a:endParaRPr lang="en-US" sz="1500" dirty="0"/>
          </a:p>
        </p:txBody>
      </p:sp>
      <p:sp>
        <p:nvSpPr>
          <p:cNvPr id="10" name="Text 7"/>
          <p:cNvSpPr txBox="1"/>
          <p:nvPr/>
        </p:nvSpPr>
        <p:spPr>
          <a:xfrm>
            <a:off x="1280160" y="2560320"/>
            <a:ext cx="6355080" cy="621792"/>
          </a:xfrm>
          <a:prstGeom prst="rect">
            <a:avLst/>
          </a:prstGeom>
          <a:noFill/>
          <a:ln/>
        </p:spPr>
        <p:txBody>
          <a:bodyPr wrap="square" lIns="0" tIns="0" rIns="0" bIns="0" rtlCol="0" anchor="ctr"/>
          <a:lstStyle/>
          <a:p>
            <a:pPr indent="0" marL="0">
              <a:buNone/>
            </a:pPr>
            <a:r>
              <a:rPr lang="en-US" sz="2000" dirty="0">
                <a:solidFill>
                  <a:schemeClr val="tx2"/>
                </a:solidFill>
              </a:rPr>
              <a:t>ATP has four phosphates</a:t>
            </a:r>
            <a:endParaRPr lang="en-US" sz="2000" dirty="0"/>
          </a:p>
        </p:txBody>
      </p:sp>
      <p:sp>
        <p:nvSpPr>
          <p:cNvPr id="11" name="option B"/>
          <p:cNvSpPr/>
          <p:nvPr/>
        </p:nvSpPr>
        <p:spPr>
          <a:xfrm>
            <a:off x="548640" y="3328416"/>
            <a:ext cx="7680960" cy="621792"/>
          </a:xfrm>
          <a:prstGeom prst="roundRect">
            <a:avLst>
              <a:gd name="adj" fmla="val 17647"/>
            </a:avLst>
          </a:prstGeom>
          <a:solidFill>
            <a:schemeClr val="bg2"/>
          </a:solidFill>
          <a:ln w="12700">
            <a:solidFill>
              <a:schemeClr val="bg2"/>
            </a:solidFill>
            <a:prstDash val="solid"/>
          </a:ln>
        </p:spPr>
      </p:sp>
      <p:sp>
        <p:nvSpPr>
          <p:cNvPr id="12" name="letter"/>
          <p:cNvSpPr/>
          <p:nvPr/>
        </p:nvSpPr>
        <p:spPr>
          <a:xfrm>
            <a:off x="713232" y="3447288"/>
            <a:ext cx="384048" cy="384048"/>
          </a:xfrm>
          <a:prstGeom prst="ellipse">
            <a:avLst/>
          </a:prstGeom>
          <a:solidFill>
            <a:schemeClr val="bg1"/>
          </a:solidFill>
          <a:ln w="12700">
            <a:solidFill>
              <a:schemeClr val="bg1"/>
            </a:solidFill>
            <a:prstDash val="solid"/>
          </a:ln>
        </p:spPr>
      </p:sp>
      <p:sp>
        <p:nvSpPr>
          <p:cNvPr id="13" name="Text 10"/>
          <p:cNvSpPr txBox="1"/>
          <p:nvPr/>
        </p:nvSpPr>
        <p:spPr>
          <a:xfrm>
            <a:off x="713232" y="3447288"/>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B</a:t>
            </a:r>
            <a:endParaRPr lang="en-US" sz="1500" dirty="0"/>
          </a:p>
        </p:txBody>
      </p:sp>
      <p:sp>
        <p:nvSpPr>
          <p:cNvPr id="14" name="Text 11"/>
          <p:cNvSpPr txBox="1"/>
          <p:nvPr/>
        </p:nvSpPr>
        <p:spPr>
          <a:xfrm>
            <a:off x="1280160" y="3328416"/>
            <a:ext cx="6355080" cy="621792"/>
          </a:xfrm>
          <a:prstGeom prst="rect">
            <a:avLst/>
          </a:prstGeom>
          <a:noFill/>
          <a:ln/>
        </p:spPr>
        <p:txBody>
          <a:bodyPr wrap="square" lIns="0" tIns="0" rIns="0" bIns="0" rtlCol="0" anchor="ctr"/>
          <a:lstStyle/>
          <a:p>
            <a:pPr indent="0" marL="0">
              <a:buNone/>
            </a:pPr>
            <a:r>
              <a:rPr lang="en-US" sz="2000" dirty="0">
                <a:solidFill>
                  <a:schemeClr val="tx2"/>
                </a:solidFill>
              </a:rPr>
              <a:t>Nothing is wrong</a:t>
            </a:r>
            <a:endParaRPr lang="en-US" sz="2000" dirty="0"/>
          </a:p>
        </p:txBody>
      </p:sp>
      <p:sp>
        <p:nvSpPr>
          <p:cNvPr id="15" name="option C"/>
          <p:cNvSpPr/>
          <p:nvPr/>
        </p:nvSpPr>
        <p:spPr>
          <a:xfrm>
            <a:off x="548640" y="4096512"/>
            <a:ext cx="7680960" cy="621792"/>
          </a:xfrm>
          <a:prstGeom prst="roundRect">
            <a:avLst>
              <a:gd name="adj" fmla="val 17647"/>
            </a:avLst>
          </a:prstGeom>
          <a:solidFill>
            <a:schemeClr val="accent5">
              <a:alpha val="20000"/>
            </a:schemeClr>
          </a:solidFill>
          <a:ln w="25400">
            <a:solidFill>
              <a:schemeClr val="accent5"/>
            </a:solidFill>
            <a:prstDash val="solid"/>
          </a:ln>
        </p:spPr>
      </p:sp>
      <p:sp>
        <p:nvSpPr>
          <p:cNvPr id="16" name="letter"/>
          <p:cNvSpPr/>
          <p:nvPr/>
        </p:nvSpPr>
        <p:spPr>
          <a:xfrm>
            <a:off x="713232" y="4215384"/>
            <a:ext cx="384048" cy="384048"/>
          </a:xfrm>
          <a:prstGeom prst="ellipse">
            <a:avLst/>
          </a:prstGeom>
          <a:solidFill>
            <a:schemeClr val="accent5"/>
          </a:solidFill>
          <a:ln w="12700">
            <a:solidFill>
              <a:schemeClr val="accent5"/>
            </a:solidFill>
            <a:prstDash val="solid"/>
          </a:ln>
        </p:spPr>
      </p:sp>
      <p:sp>
        <p:nvSpPr>
          <p:cNvPr id="17" name="Text 14"/>
          <p:cNvSpPr txBox="1"/>
          <p:nvPr/>
        </p:nvSpPr>
        <p:spPr>
          <a:xfrm>
            <a:off x="713232" y="4215384"/>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C</a:t>
            </a:r>
            <a:endParaRPr lang="en-US" sz="1500" dirty="0"/>
          </a:p>
        </p:txBody>
      </p:sp>
      <p:sp>
        <p:nvSpPr>
          <p:cNvPr id="18" name="Text 15"/>
          <p:cNvSpPr txBox="1"/>
          <p:nvPr/>
        </p:nvSpPr>
        <p:spPr>
          <a:xfrm>
            <a:off x="1280160" y="4096512"/>
            <a:ext cx="6355080" cy="621792"/>
          </a:xfrm>
          <a:prstGeom prst="rect">
            <a:avLst/>
          </a:prstGeom>
          <a:noFill/>
          <a:ln/>
        </p:spPr>
        <p:txBody>
          <a:bodyPr wrap="square" lIns="0" tIns="0" rIns="0" bIns="0" rtlCol="0" anchor="ctr"/>
          <a:lstStyle/>
          <a:p>
            <a:pPr indent="0" marL="0">
              <a:buNone/>
            </a:pPr>
            <a:r>
              <a:rPr lang="en-US" sz="2000" dirty="0">
                <a:solidFill>
                  <a:schemeClr val="tx1"/>
                </a:solidFill>
              </a:rPr>
              <a:t>ATP stores energy, not genetic information</a:t>
            </a:r>
            <a:endParaRPr lang="en-US" sz="2000" dirty="0"/>
          </a:p>
        </p:txBody>
      </p:sp>
      <p:sp>
        <p:nvSpPr>
          <p:cNvPr id="19" name="Text 16"/>
          <p:cNvSpPr txBox="1"/>
          <p:nvPr/>
        </p:nvSpPr>
        <p:spPr>
          <a:xfrm>
            <a:off x="7726680" y="4096512"/>
            <a:ext cx="411480" cy="621792"/>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sp>
        <p:nvSpPr>
          <p:cNvPr id="20" name="option D"/>
          <p:cNvSpPr/>
          <p:nvPr/>
        </p:nvSpPr>
        <p:spPr>
          <a:xfrm>
            <a:off x="548640" y="4864608"/>
            <a:ext cx="7680960" cy="621792"/>
          </a:xfrm>
          <a:prstGeom prst="roundRect">
            <a:avLst>
              <a:gd name="adj" fmla="val 17647"/>
            </a:avLst>
          </a:prstGeom>
          <a:solidFill>
            <a:schemeClr val="bg2"/>
          </a:solidFill>
          <a:ln w="12700">
            <a:solidFill>
              <a:schemeClr val="bg2"/>
            </a:solidFill>
            <a:prstDash val="solid"/>
          </a:ln>
        </p:spPr>
      </p:sp>
      <p:sp>
        <p:nvSpPr>
          <p:cNvPr id="21" name="letter"/>
          <p:cNvSpPr/>
          <p:nvPr/>
        </p:nvSpPr>
        <p:spPr>
          <a:xfrm>
            <a:off x="713232" y="4983480"/>
            <a:ext cx="384048" cy="384048"/>
          </a:xfrm>
          <a:prstGeom prst="ellipse">
            <a:avLst/>
          </a:prstGeom>
          <a:solidFill>
            <a:schemeClr val="bg1"/>
          </a:solidFill>
          <a:ln w="12700">
            <a:solidFill>
              <a:schemeClr val="bg1"/>
            </a:solidFill>
            <a:prstDash val="solid"/>
          </a:ln>
        </p:spPr>
      </p:sp>
      <p:sp>
        <p:nvSpPr>
          <p:cNvPr id="22" name="Text 19"/>
          <p:cNvSpPr txBox="1"/>
          <p:nvPr/>
        </p:nvSpPr>
        <p:spPr>
          <a:xfrm>
            <a:off x="713232" y="4983480"/>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D</a:t>
            </a:r>
            <a:endParaRPr lang="en-US" sz="1500" dirty="0"/>
          </a:p>
        </p:txBody>
      </p:sp>
      <p:sp>
        <p:nvSpPr>
          <p:cNvPr id="23" name="Text 20"/>
          <p:cNvSpPr txBox="1"/>
          <p:nvPr/>
        </p:nvSpPr>
        <p:spPr>
          <a:xfrm>
            <a:off x="1280160" y="4864608"/>
            <a:ext cx="6355080" cy="621792"/>
          </a:xfrm>
          <a:prstGeom prst="rect">
            <a:avLst/>
          </a:prstGeom>
          <a:noFill/>
          <a:ln/>
        </p:spPr>
        <p:txBody>
          <a:bodyPr wrap="square" lIns="0" tIns="0" rIns="0" bIns="0" rtlCol="0" anchor="ctr"/>
          <a:lstStyle/>
          <a:p>
            <a:pPr indent="0" marL="0">
              <a:buNone/>
            </a:pPr>
            <a:r>
              <a:rPr lang="en-US" sz="2000" dirty="0">
                <a:solidFill>
                  <a:schemeClr val="tx2"/>
                </a:solidFill>
              </a:rPr>
              <a:t>ATP is only found in muscles</a:t>
            </a:r>
            <a:endParaRPr lang="en-US" sz="2000" dirty="0"/>
          </a:p>
        </p:txBody>
      </p:sp>
      <p:sp>
        <p:nvSpPr>
          <p:cNvPr id="24" name="panel"/>
          <p:cNvSpPr/>
          <p:nvPr/>
        </p:nvSpPr>
        <p:spPr>
          <a:xfrm>
            <a:off x="8503920" y="2560320"/>
            <a:ext cx="3136392" cy="2926080"/>
          </a:xfrm>
          <a:prstGeom prst="roundRect">
            <a:avLst>
              <a:gd name="adj" fmla="val 3750"/>
            </a:avLst>
          </a:prstGeom>
          <a:solidFill>
            <a:schemeClr val="accent5">
              <a:alpha val="12000"/>
            </a:schemeClr>
          </a:solidFill>
          <a:ln w="12700">
            <a:solidFill>
              <a:schemeClr val="accent5"/>
            </a:solidFill>
            <a:prstDash val="solid"/>
          </a:ln>
        </p:spPr>
      </p:sp>
      <p:sp>
        <p:nvSpPr>
          <p:cNvPr id="25" name="Text 22"/>
          <p:cNvSpPr txBox="1"/>
          <p:nvPr/>
        </p:nvSpPr>
        <p:spPr>
          <a:xfrm>
            <a:off x="8686800" y="2697480"/>
            <a:ext cx="2788920" cy="265176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Why</a:t>
            </a:r>
            <a:endParaRPr lang="en-US" sz="1700" dirty="0"/>
          </a:p>
          <a:p>
            <a:pPr indent="0" marL="0">
              <a:spcAft>
                <a:spcPts val="600"/>
              </a:spcAft>
              <a:buNone/>
            </a:pPr>
            <a:r>
              <a:rPr lang="en-US" sz="1700" dirty="0">
                <a:solidFill>
                  <a:schemeClr val="tx1"/>
                </a:solidFill>
              </a:rPr>
              <a:t>DNA stores genetic information; ATP carries energy.</a:t>
            </a:r>
            <a:endParaRPr lang="en-US" sz="17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Now fix it</a:t>
            </a:r>
            <a:endParaRPr lang="en-US" sz="3200" dirty="0"/>
          </a:p>
        </p:txBody>
      </p:sp>
      <p:sp>
        <p:nvSpPr>
          <p:cNvPr id="3" name="tag"/>
          <p:cNvSpPr/>
          <p:nvPr/>
        </p:nvSpPr>
        <p:spPr>
          <a:xfrm>
            <a:off x="548640" y="329184"/>
            <a:ext cx="1348740" cy="329184"/>
          </a:xfrm>
          <a:prstGeom prst="roundRect">
            <a:avLst>
              <a:gd name="adj" fmla="val 50000"/>
            </a:avLst>
          </a:prstGeom>
          <a:solidFill>
            <a:schemeClr val="accent6">
              <a:alpha val="18000"/>
            </a:schemeClr>
          </a:solidFill>
          <a:ln w="12700">
            <a:solidFill>
              <a:schemeClr val="accent6"/>
            </a:solidFill>
            <a:prstDash val="solid"/>
          </a:ln>
        </p:spPr>
      </p:sp>
      <p:sp>
        <p:nvSpPr>
          <p:cNvPr id="4" name="Text 2"/>
          <p:cNvSpPr txBox="1"/>
          <p:nvPr/>
        </p:nvSpPr>
        <p:spPr>
          <a:xfrm>
            <a:off x="548640" y="329184"/>
            <a:ext cx="1348740" cy="329184"/>
          </a:xfrm>
          <a:prstGeom prst="rect">
            <a:avLst/>
          </a:prstGeom>
          <a:noFill/>
          <a:ln/>
        </p:spPr>
        <p:txBody>
          <a:bodyPr wrap="square" lIns="0" tIns="0" rIns="0" bIns="0" rtlCol="0" anchor="ctr"/>
          <a:lstStyle/>
          <a:p>
            <a:pPr algn="ctr" indent="0" marL="0">
              <a:buNone/>
            </a:pPr>
            <a:r>
              <a:rPr lang="en-US" sz="1300" b="1" dirty="0">
                <a:solidFill>
                  <a:schemeClr val="accent6"/>
                </a:solidFill>
              </a:rPr>
              <a:t>Quick check</a:t>
            </a:r>
            <a:endParaRPr lang="en-US" sz="1300" dirty="0"/>
          </a:p>
        </p:txBody>
      </p:sp>
      <p:sp>
        <p:nvSpPr>
          <p:cNvPr id="6" name="Text 3"/>
          <p:cNvSpPr txBox="1"/>
          <p:nvPr/>
        </p:nvSpPr>
        <p:spPr>
          <a:xfrm>
            <a:off x="548640" y="1600200"/>
            <a:ext cx="11064240" cy="868680"/>
          </a:xfrm>
          <a:prstGeom prst="rect">
            <a:avLst/>
          </a:prstGeom>
          <a:noFill/>
          <a:ln/>
        </p:spPr>
        <p:txBody>
          <a:bodyPr wrap="square" lIns="0" tIns="0" rIns="0" bIns="0" rtlCol="0" anchor="t"/>
          <a:lstStyle/>
          <a:p>
            <a:pPr indent="0" marL="0">
              <a:spcAft>
                <a:spcPts val="600"/>
              </a:spcAft>
              <a:buNone/>
            </a:pPr>
            <a:r>
              <a:rPr lang="en-US" sz="2400" dirty="0">
                <a:solidFill>
                  <a:schemeClr val="tx1"/>
                </a:solidFill>
              </a:rPr>
              <a:t>Where is the energy in ATP stored?</a:t>
            </a:r>
            <a:endParaRPr lang="en-US" sz="2400" dirty="0"/>
          </a:p>
        </p:txBody>
      </p:sp>
      <p:sp>
        <p:nvSpPr>
          <p:cNvPr id="7" name="option A"/>
          <p:cNvSpPr/>
          <p:nvPr/>
        </p:nvSpPr>
        <p:spPr>
          <a:xfrm>
            <a:off x="548640" y="2560320"/>
            <a:ext cx="7680960" cy="621792"/>
          </a:xfrm>
          <a:prstGeom prst="roundRect">
            <a:avLst>
              <a:gd name="adj" fmla="val 17647"/>
            </a:avLst>
          </a:prstGeom>
          <a:solidFill>
            <a:schemeClr val="bg2"/>
          </a:solidFill>
          <a:ln w="12700">
            <a:solidFill>
              <a:schemeClr val="bg2"/>
            </a:solidFill>
            <a:prstDash val="solid"/>
          </a:ln>
        </p:spPr>
      </p:sp>
      <p:sp>
        <p:nvSpPr>
          <p:cNvPr id="8" name="letter"/>
          <p:cNvSpPr/>
          <p:nvPr/>
        </p:nvSpPr>
        <p:spPr>
          <a:xfrm>
            <a:off x="713232" y="2679192"/>
            <a:ext cx="384048" cy="384048"/>
          </a:xfrm>
          <a:prstGeom prst="ellipse">
            <a:avLst/>
          </a:prstGeom>
          <a:solidFill>
            <a:schemeClr val="bg1"/>
          </a:solidFill>
          <a:ln w="12700">
            <a:solidFill>
              <a:schemeClr val="bg1"/>
            </a:solidFill>
            <a:prstDash val="solid"/>
          </a:ln>
        </p:spPr>
      </p:sp>
      <p:sp>
        <p:nvSpPr>
          <p:cNvPr id="9" name="Text 6"/>
          <p:cNvSpPr txBox="1"/>
          <p:nvPr/>
        </p:nvSpPr>
        <p:spPr>
          <a:xfrm>
            <a:off x="713232" y="2679192"/>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A</a:t>
            </a:r>
            <a:endParaRPr lang="en-US" sz="1500" dirty="0"/>
          </a:p>
        </p:txBody>
      </p:sp>
      <p:sp>
        <p:nvSpPr>
          <p:cNvPr id="10" name="Text 7"/>
          <p:cNvSpPr txBox="1"/>
          <p:nvPr/>
        </p:nvSpPr>
        <p:spPr>
          <a:xfrm>
            <a:off x="1280160" y="2560320"/>
            <a:ext cx="6355080" cy="621792"/>
          </a:xfrm>
          <a:prstGeom prst="rect">
            <a:avLst/>
          </a:prstGeom>
          <a:noFill/>
          <a:ln/>
        </p:spPr>
        <p:txBody>
          <a:bodyPr wrap="square" lIns="0" tIns="0" rIns="0" bIns="0" rtlCol="0" anchor="ctr"/>
          <a:lstStyle/>
          <a:p>
            <a:pPr indent="0" marL="0">
              <a:buNone/>
            </a:pPr>
            <a:r>
              <a:rPr lang="en-US" sz="2000" dirty="0">
                <a:solidFill>
                  <a:schemeClr val="tx1"/>
                </a:solidFill>
              </a:rPr>
              <a:t>In the nucleus</a:t>
            </a:r>
            <a:endParaRPr lang="en-US" sz="2000" dirty="0"/>
          </a:p>
        </p:txBody>
      </p:sp>
      <p:sp>
        <p:nvSpPr>
          <p:cNvPr id="11" name="option B"/>
          <p:cNvSpPr/>
          <p:nvPr/>
        </p:nvSpPr>
        <p:spPr>
          <a:xfrm>
            <a:off x="548640" y="3328416"/>
            <a:ext cx="7680960" cy="621792"/>
          </a:xfrm>
          <a:prstGeom prst="roundRect">
            <a:avLst>
              <a:gd name="adj" fmla="val 17647"/>
            </a:avLst>
          </a:prstGeom>
          <a:solidFill>
            <a:schemeClr val="bg2"/>
          </a:solidFill>
          <a:ln w="12700">
            <a:solidFill>
              <a:schemeClr val="bg2"/>
            </a:solidFill>
            <a:prstDash val="solid"/>
          </a:ln>
        </p:spPr>
      </p:sp>
      <p:sp>
        <p:nvSpPr>
          <p:cNvPr id="12" name="letter"/>
          <p:cNvSpPr/>
          <p:nvPr/>
        </p:nvSpPr>
        <p:spPr>
          <a:xfrm>
            <a:off x="713232" y="3447288"/>
            <a:ext cx="384048" cy="384048"/>
          </a:xfrm>
          <a:prstGeom prst="ellipse">
            <a:avLst/>
          </a:prstGeom>
          <a:solidFill>
            <a:schemeClr val="bg1"/>
          </a:solidFill>
          <a:ln w="12700">
            <a:solidFill>
              <a:schemeClr val="bg1"/>
            </a:solidFill>
            <a:prstDash val="solid"/>
          </a:ln>
        </p:spPr>
      </p:sp>
      <p:sp>
        <p:nvSpPr>
          <p:cNvPr id="13" name="Text 10"/>
          <p:cNvSpPr txBox="1"/>
          <p:nvPr/>
        </p:nvSpPr>
        <p:spPr>
          <a:xfrm>
            <a:off x="713232" y="3447288"/>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B</a:t>
            </a:r>
            <a:endParaRPr lang="en-US" sz="1500" dirty="0"/>
          </a:p>
        </p:txBody>
      </p:sp>
      <p:sp>
        <p:nvSpPr>
          <p:cNvPr id="14" name="Text 11"/>
          <p:cNvSpPr txBox="1"/>
          <p:nvPr/>
        </p:nvSpPr>
        <p:spPr>
          <a:xfrm>
            <a:off x="1280160" y="3328416"/>
            <a:ext cx="6355080" cy="621792"/>
          </a:xfrm>
          <a:prstGeom prst="rect">
            <a:avLst/>
          </a:prstGeom>
          <a:noFill/>
          <a:ln/>
        </p:spPr>
        <p:txBody>
          <a:bodyPr wrap="square" lIns="0" tIns="0" rIns="0" bIns="0" rtlCol="0" anchor="ctr"/>
          <a:lstStyle/>
          <a:p>
            <a:pPr indent="0" marL="0">
              <a:buNone/>
            </a:pPr>
            <a:r>
              <a:rPr lang="en-US" sz="2000" dirty="0">
                <a:solidFill>
                  <a:schemeClr val="tx1"/>
                </a:solidFill>
              </a:rPr>
              <a:t>In the bonds between its phosphate groups</a:t>
            </a:r>
            <a:endParaRPr lang="en-US" sz="2000" dirty="0"/>
          </a:p>
        </p:txBody>
      </p:sp>
      <p:sp>
        <p:nvSpPr>
          <p:cNvPr id="15" name="option C"/>
          <p:cNvSpPr/>
          <p:nvPr/>
        </p:nvSpPr>
        <p:spPr>
          <a:xfrm>
            <a:off x="548640" y="4096512"/>
            <a:ext cx="7680960" cy="621792"/>
          </a:xfrm>
          <a:prstGeom prst="roundRect">
            <a:avLst>
              <a:gd name="adj" fmla="val 17647"/>
            </a:avLst>
          </a:prstGeom>
          <a:solidFill>
            <a:schemeClr val="bg2"/>
          </a:solidFill>
          <a:ln w="12700">
            <a:solidFill>
              <a:schemeClr val="bg2"/>
            </a:solidFill>
            <a:prstDash val="solid"/>
          </a:ln>
        </p:spPr>
      </p:sp>
      <p:sp>
        <p:nvSpPr>
          <p:cNvPr id="16" name="letter"/>
          <p:cNvSpPr/>
          <p:nvPr/>
        </p:nvSpPr>
        <p:spPr>
          <a:xfrm>
            <a:off x="713232" y="4215384"/>
            <a:ext cx="384048" cy="384048"/>
          </a:xfrm>
          <a:prstGeom prst="ellipse">
            <a:avLst/>
          </a:prstGeom>
          <a:solidFill>
            <a:schemeClr val="bg1"/>
          </a:solidFill>
          <a:ln w="12700">
            <a:solidFill>
              <a:schemeClr val="bg1"/>
            </a:solidFill>
            <a:prstDash val="solid"/>
          </a:ln>
        </p:spPr>
      </p:sp>
      <p:sp>
        <p:nvSpPr>
          <p:cNvPr id="17" name="Text 14"/>
          <p:cNvSpPr txBox="1"/>
          <p:nvPr/>
        </p:nvSpPr>
        <p:spPr>
          <a:xfrm>
            <a:off x="713232" y="4215384"/>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C</a:t>
            </a:r>
            <a:endParaRPr lang="en-US" sz="1500" dirty="0"/>
          </a:p>
        </p:txBody>
      </p:sp>
      <p:sp>
        <p:nvSpPr>
          <p:cNvPr id="18" name="Text 15"/>
          <p:cNvSpPr txBox="1"/>
          <p:nvPr/>
        </p:nvSpPr>
        <p:spPr>
          <a:xfrm>
            <a:off x="1280160" y="4096512"/>
            <a:ext cx="6355080" cy="621792"/>
          </a:xfrm>
          <a:prstGeom prst="rect">
            <a:avLst/>
          </a:prstGeom>
          <a:noFill/>
          <a:ln/>
        </p:spPr>
        <p:txBody>
          <a:bodyPr wrap="square" lIns="0" tIns="0" rIns="0" bIns="0" rtlCol="0" anchor="ctr"/>
          <a:lstStyle/>
          <a:p>
            <a:pPr indent="0" marL="0">
              <a:buNone/>
            </a:pPr>
            <a:r>
              <a:rPr lang="en-US" sz="2000" dirty="0">
                <a:solidFill>
                  <a:schemeClr val="tx1"/>
                </a:solidFill>
              </a:rPr>
              <a:t>In its DNA</a:t>
            </a:r>
            <a:endParaRPr lang="en-US" sz="2000" dirty="0"/>
          </a:p>
        </p:txBody>
      </p:sp>
      <p:sp>
        <p:nvSpPr>
          <p:cNvPr id="19" name="option D"/>
          <p:cNvSpPr/>
          <p:nvPr/>
        </p:nvSpPr>
        <p:spPr>
          <a:xfrm>
            <a:off x="548640" y="4864608"/>
            <a:ext cx="7680960" cy="621792"/>
          </a:xfrm>
          <a:prstGeom prst="roundRect">
            <a:avLst>
              <a:gd name="adj" fmla="val 17647"/>
            </a:avLst>
          </a:prstGeom>
          <a:solidFill>
            <a:schemeClr val="bg2"/>
          </a:solidFill>
          <a:ln w="12700">
            <a:solidFill>
              <a:schemeClr val="bg2"/>
            </a:solidFill>
            <a:prstDash val="solid"/>
          </a:ln>
        </p:spPr>
      </p:sp>
      <p:sp>
        <p:nvSpPr>
          <p:cNvPr id="20" name="letter"/>
          <p:cNvSpPr/>
          <p:nvPr/>
        </p:nvSpPr>
        <p:spPr>
          <a:xfrm>
            <a:off x="713232" y="4983480"/>
            <a:ext cx="384048" cy="384048"/>
          </a:xfrm>
          <a:prstGeom prst="ellipse">
            <a:avLst/>
          </a:prstGeom>
          <a:solidFill>
            <a:schemeClr val="bg1"/>
          </a:solidFill>
          <a:ln w="12700">
            <a:solidFill>
              <a:schemeClr val="bg1"/>
            </a:solidFill>
            <a:prstDash val="solid"/>
          </a:ln>
        </p:spPr>
      </p:sp>
      <p:sp>
        <p:nvSpPr>
          <p:cNvPr id="21" name="Text 18"/>
          <p:cNvSpPr txBox="1"/>
          <p:nvPr/>
        </p:nvSpPr>
        <p:spPr>
          <a:xfrm>
            <a:off x="713232" y="4983480"/>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D</a:t>
            </a:r>
            <a:endParaRPr lang="en-US" sz="1500" dirty="0"/>
          </a:p>
        </p:txBody>
      </p:sp>
      <p:sp>
        <p:nvSpPr>
          <p:cNvPr id="22" name="Text 19"/>
          <p:cNvSpPr txBox="1"/>
          <p:nvPr/>
        </p:nvSpPr>
        <p:spPr>
          <a:xfrm>
            <a:off x="1280160" y="4864608"/>
            <a:ext cx="6355080" cy="621792"/>
          </a:xfrm>
          <a:prstGeom prst="rect">
            <a:avLst/>
          </a:prstGeom>
          <a:noFill/>
          <a:ln/>
        </p:spPr>
        <p:txBody>
          <a:bodyPr wrap="square" lIns="0" tIns="0" rIns="0" bIns="0" rtlCol="0" anchor="ctr"/>
          <a:lstStyle/>
          <a:p>
            <a:pPr indent="0" marL="0">
              <a:buNone/>
            </a:pPr>
            <a:r>
              <a:rPr lang="en-US" sz="2000" dirty="0">
                <a:solidFill>
                  <a:schemeClr val="tx1"/>
                </a:solidFill>
              </a:rPr>
              <a:t>In the water it carries</a:t>
            </a:r>
            <a:endParaRPr lang="en-US" sz="2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Now fix it</a:t>
            </a:r>
            <a:endParaRPr lang="en-US" sz="3200" dirty="0"/>
          </a:p>
        </p:txBody>
      </p:sp>
      <p:sp>
        <p:nvSpPr>
          <p:cNvPr id="3" name="tag"/>
          <p:cNvSpPr/>
          <p:nvPr/>
        </p:nvSpPr>
        <p:spPr>
          <a:xfrm>
            <a:off x="548640" y="329184"/>
            <a:ext cx="868680" cy="329184"/>
          </a:xfrm>
          <a:prstGeom prst="roundRect">
            <a:avLst>
              <a:gd name="adj" fmla="val 50000"/>
            </a:avLst>
          </a:prstGeom>
          <a:solidFill>
            <a:schemeClr val="accent5">
              <a:alpha val="18000"/>
            </a:schemeClr>
          </a:solidFill>
          <a:ln w="12700">
            <a:solidFill>
              <a:schemeClr val="accent5"/>
            </a:solidFill>
            <a:prstDash val="solid"/>
          </a:ln>
        </p:spPr>
      </p:sp>
      <p:sp>
        <p:nvSpPr>
          <p:cNvPr id="4" name="Text 2"/>
          <p:cNvSpPr txBox="1"/>
          <p:nvPr/>
        </p:nvSpPr>
        <p:spPr>
          <a:xfrm>
            <a:off x="548640" y="329184"/>
            <a:ext cx="868680" cy="329184"/>
          </a:xfrm>
          <a:prstGeom prst="rect">
            <a:avLst/>
          </a:prstGeom>
          <a:noFill/>
          <a:ln/>
        </p:spPr>
        <p:txBody>
          <a:bodyPr wrap="square" lIns="0" tIns="0" rIns="0" bIns="0" rtlCol="0" anchor="ctr"/>
          <a:lstStyle/>
          <a:p>
            <a:pPr algn="ctr" indent="0" marL="0">
              <a:buNone/>
            </a:pPr>
            <a:r>
              <a:rPr lang="en-US" sz="1300" b="1" dirty="0">
                <a:solidFill>
                  <a:schemeClr val="accent5"/>
                </a:solidFill>
              </a:rPr>
              <a:t>Answer</a:t>
            </a:r>
            <a:endParaRPr lang="en-US" sz="1300" dirty="0"/>
          </a:p>
        </p:txBody>
      </p:sp>
      <p:sp>
        <p:nvSpPr>
          <p:cNvPr id="6" name="Text 3"/>
          <p:cNvSpPr txBox="1"/>
          <p:nvPr/>
        </p:nvSpPr>
        <p:spPr>
          <a:xfrm>
            <a:off x="548640" y="1600200"/>
            <a:ext cx="11064240" cy="868680"/>
          </a:xfrm>
          <a:prstGeom prst="rect">
            <a:avLst/>
          </a:prstGeom>
          <a:noFill/>
          <a:ln/>
        </p:spPr>
        <p:txBody>
          <a:bodyPr wrap="square" lIns="0" tIns="0" rIns="0" bIns="0" rtlCol="0" anchor="t"/>
          <a:lstStyle/>
          <a:p>
            <a:pPr indent="0" marL="0">
              <a:spcAft>
                <a:spcPts val="600"/>
              </a:spcAft>
              <a:buNone/>
            </a:pPr>
            <a:r>
              <a:rPr lang="en-US" sz="2400" dirty="0">
                <a:solidFill>
                  <a:schemeClr val="tx1"/>
                </a:solidFill>
              </a:rPr>
              <a:t>Where is the energy in ATP stored?</a:t>
            </a:r>
            <a:endParaRPr lang="en-US" sz="2400" dirty="0"/>
          </a:p>
        </p:txBody>
      </p:sp>
      <p:sp>
        <p:nvSpPr>
          <p:cNvPr id="7" name="option A"/>
          <p:cNvSpPr/>
          <p:nvPr/>
        </p:nvSpPr>
        <p:spPr>
          <a:xfrm>
            <a:off x="548640" y="2560320"/>
            <a:ext cx="7680960" cy="621792"/>
          </a:xfrm>
          <a:prstGeom prst="roundRect">
            <a:avLst>
              <a:gd name="adj" fmla="val 17647"/>
            </a:avLst>
          </a:prstGeom>
          <a:solidFill>
            <a:schemeClr val="bg2"/>
          </a:solidFill>
          <a:ln w="12700">
            <a:solidFill>
              <a:schemeClr val="bg2"/>
            </a:solidFill>
            <a:prstDash val="solid"/>
          </a:ln>
        </p:spPr>
      </p:sp>
      <p:sp>
        <p:nvSpPr>
          <p:cNvPr id="8" name="letter"/>
          <p:cNvSpPr/>
          <p:nvPr/>
        </p:nvSpPr>
        <p:spPr>
          <a:xfrm>
            <a:off x="713232" y="2679192"/>
            <a:ext cx="384048" cy="384048"/>
          </a:xfrm>
          <a:prstGeom prst="ellipse">
            <a:avLst/>
          </a:prstGeom>
          <a:solidFill>
            <a:schemeClr val="bg1"/>
          </a:solidFill>
          <a:ln w="12700">
            <a:solidFill>
              <a:schemeClr val="bg1"/>
            </a:solidFill>
            <a:prstDash val="solid"/>
          </a:ln>
        </p:spPr>
      </p:sp>
      <p:sp>
        <p:nvSpPr>
          <p:cNvPr id="9" name="Text 6"/>
          <p:cNvSpPr txBox="1"/>
          <p:nvPr/>
        </p:nvSpPr>
        <p:spPr>
          <a:xfrm>
            <a:off x="713232" y="2679192"/>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A</a:t>
            </a:r>
            <a:endParaRPr lang="en-US" sz="1500" dirty="0"/>
          </a:p>
        </p:txBody>
      </p:sp>
      <p:sp>
        <p:nvSpPr>
          <p:cNvPr id="10" name="Text 7"/>
          <p:cNvSpPr txBox="1"/>
          <p:nvPr/>
        </p:nvSpPr>
        <p:spPr>
          <a:xfrm>
            <a:off x="1280160" y="2560320"/>
            <a:ext cx="6355080" cy="621792"/>
          </a:xfrm>
          <a:prstGeom prst="rect">
            <a:avLst/>
          </a:prstGeom>
          <a:noFill/>
          <a:ln/>
        </p:spPr>
        <p:txBody>
          <a:bodyPr wrap="square" lIns="0" tIns="0" rIns="0" bIns="0" rtlCol="0" anchor="ctr"/>
          <a:lstStyle/>
          <a:p>
            <a:pPr indent="0" marL="0">
              <a:buNone/>
            </a:pPr>
            <a:r>
              <a:rPr lang="en-US" sz="2000" dirty="0">
                <a:solidFill>
                  <a:schemeClr val="tx2"/>
                </a:solidFill>
              </a:rPr>
              <a:t>In the nucleus</a:t>
            </a:r>
            <a:endParaRPr lang="en-US" sz="2000" dirty="0"/>
          </a:p>
        </p:txBody>
      </p:sp>
      <p:sp>
        <p:nvSpPr>
          <p:cNvPr id="11" name="option B"/>
          <p:cNvSpPr/>
          <p:nvPr/>
        </p:nvSpPr>
        <p:spPr>
          <a:xfrm>
            <a:off x="548640" y="3328416"/>
            <a:ext cx="7680960" cy="621792"/>
          </a:xfrm>
          <a:prstGeom prst="roundRect">
            <a:avLst>
              <a:gd name="adj" fmla="val 17647"/>
            </a:avLst>
          </a:prstGeom>
          <a:solidFill>
            <a:schemeClr val="accent5">
              <a:alpha val="20000"/>
            </a:schemeClr>
          </a:solidFill>
          <a:ln w="25400">
            <a:solidFill>
              <a:schemeClr val="accent5"/>
            </a:solidFill>
            <a:prstDash val="solid"/>
          </a:ln>
        </p:spPr>
      </p:sp>
      <p:sp>
        <p:nvSpPr>
          <p:cNvPr id="12" name="letter"/>
          <p:cNvSpPr/>
          <p:nvPr/>
        </p:nvSpPr>
        <p:spPr>
          <a:xfrm>
            <a:off x="713232" y="3447288"/>
            <a:ext cx="384048" cy="384048"/>
          </a:xfrm>
          <a:prstGeom prst="ellipse">
            <a:avLst/>
          </a:prstGeom>
          <a:solidFill>
            <a:schemeClr val="accent5"/>
          </a:solidFill>
          <a:ln w="12700">
            <a:solidFill>
              <a:schemeClr val="accent5"/>
            </a:solidFill>
            <a:prstDash val="solid"/>
          </a:ln>
        </p:spPr>
      </p:sp>
      <p:sp>
        <p:nvSpPr>
          <p:cNvPr id="13" name="Text 10"/>
          <p:cNvSpPr txBox="1"/>
          <p:nvPr/>
        </p:nvSpPr>
        <p:spPr>
          <a:xfrm>
            <a:off x="713232" y="3447288"/>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B</a:t>
            </a:r>
            <a:endParaRPr lang="en-US" sz="1500" dirty="0"/>
          </a:p>
        </p:txBody>
      </p:sp>
      <p:sp>
        <p:nvSpPr>
          <p:cNvPr id="14" name="Text 11"/>
          <p:cNvSpPr txBox="1"/>
          <p:nvPr/>
        </p:nvSpPr>
        <p:spPr>
          <a:xfrm>
            <a:off x="1280160" y="3328416"/>
            <a:ext cx="6355080" cy="621792"/>
          </a:xfrm>
          <a:prstGeom prst="rect">
            <a:avLst/>
          </a:prstGeom>
          <a:noFill/>
          <a:ln/>
        </p:spPr>
        <p:txBody>
          <a:bodyPr wrap="square" lIns="0" tIns="0" rIns="0" bIns="0" rtlCol="0" anchor="ctr"/>
          <a:lstStyle/>
          <a:p>
            <a:pPr indent="0" marL="0">
              <a:buNone/>
            </a:pPr>
            <a:r>
              <a:rPr lang="en-US" sz="2000" dirty="0">
                <a:solidFill>
                  <a:schemeClr val="tx1"/>
                </a:solidFill>
              </a:rPr>
              <a:t>In the bonds between its phosphate groups</a:t>
            </a:r>
            <a:endParaRPr lang="en-US" sz="2000" dirty="0"/>
          </a:p>
        </p:txBody>
      </p:sp>
      <p:sp>
        <p:nvSpPr>
          <p:cNvPr id="15" name="Text 12"/>
          <p:cNvSpPr txBox="1"/>
          <p:nvPr/>
        </p:nvSpPr>
        <p:spPr>
          <a:xfrm>
            <a:off x="7726680" y="3328416"/>
            <a:ext cx="411480" cy="621792"/>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sp>
        <p:nvSpPr>
          <p:cNvPr id="16" name="option C"/>
          <p:cNvSpPr/>
          <p:nvPr/>
        </p:nvSpPr>
        <p:spPr>
          <a:xfrm>
            <a:off x="548640" y="4096512"/>
            <a:ext cx="7680960" cy="621792"/>
          </a:xfrm>
          <a:prstGeom prst="roundRect">
            <a:avLst>
              <a:gd name="adj" fmla="val 17647"/>
            </a:avLst>
          </a:prstGeom>
          <a:solidFill>
            <a:schemeClr val="bg2"/>
          </a:solidFill>
          <a:ln w="12700">
            <a:solidFill>
              <a:schemeClr val="bg2"/>
            </a:solidFill>
            <a:prstDash val="solid"/>
          </a:ln>
        </p:spPr>
      </p:sp>
      <p:sp>
        <p:nvSpPr>
          <p:cNvPr id="17" name="letter"/>
          <p:cNvSpPr/>
          <p:nvPr/>
        </p:nvSpPr>
        <p:spPr>
          <a:xfrm>
            <a:off x="713232" y="4215384"/>
            <a:ext cx="384048" cy="384048"/>
          </a:xfrm>
          <a:prstGeom prst="ellipse">
            <a:avLst/>
          </a:prstGeom>
          <a:solidFill>
            <a:schemeClr val="bg1"/>
          </a:solidFill>
          <a:ln w="12700">
            <a:solidFill>
              <a:schemeClr val="bg1"/>
            </a:solidFill>
            <a:prstDash val="solid"/>
          </a:ln>
        </p:spPr>
      </p:sp>
      <p:sp>
        <p:nvSpPr>
          <p:cNvPr id="18" name="Text 15"/>
          <p:cNvSpPr txBox="1"/>
          <p:nvPr/>
        </p:nvSpPr>
        <p:spPr>
          <a:xfrm>
            <a:off x="713232" y="4215384"/>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C</a:t>
            </a:r>
            <a:endParaRPr lang="en-US" sz="1500" dirty="0"/>
          </a:p>
        </p:txBody>
      </p:sp>
      <p:sp>
        <p:nvSpPr>
          <p:cNvPr id="19" name="Text 16"/>
          <p:cNvSpPr txBox="1"/>
          <p:nvPr/>
        </p:nvSpPr>
        <p:spPr>
          <a:xfrm>
            <a:off x="1280160" y="4096512"/>
            <a:ext cx="6355080" cy="621792"/>
          </a:xfrm>
          <a:prstGeom prst="rect">
            <a:avLst/>
          </a:prstGeom>
          <a:noFill/>
          <a:ln/>
        </p:spPr>
        <p:txBody>
          <a:bodyPr wrap="square" lIns="0" tIns="0" rIns="0" bIns="0" rtlCol="0" anchor="ctr"/>
          <a:lstStyle/>
          <a:p>
            <a:pPr indent="0" marL="0">
              <a:buNone/>
            </a:pPr>
            <a:r>
              <a:rPr lang="en-US" sz="2000" dirty="0">
                <a:solidFill>
                  <a:schemeClr val="tx2"/>
                </a:solidFill>
              </a:rPr>
              <a:t>In its DNA</a:t>
            </a:r>
            <a:endParaRPr lang="en-US" sz="2000" dirty="0"/>
          </a:p>
        </p:txBody>
      </p:sp>
      <p:sp>
        <p:nvSpPr>
          <p:cNvPr id="20" name="option D"/>
          <p:cNvSpPr/>
          <p:nvPr/>
        </p:nvSpPr>
        <p:spPr>
          <a:xfrm>
            <a:off x="548640" y="4864608"/>
            <a:ext cx="7680960" cy="621792"/>
          </a:xfrm>
          <a:prstGeom prst="roundRect">
            <a:avLst>
              <a:gd name="adj" fmla="val 17647"/>
            </a:avLst>
          </a:prstGeom>
          <a:solidFill>
            <a:schemeClr val="bg2"/>
          </a:solidFill>
          <a:ln w="12700">
            <a:solidFill>
              <a:schemeClr val="bg2"/>
            </a:solidFill>
            <a:prstDash val="solid"/>
          </a:ln>
        </p:spPr>
      </p:sp>
      <p:sp>
        <p:nvSpPr>
          <p:cNvPr id="21" name="letter"/>
          <p:cNvSpPr/>
          <p:nvPr/>
        </p:nvSpPr>
        <p:spPr>
          <a:xfrm>
            <a:off x="713232" y="4983480"/>
            <a:ext cx="384048" cy="384048"/>
          </a:xfrm>
          <a:prstGeom prst="ellipse">
            <a:avLst/>
          </a:prstGeom>
          <a:solidFill>
            <a:schemeClr val="bg1"/>
          </a:solidFill>
          <a:ln w="12700">
            <a:solidFill>
              <a:schemeClr val="bg1"/>
            </a:solidFill>
            <a:prstDash val="solid"/>
          </a:ln>
        </p:spPr>
      </p:sp>
      <p:sp>
        <p:nvSpPr>
          <p:cNvPr id="22" name="Text 19"/>
          <p:cNvSpPr txBox="1"/>
          <p:nvPr/>
        </p:nvSpPr>
        <p:spPr>
          <a:xfrm>
            <a:off x="713232" y="4983480"/>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D</a:t>
            </a:r>
            <a:endParaRPr lang="en-US" sz="1500" dirty="0"/>
          </a:p>
        </p:txBody>
      </p:sp>
      <p:sp>
        <p:nvSpPr>
          <p:cNvPr id="23" name="Text 20"/>
          <p:cNvSpPr txBox="1"/>
          <p:nvPr/>
        </p:nvSpPr>
        <p:spPr>
          <a:xfrm>
            <a:off x="1280160" y="4864608"/>
            <a:ext cx="6355080" cy="621792"/>
          </a:xfrm>
          <a:prstGeom prst="rect">
            <a:avLst/>
          </a:prstGeom>
          <a:noFill/>
          <a:ln/>
        </p:spPr>
        <p:txBody>
          <a:bodyPr wrap="square" lIns="0" tIns="0" rIns="0" bIns="0" rtlCol="0" anchor="ctr"/>
          <a:lstStyle/>
          <a:p>
            <a:pPr indent="0" marL="0">
              <a:buNone/>
            </a:pPr>
            <a:r>
              <a:rPr lang="en-US" sz="2000" dirty="0">
                <a:solidFill>
                  <a:schemeClr val="tx2"/>
                </a:solidFill>
              </a:rPr>
              <a:t>In the water it carries</a:t>
            </a:r>
            <a:endParaRPr lang="en-US" sz="2000" dirty="0"/>
          </a:p>
        </p:txBody>
      </p:sp>
      <p:sp>
        <p:nvSpPr>
          <p:cNvPr id="24" name="panel"/>
          <p:cNvSpPr/>
          <p:nvPr/>
        </p:nvSpPr>
        <p:spPr>
          <a:xfrm>
            <a:off x="8503920" y="2560320"/>
            <a:ext cx="3136392" cy="2926080"/>
          </a:xfrm>
          <a:prstGeom prst="roundRect">
            <a:avLst>
              <a:gd name="adj" fmla="val 3750"/>
            </a:avLst>
          </a:prstGeom>
          <a:solidFill>
            <a:schemeClr val="accent5">
              <a:alpha val="12000"/>
            </a:schemeClr>
          </a:solidFill>
          <a:ln w="12700">
            <a:solidFill>
              <a:schemeClr val="accent5"/>
            </a:solidFill>
            <a:prstDash val="solid"/>
          </a:ln>
        </p:spPr>
      </p:sp>
      <p:sp>
        <p:nvSpPr>
          <p:cNvPr id="25" name="Text 22"/>
          <p:cNvSpPr txBox="1"/>
          <p:nvPr/>
        </p:nvSpPr>
        <p:spPr>
          <a:xfrm>
            <a:off x="8686800" y="2697480"/>
            <a:ext cx="2788920" cy="265176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Why</a:t>
            </a:r>
            <a:endParaRPr lang="en-US" sz="1700" dirty="0"/>
          </a:p>
          <a:p>
            <a:pPr indent="0" marL="0">
              <a:spcAft>
                <a:spcPts val="600"/>
              </a:spcAft>
              <a:buNone/>
            </a:pPr>
            <a:r>
              <a:rPr lang="en-US" sz="1700" dirty="0">
                <a:solidFill>
                  <a:schemeClr val="tx1"/>
                </a:solidFill>
              </a:rPr>
              <a:t>Chemical energy is stored in the phosphate bonds.</a:t>
            </a:r>
            <a:endParaRPr lang="en-US" sz="17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Sam's mistake</a:t>
            </a:r>
            <a:endParaRPr lang="en-US" sz="3200" dirty="0"/>
          </a:p>
        </p:txBody>
      </p:sp>
      <p:sp>
        <p:nvSpPr>
          <p:cNvPr id="3" name="tag"/>
          <p:cNvSpPr/>
          <p:nvPr/>
        </p:nvSpPr>
        <p:spPr>
          <a:xfrm>
            <a:off x="548640" y="329184"/>
            <a:ext cx="1348740" cy="329184"/>
          </a:xfrm>
          <a:prstGeom prst="roundRect">
            <a:avLst>
              <a:gd name="adj" fmla="val 50000"/>
            </a:avLst>
          </a:prstGeom>
          <a:solidFill>
            <a:schemeClr val="accent6">
              <a:alpha val="18000"/>
            </a:schemeClr>
          </a:solidFill>
          <a:ln w="12700">
            <a:solidFill>
              <a:schemeClr val="accent6"/>
            </a:solidFill>
            <a:prstDash val="solid"/>
          </a:ln>
        </p:spPr>
      </p:sp>
      <p:sp>
        <p:nvSpPr>
          <p:cNvPr id="4" name="Text 2"/>
          <p:cNvSpPr txBox="1"/>
          <p:nvPr/>
        </p:nvSpPr>
        <p:spPr>
          <a:xfrm>
            <a:off x="548640" y="329184"/>
            <a:ext cx="1348740" cy="329184"/>
          </a:xfrm>
          <a:prstGeom prst="rect">
            <a:avLst/>
          </a:prstGeom>
          <a:noFill/>
          <a:ln/>
        </p:spPr>
        <p:txBody>
          <a:bodyPr wrap="square" lIns="0" tIns="0" rIns="0" bIns="0" rtlCol="0" anchor="ctr"/>
          <a:lstStyle/>
          <a:p>
            <a:pPr algn="ctr" indent="0" marL="0">
              <a:buNone/>
            </a:pPr>
            <a:r>
              <a:rPr lang="en-US" sz="1300" b="1" dirty="0">
                <a:solidFill>
                  <a:schemeClr val="accent6"/>
                </a:solidFill>
              </a:rPr>
              <a:t>Quick check</a:t>
            </a:r>
            <a:endParaRPr lang="en-US" sz="1300" dirty="0"/>
          </a:p>
        </p:txBody>
      </p:sp>
      <p:sp>
        <p:nvSpPr>
          <p:cNvPr id="6" name="Text 3"/>
          <p:cNvSpPr txBox="1"/>
          <p:nvPr/>
        </p:nvSpPr>
        <p:spPr>
          <a:xfrm>
            <a:off x="548640" y="1600200"/>
            <a:ext cx="11064240" cy="868680"/>
          </a:xfrm>
          <a:prstGeom prst="rect">
            <a:avLst/>
          </a:prstGeom>
          <a:noFill/>
          <a:ln/>
        </p:spPr>
        <p:txBody>
          <a:bodyPr wrap="square" lIns="0" tIns="0" rIns="0" bIns="0" rtlCol="0" anchor="t"/>
          <a:lstStyle/>
          <a:p>
            <a:pPr indent="0" marL="0">
              <a:spcAft>
                <a:spcPts val="600"/>
              </a:spcAft>
              <a:buNone/>
            </a:pPr>
            <a:r>
              <a:rPr lang="en-US" sz="2400" dirty="0">
                <a:solidFill>
                  <a:schemeClr val="tx1"/>
                </a:solidFill>
              </a:rPr>
              <a:t>Sam wrote: "Once a cell uses ATP, that molecule is gone forever."  What's wrong?</a:t>
            </a:r>
            <a:endParaRPr lang="en-US" sz="2400" dirty="0"/>
          </a:p>
        </p:txBody>
      </p:sp>
      <p:sp>
        <p:nvSpPr>
          <p:cNvPr id="7" name="option A"/>
          <p:cNvSpPr/>
          <p:nvPr/>
        </p:nvSpPr>
        <p:spPr>
          <a:xfrm>
            <a:off x="548640" y="2560320"/>
            <a:ext cx="7680960" cy="621792"/>
          </a:xfrm>
          <a:prstGeom prst="roundRect">
            <a:avLst>
              <a:gd name="adj" fmla="val 17647"/>
            </a:avLst>
          </a:prstGeom>
          <a:solidFill>
            <a:schemeClr val="bg2"/>
          </a:solidFill>
          <a:ln w="12700">
            <a:solidFill>
              <a:schemeClr val="bg2"/>
            </a:solidFill>
            <a:prstDash val="solid"/>
          </a:ln>
        </p:spPr>
      </p:sp>
      <p:sp>
        <p:nvSpPr>
          <p:cNvPr id="8" name="letter"/>
          <p:cNvSpPr/>
          <p:nvPr/>
        </p:nvSpPr>
        <p:spPr>
          <a:xfrm>
            <a:off x="713232" y="2679192"/>
            <a:ext cx="384048" cy="384048"/>
          </a:xfrm>
          <a:prstGeom prst="ellipse">
            <a:avLst/>
          </a:prstGeom>
          <a:solidFill>
            <a:schemeClr val="bg1"/>
          </a:solidFill>
          <a:ln w="12700">
            <a:solidFill>
              <a:schemeClr val="bg1"/>
            </a:solidFill>
            <a:prstDash val="solid"/>
          </a:ln>
        </p:spPr>
      </p:sp>
      <p:sp>
        <p:nvSpPr>
          <p:cNvPr id="9" name="Text 6"/>
          <p:cNvSpPr txBox="1"/>
          <p:nvPr/>
        </p:nvSpPr>
        <p:spPr>
          <a:xfrm>
            <a:off x="713232" y="2679192"/>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A</a:t>
            </a:r>
            <a:endParaRPr lang="en-US" sz="1500" dirty="0"/>
          </a:p>
        </p:txBody>
      </p:sp>
      <p:sp>
        <p:nvSpPr>
          <p:cNvPr id="10" name="Text 7"/>
          <p:cNvSpPr txBox="1"/>
          <p:nvPr/>
        </p:nvSpPr>
        <p:spPr>
          <a:xfrm>
            <a:off x="1280160" y="2560320"/>
            <a:ext cx="6355080" cy="621792"/>
          </a:xfrm>
          <a:prstGeom prst="rect">
            <a:avLst/>
          </a:prstGeom>
          <a:noFill/>
          <a:ln/>
        </p:spPr>
        <p:txBody>
          <a:bodyPr wrap="square" lIns="0" tIns="0" rIns="0" bIns="0" rtlCol="0" anchor="ctr"/>
          <a:lstStyle/>
          <a:p>
            <a:pPr indent="0" marL="0">
              <a:buNone/>
            </a:pPr>
            <a:r>
              <a:rPr lang="en-US" sz="2000" dirty="0">
                <a:solidFill>
                  <a:schemeClr val="tx1"/>
                </a:solidFill>
              </a:rPr>
              <a:t>It becomes ADP + P and gets recharged into ATP</a:t>
            </a:r>
            <a:endParaRPr lang="en-US" sz="2000" dirty="0"/>
          </a:p>
        </p:txBody>
      </p:sp>
      <p:sp>
        <p:nvSpPr>
          <p:cNvPr id="11" name="option B"/>
          <p:cNvSpPr/>
          <p:nvPr/>
        </p:nvSpPr>
        <p:spPr>
          <a:xfrm>
            <a:off x="548640" y="3328416"/>
            <a:ext cx="7680960" cy="621792"/>
          </a:xfrm>
          <a:prstGeom prst="roundRect">
            <a:avLst>
              <a:gd name="adj" fmla="val 17647"/>
            </a:avLst>
          </a:prstGeom>
          <a:solidFill>
            <a:schemeClr val="bg2"/>
          </a:solidFill>
          <a:ln w="12700">
            <a:solidFill>
              <a:schemeClr val="bg2"/>
            </a:solidFill>
            <a:prstDash val="solid"/>
          </a:ln>
        </p:spPr>
      </p:sp>
      <p:sp>
        <p:nvSpPr>
          <p:cNvPr id="12" name="letter"/>
          <p:cNvSpPr/>
          <p:nvPr/>
        </p:nvSpPr>
        <p:spPr>
          <a:xfrm>
            <a:off x="713232" y="3447288"/>
            <a:ext cx="384048" cy="384048"/>
          </a:xfrm>
          <a:prstGeom prst="ellipse">
            <a:avLst/>
          </a:prstGeom>
          <a:solidFill>
            <a:schemeClr val="bg1"/>
          </a:solidFill>
          <a:ln w="12700">
            <a:solidFill>
              <a:schemeClr val="bg1"/>
            </a:solidFill>
            <a:prstDash val="solid"/>
          </a:ln>
        </p:spPr>
      </p:sp>
      <p:sp>
        <p:nvSpPr>
          <p:cNvPr id="13" name="Text 10"/>
          <p:cNvSpPr txBox="1"/>
          <p:nvPr/>
        </p:nvSpPr>
        <p:spPr>
          <a:xfrm>
            <a:off x="713232" y="3447288"/>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B</a:t>
            </a:r>
            <a:endParaRPr lang="en-US" sz="1500" dirty="0"/>
          </a:p>
        </p:txBody>
      </p:sp>
      <p:sp>
        <p:nvSpPr>
          <p:cNvPr id="14" name="Text 11"/>
          <p:cNvSpPr txBox="1"/>
          <p:nvPr/>
        </p:nvSpPr>
        <p:spPr>
          <a:xfrm>
            <a:off x="1280160" y="3328416"/>
            <a:ext cx="6355080" cy="621792"/>
          </a:xfrm>
          <a:prstGeom prst="rect">
            <a:avLst/>
          </a:prstGeom>
          <a:noFill/>
          <a:ln/>
        </p:spPr>
        <p:txBody>
          <a:bodyPr wrap="square" lIns="0" tIns="0" rIns="0" bIns="0" rtlCol="0" anchor="ctr"/>
          <a:lstStyle/>
          <a:p>
            <a:pPr indent="0" marL="0">
              <a:buNone/>
            </a:pPr>
            <a:r>
              <a:rPr lang="en-US" sz="2000" dirty="0">
                <a:solidFill>
                  <a:schemeClr val="tx1"/>
                </a:solidFill>
              </a:rPr>
              <a:t>It turns into glucose</a:t>
            </a:r>
            <a:endParaRPr lang="en-US" sz="2000" dirty="0"/>
          </a:p>
        </p:txBody>
      </p:sp>
      <p:sp>
        <p:nvSpPr>
          <p:cNvPr id="15" name="option C"/>
          <p:cNvSpPr/>
          <p:nvPr/>
        </p:nvSpPr>
        <p:spPr>
          <a:xfrm>
            <a:off x="548640" y="4096512"/>
            <a:ext cx="7680960" cy="621792"/>
          </a:xfrm>
          <a:prstGeom prst="roundRect">
            <a:avLst>
              <a:gd name="adj" fmla="val 17647"/>
            </a:avLst>
          </a:prstGeom>
          <a:solidFill>
            <a:schemeClr val="bg2"/>
          </a:solidFill>
          <a:ln w="12700">
            <a:solidFill>
              <a:schemeClr val="bg2"/>
            </a:solidFill>
            <a:prstDash val="solid"/>
          </a:ln>
        </p:spPr>
      </p:sp>
      <p:sp>
        <p:nvSpPr>
          <p:cNvPr id="16" name="letter"/>
          <p:cNvSpPr/>
          <p:nvPr/>
        </p:nvSpPr>
        <p:spPr>
          <a:xfrm>
            <a:off x="713232" y="4215384"/>
            <a:ext cx="384048" cy="384048"/>
          </a:xfrm>
          <a:prstGeom prst="ellipse">
            <a:avLst/>
          </a:prstGeom>
          <a:solidFill>
            <a:schemeClr val="bg1"/>
          </a:solidFill>
          <a:ln w="12700">
            <a:solidFill>
              <a:schemeClr val="bg1"/>
            </a:solidFill>
            <a:prstDash val="solid"/>
          </a:ln>
        </p:spPr>
      </p:sp>
      <p:sp>
        <p:nvSpPr>
          <p:cNvPr id="17" name="Text 14"/>
          <p:cNvSpPr txBox="1"/>
          <p:nvPr/>
        </p:nvSpPr>
        <p:spPr>
          <a:xfrm>
            <a:off x="713232" y="4215384"/>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C</a:t>
            </a:r>
            <a:endParaRPr lang="en-US" sz="1500" dirty="0"/>
          </a:p>
        </p:txBody>
      </p:sp>
      <p:sp>
        <p:nvSpPr>
          <p:cNvPr id="18" name="Text 15"/>
          <p:cNvSpPr txBox="1"/>
          <p:nvPr/>
        </p:nvSpPr>
        <p:spPr>
          <a:xfrm>
            <a:off x="1280160" y="4096512"/>
            <a:ext cx="6355080" cy="621792"/>
          </a:xfrm>
          <a:prstGeom prst="rect">
            <a:avLst/>
          </a:prstGeom>
          <a:noFill/>
          <a:ln/>
        </p:spPr>
        <p:txBody>
          <a:bodyPr wrap="square" lIns="0" tIns="0" rIns="0" bIns="0" rtlCol="0" anchor="ctr"/>
          <a:lstStyle/>
          <a:p>
            <a:pPr indent="0" marL="0">
              <a:buNone/>
            </a:pPr>
            <a:r>
              <a:rPr lang="en-US" sz="2000" dirty="0">
                <a:solidFill>
                  <a:schemeClr val="tx1"/>
                </a:solidFill>
              </a:rPr>
              <a:t>It turns into DNA</a:t>
            </a:r>
            <a:endParaRPr lang="en-US" sz="2000" dirty="0"/>
          </a:p>
        </p:txBody>
      </p:sp>
      <p:sp>
        <p:nvSpPr>
          <p:cNvPr id="19" name="option D"/>
          <p:cNvSpPr/>
          <p:nvPr/>
        </p:nvSpPr>
        <p:spPr>
          <a:xfrm>
            <a:off x="548640" y="4864608"/>
            <a:ext cx="7680960" cy="621792"/>
          </a:xfrm>
          <a:prstGeom prst="roundRect">
            <a:avLst>
              <a:gd name="adj" fmla="val 17647"/>
            </a:avLst>
          </a:prstGeom>
          <a:solidFill>
            <a:schemeClr val="bg2"/>
          </a:solidFill>
          <a:ln w="12700">
            <a:solidFill>
              <a:schemeClr val="bg2"/>
            </a:solidFill>
            <a:prstDash val="solid"/>
          </a:ln>
        </p:spPr>
      </p:sp>
      <p:sp>
        <p:nvSpPr>
          <p:cNvPr id="20" name="letter"/>
          <p:cNvSpPr/>
          <p:nvPr/>
        </p:nvSpPr>
        <p:spPr>
          <a:xfrm>
            <a:off x="713232" y="4983480"/>
            <a:ext cx="384048" cy="384048"/>
          </a:xfrm>
          <a:prstGeom prst="ellipse">
            <a:avLst/>
          </a:prstGeom>
          <a:solidFill>
            <a:schemeClr val="bg1"/>
          </a:solidFill>
          <a:ln w="12700">
            <a:solidFill>
              <a:schemeClr val="bg1"/>
            </a:solidFill>
            <a:prstDash val="solid"/>
          </a:ln>
        </p:spPr>
      </p:sp>
      <p:sp>
        <p:nvSpPr>
          <p:cNvPr id="21" name="Text 18"/>
          <p:cNvSpPr txBox="1"/>
          <p:nvPr/>
        </p:nvSpPr>
        <p:spPr>
          <a:xfrm>
            <a:off x="713232" y="4983480"/>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D</a:t>
            </a:r>
            <a:endParaRPr lang="en-US" sz="1500" dirty="0"/>
          </a:p>
        </p:txBody>
      </p:sp>
      <p:sp>
        <p:nvSpPr>
          <p:cNvPr id="22" name="Text 19"/>
          <p:cNvSpPr txBox="1"/>
          <p:nvPr/>
        </p:nvSpPr>
        <p:spPr>
          <a:xfrm>
            <a:off x="1280160" y="4864608"/>
            <a:ext cx="6355080" cy="621792"/>
          </a:xfrm>
          <a:prstGeom prst="rect">
            <a:avLst/>
          </a:prstGeom>
          <a:noFill/>
          <a:ln/>
        </p:spPr>
        <p:txBody>
          <a:bodyPr wrap="square" lIns="0" tIns="0" rIns="0" bIns="0" rtlCol="0" anchor="ctr"/>
          <a:lstStyle/>
          <a:p>
            <a:pPr indent="0" marL="0">
              <a:buNone/>
            </a:pPr>
            <a:r>
              <a:rPr lang="en-US" sz="2000" dirty="0">
                <a:solidFill>
                  <a:schemeClr val="tx1"/>
                </a:solidFill>
              </a:rPr>
              <a:t>Nothing is wrong</a:t>
            </a:r>
            <a:endParaRPr lang="en-US" sz="2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Sam's mistake</a:t>
            </a:r>
            <a:endParaRPr lang="en-US" sz="3200" dirty="0"/>
          </a:p>
        </p:txBody>
      </p:sp>
      <p:sp>
        <p:nvSpPr>
          <p:cNvPr id="3" name="tag"/>
          <p:cNvSpPr/>
          <p:nvPr/>
        </p:nvSpPr>
        <p:spPr>
          <a:xfrm>
            <a:off x="548640" y="329184"/>
            <a:ext cx="868680" cy="329184"/>
          </a:xfrm>
          <a:prstGeom prst="roundRect">
            <a:avLst>
              <a:gd name="adj" fmla="val 50000"/>
            </a:avLst>
          </a:prstGeom>
          <a:solidFill>
            <a:schemeClr val="accent5">
              <a:alpha val="18000"/>
            </a:schemeClr>
          </a:solidFill>
          <a:ln w="12700">
            <a:solidFill>
              <a:schemeClr val="accent5"/>
            </a:solidFill>
            <a:prstDash val="solid"/>
          </a:ln>
        </p:spPr>
      </p:sp>
      <p:sp>
        <p:nvSpPr>
          <p:cNvPr id="4" name="Text 2"/>
          <p:cNvSpPr txBox="1"/>
          <p:nvPr/>
        </p:nvSpPr>
        <p:spPr>
          <a:xfrm>
            <a:off x="548640" y="329184"/>
            <a:ext cx="868680" cy="329184"/>
          </a:xfrm>
          <a:prstGeom prst="rect">
            <a:avLst/>
          </a:prstGeom>
          <a:noFill/>
          <a:ln/>
        </p:spPr>
        <p:txBody>
          <a:bodyPr wrap="square" lIns="0" tIns="0" rIns="0" bIns="0" rtlCol="0" anchor="ctr"/>
          <a:lstStyle/>
          <a:p>
            <a:pPr algn="ctr" indent="0" marL="0">
              <a:buNone/>
            </a:pPr>
            <a:r>
              <a:rPr lang="en-US" sz="1300" b="1" dirty="0">
                <a:solidFill>
                  <a:schemeClr val="accent5"/>
                </a:solidFill>
              </a:rPr>
              <a:t>Answer</a:t>
            </a:r>
            <a:endParaRPr lang="en-US" sz="1300" dirty="0"/>
          </a:p>
        </p:txBody>
      </p:sp>
      <p:sp>
        <p:nvSpPr>
          <p:cNvPr id="6" name="Text 3"/>
          <p:cNvSpPr txBox="1"/>
          <p:nvPr/>
        </p:nvSpPr>
        <p:spPr>
          <a:xfrm>
            <a:off x="548640" y="1600200"/>
            <a:ext cx="11064240" cy="868680"/>
          </a:xfrm>
          <a:prstGeom prst="rect">
            <a:avLst/>
          </a:prstGeom>
          <a:noFill/>
          <a:ln/>
        </p:spPr>
        <p:txBody>
          <a:bodyPr wrap="square" lIns="0" tIns="0" rIns="0" bIns="0" rtlCol="0" anchor="t"/>
          <a:lstStyle/>
          <a:p>
            <a:pPr indent="0" marL="0">
              <a:spcAft>
                <a:spcPts val="600"/>
              </a:spcAft>
              <a:buNone/>
            </a:pPr>
            <a:r>
              <a:rPr lang="en-US" sz="2400" dirty="0">
                <a:solidFill>
                  <a:schemeClr val="tx1"/>
                </a:solidFill>
              </a:rPr>
              <a:t>Sam wrote: "Once a cell uses ATP, that molecule is gone forever."  What's wrong?</a:t>
            </a:r>
            <a:endParaRPr lang="en-US" sz="2400" dirty="0"/>
          </a:p>
        </p:txBody>
      </p:sp>
      <p:sp>
        <p:nvSpPr>
          <p:cNvPr id="7" name="option A"/>
          <p:cNvSpPr/>
          <p:nvPr/>
        </p:nvSpPr>
        <p:spPr>
          <a:xfrm>
            <a:off x="548640" y="2560320"/>
            <a:ext cx="7680960" cy="621792"/>
          </a:xfrm>
          <a:prstGeom prst="roundRect">
            <a:avLst>
              <a:gd name="adj" fmla="val 17647"/>
            </a:avLst>
          </a:prstGeom>
          <a:solidFill>
            <a:schemeClr val="accent5">
              <a:alpha val="20000"/>
            </a:schemeClr>
          </a:solidFill>
          <a:ln w="25400">
            <a:solidFill>
              <a:schemeClr val="accent5"/>
            </a:solidFill>
            <a:prstDash val="solid"/>
          </a:ln>
        </p:spPr>
      </p:sp>
      <p:sp>
        <p:nvSpPr>
          <p:cNvPr id="8" name="letter"/>
          <p:cNvSpPr/>
          <p:nvPr/>
        </p:nvSpPr>
        <p:spPr>
          <a:xfrm>
            <a:off x="713232" y="2679192"/>
            <a:ext cx="384048" cy="384048"/>
          </a:xfrm>
          <a:prstGeom prst="ellipse">
            <a:avLst/>
          </a:prstGeom>
          <a:solidFill>
            <a:schemeClr val="accent5"/>
          </a:solidFill>
          <a:ln w="12700">
            <a:solidFill>
              <a:schemeClr val="accent5"/>
            </a:solidFill>
            <a:prstDash val="solid"/>
          </a:ln>
        </p:spPr>
      </p:sp>
      <p:sp>
        <p:nvSpPr>
          <p:cNvPr id="9" name="Text 6"/>
          <p:cNvSpPr txBox="1"/>
          <p:nvPr/>
        </p:nvSpPr>
        <p:spPr>
          <a:xfrm>
            <a:off x="713232" y="2679192"/>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A</a:t>
            </a:r>
            <a:endParaRPr lang="en-US" sz="1500" dirty="0"/>
          </a:p>
        </p:txBody>
      </p:sp>
      <p:sp>
        <p:nvSpPr>
          <p:cNvPr id="10" name="Text 7"/>
          <p:cNvSpPr txBox="1"/>
          <p:nvPr/>
        </p:nvSpPr>
        <p:spPr>
          <a:xfrm>
            <a:off x="1280160" y="2560320"/>
            <a:ext cx="6355080" cy="621792"/>
          </a:xfrm>
          <a:prstGeom prst="rect">
            <a:avLst/>
          </a:prstGeom>
          <a:noFill/>
          <a:ln/>
        </p:spPr>
        <p:txBody>
          <a:bodyPr wrap="square" lIns="0" tIns="0" rIns="0" bIns="0" rtlCol="0" anchor="ctr"/>
          <a:lstStyle/>
          <a:p>
            <a:pPr indent="0" marL="0">
              <a:buNone/>
            </a:pPr>
            <a:r>
              <a:rPr lang="en-US" sz="2000" dirty="0">
                <a:solidFill>
                  <a:schemeClr val="tx1"/>
                </a:solidFill>
              </a:rPr>
              <a:t>It becomes ADP + P and gets recharged into ATP</a:t>
            </a:r>
            <a:endParaRPr lang="en-US" sz="2000" dirty="0"/>
          </a:p>
        </p:txBody>
      </p:sp>
      <p:sp>
        <p:nvSpPr>
          <p:cNvPr id="11" name="Text 8"/>
          <p:cNvSpPr txBox="1"/>
          <p:nvPr/>
        </p:nvSpPr>
        <p:spPr>
          <a:xfrm>
            <a:off x="7726680" y="2560320"/>
            <a:ext cx="411480" cy="621792"/>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sp>
        <p:nvSpPr>
          <p:cNvPr id="12" name="option B"/>
          <p:cNvSpPr/>
          <p:nvPr/>
        </p:nvSpPr>
        <p:spPr>
          <a:xfrm>
            <a:off x="548640" y="3328416"/>
            <a:ext cx="7680960" cy="621792"/>
          </a:xfrm>
          <a:prstGeom prst="roundRect">
            <a:avLst>
              <a:gd name="adj" fmla="val 17647"/>
            </a:avLst>
          </a:prstGeom>
          <a:solidFill>
            <a:schemeClr val="bg2"/>
          </a:solidFill>
          <a:ln w="12700">
            <a:solidFill>
              <a:schemeClr val="bg2"/>
            </a:solidFill>
            <a:prstDash val="solid"/>
          </a:ln>
        </p:spPr>
      </p:sp>
      <p:sp>
        <p:nvSpPr>
          <p:cNvPr id="13" name="letter"/>
          <p:cNvSpPr/>
          <p:nvPr/>
        </p:nvSpPr>
        <p:spPr>
          <a:xfrm>
            <a:off x="713232" y="3447288"/>
            <a:ext cx="384048" cy="384048"/>
          </a:xfrm>
          <a:prstGeom prst="ellipse">
            <a:avLst/>
          </a:prstGeom>
          <a:solidFill>
            <a:schemeClr val="bg1"/>
          </a:solidFill>
          <a:ln w="12700">
            <a:solidFill>
              <a:schemeClr val="bg1"/>
            </a:solidFill>
            <a:prstDash val="solid"/>
          </a:ln>
        </p:spPr>
      </p:sp>
      <p:sp>
        <p:nvSpPr>
          <p:cNvPr id="14" name="Text 11"/>
          <p:cNvSpPr txBox="1"/>
          <p:nvPr/>
        </p:nvSpPr>
        <p:spPr>
          <a:xfrm>
            <a:off x="713232" y="3447288"/>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B</a:t>
            </a:r>
            <a:endParaRPr lang="en-US" sz="1500" dirty="0"/>
          </a:p>
        </p:txBody>
      </p:sp>
      <p:sp>
        <p:nvSpPr>
          <p:cNvPr id="15" name="Text 12"/>
          <p:cNvSpPr txBox="1"/>
          <p:nvPr/>
        </p:nvSpPr>
        <p:spPr>
          <a:xfrm>
            <a:off x="1280160" y="3328416"/>
            <a:ext cx="6355080" cy="621792"/>
          </a:xfrm>
          <a:prstGeom prst="rect">
            <a:avLst/>
          </a:prstGeom>
          <a:noFill/>
          <a:ln/>
        </p:spPr>
        <p:txBody>
          <a:bodyPr wrap="square" lIns="0" tIns="0" rIns="0" bIns="0" rtlCol="0" anchor="ctr"/>
          <a:lstStyle/>
          <a:p>
            <a:pPr indent="0" marL="0">
              <a:buNone/>
            </a:pPr>
            <a:r>
              <a:rPr lang="en-US" sz="2000" dirty="0">
                <a:solidFill>
                  <a:schemeClr val="tx2"/>
                </a:solidFill>
              </a:rPr>
              <a:t>It turns into glucose</a:t>
            </a:r>
            <a:endParaRPr lang="en-US" sz="2000" dirty="0"/>
          </a:p>
        </p:txBody>
      </p:sp>
      <p:sp>
        <p:nvSpPr>
          <p:cNvPr id="16" name="option C"/>
          <p:cNvSpPr/>
          <p:nvPr/>
        </p:nvSpPr>
        <p:spPr>
          <a:xfrm>
            <a:off x="548640" y="4096512"/>
            <a:ext cx="7680960" cy="621792"/>
          </a:xfrm>
          <a:prstGeom prst="roundRect">
            <a:avLst>
              <a:gd name="adj" fmla="val 17647"/>
            </a:avLst>
          </a:prstGeom>
          <a:solidFill>
            <a:schemeClr val="bg2"/>
          </a:solidFill>
          <a:ln w="12700">
            <a:solidFill>
              <a:schemeClr val="bg2"/>
            </a:solidFill>
            <a:prstDash val="solid"/>
          </a:ln>
        </p:spPr>
      </p:sp>
      <p:sp>
        <p:nvSpPr>
          <p:cNvPr id="17" name="letter"/>
          <p:cNvSpPr/>
          <p:nvPr/>
        </p:nvSpPr>
        <p:spPr>
          <a:xfrm>
            <a:off x="713232" y="4215384"/>
            <a:ext cx="384048" cy="384048"/>
          </a:xfrm>
          <a:prstGeom prst="ellipse">
            <a:avLst/>
          </a:prstGeom>
          <a:solidFill>
            <a:schemeClr val="bg1"/>
          </a:solidFill>
          <a:ln w="12700">
            <a:solidFill>
              <a:schemeClr val="bg1"/>
            </a:solidFill>
            <a:prstDash val="solid"/>
          </a:ln>
        </p:spPr>
      </p:sp>
      <p:sp>
        <p:nvSpPr>
          <p:cNvPr id="18" name="Text 15"/>
          <p:cNvSpPr txBox="1"/>
          <p:nvPr/>
        </p:nvSpPr>
        <p:spPr>
          <a:xfrm>
            <a:off x="713232" y="4215384"/>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C</a:t>
            </a:r>
            <a:endParaRPr lang="en-US" sz="1500" dirty="0"/>
          </a:p>
        </p:txBody>
      </p:sp>
      <p:sp>
        <p:nvSpPr>
          <p:cNvPr id="19" name="Text 16"/>
          <p:cNvSpPr txBox="1"/>
          <p:nvPr/>
        </p:nvSpPr>
        <p:spPr>
          <a:xfrm>
            <a:off x="1280160" y="4096512"/>
            <a:ext cx="6355080" cy="621792"/>
          </a:xfrm>
          <a:prstGeom prst="rect">
            <a:avLst/>
          </a:prstGeom>
          <a:noFill/>
          <a:ln/>
        </p:spPr>
        <p:txBody>
          <a:bodyPr wrap="square" lIns="0" tIns="0" rIns="0" bIns="0" rtlCol="0" anchor="ctr"/>
          <a:lstStyle/>
          <a:p>
            <a:pPr indent="0" marL="0">
              <a:buNone/>
            </a:pPr>
            <a:r>
              <a:rPr lang="en-US" sz="2000" dirty="0">
                <a:solidFill>
                  <a:schemeClr val="tx2"/>
                </a:solidFill>
              </a:rPr>
              <a:t>It turns into DNA</a:t>
            </a:r>
            <a:endParaRPr lang="en-US" sz="2000" dirty="0"/>
          </a:p>
        </p:txBody>
      </p:sp>
      <p:sp>
        <p:nvSpPr>
          <p:cNvPr id="20" name="option D"/>
          <p:cNvSpPr/>
          <p:nvPr/>
        </p:nvSpPr>
        <p:spPr>
          <a:xfrm>
            <a:off x="548640" y="4864608"/>
            <a:ext cx="7680960" cy="621792"/>
          </a:xfrm>
          <a:prstGeom prst="roundRect">
            <a:avLst>
              <a:gd name="adj" fmla="val 17647"/>
            </a:avLst>
          </a:prstGeom>
          <a:solidFill>
            <a:schemeClr val="bg2"/>
          </a:solidFill>
          <a:ln w="12700">
            <a:solidFill>
              <a:schemeClr val="bg2"/>
            </a:solidFill>
            <a:prstDash val="solid"/>
          </a:ln>
        </p:spPr>
      </p:sp>
      <p:sp>
        <p:nvSpPr>
          <p:cNvPr id="21" name="letter"/>
          <p:cNvSpPr/>
          <p:nvPr/>
        </p:nvSpPr>
        <p:spPr>
          <a:xfrm>
            <a:off x="713232" y="4983480"/>
            <a:ext cx="384048" cy="384048"/>
          </a:xfrm>
          <a:prstGeom prst="ellipse">
            <a:avLst/>
          </a:prstGeom>
          <a:solidFill>
            <a:schemeClr val="bg1"/>
          </a:solidFill>
          <a:ln w="12700">
            <a:solidFill>
              <a:schemeClr val="bg1"/>
            </a:solidFill>
            <a:prstDash val="solid"/>
          </a:ln>
        </p:spPr>
      </p:sp>
      <p:sp>
        <p:nvSpPr>
          <p:cNvPr id="22" name="Text 19"/>
          <p:cNvSpPr txBox="1"/>
          <p:nvPr/>
        </p:nvSpPr>
        <p:spPr>
          <a:xfrm>
            <a:off x="713232" y="4983480"/>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D</a:t>
            </a:r>
            <a:endParaRPr lang="en-US" sz="1500" dirty="0"/>
          </a:p>
        </p:txBody>
      </p:sp>
      <p:sp>
        <p:nvSpPr>
          <p:cNvPr id="23" name="Text 20"/>
          <p:cNvSpPr txBox="1"/>
          <p:nvPr/>
        </p:nvSpPr>
        <p:spPr>
          <a:xfrm>
            <a:off x="1280160" y="4864608"/>
            <a:ext cx="6355080" cy="621792"/>
          </a:xfrm>
          <a:prstGeom prst="rect">
            <a:avLst/>
          </a:prstGeom>
          <a:noFill/>
          <a:ln/>
        </p:spPr>
        <p:txBody>
          <a:bodyPr wrap="square" lIns="0" tIns="0" rIns="0" bIns="0" rtlCol="0" anchor="ctr"/>
          <a:lstStyle/>
          <a:p>
            <a:pPr indent="0" marL="0">
              <a:buNone/>
            </a:pPr>
            <a:r>
              <a:rPr lang="en-US" sz="2000" dirty="0">
                <a:solidFill>
                  <a:schemeClr val="tx2"/>
                </a:solidFill>
              </a:rPr>
              <a:t>Nothing is wrong</a:t>
            </a:r>
            <a:endParaRPr lang="en-US" sz="2000" dirty="0"/>
          </a:p>
        </p:txBody>
      </p:sp>
      <p:sp>
        <p:nvSpPr>
          <p:cNvPr id="24" name="panel"/>
          <p:cNvSpPr/>
          <p:nvPr/>
        </p:nvSpPr>
        <p:spPr>
          <a:xfrm>
            <a:off x="8503920" y="2560320"/>
            <a:ext cx="3136392" cy="2926080"/>
          </a:xfrm>
          <a:prstGeom prst="roundRect">
            <a:avLst>
              <a:gd name="adj" fmla="val 3750"/>
            </a:avLst>
          </a:prstGeom>
          <a:solidFill>
            <a:schemeClr val="accent5">
              <a:alpha val="12000"/>
            </a:schemeClr>
          </a:solidFill>
          <a:ln w="12700">
            <a:solidFill>
              <a:schemeClr val="accent5"/>
            </a:solidFill>
            <a:prstDash val="solid"/>
          </a:ln>
        </p:spPr>
      </p:sp>
      <p:sp>
        <p:nvSpPr>
          <p:cNvPr id="25" name="Text 22"/>
          <p:cNvSpPr txBox="1"/>
          <p:nvPr/>
        </p:nvSpPr>
        <p:spPr>
          <a:xfrm>
            <a:off x="8686800" y="2697480"/>
            <a:ext cx="2788920" cy="265176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Why</a:t>
            </a:r>
            <a:endParaRPr lang="en-US" sz="1700" dirty="0"/>
          </a:p>
          <a:p>
            <a:pPr indent="0" marL="0">
              <a:spcAft>
                <a:spcPts val="600"/>
              </a:spcAft>
              <a:buNone/>
            </a:pPr>
            <a:r>
              <a:rPr lang="en-US" sz="1700" dirty="0">
                <a:solidFill>
                  <a:schemeClr val="tx1"/>
                </a:solidFill>
              </a:rPr>
              <a:t>ATP is recycled over and over.</a:t>
            </a:r>
            <a:endParaRPr lang="en-US" sz="17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Now fix it</a:t>
            </a:r>
            <a:endParaRPr lang="en-US" sz="3200" dirty="0"/>
          </a:p>
        </p:txBody>
      </p:sp>
      <p:sp>
        <p:nvSpPr>
          <p:cNvPr id="3" name="tag"/>
          <p:cNvSpPr/>
          <p:nvPr/>
        </p:nvSpPr>
        <p:spPr>
          <a:xfrm>
            <a:off x="548640" y="329184"/>
            <a:ext cx="1348740" cy="329184"/>
          </a:xfrm>
          <a:prstGeom prst="roundRect">
            <a:avLst>
              <a:gd name="adj" fmla="val 50000"/>
            </a:avLst>
          </a:prstGeom>
          <a:solidFill>
            <a:schemeClr val="accent6">
              <a:alpha val="18000"/>
            </a:schemeClr>
          </a:solidFill>
          <a:ln w="12700">
            <a:solidFill>
              <a:schemeClr val="accent6"/>
            </a:solidFill>
            <a:prstDash val="solid"/>
          </a:ln>
        </p:spPr>
      </p:sp>
      <p:sp>
        <p:nvSpPr>
          <p:cNvPr id="4" name="Text 2"/>
          <p:cNvSpPr txBox="1"/>
          <p:nvPr/>
        </p:nvSpPr>
        <p:spPr>
          <a:xfrm>
            <a:off x="548640" y="329184"/>
            <a:ext cx="1348740" cy="329184"/>
          </a:xfrm>
          <a:prstGeom prst="rect">
            <a:avLst/>
          </a:prstGeom>
          <a:noFill/>
          <a:ln/>
        </p:spPr>
        <p:txBody>
          <a:bodyPr wrap="square" lIns="0" tIns="0" rIns="0" bIns="0" rtlCol="0" anchor="ctr"/>
          <a:lstStyle/>
          <a:p>
            <a:pPr algn="ctr" indent="0" marL="0">
              <a:buNone/>
            </a:pPr>
            <a:r>
              <a:rPr lang="en-US" sz="1300" b="1" dirty="0">
                <a:solidFill>
                  <a:schemeClr val="accent6"/>
                </a:solidFill>
              </a:rPr>
              <a:t>Quick check</a:t>
            </a:r>
            <a:endParaRPr lang="en-US" sz="1300" dirty="0"/>
          </a:p>
        </p:txBody>
      </p:sp>
      <p:sp>
        <p:nvSpPr>
          <p:cNvPr id="6" name="Text 3"/>
          <p:cNvSpPr txBox="1"/>
          <p:nvPr/>
        </p:nvSpPr>
        <p:spPr>
          <a:xfrm>
            <a:off x="548640" y="1600200"/>
            <a:ext cx="11064240" cy="868680"/>
          </a:xfrm>
          <a:prstGeom prst="rect">
            <a:avLst/>
          </a:prstGeom>
          <a:noFill/>
          <a:ln/>
        </p:spPr>
        <p:txBody>
          <a:bodyPr wrap="square" lIns="0" tIns="0" rIns="0" bIns="0" rtlCol="0" anchor="t"/>
          <a:lstStyle/>
          <a:p>
            <a:pPr indent="0" marL="0">
              <a:spcAft>
                <a:spcPts val="600"/>
              </a:spcAft>
              <a:buNone/>
            </a:pPr>
            <a:r>
              <a:rPr lang="en-US" sz="2400" dirty="0">
                <a:solidFill>
                  <a:schemeClr val="tx1"/>
                </a:solidFill>
              </a:rPr>
              <a:t>What recharges ADP back into ATP?</a:t>
            </a:r>
            <a:endParaRPr lang="en-US" sz="2400" dirty="0"/>
          </a:p>
        </p:txBody>
      </p:sp>
      <p:sp>
        <p:nvSpPr>
          <p:cNvPr id="7" name="option A"/>
          <p:cNvSpPr/>
          <p:nvPr/>
        </p:nvSpPr>
        <p:spPr>
          <a:xfrm>
            <a:off x="548640" y="2560320"/>
            <a:ext cx="7680960" cy="621792"/>
          </a:xfrm>
          <a:prstGeom prst="roundRect">
            <a:avLst>
              <a:gd name="adj" fmla="val 17647"/>
            </a:avLst>
          </a:prstGeom>
          <a:solidFill>
            <a:schemeClr val="bg2"/>
          </a:solidFill>
          <a:ln w="12700">
            <a:solidFill>
              <a:schemeClr val="bg2"/>
            </a:solidFill>
            <a:prstDash val="solid"/>
          </a:ln>
        </p:spPr>
      </p:sp>
      <p:sp>
        <p:nvSpPr>
          <p:cNvPr id="8" name="letter"/>
          <p:cNvSpPr/>
          <p:nvPr/>
        </p:nvSpPr>
        <p:spPr>
          <a:xfrm>
            <a:off x="713232" y="2679192"/>
            <a:ext cx="384048" cy="384048"/>
          </a:xfrm>
          <a:prstGeom prst="ellipse">
            <a:avLst/>
          </a:prstGeom>
          <a:solidFill>
            <a:schemeClr val="bg1"/>
          </a:solidFill>
          <a:ln w="12700">
            <a:solidFill>
              <a:schemeClr val="bg1"/>
            </a:solidFill>
            <a:prstDash val="solid"/>
          </a:ln>
        </p:spPr>
      </p:sp>
      <p:sp>
        <p:nvSpPr>
          <p:cNvPr id="9" name="Text 6"/>
          <p:cNvSpPr txBox="1"/>
          <p:nvPr/>
        </p:nvSpPr>
        <p:spPr>
          <a:xfrm>
            <a:off x="713232" y="2679192"/>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A</a:t>
            </a:r>
            <a:endParaRPr lang="en-US" sz="1500" dirty="0"/>
          </a:p>
        </p:txBody>
      </p:sp>
      <p:sp>
        <p:nvSpPr>
          <p:cNvPr id="10" name="Text 7"/>
          <p:cNvSpPr txBox="1"/>
          <p:nvPr/>
        </p:nvSpPr>
        <p:spPr>
          <a:xfrm>
            <a:off x="1280160" y="2560320"/>
            <a:ext cx="6355080" cy="621792"/>
          </a:xfrm>
          <a:prstGeom prst="rect">
            <a:avLst/>
          </a:prstGeom>
          <a:noFill/>
          <a:ln/>
        </p:spPr>
        <p:txBody>
          <a:bodyPr wrap="square" lIns="0" tIns="0" rIns="0" bIns="0" rtlCol="0" anchor="ctr"/>
          <a:lstStyle/>
          <a:p>
            <a:pPr indent="0" marL="0">
              <a:buNone/>
            </a:pPr>
            <a:r>
              <a:rPr lang="en-US" sz="2000" dirty="0">
                <a:solidFill>
                  <a:schemeClr val="tx1"/>
                </a:solidFill>
              </a:rPr>
              <a:t>Diffusion</a:t>
            </a:r>
            <a:endParaRPr lang="en-US" sz="2000" dirty="0"/>
          </a:p>
        </p:txBody>
      </p:sp>
      <p:sp>
        <p:nvSpPr>
          <p:cNvPr id="11" name="option B"/>
          <p:cNvSpPr/>
          <p:nvPr/>
        </p:nvSpPr>
        <p:spPr>
          <a:xfrm>
            <a:off x="548640" y="3328416"/>
            <a:ext cx="7680960" cy="621792"/>
          </a:xfrm>
          <a:prstGeom prst="roundRect">
            <a:avLst>
              <a:gd name="adj" fmla="val 17647"/>
            </a:avLst>
          </a:prstGeom>
          <a:solidFill>
            <a:schemeClr val="bg2"/>
          </a:solidFill>
          <a:ln w="12700">
            <a:solidFill>
              <a:schemeClr val="bg2"/>
            </a:solidFill>
            <a:prstDash val="solid"/>
          </a:ln>
        </p:spPr>
      </p:sp>
      <p:sp>
        <p:nvSpPr>
          <p:cNvPr id="12" name="letter"/>
          <p:cNvSpPr/>
          <p:nvPr/>
        </p:nvSpPr>
        <p:spPr>
          <a:xfrm>
            <a:off x="713232" y="3447288"/>
            <a:ext cx="384048" cy="384048"/>
          </a:xfrm>
          <a:prstGeom prst="ellipse">
            <a:avLst/>
          </a:prstGeom>
          <a:solidFill>
            <a:schemeClr val="bg1"/>
          </a:solidFill>
          <a:ln w="12700">
            <a:solidFill>
              <a:schemeClr val="bg1"/>
            </a:solidFill>
            <a:prstDash val="solid"/>
          </a:ln>
        </p:spPr>
      </p:sp>
      <p:sp>
        <p:nvSpPr>
          <p:cNvPr id="13" name="Text 10"/>
          <p:cNvSpPr txBox="1"/>
          <p:nvPr/>
        </p:nvSpPr>
        <p:spPr>
          <a:xfrm>
            <a:off x="713232" y="3447288"/>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B</a:t>
            </a:r>
            <a:endParaRPr lang="en-US" sz="1500" dirty="0"/>
          </a:p>
        </p:txBody>
      </p:sp>
      <p:sp>
        <p:nvSpPr>
          <p:cNvPr id="14" name="Text 11"/>
          <p:cNvSpPr txBox="1"/>
          <p:nvPr/>
        </p:nvSpPr>
        <p:spPr>
          <a:xfrm>
            <a:off x="1280160" y="3328416"/>
            <a:ext cx="6355080" cy="621792"/>
          </a:xfrm>
          <a:prstGeom prst="rect">
            <a:avLst/>
          </a:prstGeom>
          <a:noFill/>
          <a:ln/>
        </p:spPr>
        <p:txBody>
          <a:bodyPr wrap="square" lIns="0" tIns="0" rIns="0" bIns="0" rtlCol="0" anchor="ctr"/>
          <a:lstStyle/>
          <a:p>
            <a:pPr indent="0" marL="0">
              <a:buNone/>
            </a:pPr>
            <a:r>
              <a:rPr lang="en-US" sz="2000" dirty="0">
                <a:solidFill>
                  <a:schemeClr val="tx1"/>
                </a:solidFill>
              </a:rPr>
              <a:t>Osmosis</a:t>
            </a:r>
            <a:endParaRPr lang="en-US" sz="2000" dirty="0"/>
          </a:p>
        </p:txBody>
      </p:sp>
      <p:sp>
        <p:nvSpPr>
          <p:cNvPr id="15" name="option C"/>
          <p:cNvSpPr/>
          <p:nvPr/>
        </p:nvSpPr>
        <p:spPr>
          <a:xfrm>
            <a:off x="548640" y="4096512"/>
            <a:ext cx="7680960" cy="621792"/>
          </a:xfrm>
          <a:prstGeom prst="roundRect">
            <a:avLst>
              <a:gd name="adj" fmla="val 17647"/>
            </a:avLst>
          </a:prstGeom>
          <a:solidFill>
            <a:schemeClr val="bg2"/>
          </a:solidFill>
          <a:ln w="12700">
            <a:solidFill>
              <a:schemeClr val="bg2"/>
            </a:solidFill>
            <a:prstDash val="solid"/>
          </a:ln>
        </p:spPr>
      </p:sp>
      <p:sp>
        <p:nvSpPr>
          <p:cNvPr id="16" name="letter"/>
          <p:cNvSpPr/>
          <p:nvPr/>
        </p:nvSpPr>
        <p:spPr>
          <a:xfrm>
            <a:off x="713232" y="4215384"/>
            <a:ext cx="384048" cy="384048"/>
          </a:xfrm>
          <a:prstGeom prst="ellipse">
            <a:avLst/>
          </a:prstGeom>
          <a:solidFill>
            <a:schemeClr val="bg1"/>
          </a:solidFill>
          <a:ln w="12700">
            <a:solidFill>
              <a:schemeClr val="bg1"/>
            </a:solidFill>
            <a:prstDash val="solid"/>
          </a:ln>
        </p:spPr>
      </p:sp>
      <p:sp>
        <p:nvSpPr>
          <p:cNvPr id="17" name="Text 14"/>
          <p:cNvSpPr txBox="1"/>
          <p:nvPr/>
        </p:nvSpPr>
        <p:spPr>
          <a:xfrm>
            <a:off x="713232" y="4215384"/>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C</a:t>
            </a:r>
            <a:endParaRPr lang="en-US" sz="1500" dirty="0"/>
          </a:p>
        </p:txBody>
      </p:sp>
      <p:sp>
        <p:nvSpPr>
          <p:cNvPr id="18" name="Text 15"/>
          <p:cNvSpPr txBox="1"/>
          <p:nvPr/>
        </p:nvSpPr>
        <p:spPr>
          <a:xfrm>
            <a:off x="1280160" y="4096512"/>
            <a:ext cx="6355080" cy="621792"/>
          </a:xfrm>
          <a:prstGeom prst="rect">
            <a:avLst/>
          </a:prstGeom>
          <a:noFill/>
          <a:ln/>
        </p:spPr>
        <p:txBody>
          <a:bodyPr wrap="square" lIns="0" tIns="0" rIns="0" bIns="0" rtlCol="0" anchor="ctr"/>
          <a:lstStyle/>
          <a:p>
            <a:pPr indent="0" marL="0">
              <a:buNone/>
            </a:pPr>
            <a:r>
              <a:rPr lang="en-US" sz="2000" dirty="0">
                <a:solidFill>
                  <a:schemeClr val="tx1"/>
                </a:solidFill>
              </a:rPr>
              <a:t>The nucleus</a:t>
            </a:r>
            <a:endParaRPr lang="en-US" sz="2000" dirty="0"/>
          </a:p>
        </p:txBody>
      </p:sp>
      <p:sp>
        <p:nvSpPr>
          <p:cNvPr id="19" name="option D"/>
          <p:cNvSpPr/>
          <p:nvPr/>
        </p:nvSpPr>
        <p:spPr>
          <a:xfrm>
            <a:off x="548640" y="4864608"/>
            <a:ext cx="7680960" cy="621792"/>
          </a:xfrm>
          <a:prstGeom prst="roundRect">
            <a:avLst>
              <a:gd name="adj" fmla="val 17647"/>
            </a:avLst>
          </a:prstGeom>
          <a:solidFill>
            <a:schemeClr val="bg2"/>
          </a:solidFill>
          <a:ln w="12700">
            <a:solidFill>
              <a:schemeClr val="bg2"/>
            </a:solidFill>
            <a:prstDash val="solid"/>
          </a:ln>
        </p:spPr>
      </p:sp>
      <p:sp>
        <p:nvSpPr>
          <p:cNvPr id="20" name="letter"/>
          <p:cNvSpPr/>
          <p:nvPr/>
        </p:nvSpPr>
        <p:spPr>
          <a:xfrm>
            <a:off x="713232" y="4983480"/>
            <a:ext cx="384048" cy="384048"/>
          </a:xfrm>
          <a:prstGeom prst="ellipse">
            <a:avLst/>
          </a:prstGeom>
          <a:solidFill>
            <a:schemeClr val="bg1"/>
          </a:solidFill>
          <a:ln w="12700">
            <a:solidFill>
              <a:schemeClr val="bg1"/>
            </a:solidFill>
            <a:prstDash val="solid"/>
          </a:ln>
        </p:spPr>
      </p:sp>
      <p:sp>
        <p:nvSpPr>
          <p:cNvPr id="21" name="Text 18"/>
          <p:cNvSpPr txBox="1"/>
          <p:nvPr/>
        </p:nvSpPr>
        <p:spPr>
          <a:xfrm>
            <a:off x="713232" y="4983480"/>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D</a:t>
            </a:r>
            <a:endParaRPr lang="en-US" sz="1500" dirty="0"/>
          </a:p>
        </p:txBody>
      </p:sp>
      <p:sp>
        <p:nvSpPr>
          <p:cNvPr id="22" name="Text 19"/>
          <p:cNvSpPr txBox="1"/>
          <p:nvPr/>
        </p:nvSpPr>
        <p:spPr>
          <a:xfrm>
            <a:off x="1280160" y="4864608"/>
            <a:ext cx="6355080" cy="621792"/>
          </a:xfrm>
          <a:prstGeom prst="rect">
            <a:avLst/>
          </a:prstGeom>
          <a:noFill/>
          <a:ln/>
        </p:spPr>
        <p:txBody>
          <a:bodyPr wrap="square" lIns="0" tIns="0" rIns="0" bIns="0" rtlCol="0" anchor="ctr"/>
          <a:lstStyle/>
          <a:p>
            <a:pPr indent="0" marL="0">
              <a:buNone/>
            </a:pPr>
            <a:r>
              <a:rPr lang="en-US" sz="2000" dirty="0">
                <a:solidFill>
                  <a:schemeClr val="tx1"/>
                </a:solidFill>
              </a:rPr>
              <a:t>Cellular respiration, using energy from glucose</a:t>
            </a:r>
            <a:endParaRPr lang="en-US" sz="2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Now fix it</a:t>
            </a:r>
            <a:endParaRPr lang="en-US" sz="3200" dirty="0"/>
          </a:p>
        </p:txBody>
      </p:sp>
      <p:sp>
        <p:nvSpPr>
          <p:cNvPr id="3" name="tag"/>
          <p:cNvSpPr/>
          <p:nvPr/>
        </p:nvSpPr>
        <p:spPr>
          <a:xfrm>
            <a:off x="548640" y="329184"/>
            <a:ext cx="868680" cy="329184"/>
          </a:xfrm>
          <a:prstGeom prst="roundRect">
            <a:avLst>
              <a:gd name="adj" fmla="val 50000"/>
            </a:avLst>
          </a:prstGeom>
          <a:solidFill>
            <a:schemeClr val="accent5">
              <a:alpha val="18000"/>
            </a:schemeClr>
          </a:solidFill>
          <a:ln w="12700">
            <a:solidFill>
              <a:schemeClr val="accent5"/>
            </a:solidFill>
            <a:prstDash val="solid"/>
          </a:ln>
        </p:spPr>
      </p:sp>
      <p:sp>
        <p:nvSpPr>
          <p:cNvPr id="4" name="Text 2"/>
          <p:cNvSpPr txBox="1"/>
          <p:nvPr/>
        </p:nvSpPr>
        <p:spPr>
          <a:xfrm>
            <a:off x="548640" y="329184"/>
            <a:ext cx="868680" cy="329184"/>
          </a:xfrm>
          <a:prstGeom prst="rect">
            <a:avLst/>
          </a:prstGeom>
          <a:noFill/>
          <a:ln/>
        </p:spPr>
        <p:txBody>
          <a:bodyPr wrap="square" lIns="0" tIns="0" rIns="0" bIns="0" rtlCol="0" anchor="ctr"/>
          <a:lstStyle/>
          <a:p>
            <a:pPr algn="ctr" indent="0" marL="0">
              <a:buNone/>
            </a:pPr>
            <a:r>
              <a:rPr lang="en-US" sz="1300" b="1" dirty="0">
                <a:solidFill>
                  <a:schemeClr val="accent5"/>
                </a:solidFill>
              </a:rPr>
              <a:t>Answer</a:t>
            </a:r>
            <a:endParaRPr lang="en-US" sz="1300" dirty="0"/>
          </a:p>
        </p:txBody>
      </p:sp>
      <p:sp>
        <p:nvSpPr>
          <p:cNvPr id="6" name="Text 3"/>
          <p:cNvSpPr txBox="1"/>
          <p:nvPr/>
        </p:nvSpPr>
        <p:spPr>
          <a:xfrm>
            <a:off x="548640" y="1600200"/>
            <a:ext cx="11064240" cy="868680"/>
          </a:xfrm>
          <a:prstGeom prst="rect">
            <a:avLst/>
          </a:prstGeom>
          <a:noFill/>
          <a:ln/>
        </p:spPr>
        <p:txBody>
          <a:bodyPr wrap="square" lIns="0" tIns="0" rIns="0" bIns="0" rtlCol="0" anchor="t"/>
          <a:lstStyle/>
          <a:p>
            <a:pPr indent="0" marL="0">
              <a:spcAft>
                <a:spcPts val="600"/>
              </a:spcAft>
              <a:buNone/>
            </a:pPr>
            <a:r>
              <a:rPr lang="en-US" sz="2400" dirty="0">
                <a:solidFill>
                  <a:schemeClr val="tx1"/>
                </a:solidFill>
              </a:rPr>
              <a:t>What recharges ADP back into ATP?</a:t>
            </a:r>
            <a:endParaRPr lang="en-US" sz="2400" dirty="0"/>
          </a:p>
        </p:txBody>
      </p:sp>
      <p:sp>
        <p:nvSpPr>
          <p:cNvPr id="7" name="option A"/>
          <p:cNvSpPr/>
          <p:nvPr/>
        </p:nvSpPr>
        <p:spPr>
          <a:xfrm>
            <a:off x="548640" y="2560320"/>
            <a:ext cx="7680960" cy="621792"/>
          </a:xfrm>
          <a:prstGeom prst="roundRect">
            <a:avLst>
              <a:gd name="adj" fmla="val 17647"/>
            </a:avLst>
          </a:prstGeom>
          <a:solidFill>
            <a:schemeClr val="bg2"/>
          </a:solidFill>
          <a:ln w="12700">
            <a:solidFill>
              <a:schemeClr val="bg2"/>
            </a:solidFill>
            <a:prstDash val="solid"/>
          </a:ln>
        </p:spPr>
      </p:sp>
      <p:sp>
        <p:nvSpPr>
          <p:cNvPr id="8" name="letter"/>
          <p:cNvSpPr/>
          <p:nvPr/>
        </p:nvSpPr>
        <p:spPr>
          <a:xfrm>
            <a:off x="713232" y="2679192"/>
            <a:ext cx="384048" cy="384048"/>
          </a:xfrm>
          <a:prstGeom prst="ellipse">
            <a:avLst/>
          </a:prstGeom>
          <a:solidFill>
            <a:schemeClr val="bg1"/>
          </a:solidFill>
          <a:ln w="12700">
            <a:solidFill>
              <a:schemeClr val="bg1"/>
            </a:solidFill>
            <a:prstDash val="solid"/>
          </a:ln>
        </p:spPr>
      </p:sp>
      <p:sp>
        <p:nvSpPr>
          <p:cNvPr id="9" name="Text 6"/>
          <p:cNvSpPr txBox="1"/>
          <p:nvPr/>
        </p:nvSpPr>
        <p:spPr>
          <a:xfrm>
            <a:off x="713232" y="2679192"/>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A</a:t>
            </a:r>
            <a:endParaRPr lang="en-US" sz="1500" dirty="0"/>
          </a:p>
        </p:txBody>
      </p:sp>
      <p:sp>
        <p:nvSpPr>
          <p:cNvPr id="10" name="Text 7"/>
          <p:cNvSpPr txBox="1"/>
          <p:nvPr/>
        </p:nvSpPr>
        <p:spPr>
          <a:xfrm>
            <a:off x="1280160" y="2560320"/>
            <a:ext cx="6355080" cy="621792"/>
          </a:xfrm>
          <a:prstGeom prst="rect">
            <a:avLst/>
          </a:prstGeom>
          <a:noFill/>
          <a:ln/>
        </p:spPr>
        <p:txBody>
          <a:bodyPr wrap="square" lIns="0" tIns="0" rIns="0" bIns="0" rtlCol="0" anchor="ctr"/>
          <a:lstStyle/>
          <a:p>
            <a:pPr indent="0" marL="0">
              <a:buNone/>
            </a:pPr>
            <a:r>
              <a:rPr lang="en-US" sz="2000" dirty="0">
                <a:solidFill>
                  <a:schemeClr val="tx2"/>
                </a:solidFill>
              </a:rPr>
              <a:t>Diffusion</a:t>
            </a:r>
            <a:endParaRPr lang="en-US" sz="2000" dirty="0"/>
          </a:p>
        </p:txBody>
      </p:sp>
      <p:sp>
        <p:nvSpPr>
          <p:cNvPr id="11" name="option B"/>
          <p:cNvSpPr/>
          <p:nvPr/>
        </p:nvSpPr>
        <p:spPr>
          <a:xfrm>
            <a:off x="548640" y="3328416"/>
            <a:ext cx="7680960" cy="621792"/>
          </a:xfrm>
          <a:prstGeom prst="roundRect">
            <a:avLst>
              <a:gd name="adj" fmla="val 17647"/>
            </a:avLst>
          </a:prstGeom>
          <a:solidFill>
            <a:schemeClr val="bg2"/>
          </a:solidFill>
          <a:ln w="12700">
            <a:solidFill>
              <a:schemeClr val="bg2"/>
            </a:solidFill>
            <a:prstDash val="solid"/>
          </a:ln>
        </p:spPr>
      </p:sp>
      <p:sp>
        <p:nvSpPr>
          <p:cNvPr id="12" name="letter"/>
          <p:cNvSpPr/>
          <p:nvPr/>
        </p:nvSpPr>
        <p:spPr>
          <a:xfrm>
            <a:off x="713232" y="3447288"/>
            <a:ext cx="384048" cy="384048"/>
          </a:xfrm>
          <a:prstGeom prst="ellipse">
            <a:avLst/>
          </a:prstGeom>
          <a:solidFill>
            <a:schemeClr val="bg1"/>
          </a:solidFill>
          <a:ln w="12700">
            <a:solidFill>
              <a:schemeClr val="bg1"/>
            </a:solidFill>
            <a:prstDash val="solid"/>
          </a:ln>
        </p:spPr>
      </p:sp>
      <p:sp>
        <p:nvSpPr>
          <p:cNvPr id="13" name="Text 10"/>
          <p:cNvSpPr txBox="1"/>
          <p:nvPr/>
        </p:nvSpPr>
        <p:spPr>
          <a:xfrm>
            <a:off x="713232" y="3447288"/>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B</a:t>
            </a:r>
            <a:endParaRPr lang="en-US" sz="1500" dirty="0"/>
          </a:p>
        </p:txBody>
      </p:sp>
      <p:sp>
        <p:nvSpPr>
          <p:cNvPr id="14" name="Text 11"/>
          <p:cNvSpPr txBox="1"/>
          <p:nvPr/>
        </p:nvSpPr>
        <p:spPr>
          <a:xfrm>
            <a:off x="1280160" y="3328416"/>
            <a:ext cx="6355080" cy="621792"/>
          </a:xfrm>
          <a:prstGeom prst="rect">
            <a:avLst/>
          </a:prstGeom>
          <a:noFill/>
          <a:ln/>
        </p:spPr>
        <p:txBody>
          <a:bodyPr wrap="square" lIns="0" tIns="0" rIns="0" bIns="0" rtlCol="0" anchor="ctr"/>
          <a:lstStyle/>
          <a:p>
            <a:pPr indent="0" marL="0">
              <a:buNone/>
            </a:pPr>
            <a:r>
              <a:rPr lang="en-US" sz="2000" dirty="0">
                <a:solidFill>
                  <a:schemeClr val="tx2"/>
                </a:solidFill>
              </a:rPr>
              <a:t>Osmosis</a:t>
            </a:r>
            <a:endParaRPr lang="en-US" sz="2000" dirty="0"/>
          </a:p>
        </p:txBody>
      </p:sp>
      <p:sp>
        <p:nvSpPr>
          <p:cNvPr id="15" name="option C"/>
          <p:cNvSpPr/>
          <p:nvPr/>
        </p:nvSpPr>
        <p:spPr>
          <a:xfrm>
            <a:off x="548640" y="4096512"/>
            <a:ext cx="7680960" cy="621792"/>
          </a:xfrm>
          <a:prstGeom prst="roundRect">
            <a:avLst>
              <a:gd name="adj" fmla="val 17647"/>
            </a:avLst>
          </a:prstGeom>
          <a:solidFill>
            <a:schemeClr val="bg2"/>
          </a:solidFill>
          <a:ln w="12700">
            <a:solidFill>
              <a:schemeClr val="bg2"/>
            </a:solidFill>
            <a:prstDash val="solid"/>
          </a:ln>
        </p:spPr>
      </p:sp>
      <p:sp>
        <p:nvSpPr>
          <p:cNvPr id="16" name="letter"/>
          <p:cNvSpPr/>
          <p:nvPr/>
        </p:nvSpPr>
        <p:spPr>
          <a:xfrm>
            <a:off x="713232" y="4215384"/>
            <a:ext cx="384048" cy="384048"/>
          </a:xfrm>
          <a:prstGeom prst="ellipse">
            <a:avLst/>
          </a:prstGeom>
          <a:solidFill>
            <a:schemeClr val="bg1"/>
          </a:solidFill>
          <a:ln w="12700">
            <a:solidFill>
              <a:schemeClr val="bg1"/>
            </a:solidFill>
            <a:prstDash val="solid"/>
          </a:ln>
        </p:spPr>
      </p:sp>
      <p:sp>
        <p:nvSpPr>
          <p:cNvPr id="17" name="Text 14"/>
          <p:cNvSpPr txBox="1"/>
          <p:nvPr/>
        </p:nvSpPr>
        <p:spPr>
          <a:xfrm>
            <a:off x="713232" y="4215384"/>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C</a:t>
            </a:r>
            <a:endParaRPr lang="en-US" sz="1500" dirty="0"/>
          </a:p>
        </p:txBody>
      </p:sp>
      <p:sp>
        <p:nvSpPr>
          <p:cNvPr id="18" name="Text 15"/>
          <p:cNvSpPr txBox="1"/>
          <p:nvPr/>
        </p:nvSpPr>
        <p:spPr>
          <a:xfrm>
            <a:off x="1280160" y="4096512"/>
            <a:ext cx="6355080" cy="621792"/>
          </a:xfrm>
          <a:prstGeom prst="rect">
            <a:avLst/>
          </a:prstGeom>
          <a:noFill/>
          <a:ln/>
        </p:spPr>
        <p:txBody>
          <a:bodyPr wrap="square" lIns="0" tIns="0" rIns="0" bIns="0" rtlCol="0" anchor="ctr"/>
          <a:lstStyle/>
          <a:p>
            <a:pPr indent="0" marL="0">
              <a:buNone/>
            </a:pPr>
            <a:r>
              <a:rPr lang="en-US" sz="2000" dirty="0">
                <a:solidFill>
                  <a:schemeClr val="tx2"/>
                </a:solidFill>
              </a:rPr>
              <a:t>The nucleus</a:t>
            </a:r>
            <a:endParaRPr lang="en-US" sz="2000" dirty="0"/>
          </a:p>
        </p:txBody>
      </p:sp>
      <p:sp>
        <p:nvSpPr>
          <p:cNvPr id="19" name="option D"/>
          <p:cNvSpPr/>
          <p:nvPr/>
        </p:nvSpPr>
        <p:spPr>
          <a:xfrm>
            <a:off x="548640" y="4864608"/>
            <a:ext cx="7680960" cy="621792"/>
          </a:xfrm>
          <a:prstGeom prst="roundRect">
            <a:avLst>
              <a:gd name="adj" fmla="val 17647"/>
            </a:avLst>
          </a:prstGeom>
          <a:solidFill>
            <a:schemeClr val="accent5">
              <a:alpha val="20000"/>
            </a:schemeClr>
          </a:solidFill>
          <a:ln w="25400">
            <a:solidFill>
              <a:schemeClr val="accent5"/>
            </a:solidFill>
            <a:prstDash val="solid"/>
          </a:ln>
        </p:spPr>
      </p:sp>
      <p:sp>
        <p:nvSpPr>
          <p:cNvPr id="20" name="letter"/>
          <p:cNvSpPr/>
          <p:nvPr/>
        </p:nvSpPr>
        <p:spPr>
          <a:xfrm>
            <a:off x="713232" y="4983480"/>
            <a:ext cx="384048" cy="384048"/>
          </a:xfrm>
          <a:prstGeom prst="ellipse">
            <a:avLst/>
          </a:prstGeom>
          <a:solidFill>
            <a:schemeClr val="accent5"/>
          </a:solidFill>
          <a:ln w="12700">
            <a:solidFill>
              <a:schemeClr val="accent5"/>
            </a:solidFill>
            <a:prstDash val="solid"/>
          </a:ln>
        </p:spPr>
      </p:sp>
      <p:sp>
        <p:nvSpPr>
          <p:cNvPr id="21" name="Text 18"/>
          <p:cNvSpPr txBox="1"/>
          <p:nvPr/>
        </p:nvSpPr>
        <p:spPr>
          <a:xfrm>
            <a:off x="713232" y="498348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D</a:t>
            </a:r>
            <a:endParaRPr lang="en-US" sz="1500" dirty="0"/>
          </a:p>
        </p:txBody>
      </p:sp>
      <p:sp>
        <p:nvSpPr>
          <p:cNvPr id="22" name="Text 19"/>
          <p:cNvSpPr txBox="1"/>
          <p:nvPr/>
        </p:nvSpPr>
        <p:spPr>
          <a:xfrm>
            <a:off x="1280160" y="4864608"/>
            <a:ext cx="6355080" cy="621792"/>
          </a:xfrm>
          <a:prstGeom prst="rect">
            <a:avLst/>
          </a:prstGeom>
          <a:noFill/>
          <a:ln/>
        </p:spPr>
        <p:txBody>
          <a:bodyPr wrap="square" lIns="0" tIns="0" rIns="0" bIns="0" rtlCol="0" anchor="ctr"/>
          <a:lstStyle/>
          <a:p>
            <a:pPr indent="0" marL="0">
              <a:buNone/>
            </a:pPr>
            <a:r>
              <a:rPr lang="en-US" sz="2000" dirty="0">
                <a:solidFill>
                  <a:schemeClr val="tx1"/>
                </a:solidFill>
              </a:rPr>
              <a:t>Cellular respiration, using energy from glucose</a:t>
            </a:r>
            <a:endParaRPr lang="en-US" sz="2000" dirty="0"/>
          </a:p>
        </p:txBody>
      </p:sp>
      <p:sp>
        <p:nvSpPr>
          <p:cNvPr id="23" name="Text 20"/>
          <p:cNvSpPr txBox="1"/>
          <p:nvPr/>
        </p:nvSpPr>
        <p:spPr>
          <a:xfrm>
            <a:off x="7726680" y="4864608"/>
            <a:ext cx="411480" cy="621792"/>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sp>
        <p:nvSpPr>
          <p:cNvPr id="24" name="panel"/>
          <p:cNvSpPr/>
          <p:nvPr/>
        </p:nvSpPr>
        <p:spPr>
          <a:xfrm>
            <a:off x="8503920" y="2560320"/>
            <a:ext cx="3136392" cy="2926080"/>
          </a:xfrm>
          <a:prstGeom prst="roundRect">
            <a:avLst>
              <a:gd name="adj" fmla="val 3750"/>
            </a:avLst>
          </a:prstGeom>
          <a:solidFill>
            <a:schemeClr val="accent5">
              <a:alpha val="12000"/>
            </a:schemeClr>
          </a:solidFill>
          <a:ln w="12700">
            <a:solidFill>
              <a:schemeClr val="accent5"/>
            </a:solidFill>
            <a:prstDash val="solid"/>
          </a:ln>
        </p:spPr>
      </p:sp>
      <p:sp>
        <p:nvSpPr>
          <p:cNvPr id="25" name="Text 22"/>
          <p:cNvSpPr txBox="1"/>
          <p:nvPr/>
        </p:nvSpPr>
        <p:spPr>
          <a:xfrm>
            <a:off x="8686800" y="2697480"/>
            <a:ext cx="2788920" cy="265176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Why</a:t>
            </a:r>
            <a:endParaRPr lang="en-US" sz="1700" dirty="0"/>
          </a:p>
          <a:p>
            <a:pPr indent="0" marL="0">
              <a:spcAft>
                <a:spcPts val="600"/>
              </a:spcAft>
              <a:buNone/>
            </a:pPr>
            <a:r>
              <a:rPr lang="en-US" sz="1700" dirty="0">
                <a:solidFill>
                  <a:schemeClr val="tx1"/>
                </a:solidFill>
              </a:rPr>
              <a:t>Respiration uses energy from food to reattach the phosphate.</a:t>
            </a:r>
            <a:endParaRPr lang="en-US" sz="17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Riley's mistake</a:t>
            </a:r>
            <a:endParaRPr lang="en-US" sz="3200" dirty="0"/>
          </a:p>
        </p:txBody>
      </p:sp>
      <p:sp>
        <p:nvSpPr>
          <p:cNvPr id="3" name="tag"/>
          <p:cNvSpPr/>
          <p:nvPr/>
        </p:nvSpPr>
        <p:spPr>
          <a:xfrm>
            <a:off x="548640" y="329184"/>
            <a:ext cx="1348740" cy="329184"/>
          </a:xfrm>
          <a:prstGeom prst="roundRect">
            <a:avLst>
              <a:gd name="adj" fmla="val 50000"/>
            </a:avLst>
          </a:prstGeom>
          <a:solidFill>
            <a:schemeClr val="accent6">
              <a:alpha val="18000"/>
            </a:schemeClr>
          </a:solidFill>
          <a:ln w="12700">
            <a:solidFill>
              <a:schemeClr val="accent6"/>
            </a:solidFill>
            <a:prstDash val="solid"/>
          </a:ln>
        </p:spPr>
      </p:sp>
      <p:sp>
        <p:nvSpPr>
          <p:cNvPr id="4" name="Text 2"/>
          <p:cNvSpPr txBox="1"/>
          <p:nvPr/>
        </p:nvSpPr>
        <p:spPr>
          <a:xfrm>
            <a:off x="548640" y="329184"/>
            <a:ext cx="1348740" cy="329184"/>
          </a:xfrm>
          <a:prstGeom prst="rect">
            <a:avLst/>
          </a:prstGeom>
          <a:noFill/>
          <a:ln/>
        </p:spPr>
        <p:txBody>
          <a:bodyPr wrap="square" lIns="0" tIns="0" rIns="0" bIns="0" rtlCol="0" anchor="ctr"/>
          <a:lstStyle/>
          <a:p>
            <a:pPr algn="ctr" indent="0" marL="0">
              <a:buNone/>
            </a:pPr>
            <a:r>
              <a:rPr lang="en-US" sz="1300" b="1" dirty="0">
                <a:solidFill>
                  <a:schemeClr val="accent6"/>
                </a:solidFill>
              </a:rPr>
              <a:t>Quick check</a:t>
            </a:r>
            <a:endParaRPr lang="en-US" sz="1300" dirty="0"/>
          </a:p>
        </p:txBody>
      </p:sp>
      <p:sp>
        <p:nvSpPr>
          <p:cNvPr id="6" name="Text 3"/>
          <p:cNvSpPr txBox="1"/>
          <p:nvPr/>
        </p:nvSpPr>
        <p:spPr>
          <a:xfrm>
            <a:off x="548640" y="1600200"/>
            <a:ext cx="11064240" cy="868680"/>
          </a:xfrm>
          <a:prstGeom prst="rect">
            <a:avLst/>
          </a:prstGeom>
          <a:noFill/>
          <a:ln/>
        </p:spPr>
        <p:txBody>
          <a:bodyPr wrap="square" lIns="0" tIns="0" rIns="0" bIns="0" rtlCol="0" anchor="t"/>
          <a:lstStyle/>
          <a:p>
            <a:pPr indent="0" marL="0">
              <a:spcAft>
                <a:spcPts val="600"/>
              </a:spcAft>
              <a:buNone/>
            </a:pPr>
            <a:r>
              <a:rPr lang="en-US" sz="2400" dirty="0">
                <a:solidFill>
                  <a:schemeClr val="tx1"/>
                </a:solidFill>
              </a:rPr>
              <a:t>Riley wrote: "A muscle cell uses the energy in glucose directly to contract."  What's wrong?</a:t>
            </a:r>
            <a:endParaRPr lang="en-US" sz="2400" dirty="0"/>
          </a:p>
        </p:txBody>
      </p:sp>
      <p:sp>
        <p:nvSpPr>
          <p:cNvPr id="7" name="option A"/>
          <p:cNvSpPr/>
          <p:nvPr/>
        </p:nvSpPr>
        <p:spPr>
          <a:xfrm>
            <a:off x="548640" y="2560320"/>
            <a:ext cx="7680960" cy="621792"/>
          </a:xfrm>
          <a:prstGeom prst="roundRect">
            <a:avLst>
              <a:gd name="adj" fmla="val 17647"/>
            </a:avLst>
          </a:prstGeom>
          <a:solidFill>
            <a:schemeClr val="bg2"/>
          </a:solidFill>
          <a:ln w="12700">
            <a:solidFill>
              <a:schemeClr val="bg2"/>
            </a:solidFill>
            <a:prstDash val="solid"/>
          </a:ln>
        </p:spPr>
      </p:sp>
      <p:sp>
        <p:nvSpPr>
          <p:cNvPr id="8" name="letter"/>
          <p:cNvSpPr/>
          <p:nvPr/>
        </p:nvSpPr>
        <p:spPr>
          <a:xfrm>
            <a:off x="713232" y="2679192"/>
            <a:ext cx="384048" cy="384048"/>
          </a:xfrm>
          <a:prstGeom prst="ellipse">
            <a:avLst/>
          </a:prstGeom>
          <a:solidFill>
            <a:schemeClr val="bg1"/>
          </a:solidFill>
          <a:ln w="12700">
            <a:solidFill>
              <a:schemeClr val="bg1"/>
            </a:solidFill>
            <a:prstDash val="solid"/>
          </a:ln>
        </p:spPr>
      </p:sp>
      <p:sp>
        <p:nvSpPr>
          <p:cNvPr id="9" name="Text 6"/>
          <p:cNvSpPr txBox="1"/>
          <p:nvPr/>
        </p:nvSpPr>
        <p:spPr>
          <a:xfrm>
            <a:off x="713232" y="2679192"/>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A</a:t>
            </a:r>
            <a:endParaRPr lang="en-US" sz="1500" dirty="0"/>
          </a:p>
        </p:txBody>
      </p:sp>
      <p:sp>
        <p:nvSpPr>
          <p:cNvPr id="10" name="Text 7"/>
          <p:cNvSpPr txBox="1"/>
          <p:nvPr/>
        </p:nvSpPr>
        <p:spPr>
          <a:xfrm>
            <a:off x="1280160" y="2560320"/>
            <a:ext cx="6355080" cy="621792"/>
          </a:xfrm>
          <a:prstGeom prst="rect">
            <a:avLst/>
          </a:prstGeom>
          <a:noFill/>
          <a:ln/>
        </p:spPr>
        <p:txBody>
          <a:bodyPr wrap="square" lIns="0" tIns="0" rIns="0" bIns="0" rtlCol="0" anchor="ctr"/>
          <a:lstStyle/>
          <a:p>
            <a:pPr indent="0" marL="0">
              <a:buNone/>
            </a:pPr>
            <a:r>
              <a:rPr lang="en-US" sz="2000" dirty="0">
                <a:solidFill>
                  <a:schemeClr val="tx1"/>
                </a:solidFill>
              </a:rPr>
              <a:t>Muscles don't need energy</a:t>
            </a:r>
            <a:endParaRPr lang="en-US" sz="2000" dirty="0"/>
          </a:p>
        </p:txBody>
      </p:sp>
      <p:sp>
        <p:nvSpPr>
          <p:cNvPr id="11" name="option B"/>
          <p:cNvSpPr/>
          <p:nvPr/>
        </p:nvSpPr>
        <p:spPr>
          <a:xfrm>
            <a:off x="548640" y="3328416"/>
            <a:ext cx="7680960" cy="621792"/>
          </a:xfrm>
          <a:prstGeom prst="roundRect">
            <a:avLst>
              <a:gd name="adj" fmla="val 17647"/>
            </a:avLst>
          </a:prstGeom>
          <a:solidFill>
            <a:schemeClr val="bg2"/>
          </a:solidFill>
          <a:ln w="12700">
            <a:solidFill>
              <a:schemeClr val="bg2"/>
            </a:solidFill>
            <a:prstDash val="solid"/>
          </a:ln>
        </p:spPr>
      </p:sp>
      <p:sp>
        <p:nvSpPr>
          <p:cNvPr id="12" name="letter"/>
          <p:cNvSpPr/>
          <p:nvPr/>
        </p:nvSpPr>
        <p:spPr>
          <a:xfrm>
            <a:off x="713232" y="3447288"/>
            <a:ext cx="384048" cy="384048"/>
          </a:xfrm>
          <a:prstGeom prst="ellipse">
            <a:avLst/>
          </a:prstGeom>
          <a:solidFill>
            <a:schemeClr val="bg1"/>
          </a:solidFill>
          <a:ln w="12700">
            <a:solidFill>
              <a:schemeClr val="bg1"/>
            </a:solidFill>
            <a:prstDash val="solid"/>
          </a:ln>
        </p:spPr>
      </p:sp>
      <p:sp>
        <p:nvSpPr>
          <p:cNvPr id="13" name="Text 10"/>
          <p:cNvSpPr txBox="1"/>
          <p:nvPr/>
        </p:nvSpPr>
        <p:spPr>
          <a:xfrm>
            <a:off x="713232" y="3447288"/>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B</a:t>
            </a:r>
            <a:endParaRPr lang="en-US" sz="1500" dirty="0"/>
          </a:p>
        </p:txBody>
      </p:sp>
      <p:sp>
        <p:nvSpPr>
          <p:cNvPr id="14" name="Text 11"/>
          <p:cNvSpPr txBox="1"/>
          <p:nvPr/>
        </p:nvSpPr>
        <p:spPr>
          <a:xfrm>
            <a:off x="1280160" y="3328416"/>
            <a:ext cx="6355080" cy="621792"/>
          </a:xfrm>
          <a:prstGeom prst="rect">
            <a:avLst/>
          </a:prstGeom>
          <a:noFill/>
          <a:ln/>
        </p:spPr>
        <p:txBody>
          <a:bodyPr wrap="square" lIns="0" tIns="0" rIns="0" bIns="0" rtlCol="0" anchor="ctr"/>
          <a:lstStyle/>
          <a:p>
            <a:pPr indent="0" marL="0">
              <a:buNone/>
            </a:pPr>
            <a:r>
              <a:rPr lang="en-US" sz="2000" dirty="0">
                <a:solidFill>
                  <a:schemeClr val="tx1"/>
                </a:solidFill>
              </a:rPr>
              <a:t>Nothing is wrong</a:t>
            </a:r>
            <a:endParaRPr lang="en-US" sz="2000" dirty="0"/>
          </a:p>
        </p:txBody>
      </p:sp>
      <p:sp>
        <p:nvSpPr>
          <p:cNvPr id="15" name="option C"/>
          <p:cNvSpPr/>
          <p:nvPr/>
        </p:nvSpPr>
        <p:spPr>
          <a:xfrm>
            <a:off x="548640" y="4096512"/>
            <a:ext cx="7680960" cy="621792"/>
          </a:xfrm>
          <a:prstGeom prst="roundRect">
            <a:avLst>
              <a:gd name="adj" fmla="val 17647"/>
            </a:avLst>
          </a:prstGeom>
          <a:solidFill>
            <a:schemeClr val="bg2"/>
          </a:solidFill>
          <a:ln w="12700">
            <a:solidFill>
              <a:schemeClr val="bg2"/>
            </a:solidFill>
            <a:prstDash val="solid"/>
          </a:ln>
        </p:spPr>
      </p:sp>
      <p:sp>
        <p:nvSpPr>
          <p:cNvPr id="16" name="letter"/>
          <p:cNvSpPr/>
          <p:nvPr/>
        </p:nvSpPr>
        <p:spPr>
          <a:xfrm>
            <a:off x="713232" y="4215384"/>
            <a:ext cx="384048" cy="384048"/>
          </a:xfrm>
          <a:prstGeom prst="ellipse">
            <a:avLst/>
          </a:prstGeom>
          <a:solidFill>
            <a:schemeClr val="bg1"/>
          </a:solidFill>
          <a:ln w="12700">
            <a:solidFill>
              <a:schemeClr val="bg1"/>
            </a:solidFill>
            <a:prstDash val="solid"/>
          </a:ln>
        </p:spPr>
      </p:sp>
      <p:sp>
        <p:nvSpPr>
          <p:cNvPr id="17" name="Text 14"/>
          <p:cNvSpPr txBox="1"/>
          <p:nvPr/>
        </p:nvSpPr>
        <p:spPr>
          <a:xfrm>
            <a:off x="713232" y="4215384"/>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C</a:t>
            </a:r>
            <a:endParaRPr lang="en-US" sz="1500" dirty="0"/>
          </a:p>
        </p:txBody>
      </p:sp>
      <p:sp>
        <p:nvSpPr>
          <p:cNvPr id="18" name="Text 15"/>
          <p:cNvSpPr txBox="1"/>
          <p:nvPr/>
        </p:nvSpPr>
        <p:spPr>
          <a:xfrm>
            <a:off x="1280160" y="4096512"/>
            <a:ext cx="6355080" cy="621792"/>
          </a:xfrm>
          <a:prstGeom prst="rect">
            <a:avLst/>
          </a:prstGeom>
          <a:noFill/>
          <a:ln/>
        </p:spPr>
        <p:txBody>
          <a:bodyPr wrap="square" lIns="0" tIns="0" rIns="0" bIns="0" rtlCol="0" anchor="ctr"/>
          <a:lstStyle/>
          <a:p>
            <a:pPr indent="0" marL="0">
              <a:buNone/>
            </a:pPr>
            <a:r>
              <a:rPr lang="en-US" sz="2000" dirty="0">
                <a:solidFill>
                  <a:schemeClr val="tx1"/>
                </a:solidFill>
              </a:rPr>
              <a:t>The energy must be moved into ATP first; muscle proteins only use ATP</a:t>
            </a:r>
            <a:endParaRPr lang="en-US" sz="2000" dirty="0"/>
          </a:p>
        </p:txBody>
      </p:sp>
      <p:sp>
        <p:nvSpPr>
          <p:cNvPr id="19" name="option D"/>
          <p:cNvSpPr/>
          <p:nvPr/>
        </p:nvSpPr>
        <p:spPr>
          <a:xfrm>
            <a:off x="548640" y="4864608"/>
            <a:ext cx="7680960" cy="621792"/>
          </a:xfrm>
          <a:prstGeom prst="roundRect">
            <a:avLst>
              <a:gd name="adj" fmla="val 17647"/>
            </a:avLst>
          </a:prstGeom>
          <a:solidFill>
            <a:schemeClr val="bg2"/>
          </a:solidFill>
          <a:ln w="12700">
            <a:solidFill>
              <a:schemeClr val="bg2"/>
            </a:solidFill>
            <a:prstDash val="solid"/>
          </a:ln>
        </p:spPr>
      </p:sp>
      <p:sp>
        <p:nvSpPr>
          <p:cNvPr id="20" name="letter"/>
          <p:cNvSpPr/>
          <p:nvPr/>
        </p:nvSpPr>
        <p:spPr>
          <a:xfrm>
            <a:off x="713232" y="4983480"/>
            <a:ext cx="384048" cy="384048"/>
          </a:xfrm>
          <a:prstGeom prst="ellipse">
            <a:avLst/>
          </a:prstGeom>
          <a:solidFill>
            <a:schemeClr val="bg1"/>
          </a:solidFill>
          <a:ln w="12700">
            <a:solidFill>
              <a:schemeClr val="bg1"/>
            </a:solidFill>
            <a:prstDash val="solid"/>
          </a:ln>
        </p:spPr>
      </p:sp>
      <p:sp>
        <p:nvSpPr>
          <p:cNvPr id="21" name="Text 18"/>
          <p:cNvSpPr txBox="1"/>
          <p:nvPr/>
        </p:nvSpPr>
        <p:spPr>
          <a:xfrm>
            <a:off x="713232" y="4983480"/>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D</a:t>
            </a:r>
            <a:endParaRPr lang="en-US" sz="1500" dirty="0"/>
          </a:p>
        </p:txBody>
      </p:sp>
      <p:sp>
        <p:nvSpPr>
          <p:cNvPr id="22" name="Text 19"/>
          <p:cNvSpPr txBox="1"/>
          <p:nvPr/>
        </p:nvSpPr>
        <p:spPr>
          <a:xfrm>
            <a:off x="1280160" y="4864608"/>
            <a:ext cx="6355080" cy="621792"/>
          </a:xfrm>
          <a:prstGeom prst="rect">
            <a:avLst/>
          </a:prstGeom>
          <a:noFill/>
          <a:ln/>
        </p:spPr>
        <p:txBody>
          <a:bodyPr wrap="square" lIns="0" tIns="0" rIns="0" bIns="0" rtlCol="0" anchor="ctr"/>
          <a:lstStyle/>
          <a:p>
            <a:pPr indent="0" marL="0">
              <a:buNone/>
            </a:pPr>
            <a:r>
              <a:rPr lang="en-US" sz="2000" dirty="0">
                <a:solidFill>
                  <a:schemeClr val="tx1"/>
                </a:solidFill>
              </a:rPr>
              <a:t>Muscles use DNA for energy</a:t>
            </a:r>
            <a:endParaRPr lang="en-US" sz="2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Riley's mistake</a:t>
            </a:r>
            <a:endParaRPr lang="en-US" sz="3200" dirty="0"/>
          </a:p>
        </p:txBody>
      </p:sp>
      <p:sp>
        <p:nvSpPr>
          <p:cNvPr id="3" name="tag"/>
          <p:cNvSpPr/>
          <p:nvPr/>
        </p:nvSpPr>
        <p:spPr>
          <a:xfrm>
            <a:off x="548640" y="329184"/>
            <a:ext cx="868680" cy="329184"/>
          </a:xfrm>
          <a:prstGeom prst="roundRect">
            <a:avLst>
              <a:gd name="adj" fmla="val 50000"/>
            </a:avLst>
          </a:prstGeom>
          <a:solidFill>
            <a:schemeClr val="accent5">
              <a:alpha val="18000"/>
            </a:schemeClr>
          </a:solidFill>
          <a:ln w="12700">
            <a:solidFill>
              <a:schemeClr val="accent5"/>
            </a:solidFill>
            <a:prstDash val="solid"/>
          </a:ln>
        </p:spPr>
      </p:sp>
      <p:sp>
        <p:nvSpPr>
          <p:cNvPr id="4" name="Text 2"/>
          <p:cNvSpPr txBox="1"/>
          <p:nvPr/>
        </p:nvSpPr>
        <p:spPr>
          <a:xfrm>
            <a:off x="548640" y="329184"/>
            <a:ext cx="868680" cy="329184"/>
          </a:xfrm>
          <a:prstGeom prst="rect">
            <a:avLst/>
          </a:prstGeom>
          <a:noFill/>
          <a:ln/>
        </p:spPr>
        <p:txBody>
          <a:bodyPr wrap="square" lIns="0" tIns="0" rIns="0" bIns="0" rtlCol="0" anchor="ctr"/>
          <a:lstStyle/>
          <a:p>
            <a:pPr algn="ctr" indent="0" marL="0">
              <a:buNone/>
            </a:pPr>
            <a:r>
              <a:rPr lang="en-US" sz="1300" b="1" dirty="0">
                <a:solidFill>
                  <a:schemeClr val="accent5"/>
                </a:solidFill>
              </a:rPr>
              <a:t>Answer</a:t>
            </a:r>
            <a:endParaRPr lang="en-US" sz="1300" dirty="0"/>
          </a:p>
        </p:txBody>
      </p:sp>
      <p:sp>
        <p:nvSpPr>
          <p:cNvPr id="6" name="Text 3"/>
          <p:cNvSpPr txBox="1"/>
          <p:nvPr/>
        </p:nvSpPr>
        <p:spPr>
          <a:xfrm>
            <a:off x="548640" y="1600200"/>
            <a:ext cx="11064240" cy="868680"/>
          </a:xfrm>
          <a:prstGeom prst="rect">
            <a:avLst/>
          </a:prstGeom>
          <a:noFill/>
          <a:ln/>
        </p:spPr>
        <p:txBody>
          <a:bodyPr wrap="square" lIns="0" tIns="0" rIns="0" bIns="0" rtlCol="0" anchor="t"/>
          <a:lstStyle/>
          <a:p>
            <a:pPr indent="0" marL="0">
              <a:spcAft>
                <a:spcPts val="600"/>
              </a:spcAft>
              <a:buNone/>
            </a:pPr>
            <a:r>
              <a:rPr lang="en-US" sz="2400" dirty="0">
                <a:solidFill>
                  <a:schemeClr val="tx1"/>
                </a:solidFill>
              </a:rPr>
              <a:t>Riley wrote: "A muscle cell uses the energy in glucose directly to contract."  What's wrong?</a:t>
            </a:r>
            <a:endParaRPr lang="en-US" sz="2400" dirty="0"/>
          </a:p>
        </p:txBody>
      </p:sp>
      <p:sp>
        <p:nvSpPr>
          <p:cNvPr id="7" name="option A"/>
          <p:cNvSpPr/>
          <p:nvPr/>
        </p:nvSpPr>
        <p:spPr>
          <a:xfrm>
            <a:off x="548640" y="2560320"/>
            <a:ext cx="7680960" cy="621792"/>
          </a:xfrm>
          <a:prstGeom prst="roundRect">
            <a:avLst>
              <a:gd name="adj" fmla="val 17647"/>
            </a:avLst>
          </a:prstGeom>
          <a:solidFill>
            <a:schemeClr val="bg2"/>
          </a:solidFill>
          <a:ln w="12700">
            <a:solidFill>
              <a:schemeClr val="bg2"/>
            </a:solidFill>
            <a:prstDash val="solid"/>
          </a:ln>
        </p:spPr>
      </p:sp>
      <p:sp>
        <p:nvSpPr>
          <p:cNvPr id="8" name="letter"/>
          <p:cNvSpPr/>
          <p:nvPr/>
        </p:nvSpPr>
        <p:spPr>
          <a:xfrm>
            <a:off x="713232" y="2679192"/>
            <a:ext cx="384048" cy="384048"/>
          </a:xfrm>
          <a:prstGeom prst="ellipse">
            <a:avLst/>
          </a:prstGeom>
          <a:solidFill>
            <a:schemeClr val="bg1"/>
          </a:solidFill>
          <a:ln w="12700">
            <a:solidFill>
              <a:schemeClr val="bg1"/>
            </a:solidFill>
            <a:prstDash val="solid"/>
          </a:ln>
        </p:spPr>
      </p:sp>
      <p:sp>
        <p:nvSpPr>
          <p:cNvPr id="9" name="Text 6"/>
          <p:cNvSpPr txBox="1"/>
          <p:nvPr/>
        </p:nvSpPr>
        <p:spPr>
          <a:xfrm>
            <a:off x="713232" y="2679192"/>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A</a:t>
            </a:r>
            <a:endParaRPr lang="en-US" sz="1500" dirty="0"/>
          </a:p>
        </p:txBody>
      </p:sp>
      <p:sp>
        <p:nvSpPr>
          <p:cNvPr id="10" name="Text 7"/>
          <p:cNvSpPr txBox="1"/>
          <p:nvPr/>
        </p:nvSpPr>
        <p:spPr>
          <a:xfrm>
            <a:off x="1280160" y="2560320"/>
            <a:ext cx="6355080" cy="621792"/>
          </a:xfrm>
          <a:prstGeom prst="rect">
            <a:avLst/>
          </a:prstGeom>
          <a:noFill/>
          <a:ln/>
        </p:spPr>
        <p:txBody>
          <a:bodyPr wrap="square" lIns="0" tIns="0" rIns="0" bIns="0" rtlCol="0" anchor="ctr"/>
          <a:lstStyle/>
          <a:p>
            <a:pPr indent="0" marL="0">
              <a:buNone/>
            </a:pPr>
            <a:r>
              <a:rPr lang="en-US" sz="2000" dirty="0">
                <a:solidFill>
                  <a:schemeClr val="tx2"/>
                </a:solidFill>
              </a:rPr>
              <a:t>Muscles don't need energy</a:t>
            </a:r>
            <a:endParaRPr lang="en-US" sz="2000" dirty="0"/>
          </a:p>
        </p:txBody>
      </p:sp>
      <p:sp>
        <p:nvSpPr>
          <p:cNvPr id="11" name="option B"/>
          <p:cNvSpPr/>
          <p:nvPr/>
        </p:nvSpPr>
        <p:spPr>
          <a:xfrm>
            <a:off x="548640" y="3328416"/>
            <a:ext cx="7680960" cy="621792"/>
          </a:xfrm>
          <a:prstGeom prst="roundRect">
            <a:avLst>
              <a:gd name="adj" fmla="val 17647"/>
            </a:avLst>
          </a:prstGeom>
          <a:solidFill>
            <a:schemeClr val="bg2"/>
          </a:solidFill>
          <a:ln w="12700">
            <a:solidFill>
              <a:schemeClr val="bg2"/>
            </a:solidFill>
            <a:prstDash val="solid"/>
          </a:ln>
        </p:spPr>
      </p:sp>
      <p:sp>
        <p:nvSpPr>
          <p:cNvPr id="12" name="letter"/>
          <p:cNvSpPr/>
          <p:nvPr/>
        </p:nvSpPr>
        <p:spPr>
          <a:xfrm>
            <a:off x="713232" y="3447288"/>
            <a:ext cx="384048" cy="384048"/>
          </a:xfrm>
          <a:prstGeom prst="ellipse">
            <a:avLst/>
          </a:prstGeom>
          <a:solidFill>
            <a:schemeClr val="bg1"/>
          </a:solidFill>
          <a:ln w="12700">
            <a:solidFill>
              <a:schemeClr val="bg1"/>
            </a:solidFill>
            <a:prstDash val="solid"/>
          </a:ln>
        </p:spPr>
      </p:sp>
      <p:sp>
        <p:nvSpPr>
          <p:cNvPr id="13" name="Text 10"/>
          <p:cNvSpPr txBox="1"/>
          <p:nvPr/>
        </p:nvSpPr>
        <p:spPr>
          <a:xfrm>
            <a:off x="713232" y="3447288"/>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B</a:t>
            </a:r>
            <a:endParaRPr lang="en-US" sz="1500" dirty="0"/>
          </a:p>
        </p:txBody>
      </p:sp>
      <p:sp>
        <p:nvSpPr>
          <p:cNvPr id="14" name="Text 11"/>
          <p:cNvSpPr txBox="1"/>
          <p:nvPr/>
        </p:nvSpPr>
        <p:spPr>
          <a:xfrm>
            <a:off x="1280160" y="3328416"/>
            <a:ext cx="6355080" cy="621792"/>
          </a:xfrm>
          <a:prstGeom prst="rect">
            <a:avLst/>
          </a:prstGeom>
          <a:noFill/>
          <a:ln/>
        </p:spPr>
        <p:txBody>
          <a:bodyPr wrap="square" lIns="0" tIns="0" rIns="0" bIns="0" rtlCol="0" anchor="ctr"/>
          <a:lstStyle/>
          <a:p>
            <a:pPr indent="0" marL="0">
              <a:buNone/>
            </a:pPr>
            <a:r>
              <a:rPr lang="en-US" sz="2000" dirty="0">
                <a:solidFill>
                  <a:schemeClr val="tx2"/>
                </a:solidFill>
              </a:rPr>
              <a:t>Nothing is wrong</a:t>
            </a:r>
            <a:endParaRPr lang="en-US" sz="2000" dirty="0"/>
          </a:p>
        </p:txBody>
      </p:sp>
      <p:sp>
        <p:nvSpPr>
          <p:cNvPr id="15" name="option C"/>
          <p:cNvSpPr/>
          <p:nvPr/>
        </p:nvSpPr>
        <p:spPr>
          <a:xfrm>
            <a:off x="548640" y="4096512"/>
            <a:ext cx="7680960" cy="621792"/>
          </a:xfrm>
          <a:prstGeom prst="roundRect">
            <a:avLst>
              <a:gd name="adj" fmla="val 17647"/>
            </a:avLst>
          </a:prstGeom>
          <a:solidFill>
            <a:schemeClr val="accent5">
              <a:alpha val="20000"/>
            </a:schemeClr>
          </a:solidFill>
          <a:ln w="25400">
            <a:solidFill>
              <a:schemeClr val="accent5"/>
            </a:solidFill>
            <a:prstDash val="solid"/>
          </a:ln>
        </p:spPr>
      </p:sp>
      <p:sp>
        <p:nvSpPr>
          <p:cNvPr id="16" name="letter"/>
          <p:cNvSpPr/>
          <p:nvPr/>
        </p:nvSpPr>
        <p:spPr>
          <a:xfrm>
            <a:off x="713232" y="4215384"/>
            <a:ext cx="384048" cy="384048"/>
          </a:xfrm>
          <a:prstGeom prst="ellipse">
            <a:avLst/>
          </a:prstGeom>
          <a:solidFill>
            <a:schemeClr val="accent5"/>
          </a:solidFill>
          <a:ln w="12700">
            <a:solidFill>
              <a:schemeClr val="accent5"/>
            </a:solidFill>
            <a:prstDash val="solid"/>
          </a:ln>
        </p:spPr>
      </p:sp>
      <p:sp>
        <p:nvSpPr>
          <p:cNvPr id="17" name="Text 14"/>
          <p:cNvSpPr txBox="1"/>
          <p:nvPr/>
        </p:nvSpPr>
        <p:spPr>
          <a:xfrm>
            <a:off x="713232" y="4215384"/>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C</a:t>
            </a:r>
            <a:endParaRPr lang="en-US" sz="1500" dirty="0"/>
          </a:p>
        </p:txBody>
      </p:sp>
      <p:sp>
        <p:nvSpPr>
          <p:cNvPr id="18" name="Text 15"/>
          <p:cNvSpPr txBox="1"/>
          <p:nvPr/>
        </p:nvSpPr>
        <p:spPr>
          <a:xfrm>
            <a:off x="1280160" y="4096512"/>
            <a:ext cx="6355080" cy="621792"/>
          </a:xfrm>
          <a:prstGeom prst="rect">
            <a:avLst/>
          </a:prstGeom>
          <a:noFill/>
          <a:ln/>
        </p:spPr>
        <p:txBody>
          <a:bodyPr wrap="square" lIns="0" tIns="0" rIns="0" bIns="0" rtlCol="0" anchor="ctr"/>
          <a:lstStyle/>
          <a:p>
            <a:pPr indent="0" marL="0">
              <a:buNone/>
            </a:pPr>
            <a:r>
              <a:rPr lang="en-US" sz="2000" dirty="0">
                <a:solidFill>
                  <a:schemeClr val="tx1"/>
                </a:solidFill>
              </a:rPr>
              <a:t>The energy must be moved into ATP first; muscle proteins only use ATP</a:t>
            </a:r>
            <a:endParaRPr lang="en-US" sz="2000" dirty="0"/>
          </a:p>
        </p:txBody>
      </p:sp>
      <p:sp>
        <p:nvSpPr>
          <p:cNvPr id="19" name="Text 16"/>
          <p:cNvSpPr txBox="1"/>
          <p:nvPr/>
        </p:nvSpPr>
        <p:spPr>
          <a:xfrm>
            <a:off x="7726680" y="4096512"/>
            <a:ext cx="411480" cy="621792"/>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sp>
        <p:nvSpPr>
          <p:cNvPr id="20" name="option D"/>
          <p:cNvSpPr/>
          <p:nvPr/>
        </p:nvSpPr>
        <p:spPr>
          <a:xfrm>
            <a:off x="548640" y="4864608"/>
            <a:ext cx="7680960" cy="621792"/>
          </a:xfrm>
          <a:prstGeom prst="roundRect">
            <a:avLst>
              <a:gd name="adj" fmla="val 17647"/>
            </a:avLst>
          </a:prstGeom>
          <a:solidFill>
            <a:schemeClr val="bg2"/>
          </a:solidFill>
          <a:ln w="12700">
            <a:solidFill>
              <a:schemeClr val="bg2"/>
            </a:solidFill>
            <a:prstDash val="solid"/>
          </a:ln>
        </p:spPr>
      </p:sp>
      <p:sp>
        <p:nvSpPr>
          <p:cNvPr id="21" name="letter"/>
          <p:cNvSpPr/>
          <p:nvPr/>
        </p:nvSpPr>
        <p:spPr>
          <a:xfrm>
            <a:off x="713232" y="4983480"/>
            <a:ext cx="384048" cy="384048"/>
          </a:xfrm>
          <a:prstGeom prst="ellipse">
            <a:avLst/>
          </a:prstGeom>
          <a:solidFill>
            <a:schemeClr val="bg1"/>
          </a:solidFill>
          <a:ln w="12700">
            <a:solidFill>
              <a:schemeClr val="bg1"/>
            </a:solidFill>
            <a:prstDash val="solid"/>
          </a:ln>
        </p:spPr>
      </p:sp>
      <p:sp>
        <p:nvSpPr>
          <p:cNvPr id="22" name="Text 19"/>
          <p:cNvSpPr txBox="1"/>
          <p:nvPr/>
        </p:nvSpPr>
        <p:spPr>
          <a:xfrm>
            <a:off x="713232" y="4983480"/>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D</a:t>
            </a:r>
            <a:endParaRPr lang="en-US" sz="1500" dirty="0"/>
          </a:p>
        </p:txBody>
      </p:sp>
      <p:sp>
        <p:nvSpPr>
          <p:cNvPr id="23" name="Text 20"/>
          <p:cNvSpPr txBox="1"/>
          <p:nvPr/>
        </p:nvSpPr>
        <p:spPr>
          <a:xfrm>
            <a:off x="1280160" y="4864608"/>
            <a:ext cx="6355080" cy="621792"/>
          </a:xfrm>
          <a:prstGeom prst="rect">
            <a:avLst/>
          </a:prstGeom>
          <a:noFill/>
          <a:ln/>
        </p:spPr>
        <p:txBody>
          <a:bodyPr wrap="square" lIns="0" tIns="0" rIns="0" bIns="0" rtlCol="0" anchor="ctr"/>
          <a:lstStyle/>
          <a:p>
            <a:pPr indent="0" marL="0">
              <a:buNone/>
            </a:pPr>
            <a:r>
              <a:rPr lang="en-US" sz="2000" dirty="0">
                <a:solidFill>
                  <a:schemeClr val="tx2"/>
                </a:solidFill>
              </a:rPr>
              <a:t>Muscles use DNA for energy</a:t>
            </a:r>
            <a:endParaRPr lang="en-US" sz="2000" dirty="0"/>
          </a:p>
        </p:txBody>
      </p:sp>
      <p:sp>
        <p:nvSpPr>
          <p:cNvPr id="24" name="panel"/>
          <p:cNvSpPr/>
          <p:nvPr/>
        </p:nvSpPr>
        <p:spPr>
          <a:xfrm>
            <a:off x="8503920" y="2560320"/>
            <a:ext cx="3136392" cy="2926080"/>
          </a:xfrm>
          <a:prstGeom prst="roundRect">
            <a:avLst>
              <a:gd name="adj" fmla="val 3750"/>
            </a:avLst>
          </a:prstGeom>
          <a:solidFill>
            <a:schemeClr val="accent5">
              <a:alpha val="12000"/>
            </a:schemeClr>
          </a:solidFill>
          <a:ln w="12700">
            <a:solidFill>
              <a:schemeClr val="accent5"/>
            </a:solidFill>
            <a:prstDash val="solid"/>
          </a:ln>
        </p:spPr>
      </p:sp>
      <p:sp>
        <p:nvSpPr>
          <p:cNvPr id="25" name="Text 22"/>
          <p:cNvSpPr txBox="1"/>
          <p:nvPr/>
        </p:nvSpPr>
        <p:spPr>
          <a:xfrm>
            <a:off x="8686800" y="2697480"/>
            <a:ext cx="2788920" cy="265176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Why</a:t>
            </a:r>
            <a:endParaRPr lang="en-US" sz="1700" dirty="0"/>
          </a:p>
          <a:p>
            <a:pPr indent="0" marL="0">
              <a:spcAft>
                <a:spcPts val="600"/>
              </a:spcAft>
              <a:buNone/>
            </a:pPr>
            <a:r>
              <a:rPr lang="en-US" sz="1700" dirty="0">
                <a:solidFill>
                  <a:schemeClr val="tx1"/>
                </a:solidFill>
              </a:rPr>
              <a:t>Glucose is the $100 bill; ATP is the quarters.</a:t>
            </a:r>
            <a:endParaRPr lang="en-US" sz="17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Now fix it</a:t>
            </a:r>
            <a:endParaRPr lang="en-US" sz="3200" dirty="0"/>
          </a:p>
        </p:txBody>
      </p:sp>
      <p:sp>
        <p:nvSpPr>
          <p:cNvPr id="3" name="tag"/>
          <p:cNvSpPr/>
          <p:nvPr/>
        </p:nvSpPr>
        <p:spPr>
          <a:xfrm>
            <a:off x="548640" y="329184"/>
            <a:ext cx="1348740" cy="329184"/>
          </a:xfrm>
          <a:prstGeom prst="roundRect">
            <a:avLst>
              <a:gd name="adj" fmla="val 50000"/>
            </a:avLst>
          </a:prstGeom>
          <a:solidFill>
            <a:schemeClr val="accent6">
              <a:alpha val="18000"/>
            </a:schemeClr>
          </a:solidFill>
          <a:ln w="12700">
            <a:solidFill>
              <a:schemeClr val="accent6"/>
            </a:solidFill>
            <a:prstDash val="solid"/>
          </a:ln>
        </p:spPr>
      </p:sp>
      <p:sp>
        <p:nvSpPr>
          <p:cNvPr id="4" name="Text 2"/>
          <p:cNvSpPr txBox="1"/>
          <p:nvPr/>
        </p:nvSpPr>
        <p:spPr>
          <a:xfrm>
            <a:off x="548640" y="329184"/>
            <a:ext cx="1348740" cy="329184"/>
          </a:xfrm>
          <a:prstGeom prst="rect">
            <a:avLst/>
          </a:prstGeom>
          <a:noFill/>
          <a:ln/>
        </p:spPr>
        <p:txBody>
          <a:bodyPr wrap="square" lIns="0" tIns="0" rIns="0" bIns="0" rtlCol="0" anchor="ctr"/>
          <a:lstStyle/>
          <a:p>
            <a:pPr algn="ctr" indent="0" marL="0">
              <a:buNone/>
            </a:pPr>
            <a:r>
              <a:rPr lang="en-US" sz="1300" b="1" dirty="0">
                <a:solidFill>
                  <a:schemeClr val="accent6"/>
                </a:solidFill>
              </a:rPr>
              <a:t>Quick check</a:t>
            </a:r>
            <a:endParaRPr lang="en-US" sz="1300" dirty="0"/>
          </a:p>
        </p:txBody>
      </p:sp>
      <p:sp>
        <p:nvSpPr>
          <p:cNvPr id="6" name="Text 3"/>
          <p:cNvSpPr txBox="1"/>
          <p:nvPr/>
        </p:nvSpPr>
        <p:spPr>
          <a:xfrm>
            <a:off x="548640" y="1600200"/>
            <a:ext cx="11064240" cy="868680"/>
          </a:xfrm>
          <a:prstGeom prst="rect">
            <a:avLst/>
          </a:prstGeom>
          <a:noFill/>
          <a:ln/>
        </p:spPr>
        <p:txBody>
          <a:bodyPr wrap="square" lIns="0" tIns="0" rIns="0" bIns="0" rtlCol="0" anchor="t"/>
          <a:lstStyle/>
          <a:p>
            <a:pPr indent="0" marL="0">
              <a:spcAft>
                <a:spcPts val="600"/>
              </a:spcAft>
              <a:buNone/>
            </a:pPr>
            <a:r>
              <a:rPr lang="en-US" sz="2400" dirty="0">
                <a:solidFill>
                  <a:schemeClr val="tx1"/>
                </a:solidFill>
              </a:rPr>
              <a:t>What process turns glucose energy into ATP?</a:t>
            </a:r>
            <a:endParaRPr lang="en-US" sz="2400" dirty="0"/>
          </a:p>
        </p:txBody>
      </p:sp>
      <p:sp>
        <p:nvSpPr>
          <p:cNvPr id="7" name="option A"/>
          <p:cNvSpPr/>
          <p:nvPr/>
        </p:nvSpPr>
        <p:spPr>
          <a:xfrm>
            <a:off x="548640" y="2560320"/>
            <a:ext cx="7680960" cy="621792"/>
          </a:xfrm>
          <a:prstGeom prst="roundRect">
            <a:avLst>
              <a:gd name="adj" fmla="val 17647"/>
            </a:avLst>
          </a:prstGeom>
          <a:solidFill>
            <a:schemeClr val="bg2"/>
          </a:solidFill>
          <a:ln w="12700">
            <a:solidFill>
              <a:schemeClr val="bg2"/>
            </a:solidFill>
            <a:prstDash val="solid"/>
          </a:ln>
        </p:spPr>
      </p:sp>
      <p:sp>
        <p:nvSpPr>
          <p:cNvPr id="8" name="letter"/>
          <p:cNvSpPr/>
          <p:nvPr/>
        </p:nvSpPr>
        <p:spPr>
          <a:xfrm>
            <a:off x="713232" y="2679192"/>
            <a:ext cx="384048" cy="384048"/>
          </a:xfrm>
          <a:prstGeom prst="ellipse">
            <a:avLst/>
          </a:prstGeom>
          <a:solidFill>
            <a:schemeClr val="bg1"/>
          </a:solidFill>
          <a:ln w="12700">
            <a:solidFill>
              <a:schemeClr val="bg1"/>
            </a:solidFill>
            <a:prstDash val="solid"/>
          </a:ln>
        </p:spPr>
      </p:sp>
      <p:sp>
        <p:nvSpPr>
          <p:cNvPr id="9" name="Text 6"/>
          <p:cNvSpPr txBox="1"/>
          <p:nvPr/>
        </p:nvSpPr>
        <p:spPr>
          <a:xfrm>
            <a:off x="713232" y="2679192"/>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A</a:t>
            </a:r>
            <a:endParaRPr lang="en-US" sz="1500" dirty="0"/>
          </a:p>
        </p:txBody>
      </p:sp>
      <p:sp>
        <p:nvSpPr>
          <p:cNvPr id="10" name="Text 7"/>
          <p:cNvSpPr txBox="1"/>
          <p:nvPr/>
        </p:nvSpPr>
        <p:spPr>
          <a:xfrm>
            <a:off x="1280160" y="2560320"/>
            <a:ext cx="6355080" cy="621792"/>
          </a:xfrm>
          <a:prstGeom prst="rect">
            <a:avLst/>
          </a:prstGeom>
          <a:noFill/>
          <a:ln/>
        </p:spPr>
        <p:txBody>
          <a:bodyPr wrap="square" lIns="0" tIns="0" rIns="0" bIns="0" rtlCol="0" anchor="ctr"/>
          <a:lstStyle/>
          <a:p>
            <a:pPr indent="0" marL="0">
              <a:buNone/>
            </a:pPr>
            <a:r>
              <a:rPr lang="en-US" sz="2000" dirty="0">
                <a:solidFill>
                  <a:schemeClr val="tx1"/>
                </a:solidFill>
              </a:rPr>
              <a:t>Diffusion</a:t>
            </a:r>
            <a:endParaRPr lang="en-US" sz="2000" dirty="0"/>
          </a:p>
        </p:txBody>
      </p:sp>
      <p:sp>
        <p:nvSpPr>
          <p:cNvPr id="11" name="option B"/>
          <p:cNvSpPr/>
          <p:nvPr/>
        </p:nvSpPr>
        <p:spPr>
          <a:xfrm>
            <a:off x="548640" y="3328416"/>
            <a:ext cx="7680960" cy="621792"/>
          </a:xfrm>
          <a:prstGeom prst="roundRect">
            <a:avLst>
              <a:gd name="adj" fmla="val 17647"/>
            </a:avLst>
          </a:prstGeom>
          <a:solidFill>
            <a:schemeClr val="bg2"/>
          </a:solidFill>
          <a:ln w="12700">
            <a:solidFill>
              <a:schemeClr val="bg2"/>
            </a:solidFill>
            <a:prstDash val="solid"/>
          </a:ln>
        </p:spPr>
      </p:sp>
      <p:sp>
        <p:nvSpPr>
          <p:cNvPr id="12" name="letter"/>
          <p:cNvSpPr/>
          <p:nvPr/>
        </p:nvSpPr>
        <p:spPr>
          <a:xfrm>
            <a:off x="713232" y="3447288"/>
            <a:ext cx="384048" cy="384048"/>
          </a:xfrm>
          <a:prstGeom prst="ellipse">
            <a:avLst/>
          </a:prstGeom>
          <a:solidFill>
            <a:schemeClr val="bg1"/>
          </a:solidFill>
          <a:ln w="12700">
            <a:solidFill>
              <a:schemeClr val="bg1"/>
            </a:solidFill>
            <a:prstDash val="solid"/>
          </a:ln>
        </p:spPr>
      </p:sp>
      <p:sp>
        <p:nvSpPr>
          <p:cNvPr id="13" name="Text 10"/>
          <p:cNvSpPr txBox="1"/>
          <p:nvPr/>
        </p:nvSpPr>
        <p:spPr>
          <a:xfrm>
            <a:off x="713232" y="3447288"/>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B</a:t>
            </a:r>
            <a:endParaRPr lang="en-US" sz="1500" dirty="0"/>
          </a:p>
        </p:txBody>
      </p:sp>
      <p:sp>
        <p:nvSpPr>
          <p:cNvPr id="14" name="Text 11"/>
          <p:cNvSpPr txBox="1"/>
          <p:nvPr/>
        </p:nvSpPr>
        <p:spPr>
          <a:xfrm>
            <a:off x="1280160" y="3328416"/>
            <a:ext cx="6355080" cy="621792"/>
          </a:xfrm>
          <a:prstGeom prst="rect">
            <a:avLst/>
          </a:prstGeom>
          <a:noFill/>
          <a:ln/>
        </p:spPr>
        <p:txBody>
          <a:bodyPr wrap="square" lIns="0" tIns="0" rIns="0" bIns="0" rtlCol="0" anchor="ctr"/>
          <a:lstStyle/>
          <a:p>
            <a:pPr indent="0" marL="0">
              <a:buNone/>
            </a:pPr>
            <a:r>
              <a:rPr lang="en-US" sz="2000" dirty="0">
                <a:solidFill>
                  <a:schemeClr val="tx1"/>
                </a:solidFill>
              </a:rPr>
              <a:t>Cellular respiration</a:t>
            </a:r>
            <a:endParaRPr lang="en-US" sz="2000" dirty="0"/>
          </a:p>
        </p:txBody>
      </p:sp>
      <p:sp>
        <p:nvSpPr>
          <p:cNvPr id="15" name="option C"/>
          <p:cNvSpPr/>
          <p:nvPr/>
        </p:nvSpPr>
        <p:spPr>
          <a:xfrm>
            <a:off x="548640" y="4096512"/>
            <a:ext cx="7680960" cy="621792"/>
          </a:xfrm>
          <a:prstGeom prst="roundRect">
            <a:avLst>
              <a:gd name="adj" fmla="val 17647"/>
            </a:avLst>
          </a:prstGeom>
          <a:solidFill>
            <a:schemeClr val="bg2"/>
          </a:solidFill>
          <a:ln w="12700">
            <a:solidFill>
              <a:schemeClr val="bg2"/>
            </a:solidFill>
            <a:prstDash val="solid"/>
          </a:ln>
        </p:spPr>
      </p:sp>
      <p:sp>
        <p:nvSpPr>
          <p:cNvPr id="16" name="letter"/>
          <p:cNvSpPr/>
          <p:nvPr/>
        </p:nvSpPr>
        <p:spPr>
          <a:xfrm>
            <a:off x="713232" y="4215384"/>
            <a:ext cx="384048" cy="384048"/>
          </a:xfrm>
          <a:prstGeom prst="ellipse">
            <a:avLst/>
          </a:prstGeom>
          <a:solidFill>
            <a:schemeClr val="bg1"/>
          </a:solidFill>
          <a:ln w="12700">
            <a:solidFill>
              <a:schemeClr val="bg1"/>
            </a:solidFill>
            <a:prstDash val="solid"/>
          </a:ln>
        </p:spPr>
      </p:sp>
      <p:sp>
        <p:nvSpPr>
          <p:cNvPr id="17" name="Text 14"/>
          <p:cNvSpPr txBox="1"/>
          <p:nvPr/>
        </p:nvSpPr>
        <p:spPr>
          <a:xfrm>
            <a:off x="713232" y="4215384"/>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C</a:t>
            </a:r>
            <a:endParaRPr lang="en-US" sz="1500" dirty="0"/>
          </a:p>
        </p:txBody>
      </p:sp>
      <p:sp>
        <p:nvSpPr>
          <p:cNvPr id="18" name="Text 15"/>
          <p:cNvSpPr txBox="1"/>
          <p:nvPr/>
        </p:nvSpPr>
        <p:spPr>
          <a:xfrm>
            <a:off x="1280160" y="4096512"/>
            <a:ext cx="6355080" cy="621792"/>
          </a:xfrm>
          <a:prstGeom prst="rect">
            <a:avLst/>
          </a:prstGeom>
          <a:noFill/>
          <a:ln/>
        </p:spPr>
        <p:txBody>
          <a:bodyPr wrap="square" lIns="0" tIns="0" rIns="0" bIns="0" rtlCol="0" anchor="ctr"/>
          <a:lstStyle/>
          <a:p>
            <a:pPr indent="0" marL="0">
              <a:buNone/>
            </a:pPr>
            <a:r>
              <a:rPr lang="en-US" sz="2000" dirty="0">
                <a:solidFill>
                  <a:schemeClr val="tx1"/>
                </a:solidFill>
              </a:rPr>
              <a:t>Osmosis</a:t>
            </a:r>
            <a:endParaRPr lang="en-US" sz="2000" dirty="0"/>
          </a:p>
        </p:txBody>
      </p:sp>
      <p:sp>
        <p:nvSpPr>
          <p:cNvPr id="19" name="option D"/>
          <p:cNvSpPr/>
          <p:nvPr/>
        </p:nvSpPr>
        <p:spPr>
          <a:xfrm>
            <a:off x="548640" y="4864608"/>
            <a:ext cx="7680960" cy="621792"/>
          </a:xfrm>
          <a:prstGeom prst="roundRect">
            <a:avLst>
              <a:gd name="adj" fmla="val 17647"/>
            </a:avLst>
          </a:prstGeom>
          <a:solidFill>
            <a:schemeClr val="bg2"/>
          </a:solidFill>
          <a:ln w="12700">
            <a:solidFill>
              <a:schemeClr val="bg2"/>
            </a:solidFill>
            <a:prstDash val="solid"/>
          </a:ln>
        </p:spPr>
      </p:sp>
      <p:sp>
        <p:nvSpPr>
          <p:cNvPr id="20" name="letter"/>
          <p:cNvSpPr/>
          <p:nvPr/>
        </p:nvSpPr>
        <p:spPr>
          <a:xfrm>
            <a:off x="713232" y="4983480"/>
            <a:ext cx="384048" cy="384048"/>
          </a:xfrm>
          <a:prstGeom prst="ellipse">
            <a:avLst/>
          </a:prstGeom>
          <a:solidFill>
            <a:schemeClr val="bg1"/>
          </a:solidFill>
          <a:ln w="12700">
            <a:solidFill>
              <a:schemeClr val="bg1"/>
            </a:solidFill>
            <a:prstDash val="solid"/>
          </a:ln>
        </p:spPr>
      </p:sp>
      <p:sp>
        <p:nvSpPr>
          <p:cNvPr id="21" name="Text 18"/>
          <p:cNvSpPr txBox="1"/>
          <p:nvPr/>
        </p:nvSpPr>
        <p:spPr>
          <a:xfrm>
            <a:off x="713232" y="4983480"/>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D</a:t>
            </a:r>
            <a:endParaRPr lang="en-US" sz="1500" dirty="0"/>
          </a:p>
        </p:txBody>
      </p:sp>
      <p:sp>
        <p:nvSpPr>
          <p:cNvPr id="22" name="Text 19"/>
          <p:cNvSpPr txBox="1"/>
          <p:nvPr/>
        </p:nvSpPr>
        <p:spPr>
          <a:xfrm>
            <a:off x="1280160" y="4864608"/>
            <a:ext cx="6355080" cy="621792"/>
          </a:xfrm>
          <a:prstGeom prst="rect">
            <a:avLst/>
          </a:prstGeom>
          <a:noFill/>
          <a:ln/>
        </p:spPr>
        <p:txBody>
          <a:bodyPr wrap="square" lIns="0" tIns="0" rIns="0" bIns="0" rtlCol="0" anchor="ctr"/>
          <a:lstStyle/>
          <a:p>
            <a:pPr indent="0" marL="0">
              <a:buNone/>
            </a:pPr>
            <a:r>
              <a:rPr lang="en-US" sz="2000" dirty="0">
                <a:solidFill>
                  <a:schemeClr val="tx1"/>
                </a:solidFill>
              </a:rPr>
              <a:t>Photosynthesis only</a:t>
            </a:r>
            <a:endParaRPr lang="en-US" sz="2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Now fix it</a:t>
            </a:r>
            <a:endParaRPr lang="en-US" sz="3200" dirty="0"/>
          </a:p>
        </p:txBody>
      </p:sp>
      <p:sp>
        <p:nvSpPr>
          <p:cNvPr id="3" name="tag"/>
          <p:cNvSpPr/>
          <p:nvPr/>
        </p:nvSpPr>
        <p:spPr>
          <a:xfrm>
            <a:off x="548640" y="329184"/>
            <a:ext cx="868680" cy="329184"/>
          </a:xfrm>
          <a:prstGeom prst="roundRect">
            <a:avLst>
              <a:gd name="adj" fmla="val 50000"/>
            </a:avLst>
          </a:prstGeom>
          <a:solidFill>
            <a:schemeClr val="accent5">
              <a:alpha val="18000"/>
            </a:schemeClr>
          </a:solidFill>
          <a:ln w="12700">
            <a:solidFill>
              <a:schemeClr val="accent5"/>
            </a:solidFill>
            <a:prstDash val="solid"/>
          </a:ln>
        </p:spPr>
      </p:sp>
      <p:sp>
        <p:nvSpPr>
          <p:cNvPr id="4" name="Text 2"/>
          <p:cNvSpPr txBox="1"/>
          <p:nvPr/>
        </p:nvSpPr>
        <p:spPr>
          <a:xfrm>
            <a:off x="548640" y="329184"/>
            <a:ext cx="868680" cy="329184"/>
          </a:xfrm>
          <a:prstGeom prst="rect">
            <a:avLst/>
          </a:prstGeom>
          <a:noFill/>
          <a:ln/>
        </p:spPr>
        <p:txBody>
          <a:bodyPr wrap="square" lIns="0" tIns="0" rIns="0" bIns="0" rtlCol="0" anchor="ctr"/>
          <a:lstStyle/>
          <a:p>
            <a:pPr algn="ctr" indent="0" marL="0">
              <a:buNone/>
            </a:pPr>
            <a:r>
              <a:rPr lang="en-US" sz="1300" b="1" dirty="0">
                <a:solidFill>
                  <a:schemeClr val="accent5"/>
                </a:solidFill>
              </a:rPr>
              <a:t>Answer</a:t>
            </a:r>
            <a:endParaRPr lang="en-US" sz="1300" dirty="0"/>
          </a:p>
        </p:txBody>
      </p:sp>
      <p:sp>
        <p:nvSpPr>
          <p:cNvPr id="6" name="Text 3"/>
          <p:cNvSpPr txBox="1"/>
          <p:nvPr/>
        </p:nvSpPr>
        <p:spPr>
          <a:xfrm>
            <a:off x="548640" y="1600200"/>
            <a:ext cx="11064240" cy="868680"/>
          </a:xfrm>
          <a:prstGeom prst="rect">
            <a:avLst/>
          </a:prstGeom>
          <a:noFill/>
          <a:ln/>
        </p:spPr>
        <p:txBody>
          <a:bodyPr wrap="square" lIns="0" tIns="0" rIns="0" bIns="0" rtlCol="0" anchor="t"/>
          <a:lstStyle/>
          <a:p>
            <a:pPr indent="0" marL="0">
              <a:spcAft>
                <a:spcPts val="600"/>
              </a:spcAft>
              <a:buNone/>
            </a:pPr>
            <a:r>
              <a:rPr lang="en-US" sz="2400" dirty="0">
                <a:solidFill>
                  <a:schemeClr val="tx1"/>
                </a:solidFill>
              </a:rPr>
              <a:t>What process turns glucose energy into ATP?</a:t>
            </a:r>
            <a:endParaRPr lang="en-US" sz="2400" dirty="0"/>
          </a:p>
        </p:txBody>
      </p:sp>
      <p:sp>
        <p:nvSpPr>
          <p:cNvPr id="7" name="option A"/>
          <p:cNvSpPr/>
          <p:nvPr/>
        </p:nvSpPr>
        <p:spPr>
          <a:xfrm>
            <a:off x="548640" y="2560320"/>
            <a:ext cx="7680960" cy="621792"/>
          </a:xfrm>
          <a:prstGeom prst="roundRect">
            <a:avLst>
              <a:gd name="adj" fmla="val 17647"/>
            </a:avLst>
          </a:prstGeom>
          <a:solidFill>
            <a:schemeClr val="bg2"/>
          </a:solidFill>
          <a:ln w="12700">
            <a:solidFill>
              <a:schemeClr val="bg2"/>
            </a:solidFill>
            <a:prstDash val="solid"/>
          </a:ln>
        </p:spPr>
      </p:sp>
      <p:sp>
        <p:nvSpPr>
          <p:cNvPr id="8" name="letter"/>
          <p:cNvSpPr/>
          <p:nvPr/>
        </p:nvSpPr>
        <p:spPr>
          <a:xfrm>
            <a:off x="713232" y="2679192"/>
            <a:ext cx="384048" cy="384048"/>
          </a:xfrm>
          <a:prstGeom prst="ellipse">
            <a:avLst/>
          </a:prstGeom>
          <a:solidFill>
            <a:schemeClr val="bg1"/>
          </a:solidFill>
          <a:ln w="12700">
            <a:solidFill>
              <a:schemeClr val="bg1"/>
            </a:solidFill>
            <a:prstDash val="solid"/>
          </a:ln>
        </p:spPr>
      </p:sp>
      <p:sp>
        <p:nvSpPr>
          <p:cNvPr id="9" name="Text 6"/>
          <p:cNvSpPr txBox="1"/>
          <p:nvPr/>
        </p:nvSpPr>
        <p:spPr>
          <a:xfrm>
            <a:off x="713232" y="2679192"/>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A</a:t>
            </a:r>
            <a:endParaRPr lang="en-US" sz="1500" dirty="0"/>
          </a:p>
        </p:txBody>
      </p:sp>
      <p:sp>
        <p:nvSpPr>
          <p:cNvPr id="10" name="Text 7"/>
          <p:cNvSpPr txBox="1"/>
          <p:nvPr/>
        </p:nvSpPr>
        <p:spPr>
          <a:xfrm>
            <a:off x="1280160" y="2560320"/>
            <a:ext cx="6355080" cy="621792"/>
          </a:xfrm>
          <a:prstGeom prst="rect">
            <a:avLst/>
          </a:prstGeom>
          <a:noFill/>
          <a:ln/>
        </p:spPr>
        <p:txBody>
          <a:bodyPr wrap="square" lIns="0" tIns="0" rIns="0" bIns="0" rtlCol="0" anchor="ctr"/>
          <a:lstStyle/>
          <a:p>
            <a:pPr indent="0" marL="0">
              <a:buNone/>
            </a:pPr>
            <a:r>
              <a:rPr lang="en-US" sz="2000" dirty="0">
                <a:solidFill>
                  <a:schemeClr val="tx2"/>
                </a:solidFill>
              </a:rPr>
              <a:t>Diffusion</a:t>
            </a:r>
            <a:endParaRPr lang="en-US" sz="2000" dirty="0"/>
          </a:p>
        </p:txBody>
      </p:sp>
      <p:sp>
        <p:nvSpPr>
          <p:cNvPr id="11" name="option B"/>
          <p:cNvSpPr/>
          <p:nvPr/>
        </p:nvSpPr>
        <p:spPr>
          <a:xfrm>
            <a:off x="548640" y="3328416"/>
            <a:ext cx="7680960" cy="621792"/>
          </a:xfrm>
          <a:prstGeom prst="roundRect">
            <a:avLst>
              <a:gd name="adj" fmla="val 17647"/>
            </a:avLst>
          </a:prstGeom>
          <a:solidFill>
            <a:schemeClr val="accent5">
              <a:alpha val="20000"/>
            </a:schemeClr>
          </a:solidFill>
          <a:ln w="25400">
            <a:solidFill>
              <a:schemeClr val="accent5"/>
            </a:solidFill>
            <a:prstDash val="solid"/>
          </a:ln>
        </p:spPr>
      </p:sp>
      <p:sp>
        <p:nvSpPr>
          <p:cNvPr id="12" name="letter"/>
          <p:cNvSpPr/>
          <p:nvPr/>
        </p:nvSpPr>
        <p:spPr>
          <a:xfrm>
            <a:off x="713232" y="3447288"/>
            <a:ext cx="384048" cy="384048"/>
          </a:xfrm>
          <a:prstGeom prst="ellipse">
            <a:avLst/>
          </a:prstGeom>
          <a:solidFill>
            <a:schemeClr val="accent5"/>
          </a:solidFill>
          <a:ln w="12700">
            <a:solidFill>
              <a:schemeClr val="accent5"/>
            </a:solidFill>
            <a:prstDash val="solid"/>
          </a:ln>
        </p:spPr>
      </p:sp>
      <p:sp>
        <p:nvSpPr>
          <p:cNvPr id="13" name="Text 10"/>
          <p:cNvSpPr txBox="1"/>
          <p:nvPr/>
        </p:nvSpPr>
        <p:spPr>
          <a:xfrm>
            <a:off x="713232" y="3447288"/>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B</a:t>
            </a:r>
            <a:endParaRPr lang="en-US" sz="1500" dirty="0"/>
          </a:p>
        </p:txBody>
      </p:sp>
      <p:sp>
        <p:nvSpPr>
          <p:cNvPr id="14" name="Text 11"/>
          <p:cNvSpPr txBox="1"/>
          <p:nvPr/>
        </p:nvSpPr>
        <p:spPr>
          <a:xfrm>
            <a:off x="1280160" y="3328416"/>
            <a:ext cx="6355080" cy="621792"/>
          </a:xfrm>
          <a:prstGeom prst="rect">
            <a:avLst/>
          </a:prstGeom>
          <a:noFill/>
          <a:ln/>
        </p:spPr>
        <p:txBody>
          <a:bodyPr wrap="square" lIns="0" tIns="0" rIns="0" bIns="0" rtlCol="0" anchor="ctr"/>
          <a:lstStyle/>
          <a:p>
            <a:pPr indent="0" marL="0">
              <a:buNone/>
            </a:pPr>
            <a:r>
              <a:rPr lang="en-US" sz="2000" dirty="0">
                <a:solidFill>
                  <a:schemeClr val="tx1"/>
                </a:solidFill>
              </a:rPr>
              <a:t>Cellular respiration</a:t>
            </a:r>
            <a:endParaRPr lang="en-US" sz="2000" dirty="0"/>
          </a:p>
        </p:txBody>
      </p:sp>
      <p:sp>
        <p:nvSpPr>
          <p:cNvPr id="15" name="Text 12"/>
          <p:cNvSpPr txBox="1"/>
          <p:nvPr/>
        </p:nvSpPr>
        <p:spPr>
          <a:xfrm>
            <a:off x="7726680" y="3328416"/>
            <a:ext cx="411480" cy="621792"/>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sp>
        <p:nvSpPr>
          <p:cNvPr id="16" name="option C"/>
          <p:cNvSpPr/>
          <p:nvPr/>
        </p:nvSpPr>
        <p:spPr>
          <a:xfrm>
            <a:off x="548640" y="4096512"/>
            <a:ext cx="7680960" cy="621792"/>
          </a:xfrm>
          <a:prstGeom prst="roundRect">
            <a:avLst>
              <a:gd name="adj" fmla="val 17647"/>
            </a:avLst>
          </a:prstGeom>
          <a:solidFill>
            <a:schemeClr val="bg2"/>
          </a:solidFill>
          <a:ln w="12700">
            <a:solidFill>
              <a:schemeClr val="bg2"/>
            </a:solidFill>
            <a:prstDash val="solid"/>
          </a:ln>
        </p:spPr>
      </p:sp>
      <p:sp>
        <p:nvSpPr>
          <p:cNvPr id="17" name="letter"/>
          <p:cNvSpPr/>
          <p:nvPr/>
        </p:nvSpPr>
        <p:spPr>
          <a:xfrm>
            <a:off x="713232" y="4215384"/>
            <a:ext cx="384048" cy="384048"/>
          </a:xfrm>
          <a:prstGeom prst="ellipse">
            <a:avLst/>
          </a:prstGeom>
          <a:solidFill>
            <a:schemeClr val="bg1"/>
          </a:solidFill>
          <a:ln w="12700">
            <a:solidFill>
              <a:schemeClr val="bg1"/>
            </a:solidFill>
            <a:prstDash val="solid"/>
          </a:ln>
        </p:spPr>
      </p:sp>
      <p:sp>
        <p:nvSpPr>
          <p:cNvPr id="18" name="Text 15"/>
          <p:cNvSpPr txBox="1"/>
          <p:nvPr/>
        </p:nvSpPr>
        <p:spPr>
          <a:xfrm>
            <a:off x="713232" y="4215384"/>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C</a:t>
            </a:r>
            <a:endParaRPr lang="en-US" sz="1500" dirty="0"/>
          </a:p>
        </p:txBody>
      </p:sp>
      <p:sp>
        <p:nvSpPr>
          <p:cNvPr id="19" name="Text 16"/>
          <p:cNvSpPr txBox="1"/>
          <p:nvPr/>
        </p:nvSpPr>
        <p:spPr>
          <a:xfrm>
            <a:off x="1280160" y="4096512"/>
            <a:ext cx="6355080" cy="621792"/>
          </a:xfrm>
          <a:prstGeom prst="rect">
            <a:avLst/>
          </a:prstGeom>
          <a:noFill/>
          <a:ln/>
        </p:spPr>
        <p:txBody>
          <a:bodyPr wrap="square" lIns="0" tIns="0" rIns="0" bIns="0" rtlCol="0" anchor="ctr"/>
          <a:lstStyle/>
          <a:p>
            <a:pPr indent="0" marL="0">
              <a:buNone/>
            </a:pPr>
            <a:r>
              <a:rPr lang="en-US" sz="2000" dirty="0">
                <a:solidFill>
                  <a:schemeClr val="tx2"/>
                </a:solidFill>
              </a:rPr>
              <a:t>Osmosis</a:t>
            </a:r>
            <a:endParaRPr lang="en-US" sz="2000" dirty="0"/>
          </a:p>
        </p:txBody>
      </p:sp>
      <p:sp>
        <p:nvSpPr>
          <p:cNvPr id="20" name="option D"/>
          <p:cNvSpPr/>
          <p:nvPr/>
        </p:nvSpPr>
        <p:spPr>
          <a:xfrm>
            <a:off x="548640" y="4864608"/>
            <a:ext cx="7680960" cy="621792"/>
          </a:xfrm>
          <a:prstGeom prst="roundRect">
            <a:avLst>
              <a:gd name="adj" fmla="val 17647"/>
            </a:avLst>
          </a:prstGeom>
          <a:solidFill>
            <a:schemeClr val="bg2"/>
          </a:solidFill>
          <a:ln w="12700">
            <a:solidFill>
              <a:schemeClr val="bg2"/>
            </a:solidFill>
            <a:prstDash val="solid"/>
          </a:ln>
        </p:spPr>
      </p:sp>
      <p:sp>
        <p:nvSpPr>
          <p:cNvPr id="21" name="letter"/>
          <p:cNvSpPr/>
          <p:nvPr/>
        </p:nvSpPr>
        <p:spPr>
          <a:xfrm>
            <a:off x="713232" y="4983480"/>
            <a:ext cx="384048" cy="384048"/>
          </a:xfrm>
          <a:prstGeom prst="ellipse">
            <a:avLst/>
          </a:prstGeom>
          <a:solidFill>
            <a:schemeClr val="bg1"/>
          </a:solidFill>
          <a:ln w="12700">
            <a:solidFill>
              <a:schemeClr val="bg1"/>
            </a:solidFill>
            <a:prstDash val="solid"/>
          </a:ln>
        </p:spPr>
      </p:sp>
      <p:sp>
        <p:nvSpPr>
          <p:cNvPr id="22" name="Text 19"/>
          <p:cNvSpPr txBox="1"/>
          <p:nvPr/>
        </p:nvSpPr>
        <p:spPr>
          <a:xfrm>
            <a:off x="713232" y="4983480"/>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D</a:t>
            </a:r>
            <a:endParaRPr lang="en-US" sz="1500" dirty="0"/>
          </a:p>
        </p:txBody>
      </p:sp>
      <p:sp>
        <p:nvSpPr>
          <p:cNvPr id="23" name="Text 20"/>
          <p:cNvSpPr txBox="1"/>
          <p:nvPr/>
        </p:nvSpPr>
        <p:spPr>
          <a:xfrm>
            <a:off x="1280160" y="4864608"/>
            <a:ext cx="6355080" cy="621792"/>
          </a:xfrm>
          <a:prstGeom prst="rect">
            <a:avLst/>
          </a:prstGeom>
          <a:noFill/>
          <a:ln/>
        </p:spPr>
        <p:txBody>
          <a:bodyPr wrap="square" lIns="0" tIns="0" rIns="0" bIns="0" rtlCol="0" anchor="ctr"/>
          <a:lstStyle/>
          <a:p>
            <a:pPr indent="0" marL="0">
              <a:buNone/>
            </a:pPr>
            <a:r>
              <a:rPr lang="en-US" sz="2000" dirty="0">
                <a:solidFill>
                  <a:schemeClr val="tx2"/>
                </a:solidFill>
              </a:rPr>
              <a:t>Photosynthesis only</a:t>
            </a:r>
            <a:endParaRPr lang="en-US" sz="2000" dirty="0"/>
          </a:p>
        </p:txBody>
      </p:sp>
      <p:sp>
        <p:nvSpPr>
          <p:cNvPr id="24" name="panel"/>
          <p:cNvSpPr/>
          <p:nvPr/>
        </p:nvSpPr>
        <p:spPr>
          <a:xfrm>
            <a:off x="8503920" y="2560320"/>
            <a:ext cx="3136392" cy="2926080"/>
          </a:xfrm>
          <a:prstGeom prst="roundRect">
            <a:avLst>
              <a:gd name="adj" fmla="val 3750"/>
            </a:avLst>
          </a:prstGeom>
          <a:solidFill>
            <a:schemeClr val="accent5">
              <a:alpha val="12000"/>
            </a:schemeClr>
          </a:solidFill>
          <a:ln w="12700">
            <a:solidFill>
              <a:schemeClr val="accent5"/>
            </a:solidFill>
            <a:prstDash val="solid"/>
          </a:ln>
        </p:spPr>
      </p:sp>
      <p:sp>
        <p:nvSpPr>
          <p:cNvPr id="25" name="Text 22"/>
          <p:cNvSpPr txBox="1"/>
          <p:nvPr/>
        </p:nvSpPr>
        <p:spPr>
          <a:xfrm>
            <a:off x="8686800" y="2697480"/>
            <a:ext cx="2788920" cy="265176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Why</a:t>
            </a:r>
            <a:endParaRPr lang="en-US" sz="1700" dirty="0"/>
          </a:p>
          <a:p>
            <a:pPr indent="0" marL="0">
              <a:spcAft>
                <a:spcPts val="600"/>
              </a:spcAft>
              <a:buNone/>
            </a:pPr>
            <a:r>
              <a:rPr lang="en-US" sz="1700" dirty="0">
                <a:solidFill>
                  <a:schemeClr val="tx1"/>
                </a:solidFill>
              </a:rPr>
              <a:t>Respiration "makes change" from glucose into ATP.</a:t>
            </a:r>
            <a:endParaRPr lang="en-US" sz="17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Back to the phenomenon: the firefly glow</a:t>
            </a:r>
            <a:endParaRPr lang="en-US" sz="3200" dirty="0"/>
          </a:p>
        </p:txBody>
      </p:sp>
      <p:sp>
        <p:nvSpPr>
          <p:cNvPr id="3" name="tag"/>
          <p:cNvSpPr/>
          <p:nvPr/>
        </p:nvSpPr>
        <p:spPr>
          <a:xfrm>
            <a:off x="548640" y="329184"/>
            <a:ext cx="676656" cy="329184"/>
          </a:xfrm>
          <a:prstGeom prst="roundRect">
            <a:avLst>
              <a:gd name="adj" fmla="val 50000"/>
            </a:avLst>
          </a:prstGeom>
          <a:solidFill>
            <a:schemeClr val="accent3">
              <a:alpha val="18000"/>
            </a:schemeClr>
          </a:solidFill>
          <a:ln w="12700">
            <a:solidFill>
              <a:schemeClr val="accent3"/>
            </a:solidFill>
            <a:prstDash val="solid"/>
          </a:ln>
        </p:spPr>
      </p:sp>
      <p:sp>
        <p:nvSpPr>
          <p:cNvPr id="4" name="Text 2"/>
          <p:cNvSpPr txBox="1"/>
          <p:nvPr/>
        </p:nvSpPr>
        <p:spPr>
          <a:xfrm>
            <a:off x="548640" y="329184"/>
            <a:ext cx="676656" cy="329184"/>
          </a:xfrm>
          <a:prstGeom prst="rect">
            <a:avLst/>
          </a:prstGeom>
          <a:noFill/>
          <a:ln/>
        </p:spPr>
        <p:txBody>
          <a:bodyPr wrap="square" lIns="0" tIns="0" rIns="0" bIns="0" rtlCol="0" anchor="ctr"/>
          <a:lstStyle/>
          <a:p>
            <a:pPr algn="ctr" indent="0" marL="0">
              <a:buNone/>
            </a:pPr>
            <a:r>
              <a:rPr lang="en-US" sz="1300" b="1" dirty="0">
                <a:solidFill>
                  <a:schemeClr val="accent3"/>
                </a:solidFill>
              </a:rPr>
              <a:t>Read</a:t>
            </a:r>
            <a:endParaRPr lang="en-US" sz="1300" dirty="0"/>
          </a:p>
        </p:txBody>
      </p:sp>
      <p:pic>
        <p:nvPicPr>
          <p:cNvPr id="6" name="Image 0" descr="The ATP tube glows; the others stay dark">    </p:cNvPr>
          <p:cNvPicPr>
            <a:picLocks noChangeAspect="1"/>
          </p:cNvPicPr>
          <p:nvPr/>
        </p:nvPicPr>
        <p:blipFill>
          <a:blip r:embed="rId1"/>
          <a:stretch>
            <a:fillRect/>
          </a:stretch>
        </p:blipFill>
        <p:spPr>
          <a:xfrm>
            <a:off x="1390261" y="1600200"/>
            <a:ext cx="9380998" cy="3017520"/>
          </a:xfrm>
          <a:prstGeom prst="rect">
            <a:avLst/>
          </a:prstGeom>
        </p:spPr>
      </p:pic>
      <p:sp>
        <p:nvSpPr>
          <p:cNvPr id="7" name="panel"/>
          <p:cNvSpPr/>
          <p:nvPr/>
        </p:nvSpPr>
        <p:spPr>
          <a:xfrm>
            <a:off x="548640" y="4800600"/>
            <a:ext cx="11064240" cy="1280160"/>
          </a:xfrm>
          <a:prstGeom prst="roundRect">
            <a:avLst>
              <a:gd name="adj" fmla="val 8571"/>
            </a:avLst>
          </a:prstGeom>
          <a:solidFill>
            <a:schemeClr val="accent4">
              <a:alpha val="12000"/>
            </a:schemeClr>
          </a:solidFill>
          <a:ln w="12700">
            <a:solidFill>
              <a:schemeClr val="accent4"/>
            </a:solidFill>
            <a:prstDash val="solid"/>
          </a:ln>
        </p:spPr>
      </p:sp>
      <p:sp>
        <p:nvSpPr>
          <p:cNvPr id="8" name="Text 4"/>
          <p:cNvSpPr txBox="1"/>
          <p:nvPr/>
        </p:nvSpPr>
        <p:spPr>
          <a:xfrm>
            <a:off x="749808" y="4910328"/>
            <a:ext cx="10661904" cy="1060704"/>
          </a:xfrm>
          <a:prstGeom prst="rect">
            <a:avLst/>
          </a:prstGeom>
          <a:noFill/>
          <a:ln/>
        </p:spPr>
        <p:txBody>
          <a:bodyPr wrap="square" lIns="0" tIns="0" rIns="0" bIns="0" rtlCol="0" anchor="ctr"/>
          <a:lstStyle/>
          <a:p>
            <a:pPr indent="0" marL="0">
              <a:spcAft>
                <a:spcPts val="600"/>
              </a:spcAft>
              <a:buNone/>
            </a:pPr>
            <a:r>
              <a:rPr lang="en-US" sz="1700" dirty="0">
                <a:solidFill>
                  <a:schemeClr val="tx1"/>
                </a:solidFill>
              </a:rPr>
              <a:t>Look back at your first idea. Now use what you learned: why did only ATP bring back the glow?</a:t>
            </a:r>
            <a:endParaRPr lang="en-US" sz="17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Part A</a:t>
            </a:r>
            <a:endParaRPr lang="en-US" sz="3200" dirty="0"/>
          </a:p>
        </p:txBody>
      </p:sp>
      <p:sp>
        <p:nvSpPr>
          <p:cNvPr id="3" name="tag"/>
          <p:cNvSpPr/>
          <p:nvPr/>
        </p:nvSpPr>
        <p:spPr>
          <a:xfrm>
            <a:off x="548640" y="329184"/>
            <a:ext cx="1348740" cy="329184"/>
          </a:xfrm>
          <a:prstGeom prst="roundRect">
            <a:avLst>
              <a:gd name="adj" fmla="val 50000"/>
            </a:avLst>
          </a:prstGeom>
          <a:solidFill>
            <a:schemeClr val="accent6">
              <a:alpha val="18000"/>
            </a:schemeClr>
          </a:solidFill>
          <a:ln w="12700">
            <a:solidFill>
              <a:schemeClr val="accent6"/>
            </a:solidFill>
            <a:prstDash val="solid"/>
          </a:ln>
        </p:spPr>
      </p:sp>
      <p:sp>
        <p:nvSpPr>
          <p:cNvPr id="4" name="Text 2"/>
          <p:cNvSpPr txBox="1"/>
          <p:nvPr/>
        </p:nvSpPr>
        <p:spPr>
          <a:xfrm>
            <a:off x="548640" y="329184"/>
            <a:ext cx="1348740" cy="329184"/>
          </a:xfrm>
          <a:prstGeom prst="rect">
            <a:avLst/>
          </a:prstGeom>
          <a:noFill/>
          <a:ln/>
        </p:spPr>
        <p:txBody>
          <a:bodyPr wrap="square" lIns="0" tIns="0" rIns="0" bIns="0" rtlCol="0" anchor="ctr"/>
          <a:lstStyle/>
          <a:p>
            <a:pPr algn="ctr" indent="0" marL="0">
              <a:buNone/>
            </a:pPr>
            <a:r>
              <a:rPr lang="en-US" sz="1300" b="1" dirty="0">
                <a:solidFill>
                  <a:schemeClr val="accent6"/>
                </a:solidFill>
              </a:rPr>
              <a:t>Quick check</a:t>
            </a:r>
            <a:endParaRPr lang="en-US" sz="1300" dirty="0"/>
          </a:p>
        </p:txBody>
      </p:sp>
      <p:sp>
        <p:nvSpPr>
          <p:cNvPr id="6" name="Text 3"/>
          <p:cNvSpPr txBox="1"/>
          <p:nvPr/>
        </p:nvSpPr>
        <p:spPr>
          <a:xfrm>
            <a:off x="548640" y="1600200"/>
            <a:ext cx="11064240" cy="868680"/>
          </a:xfrm>
          <a:prstGeom prst="rect">
            <a:avLst/>
          </a:prstGeom>
          <a:noFill/>
          <a:ln/>
        </p:spPr>
        <p:txBody>
          <a:bodyPr wrap="square" lIns="0" tIns="0" rIns="0" bIns="0" rtlCol="0" anchor="t"/>
          <a:lstStyle/>
          <a:p>
            <a:pPr indent="0" marL="0">
              <a:spcAft>
                <a:spcPts val="600"/>
              </a:spcAft>
              <a:buNone/>
            </a:pPr>
            <a:r>
              <a:rPr lang="en-US" sz="2400" dirty="0">
                <a:solidFill>
                  <a:schemeClr val="tx1"/>
                </a:solidFill>
              </a:rPr>
              <a:t>Why did ATP bring back the glow, but glucose didn't?</a:t>
            </a:r>
            <a:endParaRPr lang="en-US" sz="2400" dirty="0"/>
          </a:p>
        </p:txBody>
      </p:sp>
      <p:sp>
        <p:nvSpPr>
          <p:cNvPr id="7" name="option A"/>
          <p:cNvSpPr/>
          <p:nvPr/>
        </p:nvSpPr>
        <p:spPr>
          <a:xfrm>
            <a:off x="548640" y="2560320"/>
            <a:ext cx="7680960" cy="621792"/>
          </a:xfrm>
          <a:prstGeom prst="roundRect">
            <a:avLst>
              <a:gd name="adj" fmla="val 17647"/>
            </a:avLst>
          </a:prstGeom>
          <a:solidFill>
            <a:schemeClr val="bg2"/>
          </a:solidFill>
          <a:ln w="12700">
            <a:solidFill>
              <a:schemeClr val="bg2"/>
            </a:solidFill>
            <a:prstDash val="solid"/>
          </a:ln>
        </p:spPr>
      </p:sp>
      <p:sp>
        <p:nvSpPr>
          <p:cNvPr id="8" name="letter"/>
          <p:cNvSpPr/>
          <p:nvPr/>
        </p:nvSpPr>
        <p:spPr>
          <a:xfrm>
            <a:off x="713232" y="2679192"/>
            <a:ext cx="384048" cy="384048"/>
          </a:xfrm>
          <a:prstGeom prst="ellipse">
            <a:avLst/>
          </a:prstGeom>
          <a:solidFill>
            <a:schemeClr val="bg1"/>
          </a:solidFill>
          <a:ln w="12700">
            <a:solidFill>
              <a:schemeClr val="bg1"/>
            </a:solidFill>
            <a:prstDash val="solid"/>
          </a:ln>
        </p:spPr>
      </p:sp>
      <p:sp>
        <p:nvSpPr>
          <p:cNvPr id="9" name="Text 6"/>
          <p:cNvSpPr txBox="1"/>
          <p:nvPr/>
        </p:nvSpPr>
        <p:spPr>
          <a:xfrm>
            <a:off x="713232" y="2679192"/>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A</a:t>
            </a:r>
            <a:endParaRPr lang="en-US" sz="1500" dirty="0"/>
          </a:p>
        </p:txBody>
      </p:sp>
      <p:sp>
        <p:nvSpPr>
          <p:cNvPr id="10" name="Text 7"/>
          <p:cNvSpPr txBox="1"/>
          <p:nvPr/>
        </p:nvSpPr>
        <p:spPr>
          <a:xfrm>
            <a:off x="1280160" y="2560320"/>
            <a:ext cx="6355080" cy="621792"/>
          </a:xfrm>
          <a:prstGeom prst="rect">
            <a:avLst/>
          </a:prstGeom>
          <a:noFill/>
          <a:ln/>
        </p:spPr>
        <p:txBody>
          <a:bodyPr wrap="square" lIns="0" tIns="0" rIns="0" bIns="0" rtlCol="0" anchor="ctr"/>
          <a:lstStyle/>
          <a:p>
            <a:pPr indent="0" marL="0">
              <a:buNone/>
            </a:pPr>
            <a:r>
              <a:rPr lang="en-US" sz="2000" dirty="0">
                <a:solidFill>
                  <a:schemeClr val="tx1"/>
                </a:solidFill>
              </a:rPr>
              <a:t>The glow reaction can only spend ATP, and the ground-up tails couldn't turn glucose into ATP</a:t>
            </a:r>
            <a:endParaRPr lang="en-US" sz="2000" dirty="0"/>
          </a:p>
        </p:txBody>
      </p:sp>
      <p:sp>
        <p:nvSpPr>
          <p:cNvPr id="11" name="option B"/>
          <p:cNvSpPr/>
          <p:nvPr/>
        </p:nvSpPr>
        <p:spPr>
          <a:xfrm>
            <a:off x="548640" y="3328416"/>
            <a:ext cx="7680960" cy="621792"/>
          </a:xfrm>
          <a:prstGeom prst="roundRect">
            <a:avLst>
              <a:gd name="adj" fmla="val 17647"/>
            </a:avLst>
          </a:prstGeom>
          <a:solidFill>
            <a:schemeClr val="bg2"/>
          </a:solidFill>
          <a:ln w="12700">
            <a:solidFill>
              <a:schemeClr val="bg2"/>
            </a:solidFill>
            <a:prstDash val="solid"/>
          </a:ln>
        </p:spPr>
      </p:sp>
      <p:sp>
        <p:nvSpPr>
          <p:cNvPr id="12" name="letter"/>
          <p:cNvSpPr/>
          <p:nvPr/>
        </p:nvSpPr>
        <p:spPr>
          <a:xfrm>
            <a:off x="713232" y="3447288"/>
            <a:ext cx="384048" cy="384048"/>
          </a:xfrm>
          <a:prstGeom prst="ellipse">
            <a:avLst/>
          </a:prstGeom>
          <a:solidFill>
            <a:schemeClr val="bg1"/>
          </a:solidFill>
          <a:ln w="12700">
            <a:solidFill>
              <a:schemeClr val="bg1"/>
            </a:solidFill>
            <a:prstDash val="solid"/>
          </a:ln>
        </p:spPr>
      </p:sp>
      <p:sp>
        <p:nvSpPr>
          <p:cNvPr id="13" name="Text 10"/>
          <p:cNvSpPr txBox="1"/>
          <p:nvPr/>
        </p:nvSpPr>
        <p:spPr>
          <a:xfrm>
            <a:off x="713232" y="3447288"/>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B</a:t>
            </a:r>
            <a:endParaRPr lang="en-US" sz="1500" dirty="0"/>
          </a:p>
        </p:txBody>
      </p:sp>
      <p:sp>
        <p:nvSpPr>
          <p:cNvPr id="14" name="Text 11"/>
          <p:cNvSpPr txBox="1"/>
          <p:nvPr/>
        </p:nvSpPr>
        <p:spPr>
          <a:xfrm>
            <a:off x="1280160" y="3328416"/>
            <a:ext cx="6355080" cy="621792"/>
          </a:xfrm>
          <a:prstGeom prst="rect">
            <a:avLst/>
          </a:prstGeom>
          <a:noFill/>
          <a:ln/>
        </p:spPr>
        <p:txBody>
          <a:bodyPr wrap="square" lIns="0" tIns="0" rIns="0" bIns="0" rtlCol="0" anchor="ctr"/>
          <a:lstStyle/>
          <a:p>
            <a:pPr indent="0" marL="0">
              <a:buNone/>
            </a:pPr>
            <a:r>
              <a:rPr lang="en-US" sz="2000" dirty="0">
                <a:solidFill>
                  <a:schemeClr val="tx1"/>
                </a:solidFill>
              </a:rPr>
              <a:t>Glucose has less energy than ATP</a:t>
            </a:r>
            <a:endParaRPr lang="en-US" sz="2000" dirty="0"/>
          </a:p>
        </p:txBody>
      </p:sp>
      <p:sp>
        <p:nvSpPr>
          <p:cNvPr id="15" name="option C"/>
          <p:cNvSpPr/>
          <p:nvPr/>
        </p:nvSpPr>
        <p:spPr>
          <a:xfrm>
            <a:off x="548640" y="4096512"/>
            <a:ext cx="7680960" cy="621792"/>
          </a:xfrm>
          <a:prstGeom prst="roundRect">
            <a:avLst>
              <a:gd name="adj" fmla="val 17647"/>
            </a:avLst>
          </a:prstGeom>
          <a:solidFill>
            <a:schemeClr val="bg2"/>
          </a:solidFill>
          <a:ln w="12700">
            <a:solidFill>
              <a:schemeClr val="bg2"/>
            </a:solidFill>
            <a:prstDash val="solid"/>
          </a:ln>
        </p:spPr>
      </p:sp>
      <p:sp>
        <p:nvSpPr>
          <p:cNvPr id="16" name="letter"/>
          <p:cNvSpPr/>
          <p:nvPr/>
        </p:nvSpPr>
        <p:spPr>
          <a:xfrm>
            <a:off x="713232" y="4215384"/>
            <a:ext cx="384048" cy="384048"/>
          </a:xfrm>
          <a:prstGeom prst="ellipse">
            <a:avLst/>
          </a:prstGeom>
          <a:solidFill>
            <a:schemeClr val="bg1"/>
          </a:solidFill>
          <a:ln w="12700">
            <a:solidFill>
              <a:schemeClr val="bg1"/>
            </a:solidFill>
            <a:prstDash val="solid"/>
          </a:ln>
        </p:spPr>
      </p:sp>
      <p:sp>
        <p:nvSpPr>
          <p:cNvPr id="17" name="Text 14"/>
          <p:cNvSpPr txBox="1"/>
          <p:nvPr/>
        </p:nvSpPr>
        <p:spPr>
          <a:xfrm>
            <a:off x="713232" y="4215384"/>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C</a:t>
            </a:r>
            <a:endParaRPr lang="en-US" sz="1500" dirty="0"/>
          </a:p>
        </p:txBody>
      </p:sp>
      <p:sp>
        <p:nvSpPr>
          <p:cNvPr id="18" name="Text 15"/>
          <p:cNvSpPr txBox="1"/>
          <p:nvPr/>
        </p:nvSpPr>
        <p:spPr>
          <a:xfrm>
            <a:off x="1280160" y="4096512"/>
            <a:ext cx="6355080" cy="621792"/>
          </a:xfrm>
          <a:prstGeom prst="rect">
            <a:avLst/>
          </a:prstGeom>
          <a:noFill/>
          <a:ln/>
        </p:spPr>
        <p:txBody>
          <a:bodyPr wrap="square" lIns="0" tIns="0" rIns="0" bIns="0" rtlCol="0" anchor="ctr"/>
          <a:lstStyle/>
          <a:p>
            <a:pPr indent="0" marL="0">
              <a:buNone/>
            </a:pPr>
            <a:r>
              <a:rPr lang="en-US" sz="2000" dirty="0">
                <a:solidFill>
                  <a:schemeClr val="tx1"/>
                </a:solidFill>
              </a:rPr>
              <a:t>Glucose blocks light</a:t>
            </a:r>
            <a:endParaRPr lang="en-US" sz="2000" dirty="0"/>
          </a:p>
        </p:txBody>
      </p:sp>
      <p:sp>
        <p:nvSpPr>
          <p:cNvPr id="19" name="option D"/>
          <p:cNvSpPr/>
          <p:nvPr/>
        </p:nvSpPr>
        <p:spPr>
          <a:xfrm>
            <a:off x="548640" y="4864608"/>
            <a:ext cx="7680960" cy="621792"/>
          </a:xfrm>
          <a:prstGeom prst="roundRect">
            <a:avLst>
              <a:gd name="adj" fmla="val 17647"/>
            </a:avLst>
          </a:prstGeom>
          <a:solidFill>
            <a:schemeClr val="bg2"/>
          </a:solidFill>
          <a:ln w="12700">
            <a:solidFill>
              <a:schemeClr val="bg2"/>
            </a:solidFill>
            <a:prstDash val="solid"/>
          </a:ln>
        </p:spPr>
      </p:sp>
      <p:sp>
        <p:nvSpPr>
          <p:cNvPr id="20" name="letter"/>
          <p:cNvSpPr/>
          <p:nvPr/>
        </p:nvSpPr>
        <p:spPr>
          <a:xfrm>
            <a:off x="713232" y="4983480"/>
            <a:ext cx="384048" cy="384048"/>
          </a:xfrm>
          <a:prstGeom prst="ellipse">
            <a:avLst/>
          </a:prstGeom>
          <a:solidFill>
            <a:schemeClr val="bg1"/>
          </a:solidFill>
          <a:ln w="12700">
            <a:solidFill>
              <a:schemeClr val="bg1"/>
            </a:solidFill>
            <a:prstDash val="solid"/>
          </a:ln>
        </p:spPr>
      </p:sp>
      <p:sp>
        <p:nvSpPr>
          <p:cNvPr id="21" name="Text 18"/>
          <p:cNvSpPr txBox="1"/>
          <p:nvPr/>
        </p:nvSpPr>
        <p:spPr>
          <a:xfrm>
            <a:off x="713232" y="4983480"/>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D</a:t>
            </a:r>
            <a:endParaRPr lang="en-US" sz="1500" dirty="0"/>
          </a:p>
        </p:txBody>
      </p:sp>
      <p:sp>
        <p:nvSpPr>
          <p:cNvPr id="22" name="Text 19"/>
          <p:cNvSpPr txBox="1"/>
          <p:nvPr/>
        </p:nvSpPr>
        <p:spPr>
          <a:xfrm>
            <a:off x="1280160" y="4864608"/>
            <a:ext cx="6355080" cy="621792"/>
          </a:xfrm>
          <a:prstGeom prst="rect">
            <a:avLst/>
          </a:prstGeom>
          <a:noFill/>
          <a:ln/>
        </p:spPr>
        <p:txBody>
          <a:bodyPr wrap="square" lIns="0" tIns="0" rIns="0" bIns="0" rtlCol="0" anchor="ctr"/>
          <a:lstStyle/>
          <a:p>
            <a:pPr indent="0" marL="0">
              <a:buNone/>
            </a:pPr>
            <a:r>
              <a:rPr lang="en-US" sz="2000" dirty="0">
                <a:solidFill>
                  <a:schemeClr val="tx1"/>
                </a:solidFill>
              </a:rPr>
              <a:t>Water was mixed into the glucose</a:t>
            </a:r>
            <a:endParaRPr lang="en-US" sz="2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Part A</a:t>
            </a:r>
            <a:endParaRPr lang="en-US" sz="3200" dirty="0"/>
          </a:p>
        </p:txBody>
      </p:sp>
      <p:sp>
        <p:nvSpPr>
          <p:cNvPr id="3" name="tag"/>
          <p:cNvSpPr/>
          <p:nvPr/>
        </p:nvSpPr>
        <p:spPr>
          <a:xfrm>
            <a:off x="548640" y="329184"/>
            <a:ext cx="868680" cy="329184"/>
          </a:xfrm>
          <a:prstGeom prst="roundRect">
            <a:avLst>
              <a:gd name="adj" fmla="val 50000"/>
            </a:avLst>
          </a:prstGeom>
          <a:solidFill>
            <a:schemeClr val="accent5">
              <a:alpha val="18000"/>
            </a:schemeClr>
          </a:solidFill>
          <a:ln w="12700">
            <a:solidFill>
              <a:schemeClr val="accent5"/>
            </a:solidFill>
            <a:prstDash val="solid"/>
          </a:ln>
        </p:spPr>
      </p:sp>
      <p:sp>
        <p:nvSpPr>
          <p:cNvPr id="4" name="Text 2"/>
          <p:cNvSpPr txBox="1"/>
          <p:nvPr/>
        </p:nvSpPr>
        <p:spPr>
          <a:xfrm>
            <a:off x="548640" y="329184"/>
            <a:ext cx="868680" cy="329184"/>
          </a:xfrm>
          <a:prstGeom prst="rect">
            <a:avLst/>
          </a:prstGeom>
          <a:noFill/>
          <a:ln/>
        </p:spPr>
        <p:txBody>
          <a:bodyPr wrap="square" lIns="0" tIns="0" rIns="0" bIns="0" rtlCol="0" anchor="ctr"/>
          <a:lstStyle/>
          <a:p>
            <a:pPr algn="ctr" indent="0" marL="0">
              <a:buNone/>
            </a:pPr>
            <a:r>
              <a:rPr lang="en-US" sz="1300" b="1" dirty="0">
                <a:solidFill>
                  <a:schemeClr val="accent5"/>
                </a:solidFill>
              </a:rPr>
              <a:t>Answer</a:t>
            </a:r>
            <a:endParaRPr lang="en-US" sz="1300" dirty="0"/>
          </a:p>
        </p:txBody>
      </p:sp>
      <p:sp>
        <p:nvSpPr>
          <p:cNvPr id="6" name="Text 3"/>
          <p:cNvSpPr txBox="1"/>
          <p:nvPr/>
        </p:nvSpPr>
        <p:spPr>
          <a:xfrm>
            <a:off x="548640" y="1600200"/>
            <a:ext cx="11064240" cy="868680"/>
          </a:xfrm>
          <a:prstGeom prst="rect">
            <a:avLst/>
          </a:prstGeom>
          <a:noFill/>
          <a:ln/>
        </p:spPr>
        <p:txBody>
          <a:bodyPr wrap="square" lIns="0" tIns="0" rIns="0" bIns="0" rtlCol="0" anchor="t"/>
          <a:lstStyle/>
          <a:p>
            <a:pPr indent="0" marL="0">
              <a:spcAft>
                <a:spcPts val="600"/>
              </a:spcAft>
              <a:buNone/>
            </a:pPr>
            <a:r>
              <a:rPr lang="en-US" sz="2400" dirty="0">
                <a:solidFill>
                  <a:schemeClr val="tx1"/>
                </a:solidFill>
              </a:rPr>
              <a:t>Why did ATP bring back the glow, but glucose didn't?</a:t>
            </a:r>
            <a:endParaRPr lang="en-US" sz="2400" dirty="0"/>
          </a:p>
        </p:txBody>
      </p:sp>
      <p:sp>
        <p:nvSpPr>
          <p:cNvPr id="7" name="option A"/>
          <p:cNvSpPr/>
          <p:nvPr/>
        </p:nvSpPr>
        <p:spPr>
          <a:xfrm>
            <a:off x="548640" y="2560320"/>
            <a:ext cx="7680960" cy="621792"/>
          </a:xfrm>
          <a:prstGeom prst="roundRect">
            <a:avLst>
              <a:gd name="adj" fmla="val 17647"/>
            </a:avLst>
          </a:prstGeom>
          <a:solidFill>
            <a:schemeClr val="accent5">
              <a:alpha val="20000"/>
            </a:schemeClr>
          </a:solidFill>
          <a:ln w="25400">
            <a:solidFill>
              <a:schemeClr val="accent5"/>
            </a:solidFill>
            <a:prstDash val="solid"/>
          </a:ln>
        </p:spPr>
      </p:sp>
      <p:sp>
        <p:nvSpPr>
          <p:cNvPr id="8" name="letter"/>
          <p:cNvSpPr/>
          <p:nvPr/>
        </p:nvSpPr>
        <p:spPr>
          <a:xfrm>
            <a:off x="713232" y="2679192"/>
            <a:ext cx="384048" cy="384048"/>
          </a:xfrm>
          <a:prstGeom prst="ellipse">
            <a:avLst/>
          </a:prstGeom>
          <a:solidFill>
            <a:schemeClr val="accent5"/>
          </a:solidFill>
          <a:ln w="12700">
            <a:solidFill>
              <a:schemeClr val="accent5"/>
            </a:solidFill>
            <a:prstDash val="solid"/>
          </a:ln>
        </p:spPr>
      </p:sp>
      <p:sp>
        <p:nvSpPr>
          <p:cNvPr id="9" name="Text 6"/>
          <p:cNvSpPr txBox="1"/>
          <p:nvPr/>
        </p:nvSpPr>
        <p:spPr>
          <a:xfrm>
            <a:off x="713232" y="2679192"/>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A</a:t>
            </a:r>
            <a:endParaRPr lang="en-US" sz="1500" dirty="0"/>
          </a:p>
        </p:txBody>
      </p:sp>
      <p:sp>
        <p:nvSpPr>
          <p:cNvPr id="10" name="Text 7"/>
          <p:cNvSpPr txBox="1"/>
          <p:nvPr/>
        </p:nvSpPr>
        <p:spPr>
          <a:xfrm>
            <a:off x="1280160" y="2560320"/>
            <a:ext cx="6355080" cy="621792"/>
          </a:xfrm>
          <a:prstGeom prst="rect">
            <a:avLst/>
          </a:prstGeom>
          <a:noFill/>
          <a:ln/>
        </p:spPr>
        <p:txBody>
          <a:bodyPr wrap="square" lIns="0" tIns="0" rIns="0" bIns="0" rtlCol="0" anchor="ctr"/>
          <a:lstStyle/>
          <a:p>
            <a:pPr indent="0" marL="0">
              <a:buNone/>
            </a:pPr>
            <a:r>
              <a:rPr lang="en-US" sz="2000" dirty="0">
                <a:solidFill>
                  <a:schemeClr val="tx1"/>
                </a:solidFill>
              </a:rPr>
              <a:t>The glow reaction can only spend ATP, and the ground-up tails couldn't turn glucose into ATP</a:t>
            </a:r>
            <a:endParaRPr lang="en-US" sz="2000" dirty="0"/>
          </a:p>
        </p:txBody>
      </p:sp>
      <p:sp>
        <p:nvSpPr>
          <p:cNvPr id="11" name="Text 8"/>
          <p:cNvSpPr txBox="1"/>
          <p:nvPr/>
        </p:nvSpPr>
        <p:spPr>
          <a:xfrm>
            <a:off x="7726680" y="2560320"/>
            <a:ext cx="411480" cy="621792"/>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sp>
        <p:nvSpPr>
          <p:cNvPr id="12" name="option B"/>
          <p:cNvSpPr/>
          <p:nvPr/>
        </p:nvSpPr>
        <p:spPr>
          <a:xfrm>
            <a:off x="548640" y="3328416"/>
            <a:ext cx="7680960" cy="621792"/>
          </a:xfrm>
          <a:prstGeom prst="roundRect">
            <a:avLst>
              <a:gd name="adj" fmla="val 17647"/>
            </a:avLst>
          </a:prstGeom>
          <a:solidFill>
            <a:schemeClr val="bg2"/>
          </a:solidFill>
          <a:ln w="12700">
            <a:solidFill>
              <a:schemeClr val="bg2"/>
            </a:solidFill>
            <a:prstDash val="solid"/>
          </a:ln>
        </p:spPr>
      </p:sp>
      <p:sp>
        <p:nvSpPr>
          <p:cNvPr id="13" name="letter"/>
          <p:cNvSpPr/>
          <p:nvPr/>
        </p:nvSpPr>
        <p:spPr>
          <a:xfrm>
            <a:off x="713232" y="3447288"/>
            <a:ext cx="384048" cy="384048"/>
          </a:xfrm>
          <a:prstGeom prst="ellipse">
            <a:avLst/>
          </a:prstGeom>
          <a:solidFill>
            <a:schemeClr val="bg1"/>
          </a:solidFill>
          <a:ln w="12700">
            <a:solidFill>
              <a:schemeClr val="bg1"/>
            </a:solidFill>
            <a:prstDash val="solid"/>
          </a:ln>
        </p:spPr>
      </p:sp>
      <p:sp>
        <p:nvSpPr>
          <p:cNvPr id="14" name="Text 11"/>
          <p:cNvSpPr txBox="1"/>
          <p:nvPr/>
        </p:nvSpPr>
        <p:spPr>
          <a:xfrm>
            <a:off x="713232" y="3447288"/>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B</a:t>
            </a:r>
            <a:endParaRPr lang="en-US" sz="1500" dirty="0"/>
          </a:p>
        </p:txBody>
      </p:sp>
      <p:sp>
        <p:nvSpPr>
          <p:cNvPr id="15" name="Text 12"/>
          <p:cNvSpPr txBox="1"/>
          <p:nvPr/>
        </p:nvSpPr>
        <p:spPr>
          <a:xfrm>
            <a:off x="1280160" y="3328416"/>
            <a:ext cx="6355080" cy="621792"/>
          </a:xfrm>
          <a:prstGeom prst="rect">
            <a:avLst/>
          </a:prstGeom>
          <a:noFill/>
          <a:ln/>
        </p:spPr>
        <p:txBody>
          <a:bodyPr wrap="square" lIns="0" tIns="0" rIns="0" bIns="0" rtlCol="0" anchor="ctr"/>
          <a:lstStyle/>
          <a:p>
            <a:pPr indent="0" marL="0">
              <a:buNone/>
            </a:pPr>
            <a:r>
              <a:rPr lang="en-US" sz="2000" dirty="0">
                <a:solidFill>
                  <a:schemeClr val="tx2"/>
                </a:solidFill>
              </a:rPr>
              <a:t>Glucose has less energy than ATP</a:t>
            </a:r>
            <a:endParaRPr lang="en-US" sz="2000" dirty="0"/>
          </a:p>
        </p:txBody>
      </p:sp>
      <p:sp>
        <p:nvSpPr>
          <p:cNvPr id="16" name="option C"/>
          <p:cNvSpPr/>
          <p:nvPr/>
        </p:nvSpPr>
        <p:spPr>
          <a:xfrm>
            <a:off x="548640" y="4096512"/>
            <a:ext cx="7680960" cy="621792"/>
          </a:xfrm>
          <a:prstGeom prst="roundRect">
            <a:avLst>
              <a:gd name="adj" fmla="val 17647"/>
            </a:avLst>
          </a:prstGeom>
          <a:solidFill>
            <a:schemeClr val="bg2"/>
          </a:solidFill>
          <a:ln w="12700">
            <a:solidFill>
              <a:schemeClr val="bg2"/>
            </a:solidFill>
            <a:prstDash val="solid"/>
          </a:ln>
        </p:spPr>
      </p:sp>
      <p:sp>
        <p:nvSpPr>
          <p:cNvPr id="17" name="letter"/>
          <p:cNvSpPr/>
          <p:nvPr/>
        </p:nvSpPr>
        <p:spPr>
          <a:xfrm>
            <a:off x="713232" y="4215384"/>
            <a:ext cx="384048" cy="384048"/>
          </a:xfrm>
          <a:prstGeom prst="ellipse">
            <a:avLst/>
          </a:prstGeom>
          <a:solidFill>
            <a:schemeClr val="bg1"/>
          </a:solidFill>
          <a:ln w="12700">
            <a:solidFill>
              <a:schemeClr val="bg1"/>
            </a:solidFill>
            <a:prstDash val="solid"/>
          </a:ln>
        </p:spPr>
      </p:sp>
      <p:sp>
        <p:nvSpPr>
          <p:cNvPr id="18" name="Text 15"/>
          <p:cNvSpPr txBox="1"/>
          <p:nvPr/>
        </p:nvSpPr>
        <p:spPr>
          <a:xfrm>
            <a:off x="713232" y="4215384"/>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C</a:t>
            </a:r>
            <a:endParaRPr lang="en-US" sz="1500" dirty="0"/>
          </a:p>
        </p:txBody>
      </p:sp>
      <p:sp>
        <p:nvSpPr>
          <p:cNvPr id="19" name="Text 16"/>
          <p:cNvSpPr txBox="1"/>
          <p:nvPr/>
        </p:nvSpPr>
        <p:spPr>
          <a:xfrm>
            <a:off x="1280160" y="4096512"/>
            <a:ext cx="6355080" cy="621792"/>
          </a:xfrm>
          <a:prstGeom prst="rect">
            <a:avLst/>
          </a:prstGeom>
          <a:noFill/>
          <a:ln/>
        </p:spPr>
        <p:txBody>
          <a:bodyPr wrap="square" lIns="0" tIns="0" rIns="0" bIns="0" rtlCol="0" anchor="ctr"/>
          <a:lstStyle/>
          <a:p>
            <a:pPr indent="0" marL="0">
              <a:buNone/>
            </a:pPr>
            <a:r>
              <a:rPr lang="en-US" sz="2000" dirty="0">
                <a:solidFill>
                  <a:schemeClr val="tx2"/>
                </a:solidFill>
              </a:rPr>
              <a:t>Glucose blocks light</a:t>
            </a:r>
            <a:endParaRPr lang="en-US" sz="2000" dirty="0"/>
          </a:p>
        </p:txBody>
      </p:sp>
      <p:sp>
        <p:nvSpPr>
          <p:cNvPr id="20" name="option D"/>
          <p:cNvSpPr/>
          <p:nvPr/>
        </p:nvSpPr>
        <p:spPr>
          <a:xfrm>
            <a:off x="548640" y="4864608"/>
            <a:ext cx="7680960" cy="621792"/>
          </a:xfrm>
          <a:prstGeom prst="roundRect">
            <a:avLst>
              <a:gd name="adj" fmla="val 17647"/>
            </a:avLst>
          </a:prstGeom>
          <a:solidFill>
            <a:schemeClr val="bg2"/>
          </a:solidFill>
          <a:ln w="12700">
            <a:solidFill>
              <a:schemeClr val="bg2"/>
            </a:solidFill>
            <a:prstDash val="solid"/>
          </a:ln>
        </p:spPr>
      </p:sp>
      <p:sp>
        <p:nvSpPr>
          <p:cNvPr id="21" name="letter"/>
          <p:cNvSpPr/>
          <p:nvPr/>
        </p:nvSpPr>
        <p:spPr>
          <a:xfrm>
            <a:off x="713232" y="4983480"/>
            <a:ext cx="384048" cy="384048"/>
          </a:xfrm>
          <a:prstGeom prst="ellipse">
            <a:avLst/>
          </a:prstGeom>
          <a:solidFill>
            <a:schemeClr val="bg1"/>
          </a:solidFill>
          <a:ln w="12700">
            <a:solidFill>
              <a:schemeClr val="bg1"/>
            </a:solidFill>
            <a:prstDash val="solid"/>
          </a:ln>
        </p:spPr>
      </p:sp>
      <p:sp>
        <p:nvSpPr>
          <p:cNvPr id="22" name="Text 19"/>
          <p:cNvSpPr txBox="1"/>
          <p:nvPr/>
        </p:nvSpPr>
        <p:spPr>
          <a:xfrm>
            <a:off x="713232" y="4983480"/>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D</a:t>
            </a:r>
            <a:endParaRPr lang="en-US" sz="1500" dirty="0"/>
          </a:p>
        </p:txBody>
      </p:sp>
      <p:sp>
        <p:nvSpPr>
          <p:cNvPr id="23" name="Text 20"/>
          <p:cNvSpPr txBox="1"/>
          <p:nvPr/>
        </p:nvSpPr>
        <p:spPr>
          <a:xfrm>
            <a:off x="1280160" y="4864608"/>
            <a:ext cx="6355080" cy="621792"/>
          </a:xfrm>
          <a:prstGeom prst="rect">
            <a:avLst/>
          </a:prstGeom>
          <a:noFill/>
          <a:ln/>
        </p:spPr>
        <p:txBody>
          <a:bodyPr wrap="square" lIns="0" tIns="0" rIns="0" bIns="0" rtlCol="0" anchor="ctr"/>
          <a:lstStyle/>
          <a:p>
            <a:pPr indent="0" marL="0">
              <a:buNone/>
            </a:pPr>
            <a:r>
              <a:rPr lang="en-US" sz="2000" dirty="0">
                <a:solidFill>
                  <a:schemeClr val="tx2"/>
                </a:solidFill>
              </a:rPr>
              <a:t>Water was mixed into the glucose</a:t>
            </a:r>
            <a:endParaRPr lang="en-US" sz="2000" dirty="0"/>
          </a:p>
        </p:txBody>
      </p:sp>
      <p:sp>
        <p:nvSpPr>
          <p:cNvPr id="24" name="panel"/>
          <p:cNvSpPr/>
          <p:nvPr/>
        </p:nvSpPr>
        <p:spPr>
          <a:xfrm>
            <a:off x="8503920" y="2560320"/>
            <a:ext cx="3136392" cy="2926080"/>
          </a:xfrm>
          <a:prstGeom prst="roundRect">
            <a:avLst>
              <a:gd name="adj" fmla="val 3750"/>
            </a:avLst>
          </a:prstGeom>
          <a:solidFill>
            <a:schemeClr val="accent5">
              <a:alpha val="12000"/>
            </a:schemeClr>
          </a:solidFill>
          <a:ln w="12700">
            <a:solidFill>
              <a:schemeClr val="accent5"/>
            </a:solidFill>
            <a:prstDash val="solid"/>
          </a:ln>
        </p:spPr>
      </p:sp>
      <p:sp>
        <p:nvSpPr>
          <p:cNvPr id="25" name="Text 22"/>
          <p:cNvSpPr txBox="1"/>
          <p:nvPr/>
        </p:nvSpPr>
        <p:spPr>
          <a:xfrm>
            <a:off x="8686800" y="2697480"/>
            <a:ext cx="2788920" cy="265176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Why</a:t>
            </a:r>
            <a:endParaRPr lang="en-US" sz="1700" dirty="0"/>
          </a:p>
          <a:p>
            <a:pPr indent="0" marL="0">
              <a:spcAft>
                <a:spcPts val="600"/>
              </a:spcAft>
              <a:buNone/>
            </a:pPr>
            <a:r>
              <a:rPr lang="en-US" sz="1700" dirty="0">
                <a:solidFill>
                  <a:schemeClr val="tx1"/>
                </a:solidFill>
              </a:rPr>
              <a:t>Cell machines take ATP. Without working cells doing respiration, the glucose couldn't be "changed" into ATP.</a:t>
            </a:r>
            <a:endParaRPr lang="en-US" sz="17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Part B</a:t>
            </a:r>
            <a:endParaRPr lang="en-US" sz="3200" dirty="0"/>
          </a:p>
        </p:txBody>
      </p:sp>
      <p:sp>
        <p:nvSpPr>
          <p:cNvPr id="3" name="tag"/>
          <p:cNvSpPr/>
          <p:nvPr/>
        </p:nvSpPr>
        <p:spPr>
          <a:xfrm>
            <a:off x="548640" y="329184"/>
            <a:ext cx="1348740" cy="329184"/>
          </a:xfrm>
          <a:prstGeom prst="roundRect">
            <a:avLst>
              <a:gd name="adj" fmla="val 50000"/>
            </a:avLst>
          </a:prstGeom>
          <a:solidFill>
            <a:schemeClr val="accent6">
              <a:alpha val="18000"/>
            </a:schemeClr>
          </a:solidFill>
          <a:ln w="12700">
            <a:solidFill>
              <a:schemeClr val="accent6"/>
            </a:solidFill>
            <a:prstDash val="solid"/>
          </a:ln>
        </p:spPr>
      </p:sp>
      <p:sp>
        <p:nvSpPr>
          <p:cNvPr id="4" name="Text 2"/>
          <p:cNvSpPr txBox="1"/>
          <p:nvPr/>
        </p:nvSpPr>
        <p:spPr>
          <a:xfrm>
            <a:off x="548640" y="329184"/>
            <a:ext cx="1348740" cy="329184"/>
          </a:xfrm>
          <a:prstGeom prst="rect">
            <a:avLst/>
          </a:prstGeom>
          <a:noFill/>
          <a:ln/>
        </p:spPr>
        <p:txBody>
          <a:bodyPr wrap="square" lIns="0" tIns="0" rIns="0" bIns="0" rtlCol="0" anchor="ctr"/>
          <a:lstStyle/>
          <a:p>
            <a:pPr algn="ctr" indent="0" marL="0">
              <a:buNone/>
            </a:pPr>
            <a:r>
              <a:rPr lang="en-US" sz="1300" b="1" dirty="0">
                <a:solidFill>
                  <a:schemeClr val="accent6"/>
                </a:solidFill>
              </a:rPr>
              <a:t>Quick check</a:t>
            </a:r>
            <a:endParaRPr lang="en-US" sz="1300" dirty="0"/>
          </a:p>
        </p:txBody>
      </p:sp>
      <p:sp>
        <p:nvSpPr>
          <p:cNvPr id="6" name="Text 3"/>
          <p:cNvSpPr txBox="1"/>
          <p:nvPr/>
        </p:nvSpPr>
        <p:spPr>
          <a:xfrm>
            <a:off x="548640" y="1600200"/>
            <a:ext cx="11064240" cy="868680"/>
          </a:xfrm>
          <a:prstGeom prst="rect">
            <a:avLst/>
          </a:prstGeom>
          <a:noFill/>
          <a:ln/>
        </p:spPr>
        <p:txBody>
          <a:bodyPr wrap="square" lIns="0" tIns="0" rIns="0" bIns="0" rtlCol="0" anchor="t"/>
          <a:lstStyle/>
          <a:p>
            <a:pPr indent="0" marL="0">
              <a:spcAft>
                <a:spcPts val="600"/>
              </a:spcAft>
              <a:buNone/>
            </a:pPr>
            <a:r>
              <a:rPr lang="en-US" sz="2400" dirty="0">
                <a:solidFill>
                  <a:schemeClr val="tx1"/>
                </a:solidFill>
              </a:rPr>
              <a:t>After the glow faded again, what had the ATP become?</a:t>
            </a:r>
            <a:endParaRPr lang="en-US" sz="2400" dirty="0"/>
          </a:p>
        </p:txBody>
      </p:sp>
      <p:sp>
        <p:nvSpPr>
          <p:cNvPr id="7" name="option A"/>
          <p:cNvSpPr/>
          <p:nvPr/>
        </p:nvSpPr>
        <p:spPr>
          <a:xfrm>
            <a:off x="548640" y="2560320"/>
            <a:ext cx="7680960" cy="621792"/>
          </a:xfrm>
          <a:prstGeom prst="roundRect">
            <a:avLst>
              <a:gd name="adj" fmla="val 17647"/>
            </a:avLst>
          </a:prstGeom>
          <a:solidFill>
            <a:schemeClr val="bg2"/>
          </a:solidFill>
          <a:ln w="12700">
            <a:solidFill>
              <a:schemeClr val="bg2"/>
            </a:solidFill>
            <a:prstDash val="solid"/>
          </a:ln>
        </p:spPr>
      </p:sp>
      <p:sp>
        <p:nvSpPr>
          <p:cNvPr id="8" name="letter"/>
          <p:cNvSpPr/>
          <p:nvPr/>
        </p:nvSpPr>
        <p:spPr>
          <a:xfrm>
            <a:off x="713232" y="2679192"/>
            <a:ext cx="384048" cy="384048"/>
          </a:xfrm>
          <a:prstGeom prst="ellipse">
            <a:avLst/>
          </a:prstGeom>
          <a:solidFill>
            <a:schemeClr val="bg1"/>
          </a:solidFill>
          <a:ln w="12700">
            <a:solidFill>
              <a:schemeClr val="bg1"/>
            </a:solidFill>
            <a:prstDash val="solid"/>
          </a:ln>
        </p:spPr>
      </p:sp>
      <p:sp>
        <p:nvSpPr>
          <p:cNvPr id="9" name="Text 6"/>
          <p:cNvSpPr txBox="1"/>
          <p:nvPr/>
        </p:nvSpPr>
        <p:spPr>
          <a:xfrm>
            <a:off x="713232" y="2679192"/>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A</a:t>
            </a:r>
            <a:endParaRPr lang="en-US" sz="1500" dirty="0"/>
          </a:p>
        </p:txBody>
      </p:sp>
      <p:sp>
        <p:nvSpPr>
          <p:cNvPr id="10" name="Text 7"/>
          <p:cNvSpPr txBox="1"/>
          <p:nvPr/>
        </p:nvSpPr>
        <p:spPr>
          <a:xfrm>
            <a:off x="1280160" y="2560320"/>
            <a:ext cx="6355080" cy="621792"/>
          </a:xfrm>
          <a:prstGeom prst="rect">
            <a:avLst/>
          </a:prstGeom>
          <a:noFill/>
          <a:ln/>
        </p:spPr>
        <p:txBody>
          <a:bodyPr wrap="square" lIns="0" tIns="0" rIns="0" bIns="0" rtlCol="0" anchor="ctr"/>
          <a:lstStyle/>
          <a:p>
            <a:pPr indent="0" marL="0">
              <a:buNone/>
            </a:pPr>
            <a:r>
              <a:rPr lang="en-US" sz="2000" dirty="0">
                <a:solidFill>
                  <a:schemeClr val="tx1"/>
                </a:solidFill>
              </a:rPr>
              <a:t>Glucose</a:t>
            </a:r>
            <a:endParaRPr lang="en-US" sz="2000" dirty="0"/>
          </a:p>
        </p:txBody>
      </p:sp>
      <p:sp>
        <p:nvSpPr>
          <p:cNvPr id="11" name="option B"/>
          <p:cNvSpPr/>
          <p:nvPr/>
        </p:nvSpPr>
        <p:spPr>
          <a:xfrm>
            <a:off x="548640" y="3328416"/>
            <a:ext cx="7680960" cy="621792"/>
          </a:xfrm>
          <a:prstGeom prst="roundRect">
            <a:avLst>
              <a:gd name="adj" fmla="val 17647"/>
            </a:avLst>
          </a:prstGeom>
          <a:solidFill>
            <a:schemeClr val="bg2"/>
          </a:solidFill>
          <a:ln w="12700">
            <a:solidFill>
              <a:schemeClr val="bg2"/>
            </a:solidFill>
            <a:prstDash val="solid"/>
          </a:ln>
        </p:spPr>
      </p:sp>
      <p:sp>
        <p:nvSpPr>
          <p:cNvPr id="12" name="letter"/>
          <p:cNvSpPr/>
          <p:nvPr/>
        </p:nvSpPr>
        <p:spPr>
          <a:xfrm>
            <a:off x="713232" y="3447288"/>
            <a:ext cx="384048" cy="384048"/>
          </a:xfrm>
          <a:prstGeom prst="ellipse">
            <a:avLst/>
          </a:prstGeom>
          <a:solidFill>
            <a:schemeClr val="bg1"/>
          </a:solidFill>
          <a:ln w="12700">
            <a:solidFill>
              <a:schemeClr val="bg1"/>
            </a:solidFill>
            <a:prstDash val="solid"/>
          </a:ln>
        </p:spPr>
      </p:sp>
      <p:sp>
        <p:nvSpPr>
          <p:cNvPr id="13" name="Text 10"/>
          <p:cNvSpPr txBox="1"/>
          <p:nvPr/>
        </p:nvSpPr>
        <p:spPr>
          <a:xfrm>
            <a:off x="713232" y="3447288"/>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B</a:t>
            </a:r>
            <a:endParaRPr lang="en-US" sz="1500" dirty="0"/>
          </a:p>
        </p:txBody>
      </p:sp>
      <p:sp>
        <p:nvSpPr>
          <p:cNvPr id="14" name="Text 11"/>
          <p:cNvSpPr txBox="1"/>
          <p:nvPr/>
        </p:nvSpPr>
        <p:spPr>
          <a:xfrm>
            <a:off x="1280160" y="3328416"/>
            <a:ext cx="6355080" cy="621792"/>
          </a:xfrm>
          <a:prstGeom prst="rect">
            <a:avLst/>
          </a:prstGeom>
          <a:noFill/>
          <a:ln/>
        </p:spPr>
        <p:txBody>
          <a:bodyPr wrap="square" lIns="0" tIns="0" rIns="0" bIns="0" rtlCol="0" anchor="ctr"/>
          <a:lstStyle/>
          <a:p>
            <a:pPr indent="0" marL="0">
              <a:buNone/>
            </a:pPr>
            <a:r>
              <a:rPr lang="en-US" sz="2000" dirty="0">
                <a:solidFill>
                  <a:schemeClr val="tx1"/>
                </a:solidFill>
              </a:rPr>
              <a:t>Light bulbs</a:t>
            </a:r>
            <a:endParaRPr lang="en-US" sz="2000" dirty="0"/>
          </a:p>
        </p:txBody>
      </p:sp>
      <p:sp>
        <p:nvSpPr>
          <p:cNvPr id="15" name="option C"/>
          <p:cNvSpPr/>
          <p:nvPr/>
        </p:nvSpPr>
        <p:spPr>
          <a:xfrm>
            <a:off x="548640" y="4096512"/>
            <a:ext cx="7680960" cy="621792"/>
          </a:xfrm>
          <a:prstGeom prst="roundRect">
            <a:avLst>
              <a:gd name="adj" fmla="val 17647"/>
            </a:avLst>
          </a:prstGeom>
          <a:solidFill>
            <a:schemeClr val="bg2"/>
          </a:solidFill>
          <a:ln w="12700">
            <a:solidFill>
              <a:schemeClr val="bg2"/>
            </a:solidFill>
            <a:prstDash val="solid"/>
          </a:ln>
        </p:spPr>
      </p:sp>
      <p:sp>
        <p:nvSpPr>
          <p:cNvPr id="16" name="letter"/>
          <p:cNvSpPr/>
          <p:nvPr/>
        </p:nvSpPr>
        <p:spPr>
          <a:xfrm>
            <a:off x="713232" y="4215384"/>
            <a:ext cx="384048" cy="384048"/>
          </a:xfrm>
          <a:prstGeom prst="ellipse">
            <a:avLst/>
          </a:prstGeom>
          <a:solidFill>
            <a:schemeClr val="bg1"/>
          </a:solidFill>
          <a:ln w="12700">
            <a:solidFill>
              <a:schemeClr val="bg1"/>
            </a:solidFill>
            <a:prstDash val="solid"/>
          </a:ln>
        </p:spPr>
      </p:sp>
      <p:sp>
        <p:nvSpPr>
          <p:cNvPr id="17" name="Text 14"/>
          <p:cNvSpPr txBox="1"/>
          <p:nvPr/>
        </p:nvSpPr>
        <p:spPr>
          <a:xfrm>
            <a:off x="713232" y="4215384"/>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C</a:t>
            </a:r>
            <a:endParaRPr lang="en-US" sz="1500" dirty="0"/>
          </a:p>
        </p:txBody>
      </p:sp>
      <p:sp>
        <p:nvSpPr>
          <p:cNvPr id="18" name="Text 15"/>
          <p:cNvSpPr txBox="1"/>
          <p:nvPr/>
        </p:nvSpPr>
        <p:spPr>
          <a:xfrm>
            <a:off x="1280160" y="4096512"/>
            <a:ext cx="6355080" cy="621792"/>
          </a:xfrm>
          <a:prstGeom prst="rect">
            <a:avLst/>
          </a:prstGeom>
          <a:noFill/>
          <a:ln/>
        </p:spPr>
        <p:txBody>
          <a:bodyPr wrap="square" lIns="0" tIns="0" rIns="0" bIns="0" rtlCol="0" anchor="ctr"/>
          <a:lstStyle/>
          <a:p>
            <a:pPr indent="0" marL="0">
              <a:buNone/>
            </a:pPr>
            <a:r>
              <a:rPr lang="en-US" sz="2000" dirty="0">
                <a:solidFill>
                  <a:schemeClr val="tx1"/>
                </a:solidFill>
              </a:rPr>
              <a:t>DNA</a:t>
            </a:r>
            <a:endParaRPr lang="en-US" sz="2000" dirty="0"/>
          </a:p>
        </p:txBody>
      </p:sp>
      <p:sp>
        <p:nvSpPr>
          <p:cNvPr id="19" name="option D"/>
          <p:cNvSpPr/>
          <p:nvPr/>
        </p:nvSpPr>
        <p:spPr>
          <a:xfrm>
            <a:off x="548640" y="4864608"/>
            <a:ext cx="7680960" cy="621792"/>
          </a:xfrm>
          <a:prstGeom prst="roundRect">
            <a:avLst>
              <a:gd name="adj" fmla="val 17647"/>
            </a:avLst>
          </a:prstGeom>
          <a:solidFill>
            <a:schemeClr val="bg2"/>
          </a:solidFill>
          <a:ln w="12700">
            <a:solidFill>
              <a:schemeClr val="bg2"/>
            </a:solidFill>
            <a:prstDash val="solid"/>
          </a:ln>
        </p:spPr>
      </p:sp>
      <p:sp>
        <p:nvSpPr>
          <p:cNvPr id="20" name="letter"/>
          <p:cNvSpPr/>
          <p:nvPr/>
        </p:nvSpPr>
        <p:spPr>
          <a:xfrm>
            <a:off x="713232" y="4983480"/>
            <a:ext cx="384048" cy="384048"/>
          </a:xfrm>
          <a:prstGeom prst="ellipse">
            <a:avLst/>
          </a:prstGeom>
          <a:solidFill>
            <a:schemeClr val="bg1"/>
          </a:solidFill>
          <a:ln w="12700">
            <a:solidFill>
              <a:schemeClr val="bg1"/>
            </a:solidFill>
            <a:prstDash val="solid"/>
          </a:ln>
        </p:spPr>
      </p:sp>
      <p:sp>
        <p:nvSpPr>
          <p:cNvPr id="21" name="Text 18"/>
          <p:cNvSpPr txBox="1"/>
          <p:nvPr/>
        </p:nvSpPr>
        <p:spPr>
          <a:xfrm>
            <a:off x="713232" y="4983480"/>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D</a:t>
            </a:r>
            <a:endParaRPr lang="en-US" sz="1500" dirty="0"/>
          </a:p>
        </p:txBody>
      </p:sp>
      <p:sp>
        <p:nvSpPr>
          <p:cNvPr id="22" name="Text 19"/>
          <p:cNvSpPr txBox="1"/>
          <p:nvPr/>
        </p:nvSpPr>
        <p:spPr>
          <a:xfrm>
            <a:off x="1280160" y="4864608"/>
            <a:ext cx="6355080" cy="621792"/>
          </a:xfrm>
          <a:prstGeom prst="rect">
            <a:avLst/>
          </a:prstGeom>
          <a:noFill/>
          <a:ln/>
        </p:spPr>
        <p:txBody>
          <a:bodyPr wrap="square" lIns="0" tIns="0" rIns="0" bIns="0" rtlCol="0" anchor="ctr"/>
          <a:lstStyle/>
          <a:p>
            <a:pPr indent="0" marL="0">
              <a:buNone/>
            </a:pPr>
            <a:r>
              <a:rPr lang="en-US" sz="2000" dirty="0">
                <a:solidFill>
                  <a:schemeClr val="tx1"/>
                </a:solidFill>
              </a:rPr>
              <a:t>ADP and phosphate</a:t>
            </a:r>
            <a:endParaRPr lang="en-US" sz="2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Part B</a:t>
            </a:r>
            <a:endParaRPr lang="en-US" sz="3200" dirty="0"/>
          </a:p>
        </p:txBody>
      </p:sp>
      <p:sp>
        <p:nvSpPr>
          <p:cNvPr id="3" name="tag"/>
          <p:cNvSpPr/>
          <p:nvPr/>
        </p:nvSpPr>
        <p:spPr>
          <a:xfrm>
            <a:off x="548640" y="329184"/>
            <a:ext cx="868680" cy="329184"/>
          </a:xfrm>
          <a:prstGeom prst="roundRect">
            <a:avLst>
              <a:gd name="adj" fmla="val 50000"/>
            </a:avLst>
          </a:prstGeom>
          <a:solidFill>
            <a:schemeClr val="accent5">
              <a:alpha val="18000"/>
            </a:schemeClr>
          </a:solidFill>
          <a:ln w="12700">
            <a:solidFill>
              <a:schemeClr val="accent5"/>
            </a:solidFill>
            <a:prstDash val="solid"/>
          </a:ln>
        </p:spPr>
      </p:sp>
      <p:sp>
        <p:nvSpPr>
          <p:cNvPr id="4" name="Text 2"/>
          <p:cNvSpPr txBox="1"/>
          <p:nvPr/>
        </p:nvSpPr>
        <p:spPr>
          <a:xfrm>
            <a:off x="548640" y="329184"/>
            <a:ext cx="868680" cy="329184"/>
          </a:xfrm>
          <a:prstGeom prst="rect">
            <a:avLst/>
          </a:prstGeom>
          <a:noFill/>
          <a:ln/>
        </p:spPr>
        <p:txBody>
          <a:bodyPr wrap="square" lIns="0" tIns="0" rIns="0" bIns="0" rtlCol="0" anchor="ctr"/>
          <a:lstStyle/>
          <a:p>
            <a:pPr algn="ctr" indent="0" marL="0">
              <a:buNone/>
            </a:pPr>
            <a:r>
              <a:rPr lang="en-US" sz="1300" b="1" dirty="0">
                <a:solidFill>
                  <a:schemeClr val="accent5"/>
                </a:solidFill>
              </a:rPr>
              <a:t>Answer</a:t>
            </a:r>
            <a:endParaRPr lang="en-US" sz="1300" dirty="0"/>
          </a:p>
        </p:txBody>
      </p:sp>
      <p:sp>
        <p:nvSpPr>
          <p:cNvPr id="6" name="Text 3"/>
          <p:cNvSpPr txBox="1"/>
          <p:nvPr/>
        </p:nvSpPr>
        <p:spPr>
          <a:xfrm>
            <a:off x="548640" y="1600200"/>
            <a:ext cx="11064240" cy="868680"/>
          </a:xfrm>
          <a:prstGeom prst="rect">
            <a:avLst/>
          </a:prstGeom>
          <a:noFill/>
          <a:ln/>
        </p:spPr>
        <p:txBody>
          <a:bodyPr wrap="square" lIns="0" tIns="0" rIns="0" bIns="0" rtlCol="0" anchor="t"/>
          <a:lstStyle/>
          <a:p>
            <a:pPr indent="0" marL="0">
              <a:spcAft>
                <a:spcPts val="600"/>
              </a:spcAft>
              <a:buNone/>
            </a:pPr>
            <a:r>
              <a:rPr lang="en-US" sz="2400" dirty="0">
                <a:solidFill>
                  <a:schemeClr val="tx1"/>
                </a:solidFill>
              </a:rPr>
              <a:t>After the glow faded again, what had the ATP become?</a:t>
            </a:r>
            <a:endParaRPr lang="en-US" sz="2400" dirty="0"/>
          </a:p>
        </p:txBody>
      </p:sp>
      <p:sp>
        <p:nvSpPr>
          <p:cNvPr id="7" name="option A"/>
          <p:cNvSpPr/>
          <p:nvPr/>
        </p:nvSpPr>
        <p:spPr>
          <a:xfrm>
            <a:off x="548640" y="2560320"/>
            <a:ext cx="7680960" cy="621792"/>
          </a:xfrm>
          <a:prstGeom prst="roundRect">
            <a:avLst>
              <a:gd name="adj" fmla="val 17647"/>
            </a:avLst>
          </a:prstGeom>
          <a:solidFill>
            <a:schemeClr val="bg2"/>
          </a:solidFill>
          <a:ln w="12700">
            <a:solidFill>
              <a:schemeClr val="bg2"/>
            </a:solidFill>
            <a:prstDash val="solid"/>
          </a:ln>
        </p:spPr>
      </p:sp>
      <p:sp>
        <p:nvSpPr>
          <p:cNvPr id="8" name="letter"/>
          <p:cNvSpPr/>
          <p:nvPr/>
        </p:nvSpPr>
        <p:spPr>
          <a:xfrm>
            <a:off x="713232" y="2679192"/>
            <a:ext cx="384048" cy="384048"/>
          </a:xfrm>
          <a:prstGeom prst="ellipse">
            <a:avLst/>
          </a:prstGeom>
          <a:solidFill>
            <a:schemeClr val="bg1"/>
          </a:solidFill>
          <a:ln w="12700">
            <a:solidFill>
              <a:schemeClr val="bg1"/>
            </a:solidFill>
            <a:prstDash val="solid"/>
          </a:ln>
        </p:spPr>
      </p:sp>
      <p:sp>
        <p:nvSpPr>
          <p:cNvPr id="9" name="Text 6"/>
          <p:cNvSpPr txBox="1"/>
          <p:nvPr/>
        </p:nvSpPr>
        <p:spPr>
          <a:xfrm>
            <a:off x="713232" y="2679192"/>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A</a:t>
            </a:r>
            <a:endParaRPr lang="en-US" sz="1500" dirty="0"/>
          </a:p>
        </p:txBody>
      </p:sp>
      <p:sp>
        <p:nvSpPr>
          <p:cNvPr id="10" name="Text 7"/>
          <p:cNvSpPr txBox="1"/>
          <p:nvPr/>
        </p:nvSpPr>
        <p:spPr>
          <a:xfrm>
            <a:off x="1280160" y="2560320"/>
            <a:ext cx="6355080" cy="621792"/>
          </a:xfrm>
          <a:prstGeom prst="rect">
            <a:avLst/>
          </a:prstGeom>
          <a:noFill/>
          <a:ln/>
        </p:spPr>
        <p:txBody>
          <a:bodyPr wrap="square" lIns="0" tIns="0" rIns="0" bIns="0" rtlCol="0" anchor="ctr"/>
          <a:lstStyle/>
          <a:p>
            <a:pPr indent="0" marL="0">
              <a:buNone/>
            </a:pPr>
            <a:r>
              <a:rPr lang="en-US" sz="2000" dirty="0">
                <a:solidFill>
                  <a:schemeClr val="tx2"/>
                </a:solidFill>
              </a:rPr>
              <a:t>Glucose</a:t>
            </a:r>
            <a:endParaRPr lang="en-US" sz="2000" dirty="0"/>
          </a:p>
        </p:txBody>
      </p:sp>
      <p:sp>
        <p:nvSpPr>
          <p:cNvPr id="11" name="option B"/>
          <p:cNvSpPr/>
          <p:nvPr/>
        </p:nvSpPr>
        <p:spPr>
          <a:xfrm>
            <a:off x="548640" y="3328416"/>
            <a:ext cx="7680960" cy="621792"/>
          </a:xfrm>
          <a:prstGeom prst="roundRect">
            <a:avLst>
              <a:gd name="adj" fmla="val 17647"/>
            </a:avLst>
          </a:prstGeom>
          <a:solidFill>
            <a:schemeClr val="bg2"/>
          </a:solidFill>
          <a:ln w="12700">
            <a:solidFill>
              <a:schemeClr val="bg2"/>
            </a:solidFill>
            <a:prstDash val="solid"/>
          </a:ln>
        </p:spPr>
      </p:sp>
      <p:sp>
        <p:nvSpPr>
          <p:cNvPr id="12" name="letter"/>
          <p:cNvSpPr/>
          <p:nvPr/>
        </p:nvSpPr>
        <p:spPr>
          <a:xfrm>
            <a:off x="713232" y="3447288"/>
            <a:ext cx="384048" cy="384048"/>
          </a:xfrm>
          <a:prstGeom prst="ellipse">
            <a:avLst/>
          </a:prstGeom>
          <a:solidFill>
            <a:schemeClr val="bg1"/>
          </a:solidFill>
          <a:ln w="12700">
            <a:solidFill>
              <a:schemeClr val="bg1"/>
            </a:solidFill>
            <a:prstDash val="solid"/>
          </a:ln>
        </p:spPr>
      </p:sp>
      <p:sp>
        <p:nvSpPr>
          <p:cNvPr id="13" name="Text 10"/>
          <p:cNvSpPr txBox="1"/>
          <p:nvPr/>
        </p:nvSpPr>
        <p:spPr>
          <a:xfrm>
            <a:off x="713232" y="3447288"/>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B</a:t>
            </a:r>
            <a:endParaRPr lang="en-US" sz="1500" dirty="0"/>
          </a:p>
        </p:txBody>
      </p:sp>
      <p:sp>
        <p:nvSpPr>
          <p:cNvPr id="14" name="Text 11"/>
          <p:cNvSpPr txBox="1"/>
          <p:nvPr/>
        </p:nvSpPr>
        <p:spPr>
          <a:xfrm>
            <a:off x="1280160" y="3328416"/>
            <a:ext cx="6355080" cy="621792"/>
          </a:xfrm>
          <a:prstGeom prst="rect">
            <a:avLst/>
          </a:prstGeom>
          <a:noFill/>
          <a:ln/>
        </p:spPr>
        <p:txBody>
          <a:bodyPr wrap="square" lIns="0" tIns="0" rIns="0" bIns="0" rtlCol="0" anchor="ctr"/>
          <a:lstStyle/>
          <a:p>
            <a:pPr indent="0" marL="0">
              <a:buNone/>
            </a:pPr>
            <a:r>
              <a:rPr lang="en-US" sz="2000" dirty="0">
                <a:solidFill>
                  <a:schemeClr val="tx2"/>
                </a:solidFill>
              </a:rPr>
              <a:t>Light bulbs</a:t>
            </a:r>
            <a:endParaRPr lang="en-US" sz="2000" dirty="0"/>
          </a:p>
        </p:txBody>
      </p:sp>
      <p:sp>
        <p:nvSpPr>
          <p:cNvPr id="15" name="option C"/>
          <p:cNvSpPr/>
          <p:nvPr/>
        </p:nvSpPr>
        <p:spPr>
          <a:xfrm>
            <a:off x="548640" y="4096512"/>
            <a:ext cx="7680960" cy="621792"/>
          </a:xfrm>
          <a:prstGeom prst="roundRect">
            <a:avLst>
              <a:gd name="adj" fmla="val 17647"/>
            </a:avLst>
          </a:prstGeom>
          <a:solidFill>
            <a:schemeClr val="bg2"/>
          </a:solidFill>
          <a:ln w="12700">
            <a:solidFill>
              <a:schemeClr val="bg2"/>
            </a:solidFill>
            <a:prstDash val="solid"/>
          </a:ln>
        </p:spPr>
      </p:sp>
      <p:sp>
        <p:nvSpPr>
          <p:cNvPr id="16" name="letter"/>
          <p:cNvSpPr/>
          <p:nvPr/>
        </p:nvSpPr>
        <p:spPr>
          <a:xfrm>
            <a:off x="713232" y="4215384"/>
            <a:ext cx="384048" cy="384048"/>
          </a:xfrm>
          <a:prstGeom prst="ellipse">
            <a:avLst/>
          </a:prstGeom>
          <a:solidFill>
            <a:schemeClr val="bg1"/>
          </a:solidFill>
          <a:ln w="12700">
            <a:solidFill>
              <a:schemeClr val="bg1"/>
            </a:solidFill>
            <a:prstDash val="solid"/>
          </a:ln>
        </p:spPr>
      </p:sp>
      <p:sp>
        <p:nvSpPr>
          <p:cNvPr id="17" name="Text 14"/>
          <p:cNvSpPr txBox="1"/>
          <p:nvPr/>
        </p:nvSpPr>
        <p:spPr>
          <a:xfrm>
            <a:off x="713232" y="4215384"/>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C</a:t>
            </a:r>
            <a:endParaRPr lang="en-US" sz="1500" dirty="0"/>
          </a:p>
        </p:txBody>
      </p:sp>
      <p:sp>
        <p:nvSpPr>
          <p:cNvPr id="18" name="Text 15"/>
          <p:cNvSpPr txBox="1"/>
          <p:nvPr/>
        </p:nvSpPr>
        <p:spPr>
          <a:xfrm>
            <a:off x="1280160" y="4096512"/>
            <a:ext cx="6355080" cy="621792"/>
          </a:xfrm>
          <a:prstGeom prst="rect">
            <a:avLst/>
          </a:prstGeom>
          <a:noFill/>
          <a:ln/>
        </p:spPr>
        <p:txBody>
          <a:bodyPr wrap="square" lIns="0" tIns="0" rIns="0" bIns="0" rtlCol="0" anchor="ctr"/>
          <a:lstStyle/>
          <a:p>
            <a:pPr indent="0" marL="0">
              <a:buNone/>
            </a:pPr>
            <a:r>
              <a:rPr lang="en-US" sz="2000" dirty="0">
                <a:solidFill>
                  <a:schemeClr val="tx2"/>
                </a:solidFill>
              </a:rPr>
              <a:t>DNA</a:t>
            </a:r>
            <a:endParaRPr lang="en-US" sz="2000" dirty="0"/>
          </a:p>
        </p:txBody>
      </p:sp>
      <p:sp>
        <p:nvSpPr>
          <p:cNvPr id="19" name="option D"/>
          <p:cNvSpPr/>
          <p:nvPr/>
        </p:nvSpPr>
        <p:spPr>
          <a:xfrm>
            <a:off x="548640" y="4864608"/>
            <a:ext cx="7680960" cy="621792"/>
          </a:xfrm>
          <a:prstGeom prst="roundRect">
            <a:avLst>
              <a:gd name="adj" fmla="val 17647"/>
            </a:avLst>
          </a:prstGeom>
          <a:solidFill>
            <a:schemeClr val="accent5">
              <a:alpha val="20000"/>
            </a:schemeClr>
          </a:solidFill>
          <a:ln w="25400">
            <a:solidFill>
              <a:schemeClr val="accent5"/>
            </a:solidFill>
            <a:prstDash val="solid"/>
          </a:ln>
        </p:spPr>
      </p:sp>
      <p:sp>
        <p:nvSpPr>
          <p:cNvPr id="20" name="letter"/>
          <p:cNvSpPr/>
          <p:nvPr/>
        </p:nvSpPr>
        <p:spPr>
          <a:xfrm>
            <a:off x="713232" y="4983480"/>
            <a:ext cx="384048" cy="384048"/>
          </a:xfrm>
          <a:prstGeom prst="ellipse">
            <a:avLst/>
          </a:prstGeom>
          <a:solidFill>
            <a:schemeClr val="accent5"/>
          </a:solidFill>
          <a:ln w="12700">
            <a:solidFill>
              <a:schemeClr val="accent5"/>
            </a:solidFill>
            <a:prstDash val="solid"/>
          </a:ln>
        </p:spPr>
      </p:sp>
      <p:sp>
        <p:nvSpPr>
          <p:cNvPr id="21" name="Text 18"/>
          <p:cNvSpPr txBox="1"/>
          <p:nvPr/>
        </p:nvSpPr>
        <p:spPr>
          <a:xfrm>
            <a:off x="713232" y="498348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D</a:t>
            </a:r>
            <a:endParaRPr lang="en-US" sz="1500" dirty="0"/>
          </a:p>
        </p:txBody>
      </p:sp>
      <p:sp>
        <p:nvSpPr>
          <p:cNvPr id="22" name="Text 19"/>
          <p:cNvSpPr txBox="1"/>
          <p:nvPr/>
        </p:nvSpPr>
        <p:spPr>
          <a:xfrm>
            <a:off x="1280160" y="4864608"/>
            <a:ext cx="6355080" cy="621792"/>
          </a:xfrm>
          <a:prstGeom prst="rect">
            <a:avLst/>
          </a:prstGeom>
          <a:noFill/>
          <a:ln/>
        </p:spPr>
        <p:txBody>
          <a:bodyPr wrap="square" lIns="0" tIns="0" rIns="0" bIns="0" rtlCol="0" anchor="ctr"/>
          <a:lstStyle/>
          <a:p>
            <a:pPr indent="0" marL="0">
              <a:buNone/>
            </a:pPr>
            <a:r>
              <a:rPr lang="en-US" sz="2000" dirty="0">
                <a:solidFill>
                  <a:schemeClr val="tx1"/>
                </a:solidFill>
              </a:rPr>
              <a:t>ADP and phosphate</a:t>
            </a:r>
            <a:endParaRPr lang="en-US" sz="2000" dirty="0"/>
          </a:p>
        </p:txBody>
      </p:sp>
      <p:sp>
        <p:nvSpPr>
          <p:cNvPr id="23" name="Text 20"/>
          <p:cNvSpPr txBox="1"/>
          <p:nvPr/>
        </p:nvSpPr>
        <p:spPr>
          <a:xfrm>
            <a:off x="7726680" y="4864608"/>
            <a:ext cx="411480" cy="621792"/>
          </a:xfrm>
          <a:prstGeom prst="rect">
            <a:avLst/>
          </a:prstGeom>
          <a:noFill/>
          <a:ln/>
        </p:spPr>
        <p:txBody>
          <a:bodyPr wrap="square" lIns="0" tIns="0" rIns="0" bIns="0" rtlCol="0" anchor="ctr"/>
          <a:lstStyle/>
          <a:p>
            <a:pPr algn="ctr" indent="0" marL="0">
              <a:buNone/>
            </a:pPr>
            <a:r>
              <a:rPr lang="en-US" sz="2200" b="1" dirty="0">
                <a:solidFill>
                  <a:schemeClr val="accent5"/>
                </a:solidFill>
              </a:rPr>
              <a:t>✓</a:t>
            </a:r>
            <a:endParaRPr lang="en-US" sz="2200" dirty="0"/>
          </a:p>
        </p:txBody>
      </p:sp>
      <p:sp>
        <p:nvSpPr>
          <p:cNvPr id="24" name="panel"/>
          <p:cNvSpPr/>
          <p:nvPr/>
        </p:nvSpPr>
        <p:spPr>
          <a:xfrm>
            <a:off x="8503920" y="2560320"/>
            <a:ext cx="3136392" cy="2926080"/>
          </a:xfrm>
          <a:prstGeom prst="roundRect">
            <a:avLst>
              <a:gd name="adj" fmla="val 3750"/>
            </a:avLst>
          </a:prstGeom>
          <a:solidFill>
            <a:schemeClr val="accent5">
              <a:alpha val="12000"/>
            </a:schemeClr>
          </a:solidFill>
          <a:ln w="12700">
            <a:solidFill>
              <a:schemeClr val="accent5"/>
            </a:solidFill>
            <a:prstDash val="solid"/>
          </a:ln>
        </p:spPr>
      </p:sp>
      <p:sp>
        <p:nvSpPr>
          <p:cNvPr id="25" name="Text 22"/>
          <p:cNvSpPr txBox="1"/>
          <p:nvPr/>
        </p:nvSpPr>
        <p:spPr>
          <a:xfrm>
            <a:off x="8686800" y="2697480"/>
            <a:ext cx="2788920" cy="265176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Why</a:t>
            </a:r>
            <a:endParaRPr lang="en-US" sz="1700" dirty="0"/>
          </a:p>
          <a:p>
            <a:pPr indent="0" marL="0">
              <a:spcAft>
                <a:spcPts val="600"/>
              </a:spcAft>
              <a:buNone/>
            </a:pPr>
            <a:r>
              <a:rPr lang="en-US" sz="1700" dirty="0">
                <a:solidFill>
                  <a:schemeClr val="tx1"/>
                </a:solidFill>
              </a:rPr>
              <a:t>The glow spent the ATP: ATP → ADP + P + energy (light).</a:t>
            </a:r>
            <a:endParaRPr lang="en-US" sz="17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ection tile Final"/>
          <p:cNvSpPr/>
          <p:nvPr/>
        </p:nvSpPr>
        <p:spPr>
          <a:xfrm>
            <a:off x="1097280" y="1783080"/>
            <a:ext cx="2377440" cy="2615184"/>
          </a:xfrm>
          <a:prstGeom prst="roundRect">
            <a:avLst>
              <a:gd name="adj" fmla="val 8000"/>
            </a:avLst>
          </a:prstGeom>
          <a:solidFill>
            <a:schemeClr val="bg2"/>
          </a:solidFill>
          <a:ln w="44450">
            <a:solidFill>
              <a:schemeClr val="accent1"/>
            </a:solidFill>
            <a:prstDash val="solid"/>
          </a:ln>
        </p:spPr>
      </p:sp>
      <p:sp>
        <p:nvSpPr>
          <p:cNvPr id="3" name="Text 1"/>
          <p:cNvSpPr txBox="1"/>
          <p:nvPr/>
        </p:nvSpPr>
        <p:spPr>
          <a:xfrm>
            <a:off x="1263701" y="1901952"/>
            <a:ext cx="950976" cy="427939"/>
          </a:xfrm>
          <a:prstGeom prst="rect">
            <a:avLst/>
          </a:prstGeom>
          <a:noFill/>
          <a:ln/>
        </p:spPr>
        <p:txBody>
          <a:bodyPr wrap="square" lIns="0" tIns="0" rIns="0" bIns="0" rtlCol="0" anchor="ctr"/>
          <a:lstStyle/>
          <a:p>
            <a:pPr indent="0" marL="0">
              <a:buNone/>
            </a:pPr>
            <a:r>
              <a:rPr lang="en-US" sz="2340" dirty="0">
                <a:solidFill>
                  <a:schemeClr val="tx2"/>
                </a:solidFill>
              </a:rPr>
              <a:t>7</a:t>
            </a:r>
            <a:endParaRPr lang="en-US" sz="2340" dirty="0"/>
          </a:p>
        </p:txBody>
      </p:sp>
      <p:pic>
        <p:nvPicPr>
          <p:cNvPr id="4" name="Image 0" descr="Final icon">    </p:cNvPr>
          <p:cNvPicPr>
            <a:picLocks noChangeAspect="1"/>
          </p:cNvPicPr>
          <p:nvPr/>
        </p:nvPicPr>
        <p:blipFill>
          <a:blip r:embed="rId1"/>
          <a:stretch>
            <a:fillRect/>
          </a:stretch>
        </p:blipFill>
        <p:spPr>
          <a:xfrm>
            <a:off x="1691640" y="2258568"/>
            <a:ext cx="1188720" cy="1188720"/>
          </a:xfrm>
          <a:prstGeom prst="rect">
            <a:avLst/>
          </a:prstGeom>
        </p:spPr>
      </p:pic>
      <p:sp>
        <p:nvSpPr>
          <p:cNvPr id="5" name="Text 2"/>
          <p:cNvSpPr txBox="1"/>
          <p:nvPr/>
        </p:nvSpPr>
        <p:spPr>
          <a:xfrm>
            <a:off x="1097280" y="3637483"/>
            <a:ext cx="2377440" cy="523037"/>
          </a:xfrm>
          <a:prstGeom prst="rect">
            <a:avLst/>
          </a:prstGeom>
          <a:noFill/>
          <a:ln/>
        </p:spPr>
        <p:txBody>
          <a:bodyPr wrap="square" lIns="0" tIns="0" rIns="0" bIns="0" rtlCol="0" anchor="ctr"/>
          <a:lstStyle/>
          <a:p>
            <a:pPr algn="ctr" indent="0" marL="0">
              <a:buNone/>
            </a:pPr>
            <a:r>
              <a:rPr lang="en-US" sz="1950" dirty="0">
                <a:solidFill>
                  <a:schemeClr val="tx2"/>
                </a:solidFill>
              </a:rPr>
              <a:t>Final</a:t>
            </a:r>
            <a:endParaRPr lang="en-US" sz="1950" dirty="0"/>
          </a:p>
        </p:txBody>
      </p:sp>
      <p:sp>
        <p:nvSpPr>
          <p:cNvPr id="6" name="Text 0"/>
          <p:cNvSpPr/>
          <p:nvPr>
            <p:ph idx="100" type="body" hasCustomPrompt="1"/>
          </p:nvPr>
        </p:nvSpPr>
        <p:spPr>
          <a:xfrm>
            <a:off x="4114800" y="2240280"/>
            <a:ext cx="7498080" cy="457200"/>
          </a:xfrm>
          <a:prstGeom prst="rect">
            <a:avLst/>
          </a:prstGeom>
          <a:noFill/>
          <a:ln/>
        </p:spPr>
        <p:txBody>
          <a:bodyPr wrap="square" lIns="0" tIns="0" rIns="0" bIns="0" rtlCol="0" anchor="b"/>
          <a:lstStyle/>
          <a:p>
            <a:pPr algn="l" indent="0" marL="0">
              <a:buNone/>
            </a:pPr>
            <a:r>
              <a:rPr lang="en-US" sz="2000" dirty="0">
                <a:solidFill>
                  <a:schemeClr val="tx2"/>
                </a:solidFill>
              </a:rPr>
              <a:t>Section 7 of 7 · about 8 min</a:t>
            </a:r>
            <a:endParaRPr lang="en-US" sz="2000" dirty="0"/>
          </a:p>
        </p:txBody>
      </p:sp>
      <p:sp>
        <p:nvSpPr>
          <p:cNvPr id="7" name="Text 0"/>
          <p:cNvSpPr/>
          <p:nvPr>
            <p:ph idx="101" type="title" hasCustomPrompt="1"/>
          </p:nvPr>
        </p:nvSpPr>
        <p:spPr>
          <a:xfrm>
            <a:off x="4114800" y="2788920"/>
            <a:ext cx="7498080" cy="1463040"/>
          </a:xfrm>
          <a:prstGeom prst="rect">
            <a:avLst/>
          </a:prstGeom>
          <a:noFill/>
          <a:ln/>
        </p:spPr>
        <p:txBody>
          <a:bodyPr wrap="square" lIns="0" tIns="0" rIns="0" bIns="0" rtlCol="0" anchor="t"/>
          <a:lstStyle/>
          <a:p>
            <a:pPr algn="l" indent="0" marL="0">
              <a:buNone/>
            </a:pPr>
            <a:r>
              <a:rPr lang="en-US" sz="4400" b="1" dirty="0">
                <a:solidFill>
                  <a:schemeClr val="tx1"/>
                </a:solidFill>
              </a:rPr>
              <a:t>Final check</a:t>
            </a:r>
            <a:endParaRPr lang="en-US" sz="4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Final check</a:t>
            </a:r>
            <a:endParaRPr lang="en-US" sz="3200" dirty="0"/>
          </a:p>
        </p:txBody>
      </p:sp>
      <p:sp>
        <p:nvSpPr>
          <p:cNvPr id="3" name="tag"/>
          <p:cNvSpPr/>
          <p:nvPr/>
        </p:nvSpPr>
        <p:spPr>
          <a:xfrm>
            <a:off x="548640" y="329184"/>
            <a:ext cx="676656" cy="329184"/>
          </a:xfrm>
          <a:prstGeom prst="roundRect">
            <a:avLst>
              <a:gd name="adj" fmla="val 50000"/>
            </a:avLst>
          </a:prstGeom>
          <a:solidFill>
            <a:schemeClr val="accent3">
              <a:alpha val="18000"/>
            </a:schemeClr>
          </a:solidFill>
          <a:ln w="12700">
            <a:solidFill>
              <a:schemeClr val="accent3"/>
            </a:solidFill>
            <a:prstDash val="solid"/>
          </a:ln>
        </p:spPr>
      </p:sp>
      <p:sp>
        <p:nvSpPr>
          <p:cNvPr id="4" name="Text 2"/>
          <p:cNvSpPr txBox="1"/>
          <p:nvPr/>
        </p:nvSpPr>
        <p:spPr>
          <a:xfrm>
            <a:off x="548640" y="329184"/>
            <a:ext cx="676656" cy="329184"/>
          </a:xfrm>
          <a:prstGeom prst="rect">
            <a:avLst/>
          </a:prstGeom>
          <a:noFill/>
          <a:ln/>
        </p:spPr>
        <p:txBody>
          <a:bodyPr wrap="square" lIns="0" tIns="0" rIns="0" bIns="0" rtlCol="0" anchor="ctr"/>
          <a:lstStyle/>
          <a:p>
            <a:pPr algn="ctr" indent="0" marL="0">
              <a:buNone/>
            </a:pPr>
            <a:r>
              <a:rPr lang="en-US" sz="1300" b="1" dirty="0">
                <a:solidFill>
                  <a:schemeClr val="accent3"/>
                </a:solidFill>
              </a:rPr>
              <a:t>Read</a:t>
            </a:r>
            <a:endParaRPr lang="en-US" sz="1300" dirty="0"/>
          </a:p>
        </p:txBody>
      </p:sp>
      <p:sp>
        <p:nvSpPr>
          <p:cNvPr id="6" name="Text 3"/>
          <p:cNvSpPr txBox="1"/>
          <p:nvPr/>
        </p:nvSpPr>
        <p:spPr>
          <a:xfrm>
            <a:off x="548640" y="1828800"/>
            <a:ext cx="11064240" cy="2286000"/>
          </a:xfrm>
          <a:prstGeom prst="rect">
            <a:avLst/>
          </a:prstGeom>
          <a:noFill/>
          <a:ln/>
        </p:spPr>
        <p:txBody>
          <a:bodyPr wrap="square" lIns="0" tIns="0" rIns="0" bIns="0" rtlCol="0" anchor="t"/>
          <a:lstStyle/>
          <a:p>
            <a:pPr indent="0" marL="0">
              <a:spcAft>
                <a:spcPts val="600"/>
              </a:spcAft>
              <a:buNone/>
            </a:pPr>
            <a:r>
              <a:rPr lang="en-US" sz="2200" dirty="0">
                <a:solidFill>
                  <a:schemeClr val="tx1"/>
                </a:solidFill>
              </a:rPr>
              <a:t>Take the final check in the lesson: </a:t>
            </a:r>
            <a:pPr indent="0" marL="0">
              <a:spcAft>
                <a:spcPts val="600"/>
              </a:spcAft>
              <a:buNone/>
            </a:pPr>
            <a:r>
              <a:rPr lang="en-US" sz="2200" b="1" dirty="0">
                <a:solidFill>
                  <a:schemeClr val="tx1"/>
                </a:solidFill>
              </a:rPr>
              <a:t>10 questions</a:t>
            </a:r>
            <a:pPr indent="0" marL="0">
              <a:spcAft>
                <a:spcPts val="600"/>
              </a:spcAft>
              <a:buNone/>
            </a:pPr>
            <a:r>
              <a:rPr lang="en-US" sz="2200" dirty="0">
                <a:solidFill>
                  <a:schemeClr val="tx1"/>
                </a:solidFill>
              </a:rPr>
              <a:t>, multiple choice, two-part, and select-all.</a:t>
            </a:r>
            <a:endParaRPr lang="en-US" sz="2200" dirty="0"/>
          </a:p>
          <a:p>
            <a:pPr indent="0" marL="0">
              <a:spcAft>
                <a:spcPts val="600"/>
              </a:spcAft>
              <a:buNone/>
            </a:pPr>
            <a:r>
              <a:rPr lang="en-US" sz="2200" dirty="0">
                <a:solidFill>
                  <a:schemeClr val="tx1"/>
                </a:solidFill>
              </a:rPr>
              <a:t>You need </a:t>
            </a:r>
            <a:pPr indent="0" marL="0">
              <a:spcAft>
                <a:spcPts val="600"/>
              </a:spcAft>
              <a:buNone/>
            </a:pPr>
            <a:r>
              <a:rPr lang="en-US" sz="2200" b="1" dirty="0">
                <a:solidFill>
                  <a:schemeClr val="tx1"/>
                </a:solidFill>
              </a:rPr>
              <a:t>8 out of 10</a:t>
            </a:r>
            <a:pPr indent="0" marL="0">
              <a:spcAft>
                <a:spcPts val="600"/>
              </a:spcAft>
              <a:buNone/>
            </a:pPr>
            <a:r>
              <a:rPr lang="en-US" sz="2200" dirty="0">
                <a:solidFill>
                  <a:schemeClr val="tx1"/>
                </a:solidFill>
              </a:rPr>
              <a:t> to pass. If you don't pass, you'll get a new set of questions.</a:t>
            </a:r>
            <a:endParaRPr lang="en-US" sz="22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56</a:t>
            </a:fld>
            <a:endParaRPr lang="en-US"/>
          </a:p>
        </p:txBody>
      </p:sp>
    </p:spTree>
  </p:cSld>
  <p:clrMapOvr>
    <a:masterClrMapping/>
  </p:clrMapOvr>
</p:sld>
</file>

<file path=ppt/theme/theme1.xml><?xml version="1.0" encoding="utf-8"?>
<a:theme xmlns:a="http://schemas.openxmlformats.org/drawingml/2006/main" name="ATP Night Grid">
  <a:themeElements>
    <a:clrScheme name="ATP Night Grid">
      <a:dk1>
        <a:srgbClr val="E8EEF8"/>
      </a:dk1>
      <a:lt1>
        <a:srgbClr val="0D1626"/>
      </a:lt1>
      <a:dk2>
        <a:srgbClr val="A3B4CF"/>
      </a:dk2>
      <a:lt2>
        <a:srgbClr val="16243B"/>
      </a:lt2>
      <a:accent1>
        <a:srgbClr val="FFD35C"/>
      </a:accent1>
      <a:accent2>
        <a:srgbClr val="FF7D6E"/>
      </a:accent2>
      <a:accent3>
        <a:srgbClr val="45C8F0"/>
      </a:accent3>
      <a:accent4>
        <a:srgbClr val="B996FF"/>
      </a:accent4>
      <a:accent5>
        <a:srgbClr val="5FE3A9"/>
      </a:accent5>
      <a:accent6>
        <a:srgbClr val="F5A524"/>
      </a:accent6>
      <a:hlink>
        <a:srgbClr val="45C8F0"/>
      </a:hlink>
      <a:folHlink>
        <a:srgbClr val="B996FF"/>
      </a:folHlink>
    </a:clrScheme>
    <a:fontScheme name="ATP Night Gri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ATP: The Energy Currency</dc:title>
  <dc:subject>Biology Unit 2: Energy Flow</dc:subject>
  <dc:creator>PptxGenJS</dc:creator>
  <cp:lastModifiedBy>PptxGenJS</cp:lastModifiedBy>
  <cp:revision>1</cp:revision>
  <dcterms:created xsi:type="dcterms:W3CDTF">2026-10-23T16:29:12Z</dcterms:created>
  <dcterms:modified xsi:type="dcterms:W3CDTF">2026-10-23T16:29:12Z</dcterms:modified>
</cp:coreProperties>
</file>