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Lst>
  <p:notesMasterIdLst>
    <p:notesMasterId r:id="rId6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0ea791ba-f9f5-1bc4-92fe-3741c3eb3f54}">
          <p14:sldIdLst>
            <p14:sldId id="256"/>
            <p14:sldId id="257"/>
            <p14:sldId id="258"/>
            <p14:sldId id="259"/>
          </p14:sldIdLst>
        </p14:section>
        <p14:section name="Section 1" id="{cac31a9d-4149-c970-27f9-73819e349a6c}">
          <p14:sldIdLst>
            <p14:sldId id="260"/>
            <p14:sldId id="261"/>
            <p14:sldId id="262"/>
            <p14:sldId id="263"/>
            <p14:sldId id="264"/>
            <p14:sldId id="265"/>
          </p14:sldIdLst>
        </p14:section>
        <p14:section name="Section 2" id="{6bba1cf6-c80f-5f0c-abca-3c5d5876ddd6}">
          <p14:sldIdLst>
            <p14:sldId id="266"/>
            <p14:sldId id="267"/>
            <p14:sldId id="268"/>
            <p14:sldId id="269"/>
            <p14:sldId id="270"/>
            <p14:sldId id="271"/>
          </p14:sldIdLst>
        </p14:section>
        <p14:section name="Section 3" id="{40a768ec-a9c1-a32a-5f5b-2b5a5f87583e}">
          <p14:sldIdLst>
            <p14:sldId id="272"/>
            <p14:sldId id="273"/>
            <p14:sldId id="274"/>
            <p14:sldId id="275"/>
            <p14:sldId id="276"/>
            <p14:sldId id="277"/>
          </p14:sldIdLst>
        </p14:section>
        <p14:section name="Section 4" id="{534c3e6e-d07e-72cc-037a-7d2ee44a94f9}">
          <p14:sldIdLst>
            <p14:sldId id="278"/>
            <p14:sldId id="279"/>
            <p14:sldId id="280"/>
            <p14:sldId id="281"/>
            <p14:sldId id="282"/>
            <p14:sldId id="283"/>
            <p14:sldId id="284"/>
            <p14:sldId id="285"/>
          </p14:sldIdLst>
        </p14:section>
        <p14:section name="Section 5" id="{879f429d-6c2d-b31d-90f1-4b084ffd9cdd}">
          <p14:sldIdLst>
            <p14:sldId id="286"/>
            <p14:sldId id="287"/>
            <p14:sldId id="288"/>
            <p14:sldId id="289"/>
            <p14:sldId id="290"/>
            <p14:sldId id="291"/>
            <p14:sldId id="292"/>
            <p14:sldId id="293"/>
          </p14:sldIdLst>
        </p14:section>
        <p14:section name="Section 6" id="{01420bad-b0b1-9025-3dbe-5a92c2df6c7a}">
          <p14:sldIdLst>
            <p14:sldId id="294"/>
            <p14:sldId id="295"/>
            <p14:sldId id="296"/>
            <p14:sldId id="297"/>
            <p14:sldId id="298"/>
            <p14:sldId id="299"/>
          </p14:sldIdLst>
        </p14:section>
        <p14:section name="Section 7" id="{b7e07ac6-e173-843b-1c44-39825b3ac27a}">
          <p14:sldIdLst>
            <p14:sldId id="300"/>
            <p14:sldId id="301"/>
            <p14:sldId id="302"/>
            <p14:sldId id="303"/>
            <p14:sldId id="304"/>
            <p14:sldId id="305"/>
            <p14:sldId id="306"/>
            <p14:sldId id="307"/>
          </p14:sldIdLst>
        </p14:section>
        <p14:section name="Section 8" id="{fb51f0e1-a72b-e052-4cf6-de3369867b49}">
          <p14:sldIdLst>
            <p14:sldId id="308"/>
            <p14:sldId id="309"/>
            <p14:sldId id="310"/>
            <p14:sldId id="311"/>
            <p14:sldId id="312"/>
            <p14:sldId id="313"/>
          </p14:sldIdLst>
        </p14:section>
        <p14:section name="Section 9" id="{5b9e00e2-ff03-7d8a-a27d-aa07ba37d4a9}">
          <p14:sldIdLst>
            <p14:sldId id="314"/>
            <p14:sldId id="315"/>
            <p14:sldId id="316"/>
          </p14:sldIdLst>
        </p14:section>
        <p14:section name="Wrap-up" id="{a673468e-af4b-a227-a654-227fb3a62478}">
          <p14:sldIdLst>
            <p14:sldId id="317"/>
            <p14:sldId id="318"/>
            <p14:sldId id="31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notesMaster" Target="notesMasters/notesMaster1.xml"/><Relationship Id="rId67" Type="http://schemas.openxmlformats.org/officeDocument/2006/relationships/presProps" Target="presProps.xml"/><Relationship Id="rId68" Type="http://schemas.openxmlformats.org/officeDocument/2006/relationships/viewProps" Target="viewProps.xml"/><Relationship Id="rId69" Type="http://schemas.openxmlformats.org/officeDocument/2006/relationships/theme" Target="theme/theme1.xml"/><Relationship Id="rId7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slides follow the Ions and the Octet Rule lesson section by section: the reading, each Try it activity, and each quick check. Every question or activity has a slide without the answer, then a slide with the answer. The picture shows sodium after it gave its valence electron to chlorine.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objective together. The standard is about patterns in the outermost energy level: the valence electrons decide whether an atom gains or loses electrons.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signs in on the start page and picks their teacher from the dropdown, which is how scores reach the right gradebook sheet. The goals check themselves off as students finish sections, and progress saves on the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tiles match the tiles across the top of the lesson: H through F are the nine sections, and Ne is the results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takes about 5 minutes. It sets up the octet rule, which drives everything else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Words in blue are word-help chips in the lesson. Key idea: full outer shell (8, or 2 for helium) = 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drag each atom into Full outer shell or Not full. Ask them to count the yellow electrons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helium (2 in its only shell), neon (8), argon (8). Not full: sodium (1), chlorine (7), oxygen (6), magnesium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quick check students answer in Section 1. Give them time to answer on their screens first, or have the class vote (1 = A, 2 = B, 3 = C, 4 = D). The next slide shows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Noble gases already have a full outer shell, so they have no reason to gain or lose electrons.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takes about 6 minutes. The charge machine lets students add or remove electrons and watch the charge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Charge = protons − electrons. Losing electrons makes a positive ion (cation); gaining electrons makes a negative ion (anion).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revealing, ask: should you add or remove electrons for each one? How many?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Sodium: remove 1. Chlorine: add 1. Magnesium: remove 2. Oxygen: add 2. Aluminum: remove 3. Pink electrons in the lesson are gained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quick check students answer in Section 2. Give them time to answer on their screens first, or have the class vote (1 = A, 2 = B, 3 = C, 4 = D). The next slide shows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Charge = protons − electrons = 8 − 10 = −2. It gained 2 electrons.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takes about 8 minutes. For each atom, students first decide lose or gain, then remove valence electrons or add gained (pink) electrons in the class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Metals lose their few valence electrons; nonmetals gain a few to reach 8. Point out the pink gained electron on chloride.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is it a metal or a nonmetal? Is it easier to lose its valence electrons or gain enough to reach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Lithium loses 1 (Li+). Fluorine gains 1 (F-). Magnesium loses 2 (Mg2+). Sulfur gains 2 (S2-). Potassium loses 1 (K+).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quick check students answer in Section 3. Give them time to answer on their screens first, or have the class vote (1 = A, 2 = B, 3 = C, 4 = D). The next slide shows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C. Phosphorus is a nonmetal with 5 valence electrons. Gaining 3 is easier than losing 5, so it forms P³⁻ (15 protons, 18 electrons).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takes about 6 minutes. Students connect group number to ion charge.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left to right: 1+, 2+, 3+, then the nonmetals 3−, 2−, 1−. Noble gases form no 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to predict each ion from the group number before revealing.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Calcium (group 2) loses 2 → Ca²⁺. Nitrogen (group 15) gains 3 → N³⁻.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sort the elements in the lesson. Ask: which group is each one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lithium, potassium. 2+: beryllium, calcium. 3+: aluminum. 1−: fluorine, chlorine. 2−: oxygen, sulfur. 3−: nitrogen, phosphorus.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quick check students answer in Section 4. Give them time to answer on their screens first, or have the class vote (1 = A, 2 = B, 3 = C, 4 = D). The next slide shows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Sulfur is in group 16 with 6 valence electrons. It gains 2 to reach 8, so its ion is S²⁻.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 takes about 6 minutes. Students write ion symbols and learn the -ide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Symbols: number then sign, and drop the 1. Names: positive ions keep the name; negative ions end in -ide.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the number and the sign for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Ca²⁺ (loses 2), N³⁻ (gains 3), K⁺ (loses 1), S²⁻ (gains 2), Al³⁺ (loses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match each ion to its name. Remind them: negative ions end in -ide.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 sodium ion, Cl⁻ chloride, O²⁻ oxide, Mg²⁺ magnesium ion, N³⁻ nitride, S²⁻ sulfide.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quick check students answer in Section 5. Give them time to answer on their screens first, or have the class vote (1 = A, 2 = B, 3 = C, 4 = D). The next slide shows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F⁻ is a negative ion, so the ending changes to -ide: fluoride.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 takes about 12 minutes. The builder checks the nucleus, shells, electrons, placement, and charge.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nucleus. Positive ions drop the empty shell; negative ions fill to 8. Brackets and charge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revealing, ask for each ion: protons, neutrons, how many electrons, how many shells, and the charge.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 11 p, 12 n, 2, 8. S²⁻: 16 p, 16 n, 2, 8, 8 with 2 gained. Ca²⁺: 20 p, 20 n, 2, 8, 8 (the empty fourth shell is gone). N³⁻: 7 p, 7 n, 2, 8 with 3 gained. Li⁺: 3 p, 4 n, just 2 in one shell.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quick check students answer in Section 6. Give them time to answer on their screens first, or have the class vote (1 = A, 2 = B, 3 = C, 4 = D). The next slide shows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Magnesium (2, 8, 2) loses its 2 outer electrons. The empty third shell isn't drawn, so Mg²⁺ has 2 shells: 2,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7 takes about 7 minutes. It is practice: matching ions to noble gases and finding mistakes.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Ions match noble gas arrangements but keep their own protons. Review the common mistakes before Spot the mistake.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how many electrons each ion has. 10 means neon; 18 means argon.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Neon (2, 8): Na⁺, Mg²⁺, F⁻, O²⁻, Al³⁺. Argon (2, 8, 8): K⁺, Ca²⁺, Cl⁻, S²⁻.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time to find each mistake. Check protons, shells, electrons, and charge.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protons changed (should be 11). 2: chloride is 1−, not +. 3: the empty shell is still drawn. 4: oxide gained 2, so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quick check students answer in Section 7. Give them time to answer on their screens first, or have the class vote (1 = A, 2 = B, 3 = C, 4 = D). The next slide shows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C. K⁺ has 19 protons and 18 electrons: 2, 8, 8, the same as argon.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8 takes about 7 minutes. Students use a balance to add positive and negative ions until the total charge is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positive charge = total negative charge. Ask: how many −1 charges cancel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work out each pair before revealing. Remind them to check that the charges add to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 + Cl⁻: 1 and 1. Mg²⁺ + Cl⁻: 1 and 2. K⁺ + O²⁻: 2 and 1. Al³⁺ + F⁻: 1 and 3. Mg²⁺ + N³⁻: 3 and 2 (+6 and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quick check students answer in Section 8. Give them time to answer on their screens first, or have the class vote (1 = A, 2 = B, 3 = C, 4 = D). The next slide shows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One Al³⁺ is +3, so it takes three Cl⁻ (−1 each). The formula is AlCl₃.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9 is the final check, about 10 minutes. The quick review slide is the same review students see after 3 failed 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quick review students see if they fail the final check 3 times. Good to go over with everyone before they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GitHub site the check runs full screen. Leaving the page or pressing Esc locks it until you enter the teacher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that each student's results page says Sent. If a student never passes, open Teacher view on their device and click Send this student's scores to the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early finishers. Students draw the ion on paper and check it against the four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Potassium (group 1) loses 1 electron: K⁺, the potassium ion. 19 p+ and 20 n0 (39.098 rounds to 39), 2, 8, 8 in 3 shells. The empty fourth shell is gone. Brackets with + at the top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4572000" cy="16002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2971800"/>
            <a:ext cx="4572000" cy="822960"/>
          </a:xfrm>
          <a:prstGeom prst="rect">
            <a:avLst/>
          </a:prstGeom>
          <a:noFill/>
          <a:ln/>
        </p:spPr>
        <p:txBody>
          <a:bodyPr wrap="square" rtlCol="0"/>
          <a:lstStyle>
            <a:lvl1pPr algn="l" indent="0" marL="0">
              <a:buNone/>
              <a:defRPr lang="en-US" sz="1600" dirty="0">
                <a:solidFill>
                  <a:schemeClr val="bg2"/>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LAIN">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8229600" cy="566928"/>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PEN">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1417320" y="329184"/>
            <a:ext cx="7223760" cy="256032"/>
          </a:xfrm>
          <a:prstGeom prst="rect">
            <a:avLst/>
          </a:prstGeom>
          <a:noFill/>
          <a:ln/>
        </p:spPr>
        <p:txBody>
          <a:bodyPr wrap="square" rtlCol="0"/>
          <a:lstStyle>
            <a:lvl1pPr algn="l" indent="0" marL="0">
              <a:buNone/>
              <a:defRPr lang="en-US" sz="1200" dirty="0">
                <a:solidFill>
                  <a:schemeClr val="bg2"/>
                </a:solidFill>
              </a:defRPr>
            </a:lvl1pPr>
          </a:lstStyle>
          <a:p>
            <a:pPr algn="l" indent="0" marL="0">
              <a:buNone/>
            </a:pPr>
            <a:endParaRPr lang="en-US" sz="1200" dirty="0"/>
          </a:p>
        </p:txBody>
      </p:sp>
      <p:sp>
        <p:nvSpPr>
          <p:cNvPr id="3" name="Text 0"/>
          <p:cNvSpPr/>
          <p:nvPr>
            <p:ph idx="101" type="title" hasCustomPrompt="1"/>
          </p:nvPr>
        </p:nvSpPr>
        <p:spPr>
          <a:xfrm>
            <a:off x="1417320" y="603504"/>
            <a:ext cx="7223760" cy="530352"/>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OPEN_SM">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1417320" y="329184"/>
            <a:ext cx="7223760" cy="256032"/>
          </a:xfrm>
          <a:prstGeom prst="rect">
            <a:avLst/>
          </a:prstGeom>
          <a:noFill/>
          <a:ln/>
        </p:spPr>
        <p:txBody>
          <a:bodyPr wrap="square" rtlCol="0"/>
          <a:lstStyle>
            <a:lvl1pPr algn="l" indent="0" marL="0">
              <a:buNone/>
              <a:defRPr lang="en-US" sz="1200" dirty="0">
                <a:solidFill>
                  <a:schemeClr val="bg2"/>
                </a:solidFill>
              </a:defRPr>
            </a:lvl1pPr>
          </a:lstStyle>
          <a:p>
            <a:pPr algn="l" indent="0" marL="0">
              <a:buNone/>
            </a:pPr>
            <a:endParaRPr lang="en-US" sz="1200" dirty="0"/>
          </a:p>
        </p:txBody>
      </p:sp>
      <p:sp>
        <p:nvSpPr>
          <p:cNvPr id="3" name="Text 0"/>
          <p:cNvSpPr/>
          <p:nvPr>
            <p:ph idx="101" type="title" hasCustomPrompt="1"/>
          </p:nvPr>
        </p:nvSpPr>
        <p:spPr>
          <a:xfrm>
            <a:off x="1417320" y="603504"/>
            <a:ext cx="7269480" cy="530352"/>
          </a:xfrm>
          <a:prstGeom prst="rect">
            <a:avLst/>
          </a:prstGeom>
          <a:noFill/>
          <a:ln/>
        </p:spPr>
        <p:txBody>
          <a:bodyPr wrap="square" rtlCol="0"/>
          <a:lstStyle>
            <a:lvl1pPr algn="l" indent="0" marL="0">
              <a:buNone/>
              <a:defRPr lang="en-US" sz="2500" b="1" dirty="0">
                <a:solidFill>
                  <a:schemeClr val="bg1"/>
                </a:solidFill>
              </a:defRPr>
            </a:lvl1pPr>
          </a:lstStyle>
          <a:p>
            <a:pPr algn="l" indent="0" marL="0">
              <a:buNone/>
            </a:pPr>
            <a:endParaRPr lang="en-US" sz="25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417320" y="621792"/>
            <a:ext cx="7269480" cy="512064"/>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QC">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417320" y="658368"/>
            <a:ext cx="7269480" cy="841248"/>
          </a:xfrm>
          <a:prstGeom prst="rect">
            <a:avLst/>
          </a:prstGeom>
          <a:noFill/>
          <a:ln/>
        </p:spPr>
        <p:txBody>
          <a:bodyPr wrap="square" rtlCol="0"/>
          <a:lstStyle>
            <a:lvl1pPr algn="l" indent="0" marL="0">
              <a:buNone/>
              <a:defRPr lang="en-US" sz="2000" b="1" dirty="0">
                <a:solidFill>
                  <a:schemeClr val="bg1"/>
                </a:solidFill>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1007</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4572000" cy="1600200"/>
          </a:xfrm>
          <a:prstGeom prst="rect">
            <a:avLst/>
          </a:prstGeom>
          <a:noFill/>
          <a:ln/>
        </p:spPr>
        <p:txBody>
          <a:bodyPr wrap="square" lIns="0" tIns="0" rIns="0" bIns="0" rtlCol="0" anchor="b"/>
          <a:lstStyle/>
          <a:p>
            <a:pPr algn="l" indent="0" marL="0">
              <a:buNone/>
            </a:pPr>
            <a:r>
              <a:rPr lang="en-US" sz="4400" b="1" dirty="0">
                <a:solidFill>
                  <a:schemeClr val="bg1"/>
                </a:solidFill>
              </a:rPr>
              <a:t>Ions and the Octet Rule</a:t>
            </a:r>
            <a:endParaRPr lang="en-US" sz="4400" dirty="0"/>
          </a:p>
        </p:txBody>
      </p:sp>
      <p:sp>
        <p:nvSpPr>
          <p:cNvPr id="3" name="Text 0"/>
          <p:cNvSpPr/>
          <p:nvPr>
            <p:ph idx="101" type="body" hasCustomPrompt="1"/>
          </p:nvPr>
        </p:nvSpPr>
        <p:spPr>
          <a:xfrm>
            <a:off x="548640" y="2971800"/>
            <a:ext cx="4572000" cy="822960"/>
          </a:xfrm>
          <a:prstGeom prst="rect">
            <a:avLst/>
          </a:prstGeom>
          <a:noFill/>
          <a:ln/>
        </p:spPr>
        <p:txBody>
          <a:bodyPr wrap="square" lIns="0" tIns="0" rIns="0" bIns="0" rtlCol="0" anchor="t"/>
          <a:lstStyle/>
          <a:p>
            <a:pPr algn="l" indent="0" marL="0">
              <a:buNone/>
            </a:pPr>
            <a:r>
              <a:rPr lang="en-US" sz="1600" dirty="0">
                <a:solidFill>
                  <a:schemeClr val="bg2"/>
                </a:solidFill>
              </a:rPr>
              <a:t>Chemistry, Unit 2: Ions, Periodic Trends and Bonding</a:t>
            </a:r>
            <a:endParaRPr lang="en-US" sz="1600" dirty="0"/>
          </a:p>
          <a:p>
            <a:pPr algn="l" indent="0" marL="0">
              <a:buNone/>
            </a:pPr>
            <a:r>
              <a:rPr lang="en-US" sz="1600" dirty="0">
                <a:solidFill>
                  <a:schemeClr val="bg2"/>
                </a:solidFill>
              </a:rPr>
              <a:t>Self-taught lesson walkthrough</a:t>
            </a:r>
            <a:endParaRPr lang="en-US" sz="1600" dirty="0"/>
          </a:p>
        </p:txBody>
      </p:sp>
      <p:sp>
        <p:nvSpPr>
          <p:cNvPr id="4" name="sodium ion: shell 1"/>
          <p:cNvSpPr/>
          <p:nvPr/>
        </p:nvSpPr>
        <p:spPr>
          <a:xfrm>
            <a:off x="5389333" y="2051773"/>
            <a:ext cx="742774" cy="742774"/>
          </a:xfrm>
          <a:prstGeom prst="ellipse">
            <a:avLst/>
          </a:prstGeom>
          <a:solidFill>
            <a:schemeClr val="bg1">
              <a:alpha val="0"/>
            </a:schemeClr>
          </a:solidFill>
          <a:ln w="15875">
            <a:solidFill>
              <a:schemeClr val="bg2">
                <a:alpha val="55000"/>
              </a:schemeClr>
            </a:solidFill>
            <a:prstDash val="solid"/>
          </a:ln>
        </p:spPr>
      </p:sp>
      <p:sp>
        <p:nvSpPr>
          <p:cNvPr id="5" name="sodium ion: shell 2"/>
          <p:cNvSpPr/>
          <p:nvPr/>
        </p:nvSpPr>
        <p:spPr>
          <a:xfrm>
            <a:off x="5157216" y="1819656"/>
            <a:ext cx="1207008" cy="1207008"/>
          </a:xfrm>
          <a:prstGeom prst="ellipse">
            <a:avLst/>
          </a:prstGeom>
          <a:solidFill>
            <a:schemeClr val="bg1">
              <a:alpha val="0"/>
            </a:schemeClr>
          </a:solidFill>
          <a:ln w="15875">
            <a:solidFill>
              <a:schemeClr val="bg2">
                <a:alpha val="55000"/>
              </a:schemeClr>
            </a:solidFill>
            <a:prstDash val="solid"/>
          </a:ln>
        </p:spPr>
      </p:sp>
      <p:sp>
        <p:nvSpPr>
          <p:cNvPr id="6" name="sodium ion: nucleus"/>
          <p:cNvSpPr/>
          <p:nvPr/>
        </p:nvSpPr>
        <p:spPr>
          <a:xfrm>
            <a:off x="5520866" y="2183306"/>
            <a:ext cx="479708" cy="479708"/>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900" b="1" dirty="0">
                <a:solidFill>
                  <a:schemeClr val="bg1"/>
                </a:solidFill>
              </a:rPr>
              <a:t>11 p</a:t>
            </a:r>
            <a:pPr algn="ctr" indent="0" marL="0">
              <a:buNone/>
            </a:pPr>
            <a:r>
              <a:rPr lang="en-US" sz="900" b="1" baseline="30000" dirty="0">
                <a:solidFill>
                  <a:schemeClr val="bg1"/>
                </a:solidFill>
              </a:rPr>
              <a:t>+</a:t>
            </a:r>
            <a:endParaRPr lang="en-US" sz="900" dirty="0"/>
          </a:p>
          <a:p>
            <a:pPr algn="ctr" indent="0" marL="0">
              <a:buNone/>
            </a:pPr>
            <a:r>
              <a:rPr lang="en-US" sz="900" b="1" dirty="0">
                <a:solidFill>
                  <a:schemeClr val="bg1"/>
                </a:solidFill>
              </a:rPr>
              <a:t>12 n</a:t>
            </a:r>
            <a:pPr algn="ctr" indent="0" marL="0">
              <a:buNone/>
            </a:pPr>
            <a:r>
              <a:rPr lang="en-US" sz="900" b="1" baseline="30000" dirty="0">
                <a:solidFill>
                  <a:schemeClr val="bg1"/>
                </a:solidFill>
              </a:rPr>
              <a:t>0</a:t>
            </a:r>
            <a:endParaRPr lang="en-US" sz="900" dirty="0"/>
          </a:p>
        </p:txBody>
      </p:sp>
      <p:sp>
        <p:nvSpPr>
          <p:cNvPr id="7" name="sodium ion: electron, shell 1"/>
          <p:cNvSpPr/>
          <p:nvPr/>
        </p:nvSpPr>
        <p:spPr>
          <a:xfrm>
            <a:off x="5702691" y="1993744"/>
            <a:ext cx="116058" cy="116058"/>
          </a:xfrm>
          <a:prstGeom prst="ellipse">
            <a:avLst/>
          </a:prstGeom>
          <a:solidFill>
            <a:schemeClr val="accent1"/>
          </a:solidFill>
          <a:ln w="3175">
            <a:solidFill>
              <a:schemeClr val="accent1"/>
            </a:solidFill>
            <a:prstDash val="solid"/>
          </a:ln>
        </p:spPr>
      </p:sp>
      <p:sp>
        <p:nvSpPr>
          <p:cNvPr id="8" name="sodium ion: electron, shell 1"/>
          <p:cNvSpPr/>
          <p:nvPr/>
        </p:nvSpPr>
        <p:spPr>
          <a:xfrm>
            <a:off x="6074078" y="2365131"/>
            <a:ext cx="116058" cy="116058"/>
          </a:xfrm>
          <a:prstGeom prst="ellipse">
            <a:avLst/>
          </a:prstGeom>
          <a:solidFill>
            <a:schemeClr val="accent1"/>
          </a:solidFill>
          <a:ln w="3175">
            <a:solidFill>
              <a:schemeClr val="accent1"/>
            </a:solidFill>
            <a:prstDash val="solid"/>
          </a:ln>
        </p:spPr>
      </p:sp>
      <p:sp>
        <p:nvSpPr>
          <p:cNvPr id="9" name="sodium ion: electron, shell 2"/>
          <p:cNvSpPr/>
          <p:nvPr/>
        </p:nvSpPr>
        <p:spPr>
          <a:xfrm>
            <a:off x="5624763" y="1766679"/>
            <a:ext cx="116058" cy="116058"/>
          </a:xfrm>
          <a:prstGeom prst="ellipse">
            <a:avLst/>
          </a:prstGeom>
          <a:solidFill>
            <a:schemeClr val="accent1"/>
          </a:solidFill>
          <a:ln w="3175">
            <a:solidFill>
              <a:schemeClr val="accent1"/>
            </a:solidFill>
            <a:prstDash val="solid"/>
          </a:ln>
        </p:spPr>
      </p:sp>
      <p:sp>
        <p:nvSpPr>
          <p:cNvPr id="10" name="sodium ion: electron, shell 2"/>
          <p:cNvSpPr/>
          <p:nvPr/>
        </p:nvSpPr>
        <p:spPr>
          <a:xfrm>
            <a:off x="5780619" y="1766679"/>
            <a:ext cx="116058" cy="116058"/>
          </a:xfrm>
          <a:prstGeom prst="ellipse">
            <a:avLst/>
          </a:prstGeom>
          <a:solidFill>
            <a:schemeClr val="accent1"/>
          </a:solidFill>
          <a:ln w="3175">
            <a:solidFill>
              <a:schemeClr val="accent1"/>
            </a:solidFill>
            <a:prstDash val="solid"/>
          </a:ln>
        </p:spPr>
      </p:sp>
      <p:sp>
        <p:nvSpPr>
          <p:cNvPr id="11" name="sodium ion: electron, shell 2"/>
          <p:cNvSpPr/>
          <p:nvPr/>
        </p:nvSpPr>
        <p:spPr>
          <a:xfrm>
            <a:off x="6301142" y="2287203"/>
            <a:ext cx="116058" cy="116058"/>
          </a:xfrm>
          <a:prstGeom prst="ellipse">
            <a:avLst/>
          </a:prstGeom>
          <a:solidFill>
            <a:schemeClr val="accent1"/>
          </a:solidFill>
          <a:ln w="3175">
            <a:solidFill>
              <a:schemeClr val="accent1"/>
            </a:solidFill>
            <a:prstDash val="solid"/>
          </a:ln>
        </p:spPr>
      </p:sp>
      <p:sp>
        <p:nvSpPr>
          <p:cNvPr id="12" name="sodium ion: electron, shell 2"/>
          <p:cNvSpPr/>
          <p:nvPr/>
        </p:nvSpPr>
        <p:spPr>
          <a:xfrm>
            <a:off x="6301142" y="2443059"/>
            <a:ext cx="116058" cy="116058"/>
          </a:xfrm>
          <a:prstGeom prst="ellipse">
            <a:avLst/>
          </a:prstGeom>
          <a:solidFill>
            <a:schemeClr val="accent1"/>
          </a:solidFill>
          <a:ln w="3175">
            <a:solidFill>
              <a:schemeClr val="accent1"/>
            </a:solidFill>
            <a:prstDash val="solid"/>
          </a:ln>
        </p:spPr>
      </p:sp>
      <p:sp>
        <p:nvSpPr>
          <p:cNvPr id="13" name="sodium ion: electron, shell 2"/>
          <p:cNvSpPr/>
          <p:nvPr/>
        </p:nvSpPr>
        <p:spPr>
          <a:xfrm>
            <a:off x="5780619" y="2963582"/>
            <a:ext cx="116058" cy="116058"/>
          </a:xfrm>
          <a:prstGeom prst="ellipse">
            <a:avLst/>
          </a:prstGeom>
          <a:solidFill>
            <a:schemeClr val="accent1"/>
          </a:solidFill>
          <a:ln w="3175">
            <a:solidFill>
              <a:schemeClr val="accent1"/>
            </a:solidFill>
            <a:prstDash val="solid"/>
          </a:ln>
        </p:spPr>
      </p:sp>
      <p:sp>
        <p:nvSpPr>
          <p:cNvPr id="14" name="sodium ion: electron, shell 2"/>
          <p:cNvSpPr/>
          <p:nvPr/>
        </p:nvSpPr>
        <p:spPr>
          <a:xfrm>
            <a:off x="5624763" y="2963582"/>
            <a:ext cx="116058" cy="116058"/>
          </a:xfrm>
          <a:prstGeom prst="ellipse">
            <a:avLst/>
          </a:prstGeom>
          <a:solidFill>
            <a:schemeClr val="accent1"/>
          </a:solidFill>
          <a:ln w="3175">
            <a:solidFill>
              <a:schemeClr val="accent1"/>
            </a:solidFill>
            <a:prstDash val="solid"/>
          </a:ln>
        </p:spPr>
      </p:sp>
      <p:sp>
        <p:nvSpPr>
          <p:cNvPr id="15" name="sodium ion: electron, shell 2"/>
          <p:cNvSpPr/>
          <p:nvPr/>
        </p:nvSpPr>
        <p:spPr>
          <a:xfrm>
            <a:off x="5104239" y="2443059"/>
            <a:ext cx="116058" cy="116058"/>
          </a:xfrm>
          <a:prstGeom prst="ellipse">
            <a:avLst/>
          </a:prstGeom>
          <a:solidFill>
            <a:schemeClr val="accent1"/>
          </a:solidFill>
          <a:ln w="3175">
            <a:solidFill>
              <a:schemeClr val="accent1"/>
            </a:solidFill>
            <a:prstDash val="solid"/>
          </a:ln>
        </p:spPr>
      </p:sp>
      <p:sp>
        <p:nvSpPr>
          <p:cNvPr id="16" name="sodium ion: electron, shell 2"/>
          <p:cNvSpPr/>
          <p:nvPr/>
        </p:nvSpPr>
        <p:spPr>
          <a:xfrm>
            <a:off x="5104239" y="2287203"/>
            <a:ext cx="116058" cy="116058"/>
          </a:xfrm>
          <a:prstGeom prst="ellipse">
            <a:avLst/>
          </a:prstGeom>
          <a:solidFill>
            <a:schemeClr val="accent1"/>
          </a:solidFill>
          <a:ln w="3175">
            <a:solidFill>
              <a:schemeClr val="accent1"/>
            </a:solidFill>
            <a:prstDash val="solid"/>
          </a:ln>
        </p:spPr>
      </p:sp>
      <p:sp>
        <p:nvSpPr>
          <p:cNvPr id="17" name="sodium ion: left bracket"/>
          <p:cNvSpPr/>
          <p:nvPr/>
        </p:nvSpPr>
        <p:spPr>
          <a:xfrm>
            <a:off x="5033420" y="1695860"/>
            <a:ext cx="108321" cy="1454599"/>
          </a:xfrm>
          <a:prstGeom prst="leftBracket">
            <a:avLst/>
          </a:prstGeom>
          <a:noFill/>
          <a:ln w="28575">
            <a:solidFill>
              <a:schemeClr val="bg1"/>
            </a:solidFill>
            <a:prstDash val="solid"/>
          </a:ln>
        </p:spPr>
      </p:sp>
      <p:sp>
        <p:nvSpPr>
          <p:cNvPr id="18" name="sodium ion: right bracket"/>
          <p:cNvSpPr/>
          <p:nvPr/>
        </p:nvSpPr>
        <p:spPr>
          <a:xfrm>
            <a:off x="6379698" y="1695860"/>
            <a:ext cx="108321" cy="1454599"/>
          </a:xfrm>
          <a:prstGeom prst="rightBracket">
            <a:avLst/>
          </a:prstGeom>
          <a:noFill/>
          <a:ln w="28575">
            <a:solidFill>
              <a:schemeClr val="bg1"/>
            </a:solidFill>
            <a:prstDash val="solid"/>
          </a:ln>
        </p:spPr>
      </p:sp>
      <p:sp>
        <p:nvSpPr>
          <p:cNvPr id="19" name="sodium ion: charge"/>
          <p:cNvSpPr txBox="1"/>
          <p:nvPr/>
        </p:nvSpPr>
        <p:spPr>
          <a:xfrm>
            <a:off x="6506308" y="1570130"/>
            <a:ext cx="365760" cy="274320"/>
          </a:xfrm>
          <a:prstGeom prst="rect">
            <a:avLst/>
          </a:prstGeom>
          <a:noFill/>
          <a:ln/>
        </p:spPr>
        <p:txBody>
          <a:bodyPr wrap="square" lIns="0" tIns="0" rIns="0" bIns="0" rtlCol="0" anchor="t"/>
          <a:lstStyle/>
          <a:p>
            <a:pPr indent="0" marL="0">
              <a:buNone/>
            </a:pPr>
            <a:r>
              <a:rPr lang="en-US" sz="1800" b="1" dirty="0">
                <a:solidFill>
                  <a:schemeClr val="bg1"/>
                </a:solidFill>
              </a:rPr>
              <a:t>+</a:t>
            </a:r>
            <a:endParaRPr lang="en-US" sz="1800" dirty="0"/>
          </a:p>
        </p:txBody>
      </p:sp>
      <p:sp>
        <p:nvSpPr>
          <p:cNvPr id="20" name="chloride: shell 1"/>
          <p:cNvSpPr/>
          <p:nvPr/>
        </p:nvSpPr>
        <p:spPr>
          <a:xfrm>
            <a:off x="7565711" y="2125031"/>
            <a:ext cx="596258" cy="596258"/>
          </a:xfrm>
          <a:prstGeom prst="ellipse">
            <a:avLst/>
          </a:prstGeom>
          <a:solidFill>
            <a:schemeClr val="bg1">
              <a:alpha val="0"/>
            </a:schemeClr>
          </a:solidFill>
          <a:ln w="15875">
            <a:solidFill>
              <a:schemeClr val="bg2">
                <a:alpha val="55000"/>
              </a:schemeClr>
            </a:solidFill>
            <a:prstDash val="solid"/>
          </a:ln>
        </p:spPr>
      </p:sp>
      <p:sp>
        <p:nvSpPr>
          <p:cNvPr id="21" name="chloride: shell 2"/>
          <p:cNvSpPr/>
          <p:nvPr/>
        </p:nvSpPr>
        <p:spPr>
          <a:xfrm>
            <a:off x="7379381" y="1938701"/>
            <a:ext cx="968919" cy="968919"/>
          </a:xfrm>
          <a:prstGeom prst="ellipse">
            <a:avLst/>
          </a:prstGeom>
          <a:solidFill>
            <a:schemeClr val="bg1">
              <a:alpha val="0"/>
            </a:schemeClr>
          </a:solidFill>
          <a:ln w="15875">
            <a:solidFill>
              <a:schemeClr val="bg2">
                <a:alpha val="55000"/>
              </a:schemeClr>
            </a:solidFill>
            <a:prstDash val="solid"/>
          </a:ln>
        </p:spPr>
      </p:sp>
      <p:sp>
        <p:nvSpPr>
          <p:cNvPr id="22" name="chloride: shell 3"/>
          <p:cNvSpPr/>
          <p:nvPr/>
        </p:nvSpPr>
        <p:spPr>
          <a:xfrm>
            <a:off x="7205472" y="1764792"/>
            <a:ext cx="1316736" cy="1316736"/>
          </a:xfrm>
          <a:prstGeom prst="ellipse">
            <a:avLst/>
          </a:prstGeom>
          <a:solidFill>
            <a:schemeClr val="bg1">
              <a:alpha val="0"/>
            </a:schemeClr>
          </a:solidFill>
          <a:ln w="15875">
            <a:solidFill>
              <a:schemeClr val="bg2">
                <a:alpha val="55000"/>
              </a:schemeClr>
            </a:solidFill>
            <a:prstDash val="solid"/>
          </a:ln>
        </p:spPr>
      </p:sp>
      <p:sp>
        <p:nvSpPr>
          <p:cNvPr id="23" name="chloride: nucleus"/>
          <p:cNvSpPr/>
          <p:nvPr/>
        </p:nvSpPr>
        <p:spPr>
          <a:xfrm>
            <a:off x="7671298" y="2230618"/>
            <a:ext cx="385083" cy="385083"/>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800" b="1" dirty="0">
                <a:solidFill>
                  <a:schemeClr val="bg1"/>
                </a:solidFill>
              </a:rPr>
              <a:t>17 p</a:t>
            </a:r>
            <a:pPr algn="ctr" indent="0" marL="0">
              <a:buNone/>
            </a:pPr>
            <a:r>
              <a:rPr lang="en-US" sz="800" b="1" baseline="30000" dirty="0">
                <a:solidFill>
                  <a:schemeClr val="bg1"/>
                </a:solidFill>
              </a:rPr>
              <a:t>+</a:t>
            </a:r>
            <a:endParaRPr lang="en-US" sz="800" dirty="0"/>
          </a:p>
          <a:p>
            <a:pPr algn="ctr" indent="0" marL="0">
              <a:buNone/>
            </a:pPr>
            <a:r>
              <a:rPr lang="en-US" sz="800" b="1" dirty="0">
                <a:solidFill>
                  <a:schemeClr val="bg1"/>
                </a:solidFill>
              </a:rPr>
              <a:t>18 n</a:t>
            </a:r>
            <a:pPr algn="ctr" indent="0" marL="0">
              <a:buNone/>
            </a:pPr>
            <a:r>
              <a:rPr lang="en-US" sz="800" b="1" baseline="30000" dirty="0">
                <a:solidFill>
                  <a:schemeClr val="bg1"/>
                </a:solidFill>
              </a:rPr>
              <a:t>0</a:t>
            </a:r>
            <a:endParaRPr lang="en-US" sz="800" dirty="0"/>
          </a:p>
        </p:txBody>
      </p:sp>
      <p:sp>
        <p:nvSpPr>
          <p:cNvPr id="24" name="chloride: electron, shell 1"/>
          <p:cNvSpPr/>
          <p:nvPr/>
        </p:nvSpPr>
        <p:spPr>
          <a:xfrm>
            <a:off x="7817257" y="2078448"/>
            <a:ext cx="93165" cy="93165"/>
          </a:xfrm>
          <a:prstGeom prst="ellipse">
            <a:avLst/>
          </a:prstGeom>
          <a:solidFill>
            <a:schemeClr val="accent1"/>
          </a:solidFill>
          <a:ln w="3175">
            <a:solidFill>
              <a:schemeClr val="accent1"/>
            </a:solidFill>
            <a:prstDash val="solid"/>
          </a:ln>
        </p:spPr>
      </p:sp>
      <p:sp>
        <p:nvSpPr>
          <p:cNvPr id="25" name="chloride: electron, shell 1"/>
          <p:cNvSpPr/>
          <p:nvPr/>
        </p:nvSpPr>
        <p:spPr>
          <a:xfrm>
            <a:off x="8115386" y="2376577"/>
            <a:ext cx="93165" cy="93165"/>
          </a:xfrm>
          <a:prstGeom prst="ellipse">
            <a:avLst/>
          </a:prstGeom>
          <a:solidFill>
            <a:schemeClr val="accent1"/>
          </a:solidFill>
          <a:ln w="3175">
            <a:solidFill>
              <a:schemeClr val="accent1"/>
            </a:solidFill>
            <a:prstDash val="solid"/>
          </a:ln>
        </p:spPr>
      </p:sp>
      <p:sp>
        <p:nvSpPr>
          <p:cNvPr id="26" name="chloride: electron, shell 2"/>
          <p:cNvSpPr/>
          <p:nvPr/>
        </p:nvSpPr>
        <p:spPr>
          <a:xfrm>
            <a:off x="7754701" y="1896174"/>
            <a:ext cx="93165" cy="93165"/>
          </a:xfrm>
          <a:prstGeom prst="ellipse">
            <a:avLst/>
          </a:prstGeom>
          <a:solidFill>
            <a:schemeClr val="accent1"/>
          </a:solidFill>
          <a:ln w="3175">
            <a:solidFill>
              <a:schemeClr val="accent1"/>
            </a:solidFill>
            <a:prstDash val="solid"/>
          </a:ln>
        </p:spPr>
      </p:sp>
      <p:sp>
        <p:nvSpPr>
          <p:cNvPr id="27" name="chloride: electron, shell 2"/>
          <p:cNvSpPr/>
          <p:nvPr/>
        </p:nvSpPr>
        <p:spPr>
          <a:xfrm>
            <a:off x="7879813" y="1896174"/>
            <a:ext cx="93165" cy="93165"/>
          </a:xfrm>
          <a:prstGeom prst="ellipse">
            <a:avLst/>
          </a:prstGeom>
          <a:solidFill>
            <a:schemeClr val="accent1"/>
          </a:solidFill>
          <a:ln w="3175">
            <a:solidFill>
              <a:schemeClr val="accent1"/>
            </a:solidFill>
            <a:prstDash val="solid"/>
          </a:ln>
        </p:spPr>
      </p:sp>
      <p:sp>
        <p:nvSpPr>
          <p:cNvPr id="28" name="chloride: electron, shell 2"/>
          <p:cNvSpPr/>
          <p:nvPr/>
        </p:nvSpPr>
        <p:spPr>
          <a:xfrm>
            <a:off x="8297661" y="2314021"/>
            <a:ext cx="93165" cy="93165"/>
          </a:xfrm>
          <a:prstGeom prst="ellipse">
            <a:avLst/>
          </a:prstGeom>
          <a:solidFill>
            <a:schemeClr val="accent1"/>
          </a:solidFill>
          <a:ln w="3175">
            <a:solidFill>
              <a:schemeClr val="accent1"/>
            </a:solidFill>
            <a:prstDash val="solid"/>
          </a:ln>
        </p:spPr>
      </p:sp>
      <p:sp>
        <p:nvSpPr>
          <p:cNvPr id="29" name="chloride: electron, shell 2"/>
          <p:cNvSpPr/>
          <p:nvPr/>
        </p:nvSpPr>
        <p:spPr>
          <a:xfrm>
            <a:off x="8297661" y="2439133"/>
            <a:ext cx="93165" cy="93165"/>
          </a:xfrm>
          <a:prstGeom prst="ellipse">
            <a:avLst/>
          </a:prstGeom>
          <a:solidFill>
            <a:schemeClr val="accent1"/>
          </a:solidFill>
          <a:ln w="3175">
            <a:solidFill>
              <a:schemeClr val="accent1"/>
            </a:solidFill>
            <a:prstDash val="solid"/>
          </a:ln>
        </p:spPr>
      </p:sp>
      <p:sp>
        <p:nvSpPr>
          <p:cNvPr id="30" name="chloride: electron, shell 2"/>
          <p:cNvSpPr/>
          <p:nvPr/>
        </p:nvSpPr>
        <p:spPr>
          <a:xfrm>
            <a:off x="7879813" y="2856981"/>
            <a:ext cx="93165" cy="93165"/>
          </a:xfrm>
          <a:prstGeom prst="ellipse">
            <a:avLst/>
          </a:prstGeom>
          <a:solidFill>
            <a:schemeClr val="accent1"/>
          </a:solidFill>
          <a:ln w="3175">
            <a:solidFill>
              <a:schemeClr val="accent1"/>
            </a:solidFill>
            <a:prstDash val="solid"/>
          </a:ln>
        </p:spPr>
      </p:sp>
      <p:sp>
        <p:nvSpPr>
          <p:cNvPr id="31" name="chloride: electron, shell 2"/>
          <p:cNvSpPr/>
          <p:nvPr/>
        </p:nvSpPr>
        <p:spPr>
          <a:xfrm>
            <a:off x="7754701" y="2856981"/>
            <a:ext cx="93165" cy="93165"/>
          </a:xfrm>
          <a:prstGeom prst="ellipse">
            <a:avLst/>
          </a:prstGeom>
          <a:solidFill>
            <a:schemeClr val="accent1"/>
          </a:solidFill>
          <a:ln w="3175">
            <a:solidFill>
              <a:schemeClr val="accent1"/>
            </a:solidFill>
            <a:prstDash val="solid"/>
          </a:ln>
        </p:spPr>
      </p:sp>
      <p:sp>
        <p:nvSpPr>
          <p:cNvPr id="32" name="chloride: electron, shell 2"/>
          <p:cNvSpPr/>
          <p:nvPr/>
        </p:nvSpPr>
        <p:spPr>
          <a:xfrm>
            <a:off x="7336854" y="2439133"/>
            <a:ext cx="93165" cy="93165"/>
          </a:xfrm>
          <a:prstGeom prst="ellipse">
            <a:avLst/>
          </a:prstGeom>
          <a:solidFill>
            <a:schemeClr val="accent1"/>
          </a:solidFill>
          <a:ln w="3175">
            <a:solidFill>
              <a:schemeClr val="accent1"/>
            </a:solidFill>
            <a:prstDash val="solid"/>
          </a:ln>
        </p:spPr>
      </p:sp>
      <p:sp>
        <p:nvSpPr>
          <p:cNvPr id="33" name="chloride: electron, shell 2"/>
          <p:cNvSpPr/>
          <p:nvPr/>
        </p:nvSpPr>
        <p:spPr>
          <a:xfrm>
            <a:off x="7336854" y="2314021"/>
            <a:ext cx="93165" cy="93165"/>
          </a:xfrm>
          <a:prstGeom prst="ellipse">
            <a:avLst/>
          </a:prstGeom>
          <a:solidFill>
            <a:schemeClr val="accent1"/>
          </a:solidFill>
          <a:ln w="3175">
            <a:solidFill>
              <a:schemeClr val="accent1"/>
            </a:solidFill>
            <a:prstDash val="solid"/>
          </a:ln>
        </p:spPr>
      </p:sp>
      <p:sp>
        <p:nvSpPr>
          <p:cNvPr id="34" name="chloride: electron, shell 3"/>
          <p:cNvSpPr/>
          <p:nvPr/>
        </p:nvSpPr>
        <p:spPr>
          <a:xfrm>
            <a:off x="7754621" y="1721196"/>
            <a:ext cx="93165" cy="93165"/>
          </a:xfrm>
          <a:prstGeom prst="ellipse">
            <a:avLst/>
          </a:prstGeom>
          <a:solidFill>
            <a:schemeClr val="accent1"/>
          </a:solidFill>
          <a:ln w="3175">
            <a:solidFill>
              <a:schemeClr val="accent1"/>
            </a:solidFill>
            <a:prstDash val="solid"/>
          </a:ln>
        </p:spPr>
      </p:sp>
      <p:sp>
        <p:nvSpPr>
          <p:cNvPr id="35" name="chloride: electron, shell 3"/>
          <p:cNvSpPr/>
          <p:nvPr/>
        </p:nvSpPr>
        <p:spPr>
          <a:xfrm>
            <a:off x="7879894" y="1721196"/>
            <a:ext cx="93165" cy="93165"/>
          </a:xfrm>
          <a:prstGeom prst="ellipse">
            <a:avLst/>
          </a:prstGeom>
          <a:solidFill>
            <a:schemeClr val="accent1"/>
          </a:solidFill>
          <a:ln w="3175">
            <a:solidFill>
              <a:schemeClr val="accent1"/>
            </a:solidFill>
            <a:prstDash val="solid"/>
          </a:ln>
        </p:spPr>
      </p:sp>
      <p:sp>
        <p:nvSpPr>
          <p:cNvPr id="36" name="chloride: electron, shell 3"/>
          <p:cNvSpPr/>
          <p:nvPr/>
        </p:nvSpPr>
        <p:spPr>
          <a:xfrm>
            <a:off x="8472639" y="2313941"/>
            <a:ext cx="93165" cy="93165"/>
          </a:xfrm>
          <a:prstGeom prst="ellipse">
            <a:avLst/>
          </a:prstGeom>
          <a:solidFill>
            <a:schemeClr val="accent1"/>
          </a:solidFill>
          <a:ln w="3175">
            <a:solidFill>
              <a:schemeClr val="accent1"/>
            </a:solidFill>
            <a:prstDash val="solid"/>
          </a:ln>
        </p:spPr>
      </p:sp>
      <p:sp>
        <p:nvSpPr>
          <p:cNvPr id="37" name="chloride: electron, shell 3"/>
          <p:cNvSpPr/>
          <p:nvPr/>
        </p:nvSpPr>
        <p:spPr>
          <a:xfrm>
            <a:off x="8472639" y="2439214"/>
            <a:ext cx="93165" cy="93165"/>
          </a:xfrm>
          <a:prstGeom prst="ellipse">
            <a:avLst/>
          </a:prstGeom>
          <a:solidFill>
            <a:schemeClr val="accent1"/>
          </a:solidFill>
          <a:ln w="3175">
            <a:solidFill>
              <a:schemeClr val="accent1"/>
            </a:solidFill>
            <a:prstDash val="solid"/>
          </a:ln>
        </p:spPr>
      </p:sp>
      <p:sp>
        <p:nvSpPr>
          <p:cNvPr id="38" name="chloride: electron, shell 3"/>
          <p:cNvSpPr/>
          <p:nvPr/>
        </p:nvSpPr>
        <p:spPr>
          <a:xfrm>
            <a:off x="7879894" y="3031959"/>
            <a:ext cx="93165" cy="93165"/>
          </a:xfrm>
          <a:prstGeom prst="ellipse">
            <a:avLst/>
          </a:prstGeom>
          <a:solidFill>
            <a:schemeClr val="accent1"/>
          </a:solidFill>
          <a:ln w="3175">
            <a:solidFill>
              <a:schemeClr val="accent1"/>
            </a:solidFill>
            <a:prstDash val="solid"/>
          </a:ln>
        </p:spPr>
      </p:sp>
      <p:sp>
        <p:nvSpPr>
          <p:cNvPr id="39" name="chloride: electron, shell 3"/>
          <p:cNvSpPr/>
          <p:nvPr/>
        </p:nvSpPr>
        <p:spPr>
          <a:xfrm>
            <a:off x="7754621" y="3031959"/>
            <a:ext cx="93165" cy="93165"/>
          </a:xfrm>
          <a:prstGeom prst="ellipse">
            <a:avLst/>
          </a:prstGeom>
          <a:solidFill>
            <a:schemeClr val="accent1"/>
          </a:solidFill>
          <a:ln w="3175">
            <a:solidFill>
              <a:schemeClr val="accent1"/>
            </a:solidFill>
            <a:prstDash val="solid"/>
          </a:ln>
        </p:spPr>
      </p:sp>
      <p:sp>
        <p:nvSpPr>
          <p:cNvPr id="40" name="chloride: electron, shell 3"/>
          <p:cNvSpPr/>
          <p:nvPr/>
        </p:nvSpPr>
        <p:spPr>
          <a:xfrm>
            <a:off x="7161876" y="2439214"/>
            <a:ext cx="93165" cy="93165"/>
          </a:xfrm>
          <a:prstGeom prst="ellipse">
            <a:avLst/>
          </a:prstGeom>
          <a:solidFill>
            <a:schemeClr val="accent1"/>
          </a:solidFill>
          <a:ln w="3175">
            <a:solidFill>
              <a:schemeClr val="accent1"/>
            </a:solidFill>
            <a:prstDash val="solid"/>
          </a:ln>
        </p:spPr>
      </p:sp>
      <p:sp>
        <p:nvSpPr>
          <p:cNvPr id="41" name="chloride: gained electron, shell 3"/>
          <p:cNvSpPr/>
          <p:nvPr/>
        </p:nvSpPr>
        <p:spPr>
          <a:xfrm>
            <a:off x="7161876" y="2313941"/>
            <a:ext cx="93165" cy="93165"/>
          </a:xfrm>
          <a:prstGeom prst="ellipse">
            <a:avLst/>
          </a:prstGeom>
          <a:solidFill>
            <a:schemeClr val="accent6"/>
          </a:solidFill>
          <a:ln w="3175">
            <a:solidFill>
              <a:schemeClr val="accent6"/>
            </a:solidFill>
            <a:prstDash val="solid"/>
          </a:ln>
        </p:spPr>
      </p:sp>
      <p:sp>
        <p:nvSpPr>
          <p:cNvPr id="42" name="chloride: left bracket"/>
          <p:cNvSpPr/>
          <p:nvPr/>
        </p:nvSpPr>
        <p:spPr>
          <a:xfrm>
            <a:off x="7106096" y="1665416"/>
            <a:ext cx="86954" cy="1515489"/>
          </a:xfrm>
          <a:prstGeom prst="leftBracket">
            <a:avLst/>
          </a:prstGeom>
          <a:noFill/>
          <a:ln w="28575">
            <a:solidFill>
              <a:schemeClr val="bg1"/>
            </a:solidFill>
            <a:prstDash val="solid"/>
          </a:ln>
        </p:spPr>
      </p:sp>
      <p:sp>
        <p:nvSpPr>
          <p:cNvPr id="43" name="chloride: right bracket"/>
          <p:cNvSpPr/>
          <p:nvPr/>
        </p:nvSpPr>
        <p:spPr>
          <a:xfrm>
            <a:off x="8534630" y="1665416"/>
            <a:ext cx="86954" cy="1515489"/>
          </a:xfrm>
          <a:prstGeom prst="rightBracket">
            <a:avLst/>
          </a:prstGeom>
          <a:noFill/>
          <a:ln w="28575">
            <a:solidFill>
              <a:schemeClr val="bg1"/>
            </a:solidFill>
            <a:prstDash val="solid"/>
          </a:ln>
        </p:spPr>
      </p:sp>
      <p:sp>
        <p:nvSpPr>
          <p:cNvPr id="44" name="chloride: charge"/>
          <p:cNvSpPr txBox="1"/>
          <p:nvPr/>
        </p:nvSpPr>
        <p:spPr>
          <a:xfrm>
            <a:off x="8639872" y="1539686"/>
            <a:ext cx="365760" cy="274320"/>
          </a:xfrm>
          <a:prstGeom prst="rect">
            <a:avLst/>
          </a:prstGeom>
          <a:noFill/>
          <a:ln/>
        </p:spPr>
        <p:txBody>
          <a:bodyPr wrap="square" lIns="0" tIns="0" rIns="0" bIns="0" rtlCol="0" anchor="t"/>
          <a:lstStyle/>
          <a:p>
            <a:pPr indent="0" marL="0">
              <a:buNone/>
            </a:pPr>
            <a:r>
              <a:rPr lang="en-US" sz="1800" b="1" dirty="0">
                <a:solidFill>
                  <a:schemeClr val="bg1"/>
                </a:solidFill>
              </a:rPr>
              <a:t>−</a:t>
            </a:r>
            <a:endParaRPr lang="en-US" sz="1800" dirty="0"/>
          </a:p>
        </p:txBody>
      </p:sp>
      <p:sp>
        <p:nvSpPr>
          <p:cNvPr id="45" name="Text 43"/>
          <p:cNvSpPr txBox="1"/>
          <p:nvPr/>
        </p:nvSpPr>
        <p:spPr>
          <a:xfrm>
            <a:off x="5120640" y="3611880"/>
            <a:ext cx="3566160" cy="320040"/>
          </a:xfrm>
          <a:prstGeom prst="rect">
            <a:avLst/>
          </a:prstGeom>
          <a:noFill/>
          <a:ln/>
        </p:spPr>
        <p:txBody>
          <a:bodyPr wrap="square" lIns="0" tIns="0" rIns="0" bIns="0" rtlCol="0" anchor="ctr"/>
          <a:lstStyle/>
          <a:p>
            <a:pPr algn="ctr" indent="0" marL="0">
              <a:buNone/>
            </a:pPr>
            <a:r>
              <a:rPr lang="en-US" sz="1400" b="1" dirty="0">
                <a:solidFill>
                  <a:schemeClr val="bg1"/>
                </a:solidFill>
              </a:rPr>
              <a:t>Na</a:t>
            </a:r>
            <a:pPr algn="ctr" indent="0" marL="0">
              <a:buNone/>
            </a:pPr>
            <a:r>
              <a:rPr lang="en-US" sz="1400" b="1" baseline="30000" dirty="0">
                <a:solidFill>
                  <a:schemeClr val="bg1"/>
                </a:solidFill>
              </a:rPr>
              <a:t>+</a:t>
            </a:r>
            <a:pPr algn="ctr" indent="0" marL="0">
              <a:buNone/>
            </a:pPr>
            <a:r>
              <a:rPr lang="en-US" sz="1400" dirty="0">
                <a:solidFill>
                  <a:schemeClr val="bg2"/>
                </a:solidFill>
              </a:rPr>
              <a:t>  2, 8      </a:t>
            </a:r>
            <a:pPr algn="ctr" indent="0" marL="0">
              <a:buNone/>
            </a:pPr>
            <a:r>
              <a:rPr lang="en-US" sz="1400" b="1" dirty="0">
                <a:solidFill>
                  <a:schemeClr val="bg1"/>
                </a:solidFill>
              </a:rPr>
              <a:t>Cl</a:t>
            </a:r>
            <a:pPr algn="ctr" indent="0" marL="0">
              <a:buNone/>
            </a:pPr>
            <a:r>
              <a:rPr lang="en-US" sz="1400" b="1" baseline="30000" dirty="0">
                <a:solidFill>
                  <a:schemeClr val="bg1"/>
                </a:solidFill>
              </a:rPr>
              <a:t>−</a:t>
            </a:r>
            <a:pPr algn="ctr" indent="0" marL="0">
              <a:buNone/>
            </a:pPr>
            <a:r>
              <a:rPr lang="en-US" sz="1400" dirty="0">
                <a:solidFill>
                  <a:schemeClr val="bg2"/>
                </a:solidFill>
              </a:rPr>
              <a:t>  2, 8, 8</a:t>
            </a:r>
            <a:endParaRPr lang="en-US" sz="1400" dirty="0"/>
          </a:p>
        </p:txBody>
      </p:sp>
      <p:sp>
        <p:nvSpPr>
          <p:cNvPr id="46" name="Legend dot"/>
          <p:cNvSpPr/>
          <p:nvPr/>
        </p:nvSpPr>
        <p:spPr>
          <a:xfrm>
            <a:off x="5760720" y="4123944"/>
            <a:ext cx="128016" cy="128016"/>
          </a:xfrm>
          <a:prstGeom prst="ellipse">
            <a:avLst/>
          </a:prstGeom>
          <a:solidFill>
            <a:schemeClr val="accent1"/>
          </a:solidFill>
          <a:ln w="6350">
            <a:solidFill>
              <a:schemeClr val="accent1"/>
            </a:solidFill>
            <a:prstDash val="solid"/>
          </a:ln>
        </p:spPr>
      </p:sp>
      <p:sp>
        <p:nvSpPr>
          <p:cNvPr id="47" name="Text 45"/>
          <p:cNvSpPr txBox="1"/>
          <p:nvPr/>
        </p:nvSpPr>
        <p:spPr>
          <a:xfrm>
            <a:off x="5961888" y="4069080"/>
            <a:ext cx="1188720" cy="237744"/>
          </a:xfrm>
          <a:prstGeom prst="rect">
            <a:avLst/>
          </a:prstGeom>
          <a:noFill/>
          <a:ln/>
        </p:spPr>
        <p:txBody>
          <a:bodyPr wrap="square" lIns="0" tIns="0" rIns="0" bIns="0" rtlCol="0" anchor="ctr"/>
          <a:lstStyle/>
          <a:p>
            <a:pPr indent="0" marL="0">
              <a:buNone/>
            </a:pPr>
            <a:r>
              <a:rPr lang="en-US" sz="1100" dirty="0">
                <a:solidFill>
                  <a:schemeClr val="bg2"/>
                </a:solidFill>
              </a:rPr>
              <a:t>electron</a:t>
            </a:r>
            <a:endParaRPr lang="en-US" sz="1100" dirty="0"/>
          </a:p>
        </p:txBody>
      </p:sp>
      <p:sp>
        <p:nvSpPr>
          <p:cNvPr id="48" name="Legend dot"/>
          <p:cNvSpPr/>
          <p:nvPr/>
        </p:nvSpPr>
        <p:spPr>
          <a:xfrm>
            <a:off x="7178040" y="4123944"/>
            <a:ext cx="128016" cy="128016"/>
          </a:xfrm>
          <a:prstGeom prst="ellipse">
            <a:avLst/>
          </a:prstGeom>
          <a:solidFill>
            <a:schemeClr val="accent6"/>
          </a:solidFill>
          <a:ln w="6350">
            <a:solidFill>
              <a:schemeClr val="accent6"/>
            </a:solidFill>
            <a:prstDash val="solid"/>
          </a:ln>
        </p:spPr>
      </p:sp>
      <p:sp>
        <p:nvSpPr>
          <p:cNvPr id="49" name="Text 47"/>
          <p:cNvSpPr txBox="1"/>
          <p:nvPr/>
        </p:nvSpPr>
        <p:spPr>
          <a:xfrm>
            <a:off x="7379208" y="4069080"/>
            <a:ext cx="1188720" cy="237744"/>
          </a:xfrm>
          <a:prstGeom prst="rect">
            <a:avLst/>
          </a:prstGeom>
          <a:noFill/>
          <a:ln/>
        </p:spPr>
        <p:txBody>
          <a:bodyPr wrap="square" lIns="0" tIns="0" rIns="0" bIns="0" rtlCol="0" anchor="ctr"/>
          <a:lstStyle/>
          <a:p>
            <a:pPr indent="0" marL="0">
              <a:buNone/>
            </a:pPr>
            <a:r>
              <a:rPr lang="en-US" sz="1100" dirty="0">
                <a:solidFill>
                  <a:schemeClr val="bg2"/>
                </a:solidFill>
              </a:rPr>
              <a:t>electron gained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8229600" cy="566928"/>
          </a:xfrm>
          <a:prstGeom prst="rect">
            <a:avLst/>
          </a:prstGeom>
          <a:noFill/>
          <a:ln/>
        </p:spPr>
        <p:txBody>
          <a:bodyPr wrap="square" lIns="0" tIns="0" rIns="0" bIns="0" rtlCol="0" anchor="ctr"/>
          <a:lstStyle/>
          <a:p>
            <a:pPr algn="l" indent="0" marL="0">
              <a:buNone/>
            </a:pPr>
            <a:r>
              <a:rPr lang="en-US" sz="3000" b="1" dirty="0">
                <a:solidFill>
                  <a:schemeClr val="bg1"/>
                </a:solidFill>
              </a:rPr>
              <a:t>Objective and standard</a:t>
            </a:r>
            <a:endParaRPr lang="en-US" sz="3000" dirty="0"/>
          </a:p>
        </p:txBody>
      </p:sp>
      <p:sp>
        <p:nvSpPr>
          <p:cNvPr id="3" name="Objective card"/>
          <p:cNvSpPr/>
          <p:nvPr/>
        </p:nvSpPr>
        <p:spPr>
          <a:xfrm>
            <a:off x="457200" y="1234440"/>
            <a:ext cx="3977640" cy="2194560"/>
          </a:xfrm>
          <a:prstGeom prst="roundRect">
            <a:avLst>
              <a:gd name="adj" fmla="val 4167"/>
            </a:avLst>
          </a:prstGeom>
          <a:solidFill>
            <a:schemeClr val="tx2"/>
          </a:solidFill>
          <a:ln w="9525">
            <a:solidFill>
              <a:schemeClr val="bg2">
                <a:alpha val="30000"/>
              </a:schemeClr>
            </a:solidFill>
            <a:prstDash val="solid"/>
          </a:ln>
        </p:spPr>
      </p:sp>
      <p:sp>
        <p:nvSpPr>
          <p:cNvPr id="4" name="Text 2"/>
          <p:cNvSpPr txBox="1"/>
          <p:nvPr/>
        </p:nvSpPr>
        <p:spPr>
          <a:xfrm>
            <a:off x="685800" y="1417320"/>
            <a:ext cx="3566160" cy="274320"/>
          </a:xfrm>
          <a:prstGeom prst="rect">
            <a:avLst/>
          </a:prstGeom>
          <a:noFill/>
          <a:ln/>
        </p:spPr>
        <p:txBody>
          <a:bodyPr wrap="square" lIns="0" tIns="0" rIns="0" bIns="0" rtlCol="0" anchor="t"/>
          <a:lstStyle/>
          <a:p>
            <a:pPr indent="0" marL="0">
              <a:buNone/>
            </a:pPr>
            <a:r>
              <a:rPr lang="en-US" sz="1300" b="1" dirty="0">
                <a:solidFill>
                  <a:schemeClr val="accent1"/>
                </a:solidFill>
              </a:rPr>
              <a:t>Objective</a:t>
            </a:r>
            <a:endParaRPr lang="en-US" sz="1300" dirty="0"/>
          </a:p>
        </p:txBody>
      </p:sp>
      <p:sp>
        <p:nvSpPr>
          <p:cNvPr id="5" name="Text 3"/>
          <p:cNvSpPr txBox="1"/>
          <p:nvPr/>
        </p:nvSpPr>
        <p:spPr>
          <a:xfrm>
            <a:off x="685800" y="1755648"/>
            <a:ext cx="3566160" cy="1600200"/>
          </a:xfrm>
          <a:prstGeom prst="rect">
            <a:avLst/>
          </a:prstGeom>
          <a:noFill/>
          <a:ln/>
        </p:spPr>
        <p:txBody>
          <a:bodyPr wrap="square" lIns="0" tIns="0" rIns="0" bIns="0" rtlCol="0" anchor="t"/>
          <a:lstStyle/>
          <a:p>
            <a:pPr indent="0" marL="0">
              <a:buNone/>
            </a:pPr>
            <a:r>
              <a:rPr lang="en-US" sz="1600" dirty="0">
                <a:solidFill>
                  <a:schemeClr val="bg1"/>
                </a:solidFill>
              </a:rPr>
              <a:t>I can use the octet rule to predict whether an atom gains or loses electrons, then write the ion's symbol and charge and draw its Bohr model.</a:t>
            </a:r>
            <a:endParaRPr lang="en-US" sz="1600" dirty="0"/>
          </a:p>
        </p:txBody>
      </p:sp>
      <p:sp>
        <p:nvSpPr>
          <p:cNvPr id="6" name="Standard card"/>
          <p:cNvSpPr/>
          <p:nvPr/>
        </p:nvSpPr>
        <p:spPr>
          <a:xfrm>
            <a:off x="4709160" y="1234440"/>
            <a:ext cx="3977640" cy="2194560"/>
          </a:xfrm>
          <a:prstGeom prst="roundRect">
            <a:avLst>
              <a:gd name="adj" fmla="val 4167"/>
            </a:avLst>
          </a:prstGeom>
          <a:solidFill>
            <a:schemeClr val="tx2"/>
          </a:solidFill>
          <a:ln w="9525">
            <a:solidFill>
              <a:schemeClr val="bg2">
                <a:alpha val="30000"/>
              </a:schemeClr>
            </a:solidFill>
            <a:prstDash val="solid"/>
          </a:ln>
        </p:spPr>
      </p:sp>
      <p:sp>
        <p:nvSpPr>
          <p:cNvPr id="7" name="Text 5"/>
          <p:cNvSpPr txBox="1"/>
          <p:nvPr/>
        </p:nvSpPr>
        <p:spPr>
          <a:xfrm>
            <a:off x="4937760" y="1417320"/>
            <a:ext cx="3566160" cy="274320"/>
          </a:xfrm>
          <a:prstGeom prst="rect">
            <a:avLst/>
          </a:prstGeom>
          <a:noFill/>
          <a:ln/>
        </p:spPr>
        <p:txBody>
          <a:bodyPr wrap="square" lIns="0" tIns="0" rIns="0" bIns="0" rtlCol="0" anchor="t"/>
          <a:lstStyle/>
          <a:p>
            <a:pPr indent="0" marL="0">
              <a:buNone/>
            </a:pPr>
            <a:r>
              <a:rPr lang="en-US" sz="1300" b="1" dirty="0">
                <a:solidFill>
                  <a:schemeClr val="accent5"/>
                </a:solidFill>
              </a:rPr>
              <a:t>Standard: NGSS HS-PS1-1</a:t>
            </a:r>
            <a:endParaRPr lang="en-US" sz="1300" dirty="0"/>
          </a:p>
        </p:txBody>
      </p:sp>
      <p:sp>
        <p:nvSpPr>
          <p:cNvPr id="8" name="Text 6"/>
          <p:cNvSpPr txBox="1"/>
          <p:nvPr/>
        </p:nvSpPr>
        <p:spPr>
          <a:xfrm>
            <a:off x="4937760" y="1755648"/>
            <a:ext cx="3566160" cy="1554480"/>
          </a:xfrm>
          <a:prstGeom prst="rect">
            <a:avLst/>
          </a:prstGeom>
          <a:noFill/>
          <a:ln/>
        </p:spPr>
        <p:txBody>
          <a:bodyPr wrap="square" lIns="0" tIns="0" rIns="0" bIns="0" rtlCol="0" anchor="t"/>
          <a:lstStyle/>
          <a:p>
            <a:pPr indent="0" marL="0">
              <a:buNone/>
            </a:pPr>
            <a:r>
              <a:rPr lang="en-US" sz="1500" dirty="0">
                <a:solidFill>
                  <a:schemeClr val="bg1"/>
                </a:solidFill>
              </a:rPr>
              <a:t>Use the periodic table as a model to predict the relative properties of elements based on the patterns of electrons in the outermost energy level of atoms.</a:t>
            </a:r>
            <a:endParaRPr lang="en-US" sz="1500" dirty="0"/>
          </a:p>
        </p:txBody>
      </p:sp>
      <p:sp>
        <p:nvSpPr>
          <p:cNvPr id="9" name="Magnesium: shell 1"/>
          <p:cNvSpPr/>
          <p:nvPr/>
        </p:nvSpPr>
        <p:spPr>
          <a:xfrm>
            <a:off x="1744675" y="3939235"/>
            <a:ext cx="351130" cy="351130"/>
          </a:xfrm>
          <a:prstGeom prst="ellipse">
            <a:avLst/>
          </a:prstGeom>
          <a:solidFill>
            <a:schemeClr val="bg1">
              <a:alpha val="0"/>
            </a:schemeClr>
          </a:solidFill>
          <a:ln w="15875">
            <a:solidFill>
              <a:schemeClr val="bg2">
                <a:alpha val="55000"/>
              </a:schemeClr>
            </a:solidFill>
            <a:prstDash val="solid"/>
          </a:ln>
        </p:spPr>
      </p:sp>
      <p:sp>
        <p:nvSpPr>
          <p:cNvPr id="10" name="Magnesium: shell 2"/>
          <p:cNvSpPr/>
          <p:nvPr/>
        </p:nvSpPr>
        <p:spPr>
          <a:xfrm>
            <a:off x="1634947" y="3829507"/>
            <a:ext cx="570586" cy="570586"/>
          </a:xfrm>
          <a:prstGeom prst="ellipse">
            <a:avLst/>
          </a:prstGeom>
          <a:solidFill>
            <a:schemeClr val="bg1">
              <a:alpha val="0"/>
            </a:schemeClr>
          </a:solidFill>
          <a:ln w="15875">
            <a:solidFill>
              <a:schemeClr val="bg2">
                <a:alpha val="55000"/>
              </a:schemeClr>
            </a:solidFill>
            <a:prstDash val="solid"/>
          </a:ln>
        </p:spPr>
      </p:sp>
      <p:sp>
        <p:nvSpPr>
          <p:cNvPr id="11" name="Magnesium: shell 3"/>
          <p:cNvSpPr/>
          <p:nvPr/>
        </p:nvSpPr>
        <p:spPr>
          <a:xfrm>
            <a:off x="1532534" y="3727094"/>
            <a:ext cx="775411" cy="775411"/>
          </a:xfrm>
          <a:prstGeom prst="ellipse">
            <a:avLst/>
          </a:prstGeom>
          <a:solidFill>
            <a:schemeClr val="bg1">
              <a:alpha val="0"/>
            </a:schemeClr>
          </a:solidFill>
          <a:ln w="15875">
            <a:solidFill>
              <a:schemeClr val="accent2">
                <a:alpha val="80000"/>
              </a:schemeClr>
            </a:solidFill>
            <a:prstDash val="solid"/>
          </a:ln>
        </p:spPr>
      </p:sp>
      <p:sp>
        <p:nvSpPr>
          <p:cNvPr id="12" name="Magnesium: nucleus"/>
          <p:cNvSpPr/>
          <p:nvPr/>
        </p:nvSpPr>
        <p:spPr>
          <a:xfrm>
            <a:off x="1806854" y="4001414"/>
            <a:ext cx="226771" cy="226771"/>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13" name="Magnesium: electron, shell 1"/>
          <p:cNvSpPr/>
          <p:nvPr/>
        </p:nvSpPr>
        <p:spPr>
          <a:xfrm>
            <a:off x="1892808" y="3911803"/>
            <a:ext cx="54864" cy="54864"/>
          </a:xfrm>
          <a:prstGeom prst="ellipse">
            <a:avLst/>
          </a:prstGeom>
          <a:solidFill>
            <a:schemeClr val="accent1"/>
          </a:solidFill>
          <a:ln w="3175">
            <a:solidFill>
              <a:schemeClr val="accent1"/>
            </a:solidFill>
            <a:prstDash val="solid"/>
          </a:ln>
        </p:spPr>
      </p:sp>
      <p:sp>
        <p:nvSpPr>
          <p:cNvPr id="14" name="Magnesium: electron, shell 1"/>
          <p:cNvSpPr/>
          <p:nvPr/>
        </p:nvSpPr>
        <p:spPr>
          <a:xfrm>
            <a:off x="2068373" y="4087368"/>
            <a:ext cx="54864" cy="54864"/>
          </a:xfrm>
          <a:prstGeom prst="ellipse">
            <a:avLst/>
          </a:prstGeom>
          <a:solidFill>
            <a:schemeClr val="accent1"/>
          </a:solidFill>
          <a:ln w="3175">
            <a:solidFill>
              <a:schemeClr val="accent1"/>
            </a:solidFill>
            <a:prstDash val="solid"/>
          </a:ln>
        </p:spPr>
      </p:sp>
      <p:sp>
        <p:nvSpPr>
          <p:cNvPr id="15" name="Magnesium: electron, shell 2"/>
          <p:cNvSpPr/>
          <p:nvPr/>
        </p:nvSpPr>
        <p:spPr>
          <a:xfrm>
            <a:off x="1855969" y="3804464"/>
            <a:ext cx="54864" cy="54864"/>
          </a:xfrm>
          <a:prstGeom prst="ellipse">
            <a:avLst/>
          </a:prstGeom>
          <a:solidFill>
            <a:schemeClr val="accent1"/>
          </a:solidFill>
          <a:ln w="3175">
            <a:solidFill>
              <a:schemeClr val="accent1"/>
            </a:solidFill>
            <a:prstDash val="solid"/>
          </a:ln>
        </p:spPr>
      </p:sp>
      <p:sp>
        <p:nvSpPr>
          <p:cNvPr id="16" name="Magnesium: electron, shell 2"/>
          <p:cNvSpPr/>
          <p:nvPr/>
        </p:nvSpPr>
        <p:spPr>
          <a:xfrm>
            <a:off x="1929647" y="3804464"/>
            <a:ext cx="54864" cy="54864"/>
          </a:xfrm>
          <a:prstGeom prst="ellipse">
            <a:avLst/>
          </a:prstGeom>
          <a:solidFill>
            <a:schemeClr val="accent1"/>
          </a:solidFill>
          <a:ln w="3175">
            <a:solidFill>
              <a:schemeClr val="accent1"/>
            </a:solidFill>
            <a:prstDash val="solid"/>
          </a:ln>
        </p:spPr>
      </p:sp>
      <p:sp>
        <p:nvSpPr>
          <p:cNvPr id="17" name="Magnesium: electron, shell 2"/>
          <p:cNvSpPr/>
          <p:nvPr/>
        </p:nvSpPr>
        <p:spPr>
          <a:xfrm>
            <a:off x="2175712" y="4050529"/>
            <a:ext cx="54864" cy="54864"/>
          </a:xfrm>
          <a:prstGeom prst="ellipse">
            <a:avLst/>
          </a:prstGeom>
          <a:solidFill>
            <a:schemeClr val="accent1"/>
          </a:solidFill>
          <a:ln w="3175">
            <a:solidFill>
              <a:schemeClr val="accent1"/>
            </a:solidFill>
            <a:prstDash val="solid"/>
          </a:ln>
        </p:spPr>
      </p:sp>
      <p:sp>
        <p:nvSpPr>
          <p:cNvPr id="18" name="Magnesium: electron, shell 2"/>
          <p:cNvSpPr/>
          <p:nvPr/>
        </p:nvSpPr>
        <p:spPr>
          <a:xfrm>
            <a:off x="2175712" y="4124207"/>
            <a:ext cx="54864" cy="54864"/>
          </a:xfrm>
          <a:prstGeom prst="ellipse">
            <a:avLst/>
          </a:prstGeom>
          <a:solidFill>
            <a:schemeClr val="accent1"/>
          </a:solidFill>
          <a:ln w="3175">
            <a:solidFill>
              <a:schemeClr val="accent1"/>
            </a:solidFill>
            <a:prstDash val="solid"/>
          </a:ln>
        </p:spPr>
      </p:sp>
      <p:sp>
        <p:nvSpPr>
          <p:cNvPr id="19" name="Magnesium: electron, shell 2"/>
          <p:cNvSpPr/>
          <p:nvPr/>
        </p:nvSpPr>
        <p:spPr>
          <a:xfrm>
            <a:off x="1929647" y="4370272"/>
            <a:ext cx="54864" cy="54864"/>
          </a:xfrm>
          <a:prstGeom prst="ellipse">
            <a:avLst/>
          </a:prstGeom>
          <a:solidFill>
            <a:schemeClr val="accent1"/>
          </a:solidFill>
          <a:ln w="3175">
            <a:solidFill>
              <a:schemeClr val="accent1"/>
            </a:solidFill>
            <a:prstDash val="solid"/>
          </a:ln>
        </p:spPr>
      </p:sp>
      <p:sp>
        <p:nvSpPr>
          <p:cNvPr id="20" name="Magnesium: electron, shell 2"/>
          <p:cNvSpPr/>
          <p:nvPr/>
        </p:nvSpPr>
        <p:spPr>
          <a:xfrm>
            <a:off x="1855969" y="4370272"/>
            <a:ext cx="54864" cy="54864"/>
          </a:xfrm>
          <a:prstGeom prst="ellipse">
            <a:avLst/>
          </a:prstGeom>
          <a:solidFill>
            <a:schemeClr val="accent1"/>
          </a:solidFill>
          <a:ln w="3175">
            <a:solidFill>
              <a:schemeClr val="accent1"/>
            </a:solidFill>
            <a:prstDash val="solid"/>
          </a:ln>
        </p:spPr>
      </p:sp>
      <p:sp>
        <p:nvSpPr>
          <p:cNvPr id="21" name="Magnesium: electron, shell 2"/>
          <p:cNvSpPr/>
          <p:nvPr/>
        </p:nvSpPr>
        <p:spPr>
          <a:xfrm>
            <a:off x="1609904" y="4124207"/>
            <a:ext cx="54864" cy="54864"/>
          </a:xfrm>
          <a:prstGeom prst="ellipse">
            <a:avLst/>
          </a:prstGeom>
          <a:solidFill>
            <a:schemeClr val="accent1"/>
          </a:solidFill>
          <a:ln w="3175">
            <a:solidFill>
              <a:schemeClr val="accent1"/>
            </a:solidFill>
            <a:prstDash val="solid"/>
          </a:ln>
        </p:spPr>
      </p:sp>
      <p:sp>
        <p:nvSpPr>
          <p:cNvPr id="22" name="Magnesium: electron, shell 2"/>
          <p:cNvSpPr/>
          <p:nvPr/>
        </p:nvSpPr>
        <p:spPr>
          <a:xfrm>
            <a:off x="1609904" y="4050529"/>
            <a:ext cx="54864" cy="54864"/>
          </a:xfrm>
          <a:prstGeom prst="ellipse">
            <a:avLst/>
          </a:prstGeom>
          <a:solidFill>
            <a:schemeClr val="accent1"/>
          </a:solidFill>
          <a:ln w="3175">
            <a:solidFill>
              <a:schemeClr val="accent1"/>
            </a:solidFill>
            <a:prstDash val="solid"/>
          </a:ln>
        </p:spPr>
      </p:sp>
      <p:sp>
        <p:nvSpPr>
          <p:cNvPr id="23" name="Magnesium: electron, shell 3"/>
          <p:cNvSpPr/>
          <p:nvPr/>
        </p:nvSpPr>
        <p:spPr>
          <a:xfrm>
            <a:off x="1892808" y="3699662"/>
            <a:ext cx="54864" cy="54864"/>
          </a:xfrm>
          <a:prstGeom prst="ellipse">
            <a:avLst/>
          </a:prstGeom>
          <a:solidFill>
            <a:schemeClr val="accent2"/>
          </a:solidFill>
          <a:ln w="3175">
            <a:solidFill>
              <a:schemeClr val="accent2"/>
            </a:solidFill>
            <a:prstDash val="solid"/>
          </a:ln>
        </p:spPr>
      </p:sp>
      <p:sp>
        <p:nvSpPr>
          <p:cNvPr id="24" name="Magnesium: electron, shell 3"/>
          <p:cNvSpPr/>
          <p:nvPr/>
        </p:nvSpPr>
        <p:spPr>
          <a:xfrm>
            <a:off x="2280514" y="4087368"/>
            <a:ext cx="54864" cy="54864"/>
          </a:xfrm>
          <a:prstGeom prst="ellipse">
            <a:avLst/>
          </a:prstGeom>
          <a:solidFill>
            <a:schemeClr val="accent2"/>
          </a:solidFill>
          <a:ln w="3175">
            <a:solidFill>
              <a:schemeClr val="accent2"/>
            </a:solidFill>
            <a:prstDash val="solid"/>
          </a:ln>
        </p:spPr>
      </p:sp>
      <p:sp>
        <p:nvSpPr>
          <p:cNvPr id="25" name="Arrow"/>
          <p:cNvSpPr/>
          <p:nvPr/>
        </p:nvSpPr>
        <p:spPr>
          <a:xfrm>
            <a:off x="2743200" y="3959352"/>
            <a:ext cx="384048" cy="310896"/>
          </a:xfrm>
          <a:prstGeom prst="rightArrow">
            <a:avLst/>
          </a:prstGeom>
          <a:solidFill>
            <a:schemeClr val="accent2"/>
          </a:solidFill>
          <a:ln w="6350">
            <a:solidFill>
              <a:schemeClr val="accent2"/>
            </a:solidFill>
            <a:prstDash val="solid"/>
          </a:ln>
        </p:spPr>
      </p:sp>
      <p:sp>
        <p:nvSpPr>
          <p:cNvPr id="26" name="magnesium ion: shell 1"/>
          <p:cNvSpPr/>
          <p:nvPr/>
        </p:nvSpPr>
        <p:spPr>
          <a:xfrm>
            <a:off x="3650285" y="3924605"/>
            <a:ext cx="380390" cy="380390"/>
          </a:xfrm>
          <a:prstGeom prst="ellipse">
            <a:avLst/>
          </a:prstGeom>
          <a:solidFill>
            <a:schemeClr val="bg1">
              <a:alpha val="0"/>
            </a:schemeClr>
          </a:solidFill>
          <a:ln w="15875">
            <a:solidFill>
              <a:schemeClr val="bg2">
                <a:alpha val="55000"/>
              </a:schemeClr>
            </a:solidFill>
            <a:prstDash val="solid"/>
          </a:ln>
        </p:spPr>
      </p:sp>
      <p:sp>
        <p:nvSpPr>
          <p:cNvPr id="27" name="magnesium ion: shell 2"/>
          <p:cNvSpPr/>
          <p:nvPr/>
        </p:nvSpPr>
        <p:spPr>
          <a:xfrm>
            <a:off x="3531413" y="3805733"/>
            <a:ext cx="618134" cy="618134"/>
          </a:xfrm>
          <a:prstGeom prst="ellipse">
            <a:avLst/>
          </a:prstGeom>
          <a:solidFill>
            <a:schemeClr val="bg1">
              <a:alpha val="0"/>
            </a:schemeClr>
          </a:solidFill>
          <a:ln w="15875">
            <a:solidFill>
              <a:schemeClr val="bg2">
                <a:alpha val="55000"/>
              </a:schemeClr>
            </a:solidFill>
            <a:prstDash val="solid"/>
          </a:ln>
        </p:spPr>
      </p:sp>
      <p:sp>
        <p:nvSpPr>
          <p:cNvPr id="28" name="magnesium ion: nucleus"/>
          <p:cNvSpPr/>
          <p:nvPr/>
        </p:nvSpPr>
        <p:spPr>
          <a:xfrm>
            <a:off x="3717646" y="3991966"/>
            <a:ext cx="245669" cy="245669"/>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29" name="magnesium ion: electron, shell 1"/>
          <p:cNvSpPr/>
          <p:nvPr/>
        </p:nvSpPr>
        <p:spPr>
          <a:xfrm>
            <a:off x="3810762" y="3894887"/>
            <a:ext cx="59436" cy="59436"/>
          </a:xfrm>
          <a:prstGeom prst="ellipse">
            <a:avLst/>
          </a:prstGeom>
          <a:solidFill>
            <a:schemeClr val="accent1"/>
          </a:solidFill>
          <a:ln w="3175">
            <a:solidFill>
              <a:schemeClr val="accent1"/>
            </a:solidFill>
            <a:prstDash val="solid"/>
          </a:ln>
        </p:spPr>
      </p:sp>
      <p:sp>
        <p:nvSpPr>
          <p:cNvPr id="30" name="magnesium ion: electron, shell 1"/>
          <p:cNvSpPr/>
          <p:nvPr/>
        </p:nvSpPr>
        <p:spPr>
          <a:xfrm>
            <a:off x="4000957" y="4085082"/>
            <a:ext cx="59436" cy="59436"/>
          </a:xfrm>
          <a:prstGeom prst="ellipse">
            <a:avLst/>
          </a:prstGeom>
          <a:solidFill>
            <a:schemeClr val="accent1"/>
          </a:solidFill>
          <a:ln w="3175">
            <a:solidFill>
              <a:schemeClr val="accent1"/>
            </a:solidFill>
            <a:prstDash val="solid"/>
          </a:ln>
        </p:spPr>
      </p:sp>
      <p:sp>
        <p:nvSpPr>
          <p:cNvPr id="31" name="magnesium ion: electron, shell 2"/>
          <p:cNvSpPr/>
          <p:nvPr/>
        </p:nvSpPr>
        <p:spPr>
          <a:xfrm>
            <a:off x="3770854" y="3778602"/>
            <a:ext cx="59436" cy="59436"/>
          </a:xfrm>
          <a:prstGeom prst="ellipse">
            <a:avLst/>
          </a:prstGeom>
          <a:solidFill>
            <a:schemeClr val="accent1"/>
          </a:solidFill>
          <a:ln w="3175">
            <a:solidFill>
              <a:schemeClr val="accent1"/>
            </a:solidFill>
            <a:prstDash val="solid"/>
          </a:ln>
        </p:spPr>
      </p:sp>
      <p:sp>
        <p:nvSpPr>
          <p:cNvPr id="32" name="magnesium ion: electron, shell 2"/>
          <p:cNvSpPr/>
          <p:nvPr/>
        </p:nvSpPr>
        <p:spPr>
          <a:xfrm>
            <a:off x="3850670" y="3778602"/>
            <a:ext cx="59436" cy="59436"/>
          </a:xfrm>
          <a:prstGeom prst="ellipse">
            <a:avLst/>
          </a:prstGeom>
          <a:solidFill>
            <a:schemeClr val="accent1"/>
          </a:solidFill>
          <a:ln w="3175">
            <a:solidFill>
              <a:schemeClr val="accent1"/>
            </a:solidFill>
            <a:prstDash val="solid"/>
          </a:ln>
        </p:spPr>
      </p:sp>
      <p:sp>
        <p:nvSpPr>
          <p:cNvPr id="33" name="magnesium ion: electron, shell 2"/>
          <p:cNvSpPr/>
          <p:nvPr/>
        </p:nvSpPr>
        <p:spPr>
          <a:xfrm>
            <a:off x="4117242" y="4045174"/>
            <a:ext cx="59436" cy="59436"/>
          </a:xfrm>
          <a:prstGeom prst="ellipse">
            <a:avLst/>
          </a:prstGeom>
          <a:solidFill>
            <a:schemeClr val="accent1"/>
          </a:solidFill>
          <a:ln w="3175">
            <a:solidFill>
              <a:schemeClr val="accent1"/>
            </a:solidFill>
            <a:prstDash val="solid"/>
          </a:ln>
        </p:spPr>
      </p:sp>
      <p:sp>
        <p:nvSpPr>
          <p:cNvPr id="34" name="magnesium ion: electron, shell 2"/>
          <p:cNvSpPr/>
          <p:nvPr/>
        </p:nvSpPr>
        <p:spPr>
          <a:xfrm>
            <a:off x="4117242" y="4124990"/>
            <a:ext cx="59436" cy="59436"/>
          </a:xfrm>
          <a:prstGeom prst="ellipse">
            <a:avLst/>
          </a:prstGeom>
          <a:solidFill>
            <a:schemeClr val="accent1"/>
          </a:solidFill>
          <a:ln w="3175">
            <a:solidFill>
              <a:schemeClr val="accent1"/>
            </a:solidFill>
            <a:prstDash val="solid"/>
          </a:ln>
        </p:spPr>
      </p:sp>
      <p:sp>
        <p:nvSpPr>
          <p:cNvPr id="35" name="magnesium ion: electron, shell 2"/>
          <p:cNvSpPr/>
          <p:nvPr/>
        </p:nvSpPr>
        <p:spPr>
          <a:xfrm>
            <a:off x="3850670" y="4391562"/>
            <a:ext cx="59436" cy="59436"/>
          </a:xfrm>
          <a:prstGeom prst="ellipse">
            <a:avLst/>
          </a:prstGeom>
          <a:solidFill>
            <a:schemeClr val="accent1"/>
          </a:solidFill>
          <a:ln w="3175">
            <a:solidFill>
              <a:schemeClr val="accent1"/>
            </a:solidFill>
            <a:prstDash val="solid"/>
          </a:ln>
        </p:spPr>
      </p:sp>
      <p:sp>
        <p:nvSpPr>
          <p:cNvPr id="36" name="magnesium ion: electron, shell 2"/>
          <p:cNvSpPr/>
          <p:nvPr/>
        </p:nvSpPr>
        <p:spPr>
          <a:xfrm>
            <a:off x="3770854" y="4391562"/>
            <a:ext cx="59436" cy="59436"/>
          </a:xfrm>
          <a:prstGeom prst="ellipse">
            <a:avLst/>
          </a:prstGeom>
          <a:solidFill>
            <a:schemeClr val="accent1"/>
          </a:solidFill>
          <a:ln w="3175">
            <a:solidFill>
              <a:schemeClr val="accent1"/>
            </a:solidFill>
            <a:prstDash val="solid"/>
          </a:ln>
        </p:spPr>
      </p:sp>
      <p:sp>
        <p:nvSpPr>
          <p:cNvPr id="37" name="magnesium ion: electron, shell 2"/>
          <p:cNvSpPr/>
          <p:nvPr/>
        </p:nvSpPr>
        <p:spPr>
          <a:xfrm>
            <a:off x="3504282" y="4124990"/>
            <a:ext cx="59436" cy="59436"/>
          </a:xfrm>
          <a:prstGeom prst="ellipse">
            <a:avLst/>
          </a:prstGeom>
          <a:solidFill>
            <a:schemeClr val="accent1"/>
          </a:solidFill>
          <a:ln w="3175">
            <a:solidFill>
              <a:schemeClr val="accent1"/>
            </a:solidFill>
            <a:prstDash val="solid"/>
          </a:ln>
        </p:spPr>
      </p:sp>
      <p:sp>
        <p:nvSpPr>
          <p:cNvPr id="38" name="magnesium ion: electron, shell 2"/>
          <p:cNvSpPr/>
          <p:nvPr/>
        </p:nvSpPr>
        <p:spPr>
          <a:xfrm>
            <a:off x="3504282" y="4045174"/>
            <a:ext cx="59436" cy="59436"/>
          </a:xfrm>
          <a:prstGeom prst="ellipse">
            <a:avLst/>
          </a:prstGeom>
          <a:solidFill>
            <a:schemeClr val="accent1"/>
          </a:solidFill>
          <a:ln w="3175">
            <a:solidFill>
              <a:schemeClr val="accent1"/>
            </a:solidFill>
            <a:prstDash val="solid"/>
          </a:ln>
        </p:spPr>
      </p:sp>
      <p:sp>
        <p:nvSpPr>
          <p:cNvPr id="39" name="magnesium ion: left bracket"/>
          <p:cNvSpPr/>
          <p:nvPr/>
        </p:nvSpPr>
        <p:spPr>
          <a:xfrm>
            <a:off x="3468014" y="3742334"/>
            <a:ext cx="73152" cy="744931"/>
          </a:xfrm>
          <a:prstGeom prst="leftBracket">
            <a:avLst/>
          </a:prstGeom>
          <a:noFill/>
          <a:ln w="19050">
            <a:solidFill>
              <a:schemeClr val="bg1"/>
            </a:solidFill>
            <a:prstDash val="solid"/>
          </a:ln>
        </p:spPr>
      </p:sp>
      <p:sp>
        <p:nvSpPr>
          <p:cNvPr id="40" name="magnesium ion: right bracket"/>
          <p:cNvSpPr/>
          <p:nvPr/>
        </p:nvSpPr>
        <p:spPr>
          <a:xfrm>
            <a:off x="4139794" y="3742334"/>
            <a:ext cx="73152" cy="744931"/>
          </a:xfrm>
          <a:prstGeom prst="rightBracket">
            <a:avLst/>
          </a:prstGeom>
          <a:noFill/>
          <a:ln w="19050">
            <a:solidFill>
              <a:schemeClr val="bg1"/>
            </a:solidFill>
            <a:prstDash val="solid"/>
          </a:ln>
        </p:spPr>
      </p:sp>
      <p:sp>
        <p:nvSpPr>
          <p:cNvPr id="41" name="magnesium ion: charge"/>
          <p:cNvSpPr txBox="1"/>
          <p:nvPr/>
        </p:nvSpPr>
        <p:spPr>
          <a:xfrm>
            <a:off x="4231234" y="3658514"/>
            <a:ext cx="243840" cy="182880"/>
          </a:xfrm>
          <a:prstGeom prst="rect">
            <a:avLst/>
          </a:prstGeom>
          <a:noFill/>
          <a:ln/>
        </p:spPr>
        <p:txBody>
          <a:bodyPr wrap="square" lIns="0" tIns="0" rIns="0" bIns="0" rtlCol="0" anchor="t"/>
          <a:lstStyle/>
          <a:p>
            <a:pPr indent="0" marL="0">
              <a:buNone/>
            </a:pPr>
            <a:r>
              <a:rPr lang="en-US" sz="1200" b="1" dirty="0">
                <a:solidFill>
                  <a:schemeClr val="bg1"/>
                </a:solidFill>
              </a:rPr>
              <a:t>2+</a:t>
            </a:r>
            <a:endParaRPr lang="en-US" sz="1200" dirty="0"/>
          </a:p>
        </p:txBody>
      </p:sp>
      <p:sp>
        <p:nvSpPr>
          <p:cNvPr id="42" name="Text 40"/>
          <p:cNvSpPr txBox="1"/>
          <p:nvPr/>
        </p:nvSpPr>
        <p:spPr>
          <a:xfrm>
            <a:off x="4754880" y="3931920"/>
            <a:ext cx="3931920" cy="411480"/>
          </a:xfrm>
          <a:prstGeom prst="rect">
            <a:avLst/>
          </a:prstGeom>
          <a:noFill/>
          <a:ln/>
        </p:spPr>
        <p:txBody>
          <a:bodyPr wrap="square" lIns="0" tIns="0" rIns="0" bIns="0" rtlCol="0" anchor="ctr"/>
          <a:lstStyle/>
          <a:p>
            <a:pPr indent="0" marL="0">
              <a:buNone/>
            </a:pPr>
            <a:r>
              <a:rPr lang="en-US" sz="1300" dirty="0">
                <a:solidFill>
                  <a:schemeClr val="bg2"/>
                </a:solidFill>
              </a:rPr>
              <a:t>Magnesium loses its 2 valence electrons (yellow) and becomes Mg²⁺.</a:t>
            </a:r>
            <a:endParaRPr lang="en-US" sz="13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8229600" cy="566928"/>
          </a:xfrm>
          <a:prstGeom prst="rect">
            <a:avLst/>
          </a:prstGeom>
          <a:noFill/>
          <a:ln/>
        </p:spPr>
        <p:txBody>
          <a:bodyPr wrap="square" lIns="0" tIns="0" rIns="0" bIns="0" rtlCol="0" anchor="ctr"/>
          <a:lstStyle/>
          <a:p>
            <a:pPr algn="l" indent="0" marL="0">
              <a:buNone/>
            </a:pPr>
            <a:r>
              <a:rPr lang="en-US" sz="3000" b="1" dirty="0">
                <a:solidFill>
                  <a:schemeClr val="bg1"/>
                </a:solidFill>
              </a:rPr>
              <a:t>Before you start</a:t>
            </a:r>
            <a:endParaRPr lang="en-US" sz="3000" dirty="0"/>
          </a:p>
        </p:txBody>
      </p:sp>
      <p:sp>
        <p:nvSpPr>
          <p:cNvPr id="3" name="Text 1"/>
          <p:cNvSpPr txBox="1"/>
          <p:nvPr/>
        </p:nvSpPr>
        <p:spPr>
          <a:xfrm>
            <a:off x="457200" y="1097280"/>
            <a:ext cx="8229600" cy="457200"/>
          </a:xfrm>
          <a:prstGeom prst="rect">
            <a:avLst/>
          </a:prstGeom>
          <a:noFill/>
          <a:ln/>
        </p:spPr>
        <p:txBody>
          <a:bodyPr wrap="square" lIns="0" tIns="0" rIns="0" bIns="0" rtlCol="0" anchor="t"/>
          <a:lstStyle/>
          <a:p>
            <a:pPr indent="0" marL="0">
              <a:buNone/>
            </a:pPr>
            <a:r>
              <a:rPr lang="en-US" sz="1400" dirty="0">
                <a:solidFill>
                  <a:schemeClr val="bg2"/>
                </a:solidFill>
              </a:rPr>
              <a:t>Open the lesson: From Atoms To Ecosystems → Chemistry → Unit 2 → Self-Taught Lessons → Ions and the Octet Rule</a:t>
            </a:r>
            <a:endParaRPr lang="en-US" sz="1400" dirty="0"/>
          </a:p>
        </p:txBody>
      </p:sp>
      <p:sp>
        <p:nvSpPr>
          <p:cNvPr id="4" name="Sign-in card"/>
          <p:cNvSpPr/>
          <p:nvPr/>
        </p:nvSpPr>
        <p:spPr>
          <a:xfrm>
            <a:off x="457200" y="1691640"/>
            <a:ext cx="3977640" cy="2834640"/>
          </a:xfrm>
          <a:prstGeom prst="roundRect">
            <a:avLst>
              <a:gd name="adj" fmla="val 3226"/>
            </a:avLst>
          </a:prstGeom>
          <a:solidFill>
            <a:schemeClr val="tx2"/>
          </a:solidFill>
          <a:ln w="9525">
            <a:solidFill>
              <a:schemeClr val="bg2">
                <a:alpha val="30000"/>
              </a:schemeClr>
            </a:solidFill>
            <a:prstDash val="solid"/>
          </a:ln>
        </p:spPr>
      </p:sp>
      <p:sp>
        <p:nvSpPr>
          <p:cNvPr id="5" name="Text 3"/>
          <p:cNvSpPr txBox="1"/>
          <p:nvPr/>
        </p:nvSpPr>
        <p:spPr>
          <a:xfrm>
            <a:off x="685800" y="1828800"/>
            <a:ext cx="3566160" cy="274320"/>
          </a:xfrm>
          <a:prstGeom prst="rect">
            <a:avLst/>
          </a:prstGeom>
          <a:noFill/>
          <a:ln/>
        </p:spPr>
        <p:txBody>
          <a:bodyPr wrap="square" lIns="0" tIns="0" rIns="0" bIns="0" rtlCol="0" anchor="t"/>
          <a:lstStyle/>
          <a:p>
            <a:pPr indent="0" marL="0">
              <a:buNone/>
            </a:pPr>
            <a:r>
              <a:rPr lang="en-US" sz="1400" b="1" dirty="0">
                <a:solidFill>
                  <a:schemeClr val="accent1"/>
                </a:solidFill>
              </a:rPr>
              <a:t>Fill in your information</a:t>
            </a:r>
            <a:endParaRPr lang="en-US" sz="1400" dirty="0"/>
          </a:p>
        </p:txBody>
      </p:sp>
      <p:sp>
        <p:nvSpPr>
          <p:cNvPr id="6" name="Text 4"/>
          <p:cNvSpPr txBox="1"/>
          <p:nvPr/>
        </p:nvSpPr>
        <p:spPr>
          <a:xfrm>
            <a:off x="685800" y="2212848"/>
            <a:ext cx="1371600" cy="347472"/>
          </a:xfrm>
          <a:prstGeom prst="rect">
            <a:avLst/>
          </a:prstGeom>
          <a:noFill/>
          <a:ln/>
        </p:spPr>
        <p:txBody>
          <a:bodyPr wrap="square" lIns="0" tIns="0" rIns="0" bIns="0" rtlCol="0" anchor="ctr"/>
          <a:lstStyle/>
          <a:p>
            <a:pPr indent="0" marL="0">
              <a:buNone/>
            </a:pPr>
            <a:r>
              <a:rPr lang="en-US" sz="1300" dirty="0">
                <a:solidFill>
                  <a:schemeClr val="bg1"/>
                </a:solidFill>
              </a:rPr>
              <a:t>First name</a:t>
            </a:r>
            <a:endParaRPr lang="en-US" sz="1300" dirty="0"/>
          </a:p>
        </p:txBody>
      </p:sp>
      <p:sp>
        <p:nvSpPr>
          <p:cNvPr id="7" name="First name box"/>
          <p:cNvSpPr/>
          <p:nvPr/>
        </p:nvSpPr>
        <p:spPr>
          <a:xfrm>
            <a:off x="2103120" y="2240280"/>
            <a:ext cx="2103120" cy="292608"/>
          </a:xfrm>
          <a:prstGeom prst="roundRect">
            <a:avLst>
              <a:gd name="adj" fmla="val 18750"/>
            </a:avLst>
          </a:prstGeom>
          <a:solidFill>
            <a:schemeClr val="tx1"/>
          </a:solidFill>
          <a:ln w="9525">
            <a:solidFill>
              <a:schemeClr val="bg2">
                <a:alpha val="60000"/>
              </a:schemeClr>
            </a:solidFill>
            <a:prstDash val="solid"/>
          </a:ln>
        </p:spPr>
      </p:sp>
      <p:sp>
        <p:nvSpPr>
          <p:cNvPr id="8" name="Text 6"/>
          <p:cNvSpPr txBox="1"/>
          <p:nvPr/>
        </p:nvSpPr>
        <p:spPr>
          <a:xfrm>
            <a:off x="685800" y="2651760"/>
            <a:ext cx="1371600" cy="347472"/>
          </a:xfrm>
          <a:prstGeom prst="rect">
            <a:avLst/>
          </a:prstGeom>
          <a:noFill/>
          <a:ln/>
        </p:spPr>
        <p:txBody>
          <a:bodyPr wrap="square" lIns="0" tIns="0" rIns="0" bIns="0" rtlCol="0" anchor="ctr"/>
          <a:lstStyle/>
          <a:p>
            <a:pPr indent="0" marL="0">
              <a:buNone/>
            </a:pPr>
            <a:r>
              <a:rPr lang="en-US" sz="1300" dirty="0">
                <a:solidFill>
                  <a:schemeClr val="bg1"/>
                </a:solidFill>
              </a:rPr>
              <a:t>Last name</a:t>
            </a:r>
            <a:endParaRPr lang="en-US" sz="1300" dirty="0"/>
          </a:p>
        </p:txBody>
      </p:sp>
      <p:sp>
        <p:nvSpPr>
          <p:cNvPr id="9" name="Last name box"/>
          <p:cNvSpPr/>
          <p:nvPr/>
        </p:nvSpPr>
        <p:spPr>
          <a:xfrm>
            <a:off x="2103120" y="2679192"/>
            <a:ext cx="2103120" cy="292608"/>
          </a:xfrm>
          <a:prstGeom prst="roundRect">
            <a:avLst>
              <a:gd name="adj" fmla="val 18750"/>
            </a:avLst>
          </a:prstGeom>
          <a:solidFill>
            <a:schemeClr val="tx1"/>
          </a:solidFill>
          <a:ln w="9525">
            <a:solidFill>
              <a:schemeClr val="bg2">
                <a:alpha val="60000"/>
              </a:schemeClr>
            </a:solidFill>
            <a:prstDash val="solid"/>
          </a:ln>
        </p:spPr>
      </p:sp>
      <p:sp>
        <p:nvSpPr>
          <p:cNvPr id="10" name="Text 8"/>
          <p:cNvSpPr txBox="1"/>
          <p:nvPr/>
        </p:nvSpPr>
        <p:spPr>
          <a:xfrm>
            <a:off x="685800" y="3090672"/>
            <a:ext cx="1371600" cy="347472"/>
          </a:xfrm>
          <a:prstGeom prst="rect">
            <a:avLst/>
          </a:prstGeom>
          <a:noFill/>
          <a:ln/>
        </p:spPr>
        <p:txBody>
          <a:bodyPr wrap="square" lIns="0" tIns="0" rIns="0" bIns="0" rtlCol="0" anchor="ctr"/>
          <a:lstStyle/>
          <a:p>
            <a:pPr indent="0" marL="0">
              <a:buNone/>
            </a:pPr>
            <a:r>
              <a:rPr lang="en-US" sz="1300" dirty="0">
                <a:solidFill>
                  <a:schemeClr val="bg1"/>
                </a:solidFill>
              </a:rPr>
              <a:t>Period</a:t>
            </a:r>
            <a:endParaRPr lang="en-US" sz="1300" dirty="0"/>
          </a:p>
        </p:txBody>
      </p:sp>
      <p:sp>
        <p:nvSpPr>
          <p:cNvPr id="11" name="Period box"/>
          <p:cNvSpPr/>
          <p:nvPr/>
        </p:nvSpPr>
        <p:spPr>
          <a:xfrm>
            <a:off x="2103120" y="3118104"/>
            <a:ext cx="2103120" cy="292608"/>
          </a:xfrm>
          <a:prstGeom prst="roundRect">
            <a:avLst>
              <a:gd name="adj" fmla="val 18750"/>
            </a:avLst>
          </a:prstGeom>
          <a:solidFill>
            <a:schemeClr val="tx1"/>
          </a:solidFill>
          <a:ln w="9525">
            <a:solidFill>
              <a:schemeClr val="bg2">
                <a:alpha val="60000"/>
              </a:schemeClr>
            </a:solidFill>
            <a:prstDash val="solid"/>
          </a:ln>
        </p:spPr>
      </p:sp>
      <p:sp>
        <p:nvSpPr>
          <p:cNvPr id="12" name="Text 10"/>
          <p:cNvSpPr txBox="1"/>
          <p:nvPr/>
        </p:nvSpPr>
        <p:spPr>
          <a:xfrm>
            <a:off x="685800" y="3529584"/>
            <a:ext cx="1371600" cy="347472"/>
          </a:xfrm>
          <a:prstGeom prst="rect">
            <a:avLst/>
          </a:prstGeom>
          <a:noFill/>
          <a:ln/>
        </p:spPr>
        <p:txBody>
          <a:bodyPr wrap="square" lIns="0" tIns="0" rIns="0" bIns="0" rtlCol="0" anchor="ctr"/>
          <a:lstStyle/>
          <a:p>
            <a:pPr indent="0" marL="0">
              <a:buNone/>
            </a:pPr>
            <a:r>
              <a:rPr lang="en-US" sz="1300" dirty="0">
                <a:solidFill>
                  <a:schemeClr val="bg1"/>
                </a:solidFill>
              </a:rPr>
              <a:t>Teacher's name</a:t>
            </a:r>
            <a:endParaRPr lang="en-US" sz="1300" dirty="0"/>
          </a:p>
        </p:txBody>
      </p:sp>
      <p:sp>
        <p:nvSpPr>
          <p:cNvPr id="13" name="Teacher's name box"/>
          <p:cNvSpPr/>
          <p:nvPr/>
        </p:nvSpPr>
        <p:spPr>
          <a:xfrm>
            <a:off x="2103120" y="3557016"/>
            <a:ext cx="2103120" cy="292608"/>
          </a:xfrm>
          <a:prstGeom prst="roundRect">
            <a:avLst>
              <a:gd name="adj" fmla="val 18750"/>
            </a:avLst>
          </a:prstGeom>
          <a:solidFill>
            <a:schemeClr val="tx1"/>
          </a:solidFill>
          <a:ln w="9525">
            <a:solidFill>
              <a:schemeClr val="bg2">
                <a:alpha val="60000"/>
              </a:schemeClr>
            </a:solidFill>
            <a:prstDash val="solid"/>
          </a:ln>
        </p:spPr>
      </p:sp>
      <p:sp>
        <p:nvSpPr>
          <p:cNvPr id="14" name="Text 12"/>
          <p:cNvSpPr txBox="1"/>
          <p:nvPr/>
        </p:nvSpPr>
        <p:spPr>
          <a:xfrm>
            <a:off x="2194560" y="3557016"/>
            <a:ext cx="1965960" cy="292608"/>
          </a:xfrm>
          <a:prstGeom prst="rect">
            <a:avLst/>
          </a:prstGeom>
          <a:noFill/>
          <a:ln/>
        </p:spPr>
        <p:txBody>
          <a:bodyPr wrap="square" lIns="0" tIns="0" rIns="0" bIns="0" rtlCol="0" anchor="ctr"/>
          <a:lstStyle/>
          <a:p>
            <a:pPr indent="0" marL="0">
              <a:buNone/>
            </a:pPr>
            <a:r>
              <a:rPr lang="en-US" sz="1100" dirty="0">
                <a:solidFill>
                  <a:schemeClr val="bg2"/>
                </a:solidFill>
              </a:rPr>
              <a:t>Choose from the list  ▾</a:t>
            </a:r>
            <a:endParaRPr lang="en-US" sz="1100" dirty="0"/>
          </a:p>
        </p:txBody>
      </p:sp>
      <p:sp>
        <p:nvSpPr>
          <p:cNvPr id="15" name="Text 13"/>
          <p:cNvSpPr txBox="1"/>
          <p:nvPr/>
        </p:nvSpPr>
        <p:spPr>
          <a:xfrm>
            <a:off x="685800" y="3968496"/>
            <a:ext cx="1371600" cy="347472"/>
          </a:xfrm>
          <a:prstGeom prst="rect">
            <a:avLst/>
          </a:prstGeom>
          <a:noFill/>
          <a:ln/>
        </p:spPr>
        <p:txBody>
          <a:bodyPr wrap="square" lIns="0" tIns="0" rIns="0" bIns="0" rtlCol="0" anchor="ctr"/>
          <a:lstStyle/>
          <a:p>
            <a:pPr indent="0" marL="0">
              <a:buNone/>
            </a:pPr>
            <a:r>
              <a:rPr lang="en-US" sz="1300" dirty="0">
                <a:solidFill>
                  <a:schemeClr val="bg1"/>
                </a:solidFill>
              </a:rPr>
              <a:t>Student ID</a:t>
            </a:r>
            <a:endParaRPr lang="en-US" sz="1300" dirty="0"/>
          </a:p>
        </p:txBody>
      </p:sp>
      <p:sp>
        <p:nvSpPr>
          <p:cNvPr id="16" name="Student ID box"/>
          <p:cNvSpPr/>
          <p:nvPr/>
        </p:nvSpPr>
        <p:spPr>
          <a:xfrm>
            <a:off x="2103120" y="3995928"/>
            <a:ext cx="2103120" cy="292608"/>
          </a:xfrm>
          <a:prstGeom prst="roundRect">
            <a:avLst>
              <a:gd name="adj" fmla="val 18750"/>
            </a:avLst>
          </a:prstGeom>
          <a:solidFill>
            <a:schemeClr val="tx1"/>
          </a:solidFill>
          <a:ln w="9525">
            <a:solidFill>
              <a:schemeClr val="bg2">
                <a:alpha val="60000"/>
              </a:schemeClr>
            </a:solidFill>
            <a:prstDash val="solid"/>
          </a:ln>
        </p:spPr>
      </p:sp>
      <p:sp>
        <p:nvSpPr>
          <p:cNvPr id="17" name="Goals card"/>
          <p:cNvSpPr/>
          <p:nvPr/>
        </p:nvSpPr>
        <p:spPr>
          <a:xfrm>
            <a:off x="4709160" y="1691640"/>
            <a:ext cx="3977640" cy="2834640"/>
          </a:xfrm>
          <a:prstGeom prst="roundRect">
            <a:avLst>
              <a:gd name="adj" fmla="val 3226"/>
            </a:avLst>
          </a:prstGeom>
          <a:solidFill>
            <a:schemeClr val="tx2"/>
          </a:solidFill>
          <a:ln w="9525">
            <a:solidFill>
              <a:schemeClr val="bg2">
                <a:alpha val="30000"/>
              </a:schemeClr>
            </a:solidFill>
            <a:prstDash val="solid"/>
          </a:ln>
        </p:spPr>
      </p:sp>
      <p:sp>
        <p:nvSpPr>
          <p:cNvPr id="18" name="Text 16"/>
          <p:cNvSpPr txBox="1"/>
          <p:nvPr/>
        </p:nvSpPr>
        <p:spPr>
          <a:xfrm>
            <a:off x="4937760" y="1828800"/>
            <a:ext cx="3566160" cy="274320"/>
          </a:xfrm>
          <a:prstGeom prst="rect">
            <a:avLst/>
          </a:prstGeom>
          <a:noFill/>
          <a:ln/>
        </p:spPr>
        <p:txBody>
          <a:bodyPr wrap="square" lIns="0" tIns="0" rIns="0" bIns="0" rtlCol="0" anchor="t"/>
          <a:lstStyle/>
          <a:p>
            <a:pPr indent="0" marL="0">
              <a:buNone/>
            </a:pPr>
            <a:r>
              <a:rPr lang="en-US" sz="1400" b="1" dirty="0">
                <a:solidFill>
                  <a:schemeClr val="accent4"/>
                </a:solidFill>
              </a:rPr>
              <a:t>Your goals</a:t>
            </a:r>
            <a:endParaRPr lang="en-US" sz="1400" dirty="0"/>
          </a:p>
        </p:txBody>
      </p:sp>
      <p:sp>
        <p:nvSpPr>
          <p:cNvPr id="19" name="Text 17"/>
          <p:cNvSpPr/>
          <p:nvPr/>
        </p:nvSpPr>
        <p:spPr>
          <a:xfrm>
            <a:off x="4937760" y="2231136"/>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0" name="Text 18"/>
          <p:cNvSpPr txBox="1"/>
          <p:nvPr/>
        </p:nvSpPr>
        <p:spPr>
          <a:xfrm>
            <a:off x="5321808" y="2194560"/>
            <a:ext cx="3246120" cy="365760"/>
          </a:xfrm>
          <a:prstGeom prst="rect">
            <a:avLst/>
          </a:prstGeom>
          <a:noFill/>
          <a:ln/>
        </p:spPr>
        <p:txBody>
          <a:bodyPr wrap="square" lIns="0" tIns="0" rIns="0" bIns="0" rtlCol="0" anchor="ctr"/>
          <a:lstStyle/>
          <a:p>
            <a:pPr indent="0" marL="0">
              <a:buNone/>
            </a:pPr>
            <a:r>
              <a:rPr lang="en-US" sz="1200" dirty="0">
                <a:solidFill>
                  <a:schemeClr val="bg1"/>
                </a:solidFill>
              </a:rPr>
              <a:t>Use the octet rule to explain why atoms form ions</a:t>
            </a:r>
            <a:endParaRPr lang="en-US" sz="1200" dirty="0"/>
          </a:p>
        </p:txBody>
      </p:sp>
      <p:sp>
        <p:nvSpPr>
          <p:cNvPr id="21" name="Text 19"/>
          <p:cNvSpPr/>
          <p:nvPr/>
        </p:nvSpPr>
        <p:spPr>
          <a:xfrm>
            <a:off x="4937760" y="2615184"/>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2" name="Text 20"/>
          <p:cNvSpPr txBox="1"/>
          <p:nvPr/>
        </p:nvSpPr>
        <p:spPr>
          <a:xfrm>
            <a:off x="5321808" y="2578608"/>
            <a:ext cx="3246120" cy="365760"/>
          </a:xfrm>
          <a:prstGeom prst="rect">
            <a:avLst/>
          </a:prstGeom>
          <a:noFill/>
          <a:ln/>
        </p:spPr>
        <p:txBody>
          <a:bodyPr wrap="square" lIns="0" tIns="0" rIns="0" bIns="0" rtlCol="0" anchor="ctr"/>
          <a:lstStyle/>
          <a:p>
            <a:pPr indent="0" marL="0">
              <a:buNone/>
            </a:pPr>
            <a:r>
              <a:rPr lang="en-US" sz="1200" dirty="0">
                <a:solidFill>
                  <a:schemeClr val="bg1"/>
                </a:solidFill>
              </a:rPr>
              <a:t>Find an ion's charge from its protons and electrons</a:t>
            </a:r>
            <a:endParaRPr lang="en-US" sz="1200" dirty="0"/>
          </a:p>
        </p:txBody>
      </p:sp>
      <p:sp>
        <p:nvSpPr>
          <p:cNvPr id="23" name="Text 21"/>
          <p:cNvSpPr/>
          <p:nvPr/>
        </p:nvSpPr>
        <p:spPr>
          <a:xfrm>
            <a:off x="4937760" y="2999232"/>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4" name="Text 22"/>
          <p:cNvSpPr txBox="1"/>
          <p:nvPr/>
        </p:nvSpPr>
        <p:spPr>
          <a:xfrm>
            <a:off x="5321808" y="2962656"/>
            <a:ext cx="3246120" cy="365760"/>
          </a:xfrm>
          <a:prstGeom prst="rect">
            <a:avLst/>
          </a:prstGeom>
          <a:noFill/>
          <a:ln/>
        </p:spPr>
        <p:txBody>
          <a:bodyPr wrap="square" lIns="0" tIns="0" rIns="0" bIns="0" rtlCol="0" anchor="ctr"/>
          <a:lstStyle/>
          <a:p>
            <a:pPr indent="0" marL="0">
              <a:buNone/>
            </a:pPr>
            <a:r>
              <a:rPr lang="en-US" sz="1200" dirty="0">
                <a:solidFill>
                  <a:schemeClr val="bg1"/>
                </a:solidFill>
              </a:rPr>
              <a:t>Predict whether an atom loses or gains electrons</a:t>
            </a:r>
            <a:endParaRPr lang="en-US" sz="1200" dirty="0"/>
          </a:p>
        </p:txBody>
      </p:sp>
      <p:sp>
        <p:nvSpPr>
          <p:cNvPr id="25" name="Text 23"/>
          <p:cNvSpPr/>
          <p:nvPr/>
        </p:nvSpPr>
        <p:spPr>
          <a:xfrm>
            <a:off x="4937760" y="3383280"/>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6" name="Text 24"/>
          <p:cNvSpPr txBox="1"/>
          <p:nvPr/>
        </p:nvSpPr>
        <p:spPr>
          <a:xfrm>
            <a:off x="5321808" y="3346704"/>
            <a:ext cx="3246120" cy="365760"/>
          </a:xfrm>
          <a:prstGeom prst="rect">
            <a:avLst/>
          </a:prstGeom>
          <a:noFill/>
          <a:ln/>
        </p:spPr>
        <p:txBody>
          <a:bodyPr wrap="square" lIns="0" tIns="0" rIns="0" bIns="0" rtlCol="0" anchor="ctr"/>
          <a:lstStyle/>
          <a:p>
            <a:pPr indent="0" marL="0">
              <a:buNone/>
            </a:pPr>
            <a:r>
              <a:rPr lang="en-US" sz="1200" dirty="0">
                <a:solidFill>
                  <a:schemeClr val="bg1"/>
                </a:solidFill>
              </a:rPr>
              <a:t>Predict ion charges from the periodic table</a:t>
            </a:r>
            <a:endParaRPr lang="en-US" sz="1200" dirty="0"/>
          </a:p>
        </p:txBody>
      </p:sp>
      <p:sp>
        <p:nvSpPr>
          <p:cNvPr id="27" name="Text 25"/>
          <p:cNvSpPr/>
          <p:nvPr/>
        </p:nvSpPr>
        <p:spPr>
          <a:xfrm>
            <a:off x="4937760" y="3767328"/>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8" name="Text 26"/>
          <p:cNvSpPr txBox="1"/>
          <p:nvPr/>
        </p:nvSpPr>
        <p:spPr>
          <a:xfrm>
            <a:off x="5321808" y="3730752"/>
            <a:ext cx="3246120" cy="365760"/>
          </a:xfrm>
          <a:prstGeom prst="rect">
            <a:avLst/>
          </a:prstGeom>
          <a:noFill/>
          <a:ln/>
        </p:spPr>
        <p:txBody>
          <a:bodyPr wrap="square" lIns="0" tIns="0" rIns="0" bIns="0" rtlCol="0" anchor="ctr"/>
          <a:lstStyle/>
          <a:p>
            <a:pPr indent="0" marL="0">
              <a:buNone/>
            </a:pPr>
            <a:r>
              <a:rPr lang="en-US" sz="1200" dirty="0">
                <a:solidFill>
                  <a:schemeClr val="bg1"/>
                </a:solidFill>
              </a:rPr>
              <a:t>Write, name, and draw Bohr models of ions</a:t>
            </a:r>
            <a:endParaRPr lang="en-US" sz="1200" dirty="0"/>
          </a:p>
        </p:txBody>
      </p:sp>
      <p:sp>
        <p:nvSpPr>
          <p:cNvPr id="29" name="Text 27"/>
          <p:cNvSpPr/>
          <p:nvPr/>
        </p:nvSpPr>
        <p:spPr>
          <a:xfrm>
            <a:off x="4937760" y="4151376"/>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30" name="Text 28"/>
          <p:cNvSpPr txBox="1"/>
          <p:nvPr/>
        </p:nvSpPr>
        <p:spPr>
          <a:xfrm>
            <a:off x="5321808" y="4114800"/>
            <a:ext cx="3246120" cy="365760"/>
          </a:xfrm>
          <a:prstGeom prst="rect">
            <a:avLst/>
          </a:prstGeom>
          <a:noFill/>
          <a:ln/>
        </p:spPr>
        <p:txBody>
          <a:bodyPr wrap="square" lIns="0" tIns="0" rIns="0" bIns="0" rtlCol="0" anchor="ctr"/>
          <a:lstStyle/>
          <a:p>
            <a:pPr indent="0" marL="0">
              <a:buNone/>
            </a:pPr>
            <a:r>
              <a:rPr lang="en-US" sz="1200" dirty="0">
                <a:solidFill>
                  <a:schemeClr val="bg1"/>
                </a:solidFill>
              </a:rPr>
              <a:t>Combine ions so their charges balance</a:t>
            </a:r>
            <a:endParaRPr lang="en-US" sz="1200" dirty="0"/>
          </a:p>
        </p:txBody>
      </p:sp>
      <p:sp>
        <p:nvSpPr>
          <p:cNvPr id="31" name="Text 29"/>
          <p:cNvSpPr/>
          <p:nvPr/>
        </p:nvSpPr>
        <p:spPr>
          <a:xfrm>
            <a:off x="4937760" y="4535424"/>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32" name="Text 30"/>
          <p:cNvSpPr txBox="1"/>
          <p:nvPr/>
        </p:nvSpPr>
        <p:spPr>
          <a:xfrm>
            <a:off x="5321808" y="4498848"/>
            <a:ext cx="3246120" cy="365760"/>
          </a:xfrm>
          <a:prstGeom prst="rect">
            <a:avLst/>
          </a:prstGeom>
          <a:noFill/>
          <a:ln/>
        </p:spPr>
        <p:txBody>
          <a:bodyPr wrap="square" lIns="0" tIns="0" rIns="0" bIns="0" rtlCol="0" anchor="ctr"/>
          <a:lstStyle/>
          <a:p>
            <a:pPr indent="0" marL="0">
              <a:buNone/>
            </a:pPr>
            <a:r>
              <a:rPr lang="en-US" sz="1200" dirty="0">
                <a:solidFill>
                  <a:schemeClr val="bg1"/>
                </a:solidFill>
              </a:rPr>
              <a:t>Pass the final check (8 out of 10)</a:t>
            </a:r>
            <a:endParaRPr lang="en-US" sz="12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8229600" cy="566928"/>
          </a:xfrm>
          <a:prstGeom prst="rect">
            <a:avLst/>
          </a:prstGeom>
          <a:noFill/>
          <a:ln/>
        </p:spPr>
        <p:txBody>
          <a:bodyPr wrap="square" lIns="0" tIns="0" rIns="0" bIns="0" rtlCol="0" anchor="ctr"/>
          <a:lstStyle/>
          <a:p>
            <a:pPr algn="l" indent="0" marL="0">
              <a:buNone/>
            </a:pPr>
            <a:r>
              <a:rPr lang="en-US" sz="3000" b="1" dirty="0">
                <a:solidFill>
                  <a:schemeClr val="bg1"/>
                </a:solidFill>
              </a:rPr>
              <a:t>How the lesson works</a:t>
            </a:r>
            <a:endParaRPr lang="en-US" sz="3000" dirty="0"/>
          </a:p>
        </p:txBody>
      </p:sp>
      <p:sp>
        <p:nvSpPr>
          <p:cNvPr id="3" name="Section tile 1"/>
          <p:cNvSpPr/>
          <p:nvPr/>
        </p:nvSpPr>
        <p:spPr>
          <a:xfrm>
            <a:off x="457200" y="1234440"/>
            <a:ext cx="713232" cy="786384"/>
          </a:xfrm>
          <a:prstGeom prst="roundRect">
            <a:avLst>
              <a:gd name="adj" fmla="val 12000"/>
            </a:avLst>
          </a:prstGeom>
          <a:solidFill>
            <a:srgbClr val="F6B93B">
              <a:alpha val="28000"/>
            </a:srgbClr>
          </a:solidFill>
          <a:ln w="19050">
            <a:solidFill>
              <a:srgbClr val="F6B93B"/>
            </a:solidFill>
            <a:prstDash val="solid"/>
          </a:ln>
        </p:spPr>
      </p:sp>
      <p:sp>
        <p:nvSpPr>
          <p:cNvPr id="4" name="Text 2"/>
          <p:cNvSpPr txBox="1"/>
          <p:nvPr/>
        </p:nvSpPr>
        <p:spPr>
          <a:xfrm>
            <a:off x="514259" y="1273759"/>
            <a:ext cx="427939" cy="188732"/>
          </a:xfrm>
          <a:prstGeom prst="rect">
            <a:avLst/>
          </a:prstGeom>
          <a:noFill/>
          <a:ln/>
        </p:spPr>
        <p:txBody>
          <a:bodyPr wrap="square" lIns="0" tIns="0" rIns="0" bIns="0" rtlCol="0" anchor="t"/>
          <a:lstStyle/>
          <a:p>
            <a:pPr indent="0" marL="0">
              <a:buNone/>
            </a:pPr>
            <a:r>
              <a:rPr lang="en-US" sz="1100" dirty="0">
                <a:solidFill>
                  <a:schemeClr val="bg2"/>
                </a:solidFill>
              </a:rPr>
              <a:t>1</a:t>
            </a:r>
            <a:endParaRPr lang="en-US" sz="1100" dirty="0"/>
          </a:p>
        </p:txBody>
      </p:sp>
      <p:sp>
        <p:nvSpPr>
          <p:cNvPr id="5" name="Text 3"/>
          <p:cNvSpPr txBox="1"/>
          <p:nvPr/>
        </p:nvSpPr>
        <p:spPr>
          <a:xfrm>
            <a:off x="411480" y="1360261"/>
            <a:ext cx="804672" cy="629107"/>
          </a:xfrm>
          <a:prstGeom prst="rect">
            <a:avLst/>
          </a:prstGeom>
          <a:noFill/>
          <a:ln/>
        </p:spPr>
        <p:txBody>
          <a:bodyPr wrap="square" lIns="0" tIns="0" rIns="0" bIns="0" rtlCol="0" anchor="ctr"/>
          <a:lstStyle/>
          <a:p>
            <a:pPr algn="ctr" indent="0" marL="0">
              <a:buNone/>
            </a:pPr>
            <a:r>
              <a:rPr lang="en-US" sz="2800" b="1" dirty="0">
                <a:solidFill>
                  <a:schemeClr val="bg1"/>
                </a:solidFill>
              </a:rPr>
              <a:t>Ne</a:t>
            </a:r>
            <a:endParaRPr lang="en-US" sz="2800" dirty="0"/>
          </a:p>
        </p:txBody>
      </p:sp>
      <p:sp>
        <p:nvSpPr>
          <p:cNvPr id="6" name="Text 4"/>
          <p:cNvSpPr txBox="1"/>
          <p:nvPr/>
        </p:nvSpPr>
        <p:spPr>
          <a:xfrm>
            <a:off x="411480" y="2057400"/>
            <a:ext cx="749808" cy="685800"/>
          </a:xfrm>
          <a:prstGeom prst="rect">
            <a:avLst/>
          </a:prstGeom>
          <a:noFill/>
          <a:ln/>
        </p:spPr>
        <p:txBody>
          <a:bodyPr wrap="square" lIns="0" tIns="0" rIns="0" bIns="0" rtlCol="0" anchor="t"/>
          <a:lstStyle/>
          <a:p>
            <a:pPr algn="ctr" indent="0" marL="0">
              <a:buNone/>
            </a:pPr>
            <a:r>
              <a:rPr lang="en-US" sz="1000" dirty="0">
                <a:solidFill>
                  <a:schemeClr val="bg2"/>
                </a:solidFill>
              </a:rPr>
              <a:t>Full outer shells</a:t>
            </a:r>
            <a:endParaRPr lang="en-US" sz="1000" dirty="0"/>
          </a:p>
        </p:txBody>
      </p:sp>
      <p:sp>
        <p:nvSpPr>
          <p:cNvPr id="7" name="Section tile 2"/>
          <p:cNvSpPr/>
          <p:nvPr/>
        </p:nvSpPr>
        <p:spPr>
          <a:xfrm>
            <a:off x="1289304" y="1234440"/>
            <a:ext cx="713232" cy="786384"/>
          </a:xfrm>
          <a:prstGeom prst="roundRect">
            <a:avLst>
              <a:gd name="adj" fmla="val 12000"/>
            </a:avLst>
          </a:prstGeom>
          <a:solidFill>
            <a:srgbClr val="60A5FA">
              <a:alpha val="28000"/>
            </a:srgbClr>
          </a:solidFill>
          <a:ln w="19050">
            <a:solidFill>
              <a:srgbClr val="60A5FA"/>
            </a:solidFill>
            <a:prstDash val="solid"/>
          </a:ln>
        </p:spPr>
      </p:sp>
      <p:sp>
        <p:nvSpPr>
          <p:cNvPr id="8" name="Text 6"/>
          <p:cNvSpPr txBox="1"/>
          <p:nvPr/>
        </p:nvSpPr>
        <p:spPr>
          <a:xfrm>
            <a:off x="1346363" y="1273759"/>
            <a:ext cx="427939" cy="188732"/>
          </a:xfrm>
          <a:prstGeom prst="rect">
            <a:avLst/>
          </a:prstGeom>
          <a:noFill/>
          <a:ln/>
        </p:spPr>
        <p:txBody>
          <a:bodyPr wrap="square" lIns="0" tIns="0" rIns="0" bIns="0" rtlCol="0" anchor="t"/>
          <a:lstStyle/>
          <a:p>
            <a:pPr indent="0" marL="0">
              <a:buNone/>
            </a:pPr>
            <a:r>
              <a:rPr lang="en-US" sz="1100" dirty="0">
                <a:solidFill>
                  <a:schemeClr val="bg2"/>
                </a:solidFill>
              </a:rPr>
              <a:t>2</a:t>
            </a:r>
            <a:endParaRPr lang="en-US" sz="1100" dirty="0"/>
          </a:p>
        </p:txBody>
      </p:sp>
      <p:sp>
        <p:nvSpPr>
          <p:cNvPr id="9" name="Text 7"/>
          <p:cNvSpPr txBox="1"/>
          <p:nvPr/>
        </p:nvSpPr>
        <p:spPr>
          <a:xfrm>
            <a:off x="1243584" y="1360261"/>
            <a:ext cx="804672" cy="629107"/>
          </a:xfrm>
          <a:prstGeom prst="rect">
            <a:avLst/>
          </a:prstGeom>
          <a:noFill/>
          <a:ln/>
        </p:spPr>
        <p:txBody>
          <a:bodyPr wrap="square" lIns="0" tIns="0" rIns="0" bIns="0" rtlCol="0" anchor="ctr"/>
          <a:lstStyle/>
          <a:p>
            <a:pPr algn="ctr" indent="0" marL="0">
              <a:buNone/>
            </a:pPr>
            <a:r>
              <a:rPr lang="en-US" sz="2200" b="1" dirty="0">
                <a:solidFill>
                  <a:schemeClr val="bg1"/>
                </a:solidFill>
              </a:rPr>
              <a:t>Na</a:t>
            </a:r>
            <a:pPr algn="ctr" indent="0" marL="0">
              <a:buNone/>
            </a:pPr>
            <a:r>
              <a:rPr lang="en-US" sz="2200" b="1" baseline="30000" dirty="0">
                <a:solidFill>
                  <a:schemeClr val="bg1"/>
                </a:solidFill>
              </a:rPr>
              <a:t>+</a:t>
            </a:r>
            <a:endParaRPr lang="en-US" sz="2200" dirty="0"/>
          </a:p>
        </p:txBody>
      </p:sp>
      <p:sp>
        <p:nvSpPr>
          <p:cNvPr id="10" name="Text 8"/>
          <p:cNvSpPr txBox="1"/>
          <p:nvPr/>
        </p:nvSpPr>
        <p:spPr>
          <a:xfrm>
            <a:off x="1243584" y="2057400"/>
            <a:ext cx="749808" cy="685800"/>
          </a:xfrm>
          <a:prstGeom prst="rect">
            <a:avLst/>
          </a:prstGeom>
          <a:noFill/>
          <a:ln/>
        </p:spPr>
        <p:txBody>
          <a:bodyPr wrap="square" lIns="0" tIns="0" rIns="0" bIns="0" rtlCol="0" anchor="t"/>
          <a:lstStyle/>
          <a:p>
            <a:pPr algn="ctr" indent="0" marL="0">
              <a:buNone/>
            </a:pPr>
            <a:r>
              <a:rPr lang="en-US" sz="1000" dirty="0">
                <a:solidFill>
                  <a:schemeClr val="bg2"/>
                </a:solidFill>
              </a:rPr>
              <a:t>What is an ion?</a:t>
            </a:r>
            <a:endParaRPr lang="en-US" sz="1000" dirty="0"/>
          </a:p>
        </p:txBody>
      </p:sp>
      <p:sp>
        <p:nvSpPr>
          <p:cNvPr id="11" name="Section tile 3"/>
          <p:cNvSpPr/>
          <p:nvPr/>
        </p:nvSpPr>
        <p:spPr>
          <a:xfrm>
            <a:off x="2121408" y="1234440"/>
            <a:ext cx="713232" cy="786384"/>
          </a:xfrm>
          <a:prstGeom prst="roundRect">
            <a:avLst>
              <a:gd name="adj" fmla="val 12000"/>
            </a:avLst>
          </a:prstGeom>
          <a:solidFill>
            <a:srgbClr val="60A5FA">
              <a:alpha val="28000"/>
            </a:srgbClr>
          </a:solidFill>
          <a:ln w="19050">
            <a:solidFill>
              <a:srgbClr val="60A5FA"/>
            </a:solidFill>
            <a:prstDash val="solid"/>
          </a:ln>
        </p:spPr>
      </p:sp>
      <p:sp>
        <p:nvSpPr>
          <p:cNvPr id="12" name="Text 10"/>
          <p:cNvSpPr txBox="1"/>
          <p:nvPr/>
        </p:nvSpPr>
        <p:spPr>
          <a:xfrm>
            <a:off x="2178467" y="1273759"/>
            <a:ext cx="427939" cy="188732"/>
          </a:xfrm>
          <a:prstGeom prst="rect">
            <a:avLst/>
          </a:prstGeom>
          <a:noFill/>
          <a:ln/>
        </p:spPr>
        <p:txBody>
          <a:bodyPr wrap="square" lIns="0" tIns="0" rIns="0" bIns="0" rtlCol="0" anchor="t"/>
          <a:lstStyle/>
          <a:p>
            <a:pPr indent="0" marL="0">
              <a:buNone/>
            </a:pPr>
            <a:r>
              <a:rPr lang="en-US" sz="1100" dirty="0">
                <a:solidFill>
                  <a:schemeClr val="bg2"/>
                </a:solidFill>
              </a:rPr>
              <a:t>3</a:t>
            </a:r>
            <a:endParaRPr lang="en-US" sz="1100" dirty="0"/>
          </a:p>
        </p:txBody>
      </p:sp>
      <p:sp>
        <p:nvSpPr>
          <p:cNvPr id="13" name="Text 11"/>
          <p:cNvSpPr txBox="1"/>
          <p:nvPr/>
        </p:nvSpPr>
        <p:spPr>
          <a:xfrm>
            <a:off x="2075688" y="1360261"/>
            <a:ext cx="804672" cy="629107"/>
          </a:xfrm>
          <a:prstGeom prst="rect">
            <a:avLst/>
          </a:prstGeom>
          <a:noFill/>
          <a:ln/>
        </p:spPr>
        <p:txBody>
          <a:bodyPr wrap="square" lIns="0" tIns="0" rIns="0" bIns="0" rtlCol="0" anchor="ctr"/>
          <a:lstStyle/>
          <a:p>
            <a:pPr algn="ctr" indent="0" marL="0">
              <a:buNone/>
            </a:pPr>
            <a:r>
              <a:rPr lang="en-US" sz="2200" b="1" dirty="0">
                <a:solidFill>
                  <a:schemeClr val="bg1"/>
                </a:solidFill>
              </a:rPr>
              <a:t>Mg</a:t>
            </a:r>
            <a:pPr algn="ctr" indent="0" marL="0">
              <a:buNone/>
            </a:pPr>
            <a:r>
              <a:rPr lang="en-US" sz="2200" b="1" baseline="30000" dirty="0">
                <a:solidFill>
                  <a:schemeClr val="bg1"/>
                </a:solidFill>
              </a:rPr>
              <a:t>2+</a:t>
            </a:r>
            <a:endParaRPr lang="en-US" sz="2200" dirty="0"/>
          </a:p>
        </p:txBody>
      </p:sp>
      <p:sp>
        <p:nvSpPr>
          <p:cNvPr id="14" name="Text 12"/>
          <p:cNvSpPr txBox="1"/>
          <p:nvPr/>
        </p:nvSpPr>
        <p:spPr>
          <a:xfrm>
            <a:off x="2075688" y="2057400"/>
            <a:ext cx="749808" cy="685800"/>
          </a:xfrm>
          <a:prstGeom prst="rect">
            <a:avLst/>
          </a:prstGeom>
          <a:noFill/>
          <a:ln/>
        </p:spPr>
        <p:txBody>
          <a:bodyPr wrap="square" lIns="0" tIns="0" rIns="0" bIns="0" rtlCol="0" anchor="t"/>
          <a:lstStyle/>
          <a:p>
            <a:pPr algn="ctr" indent="0" marL="0">
              <a:buNone/>
            </a:pPr>
            <a:r>
              <a:rPr lang="en-US" sz="1000" dirty="0">
                <a:solidFill>
                  <a:schemeClr val="bg2"/>
                </a:solidFill>
              </a:rPr>
              <a:t>Lose or gain</a:t>
            </a:r>
            <a:endParaRPr lang="en-US" sz="1000" dirty="0"/>
          </a:p>
        </p:txBody>
      </p:sp>
      <p:sp>
        <p:nvSpPr>
          <p:cNvPr id="15" name="Section tile 4"/>
          <p:cNvSpPr/>
          <p:nvPr/>
        </p:nvSpPr>
        <p:spPr>
          <a:xfrm>
            <a:off x="2953512" y="1234440"/>
            <a:ext cx="713232" cy="786384"/>
          </a:xfrm>
          <a:prstGeom prst="roundRect">
            <a:avLst>
              <a:gd name="adj" fmla="val 12000"/>
            </a:avLst>
          </a:prstGeom>
          <a:solidFill>
            <a:srgbClr val="60A5FA">
              <a:alpha val="28000"/>
            </a:srgbClr>
          </a:solidFill>
          <a:ln w="19050">
            <a:solidFill>
              <a:srgbClr val="60A5FA"/>
            </a:solidFill>
            <a:prstDash val="solid"/>
          </a:ln>
        </p:spPr>
      </p:sp>
      <p:sp>
        <p:nvSpPr>
          <p:cNvPr id="16" name="Text 14"/>
          <p:cNvSpPr txBox="1"/>
          <p:nvPr/>
        </p:nvSpPr>
        <p:spPr>
          <a:xfrm>
            <a:off x="3010571" y="1273759"/>
            <a:ext cx="427939" cy="188732"/>
          </a:xfrm>
          <a:prstGeom prst="rect">
            <a:avLst/>
          </a:prstGeom>
          <a:noFill/>
          <a:ln/>
        </p:spPr>
        <p:txBody>
          <a:bodyPr wrap="square" lIns="0" tIns="0" rIns="0" bIns="0" rtlCol="0" anchor="t"/>
          <a:lstStyle/>
          <a:p>
            <a:pPr indent="0" marL="0">
              <a:buNone/>
            </a:pPr>
            <a:r>
              <a:rPr lang="en-US" sz="1100" dirty="0">
                <a:solidFill>
                  <a:schemeClr val="bg2"/>
                </a:solidFill>
              </a:rPr>
              <a:t>4</a:t>
            </a:r>
            <a:endParaRPr lang="en-US" sz="1100" dirty="0"/>
          </a:p>
        </p:txBody>
      </p:sp>
      <p:sp>
        <p:nvSpPr>
          <p:cNvPr id="17" name="Text 15"/>
          <p:cNvSpPr txBox="1"/>
          <p:nvPr/>
        </p:nvSpPr>
        <p:spPr>
          <a:xfrm>
            <a:off x="2907792" y="1360261"/>
            <a:ext cx="804672" cy="629107"/>
          </a:xfrm>
          <a:prstGeom prst="rect">
            <a:avLst/>
          </a:prstGeom>
          <a:noFill/>
          <a:ln/>
        </p:spPr>
        <p:txBody>
          <a:bodyPr wrap="square" lIns="0" tIns="0" rIns="0" bIns="0" rtlCol="0" anchor="ctr"/>
          <a:lstStyle/>
          <a:p>
            <a:pPr algn="ctr" indent="0" marL="0">
              <a:buNone/>
            </a:pPr>
            <a:r>
              <a:rPr lang="en-US" sz="2200" b="1" dirty="0">
                <a:solidFill>
                  <a:schemeClr val="bg1"/>
                </a:solidFill>
              </a:rPr>
              <a:t>Al</a:t>
            </a:r>
            <a:pPr algn="ctr" indent="0" marL="0">
              <a:buNone/>
            </a:pPr>
            <a:r>
              <a:rPr lang="en-US" sz="2200" b="1" baseline="30000" dirty="0">
                <a:solidFill>
                  <a:schemeClr val="bg1"/>
                </a:solidFill>
              </a:rPr>
              <a:t>3+</a:t>
            </a:r>
            <a:endParaRPr lang="en-US" sz="2200" dirty="0"/>
          </a:p>
        </p:txBody>
      </p:sp>
      <p:sp>
        <p:nvSpPr>
          <p:cNvPr id="18" name="Text 16"/>
          <p:cNvSpPr txBox="1"/>
          <p:nvPr/>
        </p:nvSpPr>
        <p:spPr>
          <a:xfrm>
            <a:off x="2907792" y="2057400"/>
            <a:ext cx="749808" cy="685800"/>
          </a:xfrm>
          <a:prstGeom prst="rect">
            <a:avLst/>
          </a:prstGeom>
          <a:noFill/>
          <a:ln/>
        </p:spPr>
        <p:txBody>
          <a:bodyPr wrap="square" lIns="0" tIns="0" rIns="0" bIns="0" rtlCol="0" anchor="t"/>
          <a:lstStyle/>
          <a:p>
            <a:pPr algn="ctr" indent="0" marL="0">
              <a:buNone/>
            </a:pPr>
            <a:r>
              <a:rPr lang="en-US" sz="1000" dirty="0">
                <a:solidFill>
                  <a:schemeClr val="bg2"/>
                </a:solidFill>
              </a:rPr>
              <a:t>Predict charges</a:t>
            </a:r>
            <a:endParaRPr lang="en-US" sz="1000" dirty="0"/>
          </a:p>
        </p:txBody>
      </p:sp>
      <p:sp>
        <p:nvSpPr>
          <p:cNvPr id="19" name="Section tile 5"/>
          <p:cNvSpPr/>
          <p:nvPr/>
        </p:nvSpPr>
        <p:spPr>
          <a:xfrm>
            <a:off x="3785616" y="1234440"/>
            <a:ext cx="713232" cy="786384"/>
          </a:xfrm>
          <a:prstGeom prst="roundRect">
            <a:avLst>
              <a:gd name="adj" fmla="val 12000"/>
            </a:avLst>
          </a:prstGeom>
          <a:solidFill>
            <a:srgbClr val="F472B6">
              <a:alpha val="28000"/>
            </a:srgbClr>
          </a:solidFill>
          <a:ln w="19050">
            <a:solidFill>
              <a:srgbClr val="F472B6"/>
            </a:solidFill>
            <a:prstDash val="solid"/>
          </a:ln>
        </p:spPr>
      </p:sp>
      <p:sp>
        <p:nvSpPr>
          <p:cNvPr id="20" name="Text 18"/>
          <p:cNvSpPr txBox="1"/>
          <p:nvPr/>
        </p:nvSpPr>
        <p:spPr>
          <a:xfrm>
            <a:off x="3842675" y="1273759"/>
            <a:ext cx="427939" cy="188732"/>
          </a:xfrm>
          <a:prstGeom prst="rect">
            <a:avLst/>
          </a:prstGeom>
          <a:noFill/>
          <a:ln/>
        </p:spPr>
        <p:txBody>
          <a:bodyPr wrap="square" lIns="0" tIns="0" rIns="0" bIns="0" rtlCol="0" anchor="t"/>
          <a:lstStyle/>
          <a:p>
            <a:pPr indent="0" marL="0">
              <a:buNone/>
            </a:pPr>
            <a:r>
              <a:rPr lang="en-US" sz="1100" dirty="0">
                <a:solidFill>
                  <a:schemeClr val="bg2"/>
                </a:solidFill>
              </a:rPr>
              <a:t>5</a:t>
            </a:r>
            <a:endParaRPr lang="en-US" sz="1100" dirty="0"/>
          </a:p>
        </p:txBody>
      </p:sp>
      <p:sp>
        <p:nvSpPr>
          <p:cNvPr id="21" name="Text 19"/>
          <p:cNvSpPr txBox="1"/>
          <p:nvPr/>
        </p:nvSpPr>
        <p:spPr>
          <a:xfrm>
            <a:off x="3739896" y="1360261"/>
            <a:ext cx="804672" cy="629107"/>
          </a:xfrm>
          <a:prstGeom prst="rect">
            <a:avLst/>
          </a:prstGeom>
          <a:noFill/>
          <a:ln/>
        </p:spPr>
        <p:txBody>
          <a:bodyPr wrap="square" lIns="0" tIns="0" rIns="0" bIns="0" rtlCol="0" anchor="ctr"/>
          <a:lstStyle/>
          <a:p>
            <a:pPr algn="ctr" indent="0" marL="0">
              <a:buNone/>
            </a:pPr>
            <a:r>
              <a:rPr lang="en-US" sz="2200" b="1" dirty="0">
                <a:solidFill>
                  <a:schemeClr val="bg1"/>
                </a:solidFill>
              </a:rPr>
              <a:t>O</a:t>
            </a:r>
            <a:pPr algn="ctr" indent="0" marL="0">
              <a:buNone/>
            </a:pPr>
            <a:r>
              <a:rPr lang="en-US" sz="2200" b="1" baseline="30000" dirty="0">
                <a:solidFill>
                  <a:schemeClr val="bg1"/>
                </a:solidFill>
              </a:rPr>
              <a:t>2−</a:t>
            </a:r>
            <a:endParaRPr lang="en-US" sz="2200" dirty="0"/>
          </a:p>
        </p:txBody>
      </p:sp>
      <p:sp>
        <p:nvSpPr>
          <p:cNvPr id="22" name="Text 20"/>
          <p:cNvSpPr txBox="1"/>
          <p:nvPr/>
        </p:nvSpPr>
        <p:spPr>
          <a:xfrm>
            <a:off x="3739896" y="2057400"/>
            <a:ext cx="749808" cy="685800"/>
          </a:xfrm>
          <a:prstGeom prst="rect">
            <a:avLst/>
          </a:prstGeom>
          <a:noFill/>
          <a:ln/>
        </p:spPr>
        <p:txBody>
          <a:bodyPr wrap="square" lIns="0" tIns="0" rIns="0" bIns="0" rtlCol="0" anchor="t"/>
          <a:lstStyle/>
          <a:p>
            <a:pPr algn="ctr" indent="0" marL="0">
              <a:buNone/>
            </a:pPr>
            <a:r>
              <a:rPr lang="en-US" sz="1000" dirty="0">
                <a:solidFill>
                  <a:schemeClr val="bg2"/>
                </a:solidFill>
              </a:rPr>
              <a:t>Write and name</a:t>
            </a:r>
            <a:endParaRPr lang="en-US" sz="1000" dirty="0"/>
          </a:p>
        </p:txBody>
      </p:sp>
      <p:sp>
        <p:nvSpPr>
          <p:cNvPr id="23" name="Section tile 6"/>
          <p:cNvSpPr/>
          <p:nvPr/>
        </p:nvSpPr>
        <p:spPr>
          <a:xfrm>
            <a:off x="4617720" y="1234440"/>
            <a:ext cx="713232" cy="786384"/>
          </a:xfrm>
          <a:prstGeom prst="roundRect">
            <a:avLst>
              <a:gd name="adj" fmla="val 12000"/>
            </a:avLst>
          </a:prstGeom>
          <a:solidFill>
            <a:srgbClr val="F472B6">
              <a:alpha val="28000"/>
            </a:srgbClr>
          </a:solidFill>
          <a:ln w="19050">
            <a:solidFill>
              <a:srgbClr val="F472B6"/>
            </a:solidFill>
            <a:prstDash val="solid"/>
          </a:ln>
        </p:spPr>
      </p:sp>
      <p:sp>
        <p:nvSpPr>
          <p:cNvPr id="24" name="Text 22"/>
          <p:cNvSpPr txBox="1"/>
          <p:nvPr/>
        </p:nvSpPr>
        <p:spPr>
          <a:xfrm>
            <a:off x="4674779" y="1273759"/>
            <a:ext cx="427939" cy="188732"/>
          </a:xfrm>
          <a:prstGeom prst="rect">
            <a:avLst/>
          </a:prstGeom>
          <a:noFill/>
          <a:ln/>
        </p:spPr>
        <p:txBody>
          <a:bodyPr wrap="square" lIns="0" tIns="0" rIns="0" bIns="0" rtlCol="0" anchor="t"/>
          <a:lstStyle/>
          <a:p>
            <a:pPr indent="0" marL="0">
              <a:buNone/>
            </a:pPr>
            <a:r>
              <a:rPr lang="en-US" sz="1100" dirty="0">
                <a:solidFill>
                  <a:schemeClr val="bg2"/>
                </a:solidFill>
              </a:rPr>
              <a:t>6</a:t>
            </a:r>
            <a:endParaRPr lang="en-US" sz="1100" dirty="0"/>
          </a:p>
        </p:txBody>
      </p:sp>
      <p:sp>
        <p:nvSpPr>
          <p:cNvPr id="25" name="Text 23"/>
          <p:cNvSpPr txBox="1"/>
          <p:nvPr/>
        </p:nvSpPr>
        <p:spPr>
          <a:xfrm>
            <a:off x="4572000" y="1360261"/>
            <a:ext cx="804672" cy="629107"/>
          </a:xfrm>
          <a:prstGeom prst="rect">
            <a:avLst/>
          </a:prstGeom>
          <a:noFill/>
          <a:ln/>
        </p:spPr>
        <p:txBody>
          <a:bodyPr wrap="square" lIns="0" tIns="0" rIns="0" bIns="0" rtlCol="0" anchor="ctr"/>
          <a:lstStyle/>
          <a:p>
            <a:pPr algn="ctr" indent="0" marL="0">
              <a:buNone/>
            </a:pPr>
            <a:r>
              <a:rPr lang="en-US" sz="2200" b="1" dirty="0">
                <a:solidFill>
                  <a:schemeClr val="bg1"/>
                </a:solidFill>
              </a:rPr>
              <a:t>S</a:t>
            </a:r>
            <a:pPr algn="ctr" indent="0" marL="0">
              <a:buNone/>
            </a:pPr>
            <a:r>
              <a:rPr lang="en-US" sz="2200" b="1" baseline="30000" dirty="0">
                <a:solidFill>
                  <a:schemeClr val="bg1"/>
                </a:solidFill>
              </a:rPr>
              <a:t>2−</a:t>
            </a:r>
            <a:endParaRPr lang="en-US" sz="2200" dirty="0"/>
          </a:p>
        </p:txBody>
      </p:sp>
      <p:sp>
        <p:nvSpPr>
          <p:cNvPr id="26" name="Text 24"/>
          <p:cNvSpPr txBox="1"/>
          <p:nvPr/>
        </p:nvSpPr>
        <p:spPr>
          <a:xfrm>
            <a:off x="4572000" y="2057400"/>
            <a:ext cx="749808" cy="685800"/>
          </a:xfrm>
          <a:prstGeom prst="rect">
            <a:avLst/>
          </a:prstGeom>
          <a:noFill/>
          <a:ln/>
        </p:spPr>
        <p:txBody>
          <a:bodyPr wrap="square" lIns="0" tIns="0" rIns="0" bIns="0" rtlCol="0" anchor="t"/>
          <a:lstStyle/>
          <a:p>
            <a:pPr algn="ctr" indent="0" marL="0">
              <a:buNone/>
            </a:pPr>
            <a:r>
              <a:rPr lang="en-US" sz="1000" dirty="0">
                <a:solidFill>
                  <a:schemeClr val="bg2"/>
                </a:solidFill>
              </a:rPr>
              <a:t>Draw ion models</a:t>
            </a:r>
            <a:endParaRPr lang="en-US" sz="1000" dirty="0"/>
          </a:p>
        </p:txBody>
      </p:sp>
      <p:sp>
        <p:nvSpPr>
          <p:cNvPr id="27" name="Section tile 7"/>
          <p:cNvSpPr/>
          <p:nvPr/>
        </p:nvSpPr>
        <p:spPr>
          <a:xfrm>
            <a:off x="5449824" y="1234440"/>
            <a:ext cx="713232" cy="786384"/>
          </a:xfrm>
          <a:prstGeom prst="roundRect">
            <a:avLst>
              <a:gd name="adj" fmla="val 12000"/>
            </a:avLst>
          </a:prstGeom>
          <a:solidFill>
            <a:srgbClr val="60A5FA">
              <a:alpha val="28000"/>
            </a:srgbClr>
          </a:solidFill>
          <a:ln w="19050">
            <a:solidFill>
              <a:srgbClr val="60A5FA"/>
            </a:solidFill>
            <a:prstDash val="solid"/>
          </a:ln>
        </p:spPr>
      </p:sp>
      <p:sp>
        <p:nvSpPr>
          <p:cNvPr id="28" name="Text 26"/>
          <p:cNvSpPr txBox="1"/>
          <p:nvPr/>
        </p:nvSpPr>
        <p:spPr>
          <a:xfrm>
            <a:off x="5506883" y="1273759"/>
            <a:ext cx="427939" cy="188732"/>
          </a:xfrm>
          <a:prstGeom prst="rect">
            <a:avLst/>
          </a:prstGeom>
          <a:noFill/>
          <a:ln/>
        </p:spPr>
        <p:txBody>
          <a:bodyPr wrap="square" lIns="0" tIns="0" rIns="0" bIns="0" rtlCol="0" anchor="t"/>
          <a:lstStyle/>
          <a:p>
            <a:pPr indent="0" marL="0">
              <a:buNone/>
            </a:pPr>
            <a:r>
              <a:rPr lang="en-US" sz="1100" dirty="0">
                <a:solidFill>
                  <a:schemeClr val="bg2"/>
                </a:solidFill>
              </a:rPr>
              <a:t>7</a:t>
            </a:r>
            <a:endParaRPr lang="en-US" sz="1100" dirty="0"/>
          </a:p>
        </p:txBody>
      </p:sp>
      <p:sp>
        <p:nvSpPr>
          <p:cNvPr id="29" name="Text 27"/>
          <p:cNvSpPr txBox="1"/>
          <p:nvPr/>
        </p:nvSpPr>
        <p:spPr>
          <a:xfrm>
            <a:off x="5404104" y="1360261"/>
            <a:ext cx="804672" cy="629107"/>
          </a:xfrm>
          <a:prstGeom prst="rect">
            <a:avLst/>
          </a:prstGeom>
          <a:noFill/>
          <a:ln/>
        </p:spPr>
        <p:txBody>
          <a:bodyPr wrap="square" lIns="0" tIns="0" rIns="0" bIns="0" rtlCol="0" anchor="ctr"/>
          <a:lstStyle/>
          <a:p>
            <a:pPr algn="ctr" indent="0" marL="0">
              <a:buNone/>
            </a:pPr>
            <a:r>
              <a:rPr lang="en-US" sz="2200" b="1" dirty="0">
                <a:solidFill>
                  <a:schemeClr val="bg1"/>
                </a:solidFill>
              </a:rPr>
              <a:t>K</a:t>
            </a:r>
            <a:pPr algn="ctr" indent="0" marL="0">
              <a:buNone/>
            </a:pPr>
            <a:r>
              <a:rPr lang="en-US" sz="2200" b="1" baseline="30000" dirty="0">
                <a:solidFill>
                  <a:schemeClr val="bg1"/>
                </a:solidFill>
              </a:rPr>
              <a:t>+</a:t>
            </a:r>
            <a:endParaRPr lang="en-US" sz="2200" dirty="0"/>
          </a:p>
        </p:txBody>
      </p:sp>
      <p:sp>
        <p:nvSpPr>
          <p:cNvPr id="30" name="Text 28"/>
          <p:cNvSpPr txBox="1"/>
          <p:nvPr/>
        </p:nvSpPr>
        <p:spPr>
          <a:xfrm>
            <a:off x="5404104" y="2057400"/>
            <a:ext cx="749808" cy="685800"/>
          </a:xfrm>
          <a:prstGeom prst="rect">
            <a:avLst/>
          </a:prstGeom>
          <a:noFill/>
          <a:ln/>
        </p:spPr>
        <p:txBody>
          <a:bodyPr wrap="square" lIns="0" tIns="0" rIns="0" bIns="0" rtlCol="0" anchor="t"/>
          <a:lstStyle/>
          <a:p>
            <a:pPr algn="ctr" indent="0" marL="0">
              <a:buNone/>
            </a:pPr>
            <a:r>
              <a:rPr lang="en-US" sz="1000" dirty="0">
                <a:solidFill>
                  <a:schemeClr val="bg2"/>
                </a:solidFill>
              </a:rPr>
              <a:t>Practice</a:t>
            </a:r>
            <a:endParaRPr lang="en-US" sz="1000" dirty="0"/>
          </a:p>
        </p:txBody>
      </p:sp>
      <p:sp>
        <p:nvSpPr>
          <p:cNvPr id="31" name="Section tile 8"/>
          <p:cNvSpPr/>
          <p:nvPr/>
        </p:nvSpPr>
        <p:spPr>
          <a:xfrm>
            <a:off x="6281928" y="1234440"/>
            <a:ext cx="713232" cy="786384"/>
          </a:xfrm>
          <a:prstGeom prst="roundRect">
            <a:avLst>
              <a:gd name="adj" fmla="val 12000"/>
            </a:avLst>
          </a:prstGeom>
          <a:solidFill>
            <a:srgbClr val="F6B93B">
              <a:alpha val="28000"/>
            </a:srgbClr>
          </a:solidFill>
          <a:ln w="19050">
            <a:solidFill>
              <a:srgbClr val="F6B93B"/>
            </a:solidFill>
            <a:prstDash val="solid"/>
          </a:ln>
        </p:spPr>
      </p:sp>
      <p:sp>
        <p:nvSpPr>
          <p:cNvPr id="32" name="Text 30"/>
          <p:cNvSpPr txBox="1"/>
          <p:nvPr/>
        </p:nvSpPr>
        <p:spPr>
          <a:xfrm>
            <a:off x="6338987" y="1273759"/>
            <a:ext cx="427939" cy="188732"/>
          </a:xfrm>
          <a:prstGeom prst="rect">
            <a:avLst/>
          </a:prstGeom>
          <a:noFill/>
          <a:ln/>
        </p:spPr>
        <p:txBody>
          <a:bodyPr wrap="square" lIns="0" tIns="0" rIns="0" bIns="0" rtlCol="0" anchor="t"/>
          <a:lstStyle/>
          <a:p>
            <a:pPr indent="0" marL="0">
              <a:buNone/>
            </a:pPr>
            <a:r>
              <a:rPr lang="en-US" sz="1100" dirty="0">
                <a:solidFill>
                  <a:schemeClr val="bg2"/>
                </a:solidFill>
              </a:rPr>
              <a:t>8</a:t>
            </a:r>
            <a:endParaRPr lang="en-US" sz="1100" dirty="0"/>
          </a:p>
        </p:txBody>
      </p:sp>
      <p:sp>
        <p:nvSpPr>
          <p:cNvPr id="33" name="Text 31"/>
          <p:cNvSpPr txBox="1"/>
          <p:nvPr/>
        </p:nvSpPr>
        <p:spPr>
          <a:xfrm>
            <a:off x="6236208" y="1360261"/>
            <a:ext cx="804672" cy="629107"/>
          </a:xfrm>
          <a:prstGeom prst="rect">
            <a:avLst/>
          </a:prstGeom>
          <a:noFill/>
          <a:ln/>
        </p:spPr>
        <p:txBody>
          <a:bodyPr wrap="square" lIns="0" tIns="0" rIns="0" bIns="0" rtlCol="0" anchor="ctr"/>
          <a:lstStyle/>
          <a:p>
            <a:pPr algn="ctr" indent="0" marL="0">
              <a:buNone/>
            </a:pPr>
            <a:r>
              <a:rPr lang="en-US" sz="1500" b="1" dirty="0">
                <a:solidFill>
                  <a:schemeClr val="bg1"/>
                </a:solidFill>
              </a:rPr>
              <a:t>MgCl₂</a:t>
            </a:r>
            <a:endParaRPr lang="en-US" sz="1500" dirty="0"/>
          </a:p>
        </p:txBody>
      </p:sp>
      <p:sp>
        <p:nvSpPr>
          <p:cNvPr id="34" name="Text 32"/>
          <p:cNvSpPr txBox="1"/>
          <p:nvPr/>
        </p:nvSpPr>
        <p:spPr>
          <a:xfrm>
            <a:off x="6236208" y="2057400"/>
            <a:ext cx="749808" cy="685800"/>
          </a:xfrm>
          <a:prstGeom prst="rect">
            <a:avLst/>
          </a:prstGeom>
          <a:noFill/>
          <a:ln/>
        </p:spPr>
        <p:txBody>
          <a:bodyPr wrap="square" lIns="0" tIns="0" rIns="0" bIns="0" rtlCol="0" anchor="t"/>
          <a:lstStyle/>
          <a:p>
            <a:pPr algn="ctr" indent="0" marL="0">
              <a:buNone/>
            </a:pPr>
            <a:r>
              <a:rPr lang="en-US" sz="1000" dirty="0">
                <a:solidFill>
                  <a:schemeClr val="bg2"/>
                </a:solidFill>
              </a:rPr>
              <a:t>Ions combine</a:t>
            </a:r>
            <a:endParaRPr lang="en-US" sz="1000" dirty="0"/>
          </a:p>
        </p:txBody>
      </p:sp>
      <p:sp>
        <p:nvSpPr>
          <p:cNvPr id="35" name="Section tile 9"/>
          <p:cNvSpPr/>
          <p:nvPr/>
        </p:nvSpPr>
        <p:spPr>
          <a:xfrm>
            <a:off x="7114032" y="1234440"/>
            <a:ext cx="713232" cy="786384"/>
          </a:xfrm>
          <a:prstGeom prst="roundRect">
            <a:avLst>
              <a:gd name="adj" fmla="val 12000"/>
            </a:avLst>
          </a:prstGeom>
          <a:solidFill>
            <a:srgbClr val="F472B6">
              <a:alpha val="28000"/>
            </a:srgbClr>
          </a:solidFill>
          <a:ln w="19050">
            <a:solidFill>
              <a:srgbClr val="F472B6"/>
            </a:solidFill>
            <a:prstDash val="solid"/>
          </a:ln>
        </p:spPr>
      </p:sp>
      <p:sp>
        <p:nvSpPr>
          <p:cNvPr id="36" name="Text 34"/>
          <p:cNvSpPr txBox="1"/>
          <p:nvPr/>
        </p:nvSpPr>
        <p:spPr>
          <a:xfrm>
            <a:off x="7171091" y="1273759"/>
            <a:ext cx="427939" cy="188732"/>
          </a:xfrm>
          <a:prstGeom prst="rect">
            <a:avLst/>
          </a:prstGeom>
          <a:noFill/>
          <a:ln/>
        </p:spPr>
        <p:txBody>
          <a:bodyPr wrap="square" lIns="0" tIns="0" rIns="0" bIns="0" rtlCol="0" anchor="t"/>
          <a:lstStyle/>
          <a:p>
            <a:pPr indent="0" marL="0">
              <a:buNone/>
            </a:pPr>
            <a:r>
              <a:rPr lang="en-US" sz="1100" dirty="0">
                <a:solidFill>
                  <a:schemeClr val="bg2"/>
                </a:solidFill>
              </a:rPr>
              <a:t>9</a:t>
            </a:r>
            <a:endParaRPr lang="en-US" sz="1100" dirty="0"/>
          </a:p>
        </p:txBody>
      </p:sp>
      <p:sp>
        <p:nvSpPr>
          <p:cNvPr id="37" name="Text 35"/>
          <p:cNvSpPr txBox="1"/>
          <p:nvPr/>
        </p:nvSpPr>
        <p:spPr>
          <a:xfrm>
            <a:off x="7068312" y="1360261"/>
            <a:ext cx="804672" cy="629107"/>
          </a:xfrm>
          <a:prstGeom prst="rect">
            <a:avLst/>
          </a:prstGeom>
          <a:noFill/>
          <a:ln/>
        </p:spPr>
        <p:txBody>
          <a:bodyPr wrap="square" lIns="0" tIns="0" rIns="0" bIns="0" rtlCol="0" anchor="ctr"/>
          <a:lstStyle/>
          <a:p>
            <a:pPr algn="ctr" indent="0" marL="0">
              <a:buNone/>
            </a:pPr>
            <a:r>
              <a:rPr lang="en-US" sz="2200" b="1" dirty="0">
                <a:solidFill>
                  <a:schemeClr val="bg1"/>
                </a:solidFill>
              </a:rPr>
              <a:t>N</a:t>
            </a:r>
            <a:pPr algn="ctr" indent="0" marL="0">
              <a:buNone/>
            </a:pPr>
            <a:r>
              <a:rPr lang="en-US" sz="2200" b="1" baseline="30000" dirty="0">
                <a:solidFill>
                  <a:schemeClr val="bg1"/>
                </a:solidFill>
              </a:rPr>
              <a:t>3−</a:t>
            </a:r>
            <a:endParaRPr lang="en-US" sz="2200" dirty="0"/>
          </a:p>
        </p:txBody>
      </p:sp>
      <p:sp>
        <p:nvSpPr>
          <p:cNvPr id="38" name="Text 36"/>
          <p:cNvSpPr txBox="1"/>
          <p:nvPr/>
        </p:nvSpPr>
        <p:spPr>
          <a:xfrm>
            <a:off x="7068312" y="2057400"/>
            <a:ext cx="749808" cy="685800"/>
          </a:xfrm>
          <a:prstGeom prst="rect">
            <a:avLst/>
          </a:prstGeom>
          <a:noFill/>
          <a:ln/>
        </p:spPr>
        <p:txBody>
          <a:bodyPr wrap="square" lIns="0" tIns="0" rIns="0" bIns="0" rtlCol="0" anchor="t"/>
          <a:lstStyle/>
          <a:p>
            <a:pPr algn="ctr" indent="0" marL="0">
              <a:buNone/>
            </a:pPr>
            <a:r>
              <a:rPr lang="en-US" sz="1000" dirty="0">
                <a:solidFill>
                  <a:schemeClr val="bg2"/>
                </a:solidFill>
              </a:rPr>
              <a:t>Final check</a:t>
            </a:r>
            <a:endParaRPr lang="en-US" sz="1000" dirty="0"/>
          </a:p>
        </p:txBody>
      </p:sp>
      <p:sp>
        <p:nvSpPr>
          <p:cNvPr id="39" name="Section tile 10"/>
          <p:cNvSpPr/>
          <p:nvPr/>
        </p:nvSpPr>
        <p:spPr>
          <a:xfrm>
            <a:off x="7946136" y="1234440"/>
            <a:ext cx="713232" cy="786384"/>
          </a:xfrm>
          <a:prstGeom prst="roundRect">
            <a:avLst>
              <a:gd name="adj" fmla="val 12000"/>
            </a:avLst>
          </a:prstGeom>
          <a:solidFill>
            <a:srgbClr val="F6B93B">
              <a:alpha val="28000"/>
            </a:srgbClr>
          </a:solidFill>
          <a:ln w="19050">
            <a:solidFill>
              <a:srgbClr val="F6B93B"/>
            </a:solidFill>
            <a:prstDash val="solid"/>
          </a:ln>
        </p:spPr>
      </p:sp>
      <p:sp>
        <p:nvSpPr>
          <p:cNvPr id="40" name="Text 38"/>
          <p:cNvSpPr txBox="1"/>
          <p:nvPr/>
        </p:nvSpPr>
        <p:spPr>
          <a:xfrm>
            <a:off x="8003195" y="1273759"/>
            <a:ext cx="427939" cy="188732"/>
          </a:xfrm>
          <a:prstGeom prst="rect">
            <a:avLst/>
          </a:prstGeom>
          <a:noFill/>
          <a:ln/>
        </p:spPr>
        <p:txBody>
          <a:bodyPr wrap="square" lIns="0" tIns="0" rIns="0" bIns="0" rtlCol="0" anchor="t"/>
          <a:lstStyle/>
          <a:p>
            <a:pPr indent="0" marL="0">
              <a:buNone/>
            </a:pPr>
            <a:r>
              <a:rPr lang="en-US" sz="1100" dirty="0">
                <a:solidFill>
                  <a:schemeClr val="bg2"/>
                </a:solidFill>
              </a:rPr>
              <a:t>10</a:t>
            </a:r>
            <a:endParaRPr lang="en-US" sz="1100" dirty="0"/>
          </a:p>
        </p:txBody>
      </p:sp>
      <p:sp>
        <p:nvSpPr>
          <p:cNvPr id="41" name="Text 39"/>
          <p:cNvSpPr txBox="1"/>
          <p:nvPr/>
        </p:nvSpPr>
        <p:spPr>
          <a:xfrm>
            <a:off x="7900416" y="1360261"/>
            <a:ext cx="804672" cy="629107"/>
          </a:xfrm>
          <a:prstGeom prst="rect">
            <a:avLst/>
          </a:prstGeom>
          <a:noFill/>
          <a:ln/>
        </p:spPr>
        <p:txBody>
          <a:bodyPr wrap="square" lIns="0" tIns="0" rIns="0" bIns="0" rtlCol="0" anchor="ctr"/>
          <a:lstStyle/>
          <a:p>
            <a:pPr algn="ctr" indent="0" marL="0">
              <a:buNone/>
            </a:pPr>
            <a:r>
              <a:rPr lang="en-US" sz="1500" b="1" dirty="0">
                <a:solidFill>
                  <a:schemeClr val="bg1"/>
                </a:solidFill>
              </a:rPr>
              <a:t>NaCl</a:t>
            </a:r>
            <a:endParaRPr lang="en-US" sz="1500" dirty="0"/>
          </a:p>
        </p:txBody>
      </p:sp>
      <p:sp>
        <p:nvSpPr>
          <p:cNvPr id="42" name="Text 40"/>
          <p:cNvSpPr txBox="1"/>
          <p:nvPr/>
        </p:nvSpPr>
        <p:spPr>
          <a:xfrm>
            <a:off x="7900416" y="2057400"/>
            <a:ext cx="749808" cy="685800"/>
          </a:xfrm>
          <a:prstGeom prst="rect">
            <a:avLst/>
          </a:prstGeom>
          <a:noFill/>
          <a:ln/>
        </p:spPr>
        <p:txBody>
          <a:bodyPr wrap="square" lIns="0" tIns="0" rIns="0" bIns="0" rtlCol="0" anchor="t"/>
          <a:lstStyle/>
          <a:p>
            <a:pPr algn="ctr" indent="0" marL="0">
              <a:buNone/>
            </a:pPr>
            <a:r>
              <a:rPr lang="en-US" sz="1000" dirty="0">
                <a:solidFill>
                  <a:schemeClr val="bg2"/>
                </a:solidFill>
              </a:rPr>
              <a:t>Results</a:t>
            </a:r>
            <a:endParaRPr lang="en-US" sz="1000" dirty="0"/>
          </a:p>
        </p:txBody>
      </p:sp>
      <p:sp>
        <p:nvSpPr>
          <p:cNvPr id="43" name="Rule card"/>
          <p:cNvSpPr/>
          <p:nvPr/>
        </p:nvSpPr>
        <p:spPr>
          <a:xfrm>
            <a:off x="457200" y="3017520"/>
            <a:ext cx="2651760" cy="1417320"/>
          </a:xfrm>
          <a:prstGeom prst="roundRect">
            <a:avLst>
              <a:gd name="adj" fmla="val 6452"/>
            </a:avLst>
          </a:prstGeom>
          <a:solidFill>
            <a:schemeClr val="tx2"/>
          </a:solidFill>
          <a:ln w="9525">
            <a:solidFill>
              <a:schemeClr val="bg2">
                <a:alpha val="30000"/>
              </a:schemeClr>
            </a:solidFill>
            <a:prstDash val="solid"/>
          </a:ln>
        </p:spPr>
      </p:sp>
      <p:sp>
        <p:nvSpPr>
          <p:cNvPr id="44" name="Text 42"/>
          <p:cNvSpPr txBox="1"/>
          <p:nvPr/>
        </p:nvSpPr>
        <p:spPr>
          <a:xfrm>
            <a:off x="640080" y="3154680"/>
            <a:ext cx="2286000" cy="320040"/>
          </a:xfrm>
          <a:prstGeom prst="rect">
            <a:avLst/>
          </a:prstGeom>
          <a:noFill/>
          <a:ln/>
        </p:spPr>
        <p:txBody>
          <a:bodyPr wrap="square" lIns="0" tIns="0" rIns="0" bIns="0" rtlCol="0" anchor="t"/>
          <a:lstStyle/>
          <a:p>
            <a:pPr indent="0" marL="0">
              <a:buNone/>
            </a:pPr>
            <a:r>
              <a:rPr lang="en-US" sz="1400" b="1" dirty="0">
                <a:solidFill>
                  <a:schemeClr val="accent1"/>
                </a:solidFill>
              </a:rPr>
              <a:t>Three parts per section</a:t>
            </a:r>
            <a:endParaRPr lang="en-US" sz="1400" dirty="0"/>
          </a:p>
        </p:txBody>
      </p:sp>
      <p:sp>
        <p:nvSpPr>
          <p:cNvPr id="45" name="Text 43"/>
          <p:cNvSpPr txBox="1"/>
          <p:nvPr/>
        </p:nvSpPr>
        <p:spPr>
          <a:xfrm>
            <a:off x="640080" y="3520440"/>
            <a:ext cx="2286000" cy="822960"/>
          </a:xfrm>
          <a:prstGeom prst="rect">
            <a:avLst/>
          </a:prstGeom>
          <a:noFill/>
          <a:ln/>
        </p:spPr>
        <p:txBody>
          <a:bodyPr wrap="square" lIns="0" tIns="0" rIns="0" bIns="0" rtlCol="0" anchor="t"/>
          <a:lstStyle/>
          <a:p>
            <a:pPr indent="0" marL="0">
              <a:buNone/>
            </a:pPr>
            <a:r>
              <a:rPr lang="en-US" sz="1300" dirty="0">
                <a:solidFill>
                  <a:schemeClr val="bg1"/>
                </a:solidFill>
              </a:rPr>
              <a:t>Read, Try it, and a Quick check.</a:t>
            </a:r>
            <a:endParaRPr lang="en-US" sz="1300" dirty="0"/>
          </a:p>
        </p:txBody>
      </p:sp>
      <p:sp>
        <p:nvSpPr>
          <p:cNvPr id="46" name="Rule card"/>
          <p:cNvSpPr/>
          <p:nvPr/>
        </p:nvSpPr>
        <p:spPr>
          <a:xfrm>
            <a:off x="3246120" y="3017520"/>
            <a:ext cx="2651760" cy="1417320"/>
          </a:xfrm>
          <a:prstGeom prst="roundRect">
            <a:avLst>
              <a:gd name="adj" fmla="val 6452"/>
            </a:avLst>
          </a:prstGeom>
          <a:solidFill>
            <a:schemeClr val="tx2"/>
          </a:solidFill>
          <a:ln w="9525">
            <a:solidFill>
              <a:schemeClr val="bg2">
                <a:alpha val="30000"/>
              </a:schemeClr>
            </a:solidFill>
            <a:prstDash val="solid"/>
          </a:ln>
        </p:spPr>
      </p:sp>
      <p:sp>
        <p:nvSpPr>
          <p:cNvPr id="47" name="Text 45"/>
          <p:cNvSpPr txBox="1"/>
          <p:nvPr/>
        </p:nvSpPr>
        <p:spPr>
          <a:xfrm>
            <a:off x="3429000" y="3154680"/>
            <a:ext cx="2286000" cy="320040"/>
          </a:xfrm>
          <a:prstGeom prst="rect">
            <a:avLst/>
          </a:prstGeom>
          <a:noFill/>
          <a:ln/>
        </p:spPr>
        <p:txBody>
          <a:bodyPr wrap="square" lIns="0" tIns="0" rIns="0" bIns="0" rtlCol="0" anchor="t"/>
          <a:lstStyle/>
          <a:p>
            <a:pPr indent="0" marL="0">
              <a:buNone/>
            </a:pPr>
            <a:r>
              <a:rPr lang="en-US" sz="1400" b="1" dirty="0">
                <a:solidFill>
                  <a:schemeClr val="accent1"/>
                </a:solidFill>
              </a:rPr>
              <a:t>Unlock as you go</a:t>
            </a:r>
            <a:endParaRPr lang="en-US" sz="1400" dirty="0"/>
          </a:p>
        </p:txBody>
      </p:sp>
      <p:sp>
        <p:nvSpPr>
          <p:cNvPr id="48" name="Text 46"/>
          <p:cNvSpPr txBox="1"/>
          <p:nvPr/>
        </p:nvSpPr>
        <p:spPr>
          <a:xfrm>
            <a:off x="3429000" y="3520440"/>
            <a:ext cx="2286000" cy="822960"/>
          </a:xfrm>
          <a:prstGeom prst="rect">
            <a:avLst/>
          </a:prstGeom>
          <a:noFill/>
          <a:ln/>
        </p:spPr>
        <p:txBody>
          <a:bodyPr wrap="square" lIns="0" tIns="0" rIns="0" bIns="0" rtlCol="0" anchor="t"/>
          <a:lstStyle/>
          <a:p>
            <a:pPr indent="0" marL="0">
              <a:buNone/>
            </a:pPr>
            <a:r>
              <a:rPr lang="en-US" sz="1300" dirty="0">
                <a:solidFill>
                  <a:schemeClr val="bg1"/>
                </a:solidFill>
              </a:rPr>
              <a:t>Finish the checklist to open the next section. Tiles across the top show where you are.</a:t>
            </a:r>
            <a:endParaRPr lang="en-US" sz="1300" dirty="0"/>
          </a:p>
        </p:txBody>
      </p:sp>
      <p:sp>
        <p:nvSpPr>
          <p:cNvPr id="49" name="Rule card"/>
          <p:cNvSpPr/>
          <p:nvPr/>
        </p:nvSpPr>
        <p:spPr>
          <a:xfrm>
            <a:off x="6035040" y="3017520"/>
            <a:ext cx="2651760" cy="1417320"/>
          </a:xfrm>
          <a:prstGeom prst="roundRect">
            <a:avLst>
              <a:gd name="adj" fmla="val 6452"/>
            </a:avLst>
          </a:prstGeom>
          <a:solidFill>
            <a:schemeClr val="tx2"/>
          </a:solidFill>
          <a:ln w="9525">
            <a:solidFill>
              <a:schemeClr val="bg2">
                <a:alpha val="30000"/>
              </a:schemeClr>
            </a:solidFill>
            <a:prstDash val="solid"/>
          </a:ln>
        </p:spPr>
      </p:sp>
      <p:sp>
        <p:nvSpPr>
          <p:cNvPr id="50" name="Text 48"/>
          <p:cNvSpPr txBox="1"/>
          <p:nvPr/>
        </p:nvSpPr>
        <p:spPr>
          <a:xfrm>
            <a:off x="6217920" y="3154680"/>
            <a:ext cx="2286000" cy="320040"/>
          </a:xfrm>
          <a:prstGeom prst="rect">
            <a:avLst/>
          </a:prstGeom>
          <a:noFill/>
          <a:ln/>
        </p:spPr>
        <p:txBody>
          <a:bodyPr wrap="square" lIns="0" tIns="0" rIns="0" bIns="0" rtlCol="0" anchor="t"/>
          <a:lstStyle/>
          <a:p>
            <a:pPr indent="0" marL="0">
              <a:buNone/>
            </a:pPr>
            <a:r>
              <a:rPr lang="en-US" sz="1400" b="1" dirty="0">
                <a:solidFill>
                  <a:schemeClr val="accent1"/>
                </a:solidFill>
              </a:rPr>
              <a:t>Final check at the end</a:t>
            </a:r>
            <a:endParaRPr lang="en-US" sz="1400" dirty="0"/>
          </a:p>
        </p:txBody>
      </p:sp>
      <p:sp>
        <p:nvSpPr>
          <p:cNvPr id="51" name="Text 49"/>
          <p:cNvSpPr txBox="1"/>
          <p:nvPr/>
        </p:nvSpPr>
        <p:spPr>
          <a:xfrm>
            <a:off x="6217920" y="3520440"/>
            <a:ext cx="2286000" cy="822960"/>
          </a:xfrm>
          <a:prstGeom prst="rect">
            <a:avLst/>
          </a:prstGeom>
          <a:noFill/>
          <a:ln/>
        </p:spPr>
        <p:txBody>
          <a:bodyPr wrap="square" lIns="0" tIns="0" rIns="0" bIns="0" rtlCol="0" anchor="t"/>
          <a:lstStyle/>
          <a:p>
            <a:pPr indent="0" marL="0">
              <a:buNone/>
            </a:pPr>
            <a:r>
              <a:rPr lang="en-US" sz="1300" dirty="0">
                <a:solidFill>
                  <a:schemeClr val="bg1"/>
                </a:solidFill>
              </a:rPr>
              <a:t>Score 8 out of 10 to pass. Your scores go to your teacher's sheet.</a:t>
            </a:r>
            <a:endParaRPr lang="en-US" sz="13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ection tile 1"/>
          <p:cNvSpPr/>
          <p:nvPr/>
        </p:nvSpPr>
        <p:spPr>
          <a:xfrm>
            <a:off x="457200" y="301752"/>
            <a:ext cx="749808" cy="841248"/>
          </a:xfrm>
          <a:prstGeom prst="roundRect">
            <a:avLst>
              <a:gd name="adj" fmla="val 12000"/>
            </a:avLst>
          </a:prstGeom>
          <a:solidFill>
            <a:srgbClr val="F6B93B">
              <a:alpha val="28000"/>
            </a:srgbClr>
          </a:solidFill>
          <a:ln w="19050">
            <a:solidFill>
              <a:srgbClr val="F6B93B"/>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1</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2900" b="1" dirty="0">
                <a:solidFill>
                  <a:schemeClr val="bg1"/>
                </a:solidFill>
              </a:rPr>
              <a:t>Ne</a:t>
            </a:r>
            <a:endParaRPr lang="en-US" sz="2900" dirty="0"/>
          </a:p>
        </p:txBody>
      </p:sp>
      <p:sp>
        <p:nvSpPr>
          <p:cNvPr id="5" name="Text 0"/>
          <p:cNvSpPr/>
          <p:nvPr>
            <p:ph idx="100" type="body" hasCustomPrompt="1"/>
          </p:nvPr>
        </p:nvSpPr>
        <p:spPr>
          <a:xfrm>
            <a:off x="1417320" y="329184"/>
            <a:ext cx="7223760" cy="256032"/>
          </a:xfrm>
          <a:prstGeom prst="rect">
            <a:avLst/>
          </a:prstGeom>
          <a:noFill/>
          <a:ln/>
        </p:spPr>
        <p:txBody>
          <a:bodyPr wrap="square" lIns="0" tIns="0" rIns="0" bIns="0" rtlCol="0" anchor="ctr"/>
          <a:lstStyle/>
          <a:p>
            <a:pPr algn="l" indent="0" marL="0">
              <a:buNone/>
            </a:pPr>
            <a:r>
              <a:rPr lang="en-US" sz="1200" dirty="0">
                <a:solidFill>
                  <a:schemeClr val="bg2"/>
                </a:solidFill>
              </a:rPr>
              <a:t>Section 1 of 9 · about 5 min</a:t>
            </a:r>
            <a:endParaRPr lang="en-US" sz="1200" dirty="0"/>
          </a:p>
        </p:txBody>
      </p:sp>
      <p:sp>
        <p:nvSpPr>
          <p:cNvPr id="6" name="Text 0"/>
          <p:cNvSpPr/>
          <p:nvPr>
            <p:ph idx="101" type="title" hasCustomPrompt="1"/>
          </p:nvPr>
        </p:nvSpPr>
        <p:spPr>
          <a:xfrm>
            <a:off x="1417320" y="603504"/>
            <a:ext cx="7223760" cy="530352"/>
          </a:xfrm>
          <a:prstGeom prst="rect">
            <a:avLst/>
          </a:prstGeom>
          <a:noFill/>
          <a:ln/>
        </p:spPr>
        <p:txBody>
          <a:bodyPr wrap="square" lIns="0" tIns="0" rIns="0" bIns="0" rtlCol="0" anchor="ctr"/>
          <a:lstStyle/>
          <a:p>
            <a:pPr algn="l" indent="0" marL="0">
              <a:buNone/>
            </a:pPr>
            <a:r>
              <a:rPr lang="en-US" sz="3000" b="1" dirty="0">
                <a:solidFill>
                  <a:schemeClr val="bg1"/>
                </a:solidFill>
              </a:rPr>
              <a:t>Full outer shells</a:t>
            </a:r>
            <a:endParaRPr lang="en-US" sz="3000" dirty="0"/>
          </a:p>
        </p:txBody>
      </p:sp>
      <p:sp>
        <p:nvSpPr>
          <p:cNvPr id="7" name="In this section"/>
          <p:cNvSpPr/>
          <p:nvPr/>
        </p:nvSpPr>
        <p:spPr>
          <a:xfrm>
            <a:off x="45720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8" name="Text 6"/>
          <p:cNvSpPr txBox="1"/>
          <p:nvPr/>
        </p:nvSpPr>
        <p:spPr>
          <a:xfrm>
            <a:off x="685800" y="1536192"/>
            <a:ext cx="3566160" cy="292608"/>
          </a:xfrm>
          <a:prstGeom prst="rect">
            <a:avLst/>
          </a:prstGeom>
          <a:noFill/>
          <a:ln/>
        </p:spPr>
        <p:txBody>
          <a:bodyPr wrap="square" lIns="0" tIns="0" rIns="0" bIns="0" rtlCol="0" anchor="t"/>
          <a:lstStyle/>
          <a:p>
            <a:pPr indent="0" marL="0">
              <a:buNone/>
            </a:pPr>
            <a:r>
              <a:rPr lang="en-US" sz="1500" b="1" dirty="0">
                <a:solidFill>
                  <a:schemeClr val="accent1"/>
                </a:solidFill>
              </a:rPr>
              <a:t>In this section</a:t>
            </a:r>
            <a:endParaRPr lang="en-US" sz="1500" dirty="0"/>
          </a:p>
        </p:txBody>
      </p:sp>
      <p:sp>
        <p:nvSpPr>
          <p:cNvPr id="9" name="Text 7"/>
          <p:cNvSpPr/>
          <p:nvPr/>
        </p:nvSpPr>
        <p:spPr>
          <a:xfrm>
            <a:off x="685800" y="2039112"/>
            <a:ext cx="73152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Read</a:t>
            </a:r>
            <a:endParaRPr lang="en-US" sz="1100" dirty="0"/>
          </a:p>
        </p:txBody>
      </p:sp>
      <p:sp>
        <p:nvSpPr>
          <p:cNvPr id="10" name="Text 8"/>
          <p:cNvSpPr txBox="1"/>
          <p:nvPr/>
        </p:nvSpPr>
        <p:spPr>
          <a:xfrm>
            <a:off x="1554480" y="1947672"/>
            <a:ext cx="2697480" cy="457200"/>
          </a:xfrm>
          <a:prstGeom prst="rect">
            <a:avLst/>
          </a:prstGeom>
          <a:noFill/>
          <a:ln/>
        </p:spPr>
        <p:txBody>
          <a:bodyPr wrap="square" lIns="0" tIns="0" rIns="0" bIns="0" rtlCol="0" anchor="ctr"/>
          <a:lstStyle/>
          <a:p>
            <a:pPr indent="0" marL="0">
              <a:buNone/>
            </a:pPr>
            <a:r>
              <a:rPr lang="en-US" sz="1400" dirty="0">
                <a:solidFill>
                  <a:schemeClr val="bg1"/>
                </a:solidFill>
              </a:rPr>
              <a:t>The octet rule</a:t>
            </a:r>
            <a:endParaRPr lang="en-US" sz="1400" dirty="0"/>
          </a:p>
        </p:txBody>
      </p:sp>
      <p:sp>
        <p:nvSpPr>
          <p:cNvPr id="11" name="Text 9"/>
          <p:cNvSpPr/>
          <p:nvPr/>
        </p:nvSpPr>
        <p:spPr>
          <a:xfrm>
            <a:off x="685800" y="2752344"/>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12" name="Text 10"/>
          <p:cNvSpPr txBox="1"/>
          <p:nvPr/>
        </p:nvSpPr>
        <p:spPr>
          <a:xfrm>
            <a:off x="1554480" y="2660904"/>
            <a:ext cx="2697480" cy="457200"/>
          </a:xfrm>
          <a:prstGeom prst="rect">
            <a:avLst/>
          </a:prstGeom>
          <a:noFill/>
          <a:ln/>
        </p:spPr>
        <p:txBody>
          <a:bodyPr wrap="square" lIns="0" tIns="0" rIns="0" bIns="0" rtlCol="0" anchor="ctr"/>
          <a:lstStyle/>
          <a:p>
            <a:pPr indent="0" marL="0">
              <a:buNone/>
            </a:pPr>
            <a:r>
              <a:rPr lang="en-US" sz="1400" dirty="0">
                <a:solidFill>
                  <a:schemeClr val="bg1"/>
                </a:solidFill>
              </a:rPr>
              <a:t>Full or not?</a:t>
            </a:r>
            <a:endParaRPr lang="en-US" sz="1400" dirty="0"/>
          </a:p>
        </p:txBody>
      </p:sp>
      <p:sp>
        <p:nvSpPr>
          <p:cNvPr id="13" name="Text 11"/>
          <p:cNvSpPr/>
          <p:nvPr/>
        </p:nvSpPr>
        <p:spPr>
          <a:xfrm>
            <a:off x="685800" y="346557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14" name="Text 12"/>
          <p:cNvSpPr txBox="1"/>
          <p:nvPr/>
        </p:nvSpPr>
        <p:spPr>
          <a:xfrm>
            <a:off x="1874520" y="3374136"/>
            <a:ext cx="2377440" cy="457200"/>
          </a:xfrm>
          <a:prstGeom prst="rect">
            <a:avLst/>
          </a:prstGeom>
          <a:noFill/>
          <a:ln/>
        </p:spPr>
        <p:txBody>
          <a:bodyPr wrap="square" lIns="0" tIns="0" rIns="0" bIns="0" rtlCol="0" anchor="ctr"/>
          <a:lstStyle/>
          <a:p>
            <a:pPr indent="0" marL="0">
              <a:buNone/>
            </a:pPr>
            <a:r>
              <a:rPr lang="en-US" sz="1400" dirty="0">
                <a:solidFill>
                  <a:schemeClr val="bg1"/>
                </a:solidFill>
              </a:rPr>
              <a:t>Why noble gases don't form ions</a:t>
            </a:r>
            <a:endParaRPr lang="en-US" sz="1400" dirty="0"/>
          </a:p>
        </p:txBody>
      </p:sp>
      <p:sp>
        <p:nvSpPr>
          <p:cNvPr id="15" name="To unlock the next section"/>
          <p:cNvSpPr/>
          <p:nvPr/>
        </p:nvSpPr>
        <p:spPr>
          <a:xfrm>
            <a:off x="466344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16" name="Text 14"/>
          <p:cNvSpPr txBox="1"/>
          <p:nvPr/>
        </p:nvSpPr>
        <p:spPr>
          <a:xfrm>
            <a:off x="4892040" y="1536192"/>
            <a:ext cx="3566160" cy="292608"/>
          </a:xfrm>
          <a:prstGeom prst="rect">
            <a:avLst/>
          </a:prstGeom>
          <a:noFill/>
          <a:ln/>
        </p:spPr>
        <p:txBody>
          <a:bodyPr wrap="square" lIns="0" tIns="0" rIns="0" bIns="0" rtlCol="0" anchor="t"/>
          <a:lstStyle/>
          <a:p>
            <a:pPr indent="0" marL="0">
              <a:buNone/>
            </a:pPr>
            <a:r>
              <a:rPr lang="en-US" sz="1500" b="1" dirty="0">
                <a:solidFill>
                  <a:schemeClr val="accent4"/>
                </a:solidFill>
              </a:rPr>
              <a:t>To unlock the next section</a:t>
            </a:r>
            <a:endParaRPr lang="en-US" sz="1500" dirty="0"/>
          </a:p>
        </p:txBody>
      </p:sp>
      <p:sp>
        <p:nvSpPr>
          <p:cNvPr id="17" name="Text 15"/>
          <p:cNvSpPr/>
          <p:nvPr/>
        </p:nvSpPr>
        <p:spPr>
          <a:xfrm>
            <a:off x="4892040" y="2066544"/>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18" name="Text 16"/>
          <p:cNvSpPr txBox="1"/>
          <p:nvPr/>
        </p:nvSpPr>
        <p:spPr>
          <a:xfrm>
            <a:off x="5303520" y="1993392"/>
            <a:ext cx="3200400" cy="457200"/>
          </a:xfrm>
          <a:prstGeom prst="rect">
            <a:avLst/>
          </a:prstGeom>
          <a:noFill/>
          <a:ln/>
        </p:spPr>
        <p:txBody>
          <a:bodyPr wrap="square" lIns="0" tIns="0" rIns="0" bIns="0" rtlCol="0" anchor="ctr"/>
          <a:lstStyle/>
          <a:p>
            <a:pPr indent="0" marL="0">
              <a:buNone/>
            </a:pPr>
            <a:r>
              <a:rPr lang="en-US" sz="1400" dirty="0">
                <a:solidFill>
                  <a:schemeClr val="bg1"/>
                </a:solidFill>
              </a:rPr>
              <a:t>Sort the atoms: full outer shell or not</a:t>
            </a:r>
            <a:endParaRPr lang="en-US" sz="1400" dirty="0"/>
          </a:p>
        </p:txBody>
      </p:sp>
      <p:sp>
        <p:nvSpPr>
          <p:cNvPr id="19" name="Text 17"/>
          <p:cNvSpPr/>
          <p:nvPr/>
        </p:nvSpPr>
        <p:spPr>
          <a:xfrm>
            <a:off x="4892040" y="2633472"/>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0" name="Text 18"/>
          <p:cNvSpPr txBox="1"/>
          <p:nvPr/>
        </p:nvSpPr>
        <p:spPr>
          <a:xfrm>
            <a:off x="5303520" y="2560320"/>
            <a:ext cx="3200400" cy="457200"/>
          </a:xfrm>
          <a:prstGeom prst="rect">
            <a:avLst/>
          </a:prstGeom>
          <a:noFill/>
          <a:ln/>
        </p:spPr>
        <p:txBody>
          <a:bodyPr wrap="square" lIns="0" tIns="0" rIns="0" bIns="0" rtlCol="0" anchor="ctr"/>
          <a:lstStyle/>
          <a:p>
            <a:pPr indent="0" marL="0">
              <a:buNone/>
            </a:pPr>
            <a:r>
              <a:rPr lang="en-US" sz="1400" dirty="0">
                <a:solidFill>
                  <a:schemeClr val="bg1"/>
                </a:solidFill>
              </a:rPr>
              <a:t>Answer the quick check correctly</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ection tile 1"/>
          <p:cNvSpPr/>
          <p:nvPr/>
        </p:nvSpPr>
        <p:spPr>
          <a:xfrm>
            <a:off x="457200" y="301752"/>
            <a:ext cx="749808" cy="841248"/>
          </a:xfrm>
          <a:prstGeom prst="roundRect">
            <a:avLst>
              <a:gd name="adj" fmla="val 12000"/>
            </a:avLst>
          </a:prstGeom>
          <a:solidFill>
            <a:srgbClr val="F6B93B">
              <a:alpha val="28000"/>
            </a:srgbClr>
          </a:solidFill>
          <a:ln w="19050">
            <a:solidFill>
              <a:srgbClr val="F6B93B"/>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1</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2900" b="1" dirty="0">
                <a:solidFill>
                  <a:schemeClr val="bg1"/>
                </a:solidFill>
              </a:rPr>
              <a:t>Ne</a:t>
            </a:r>
            <a:endParaRPr lang="en-US" sz="2900" dirty="0"/>
          </a:p>
        </p:txBody>
      </p:sp>
      <p:sp>
        <p:nvSpPr>
          <p:cNvPr id="5" name="Text 3"/>
          <p:cNvSpPr/>
          <p:nvPr/>
        </p:nvSpPr>
        <p:spPr>
          <a:xfrm>
            <a:off x="1417320" y="310896"/>
            <a:ext cx="73152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Read</a:t>
            </a:r>
            <a:endParaRPr lang="en-US" sz="1100" dirty="0"/>
          </a:p>
        </p:txBody>
      </p:sp>
      <p:sp>
        <p:nvSpPr>
          <p:cNvPr id="6" name="Text 4"/>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1 of 9</a:t>
            </a:r>
            <a:endParaRPr lang="en-US" sz="1200" dirty="0"/>
          </a:p>
        </p:txBody>
      </p:sp>
      <p:sp>
        <p:nvSpPr>
          <p:cNvPr id="7"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The octet rule</a:t>
            </a:r>
            <a:endParaRPr lang="en-US" sz="2800" dirty="0"/>
          </a:p>
        </p:txBody>
      </p:sp>
      <p:sp>
        <p:nvSpPr>
          <p:cNvPr id="8" name="Text 6"/>
          <p:cNvSpPr txBox="1"/>
          <p:nvPr/>
        </p:nvSpPr>
        <p:spPr>
          <a:xfrm>
            <a:off x="457200" y="1325880"/>
            <a:ext cx="4754880" cy="3246120"/>
          </a:xfrm>
          <a:prstGeom prst="rect">
            <a:avLst/>
          </a:prstGeom>
          <a:noFill/>
          <a:ln/>
        </p:spPr>
        <p:txBody>
          <a:bodyPr wrap="square" lIns="0" tIns="0" rIns="0" bIns="0" rtlCol="0" anchor="t"/>
          <a:lstStyle/>
          <a:p>
            <a:pPr indent="0" marL="0">
              <a:spcAft>
                <a:spcPts val="800"/>
              </a:spcAft>
              <a:buNone/>
            </a:pPr>
            <a:r>
              <a:rPr lang="en-US" sz="1500" dirty="0">
                <a:solidFill>
                  <a:schemeClr val="bg1"/>
                </a:solidFill>
              </a:rPr>
              <a:t>You already know that </a:t>
            </a:r>
            <a:pPr indent="0" marL="0">
              <a:spcAft>
                <a:spcPts val="800"/>
              </a:spcAft>
              <a:buNone/>
            </a:pPr>
            <a:r>
              <a:rPr lang="en-US" sz="1500" b="1" dirty="0">
                <a:solidFill>
                  <a:schemeClr val="accent1"/>
                </a:solidFill>
              </a:rPr>
              <a:t>valence electrons</a:t>
            </a:r>
            <a:pPr indent="0" marL="0">
              <a:spcAft>
                <a:spcPts val="800"/>
              </a:spcAft>
              <a:buNone/>
            </a:pPr>
            <a:r>
              <a:rPr lang="en-US" sz="1500" dirty="0">
                <a:solidFill>
                  <a:schemeClr val="bg1"/>
                </a:solidFill>
              </a:rPr>
              <a:t> are the electrons in an atom's outermost shell. Atoms are most stable when that outer shell is full. For most atoms, full means 8 electrons. This is called the </a:t>
            </a:r>
            <a:pPr indent="0" marL="0">
              <a:spcAft>
                <a:spcPts val="800"/>
              </a:spcAft>
              <a:buNone/>
            </a:pPr>
            <a:r>
              <a:rPr lang="en-US" sz="1500" b="1" dirty="0">
                <a:solidFill>
                  <a:schemeClr val="accent1"/>
                </a:solidFill>
              </a:rPr>
              <a:t>octet rule</a:t>
            </a:r>
            <a:pPr indent="0" marL="0">
              <a:spcAft>
                <a:spcPts val="800"/>
              </a:spcAft>
              <a:buNone/>
            </a:pPr>
            <a:r>
              <a:rPr lang="en-US" sz="1500" dirty="0">
                <a:solidFill>
                  <a:schemeClr val="bg1"/>
                </a:solidFill>
              </a:rPr>
              <a:t>. (Octet means a group of eight.)</a:t>
            </a:r>
            <a:endParaRPr lang="en-US" sz="1500" dirty="0"/>
          </a:p>
          <a:p>
            <a:pPr indent="0" marL="0">
              <a:spcAft>
                <a:spcPts val="800"/>
              </a:spcAft>
              <a:buNone/>
            </a:pPr>
            <a:r>
              <a:rPr lang="en-US" sz="1500" dirty="0">
                <a:solidFill>
                  <a:schemeClr val="bg1"/>
                </a:solidFill>
              </a:rPr>
              <a:t>The </a:t>
            </a:r>
            <a:pPr indent="0" marL="0">
              <a:spcAft>
                <a:spcPts val="800"/>
              </a:spcAft>
              <a:buNone/>
            </a:pPr>
            <a:r>
              <a:rPr lang="en-US" sz="1500" b="1" dirty="0">
                <a:solidFill>
                  <a:schemeClr val="accent1"/>
                </a:solidFill>
              </a:rPr>
              <a:t>noble gases</a:t>
            </a:r>
            <a:pPr indent="0" marL="0">
              <a:spcAft>
                <a:spcPts val="800"/>
              </a:spcAft>
              <a:buNone/>
            </a:pPr>
            <a:r>
              <a:rPr lang="en-US" sz="1500" dirty="0">
                <a:solidFill>
                  <a:schemeClr val="bg1"/>
                </a:solidFill>
              </a:rPr>
              <a:t> in group 18 already have full outer shells, so they almost never react. Helium is full with just 2, because its only shell holds 2.</a:t>
            </a:r>
            <a:endParaRPr lang="en-US" sz="1500" dirty="0"/>
          </a:p>
          <a:p>
            <a:pPr indent="0" marL="0">
              <a:spcAft>
                <a:spcPts val="800"/>
              </a:spcAft>
              <a:buNone/>
            </a:pPr>
            <a:r>
              <a:rPr lang="en-US" sz="1500" dirty="0">
                <a:solidFill>
                  <a:schemeClr val="bg1"/>
                </a:solidFill>
              </a:rPr>
              <a:t>Every other atom can reach a full outer shell by gaining or losing electrons. That's how ions form.</a:t>
            </a:r>
            <a:endParaRPr lang="en-US" sz="1500" dirty="0"/>
          </a:p>
        </p:txBody>
      </p:sp>
      <p:sp>
        <p:nvSpPr>
          <p:cNvPr id="9" name="Neon: shell 1"/>
          <p:cNvSpPr/>
          <p:nvPr/>
        </p:nvSpPr>
        <p:spPr>
          <a:xfrm>
            <a:off x="5853989" y="2104949"/>
            <a:ext cx="819302" cy="819302"/>
          </a:xfrm>
          <a:prstGeom prst="ellipse">
            <a:avLst/>
          </a:prstGeom>
          <a:solidFill>
            <a:schemeClr val="bg1">
              <a:alpha val="0"/>
            </a:schemeClr>
          </a:solidFill>
          <a:ln w="15875">
            <a:solidFill>
              <a:schemeClr val="bg2">
                <a:alpha val="55000"/>
              </a:schemeClr>
            </a:solidFill>
            <a:prstDash val="solid"/>
          </a:ln>
        </p:spPr>
      </p:sp>
      <p:sp>
        <p:nvSpPr>
          <p:cNvPr id="10" name="Neon: shell 2"/>
          <p:cNvSpPr/>
          <p:nvPr/>
        </p:nvSpPr>
        <p:spPr>
          <a:xfrm>
            <a:off x="5597957" y="1848917"/>
            <a:ext cx="1331366" cy="1331366"/>
          </a:xfrm>
          <a:prstGeom prst="ellipse">
            <a:avLst/>
          </a:prstGeom>
          <a:solidFill>
            <a:schemeClr val="bg1">
              <a:alpha val="0"/>
            </a:schemeClr>
          </a:solidFill>
          <a:ln w="15875">
            <a:solidFill>
              <a:schemeClr val="accent2">
                <a:alpha val="80000"/>
              </a:schemeClr>
            </a:solidFill>
            <a:prstDash val="solid"/>
          </a:ln>
        </p:spPr>
      </p:sp>
      <p:sp>
        <p:nvSpPr>
          <p:cNvPr id="11" name="Neon: nucleus"/>
          <p:cNvSpPr/>
          <p:nvPr/>
        </p:nvSpPr>
        <p:spPr>
          <a:xfrm>
            <a:off x="5999074" y="2250034"/>
            <a:ext cx="529133" cy="529133"/>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900" b="1" dirty="0">
                <a:solidFill>
                  <a:schemeClr val="bg1"/>
                </a:solidFill>
              </a:rPr>
              <a:t>10 p</a:t>
            </a:r>
            <a:pPr algn="ctr" indent="0" marL="0">
              <a:buNone/>
            </a:pPr>
            <a:r>
              <a:rPr lang="en-US" sz="900" b="1" baseline="30000" dirty="0">
                <a:solidFill>
                  <a:schemeClr val="bg1"/>
                </a:solidFill>
              </a:rPr>
              <a:t>+</a:t>
            </a:r>
            <a:endParaRPr lang="en-US" sz="900" dirty="0"/>
          </a:p>
          <a:p>
            <a:pPr algn="ctr" indent="0" marL="0">
              <a:buNone/>
            </a:pPr>
            <a:r>
              <a:rPr lang="en-US" sz="900" b="1" dirty="0">
                <a:solidFill>
                  <a:schemeClr val="bg1"/>
                </a:solidFill>
              </a:rPr>
              <a:t>10 n</a:t>
            </a:r>
            <a:pPr algn="ctr" indent="0" marL="0">
              <a:buNone/>
            </a:pPr>
            <a:r>
              <a:rPr lang="en-US" sz="900" b="1" baseline="30000" dirty="0">
                <a:solidFill>
                  <a:schemeClr val="bg1"/>
                </a:solidFill>
              </a:rPr>
              <a:t>0</a:t>
            </a:r>
            <a:endParaRPr lang="en-US" sz="900" dirty="0"/>
          </a:p>
        </p:txBody>
      </p:sp>
      <p:sp>
        <p:nvSpPr>
          <p:cNvPr id="12" name="Neon: electron, shell 1"/>
          <p:cNvSpPr/>
          <p:nvPr/>
        </p:nvSpPr>
        <p:spPr>
          <a:xfrm>
            <a:off x="6199632" y="2040941"/>
            <a:ext cx="128016" cy="128016"/>
          </a:xfrm>
          <a:prstGeom prst="ellipse">
            <a:avLst/>
          </a:prstGeom>
          <a:solidFill>
            <a:schemeClr val="accent1"/>
          </a:solidFill>
          <a:ln w="3175">
            <a:solidFill>
              <a:schemeClr val="accent1"/>
            </a:solidFill>
            <a:prstDash val="solid"/>
          </a:ln>
        </p:spPr>
      </p:sp>
      <p:sp>
        <p:nvSpPr>
          <p:cNvPr id="13" name="Neon: electron, shell 1"/>
          <p:cNvSpPr/>
          <p:nvPr/>
        </p:nvSpPr>
        <p:spPr>
          <a:xfrm>
            <a:off x="6609283" y="2450592"/>
            <a:ext cx="128016" cy="128016"/>
          </a:xfrm>
          <a:prstGeom prst="ellipse">
            <a:avLst/>
          </a:prstGeom>
          <a:solidFill>
            <a:schemeClr val="accent1"/>
          </a:solidFill>
          <a:ln w="3175">
            <a:solidFill>
              <a:schemeClr val="accent1"/>
            </a:solidFill>
            <a:prstDash val="solid"/>
          </a:ln>
        </p:spPr>
      </p:sp>
      <p:sp>
        <p:nvSpPr>
          <p:cNvPr id="14" name="Neon: electron, shell 2"/>
          <p:cNvSpPr/>
          <p:nvPr/>
        </p:nvSpPr>
        <p:spPr>
          <a:xfrm>
            <a:off x="6113675" y="1790482"/>
            <a:ext cx="128016" cy="128016"/>
          </a:xfrm>
          <a:prstGeom prst="ellipse">
            <a:avLst/>
          </a:prstGeom>
          <a:solidFill>
            <a:schemeClr val="accent2"/>
          </a:solidFill>
          <a:ln w="3175">
            <a:solidFill>
              <a:schemeClr val="accent2"/>
            </a:solidFill>
            <a:prstDash val="solid"/>
          </a:ln>
        </p:spPr>
      </p:sp>
      <p:sp>
        <p:nvSpPr>
          <p:cNvPr id="15" name="Neon: electron, shell 2"/>
          <p:cNvSpPr/>
          <p:nvPr/>
        </p:nvSpPr>
        <p:spPr>
          <a:xfrm>
            <a:off x="6285589" y="1790482"/>
            <a:ext cx="128016" cy="128016"/>
          </a:xfrm>
          <a:prstGeom prst="ellipse">
            <a:avLst/>
          </a:prstGeom>
          <a:solidFill>
            <a:schemeClr val="accent2"/>
          </a:solidFill>
          <a:ln w="3175">
            <a:solidFill>
              <a:schemeClr val="accent2"/>
            </a:solidFill>
            <a:prstDash val="solid"/>
          </a:ln>
        </p:spPr>
      </p:sp>
      <p:sp>
        <p:nvSpPr>
          <p:cNvPr id="16" name="Neon: electron, shell 2"/>
          <p:cNvSpPr/>
          <p:nvPr/>
        </p:nvSpPr>
        <p:spPr>
          <a:xfrm>
            <a:off x="6859742" y="2364635"/>
            <a:ext cx="128016" cy="128016"/>
          </a:xfrm>
          <a:prstGeom prst="ellipse">
            <a:avLst/>
          </a:prstGeom>
          <a:solidFill>
            <a:schemeClr val="accent2"/>
          </a:solidFill>
          <a:ln w="3175">
            <a:solidFill>
              <a:schemeClr val="accent2"/>
            </a:solidFill>
            <a:prstDash val="solid"/>
          </a:ln>
        </p:spPr>
      </p:sp>
      <p:sp>
        <p:nvSpPr>
          <p:cNvPr id="17" name="Neon: electron, shell 2"/>
          <p:cNvSpPr/>
          <p:nvPr/>
        </p:nvSpPr>
        <p:spPr>
          <a:xfrm>
            <a:off x="6859742" y="2536549"/>
            <a:ext cx="128016" cy="128016"/>
          </a:xfrm>
          <a:prstGeom prst="ellipse">
            <a:avLst/>
          </a:prstGeom>
          <a:solidFill>
            <a:schemeClr val="accent2"/>
          </a:solidFill>
          <a:ln w="3175">
            <a:solidFill>
              <a:schemeClr val="accent2"/>
            </a:solidFill>
            <a:prstDash val="solid"/>
          </a:ln>
        </p:spPr>
      </p:sp>
      <p:sp>
        <p:nvSpPr>
          <p:cNvPr id="18" name="Neon: electron, shell 2"/>
          <p:cNvSpPr/>
          <p:nvPr/>
        </p:nvSpPr>
        <p:spPr>
          <a:xfrm>
            <a:off x="6285589" y="3110702"/>
            <a:ext cx="128016" cy="128016"/>
          </a:xfrm>
          <a:prstGeom prst="ellipse">
            <a:avLst/>
          </a:prstGeom>
          <a:solidFill>
            <a:schemeClr val="accent2"/>
          </a:solidFill>
          <a:ln w="3175">
            <a:solidFill>
              <a:schemeClr val="accent2"/>
            </a:solidFill>
            <a:prstDash val="solid"/>
          </a:ln>
        </p:spPr>
      </p:sp>
      <p:sp>
        <p:nvSpPr>
          <p:cNvPr id="19" name="Neon: electron, shell 2"/>
          <p:cNvSpPr/>
          <p:nvPr/>
        </p:nvSpPr>
        <p:spPr>
          <a:xfrm>
            <a:off x="6113675" y="3110702"/>
            <a:ext cx="128016" cy="128016"/>
          </a:xfrm>
          <a:prstGeom prst="ellipse">
            <a:avLst/>
          </a:prstGeom>
          <a:solidFill>
            <a:schemeClr val="accent2"/>
          </a:solidFill>
          <a:ln w="3175">
            <a:solidFill>
              <a:schemeClr val="accent2"/>
            </a:solidFill>
            <a:prstDash val="solid"/>
          </a:ln>
        </p:spPr>
      </p:sp>
      <p:sp>
        <p:nvSpPr>
          <p:cNvPr id="20" name="Neon: electron, shell 2"/>
          <p:cNvSpPr/>
          <p:nvPr/>
        </p:nvSpPr>
        <p:spPr>
          <a:xfrm>
            <a:off x="5539522" y="2536549"/>
            <a:ext cx="128016" cy="128016"/>
          </a:xfrm>
          <a:prstGeom prst="ellipse">
            <a:avLst/>
          </a:prstGeom>
          <a:solidFill>
            <a:schemeClr val="accent2"/>
          </a:solidFill>
          <a:ln w="3175">
            <a:solidFill>
              <a:schemeClr val="accent2"/>
            </a:solidFill>
            <a:prstDash val="solid"/>
          </a:ln>
        </p:spPr>
      </p:sp>
      <p:sp>
        <p:nvSpPr>
          <p:cNvPr id="21" name="Neon: electron, shell 2"/>
          <p:cNvSpPr/>
          <p:nvPr/>
        </p:nvSpPr>
        <p:spPr>
          <a:xfrm>
            <a:off x="5539522" y="2364635"/>
            <a:ext cx="128016" cy="128016"/>
          </a:xfrm>
          <a:prstGeom prst="ellipse">
            <a:avLst/>
          </a:prstGeom>
          <a:solidFill>
            <a:schemeClr val="accent2"/>
          </a:solidFill>
          <a:ln w="3175">
            <a:solidFill>
              <a:schemeClr val="accent2"/>
            </a:solidFill>
            <a:prstDash val="solid"/>
          </a:ln>
        </p:spPr>
      </p:sp>
      <p:sp>
        <p:nvSpPr>
          <p:cNvPr id="22" name="Argon: shell 1"/>
          <p:cNvSpPr/>
          <p:nvPr/>
        </p:nvSpPr>
        <p:spPr>
          <a:xfrm>
            <a:off x="7511882" y="2162642"/>
            <a:ext cx="703915" cy="703915"/>
          </a:xfrm>
          <a:prstGeom prst="ellipse">
            <a:avLst/>
          </a:prstGeom>
          <a:solidFill>
            <a:schemeClr val="bg1">
              <a:alpha val="0"/>
            </a:schemeClr>
          </a:solidFill>
          <a:ln w="15875">
            <a:solidFill>
              <a:schemeClr val="bg2">
                <a:alpha val="55000"/>
              </a:schemeClr>
            </a:solidFill>
            <a:prstDash val="solid"/>
          </a:ln>
        </p:spPr>
      </p:sp>
      <p:sp>
        <p:nvSpPr>
          <p:cNvPr id="23" name="Argon: shell 2"/>
          <p:cNvSpPr/>
          <p:nvPr/>
        </p:nvSpPr>
        <p:spPr>
          <a:xfrm>
            <a:off x="7291909" y="1942669"/>
            <a:ext cx="1143863" cy="1143863"/>
          </a:xfrm>
          <a:prstGeom prst="ellipse">
            <a:avLst/>
          </a:prstGeom>
          <a:solidFill>
            <a:schemeClr val="bg1">
              <a:alpha val="0"/>
            </a:schemeClr>
          </a:solidFill>
          <a:ln w="15875">
            <a:solidFill>
              <a:schemeClr val="bg2">
                <a:alpha val="55000"/>
              </a:schemeClr>
            </a:solidFill>
            <a:prstDash val="solid"/>
          </a:ln>
        </p:spPr>
      </p:sp>
      <p:sp>
        <p:nvSpPr>
          <p:cNvPr id="24" name="Argon: shell 3"/>
          <p:cNvSpPr/>
          <p:nvPr/>
        </p:nvSpPr>
        <p:spPr>
          <a:xfrm>
            <a:off x="7086600" y="1737360"/>
            <a:ext cx="1554480" cy="1554480"/>
          </a:xfrm>
          <a:prstGeom prst="ellipse">
            <a:avLst/>
          </a:prstGeom>
          <a:solidFill>
            <a:schemeClr val="bg1">
              <a:alpha val="0"/>
            </a:schemeClr>
          </a:solidFill>
          <a:ln w="15875">
            <a:solidFill>
              <a:schemeClr val="accent2">
                <a:alpha val="80000"/>
              </a:schemeClr>
            </a:solidFill>
            <a:prstDash val="solid"/>
          </a:ln>
        </p:spPr>
      </p:sp>
      <p:sp>
        <p:nvSpPr>
          <p:cNvPr id="25" name="Argon: nucleus"/>
          <p:cNvSpPr/>
          <p:nvPr/>
        </p:nvSpPr>
        <p:spPr>
          <a:xfrm>
            <a:off x="7636534" y="2287294"/>
            <a:ext cx="454612" cy="454612"/>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900" b="1" dirty="0">
                <a:solidFill>
                  <a:schemeClr val="bg1"/>
                </a:solidFill>
              </a:rPr>
              <a:t>18 p</a:t>
            </a:r>
            <a:pPr algn="ctr" indent="0" marL="0">
              <a:buNone/>
            </a:pPr>
            <a:r>
              <a:rPr lang="en-US" sz="900" b="1" baseline="30000" dirty="0">
                <a:solidFill>
                  <a:schemeClr val="bg1"/>
                </a:solidFill>
              </a:rPr>
              <a:t>+</a:t>
            </a:r>
            <a:endParaRPr lang="en-US" sz="900" dirty="0"/>
          </a:p>
          <a:p>
            <a:pPr algn="ctr" indent="0" marL="0">
              <a:buNone/>
            </a:pPr>
            <a:r>
              <a:rPr lang="en-US" sz="900" b="1" dirty="0">
                <a:solidFill>
                  <a:schemeClr val="bg1"/>
                </a:solidFill>
              </a:rPr>
              <a:t>22 n</a:t>
            </a:r>
            <a:pPr algn="ctr" indent="0" marL="0">
              <a:buNone/>
            </a:pPr>
            <a:r>
              <a:rPr lang="en-US" sz="900" b="1" baseline="30000" dirty="0">
                <a:solidFill>
                  <a:schemeClr val="bg1"/>
                </a:solidFill>
              </a:rPr>
              <a:t>0</a:t>
            </a:r>
            <a:endParaRPr lang="en-US" sz="900" dirty="0"/>
          </a:p>
        </p:txBody>
      </p:sp>
      <p:sp>
        <p:nvSpPr>
          <p:cNvPr id="26" name="Argon: electron, shell 1"/>
          <p:cNvSpPr/>
          <p:nvPr/>
        </p:nvSpPr>
        <p:spPr>
          <a:xfrm>
            <a:off x="7808847" y="2107649"/>
            <a:ext cx="109987" cy="109987"/>
          </a:xfrm>
          <a:prstGeom prst="ellipse">
            <a:avLst/>
          </a:prstGeom>
          <a:solidFill>
            <a:schemeClr val="accent1"/>
          </a:solidFill>
          <a:ln w="3175">
            <a:solidFill>
              <a:schemeClr val="accent1"/>
            </a:solidFill>
            <a:prstDash val="solid"/>
          </a:ln>
        </p:spPr>
      </p:sp>
      <p:sp>
        <p:nvSpPr>
          <p:cNvPr id="27" name="Argon: electron, shell 1"/>
          <p:cNvSpPr/>
          <p:nvPr/>
        </p:nvSpPr>
        <p:spPr>
          <a:xfrm>
            <a:off x="8160804" y="2459607"/>
            <a:ext cx="109987" cy="109987"/>
          </a:xfrm>
          <a:prstGeom prst="ellipse">
            <a:avLst/>
          </a:prstGeom>
          <a:solidFill>
            <a:schemeClr val="accent1"/>
          </a:solidFill>
          <a:ln w="3175">
            <a:solidFill>
              <a:schemeClr val="accent1"/>
            </a:solidFill>
            <a:prstDash val="solid"/>
          </a:ln>
        </p:spPr>
      </p:sp>
      <p:sp>
        <p:nvSpPr>
          <p:cNvPr id="28" name="Argon: electron, shell 2"/>
          <p:cNvSpPr/>
          <p:nvPr/>
        </p:nvSpPr>
        <p:spPr>
          <a:xfrm>
            <a:off x="7734996" y="1892463"/>
            <a:ext cx="109987" cy="109987"/>
          </a:xfrm>
          <a:prstGeom prst="ellipse">
            <a:avLst/>
          </a:prstGeom>
          <a:solidFill>
            <a:schemeClr val="accent1"/>
          </a:solidFill>
          <a:ln w="3175">
            <a:solidFill>
              <a:schemeClr val="accent1"/>
            </a:solidFill>
            <a:prstDash val="solid"/>
          </a:ln>
        </p:spPr>
      </p:sp>
      <p:sp>
        <p:nvSpPr>
          <p:cNvPr id="29" name="Argon: electron, shell 2"/>
          <p:cNvSpPr/>
          <p:nvPr/>
        </p:nvSpPr>
        <p:spPr>
          <a:xfrm>
            <a:off x="7882698" y="1892463"/>
            <a:ext cx="109987" cy="109987"/>
          </a:xfrm>
          <a:prstGeom prst="ellipse">
            <a:avLst/>
          </a:prstGeom>
          <a:solidFill>
            <a:schemeClr val="accent1"/>
          </a:solidFill>
          <a:ln w="3175">
            <a:solidFill>
              <a:schemeClr val="accent1"/>
            </a:solidFill>
            <a:prstDash val="solid"/>
          </a:ln>
        </p:spPr>
      </p:sp>
      <p:sp>
        <p:nvSpPr>
          <p:cNvPr id="30" name="Argon: electron, shell 2"/>
          <p:cNvSpPr/>
          <p:nvPr/>
        </p:nvSpPr>
        <p:spPr>
          <a:xfrm>
            <a:off x="8375990" y="2385756"/>
            <a:ext cx="109987" cy="109987"/>
          </a:xfrm>
          <a:prstGeom prst="ellipse">
            <a:avLst/>
          </a:prstGeom>
          <a:solidFill>
            <a:schemeClr val="accent1"/>
          </a:solidFill>
          <a:ln w="3175">
            <a:solidFill>
              <a:schemeClr val="accent1"/>
            </a:solidFill>
            <a:prstDash val="solid"/>
          </a:ln>
        </p:spPr>
      </p:sp>
      <p:sp>
        <p:nvSpPr>
          <p:cNvPr id="31" name="Argon: electron, shell 2"/>
          <p:cNvSpPr/>
          <p:nvPr/>
        </p:nvSpPr>
        <p:spPr>
          <a:xfrm>
            <a:off x="8375990" y="2533458"/>
            <a:ext cx="109987" cy="109987"/>
          </a:xfrm>
          <a:prstGeom prst="ellipse">
            <a:avLst/>
          </a:prstGeom>
          <a:solidFill>
            <a:schemeClr val="accent1"/>
          </a:solidFill>
          <a:ln w="3175">
            <a:solidFill>
              <a:schemeClr val="accent1"/>
            </a:solidFill>
            <a:prstDash val="solid"/>
          </a:ln>
        </p:spPr>
      </p:sp>
      <p:sp>
        <p:nvSpPr>
          <p:cNvPr id="32" name="Argon: electron, shell 2"/>
          <p:cNvSpPr/>
          <p:nvPr/>
        </p:nvSpPr>
        <p:spPr>
          <a:xfrm>
            <a:off x="7882698" y="3026750"/>
            <a:ext cx="109987" cy="109987"/>
          </a:xfrm>
          <a:prstGeom prst="ellipse">
            <a:avLst/>
          </a:prstGeom>
          <a:solidFill>
            <a:schemeClr val="accent1"/>
          </a:solidFill>
          <a:ln w="3175">
            <a:solidFill>
              <a:schemeClr val="accent1"/>
            </a:solidFill>
            <a:prstDash val="solid"/>
          </a:ln>
        </p:spPr>
      </p:sp>
      <p:sp>
        <p:nvSpPr>
          <p:cNvPr id="33" name="Argon: electron, shell 2"/>
          <p:cNvSpPr/>
          <p:nvPr/>
        </p:nvSpPr>
        <p:spPr>
          <a:xfrm>
            <a:off x="7734996" y="3026750"/>
            <a:ext cx="109987" cy="109987"/>
          </a:xfrm>
          <a:prstGeom prst="ellipse">
            <a:avLst/>
          </a:prstGeom>
          <a:solidFill>
            <a:schemeClr val="accent1"/>
          </a:solidFill>
          <a:ln w="3175">
            <a:solidFill>
              <a:schemeClr val="accent1"/>
            </a:solidFill>
            <a:prstDash val="solid"/>
          </a:ln>
        </p:spPr>
      </p:sp>
      <p:sp>
        <p:nvSpPr>
          <p:cNvPr id="34" name="Argon: electron, shell 2"/>
          <p:cNvSpPr/>
          <p:nvPr/>
        </p:nvSpPr>
        <p:spPr>
          <a:xfrm>
            <a:off x="7241703" y="2533458"/>
            <a:ext cx="109987" cy="109987"/>
          </a:xfrm>
          <a:prstGeom prst="ellipse">
            <a:avLst/>
          </a:prstGeom>
          <a:solidFill>
            <a:schemeClr val="accent1"/>
          </a:solidFill>
          <a:ln w="3175">
            <a:solidFill>
              <a:schemeClr val="accent1"/>
            </a:solidFill>
            <a:prstDash val="solid"/>
          </a:ln>
        </p:spPr>
      </p:sp>
      <p:sp>
        <p:nvSpPr>
          <p:cNvPr id="35" name="Argon: electron, shell 2"/>
          <p:cNvSpPr/>
          <p:nvPr/>
        </p:nvSpPr>
        <p:spPr>
          <a:xfrm>
            <a:off x="7241703" y="2385756"/>
            <a:ext cx="109987" cy="109987"/>
          </a:xfrm>
          <a:prstGeom prst="ellipse">
            <a:avLst/>
          </a:prstGeom>
          <a:solidFill>
            <a:schemeClr val="accent1"/>
          </a:solidFill>
          <a:ln w="3175">
            <a:solidFill>
              <a:schemeClr val="accent1"/>
            </a:solidFill>
            <a:prstDash val="solid"/>
          </a:ln>
        </p:spPr>
      </p:sp>
      <p:sp>
        <p:nvSpPr>
          <p:cNvPr id="36" name="Argon: electron, shell 3"/>
          <p:cNvSpPr/>
          <p:nvPr/>
        </p:nvSpPr>
        <p:spPr>
          <a:xfrm>
            <a:off x="7734901" y="1685892"/>
            <a:ext cx="109987" cy="109987"/>
          </a:xfrm>
          <a:prstGeom prst="ellipse">
            <a:avLst/>
          </a:prstGeom>
          <a:solidFill>
            <a:schemeClr val="accent2"/>
          </a:solidFill>
          <a:ln w="3175">
            <a:solidFill>
              <a:schemeClr val="accent2"/>
            </a:solidFill>
            <a:prstDash val="solid"/>
          </a:ln>
        </p:spPr>
      </p:sp>
      <p:sp>
        <p:nvSpPr>
          <p:cNvPr id="37" name="Argon: electron, shell 3"/>
          <p:cNvSpPr/>
          <p:nvPr/>
        </p:nvSpPr>
        <p:spPr>
          <a:xfrm>
            <a:off x="7882792" y="1685892"/>
            <a:ext cx="109987" cy="109987"/>
          </a:xfrm>
          <a:prstGeom prst="ellipse">
            <a:avLst/>
          </a:prstGeom>
          <a:solidFill>
            <a:schemeClr val="accent2"/>
          </a:solidFill>
          <a:ln w="3175">
            <a:solidFill>
              <a:schemeClr val="accent2"/>
            </a:solidFill>
            <a:prstDash val="solid"/>
          </a:ln>
        </p:spPr>
      </p:sp>
      <p:sp>
        <p:nvSpPr>
          <p:cNvPr id="38" name="Argon: electron, shell 3"/>
          <p:cNvSpPr/>
          <p:nvPr/>
        </p:nvSpPr>
        <p:spPr>
          <a:xfrm>
            <a:off x="8582561" y="2385661"/>
            <a:ext cx="109987" cy="109987"/>
          </a:xfrm>
          <a:prstGeom prst="ellipse">
            <a:avLst/>
          </a:prstGeom>
          <a:solidFill>
            <a:schemeClr val="accent2"/>
          </a:solidFill>
          <a:ln w="3175">
            <a:solidFill>
              <a:schemeClr val="accent2"/>
            </a:solidFill>
            <a:prstDash val="solid"/>
          </a:ln>
        </p:spPr>
      </p:sp>
      <p:sp>
        <p:nvSpPr>
          <p:cNvPr id="39" name="Argon: electron, shell 3"/>
          <p:cNvSpPr/>
          <p:nvPr/>
        </p:nvSpPr>
        <p:spPr>
          <a:xfrm>
            <a:off x="8582561" y="2533552"/>
            <a:ext cx="109987" cy="109987"/>
          </a:xfrm>
          <a:prstGeom prst="ellipse">
            <a:avLst/>
          </a:prstGeom>
          <a:solidFill>
            <a:schemeClr val="accent2"/>
          </a:solidFill>
          <a:ln w="3175">
            <a:solidFill>
              <a:schemeClr val="accent2"/>
            </a:solidFill>
            <a:prstDash val="solid"/>
          </a:ln>
        </p:spPr>
      </p:sp>
      <p:sp>
        <p:nvSpPr>
          <p:cNvPr id="40" name="Argon: electron, shell 3"/>
          <p:cNvSpPr/>
          <p:nvPr/>
        </p:nvSpPr>
        <p:spPr>
          <a:xfrm>
            <a:off x="7882792" y="3233321"/>
            <a:ext cx="109987" cy="109987"/>
          </a:xfrm>
          <a:prstGeom prst="ellipse">
            <a:avLst/>
          </a:prstGeom>
          <a:solidFill>
            <a:schemeClr val="accent2"/>
          </a:solidFill>
          <a:ln w="3175">
            <a:solidFill>
              <a:schemeClr val="accent2"/>
            </a:solidFill>
            <a:prstDash val="solid"/>
          </a:ln>
        </p:spPr>
      </p:sp>
      <p:sp>
        <p:nvSpPr>
          <p:cNvPr id="41" name="Argon: electron, shell 3"/>
          <p:cNvSpPr/>
          <p:nvPr/>
        </p:nvSpPr>
        <p:spPr>
          <a:xfrm>
            <a:off x="7734901" y="3233321"/>
            <a:ext cx="109987" cy="109987"/>
          </a:xfrm>
          <a:prstGeom prst="ellipse">
            <a:avLst/>
          </a:prstGeom>
          <a:solidFill>
            <a:schemeClr val="accent2"/>
          </a:solidFill>
          <a:ln w="3175">
            <a:solidFill>
              <a:schemeClr val="accent2"/>
            </a:solidFill>
            <a:prstDash val="solid"/>
          </a:ln>
        </p:spPr>
      </p:sp>
      <p:sp>
        <p:nvSpPr>
          <p:cNvPr id="42" name="Argon: electron, shell 3"/>
          <p:cNvSpPr/>
          <p:nvPr/>
        </p:nvSpPr>
        <p:spPr>
          <a:xfrm>
            <a:off x="7035132" y="2533552"/>
            <a:ext cx="109987" cy="109987"/>
          </a:xfrm>
          <a:prstGeom prst="ellipse">
            <a:avLst/>
          </a:prstGeom>
          <a:solidFill>
            <a:schemeClr val="accent2"/>
          </a:solidFill>
          <a:ln w="3175">
            <a:solidFill>
              <a:schemeClr val="accent2"/>
            </a:solidFill>
            <a:prstDash val="solid"/>
          </a:ln>
        </p:spPr>
      </p:sp>
      <p:sp>
        <p:nvSpPr>
          <p:cNvPr id="43" name="Argon: electron, shell 3"/>
          <p:cNvSpPr/>
          <p:nvPr/>
        </p:nvSpPr>
        <p:spPr>
          <a:xfrm>
            <a:off x="7035132" y="2385661"/>
            <a:ext cx="109987" cy="109987"/>
          </a:xfrm>
          <a:prstGeom prst="ellipse">
            <a:avLst/>
          </a:prstGeom>
          <a:solidFill>
            <a:schemeClr val="accent2"/>
          </a:solidFill>
          <a:ln w="3175">
            <a:solidFill>
              <a:schemeClr val="accent2"/>
            </a:solidFill>
            <a:prstDash val="solid"/>
          </a:ln>
        </p:spPr>
      </p:sp>
      <p:sp>
        <p:nvSpPr>
          <p:cNvPr id="44" name="Text 42"/>
          <p:cNvSpPr txBox="1"/>
          <p:nvPr/>
        </p:nvSpPr>
        <p:spPr>
          <a:xfrm>
            <a:off x="5394960" y="3429000"/>
            <a:ext cx="1737360" cy="274320"/>
          </a:xfrm>
          <a:prstGeom prst="rect">
            <a:avLst/>
          </a:prstGeom>
          <a:noFill/>
          <a:ln/>
        </p:spPr>
        <p:txBody>
          <a:bodyPr wrap="square" lIns="0" tIns="0" rIns="0" bIns="0" rtlCol="0" anchor="t"/>
          <a:lstStyle/>
          <a:p>
            <a:pPr algn="ctr" indent="0" marL="0">
              <a:buNone/>
            </a:pPr>
            <a:r>
              <a:rPr lang="en-US" sz="1200" dirty="0">
                <a:solidFill>
                  <a:schemeClr val="bg2"/>
                </a:solidFill>
              </a:rPr>
              <a:t>Neon 2, 8</a:t>
            </a:r>
            <a:endParaRPr lang="en-US" sz="1200" dirty="0"/>
          </a:p>
        </p:txBody>
      </p:sp>
      <p:sp>
        <p:nvSpPr>
          <p:cNvPr id="45" name="Text 43"/>
          <p:cNvSpPr txBox="1"/>
          <p:nvPr/>
        </p:nvSpPr>
        <p:spPr>
          <a:xfrm>
            <a:off x="6995160" y="3429000"/>
            <a:ext cx="1737360" cy="274320"/>
          </a:xfrm>
          <a:prstGeom prst="rect">
            <a:avLst/>
          </a:prstGeom>
          <a:noFill/>
          <a:ln/>
        </p:spPr>
        <p:txBody>
          <a:bodyPr wrap="square" lIns="0" tIns="0" rIns="0" bIns="0" rtlCol="0" anchor="t"/>
          <a:lstStyle/>
          <a:p>
            <a:pPr algn="ctr" indent="0" marL="0">
              <a:buNone/>
            </a:pPr>
            <a:r>
              <a:rPr lang="en-US" sz="1200" dirty="0">
                <a:solidFill>
                  <a:schemeClr val="bg2"/>
                </a:solidFill>
              </a:rPr>
              <a:t>Argon 2, 8, 8</a:t>
            </a:r>
            <a:endParaRPr lang="en-US" sz="1200" dirty="0"/>
          </a:p>
        </p:txBody>
      </p:sp>
      <p:sp>
        <p:nvSpPr>
          <p:cNvPr id="46" name="Text 44"/>
          <p:cNvSpPr txBox="1"/>
          <p:nvPr/>
        </p:nvSpPr>
        <p:spPr>
          <a:xfrm>
            <a:off x="5394960" y="3840480"/>
            <a:ext cx="3291840" cy="365760"/>
          </a:xfrm>
          <a:prstGeom prst="rect">
            <a:avLst/>
          </a:prstGeom>
          <a:noFill/>
          <a:ln/>
        </p:spPr>
        <p:txBody>
          <a:bodyPr wrap="square" lIns="0" tIns="0" rIns="0" bIns="0" rtlCol="0" anchor="t"/>
          <a:lstStyle/>
          <a:p>
            <a:pPr algn="ctr" indent="0" marL="0">
              <a:buNone/>
            </a:pPr>
            <a:r>
              <a:rPr lang="en-US" sz="1200" dirty="0">
                <a:solidFill>
                  <a:schemeClr val="bg2"/>
                </a:solidFill>
              </a:rPr>
              <a:t>Both outer shells are full (8, in yellow).</a:t>
            </a:r>
            <a:endParaRPr lang="en-US" sz="12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ection tile 1"/>
          <p:cNvSpPr/>
          <p:nvPr/>
        </p:nvSpPr>
        <p:spPr>
          <a:xfrm>
            <a:off x="457200" y="301752"/>
            <a:ext cx="749808" cy="841248"/>
          </a:xfrm>
          <a:prstGeom prst="roundRect">
            <a:avLst>
              <a:gd name="adj" fmla="val 12000"/>
            </a:avLst>
          </a:prstGeom>
          <a:solidFill>
            <a:srgbClr val="F6B93B">
              <a:alpha val="28000"/>
            </a:srgbClr>
          </a:solidFill>
          <a:ln w="19050">
            <a:solidFill>
              <a:srgbClr val="F6B93B"/>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1</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2900" b="1" dirty="0">
                <a:solidFill>
                  <a:schemeClr val="bg1"/>
                </a:solidFill>
              </a:rPr>
              <a:t>Ne</a:t>
            </a:r>
            <a:endParaRPr lang="en-US" sz="2900" dirty="0"/>
          </a:p>
        </p:txBody>
      </p:sp>
      <p:sp>
        <p:nvSpPr>
          <p:cNvPr id="5" name="Text 3"/>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6" name="Text 4"/>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1 of 9</a:t>
            </a:r>
            <a:endParaRPr lang="en-US" sz="1200" dirty="0"/>
          </a:p>
        </p:txBody>
      </p:sp>
      <p:sp>
        <p:nvSpPr>
          <p:cNvPr id="7"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Full or not?</a:t>
            </a:r>
            <a:endParaRPr lang="en-US" sz="2800" dirty="0"/>
          </a:p>
        </p:txBody>
      </p:sp>
      <p:sp>
        <p:nvSpPr>
          <p:cNvPr id="8" name="Text 6"/>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Look at each atom's outer shell (yellow). Drag each atom to the right box, or tap an atom and then tap a box.</a:t>
            </a:r>
            <a:endParaRPr lang="en-US" sz="1300" dirty="0"/>
          </a:p>
        </p:txBody>
      </p:sp>
      <p:sp>
        <p:nvSpPr>
          <p:cNvPr id="9" name="Sodium: shell 1"/>
          <p:cNvSpPr/>
          <p:nvPr/>
        </p:nvSpPr>
        <p:spPr>
          <a:xfrm>
            <a:off x="711334" y="1945774"/>
            <a:ext cx="314692" cy="314692"/>
          </a:xfrm>
          <a:prstGeom prst="ellipse">
            <a:avLst/>
          </a:prstGeom>
          <a:solidFill>
            <a:schemeClr val="bg1">
              <a:alpha val="0"/>
            </a:schemeClr>
          </a:solidFill>
          <a:ln w="15875">
            <a:solidFill>
              <a:schemeClr val="bg2">
                <a:alpha val="55000"/>
              </a:schemeClr>
            </a:solidFill>
            <a:prstDash val="solid"/>
          </a:ln>
        </p:spPr>
      </p:sp>
      <p:sp>
        <p:nvSpPr>
          <p:cNvPr id="10" name="Sodium: shell 2"/>
          <p:cNvSpPr/>
          <p:nvPr/>
        </p:nvSpPr>
        <p:spPr>
          <a:xfrm>
            <a:off x="612993" y="1847433"/>
            <a:ext cx="511374" cy="511374"/>
          </a:xfrm>
          <a:prstGeom prst="ellipse">
            <a:avLst/>
          </a:prstGeom>
          <a:solidFill>
            <a:schemeClr val="bg1">
              <a:alpha val="0"/>
            </a:schemeClr>
          </a:solidFill>
          <a:ln w="15875">
            <a:solidFill>
              <a:schemeClr val="bg2">
                <a:alpha val="55000"/>
              </a:schemeClr>
            </a:solidFill>
            <a:prstDash val="solid"/>
          </a:ln>
        </p:spPr>
      </p:sp>
      <p:sp>
        <p:nvSpPr>
          <p:cNvPr id="11" name="Sodium: shell 3"/>
          <p:cNvSpPr/>
          <p:nvPr/>
        </p:nvSpPr>
        <p:spPr>
          <a:xfrm>
            <a:off x="521208" y="1755648"/>
            <a:ext cx="694944" cy="694944"/>
          </a:xfrm>
          <a:prstGeom prst="ellipse">
            <a:avLst/>
          </a:prstGeom>
          <a:solidFill>
            <a:schemeClr val="bg1">
              <a:alpha val="0"/>
            </a:schemeClr>
          </a:solidFill>
          <a:ln w="15875">
            <a:solidFill>
              <a:schemeClr val="accent2">
                <a:alpha val="80000"/>
              </a:schemeClr>
            </a:solidFill>
            <a:prstDash val="solid"/>
          </a:ln>
        </p:spPr>
      </p:sp>
      <p:sp>
        <p:nvSpPr>
          <p:cNvPr id="12" name="Sodium: nucleus"/>
          <p:cNvSpPr/>
          <p:nvPr/>
        </p:nvSpPr>
        <p:spPr>
          <a:xfrm>
            <a:off x="767061" y="2001501"/>
            <a:ext cx="203238" cy="203238"/>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13" name="Sodium: electron, shell 1"/>
          <p:cNvSpPr/>
          <p:nvPr/>
        </p:nvSpPr>
        <p:spPr>
          <a:xfrm>
            <a:off x="844095" y="1921189"/>
            <a:ext cx="49171" cy="49171"/>
          </a:xfrm>
          <a:prstGeom prst="ellipse">
            <a:avLst/>
          </a:prstGeom>
          <a:solidFill>
            <a:schemeClr val="accent1"/>
          </a:solidFill>
          <a:ln w="3175">
            <a:solidFill>
              <a:schemeClr val="accent1"/>
            </a:solidFill>
            <a:prstDash val="solid"/>
          </a:ln>
        </p:spPr>
      </p:sp>
      <p:sp>
        <p:nvSpPr>
          <p:cNvPr id="14" name="Sodium: electron, shell 1"/>
          <p:cNvSpPr/>
          <p:nvPr/>
        </p:nvSpPr>
        <p:spPr>
          <a:xfrm>
            <a:off x="1001441" y="2078535"/>
            <a:ext cx="49171" cy="49171"/>
          </a:xfrm>
          <a:prstGeom prst="ellipse">
            <a:avLst/>
          </a:prstGeom>
          <a:solidFill>
            <a:schemeClr val="accent1"/>
          </a:solidFill>
          <a:ln w="3175">
            <a:solidFill>
              <a:schemeClr val="accent1"/>
            </a:solidFill>
            <a:prstDash val="solid"/>
          </a:ln>
        </p:spPr>
      </p:sp>
      <p:sp>
        <p:nvSpPr>
          <p:cNvPr id="15" name="Sodium: electron, shell 2"/>
          <p:cNvSpPr/>
          <p:nvPr/>
        </p:nvSpPr>
        <p:spPr>
          <a:xfrm>
            <a:off x="811079" y="1824988"/>
            <a:ext cx="49171" cy="49171"/>
          </a:xfrm>
          <a:prstGeom prst="ellipse">
            <a:avLst/>
          </a:prstGeom>
          <a:solidFill>
            <a:schemeClr val="accent1"/>
          </a:solidFill>
          <a:ln w="3175">
            <a:solidFill>
              <a:schemeClr val="accent1"/>
            </a:solidFill>
            <a:prstDash val="solid"/>
          </a:ln>
        </p:spPr>
      </p:sp>
      <p:sp>
        <p:nvSpPr>
          <p:cNvPr id="16" name="Sodium: electron, shell 2"/>
          <p:cNvSpPr/>
          <p:nvPr/>
        </p:nvSpPr>
        <p:spPr>
          <a:xfrm>
            <a:off x="877110" y="1824988"/>
            <a:ext cx="49171" cy="49171"/>
          </a:xfrm>
          <a:prstGeom prst="ellipse">
            <a:avLst/>
          </a:prstGeom>
          <a:solidFill>
            <a:schemeClr val="accent1"/>
          </a:solidFill>
          <a:ln w="3175">
            <a:solidFill>
              <a:schemeClr val="accent1"/>
            </a:solidFill>
            <a:prstDash val="solid"/>
          </a:ln>
        </p:spPr>
      </p:sp>
      <p:sp>
        <p:nvSpPr>
          <p:cNvPr id="17" name="Sodium: electron, shell 2"/>
          <p:cNvSpPr/>
          <p:nvPr/>
        </p:nvSpPr>
        <p:spPr>
          <a:xfrm>
            <a:off x="1097641" y="2045519"/>
            <a:ext cx="49171" cy="49171"/>
          </a:xfrm>
          <a:prstGeom prst="ellipse">
            <a:avLst/>
          </a:prstGeom>
          <a:solidFill>
            <a:schemeClr val="accent1"/>
          </a:solidFill>
          <a:ln w="3175">
            <a:solidFill>
              <a:schemeClr val="accent1"/>
            </a:solidFill>
            <a:prstDash val="solid"/>
          </a:ln>
        </p:spPr>
      </p:sp>
      <p:sp>
        <p:nvSpPr>
          <p:cNvPr id="18" name="Sodium: electron, shell 2"/>
          <p:cNvSpPr/>
          <p:nvPr/>
        </p:nvSpPr>
        <p:spPr>
          <a:xfrm>
            <a:off x="1097641" y="2111550"/>
            <a:ext cx="49171" cy="49171"/>
          </a:xfrm>
          <a:prstGeom prst="ellipse">
            <a:avLst/>
          </a:prstGeom>
          <a:solidFill>
            <a:schemeClr val="accent1"/>
          </a:solidFill>
          <a:ln w="3175">
            <a:solidFill>
              <a:schemeClr val="accent1"/>
            </a:solidFill>
            <a:prstDash val="solid"/>
          </a:ln>
        </p:spPr>
      </p:sp>
      <p:sp>
        <p:nvSpPr>
          <p:cNvPr id="19" name="Sodium: electron, shell 2"/>
          <p:cNvSpPr/>
          <p:nvPr/>
        </p:nvSpPr>
        <p:spPr>
          <a:xfrm>
            <a:off x="877110" y="2332081"/>
            <a:ext cx="49171" cy="49171"/>
          </a:xfrm>
          <a:prstGeom prst="ellipse">
            <a:avLst/>
          </a:prstGeom>
          <a:solidFill>
            <a:schemeClr val="accent1"/>
          </a:solidFill>
          <a:ln w="3175">
            <a:solidFill>
              <a:schemeClr val="accent1"/>
            </a:solidFill>
            <a:prstDash val="solid"/>
          </a:ln>
        </p:spPr>
      </p:sp>
      <p:sp>
        <p:nvSpPr>
          <p:cNvPr id="20" name="Sodium: electron, shell 2"/>
          <p:cNvSpPr/>
          <p:nvPr/>
        </p:nvSpPr>
        <p:spPr>
          <a:xfrm>
            <a:off x="811079" y="2332081"/>
            <a:ext cx="49171" cy="49171"/>
          </a:xfrm>
          <a:prstGeom prst="ellipse">
            <a:avLst/>
          </a:prstGeom>
          <a:solidFill>
            <a:schemeClr val="accent1"/>
          </a:solidFill>
          <a:ln w="3175">
            <a:solidFill>
              <a:schemeClr val="accent1"/>
            </a:solidFill>
            <a:prstDash val="solid"/>
          </a:ln>
        </p:spPr>
      </p:sp>
      <p:sp>
        <p:nvSpPr>
          <p:cNvPr id="21" name="Sodium: electron, shell 2"/>
          <p:cNvSpPr/>
          <p:nvPr/>
        </p:nvSpPr>
        <p:spPr>
          <a:xfrm>
            <a:off x="590548" y="2111550"/>
            <a:ext cx="49171" cy="49171"/>
          </a:xfrm>
          <a:prstGeom prst="ellipse">
            <a:avLst/>
          </a:prstGeom>
          <a:solidFill>
            <a:schemeClr val="accent1"/>
          </a:solidFill>
          <a:ln w="3175">
            <a:solidFill>
              <a:schemeClr val="accent1"/>
            </a:solidFill>
            <a:prstDash val="solid"/>
          </a:ln>
        </p:spPr>
      </p:sp>
      <p:sp>
        <p:nvSpPr>
          <p:cNvPr id="22" name="Sodium: electron, shell 2"/>
          <p:cNvSpPr/>
          <p:nvPr/>
        </p:nvSpPr>
        <p:spPr>
          <a:xfrm>
            <a:off x="590548" y="2045519"/>
            <a:ext cx="49171" cy="49171"/>
          </a:xfrm>
          <a:prstGeom prst="ellipse">
            <a:avLst/>
          </a:prstGeom>
          <a:solidFill>
            <a:schemeClr val="accent1"/>
          </a:solidFill>
          <a:ln w="3175">
            <a:solidFill>
              <a:schemeClr val="accent1"/>
            </a:solidFill>
            <a:prstDash val="solid"/>
          </a:ln>
        </p:spPr>
      </p:sp>
      <p:sp>
        <p:nvSpPr>
          <p:cNvPr id="23" name="Sodium: electron, shell 3"/>
          <p:cNvSpPr/>
          <p:nvPr/>
        </p:nvSpPr>
        <p:spPr>
          <a:xfrm>
            <a:off x="844095" y="1731063"/>
            <a:ext cx="49171" cy="49171"/>
          </a:xfrm>
          <a:prstGeom prst="ellipse">
            <a:avLst/>
          </a:prstGeom>
          <a:solidFill>
            <a:schemeClr val="accent2"/>
          </a:solidFill>
          <a:ln w="3175">
            <a:solidFill>
              <a:schemeClr val="accent2"/>
            </a:solidFill>
            <a:prstDash val="solid"/>
          </a:ln>
        </p:spPr>
      </p:sp>
      <p:sp>
        <p:nvSpPr>
          <p:cNvPr id="24" name="Text 22"/>
          <p:cNvSpPr txBox="1"/>
          <p:nvPr/>
        </p:nvSpPr>
        <p:spPr>
          <a:xfrm>
            <a:off x="320040" y="2505456"/>
            <a:ext cx="1097280" cy="228600"/>
          </a:xfrm>
          <a:prstGeom prst="rect">
            <a:avLst/>
          </a:prstGeom>
          <a:noFill/>
          <a:ln/>
        </p:spPr>
        <p:txBody>
          <a:bodyPr wrap="square" lIns="0" tIns="0" rIns="0" bIns="0" rtlCol="0" anchor="t"/>
          <a:lstStyle/>
          <a:p>
            <a:pPr algn="ctr" indent="0" marL="0">
              <a:buNone/>
            </a:pPr>
            <a:r>
              <a:rPr lang="en-US" sz="1100" dirty="0">
                <a:solidFill>
                  <a:schemeClr val="bg2"/>
                </a:solidFill>
              </a:rPr>
              <a:t>Sodium</a:t>
            </a:r>
            <a:endParaRPr lang="en-US" sz="1100" dirty="0"/>
          </a:p>
        </p:txBody>
      </p:sp>
      <p:sp>
        <p:nvSpPr>
          <p:cNvPr id="25" name="Argon: shell 1"/>
          <p:cNvSpPr/>
          <p:nvPr/>
        </p:nvSpPr>
        <p:spPr>
          <a:xfrm>
            <a:off x="1900054" y="1945774"/>
            <a:ext cx="314692" cy="314692"/>
          </a:xfrm>
          <a:prstGeom prst="ellipse">
            <a:avLst/>
          </a:prstGeom>
          <a:solidFill>
            <a:schemeClr val="bg1">
              <a:alpha val="0"/>
            </a:schemeClr>
          </a:solidFill>
          <a:ln w="15875">
            <a:solidFill>
              <a:schemeClr val="bg2">
                <a:alpha val="55000"/>
              </a:schemeClr>
            </a:solidFill>
            <a:prstDash val="solid"/>
          </a:ln>
        </p:spPr>
      </p:sp>
      <p:sp>
        <p:nvSpPr>
          <p:cNvPr id="26" name="Argon: shell 2"/>
          <p:cNvSpPr/>
          <p:nvPr/>
        </p:nvSpPr>
        <p:spPr>
          <a:xfrm>
            <a:off x="1801713" y="1847433"/>
            <a:ext cx="511374" cy="511374"/>
          </a:xfrm>
          <a:prstGeom prst="ellipse">
            <a:avLst/>
          </a:prstGeom>
          <a:solidFill>
            <a:schemeClr val="bg1">
              <a:alpha val="0"/>
            </a:schemeClr>
          </a:solidFill>
          <a:ln w="15875">
            <a:solidFill>
              <a:schemeClr val="bg2">
                <a:alpha val="55000"/>
              </a:schemeClr>
            </a:solidFill>
            <a:prstDash val="solid"/>
          </a:ln>
        </p:spPr>
      </p:sp>
      <p:sp>
        <p:nvSpPr>
          <p:cNvPr id="27" name="Argon: shell 3"/>
          <p:cNvSpPr/>
          <p:nvPr/>
        </p:nvSpPr>
        <p:spPr>
          <a:xfrm>
            <a:off x="1709928" y="1755648"/>
            <a:ext cx="694944" cy="694944"/>
          </a:xfrm>
          <a:prstGeom prst="ellipse">
            <a:avLst/>
          </a:prstGeom>
          <a:solidFill>
            <a:schemeClr val="bg1">
              <a:alpha val="0"/>
            </a:schemeClr>
          </a:solidFill>
          <a:ln w="15875">
            <a:solidFill>
              <a:schemeClr val="accent2">
                <a:alpha val="80000"/>
              </a:schemeClr>
            </a:solidFill>
            <a:prstDash val="solid"/>
          </a:ln>
        </p:spPr>
      </p:sp>
      <p:sp>
        <p:nvSpPr>
          <p:cNvPr id="28" name="Argon: nucleus"/>
          <p:cNvSpPr/>
          <p:nvPr/>
        </p:nvSpPr>
        <p:spPr>
          <a:xfrm>
            <a:off x="1955781" y="2001501"/>
            <a:ext cx="203238" cy="203238"/>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29" name="Argon: electron, shell 1"/>
          <p:cNvSpPr/>
          <p:nvPr/>
        </p:nvSpPr>
        <p:spPr>
          <a:xfrm>
            <a:off x="2032815" y="1921189"/>
            <a:ext cx="49171" cy="49171"/>
          </a:xfrm>
          <a:prstGeom prst="ellipse">
            <a:avLst/>
          </a:prstGeom>
          <a:solidFill>
            <a:schemeClr val="accent1"/>
          </a:solidFill>
          <a:ln w="3175">
            <a:solidFill>
              <a:schemeClr val="accent1"/>
            </a:solidFill>
            <a:prstDash val="solid"/>
          </a:ln>
        </p:spPr>
      </p:sp>
      <p:sp>
        <p:nvSpPr>
          <p:cNvPr id="30" name="Argon: electron, shell 1"/>
          <p:cNvSpPr/>
          <p:nvPr/>
        </p:nvSpPr>
        <p:spPr>
          <a:xfrm>
            <a:off x="2190161" y="2078535"/>
            <a:ext cx="49171" cy="49171"/>
          </a:xfrm>
          <a:prstGeom prst="ellipse">
            <a:avLst/>
          </a:prstGeom>
          <a:solidFill>
            <a:schemeClr val="accent1"/>
          </a:solidFill>
          <a:ln w="3175">
            <a:solidFill>
              <a:schemeClr val="accent1"/>
            </a:solidFill>
            <a:prstDash val="solid"/>
          </a:ln>
        </p:spPr>
      </p:sp>
      <p:sp>
        <p:nvSpPr>
          <p:cNvPr id="31" name="Argon: electron, shell 2"/>
          <p:cNvSpPr/>
          <p:nvPr/>
        </p:nvSpPr>
        <p:spPr>
          <a:xfrm>
            <a:off x="1999799" y="1824988"/>
            <a:ext cx="49171" cy="49171"/>
          </a:xfrm>
          <a:prstGeom prst="ellipse">
            <a:avLst/>
          </a:prstGeom>
          <a:solidFill>
            <a:schemeClr val="accent1"/>
          </a:solidFill>
          <a:ln w="3175">
            <a:solidFill>
              <a:schemeClr val="accent1"/>
            </a:solidFill>
            <a:prstDash val="solid"/>
          </a:ln>
        </p:spPr>
      </p:sp>
      <p:sp>
        <p:nvSpPr>
          <p:cNvPr id="32" name="Argon: electron, shell 2"/>
          <p:cNvSpPr/>
          <p:nvPr/>
        </p:nvSpPr>
        <p:spPr>
          <a:xfrm>
            <a:off x="2065830" y="1824988"/>
            <a:ext cx="49171" cy="49171"/>
          </a:xfrm>
          <a:prstGeom prst="ellipse">
            <a:avLst/>
          </a:prstGeom>
          <a:solidFill>
            <a:schemeClr val="accent1"/>
          </a:solidFill>
          <a:ln w="3175">
            <a:solidFill>
              <a:schemeClr val="accent1"/>
            </a:solidFill>
            <a:prstDash val="solid"/>
          </a:ln>
        </p:spPr>
      </p:sp>
      <p:sp>
        <p:nvSpPr>
          <p:cNvPr id="33" name="Argon: electron, shell 2"/>
          <p:cNvSpPr/>
          <p:nvPr/>
        </p:nvSpPr>
        <p:spPr>
          <a:xfrm>
            <a:off x="2286361" y="2045519"/>
            <a:ext cx="49171" cy="49171"/>
          </a:xfrm>
          <a:prstGeom prst="ellipse">
            <a:avLst/>
          </a:prstGeom>
          <a:solidFill>
            <a:schemeClr val="accent1"/>
          </a:solidFill>
          <a:ln w="3175">
            <a:solidFill>
              <a:schemeClr val="accent1"/>
            </a:solidFill>
            <a:prstDash val="solid"/>
          </a:ln>
        </p:spPr>
      </p:sp>
      <p:sp>
        <p:nvSpPr>
          <p:cNvPr id="34" name="Argon: electron, shell 2"/>
          <p:cNvSpPr/>
          <p:nvPr/>
        </p:nvSpPr>
        <p:spPr>
          <a:xfrm>
            <a:off x="2286361" y="2111550"/>
            <a:ext cx="49171" cy="49171"/>
          </a:xfrm>
          <a:prstGeom prst="ellipse">
            <a:avLst/>
          </a:prstGeom>
          <a:solidFill>
            <a:schemeClr val="accent1"/>
          </a:solidFill>
          <a:ln w="3175">
            <a:solidFill>
              <a:schemeClr val="accent1"/>
            </a:solidFill>
            <a:prstDash val="solid"/>
          </a:ln>
        </p:spPr>
      </p:sp>
      <p:sp>
        <p:nvSpPr>
          <p:cNvPr id="35" name="Argon: electron, shell 2"/>
          <p:cNvSpPr/>
          <p:nvPr/>
        </p:nvSpPr>
        <p:spPr>
          <a:xfrm>
            <a:off x="2065830" y="2332081"/>
            <a:ext cx="49171" cy="49171"/>
          </a:xfrm>
          <a:prstGeom prst="ellipse">
            <a:avLst/>
          </a:prstGeom>
          <a:solidFill>
            <a:schemeClr val="accent1"/>
          </a:solidFill>
          <a:ln w="3175">
            <a:solidFill>
              <a:schemeClr val="accent1"/>
            </a:solidFill>
            <a:prstDash val="solid"/>
          </a:ln>
        </p:spPr>
      </p:sp>
      <p:sp>
        <p:nvSpPr>
          <p:cNvPr id="36" name="Argon: electron, shell 2"/>
          <p:cNvSpPr/>
          <p:nvPr/>
        </p:nvSpPr>
        <p:spPr>
          <a:xfrm>
            <a:off x="1999799" y="2332081"/>
            <a:ext cx="49171" cy="49171"/>
          </a:xfrm>
          <a:prstGeom prst="ellipse">
            <a:avLst/>
          </a:prstGeom>
          <a:solidFill>
            <a:schemeClr val="accent1"/>
          </a:solidFill>
          <a:ln w="3175">
            <a:solidFill>
              <a:schemeClr val="accent1"/>
            </a:solidFill>
            <a:prstDash val="solid"/>
          </a:ln>
        </p:spPr>
      </p:sp>
      <p:sp>
        <p:nvSpPr>
          <p:cNvPr id="37" name="Argon: electron, shell 2"/>
          <p:cNvSpPr/>
          <p:nvPr/>
        </p:nvSpPr>
        <p:spPr>
          <a:xfrm>
            <a:off x="1779268" y="2111550"/>
            <a:ext cx="49171" cy="49171"/>
          </a:xfrm>
          <a:prstGeom prst="ellipse">
            <a:avLst/>
          </a:prstGeom>
          <a:solidFill>
            <a:schemeClr val="accent1"/>
          </a:solidFill>
          <a:ln w="3175">
            <a:solidFill>
              <a:schemeClr val="accent1"/>
            </a:solidFill>
            <a:prstDash val="solid"/>
          </a:ln>
        </p:spPr>
      </p:sp>
      <p:sp>
        <p:nvSpPr>
          <p:cNvPr id="38" name="Argon: electron, shell 2"/>
          <p:cNvSpPr/>
          <p:nvPr/>
        </p:nvSpPr>
        <p:spPr>
          <a:xfrm>
            <a:off x="1779268" y="2045519"/>
            <a:ext cx="49171" cy="49171"/>
          </a:xfrm>
          <a:prstGeom prst="ellipse">
            <a:avLst/>
          </a:prstGeom>
          <a:solidFill>
            <a:schemeClr val="accent1"/>
          </a:solidFill>
          <a:ln w="3175">
            <a:solidFill>
              <a:schemeClr val="accent1"/>
            </a:solidFill>
            <a:prstDash val="solid"/>
          </a:ln>
        </p:spPr>
      </p:sp>
      <p:sp>
        <p:nvSpPr>
          <p:cNvPr id="39" name="Argon: electron, shell 3"/>
          <p:cNvSpPr/>
          <p:nvPr/>
        </p:nvSpPr>
        <p:spPr>
          <a:xfrm>
            <a:off x="1999757" y="1732639"/>
            <a:ext cx="49171" cy="49171"/>
          </a:xfrm>
          <a:prstGeom prst="ellipse">
            <a:avLst/>
          </a:prstGeom>
          <a:solidFill>
            <a:schemeClr val="accent2"/>
          </a:solidFill>
          <a:ln w="3175">
            <a:solidFill>
              <a:schemeClr val="accent2"/>
            </a:solidFill>
            <a:prstDash val="solid"/>
          </a:ln>
        </p:spPr>
      </p:sp>
      <p:sp>
        <p:nvSpPr>
          <p:cNvPr id="40" name="Argon: electron, shell 3"/>
          <p:cNvSpPr/>
          <p:nvPr/>
        </p:nvSpPr>
        <p:spPr>
          <a:xfrm>
            <a:off x="2065873" y="1732639"/>
            <a:ext cx="49171" cy="49171"/>
          </a:xfrm>
          <a:prstGeom prst="ellipse">
            <a:avLst/>
          </a:prstGeom>
          <a:solidFill>
            <a:schemeClr val="accent2"/>
          </a:solidFill>
          <a:ln w="3175">
            <a:solidFill>
              <a:schemeClr val="accent2"/>
            </a:solidFill>
            <a:prstDash val="solid"/>
          </a:ln>
        </p:spPr>
      </p:sp>
      <p:sp>
        <p:nvSpPr>
          <p:cNvPr id="41" name="Argon: electron, shell 3"/>
          <p:cNvSpPr/>
          <p:nvPr/>
        </p:nvSpPr>
        <p:spPr>
          <a:xfrm>
            <a:off x="2378711" y="2045477"/>
            <a:ext cx="49171" cy="49171"/>
          </a:xfrm>
          <a:prstGeom prst="ellipse">
            <a:avLst/>
          </a:prstGeom>
          <a:solidFill>
            <a:schemeClr val="accent2"/>
          </a:solidFill>
          <a:ln w="3175">
            <a:solidFill>
              <a:schemeClr val="accent2"/>
            </a:solidFill>
            <a:prstDash val="solid"/>
          </a:ln>
        </p:spPr>
      </p:sp>
      <p:sp>
        <p:nvSpPr>
          <p:cNvPr id="42" name="Argon: electron, shell 3"/>
          <p:cNvSpPr/>
          <p:nvPr/>
        </p:nvSpPr>
        <p:spPr>
          <a:xfrm>
            <a:off x="2378711" y="2111593"/>
            <a:ext cx="49171" cy="49171"/>
          </a:xfrm>
          <a:prstGeom prst="ellipse">
            <a:avLst/>
          </a:prstGeom>
          <a:solidFill>
            <a:schemeClr val="accent2"/>
          </a:solidFill>
          <a:ln w="3175">
            <a:solidFill>
              <a:schemeClr val="accent2"/>
            </a:solidFill>
            <a:prstDash val="solid"/>
          </a:ln>
        </p:spPr>
      </p:sp>
      <p:sp>
        <p:nvSpPr>
          <p:cNvPr id="43" name="Argon: electron, shell 3"/>
          <p:cNvSpPr/>
          <p:nvPr/>
        </p:nvSpPr>
        <p:spPr>
          <a:xfrm>
            <a:off x="2065873" y="2424431"/>
            <a:ext cx="49171" cy="49171"/>
          </a:xfrm>
          <a:prstGeom prst="ellipse">
            <a:avLst/>
          </a:prstGeom>
          <a:solidFill>
            <a:schemeClr val="accent2"/>
          </a:solidFill>
          <a:ln w="3175">
            <a:solidFill>
              <a:schemeClr val="accent2"/>
            </a:solidFill>
            <a:prstDash val="solid"/>
          </a:ln>
        </p:spPr>
      </p:sp>
      <p:sp>
        <p:nvSpPr>
          <p:cNvPr id="44" name="Argon: electron, shell 3"/>
          <p:cNvSpPr/>
          <p:nvPr/>
        </p:nvSpPr>
        <p:spPr>
          <a:xfrm>
            <a:off x="1999757" y="2424431"/>
            <a:ext cx="49171" cy="49171"/>
          </a:xfrm>
          <a:prstGeom prst="ellipse">
            <a:avLst/>
          </a:prstGeom>
          <a:solidFill>
            <a:schemeClr val="accent2"/>
          </a:solidFill>
          <a:ln w="3175">
            <a:solidFill>
              <a:schemeClr val="accent2"/>
            </a:solidFill>
            <a:prstDash val="solid"/>
          </a:ln>
        </p:spPr>
      </p:sp>
      <p:sp>
        <p:nvSpPr>
          <p:cNvPr id="45" name="Argon: electron, shell 3"/>
          <p:cNvSpPr/>
          <p:nvPr/>
        </p:nvSpPr>
        <p:spPr>
          <a:xfrm>
            <a:off x="1686919" y="2111593"/>
            <a:ext cx="49171" cy="49171"/>
          </a:xfrm>
          <a:prstGeom prst="ellipse">
            <a:avLst/>
          </a:prstGeom>
          <a:solidFill>
            <a:schemeClr val="accent2"/>
          </a:solidFill>
          <a:ln w="3175">
            <a:solidFill>
              <a:schemeClr val="accent2"/>
            </a:solidFill>
            <a:prstDash val="solid"/>
          </a:ln>
        </p:spPr>
      </p:sp>
      <p:sp>
        <p:nvSpPr>
          <p:cNvPr id="46" name="Argon: electron, shell 3"/>
          <p:cNvSpPr/>
          <p:nvPr/>
        </p:nvSpPr>
        <p:spPr>
          <a:xfrm>
            <a:off x="1686919" y="2045477"/>
            <a:ext cx="49171" cy="49171"/>
          </a:xfrm>
          <a:prstGeom prst="ellipse">
            <a:avLst/>
          </a:prstGeom>
          <a:solidFill>
            <a:schemeClr val="accent2"/>
          </a:solidFill>
          <a:ln w="3175">
            <a:solidFill>
              <a:schemeClr val="accent2"/>
            </a:solidFill>
            <a:prstDash val="solid"/>
          </a:ln>
        </p:spPr>
      </p:sp>
      <p:sp>
        <p:nvSpPr>
          <p:cNvPr id="47" name="Text 45"/>
          <p:cNvSpPr txBox="1"/>
          <p:nvPr/>
        </p:nvSpPr>
        <p:spPr>
          <a:xfrm>
            <a:off x="1508760" y="2505456"/>
            <a:ext cx="1097280" cy="228600"/>
          </a:xfrm>
          <a:prstGeom prst="rect">
            <a:avLst/>
          </a:prstGeom>
          <a:noFill/>
          <a:ln/>
        </p:spPr>
        <p:txBody>
          <a:bodyPr wrap="square" lIns="0" tIns="0" rIns="0" bIns="0" rtlCol="0" anchor="t"/>
          <a:lstStyle/>
          <a:p>
            <a:pPr algn="ctr" indent="0" marL="0">
              <a:buNone/>
            </a:pPr>
            <a:r>
              <a:rPr lang="en-US" sz="1100" dirty="0">
                <a:solidFill>
                  <a:schemeClr val="bg2"/>
                </a:solidFill>
              </a:rPr>
              <a:t>Argon</a:t>
            </a:r>
            <a:endParaRPr lang="en-US" sz="1100" dirty="0"/>
          </a:p>
        </p:txBody>
      </p:sp>
      <p:sp>
        <p:nvSpPr>
          <p:cNvPr id="48" name="Oxygen: shell 1"/>
          <p:cNvSpPr/>
          <p:nvPr/>
        </p:nvSpPr>
        <p:spPr>
          <a:xfrm>
            <a:off x="3055925" y="1912925"/>
            <a:ext cx="380390" cy="380390"/>
          </a:xfrm>
          <a:prstGeom prst="ellipse">
            <a:avLst/>
          </a:prstGeom>
          <a:solidFill>
            <a:schemeClr val="bg1">
              <a:alpha val="0"/>
            </a:schemeClr>
          </a:solidFill>
          <a:ln w="15875">
            <a:solidFill>
              <a:schemeClr val="bg2">
                <a:alpha val="55000"/>
              </a:schemeClr>
            </a:solidFill>
            <a:prstDash val="solid"/>
          </a:ln>
        </p:spPr>
      </p:sp>
      <p:sp>
        <p:nvSpPr>
          <p:cNvPr id="49" name="Oxygen: shell 2"/>
          <p:cNvSpPr/>
          <p:nvPr/>
        </p:nvSpPr>
        <p:spPr>
          <a:xfrm>
            <a:off x="2937053" y="1794053"/>
            <a:ext cx="618134" cy="618134"/>
          </a:xfrm>
          <a:prstGeom prst="ellipse">
            <a:avLst/>
          </a:prstGeom>
          <a:solidFill>
            <a:schemeClr val="bg1">
              <a:alpha val="0"/>
            </a:schemeClr>
          </a:solidFill>
          <a:ln w="15875">
            <a:solidFill>
              <a:schemeClr val="accent2">
                <a:alpha val="80000"/>
              </a:schemeClr>
            </a:solidFill>
            <a:prstDash val="solid"/>
          </a:ln>
        </p:spPr>
      </p:sp>
      <p:sp>
        <p:nvSpPr>
          <p:cNvPr id="50" name="Oxygen: nucleus"/>
          <p:cNvSpPr/>
          <p:nvPr/>
        </p:nvSpPr>
        <p:spPr>
          <a:xfrm>
            <a:off x="3123286" y="1980286"/>
            <a:ext cx="245669" cy="245669"/>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51" name="Oxygen: electron, shell 1"/>
          <p:cNvSpPr/>
          <p:nvPr/>
        </p:nvSpPr>
        <p:spPr>
          <a:xfrm>
            <a:off x="3216402" y="1883207"/>
            <a:ext cx="59436" cy="59436"/>
          </a:xfrm>
          <a:prstGeom prst="ellipse">
            <a:avLst/>
          </a:prstGeom>
          <a:solidFill>
            <a:schemeClr val="accent1"/>
          </a:solidFill>
          <a:ln w="3175">
            <a:solidFill>
              <a:schemeClr val="accent1"/>
            </a:solidFill>
            <a:prstDash val="solid"/>
          </a:ln>
        </p:spPr>
      </p:sp>
      <p:sp>
        <p:nvSpPr>
          <p:cNvPr id="52" name="Oxygen: electron, shell 1"/>
          <p:cNvSpPr/>
          <p:nvPr/>
        </p:nvSpPr>
        <p:spPr>
          <a:xfrm>
            <a:off x="3406597" y="2073402"/>
            <a:ext cx="59436" cy="59436"/>
          </a:xfrm>
          <a:prstGeom prst="ellipse">
            <a:avLst/>
          </a:prstGeom>
          <a:solidFill>
            <a:schemeClr val="accent1"/>
          </a:solidFill>
          <a:ln w="3175">
            <a:solidFill>
              <a:schemeClr val="accent1"/>
            </a:solidFill>
            <a:prstDash val="solid"/>
          </a:ln>
        </p:spPr>
      </p:sp>
      <p:sp>
        <p:nvSpPr>
          <p:cNvPr id="53" name="Oxygen: electron, shell 2"/>
          <p:cNvSpPr/>
          <p:nvPr/>
        </p:nvSpPr>
        <p:spPr>
          <a:xfrm>
            <a:off x="3176494" y="1766922"/>
            <a:ext cx="59436" cy="59436"/>
          </a:xfrm>
          <a:prstGeom prst="ellipse">
            <a:avLst/>
          </a:prstGeom>
          <a:solidFill>
            <a:schemeClr val="accent2"/>
          </a:solidFill>
          <a:ln w="3175">
            <a:solidFill>
              <a:schemeClr val="accent2"/>
            </a:solidFill>
            <a:prstDash val="solid"/>
          </a:ln>
        </p:spPr>
      </p:sp>
      <p:sp>
        <p:nvSpPr>
          <p:cNvPr id="54" name="Oxygen: electron, shell 2"/>
          <p:cNvSpPr/>
          <p:nvPr/>
        </p:nvSpPr>
        <p:spPr>
          <a:xfrm>
            <a:off x="3256310" y="1766922"/>
            <a:ext cx="59436" cy="59436"/>
          </a:xfrm>
          <a:prstGeom prst="ellipse">
            <a:avLst/>
          </a:prstGeom>
          <a:solidFill>
            <a:schemeClr val="accent2"/>
          </a:solidFill>
          <a:ln w="3175">
            <a:solidFill>
              <a:schemeClr val="accent2"/>
            </a:solidFill>
            <a:prstDash val="solid"/>
          </a:ln>
        </p:spPr>
      </p:sp>
      <p:sp>
        <p:nvSpPr>
          <p:cNvPr id="55" name="Oxygen: electron, shell 2"/>
          <p:cNvSpPr/>
          <p:nvPr/>
        </p:nvSpPr>
        <p:spPr>
          <a:xfrm>
            <a:off x="3522882" y="2033494"/>
            <a:ext cx="59436" cy="59436"/>
          </a:xfrm>
          <a:prstGeom prst="ellipse">
            <a:avLst/>
          </a:prstGeom>
          <a:solidFill>
            <a:schemeClr val="accent2"/>
          </a:solidFill>
          <a:ln w="3175">
            <a:solidFill>
              <a:schemeClr val="accent2"/>
            </a:solidFill>
            <a:prstDash val="solid"/>
          </a:ln>
        </p:spPr>
      </p:sp>
      <p:sp>
        <p:nvSpPr>
          <p:cNvPr id="56" name="Oxygen: electron, shell 2"/>
          <p:cNvSpPr/>
          <p:nvPr/>
        </p:nvSpPr>
        <p:spPr>
          <a:xfrm>
            <a:off x="3522882" y="2113310"/>
            <a:ext cx="59436" cy="59436"/>
          </a:xfrm>
          <a:prstGeom prst="ellipse">
            <a:avLst/>
          </a:prstGeom>
          <a:solidFill>
            <a:schemeClr val="accent2"/>
          </a:solidFill>
          <a:ln w="3175">
            <a:solidFill>
              <a:schemeClr val="accent2"/>
            </a:solidFill>
            <a:prstDash val="solid"/>
          </a:ln>
        </p:spPr>
      </p:sp>
      <p:sp>
        <p:nvSpPr>
          <p:cNvPr id="57" name="Oxygen: electron, shell 2"/>
          <p:cNvSpPr/>
          <p:nvPr/>
        </p:nvSpPr>
        <p:spPr>
          <a:xfrm>
            <a:off x="3216402" y="2382469"/>
            <a:ext cx="59436" cy="59436"/>
          </a:xfrm>
          <a:prstGeom prst="ellipse">
            <a:avLst/>
          </a:prstGeom>
          <a:solidFill>
            <a:schemeClr val="accent2"/>
          </a:solidFill>
          <a:ln w="3175">
            <a:solidFill>
              <a:schemeClr val="accent2"/>
            </a:solidFill>
            <a:prstDash val="solid"/>
          </a:ln>
        </p:spPr>
      </p:sp>
      <p:sp>
        <p:nvSpPr>
          <p:cNvPr id="58" name="Oxygen: electron, shell 2"/>
          <p:cNvSpPr/>
          <p:nvPr/>
        </p:nvSpPr>
        <p:spPr>
          <a:xfrm>
            <a:off x="2907335" y="2073402"/>
            <a:ext cx="59436" cy="59436"/>
          </a:xfrm>
          <a:prstGeom prst="ellipse">
            <a:avLst/>
          </a:prstGeom>
          <a:solidFill>
            <a:schemeClr val="accent2"/>
          </a:solidFill>
          <a:ln w="3175">
            <a:solidFill>
              <a:schemeClr val="accent2"/>
            </a:solidFill>
            <a:prstDash val="solid"/>
          </a:ln>
        </p:spPr>
      </p:sp>
      <p:sp>
        <p:nvSpPr>
          <p:cNvPr id="59" name="Text 57"/>
          <p:cNvSpPr txBox="1"/>
          <p:nvPr/>
        </p:nvSpPr>
        <p:spPr>
          <a:xfrm>
            <a:off x="2697480" y="2505456"/>
            <a:ext cx="1097280" cy="228600"/>
          </a:xfrm>
          <a:prstGeom prst="rect">
            <a:avLst/>
          </a:prstGeom>
          <a:noFill/>
          <a:ln/>
        </p:spPr>
        <p:txBody>
          <a:bodyPr wrap="square" lIns="0" tIns="0" rIns="0" bIns="0" rtlCol="0" anchor="t"/>
          <a:lstStyle/>
          <a:p>
            <a:pPr algn="ctr" indent="0" marL="0">
              <a:buNone/>
            </a:pPr>
            <a:r>
              <a:rPr lang="en-US" sz="1100" dirty="0">
                <a:solidFill>
                  <a:schemeClr val="bg2"/>
                </a:solidFill>
              </a:rPr>
              <a:t>Oxygen</a:t>
            </a:r>
            <a:endParaRPr lang="en-US" sz="1100" dirty="0"/>
          </a:p>
        </p:txBody>
      </p:sp>
      <p:sp>
        <p:nvSpPr>
          <p:cNvPr id="60" name="Helium: shell 1"/>
          <p:cNvSpPr/>
          <p:nvPr/>
        </p:nvSpPr>
        <p:spPr>
          <a:xfrm>
            <a:off x="4244645" y="1912925"/>
            <a:ext cx="380390" cy="380390"/>
          </a:xfrm>
          <a:prstGeom prst="ellipse">
            <a:avLst/>
          </a:prstGeom>
          <a:solidFill>
            <a:schemeClr val="bg1">
              <a:alpha val="0"/>
            </a:schemeClr>
          </a:solidFill>
          <a:ln w="15875">
            <a:solidFill>
              <a:schemeClr val="accent2">
                <a:alpha val="80000"/>
              </a:schemeClr>
            </a:solidFill>
            <a:prstDash val="solid"/>
          </a:ln>
        </p:spPr>
      </p:sp>
      <p:sp>
        <p:nvSpPr>
          <p:cNvPr id="61" name="Helium: nucleus"/>
          <p:cNvSpPr/>
          <p:nvPr/>
        </p:nvSpPr>
        <p:spPr>
          <a:xfrm>
            <a:off x="4312006" y="1980286"/>
            <a:ext cx="245669" cy="245669"/>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62" name="Helium: electron, shell 1"/>
          <p:cNvSpPr/>
          <p:nvPr/>
        </p:nvSpPr>
        <p:spPr>
          <a:xfrm>
            <a:off x="4405122" y="1883207"/>
            <a:ext cx="59436" cy="59436"/>
          </a:xfrm>
          <a:prstGeom prst="ellipse">
            <a:avLst/>
          </a:prstGeom>
          <a:solidFill>
            <a:schemeClr val="accent2"/>
          </a:solidFill>
          <a:ln w="3175">
            <a:solidFill>
              <a:schemeClr val="accent2"/>
            </a:solidFill>
            <a:prstDash val="solid"/>
          </a:ln>
        </p:spPr>
      </p:sp>
      <p:sp>
        <p:nvSpPr>
          <p:cNvPr id="63" name="Helium: electron, shell 1"/>
          <p:cNvSpPr/>
          <p:nvPr/>
        </p:nvSpPr>
        <p:spPr>
          <a:xfrm>
            <a:off x="4595317" y="2073402"/>
            <a:ext cx="59436" cy="59436"/>
          </a:xfrm>
          <a:prstGeom prst="ellipse">
            <a:avLst/>
          </a:prstGeom>
          <a:solidFill>
            <a:schemeClr val="accent2"/>
          </a:solidFill>
          <a:ln w="3175">
            <a:solidFill>
              <a:schemeClr val="accent2"/>
            </a:solidFill>
            <a:prstDash val="solid"/>
          </a:ln>
        </p:spPr>
      </p:sp>
      <p:sp>
        <p:nvSpPr>
          <p:cNvPr id="64" name="Text 62"/>
          <p:cNvSpPr txBox="1"/>
          <p:nvPr/>
        </p:nvSpPr>
        <p:spPr>
          <a:xfrm>
            <a:off x="3886200" y="2505456"/>
            <a:ext cx="1097280" cy="228600"/>
          </a:xfrm>
          <a:prstGeom prst="rect">
            <a:avLst/>
          </a:prstGeom>
          <a:noFill/>
          <a:ln/>
        </p:spPr>
        <p:txBody>
          <a:bodyPr wrap="square" lIns="0" tIns="0" rIns="0" bIns="0" rtlCol="0" anchor="t"/>
          <a:lstStyle/>
          <a:p>
            <a:pPr algn="ctr" indent="0" marL="0">
              <a:buNone/>
            </a:pPr>
            <a:r>
              <a:rPr lang="en-US" sz="1100" dirty="0">
                <a:solidFill>
                  <a:schemeClr val="bg2"/>
                </a:solidFill>
              </a:rPr>
              <a:t>Helium</a:t>
            </a:r>
            <a:endParaRPr lang="en-US" sz="1100" dirty="0"/>
          </a:p>
        </p:txBody>
      </p:sp>
      <p:sp>
        <p:nvSpPr>
          <p:cNvPr id="65" name="Chlorine: shell 1"/>
          <p:cNvSpPr/>
          <p:nvPr/>
        </p:nvSpPr>
        <p:spPr>
          <a:xfrm>
            <a:off x="5466214" y="1945774"/>
            <a:ext cx="314692" cy="314692"/>
          </a:xfrm>
          <a:prstGeom prst="ellipse">
            <a:avLst/>
          </a:prstGeom>
          <a:solidFill>
            <a:schemeClr val="bg1">
              <a:alpha val="0"/>
            </a:schemeClr>
          </a:solidFill>
          <a:ln w="15875">
            <a:solidFill>
              <a:schemeClr val="bg2">
                <a:alpha val="55000"/>
              </a:schemeClr>
            </a:solidFill>
            <a:prstDash val="solid"/>
          </a:ln>
        </p:spPr>
      </p:sp>
      <p:sp>
        <p:nvSpPr>
          <p:cNvPr id="66" name="Chlorine: shell 2"/>
          <p:cNvSpPr/>
          <p:nvPr/>
        </p:nvSpPr>
        <p:spPr>
          <a:xfrm>
            <a:off x="5367873" y="1847433"/>
            <a:ext cx="511374" cy="511374"/>
          </a:xfrm>
          <a:prstGeom prst="ellipse">
            <a:avLst/>
          </a:prstGeom>
          <a:solidFill>
            <a:schemeClr val="bg1">
              <a:alpha val="0"/>
            </a:schemeClr>
          </a:solidFill>
          <a:ln w="15875">
            <a:solidFill>
              <a:schemeClr val="bg2">
                <a:alpha val="55000"/>
              </a:schemeClr>
            </a:solidFill>
            <a:prstDash val="solid"/>
          </a:ln>
        </p:spPr>
      </p:sp>
      <p:sp>
        <p:nvSpPr>
          <p:cNvPr id="67" name="Chlorine: shell 3"/>
          <p:cNvSpPr/>
          <p:nvPr/>
        </p:nvSpPr>
        <p:spPr>
          <a:xfrm>
            <a:off x="5276088" y="1755648"/>
            <a:ext cx="694944" cy="694944"/>
          </a:xfrm>
          <a:prstGeom prst="ellipse">
            <a:avLst/>
          </a:prstGeom>
          <a:solidFill>
            <a:schemeClr val="bg1">
              <a:alpha val="0"/>
            </a:schemeClr>
          </a:solidFill>
          <a:ln w="15875">
            <a:solidFill>
              <a:schemeClr val="accent2">
                <a:alpha val="80000"/>
              </a:schemeClr>
            </a:solidFill>
            <a:prstDash val="solid"/>
          </a:ln>
        </p:spPr>
      </p:sp>
      <p:sp>
        <p:nvSpPr>
          <p:cNvPr id="68" name="Chlorine: nucleus"/>
          <p:cNvSpPr/>
          <p:nvPr/>
        </p:nvSpPr>
        <p:spPr>
          <a:xfrm>
            <a:off x="5521941" y="2001501"/>
            <a:ext cx="203238" cy="203238"/>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69" name="Chlorine: electron, shell 1"/>
          <p:cNvSpPr/>
          <p:nvPr/>
        </p:nvSpPr>
        <p:spPr>
          <a:xfrm>
            <a:off x="5598975" y="1921189"/>
            <a:ext cx="49171" cy="49171"/>
          </a:xfrm>
          <a:prstGeom prst="ellipse">
            <a:avLst/>
          </a:prstGeom>
          <a:solidFill>
            <a:schemeClr val="accent1"/>
          </a:solidFill>
          <a:ln w="3175">
            <a:solidFill>
              <a:schemeClr val="accent1"/>
            </a:solidFill>
            <a:prstDash val="solid"/>
          </a:ln>
        </p:spPr>
      </p:sp>
      <p:sp>
        <p:nvSpPr>
          <p:cNvPr id="70" name="Chlorine: electron, shell 1"/>
          <p:cNvSpPr/>
          <p:nvPr/>
        </p:nvSpPr>
        <p:spPr>
          <a:xfrm>
            <a:off x="5756321" y="2078535"/>
            <a:ext cx="49171" cy="49171"/>
          </a:xfrm>
          <a:prstGeom prst="ellipse">
            <a:avLst/>
          </a:prstGeom>
          <a:solidFill>
            <a:schemeClr val="accent1"/>
          </a:solidFill>
          <a:ln w="3175">
            <a:solidFill>
              <a:schemeClr val="accent1"/>
            </a:solidFill>
            <a:prstDash val="solid"/>
          </a:ln>
        </p:spPr>
      </p:sp>
      <p:sp>
        <p:nvSpPr>
          <p:cNvPr id="71" name="Chlorine: electron, shell 2"/>
          <p:cNvSpPr/>
          <p:nvPr/>
        </p:nvSpPr>
        <p:spPr>
          <a:xfrm>
            <a:off x="5565959" y="1824988"/>
            <a:ext cx="49171" cy="49171"/>
          </a:xfrm>
          <a:prstGeom prst="ellipse">
            <a:avLst/>
          </a:prstGeom>
          <a:solidFill>
            <a:schemeClr val="accent1"/>
          </a:solidFill>
          <a:ln w="3175">
            <a:solidFill>
              <a:schemeClr val="accent1"/>
            </a:solidFill>
            <a:prstDash val="solid"/>
          </a:ln>
        </p:spPr>
      </p:sp>
      <p:sp>
        <p:nvSpPr>
          <p:cNvPr id="72" name="Chlorine: electron, shell 2"/>
          <p:cNvSpPr/>
          <p:nvPr/>
        </p:nvSpPr>
        <p:spPr>
          <a:xfrm>
            <a:off x="5631990" y="1824988"/>
            <a:ext cx="49171" cy="49171"/>
          </a:xfrm>
          <a:prstGeom prst="ellipse">
            <a:avLst/>
          </a:prstGeom>
          <a:solidFill>
            <a:schemeClr val="accent1"/>
          </a:solidFill>
          <a:ln w="3175">
            <a:solidFill>
              <a:schemeClr val="accent1"/>
            </a:solidFill>
            <a:prstDash val="solid"/>
          </a:ln>
        </p:spPr>
      </p:sp>
      <p:sp>
        <p:nvSpPr>
          <p:cNvPr id="73" name="Chlorine: electron, shell 2"/>
          <p:cNvSpPr/>
          <p:nvPr/>
        </p:nvSpPr>
        <p:spPr>
          <a:xfrm>
            <a:off x="5852521" y="2045519"/>
            <a:ext cx="49171" cy="49171"/>
          </a:xfrm>
          <a:prstGeom prst="ellipse">
            <a:avLst/>
          </a:prstGeom>
          <a:solidFill>
            <a:schemeClr val="accent1"/>
          </a:solidFill>
          <a:ln w="3175">
            <a:solidFill>
              <a:schemeClr val="accent1"/>
            </a:solidFill>
            <a:prstDash val="solid"/>
          </a:ln>
        </p:spPr>
      </p:sp>
      <p:sp>
        <p:nvSpPr>
          <p:cNvPr id="74" name="Chlorine: electron, shell 2"/>
          <p:cNvSpPr/>
          <p:nvPr/>
        </p:nvSpPr>
        <p:spPr>
          <a:xfrm>
            <a:off x="5852521" y="2111550"/>
            <a:ext cx="49171" cy="49171"/>
          </a:xfrm>
          <a:prstGeom prst="ellipse">
            <a:avLst/>
          </a:prstGeom>
          <a:solidFill>
            <a:schemeClr val="accent1"/>
          </a:solidFill>
          <a:ln w="3175">
            <a:solidFill>
              <a:schemeClr val="accent1"/>
            </a:solidFill>
            <a:prstDash val="solid"/>
          </a:ln>
        </p:spPr>
      </p:sp>
      <p:sp>
        <p:nvSpPr>
          <p:cNvPr id="75" name="Chlorine: electron, shell 2"/>
          <p:cNvSpPr/>
          <p:nvPr/>
        </p:nvSpPr>
        <p:spPr>
          <a:xfrm>
            <a:off x="5631990" y="2332081"/>
            <a:ext cx="49171" cy="49171"/>
          </a:xfrm>
          <a:prstGeom prst="ellipse">
            <a:avLst/>
          </a:prstGeom>
          <a:solidFill>
            <a:schemeClr val="accent1"/>
          </a:solidFill>
          <a:ln w="3175">
            <a:solidFill>
              <a:schemeClr val="accent1"/>
            </a:solidFill>
            <a:prstDash val="solid"/>
          </a:ln>
        </p:spPr>
      </p:sp>
      <p:sp>
        <p:nvSpPr>
          <p:cNvPr id="76" name="Chlorine: electron, shell 2"/>
          <p:cNvSpPr/>
          <p:nvPr/>
        </p:nvSpPr>
        <p:spPr>
          <a:xfrm>
            <a:off x="5565959" y="2332081"/>
            <a:ext cx="49171" cy="49171"/>
          </a:xfrm>
          <a:prstGeom prst="ellipse">
            <a:avLst/>
          </a:prstGeom>
          <a:solidFill>
            <a:schemeClr val="accent1"/>
          </a:solidFill>
          <a:ln w="3175">
            <a:solidFill>
              <a:schemeClr val="accent1"/>
            </a:solidFill>
            <a:prstDash val="solid"/>
          </a:ln>
        </p:spPr>
      </p:sp>
      <p:sp>
        <p:nvSpPr>
          <p:cNvPr id="77" name="Chlorine: electron, shell 2"/>
          <p:cNvSpPr/>
          <p:nvPr/>
        </p:nvSpPr>
        <p:spPr>
          <a:xfrm>
            <a:off x="5345428" y="2111550"/>
            <a:ext cx="49171" cy="49171"/>
          </a:xfrm>
          <a:prstGeom prst="ellipse">
            <a:avLst/>
          </a:prstGeom>
          <a:solidFill>
            <a:schemeClr val="accent1"/>
          </a:solidFill>
          <a:ln w="3175">
            <a:solidFill>
              <a:schemeClr val="accent1"/>
            </a:solidFill>
            <a:prstDash val="solid"/>
          </a:ln>
        </p:spPr>
      </p:sp>
      <p:sp>
        <p:nvSpPr>
          <p:cNvPr id="78" name="Chlorine: electron, shell 2"/>
          <p:cNvSpPr/>
          <p:nvPr/>
        </p:nvSpPr>
        <p:spPr>
          <a:xfrm>
            <a:off x="5345428" y="2045519"/>
            <a:ext cx="49171" cy="49171"/>
          </a:xfrm>
          <a:prstGeom prst="ellipse">
            <a:avLst/>
          </a:prstGeom>
          <a:solidFill>
            <a:schemeClr val="accent1"/>
          </a:solidFill>
          <a:ln w="3175">
            <a:solidFill>
              <a:schemeClr val="accent1"/>
            </a:solidFill>
            <a:prstDash val="solid"/>
          </a:ln>
        </p:spPr>
      </p:sp>
      <p:sp>
        <p:nvSpPr>
          <p:cNvPr id="79" name="Chlorine: electron, shell 3"/>
          <p:cNvSpPr/>
          <p:nvPr/>
        </p:nvSpPr>
        <p:spPr>
          <a:xfrm>
            <a:off x="5565917" y="1732639"/>
            <a:ext cx="49171" cy="49171"/>
          </a:xfrm>
          <a:prstGeom prst="ellipse">
            <a:avLst/>
          </a:prstGeom>
          <a:solidFill>
            <a:schemeClr val="accent2"/>
          </a:solidFill>
          <a:ln w="3175">
            <a:solidFill>
              <a:schemeClr val="accent2"/>
            </a:solidFill>
            <a:prstDash val="solid"/>
          </a:ln>
        </p:spPr>
      </p:sp>
      <p:sp>
        <p:nvSpPr>
          <p:cNvPr id="80" name="Chlorine: electron, shell 3"/>
          <p:cNvSpPr/>
          <p:nvPr/>
        </p:nvSpPr>
        <p:spPr>
          <a:xfrm>
            <a:off x="5632033" y="1732639"/>
            <a:ext cx="49171" cy="49171"/>
          </a:xfrm>
          <a:prstGeom prst="ellipse">
            <a:avLst/>
          </a:prstGeom>
          <a:solidFill>
            <a:schemeClr val="accent2"/>
          </a:solidFill>
          <a:ln w="3175">
            <a:solidFill>
              <a:schemeClr val="accent2"/>
            </a:solidFill>
            <a:prstDash val="solid"/>
          </a:ln>
        </p:spPr>
      </p:sp>
      <p:sp>
        <p:nvSpPr>
          <p:cNvPr id="81" name="Chlorine: electron, shell 3"/>
          <p:cNvSpPr/>
          <p:nvPr/>
        </p:nvSpPr>
        <p:spPr>
          <a:xfrm>
            <a:off x="5944871" y="2045477"/>
            <a:ext cx="49171" cy="49171"/>
          </a:xfrm>
          <a:prstGeom prst="ellipse">
            <a:avLst/>
          </a:prstGeom>
          <a:solidFill>
            <a:schemeClr val="accent2"/>
          </a:solidFill>
          <a:ln w="3175">
            <a:solidFill>
              <a:schemeClr val="accent2"/>
            </a:solidFill>
            <a:prstDash val="solid"/>
          </a:ln>
        </p:spPr>
      </p:sp>
      <p:sp>
        <p:nvSpPr>
          <p:cNvPr id="82" name="Chlorine: electron, shell 3"/>
          <p:cNvSpPr/>
          <p:nvPr/>
        </p:nvSpPr>
        <p:spPr>
          <a:xfrm>
            <a:off x="5944871" y="2111593"/>
            <a:ext cx="49171" cy="49171"/>
          </a:xfrm>
          <a:prstGeom prst="ellipse">
            <a:avLst/>
          </a:prstGeom>
          <a:solidFill>
            <a:schemeClr val="accent2"/>
          </a:solidFill>
          <a:ln w="3175">
            <a:solidFill>
              <a:schemeClr val="accent2"/>
            </a:solidFill>
            <a:prstDash val="solid"/>
          </a:ln>
        </p:spPr>
      </p:sp>
      <p:sp>
        <p:nvSpPr>
          <p:cNvPr id="83" name="Chlorine: electron, shell 3"/>
          <p:cNvSpPr/>
          <p:nvPr/>
        </p:nvSpPr>
        <p:spPr>
          <a:xfrm>
            <a:off x="5632033" y="2424431"/>
            <a:ext cx="49171" cy="49171"/>
          </a:xfrm>
          <a:prstGeom prst="ellipse">
            <a:avLst/>
          </a:prstGeom>
          <a:solidFill>
            <a:schemeClr val="accent2"/>
          </a:solidFill>
          <a:ln w="3175">
            <a:solidFill>
              <a:schemeClr val="accent2"/>
            </a:solidFill>
            <a:prstDash val="solid"/>
          </a:ln>
        </p:spPr>
      </p:sp>
      <p:sp>
        <p:nvSpPr>
          <p:cNvPr id="84" name="Chlorine: electron, shell 3"/>
          <p:cNvSpPr/>
          <p:nvPr/>
        </p:nvSpPr>
        <p:spPr>
          <a:xfrm>
            <a:off x="5565917" y="2424431"/>
            <a:ext cx="49171" cy="49171"/>
          </a:xfrm>
          <a:prstGeom prst="ellipse">
            <a:avLst/>
          </a:prstGeom>
          <a:solidFill>
            <a:schemeClr val="accent2"/>
          </a:solidFill>
          <a:ln w="3175">
            <a:solidFill>
              <a:schemeClr val="accent2"/>
            </a:solidFill>
            <a:prstDash val="solid"/>
          </a:ln>
        </p:spPr>
      </p:sp>
      <p:sp>
        <p:nvSpPr>
          <p:cNvPr id="85" name="Chlorine: electron, shell 3"/>
          <p:cNvSpPr/>
          <p:nvPr/>
        </p:nvSpPr>
        <p:spPr>
          <a:xfrm>
            <a:off x="5251503" y="2078535"/>
            <a:ext cx="49171" cy="49171"/>
          </a:xfrm>
          <a:prstGeom prst="ellipse">
            <a:avLst/>
          </a:prstGeom>
          <a:solidFill>
            <a:schemeClr val="accent2"/>
          </a:solidFill>
          <a:ln w="3175">
            <a:solidFill>
              <a:schemeClr val="accent2"/>
            </a:solidFill>
            <a:prstDash val="solid"/>
          </a:ln>
        </p:spPr>
      </p:sp>
      <p:sp>
        <p:nvSpPr>
          <p:cNvPr id="86" name="Text 84"/>
          <p:cNvSpPr txBox="1"/>
          <p:nvPr/>
        </p:nvSpPr>
        <p:spPr>
          <a:xfrm>
            <a:off x="5074920" y="2505456"/>
            <a:ext cx="1097280" cy="228600"/>
          </a:xfrm>
          <a:prstGeom prst="rect">
            <a:avLst/>
          </a:prstGeom>
          <a:noFill/>
          <a:ln/>
        </p:spPr>
        <p:txBody>
          <a:bodyPr wrap="square" lIns="0" tIns="0" rIns="0" bIns="0" rtlCol="0" anchor="t"/>
          <a:lstStyle/>
          <a:p>
            <a:pPr algn="ctr" indent="0" marL="0">
              <a:buNone/>
            </a:pPr>
            <a:r>
              <a:rPr lang="en-US" sz="1100" dirty="0">
                <a:solidFill>
                  <a:schemeClr val="bg2"/>
                </a:solidFill>
              </a:rPr>
              <a:t>Chlorine</a:t>
            </a:r>
            <a:endParaRPr lang="en-US" sz="1100" dirty="0"/>
          </a:p>
        </p:txBody>
      </p:sp>
      <p:sp>
        <p:nvSpPr>
          <p:cNvPr id="87" name="Magnesium: shell 1"/>
          <p:cNvSpPr/>
          <p:nvPr/>
        </p:nvSpPr>
        <p:spPr>
          <a:xfrm>
            <a:off x="6654934" y="1945774"/>
            <a:ext cx="314692" cy="314692"/>
          </a:xfrm>
          <a:prstGeom prst="ellipse">
            <a:avLst/>
          </a:prstGeom>
          <a:solidFill>
            <a:schemeClr val="bg1">
              <a:alpha val="0"/>
            </a:schemeClr>
          </a:solidFill>
          <a:ln w="15875">
            <a:solidFill>
              <a:schemeClr val="bg2">
                <a:alpha val="55000"/>
              </a:schemeClr>
            </a:solidFill>
            <a:prstDash val="solid"/>
          </a:ln>
        </p:spPr>
      </p:sp>
      <p:sp>
        <p:nvSpPr>
          <p:cNvPr id="88" name="Magnesium: shell 2"/>
          <p:cNvSpPr/>
          <p:nvPr/>
        </p:nvSpPr>
        <p:spPr>
          <a:xfrm>
            <a:off x="6556593" y="1847433"/>
            <a:ext cx="511374" cy="511374"/>
          </a:xfrm>
          <a:prstGeom prst="ellipse">
            <a:avLst/>
          </a:prstGeom>
          <a:solidFill>
            <a:schemeClr val="bg1">
              <a:alpha val="0"/>
            </a:schemeClr>
          </a:solidFill>
          <a:ln w="15875">
            <a:solidFill>
              <a:schemeClr val="bg2">
                <a:alpha val="55000"/>
              </a:schemeClr>
            </a:solidFill>
            <a:prstDash val="solid"/>
          </a:ln>
        </p:spPr>
      </p:sp>
      <p:sp>
        <p:nvSpPr>
          <p:cNvPr id="89" name="Magnesium: shell 3"/>
          <p:cNvSpPr/>
          <p:nvPr/>
        </p:nvSpPr>
        <p:spPr>
          <a:xfrm>
            <a:off x="6464808" y="1755648"/>
            <a:ext cx="694944" cy="694944"/>
          </a:xfrm>
          <a:prstGeom prst="ellipse">
            <a:avLst/>
          </a:prstGeom>
          <a:solidFill>
            <a:schemeClr val="bg1">
              <a:alpha val="0"/>
            </a:schemeClr>
          </a:solidFill>
          <a:ln w="15875">
            <a:solidFill>
              <a:schemeClr val="accent2">
                <a:alpha val="80000"/>
              </a:schemeClr>
            </a:solidFill>
            <a:prstDash val="solid"/>
          </a:ln>
        </p:spPr>
      </p:sp>
      <p:sp>
        <p:nvSpPr>
          <p:cNvPr id="90" name="Magnesium: nucleus"/>
          <p:cNvSpPr/>
          <p:nvPr/>
        </p:nvSpPr>
        <p:spPr>
          <a:xfrm>
            <a:off x="6710661" y="2001501"/>
            <a:ext cx="203238" cy="203238"/>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91" name="Magnesium: electron, shell 1"/>
          <p:cNvSpPr/>
          <p:nvPr/>
        </p:nvSpPr>
        <p:spPr>
          <a:xfrm>
            <a:off x="6787695" y="1921189"/>
            <a:ext cx="49171" cy="49171"/>
          </a:xfrm>
          <a:prstGeom prst="ellipse">
            <a:avLst/>
          </a:prstGeom>
          <a:solidFill>
            <a:schemeClr val="accent1"/>
          </a:solidFill>
          <a:ln w="3175">
            <a:solidFill>
              <a:schemeClr val="accent1"/>
            </a:solidFill>
            <a:prstDash val="solid"/>
          </a:ln>
        </p:spPr>
      </p:sp>
      <p:sp>
        <p:nvSpPr>
          <p:cNvPr id="92" name="Magnesium: electron, shell 1"/>
          <p:cNvSpPr/>
          <p:nvPr/>
        </p:nvSpPr>
        <p:spPr>
          <a:xfrm>
            <a:off x="6945041" y="2078535"/>
            <a:ext cx="49171" cy="49171"/>
          </a:xfrm>
          <a:prstGeom prst="ellipse">
            <a:avLst/>
          </a:prstGeom>
          <a:solidFill>
            <a:schemeClr val="accent1"/>
          </a:solidFill>
          <a:ln w="3175">
            <a:solidFill>
              <a:schemeClr val="accent1"/>
            </a:solidFill>
            <a:prstDash val="solid"/>
          </a:ln>
        </p:spPr>
      </p:sp>
      <p:sp>
        <p:nvSpPr>
          <p:cNvPr id="93" name="Magnesium: electron, shell 2"/>
          <p:cNvSpPr/>
          <p:nvPr/>
        </p:nvSpPr>
        <p:spPr>
          <a:xfrm>
            <a:off x="6754679" y="1824988"/>
            <a:ext cx="49171" cy="49171"/>
          </a:xfrm>
          <a:prstGeom prst="ellipse">
            <a:avLst/>
          </a:prstGeom>
          <a:solidFill>
            <a:schemeClr val="accent1"/>
          </a:solidFill>
          <a:ln w="3175">
            <a:solidFill>
              <a:schemeClr val="accent1"/>
            </a:solidFill>
            <a:prstDash val="solid"/>
          </a:ln>
        </p:spPr>
      </p:sp>
      <p:sp>
        <p:nvSpPr>
          <p:cNvPr id="94" name="Magnesium: electron, shell 2"/>
          <p:cNvSpPr/>
          <p:nvPr/>
        </p:nvSpPr>
        <p:spPr>
          <a:xfrm>
            <a:off x="6820710" y="1824988"/>
            <a:ext cx="49171" cy="49171"/>
          </a:xfrm>
          <a:prstGeom prst="ellipse">
            <a:avLst/>
          </a:prstGeom>
          <a:solidFill>
            <a:schemeClr val="accent1"/>
          </a:solidFill>
          <a:ln w="3175">
            <a:solidFill>
              <a:schemeClr val="accent1"/>
            </a:solidFill>
            <a:prstDash val="solid"/>
          </a:ln>
        </p:spPr>
      </p:sp>
      <p:sp>
        <p:nvSpPr>
          <p:cNvPr id="95" name="Magnesium: electron, shell 2"/>
          <p:cNvSpPr/>
          <p:nvPr/>
        </p:nvSpPr>
        <p:spPr>
          <a:xfrm>
            <a:off x="7041241" y="2045519"/>
            <a:ext cx="49171" cy="49171"/>
          </a:xfrm>
          <a:prstGeom prst="ellipse">
            <a:avLst/>
          </a:prstGeom>
          <a:solidFill>
            <a:schemeClr val="accent1"/>
          </a:solidFill>
          <a:ln w="3175">
            <a:solidFill>
              <a:schemeClr val="accent1"/>
            </a:solidFill>
            <a:prstDash val="solid"/>
          </a:ln>
        </p:spPr>
      </p:sp>
      <p:sp>
        <p:nvSpPr>
          <p:cNvPr id="96" name="Magnesium: electron, shell 2"/>
          <p:cNvSpPr/>
          <p:nvPr/>
        </p:nvSpPr>
        <p:spPr>
          <a:xfrm>
            <a:off x="7041241" y="2111550"/>
            <a:ext cx="49171" cy="49171"/>
          </a:xfrm>
          <a:prstGeom prst="ellipse">
            <a:avLst/>
          </a:prstGeom>
          <a:solidFill>
            <a:schemeClr val="accent1"/>
          </a:solidFill>
          <a:ln w="3175">
            <a:solidFill>
              <a:schemeClr val="accent1"/>
            </a:solidFill>
            <a:prstDash val="solid"/>
          </a:ln>
        </p:spPr>
      </p:sp>
      <p:sp>
        <p:nvSpPr>
          <p:cNvPr id="97" name="Magnesium: electron, shell 2"/>
          <p:cNvSpPr/>
          <p:nvPr/>
        </p:nvSpPr>
        <p:spPr>
          <a:xfrm>
            <a:off x="6820710" y="2332081"/>
            <a:ext cx="49171" cy="49171"/>
          </a:xfrm>
          <a:prstGeom prst="ellipse">
            <a:avLst/>
          </a:prstGeom>
          <a:solidFill>
            <a:schemeClr val="accent1"/>
          </a:solidFill>
          <a:ln w="3175">
            <a:solidFill>
              <a:schemeClr val="accent1"/>
            </a:solidFill>
            <a:prstDash val="solid"/>
          </a:ln>
        </p:spPr>
      </p:sp>
      <p:sp>
        <p:nvSpPr>
          <p:cNvPr id="98" name="Magnesium: electron, shell 2"/>
          <p:cNvSpPr/>
          <p:nvPr/>
        </p:nvSpPr>
        <p:spPr>
          <a:xfrm>
            <a:off x="6754679" y="2332081"/>
            <a:ext cx="49171" cy="49171"/>
          </a:xfrm>
          <a:prstGeom prst="ellipse">
            <a:avLst/>
          </a:prstGeom>
          <a:solidFill>
            <a:schemeClr val="accent1"/>
          </a:solidFill>
          <a:ln w="3175">
            <a:solidFill>
              <a:schemeClr val="accent1"/>
            </a:solidFill>
            <a:prstDash val="solid"/>
          </a:ln>
        </p:spPr>
      </p:sp>
      <p:sp>
        <p:nvSpPr>
          <p:cNvPr id="99" name="Magnesium: electron, shell 2"/>
          <p:cNvSpPr/>
          <p:nvPr/>
        </p:nvSpPr>
        <p:spPr>
          <a:xfrm>
            <a:off x="6534148" y="2111550"/>
            <a:ext cx="49171" cy="49171"/>
          </a:xfrm>
          <a:prstGeom prst="ellipse">
            <a:avLst/>
          </a:prstGeom>
          <a:solidFill>
            <a:schemeClr val="accent1"/>
          </a:solidFill>
          <a:ln w="3175">
            <a:solidFill>
              <a:schemeClr val="accent1"/>
            </a:solidFill>
            <a:prstDash val="solid"/>
          </a:ln>
        </p:spPr>
      </p:sp>
      <p:sp>
        <p:nvSpPr>
          <p:cNvPr id="100" name="Magnesium: electron, shell 2"/>
          <p:cNvSpPr/>
          <p:nvPr/>
        </p:nvSpPr>
        <p:spPr>
          <a:xfrm>
            <a:off x="6534148" y="2045519"/>
            <a:ext cx="49171" cy="49171"/>
          </a:xfrm>
          <a:prstGeom prst="ellipse">
            <a:avLst/>
          </a:prstGeom>
          <a:solidFill>
            <a:schemeClr val="accent1"/>
          </a:solidFill>
          <a:ln w="3175">
            <a:solidFill>
              <a:schemeClr val="accent1"/>
            </a:solidFill>
            <a:prstDash val="solid"/>
          </a:ln>
        </p:spPr>
      </p:sp>
      <p:sp>
        <p:nvSpPr>
          <p:cNvPr id="101" name="Magnesium: electron, shell 3"/>
          <p:cNvSpPr/>
          <p:nvPr/>
        </p:nvSpPr>
        <p:spPr>
          <a:xfrm>
            <a:off x="6787695" y="1731063"/>
            <a:ext cx="49171" cy="49171"/>
          </a:xfrm>
          <a:prstGeom prst="ellipse">
            <a:avLst/>
          </a:prstGeom>
          <a:solidFill>
            <a:schemeClr val="accent2"/>
          </a:solidFill>
          <a:ln w="3175">
            <a:solidFill>
              <a:schemeClr val="accent2"/>
            </a:solidFill>
            <a:prstDash val="solid"/>
          </a:ln>
        </p:spPr>
      </p:sp>
      <p:sp>
        <p:nvSpPr>
          <p:cNvPr id="102" name="Magnesium: electron, shell 3"/>
          <p:cNvSpPr/>
          <p:nvPr/>
        </p:nvSpPr>
        <p:spPr>
          <a:xfrm>
            <a:off x="7135167" y="2078535"/>
            <a:ext cx="49171" cy="49171"/>
          </a:xfrm>
          <a:prstGeom prst="ellipse">
            <a:avLst/>
          </a:prstGeom>
          <a:solidFill>
            <a:schemeClr val="accent2"/>
          </a:solidFill>
          <a:ln w="3175">
            <a:solidFill>
              <a:schemeClr val="accent2"/>
            </a:solidFill>
            <a:prstDash val="solid"/>
          </a:ln>
        </p:spPr>
      </p:sp>
      <p:sp>
        <p:nvSpPr>
          <p:cNvPr id="103" name="Text 101"/>
          <p:cNvSpPr txBox="1"/>
          <p:nvPr/>
        </p:nvSpPr>
        <p:spPr>
          <a:xfrm>
            <a:off x="6263640" y="2505456"/>
            <a:ext cx="1097280" cy="228600"/>
          </a:xfrm>
          <a:prstGeom prst="rect">
            <a:avLst/>
          </a:prstGeom>
          <a:noFill/>
          <a:ln/>
        </p:spPr>
        <p:txBody>
          <a:bodyPr wrap="square" lIns="0" tIns="0" rIns="0" bIns="0" rtlCol="0" anchor="t"/>
          <a:lstStyle/>
          <a:p>
            <a:pPr algn="ctr" indent="0" marL="0">
              <a:buNone/>
            </a:pPr>
            <a:r>
              <a:rPr lang="en-US" sz="1100" dirty="0">
                <a:solidFill>
                  <a:schemeClr val="bg2"/>
                </a:solidFill>
              </a:rPr>
              <a:t>Magnesium</a:t>
            </a:r>
            <a:endParaRPr lang="en-US" sz="1100" dirty="0"/>
          </a:p>
        </p:txBody>
      </p:sp>
      <p:sp>
        <p:nvSpPr>
          <p:cNvPr id="104" name="Neon: shell 1"/>
          <p:cNvSpPr/>
          <p:nvPr/>
        </p:nvSpPr>
        <p:spPr>
          <a:xfrm>
            <a:off x="7810805" y="1912925"/>
            <a:ext cx="380390" cy="380390"/>
          </a:xfrm>
          <a:prstGeom prst="ellipse">
            <a:avLst/>
          </a:prstGeom>
          <a:solidFill>
            <a:schemeClr val="bg1">
              <a:alpha val="0"/>
            </a:schemeClr>
          </a:solidFill>
          <a:ln w="15875">
            <a:solidFill>
              <a:schemeClr val="bg2">
                <a:alpha val="55000"/>
              </a:schemeClr>
            </a:solidFill>
            <a:prstDash val="solid"/>
          </a:ln>
        </p:spPr>
      </p:sp>
      <p:sp>
        <p:nvSpPr>
          <p:cNvPr id="105" name="Neon: shell 2"/>
          <p:cNvSpPr/>
          <p:nvPr/>
        </p:nvSpPr>
        <p:spPr>
          <a:xfrm>
            <a:off x="7691933" y="1794053"/>
            <a:ext cx="618134" cy="618134"/>
          </a:xfrm>
          <a:prstGeom prst="ellipse">
            <a:avLst/>
          </a:prstGeom>
          <a:solidFill>
            <a:schemeClr val="bg1">
              <a:alpha val="0"/>
            </a:schemeClr>
          </a:solidFill>
          <a:ln w="15875">
            <a:solidFill>
              <a:schemeClr val="accent2">
                <a:alpha val="80000"/>
              </a:schemeClr>
            </a:solidFill>
            <a:prstDash val="solid"/>
          </a:ln>
        </p:spPr>
      </p:sp>
      <p:sp>
        <p:nvSpPr>
          <p:cNvPr id="106" name="Neon: nucleus"/>
          <p:cNvSpPr/>
          <p:nvPr/>
        </p:nvSpPr>
        <p:spPr>
          <a:xfrm>
            <a:off x="7878166" y="1980286"/>
            <a:ext cx="245669" cy="245669"/>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107" name="Neon: electron, shell 1"/>
          <p:cNvSpPr/>
          <p:nvPr/>
        </p:nvSpPr>
        <p:spPr>
          <a:xfrm>
            <a:off x="7971282" y="1883207"/>
            <a:ext cx="59436" cy="59436"/>
          </a:xfrm>
          <a:prstGeom prst="ellipse">
            <a:avLst/>
          </a:prstGeom>
          <a:solidFill>
            <a:schemeClr val="accent1"/>
          </a:solidFill>
          <a:ln w="3175">
            <a:solidFill>
              <a:schemeClr val="accent1"/>
            </a:solidFill>
            <a:prstDash val="solid"/>
          </a:ln>
        </p:spPr>
      </p:sp>
      <p:sp>
        <p:nvSpPr>
          <p:cNvPr id="108" name="Neon: electron, shell 1"/>
          <p:cNvSpPr/>
          <p:nvPr/>
        </p:nvSpPr>
        <p:spPr>
          <a:xfrm>
            <a:off x="8161477" y="2073402"/>
            <a:ext cx="59436" cy="59436"/>
          </a:xfrm>
          <a:prstGeom prst="ellipse">
            <a:avLst/>
          </a:prstGeom>
          <a:solidFill>
            <a:schemeClr val="accent1"/>
          </a:solidFill>
          <a:ln w="3175">
            <a:solidFill>
              <a:schemeClr val="accent1"/>
            </a:solidFill>
            <a:prstDash val="solid"/>
          </a:ln>
        </p:spPr>
      </p:sp>
      <p:sp>
        <p:nvSpPr>
          <p:cNvPr id="109" name="Neon: electron, shell 2"/>
          <p:cNvSpPr/>
          <p:nvPr/>
        </p:nvSpPr>
        <p:spPr>
          <a:xfrm>
            <a:off x="7931374" y="1766922"/>
            <a:ext cx="59436" cy="59436"/>
          </a:xfrm>
          <a:prstGeom prst="ellipse">
            <a:avLst/>
          </a:prstGeom>
          <a:solidFill>
            <a:schemeClr val="accent2"/>
          </a:solidFill>
          <a:ln w="3175">
            <a:solidFill>
              <a:schemeClr val="accent2"/>
            </a:solidFill>
            <a:prstDash val="solid"/>
          </a:ln>
        </p:spPr>
      </p:sp>
      <p:sp>
        <p:nvSpPr>
          <p:cNvPr id="110" name="Neon: electron, shell 2"/>
          <p:cNvSpPr/>
          <p:nvPr/>
        </p:nvSpPr>
        <p:spPr>
          <a:xfrm>
            <a:off x="8011190" y="1766922"/>
            <a:ext cx="59436" cy="59436"/>
          </a:xfrm>
          <a:prstGeom prst="ellipse">
            <a:avLst/>
          </a:prstGeom>
          <a:solidFill>
            <a:schemeClr val="accent2"/>
          </a:solidFill>
          <a:ln w="3175">
            <a:solidFill>
              <a:schemeClr val="accent2"/>
            </a:solidFill>
            <a:prstDash val="solid"/>
          </a:ln>
        </p:spPr>
      </p:sp>
      <p:sp>
        <p:nvSpPr>
          <p:cNvPr id="111" name="Neon: electron, shell 2"/>
          <p:cNvSpPr/>
          <p:nvPr/>
        </p:nvSpPr>
        <p:spPr>
          <a:xfrm>
            <a:off x="8277762" y="2033494"/>
            <a:ext cx="59436" cy="59436"/>
          </a:xfrm>
          <a:prstGeom prst="ellipse">
            <a:avLst/>
          </a:prstGeom>
          <a:solidFill>
            <a:schemeClr val="accent2"/>
          </a:solidFill>
          <a:ln w="3175">
            <a:solidFill>
              <a:schemeClr val="accent2"/>
            </a:solidFill>
            <a:prstDash val="solid"/>
          </a:ln>
        </p:spPr>
      </p:sp>
      <p:sp>
        <p:nvSpPr>
          <p:cNvPr id="112" name="Neon: electron, shell 2"/>
          <p:cNvSpPr/>
          <p:nvPr/>
        </p:nvSpPr>
        <p:spPr>
          <a:xfrm>
            <a:off x="8277762" y="2113310"/>
            <a:ext cx="59436" cy="59436"/>
          </a:xfrm>
          <a:prstGeom prst="ellipse">
            <a:avLst/>
          </a:prstGeom>
          <a:solidFill>
            <a:schemeClr val="accent2"/>
          </a:solidFill>
          <a:ln w="3175">
            <a:solidFill>
              <a:schemeClr val="accent2"/>
            </a:solidFill>
            <a:prstDash val="solid"/>
          </a:ln>
        </p:spPr>
      </p:sp>
      <p:sp>
        <p:nvSpPr>
          <p:cNvPr id="113" name="Neon: electron, shell 2"/>
          <p:cNvSpPr/>
          <p:nvPr/>
        </p:nvSpPr>
        <p:spPr>
          <a:xfrm>
            <a:off x="8011190" y="2379882"/>
            <a:ext cx="59436" cy="59436"/>
          </a:xfrm>
          <a:prstGeom prst="ellipse">
            <a:avLst/>
          </a:prstGeom>
          <a:solidFill>
            <a:schemeClr val="accent2"/>
          </a:solidFill>
          <a:ln w="3175">
            <a:solidFill>
              <a:schemeClr val="accent2"/>
            </a:solidFill>
            <a:prstDash val="solid"/>
          </a:ln>
        </p:spPr>
      </p:sp>
      <p:sp>
        <p:nvSpPr>
          <p:cNvPr id="114" name="Neon: electron, shell 2"/>
          <p:cNvSpPr/>
          <p:nvPr/>
        </p:nvSpPr>
        <p:spPr>
          <a:xfrm>
            <a:off x="7931374" y="2379882"/>
            <a:ext cx="59436" cy="59436"/>
          </a:xfrm>
          <a:prstGeom prst="ellipse">
            <a:avLst/>
          </a:prstGeom>
          <a:solidFill>
            <a:schemeClr val="accent2"/>
          </a:solidFill>
          <a:ln w="3175">
            <a:solidFill>
              <a:schemeClr val="accent2"/>
            </a:solidFill>
            <a:prstDash val="solid"/>
          </a:ln>
        </p:spPr>
      </p:sp>
      <p:sp>
        <p:nvSpPr>
          <p:cNvPr id="115" name="Neon: electron, shell 2"/>
          <p:cNvSpPr/>
          <p:nvPr/>
        </p:nvSpPr>
        <p:spPr>
          <a:xfrm>
            <a:off x="7664802" y="2113310"/>
            <a:ext cx="59436" cy="59436"/>
          </a:xfrm>
          <a:prstGeom prst="ellipse">
            <a:avLst/>
          </a:prstGeom>
          <a:solidFill>
            <a:schemeClr val="accent2"/>
          </a:solidFill>
          <a:ln w="3175">
            <a:solidFill>
              <a:schemeClr val="accent2"/>
            </a:solidFill>
            <a:prstDash val="solid"/>
          </a:ln>
        </p:spPr>
      </p:sp>
      <p:sp>
        <p:nvSpPr>
          <p:cNvPr id="116" name="Neon: electron, shell 2"/>
          <p:cNvSpPr/>
          <p:nvPr/>
        </p:nvSpPr>
        <p:spPr>
          <a:xfrm>
            <a:off x="7664802" y="2033494"/>
            <a:ext cx="59436" cy="59436"/>
          </a:xfrm>
          <a:prstGeom prst="ellipse">
            <a:avLst/>
          </a:prstGeom>
          <a:solidFill>
            <a:schemeClr val="accent2"/>
          </a:solidFill>
          <a:ln w="3175">
            <a:solidFill>
              <a:schemeClr val="accent2"/>
            </a:solidFill>
            <a:prstDash val="solid"/>
          </a:ln>
        </p:spPr>
      </p:sp>
      <p:sp>
        <p:nvSpPr>
          <p:cNvPr id="117" name="Text 115"/>
          <p:cNvSpPr txBox="1"/>
          <p:nvPr/>
        </p:nvSpPr>
        <p:spPr>
          <a:xfrm>
            <a:off x="7452360" y="2505456"/>
            <a:ext cx="1097280" cy="228600"/>
          </a:xfrm>
          <a:prstGeom prst="rect">
            <a:avLst/>
          </a:prstGeom>
          <a:noFill/>
          <a:ln/>
        </p:spPr>
        <p:txBody>
          <a:bodyPr wrap="square" lIns="0" tIns="0" rIns="0" bIns="0" rtlCol="0" anchor="t"/>
          <a:lstStyle/>
          <a:p>
            <a:pPr algn="ctr" indent="0" marL="0">
              <a:buNone/>
            </a:pPr>
            <a:r>
              <a:rPr lang="en-US" sz="1100" dirty="0">
                <a:solidFill>
                  <a:schemeClr val="bg2"/>
                </a:solidFill>
              </a:rPr>
              <a:t>Neon</a:t>
            </a:r>
            <a:endParaRPr lang="en-US" sz="1100" dirty="0"/>
          </a:p>
        </p:txBody>
      </p:sp>
      <p:sp>
        <p:nvSpPr>
          <p:cNvPr id="118" name="Full outer shell"/>
          <p:cNvSpPr/>
          <p:nvPr/>
        </p:nvSpPr>
        <p:spPr>
          <a:xfrm>
            <a:off x="457200" y="2971800"/>
            <a:ext cx="4023360" cy="1645920"/>
          </a:xfrm>
          <a:prstGeom prst="roundRect">
            <a:avLst>
              <a:gd name="adj" fmla="val 5556"/>
            </a:avLst>
          </a:prstGeom>
          <a:solidFill>
            <a:schemeClr val="tx2"/>
          </a:solidFill>
          <a:ln w="9525">
            <a:solidFill>
              <a:schemeClr val="bg2">
                <a:alpha val="30000"/>
              </a:schemeClr>
            </a:solidFill>
            <a:prstDash val="solid"/>
          </a:ln>
        </p:spPr>
      </p:sp>
      <p:sp>
        <p:nvSpPr>
          <p:cNvPr id="119" name="Text 117"/>
          <p:cNvSpPr txBox="1"/>
          <p:nvPr/>
        </p:nvSpPr>
        <p:spPr>
          <a:xfrm>
            <a:off x="640080" y="3090672"/>
            <a:ext cx="3657600" cy="274320"/>
          </a:xfrm>
          <a:prstGeom prst="rect">
            <a:avLst/>
          </a:prstGeom>
          <a:noFill/>
          <a:ln/>
        </p:spPr>
        <p:txBody>
          <a:bodyPr wrap="square" lIns="0" tIns="0" rIns="0" bIns="0" rtlCol="0" anchor="t"/>
          <a:lstStyle/>
          <a:p>
            <a:pPr indent="0" marL="0">
              <a:buNone/>
            </a:pPr>
            <a:r>
              <a:rPr lang="en-US" sz="1400" b="1" dirty="0">
                <a:solidFill>
                  <a:schemeClr val="bg2"/>
                </a:solidFill>
              </a:rPr>
              <a:t>Full outer shell</a:t>
            </a:r>
            <a:endParaRPr lang="en-US" sz="1400" dirty="0"/>
          </a:p>
        </p:txBody>
      </p:sp>
      <p:sp>
        <p:nvSpPr>
          <p:cNvPr id="120" name="Not full"/>
          <p:cNvSpPr/>
          <p:nvPr/>
        </p:nvSpPr>
        <p:spPr>
          <a:xfrm>
            <a:off x="4663440" y="2971800"/>
            <a:ext cx="4023360" cy="1645920"/>
          </a:xfrm>
          <a:prstGeom prst="roundRect">
            <a:avLst>
              <a:gd name="adj" fmla="val 5556"/>
            </a:avLst>
          </a:prstGeom>
          <a:solidFill>
            <a:schemeClr val="tx2"/>
          </a:solidFill>
          <a:ln w="9525">
            <a:solidFill>
              <a:schemeClr val="bg2">
                <a:alpha val="30000"/>
              </a:schemeClr>
            </a:solidFill>
            <a:prstDash val="solid"/>
          </a:ln>
        </p:spPr>
      </p:sp>
      <p:sp>
        <p:nvSpPr>
          <p:cNvPr id="121" name="Text 119"/>
          <p:cNvSpPr txBox="1"/>
          <p:nvPr/>
        </p:nvSpPr>
        <p:spPr>
          <a:xfrm>
            <a:off x="4846320" y="3090672"/>
            <a:ext cx="3657600" cy="274320"/>
          </a:xfrm>
          <a:prstGeom prst="rect">
            <a:avLst/>
          </a:prstGeom>
          <a:noFill/>
          <a:ln/>
        </p:spPr>
        <p:txBody>
          <a:bodyPr wrap="square" lIns="0" tIns="0" rIns="0" bIns="0" rtlCol="0" anchor="t"/>
          <a:lstStyle/>
          <a:p>
            <a:pPr indent="0" marL="0">
              <a:buNone/>
            </a:pPr>
            <a:r>
              <a:rPr lang="en-US" sz="1400" b="1" dirty="0">
                <a:solidFill>
                  <a:schemeClr val="bg2"/>
                </a:solidFill>
              </a:rPr>
              <a:t>Not full</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ection tile 1"/>
          <p:cNvSpPr/>
          <p:nvPr/>
        </p:nvSpPr>
        <p:spPr>
          <a:xfrm>
            <a:off x="457200" y="301752"/>
            <a:ext cx="749808" cy="841248"/>
          </a:xfrm>
          <a:prstGeom prst="roundRect">
            <a:avLst>
              <a:gd name="adj" fmla="val 12000"/>
            </a:avLst>
          </a:prstGeom>
          <a:solidFill>
            <a:srgbClr val="F6B93B">
              <a:alpha val="28000"/>
            </a:srgbClr>
          </a:solidFill>
          <a:ln w="19050">
            <a:solidFill>
              <a:srgbClr val="F6B93B"/>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1</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2900" b="1" dirty="0">
                <a:solidFill>
                  <a:schemeClr val="bg1"/>
                </a:solidFill>
              </a:rPr>
              <a:t>Ne</a:t>
            </a:r>
            <a:endParaRPr lang="en-US" sz="2900" dirty="0"/>
          </a:p>
        </p:txBody>
      </p:sp>
      <p:sp>
        <p:nvSpPr>
          <p:cNvPr id="5" name="Text 3"/>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6" name="Text 4"/>
          <p:cNvSpPr/>
          <p:nvPr/>
        </p:nvSpPr>
        <p:spPr>
          <a:xfrm>
            <a:off x="224028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7" name="Text 5"/>
          <p:cNvSpPr txBox="1"/>
          <p:nvPr/>
        </p:nvSpPr>
        <p:spPr>
          <a:xfrm>
            <a:off x="32004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1 of 9</a:t>
            </a:r>
            <a:endParaRPr lang="en-US" sz="1200" dirty="0"/>
          </a:p>
        </p:txBody>
      </p:sp>
      <p:sp>
        <p:nvSpPr>
          <p:cNvPr id="8"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Full or not?</a:t>
            </a:r>
            <a:endParaRPr lang="en-US" sz="2800" dirty="0"/>
          </a:p>
        </p:txBody>
      </p:sp>
      <p:sp>
        <p:nvSpPr>
          <p:cNvPr id="9" name="Text 7"/>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Look at each atom's outer shell (yellow). Drag each atom to the right box, or tap an atom and then tap a box.</a:t>
            </a:r>
            <a:endParaRPr lang="en-US" sz="1300" dirty="0"/>
          </a:p>
        </p:txBody>
      </p:sp>
      <p:sp>
        <p:nvSpPr>
          <p:cNvPr id="10" name="Full outer shell"/>
          <p:cNvSpPr/>
          <p:nvPr/>
        </p:nvSpPr>
        <p:spPr>
          <a:xfrm>
            <a:off x="457200" y="1691640"/>
            <a:ext cx="4023360" cy="2880360"/>
          </a:xfrm>
          <a:prstGeom prst="roundRect">
            <a:avLst>
              <a:gd name="adj" fmla="val 3175"/>
            </a:avLst>
          </a:prstGeom>
          <a:solidFill>
            <a:schemeClr val="tx2"/>
          </a:solidFill>
          <a:ln w="9525">
            <a:solidFill>
              <a:schemeClr val="bg2">
                <a:alpha val="30000"/>
              </a:schemeClr>
            </a:solidFill>
            <a:prstDash val="solid"/>
          </a:ln>
        </p:spPr>
      </p:sp>
      <p:sp>
        <p:nvSpPr>
          <p:cNvPr id="11" name="Text 9"/>
          <p:cNvSpPr txBox="1"/>
          <p:nvPr/>
        </p:nvSpPr>
        <p:spPr>
          <a:xfrm>
            <a:off x="640080" y="1810512"/>
            <a:ext cx="3657600" cy="274320"/>
          </a:xfrm>
          <a:prstGeom prst="rect">
            <a:avLst/>
          </a:prstGeom>
          <a:noFill/>
          <a:ln/>
        </p:spPr>
        <p:txBody>
          <a:bodyPr wrap="square" lIns="0" tIns="0" rIns="0" bIns="0" rtlCol="0" anchor="t"/>
          <a:lstStyle/>
          <a:p>
            <a:pPr indent="0" marL="0">
              <a:buNone/>
            </a:pPr>
            <a:r>
              <a:rPr lang="en-US" sz="1400" b="1" dirty="0">
                <a:solidFill>
                  <a:schemeClr val="accent4"/>
                </a:solidFill>
              </a:rPr>
              <a:t>Full outer shell</a:t>
            </a:r>
            <a:endParaRPr lang="en-US" sz="1400" dirty="0"/>
          </a:p>
        </p:txBody>
      </p:sp>
      <p:sp>
        <p:nvSpPr>
          <p:cNvPr id="12" name="Helium: shell 1"/>
          <p:cNvSpPr/>
          <p:nvPr/>
        </p:nvSpPr>
        <p:spPr>
          <a:xfrm>
            <a:off x="833933" y="2598725"/>
            <a:ext cx="380390" cy="380390"/>
          </a:xfrm>
          <a:prstGeom prst="ellipse">
            <a:avLst/>
          </a:prstGeom>
          <a:solidFill>
            <a:schemeClr val="bg1">
              <a:alpha val="0"/>
            </a:schemeClr>
          </a:solidFill>
          <a:ln w="15875">
            <a:solidFill>
              <a:schemeClr val="accent2">
                <a:alpha val="80000"/>
              </a:schemeClr>
            </a:solidFill>
            <a:prstDash val="solid"/>
          </a:ln>
        </p:spPr>
      </p:sp>
      <p:sp>
        <p:nvSpPr>
          <p:cNvPr id="13" name="Helium: nucleus"/>
          <p:cNvSpPr/>
          <p:nvPr/>
        </p:nvSpPr>
        <p:spPr>
          <a:xfrm>
            <a:off x="901294" y="2666086"/>
            <a:ext cx="245669" cy="245669"/>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14" name="Helium: electron, shell 1"/>
          <p:cNvSpPr/>
          <p:nvPr/>
        </p:nvSpPr>
        <p:spPr>
          <a:xfrm>
            <a:off x="994410" y="2569007"/>
            <a:ext cx="59436" cy="59436"/>
          </a:xfrm>
          <a:prstGeom prst="ellipse">
            <a:avLst/>
          </a:prstGeom>
          <a:solidFill>
            <a:schemeClr val="accent2"/>
          </a:solidFill>
          <a:ln w="3175">
            <a:solidFill>
              <a:schemeClr val="accent2"/>
            </a:solidFill>
            <a:prstDash val="solid"/>
          </a:ln>
        </p:spPr>
      </p:sp>
      <p:sp>
        <p:nvSpPr>
          <p:cNvPr id="15" name="Helium: electron, shell 1"/>
          <p:cNvSpPr/>
          <p:nvPr/>
        </p:nvSpPr>
        <p:spPr>
          <a:xfrm>
            <a:off x="1184605" y="2759202"/>
            <a:ext cx="59436" cy="59436"/>
          </a:xfrm>
          <a:prstGeom prst="ellipse">
            <a:avLst/>
          </a:prstGeom>
          <a:solidFill>
            <a:schemeClr val="accent2"/>
          </a:solidFill>
          <a:ln w="3175">
            <a:solidFill>
              <a:schemeClr val="accent2"/>
            </a:solidFill>
            <a:prstDash val="solid"/>
          </a:ln>
        </p:spPr>
      </p:sp>
      <p:sp>
        <p:nvSpPr>
          <p:cNvPr id="16" name="Text 14"/>
          <p:cNvSpPr txBox="1"/>
          <p:nvPr/>
        </p:nvSpPr>
        <p:spPr>
          <a:xfrm>
            <a:off x="475488" y="3191256"/>
            <a:ext cx="1097280" cy="228600"/>
          </a:xfrm>
          <a:prstGeom prst="rect">
            <a:avLst/>
          </a:prstGeom>
          <a:noFill/>
          <a:ln/>
        </p:spPr>
        <p:txBody>
          <a:bodyPr wrap="square" lIns="0" tIns="0" rIns="0" bIns="0" rtlCol="0" anchor="t"/>
          <a:lstStyle/>
          <a:p>
            <a:pPr algn="ctr" indent="0" marL="0">
              <a:buNone/>
            </a:pPr>
            <a:r>
              <a:rPr lang="en-US" sz="1100" dirty="0">
                <a:solidFill>
                  <a:schemeClr val="bg2"/>
                </a:solidFill>
              </a:rPr>
              <a:t>Helium</a:t>
            </a:r>
            <a:endParaRPr lang="en-US" sz="1100" dirty="0"/>
          </a:p>
        </p:txBody>
      </p:sp>
      <p:sp>
        <p:nvSpPr>
          <p:cNvPr id="17" name="Neon: shell 1"/>
          <p:cNvSpPr/>
          <p:nvPr/>
        </p:nvSpPr>
        <p:spPr>
          <a:xfrm>
            <a:off x="1794053" y="2598725"/>
            <a:ext cx="380390" cy="380390"/>
          </a:xfrm>
          <a:prstGeom prst="ellipse">
            <a:avLst/>
          </a:prstGeom>
          <a:solidFill>
            <a:schemeClr val="bg1">
              <a:alpha val="0"/>
            </a:schemeClr>
          </a:solidFill>
          <a:ln w="15875">
            <a:solidFill>
              <a:schemeClr val="bg2">
                <a:alpha val="55000"/>
              </a:schemeClr>
            </a:solidFill>
            <a:prstDash val="solid"/>
          </a:ln>
        </p:spPr>
      </p:sp>
      <p:sp>
        <p:nvSpPr>
          <p:cNvPr id="18" name="Neon: shell 2"/>
          <p:cNvSpPr/>
          <p:nvPr/>
        </p:nvSpPr>
        <p:spPr>
          <a:xfrm>
            <a:off x="1675181" y="2479853"/>
            <a:ext cx="618134" cy="618134"/>
          </a:xfrm>
          <a:prstGeom prst="ellipse">
            <a:avLst/>
          </a:prstGeom>
          <a:solidFill>
            <a:schemeClr val="bg1">
              <a:alpha val="0"/>
            </a:schemeClr>
          </a:solidFill>
          <a:ln w="15875">
            <a:solidFill>
              <a:schemeClr val="accent2">
                <a:alpha val="80000"/>
              </a:schemeClr>
            </a:solidFill>
            <a:prstDash val="solid"/>
          </a:ln>
        </p:spPr>
      </p:sp>
      <p:sp>
        <p:nvSpPr>
          <p:cNvPr id="19" name="Neon: nucleus"/>
          <p:cNvSpPr/>
          <p:nvPr/>
        </p:nvSpPr>
        <p:spPr>
          <a:xfrm>
            <a:off x="1861414" y="2666086"/>
            <a:ext cx="245669" cy="245669"/>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20" name="Neon: electron, shell 1"/>
          <p:cNvSpPr/>
          <p:nvPr/>
        </p:nvSpPr>
        <p:spPr>
          <a:xfrm>
            <a:off x="1954530" y="2569007"/>
            <a:ext cx="59436" cy="59436"/>
          </a:xfrm>
          <a:prstGeom prst="ellipse">
            <a:avLst/>
          </a:prstGeom>
          <a:solidFill>
            <a:schemeClr val="accent1"/>
          </a:solidFill>
          <a:ln w="3175">
            <a:solidFill>
              <a:schemeClr val="accent1"/>
            </a:solidFill>
            <a:prstDash val="solid"/>
          </a:ln>
        </p:spPr>
      </p:sp>
      <p:sp>
        <p:nvSpPr>
          <p:cNvPr id="21" name="Neon: electron, shell 1"/>
          <p:cNvSpPr/>
          <p:nvPr/>
        </p:nvSpPr>
        <p:spPr>
          <a:xfrm>
            <a:off x="2144725" y="2759202"/>
            <a:ext cx="59436" cy="59436"/>
          </a:xfrm>
          <a:prstGeom prst="ellipse">
            <a:avLst/>
          </a:prstGeom>
          <a:solidFill>
            <a:schemeClr val="accent1"/>
          </a:solidFill>
          <a:ln w="3175">
            <a:solidFill>
              <a:schemeClr val="accent1"/>
            </a:solidFill>
            <a:prstDash val="solid"/>
          </a:ln>
        </p:spPr>
      </p:sp>
      <p:sp>
        <p:nvSpPr>
          <p:cNvPr id="22" name="Neon: electron, shell 2"/>
          <p:cNvSpPr/>
          <p:nvPr/>
        </p:nvSpPr>
        <p:spPr>
          <a:xfrm>
            <a:off x="1914622" y="2452722"/>
            <a:ext cx="59436" cy="59436"/>
          </a:xfrm>
          <a:prstGeom prst="ellipse">
            <a:avLst/>
          </a:prstGeom>
          <a:solidFill>
            <a:schemeClr val="accent2"/>
          </a:solidFill>
          <a:ln w="3175">
            <a:solidFill>
              <a:schemeClr val="accent2"/>
            </a:solidFill>
            <a:prstDash val="solid"/>
          </a:ln>
        </p:spPr>
      </p:sp>
      <p:sp>
        <p:nvSpPr>
          <p:cNvPr id="23" name="Neon: electron, shell 2"/>
          <p:cNvSpPr/>
          <p:nvPr/>
        </p:nvSpPr>
        <p:spPr>
          <a:xfrm>
            <a:off x="1994438" y="2452722"/>
            <a:ext cx="59436" cy="59436"/>
          </a:xfrm>
          <a:prstGeom prst="ellipse">
            <a:avLst/>
          </a:prstGeom>
          <a:solidFill>
            <a:schemeClr val="accent2"/>
          </a:solidFill>
          <a:ln w="3175">
            <a:solidFill>
              <a:schemeClr val="accent2"/>
            </a:solidFill>
            <a:prstDash val="solid"/>
          </a:ln>
        </p:spPr>
      </p:sp>
      <p:sp>
        <p:nvSpPr>
          <p:cNvPr id="24" name="Neon: electron, shell 2"/>
          <p:cNvSpPr/>
          <p:nvPr/>
        </p:nvSpPr>
        <p:spPr>
          <a:xfrm>
            <a:off x="2261010" y="2719294"/>
            <a:ext cx="59436" cy="59436"/>
          </a:xfrm>
          <a:prstGeom prst="ellipse">
            <a:avLst/>
          </a:prstGeom>
          <a:solidFill>
            <a:schemeClr val="accent2"/>
          </a:solidFill>
          <a:ln w="3175">
            <a:solidFill>
              <a:schemeClr val="accent2"/>
            </a:solidFill>
            <a:prstDash val="solid"/>
          </a:ln>
        </p:spPr>
      </p:sp>
      <p:sp>
        <p:nvSpPr>
          <p:cNvPr id="25" name="Neon: electron, shell 2"/>
          <p:cNvSpPr/>
          <p:nvPr/>
        </p:nvSpPr>
        <p:spPr>
          <a:xfrm>
            <a:off x="2261010" y="2799110"/>
            <a:ext cx="59436" cy="59436"/>
          </a:xfrm>
          <a:prstGeom prst="ellipse">
            <a:avLst/>
          </a:prstGeom>
          <a:solidFill>
            <a:schemeClr val="accent2"/>
          </a:solidFill>
          <a:ln w="3175">
            <a:solidFill>
              <a:schemeClr val="accent2"/>
            </a:solidFill>
            <a:prstDash val="solid"/>
          </a:ln>
        </p:spPr>
      </p:sp>
      <p:sp>
        <p:nvSpPr>
          <p:cNvPr id="26" name="Neon: electron, shell 2"/>
          <p:cNvSpPr/>
          <p:nvPr/>
        </p:nvSpPr>
        <p:spPr>
          <a:xfrm>
            <a:off x="1994438" y="3065682"/>
            <a:ext cx="59436" cy="59436"/>
          </a:xfrm>
          <a:prstGeom prst="ellipse">
            <a:avLst/>
          </a:prstGeom>
          <a:solidFill>
            <a:schemeClr val="accent2"/>
          </a:solidFill>
          <a:ln w="3175">
            <a:solidFill>
              <a:schemeClr val="accent2"/>
            </a:solidFill>
            <a:prstDash val="solid"/>
          </a:ln>
        </p:spPr>
      </p:sp>
      <p:sp>
        <p:nvSpPr>
          <p:cNvPr id="27" name="Neon: electron, shell 2"/>
          <p:cNvSpPr/>
          <p:nvPr/>
        </p:nvSpPr>
        <p:spPr>
          <a:xfrm>
            <a:off x="1914622" y="3065682"/>
            <a:ext cx="59436" cy="59436"/>
          </a:xfrm>
          <a:prstGeom prst="ellipse">
            <a:avLst/>
          </a:prstGeom>
          <a:solidFill>
            <a:schemeClr val="accent2"/>
          </a:solidFill>
          <a:ln w="3175">
            <a:solidFill>
              <a:schemeClr val="accent2"/>
            </a:solidFill>
            <a:prstDash val="solid"/>
          </a:ln>
        </p:spPr>
      </p:sp>
      <p:sp>
        <p:nvSpPr>
          <p:cNvPr id="28" name="Neon: electron, shell 2"/>
          <p:cNvSpPr/>
          <p:nvPr/>
        </p:nvSpPr>
        <p:spPr>
          <a:xfrm>
            <a:off x="1648050" y="2799110"/>
            <a:ext cx="59436" cy="59436"/>
          </a:xfrm>
          <a:prstGeom prst="ellipse">
            <a:avLst/>
          </a:prstGeom>
          <a:solidFill>
            <a:schemeClr val="accent2"/>
          </a:solidFill>
          <a:ln w="3175">
            <a:solidFill>
              <a:schemeClr val="accent2"/>
            </a:solidFill>
            <a:prstDash val="solid"/>
          </a:ln>
        </p:spPr>
      </p:sp>
      <p:sp>
        <p:nvSpPr>
          <p:cNvPr id="29" name="Neon: electron, shell 2"/>
          <p:cNvSpPr/>
          <p:nvPr/>
        </p:nvSpPr>
        <p:spPr>
          <a:xfrm>
            <a:off x="1648050" y="2719294"/>
            <a:ext cx="59436" cy="59436"/>
          </a:xfrm>
          <a:prstGeom prst="ellipse">
            <a:avLst/>
          </a:prstGeom>
          <a:solidFill>
            <a:schemeClr val="accent2"/>
          </a:solidFill>
          <a:ln w="3175">
            <a:solidFill>
              <a:schemeClr val="accent2"/>
            </a:solidFill>
            <a:prstDash val="solid"/>
          </a:ln>
        </p:spPr>
      </p:sp>
      <p:sp>
        <p:nvSpPr>
          <p:cNvPr id="30" name="Text 28"/>
          <p:cNvSpPr txBox="1"/>
          <p:nvPr/>
        </p:nvSpPr>
        <p:spPr>
          <a:xfrm>
            <a:off x="1435608" y="3191256"/>
            <a:ext cx="1097280" cy="228600"/>
          </a:xfrm>
          <a:prstGeom prst="rect">
            <a:avLst/>
          </a:prstGeom>
          <a:noFill/>
          <a:ln/>
        </p:spPr>
        <p:txBody>
          <a:bodyPr wrap="square" lIns="0" tIns="0" rIns="0" bIns="0" rtlCol="0" anchor="t"/>
          <a:lstStyle/>
          <a:p>
            <a:pPr algn="ctr" indent="0" marL="0">
              <a:buNone/>
            </a:pPr>
            <a:r>
              <a:rPr lang="en-US" sz="1100" dirty="0">
                <a:solidFill>
                  <a:schemeClr val="bg2"/>
                </a:solidFill>
              </a:rPr>
              <a:t>Neon</a:t>
            </a:r>
            <a:endParaRPr lang="en-US" sz="1100" dirty="0"/>
          </a:p>
        </p:txBody>
      </p:sp>
      <p:sp>
        <p:nvSpPr>
          <p:cNvPr id="31" name="Argon: shell 1"/>
          <p:cNvSpPr/>
          <p:nvPr/>
        </p:nvSpPr>
        <p:spPr>
          <a:xfrm>
            <a:off x="2787022" y="2631574"/>
            <a:ext cx="314692" cy="314692"/>
          </a:xfrm>
          <a:prstGeom prst="ellipse">
            <a:avLst/>
          </a:prstGeom>
          <a:solidFill>
            <a:schemeClr val="bg1">
              <a:alpha val="0"/>
            </a:schemeClr>
          </a:solidFill>
          <a:ln w="15875">
            <a:solidFill>
              <a:schemeClr val="bg2">
                <a:alpha val="55000"/>
              </a:schemeClr>
            </a:solidFill>
            <a:prstDash val="solid"/>
          </a:ln>
        </p:spPr>
      </p:sp>
      <p:sp>
        <p:nvSpPr>
          <p:cNvPr id="32" name="Argon: shell 2"/>
          <p:cNvSpPr/>
          <p:nvPr/>
        </p:nvSpPr>
        <p:spPr>
          <a:xfrm>
            <a:off x="2688681" y="2533233"/>
            <a:ext cx="511374" cy="511374"/>
          </a:xfrm>
          <a:prstGeom prst="ellipse">
            <a:avLst/>
          </a:prstGeom>
          <a:solidFill>
            <a:schemeClr val="bg1">
              <a:alpha val="0"/>
            </a:schemeClr>
          </a:solidFill>
          <a:ln w="15875">
            <a:solidFill>
              <a:schemeClr val="bg2">
                <a:alpha val="55000"/>
              </a:schemeClr>
            </a:solidFill>
            <a:prstDash val="solid"/>
          </a:ln>
        </p:spPr>
      </p:sp>
      <p:sp>
        <p:nvSpPr>
          <p:cNvPr id="33" name="Argon: shell 3"/>
          <p:cNvSpPr/>
          <p:nvPr/>
        </p:nvSpPr>
        <p:spPr>
          <a:xfrm>
            <a:off x="2596896" y="2441448"/>
            <a:ext cx="694944" cy="694944"/>
          </a:xfrm>
          <a:prstGeom prst="ellipse">
            <a:avLst/>
          </a:prstGeom>
          <a:solidFill>
            <a:schemeClr val="bg1">
              <a:alpha val="0"/>
            </a:schemeClr>
          </a:solidFill>
          <a:ln w="15875">
            <a:solidFill>
              <a:schemeClr val="accent2">
                <a:alpha val="80000"/>
              </a:schemeClr>
            </a:solidFill>
            <a:prstDash val="solid"/>
          </a:ln>
        </p:spPr>
      </p:sp>
      <p:sp>
        <p:nvSpPr>
          <p:cNvPr id="34" name="Argon: nucleus"/>
          <p:cNvSpPr/>
          <p:nvPr/>
        </p:nvSpPr>
        <p:spPr>
          <a:xfrm>
            <a:off x="2842749" y="2687301"/>
            <a:ext cx="203238" cy="203238"/>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35" name="Argon: electron, shell 1"/>
          <p:cNvSpPr/>
          <p:nvPr/>
        </p:nvSpPr>
        <p:spPr>
          <a:xfrm>
            <a:off x="2919783" y="2606989"/>
            <a:ext cx="49171" cy="49171"/>
          </a:xfrm>
          <a:prstGeom prst="ellipse">
            <a:avLst/>
          </a:prstGeom>
          <a:solidFill>
            <a:schemeClr val="accent1"/>
          </a:solidFill>
          <a:ln w="3175">
            <a:solidFill>
              <a:schemeClr val="accent1"/>
            </a:solidFill>
            <a:prstDash val="solid"/>
          </a:ln>
        </p:spPr>
      </p:sp>
      <p:sp>
        <p:nvSpPr>
          <p:cNvPr id="36" name="Argon: electron, shell 1"/>
          <p:cNvSpPr/>
          <p:nvPr/>
        </p:nvSpPr>
        <p:spPr>
          <a:xfrm>
            <a:off x="3077129" y="2764335"/>
            <a:ext cx="49171" cy="49171"/>
          </a:xfrm>
          <a:prstGeom prst="ellipse">
            <a:avLst/>
          </a:prstGeom>
          <a:solidFill>
            <a:schemeClr val="accent1"/>
          </a:solidFill>
          <a:ln w="3175">
            <a:solidFill>
              <a:schemeClr val="accent1"/>
            </a:solidFill>
            <a:prstDash val="solid"/>
          </a:ln>
        </p:spPr>
      </p:sp>
      <p:sp>
        <p:nvSpPr>
          <p:cNvPr id="37" name="Argon: electron, shell 2"/>
          <p:cNvSpPr/>
          <p:nvPr/>
        </p:nvSpPr>
        <p:spPr>
          <a:xfrm>
            <a:off x="2886767" y="2510788"/>
            <a:ext cx="49171" cy="49171"/>
          </a:xfrm>
          <a:prstGeom prst="ellipse">
            <a:avLst/>
          </a:prstGeom>
          <a:solidFill>
            <a:schemeClr val="accent1"/>
          </a:solidFill>
          <a:ln w="3175">
            <a:solidFill>
              <a:schemeClr val="accent1"/>
            </a:solidFill>
            <a:prstDash val="solid"/>
          </a:ln>
        </p:spPr>
      </p:sp>
      <p:sp>
        <p:nvSpPr>
          <p:cNvPr id="38" name="Argon: electron, shell 2"/>
          <p:cNvSpPr/>
          <p:nvPr/>
        </p:nvSpPr>
        <p:spPr>
          <a:xfrm>
            <a:off x="2952798" y="2510788"/>
            <a:ext cx="49171" cy="49171"/>
          </a:xfrm>
          <a:prstGeom prst="ellipse">
            <a:avLst/>
          </a:prstGeom>
          <a:solidFill>
            <a:schemeClr val="accent1"/>
          </a:solidFill>
          <a:ln w="3175">
            <a:solidFill>
              <a:schemeClr val="accent1"/>
            </a:solidFill>
            <a:prstDash val="solid"/>
          </a:ln>
        </p:spPr>
      </p:sp>
      <p:sp>
        <p:nvSpPr>
          <p:cNvPr id="39" name="Argon: electron, shell 2"/>
          <p:cNvSpPr/>
          <p:nvPr/>
        </p:nvSpPr>
        <p:spPr>
          <a:xfrm>
            <a:off x="3173329" y="2731319"/>
            <a:ext cx="49171" cy="49171"/>
          </a:xfrm>
          <a:prstGeom prst="ellipse">
            <a:avLst/>
          </a:prstGeom>
          <a:solidFill>
            <a:schemeClr val="accent1"/>
          </a:solidFill>
          <a:ln w="3175">
            <a:solidFill>
              <a:schemeClr val="accent1"/>
            </a:solidFill>
            <a:prstDash val="solid"/>
          </a:ln>
        </p:spPr>
      </p:sp>
      <p:sp>
        <p:nvSpPr>
          <p:cNvPr id="40" name="Argon: electron, shell 2"/>
          <p:cNvSpPr/>
          <p:nvPr/>
        </p:nvSpPr>
        <p:spPr>
          <a:xfrm>
            <a:off x="3173329" y="2797350"/>
            <a:ext cx="49171" cy="49171"/>
          </a:xfrm>
          <a:prstGeom prst="ellipse">
            <a:avLst/>
          </a:prstGeom>
          <a:solidFill>
            <a:schemeClr val="accent1"/>
          </a:solidFill>
          <a:ln w="3175">
            <a:solidFill>
              <a:schemeClr val="accent1"/>
            </a:solidFill>
            <a:prstDash val="solid"/>
          </a:ln>
        </p:spPr>
      </p:sp>
      <p:sp>
        <p:nvSpPr>
          <p:cNvPr id="41" name="Argon: electron, shell 2"/>
          <p:cNvSpPr/>
          <p:nvPr/>
        </p:nvSpPr>
        <p:spPr>
          <a:xfrm>
            <a:off x="2952798" y="3017881"/>
            <a:ext cx="49171" cy="49171"/>
          </a:xfrm>
          <a:prstGeom prst="ellipse">
            <a:avLst/>
          </a:prstGeom>
          <a:solidFill>
            <a:schemeClr val="accent1"/>
          </a:solidFill>
          <a:ln w="3175">
            <a:solidFill>
              <a:schemeClr val="accent1"/>
            </a:solidFill>
            <a:prstDash val="solid"/>
          </a:ln>
        </p:spPr>
      </p:sp>
      <p:sp>
        <p:nvSpPr>
          <p:cNvPr id="42" name="Argon: electron, shell 2"/>
          <p:cNvSpPr/>
          <p:nvPr/>
        </p:nvSpPr>
        <p:spPr>
          <a:xfrm>
            <a:off x="2886767" y="3017881"/>
            <a:ext cx="49171" cy="49171"/>
          </a:xfrm>
          <a:prstGeom prst="ellipse">
            <a:avLst/>
          </a:prstGeom>
          <a:solidFill>
            <a:schemeClr val="accent1"/>
          </a:solidFill>
          <a:ln w="3175">
            <a:solidFill>
              <a:schemeClr val="accent1"/>
            </a:solidFill>
            <a:prstDash val="solid"/>
          </a:ln>
        </p:spPr>
      </p:sp>
      <p:sp>
        <p:nvSpPr>
          <p:cNvPr id="43" name="Argon: electron, shell 2"/>
          <p:cNvSpPr/>
          <p:nvPr/>
        </p:nvSpPr>
        <p:spPr>
          <a:xfrm>
            <a:off x="2666236" y="2797350"/>
            <a:ext cx="49171" cy="49171"/>
          </a:xfrm>
          <a:prstGeom prst="ellipse">
            <a:avLst/>
          </a:prstGeom>
          <a:solidFill>
            <a:schemeClr val="accent1"/>
          </a:solidFill>
          <a:ln w="3175">
            <a:solidFill>
              <a:schemeClr val="accent1"/>
            </a:solidFill>
            <a:prstDash val="solid"/>
          </a:ln>
        </p:spPr>
      </p:sp>
      <p:sp>
        <p:nvSpPr>
          <p:cNvPr id="44" name="Argon: electron, shell 2"/>
          <p:cNvSpPr/>
          <p:nvPr/>
        </p:nvSpPr>
        <p:spPr>
          <a:xfrm>
            <a:off x="2666236" y="2731319"/>
            <a:ext cx="49171" cy="49171"/>
          </a:xfrm>
          <a:prstGeom prst="ellipse">
            <a:avLst/>
          </a:prstGeom>
          <a:solidFill>
            <a:schemeClr val="accent1"/>
          </a:solidFill>
          <a:ln w="3175">
            <a:solidFill>
              <a:schemeClr val="accent1"/>
            </a:solidFill>
            <a:prstDash val="solid"/>
          </a:ln>
        </p:spPr>
      </p:sp>
      <p:sp>
        <p:nvSpPr>
          <p:cNvPr id="45" name="Argon: electron, shell 3"/>
          <p:cNvSpPr/>
          <p:nvPr/>
        </p:nvSpPr>
        <p:spPr>
          <a:xfrm>
            <a:off x="2886725" y="2418439"/>
            <a:ext cx="49171" cy="49171"/>
          </a:xfrm>
          <a:prstGeom prst="ellipse">
            <a:avLst/>
          </a:prstGeom>
          <a:solidFill>
            <a:schemeClr val="accent2"/>
          </a:solidFill>
          <a:ln w="3175">
            <a:solidFill>
              <a:schemeClr val="accent2"/>
            </a:solidFill>
            <a:prstDash val="solid"/>
          </a:ln>
        </p:spPr>
      </p:sp>
      <p:sp>
        <p:nvSpPr>
          <p:cNvPr id="46" name="Argon: electron, shell 3"/>
          <p:cNvSpPr/>
          <p:nvPr/>
        </p:nvSpPr>
        <p:spPr>
          <a:xfrm>
            <a:off x="2952841" y="2418439"/>
            <a:ext cx="49171" cy="49171"/>
          </a:xfrm>
          <a:prstGeom prst="ellipse">
            <a:avLst/>
          </a:prstGeom>
          <a:solidFill>
            <a:schemeClr val="accent2"/>
          </a:solidFill>
          <a:ln w="3175">
            <a:solidFill>
              <a:schemeClr val="accent2"/>
            </a:solidFill>
            <a:prstDash val="solid"/>
          </a:ln>
        </p:spPr>
      </p:sp>
      <p:sp>
        <p:nvSpPr>
          <p:cNvPr id="47" name="Argon: electron, shell 3"/>
          <p:cNvSpPr/>
          <p:nvPr/>
        </p:nvSpPr>
        <p:spPr>
          <a:xfrm>
            <a:off x="3265679" y="2731277"/>
            <a:ext cx="49171" cy="49171"/>
          </a:xfrm>
          <a:prstGeom prst="ellipse">
            <a:avLst/>
          </a:prstGeom>
          <a:solidFill>
            <a:schemeClr val="accent2"/>
          </a:solidFill>
          <a:ln w="3175">
            <a:solidFill>
              <a:schemeClr val="accent2"/>
            </a:solidFill>
            <a:prstDash val="solid"/>
          </a:ln>
        </p:spPr>
      </p:sp>
      <p:sp>
        <p:nvSpPr>
          <p:cNvPr id="48" name="Argon: electron, shell 3"/>
          <p:cNvSpPr/>
          <p:nvPr/>
        </p:nvSpPr>
        <p:spPr>
          <a:xfrm>
            <a:off x="3265679" y="2797393"/>
            <a:ext cx="49171" cy="49171"/>
          </a:xfrm>
          <a:prstGeom prst="ellipse">
            <a:avLst/>
          </a:prstGeom>
          <a:solidFill>
            <a:schemeClr val="accent2"/>
          </a:solidFill>
          <a:ln w="3175">
            <a:solidFill>
              <a:schemeClr val="accent2"/>
            </a:solidFill>
            <a:prstDash val="solid"/>
          </a:ln>
        </p:spPr>
      </p:sp>
      <p:sp>
        <p:nvSpPr>
          <p:cNvPr id="49" name="Argon: electron, shell 3"/>
          <p:cNvSpPr/>
          <p:nvPr/>
        </p:nvSpPr>
        <p:spPr>
          <a:xfrm>
            <a:off x="2952841" y="3110231"/>
            <a:ext cx="49171" cy="49171"/>
          </a:xfrm>
          <a:prstGeom prst="ellipse">
            <a:avLst/>
          </a:prstGeom>
          <a:solidFill>
            <a:schemeClr val="accent2"/>
          </a:solidFill>
          <a:ln w="3175">
            <a:solidFill>
              <a:schemeClr val="accent2"/>
            </a:solidFill>
            <a:prstDash val="solid"/>
          </a:ln>
        </p:spPr>
      </p:sp>
      <p:sp>
        <p:nvSpPr>
          <p:cNvPr id="50" name="Argon: electron, shell 3"/>
          <p:cNvSpPr/>
          <p:nvPr/>
        </p:nvSpPr>
        <p:spPr>
          <a:xfrm>
            <a:off x="2886725" y="3110231"/>
            <a:ext cx="49171" cy="49171"/>
          </a:xfrm>
          <a:prstGeom prst="ellipse">
            <a:avLst/>
          </a:prstGeom>
          <a:solidFill>
            <a:schemeClr val="accent2"/>
          </a:solidFill>
          <a:ln w="3175">
            <a:solidFill>
              <a:schemeClr val="accent2"/>
            </a:solidFill>
            <a:prstDash val="solid"/>
          </a:ln>
        </p:spPr>
      </p:sp>
      <p:sp>
        <p:nvSpPr>
          <p:cNvPr id="51" name="Argon: electron, shell 3"/>
          <p:cNvSpPr/>
          <p:nvPr/>
        </p:nvSpPr>
        <p:spPr>
          <a:xfrm>
            <a:off x="2573887" y="2797393"/>
            <a:ext cx="49171" cy="49171"/>
          </a:xfrm>
          <a:prstGeom prst="ellipse">
            <a:avLst/>
          </a:prstGeom>
          <a:solidFill>
            <a:schemeClr val="accent2"/>
          </a:solidFill>
          <a:ln w="3175">
            <a:solidFill>
              <a:schemeClr val="accent2"/>
            </a:solidFill>
            <a:prstDash val="solid"/>
          </a:ln>
        </p:spPr>
      </p:sp>
      <p:sp>
        <p:nvSpPr>
          <p:cNvPr id="52" name="Argon: electron, shell 3"/>
          <p:cNvSpPr/>
          <p:nvPr/>
        </p:nvSpPr>
        <p:spPr>
          <a:xfrm>
            <a:off x="2573887" y="2731277"/>
            <a:ext cx="49171" cy="49171"/>
          </a:xfrm>
          <a:prstGeom prst="ellipse">
            <a:avLst/>
          </a:prstGeom>
          <a:solidFill>
            <a:schemeClr val="accent2"/>
          </a:solidFill>
          <a:ln w="3175">
            <a:solidFill>
              <a:schemeClr val="accent2"/>
            </a:solidFill>
            <a:prstDash val="solid"/>
          </a:ln>
        </p:spPr>
      </p:sp>
      <p:sp>
        <p:nvSpPr>
          <p:cNvPr id="53" name="Text 51"/>
          <p:cNvSpPr txBox="1"/>
          <p:nvPr/>
        </p:nvSpPr>
        <p:spPr>
          <a:xfrm>
            <a:off x="2395728" y="3191256"/>
            <a:ext cx="1097280" cy="228600"/>
          </a:xfrm>
          <a:prstGeom prst="rect">
            <a:avLst/>
          </a:prstGeom>
          <a:noFill/>
          <a:ln/>
        </p:spPr>
        <p:txBody>
          <a:bodyPr wrap="square" lIns="0" tIns="0" rIns="0" bIns="0" rtlCol="0" anchor="t"/>
          <a:lstStyle/>
          <a:p>
            <a:pPr algn="ctr" indent="0" marL="0">
              <a:buNone/>
            </a:pPr>
            <a:r>
              <a:rPr lang="en-US" sz="1100" dirty="0">
                <a:solidFill>
                  <a:schemeClr val="bg2"/>
                </a:solidFill>
              </a:rPr>
              <a:t>Argon</a:t>
            </a:r>
            <a:endParaRPr lang="en-US" sz="1100" dirty="0"/>
          </a:p>
        </p:txBody>
      </p:sp>
      <p:sp>
        <p:nvSpPr>
          <p:cNvPr id="54" name="Not full"/>
          <p:cNvSpPr/>
          <p:nvPr/>
        </p:nvSpPr>
        <p:spPr>
          <a:xfrm>
            <a:off x="4663440" y="1691640"/>
            <a:ext cx="4023360" cy="2880360"/>
          </a:xfrm>
          <a:prstGeom prst="roundRect">
            <a:avLst>
              <a:gd name="adj" fmla="val 3175"/>
            </a:avLst>
          </a:prstGeom>
          <a:solidFill>
            <a:schemeClr val="tx2"/>
          </a:solidFill>
          <a:ln w="9525">
            <a:solidFill>
              <a:schemeClr val="bg2">
                <a:alpha val="30000"/>
              </a:schemeClr>
            </a:solidFill>
            <a:prstDash val="solid"/>
          </a:ln>
        </p:spPr>
      </p:sp>
      <p:sp>
        <p:nvSpPr>
          <p:cNvPr id="55" name="Text 53"/>
          <p:cNvSpPr txBox="1"/>
          <p:nvPr/>
        </p:nvSpPr>
        <p:spPr>
          <a:xfrm>
            <a:off x="4846320" y="1810512"/>
            <a:ext cx="3657600" cy="274320"/>
          </a:xfrm>
          <a:prstGeom prst="rect">
            <a:avLst/>
          </a:prstGeom>
          <a:noFill/>
          <a:ln/>
        </p:spPr>
        <p:txBody>
          <a:bodyPr wrap="square" lIns="0" tIns="0" rIns="0" bIns="0" rtlCol="0" anchor="t"/>
          <a:lstStyle/>
          <a:p>
            <a:pPr indent="0" marL="0">
              <a:buNone/>
            </a:pPr>
            <a:r>
              <a:rPr lang="en-US" sz="1400" b="1" dirty="0">
                <a:solidFill>
                  <a:schemeClr val="bg2"/>
                </a:solidFill>
              </a:rPr>
              <a:t>Not full</a:t>
            </a:r>
            <a:endParaRPr lang="en-US" sz="1400" dirty="0"/>
          </a:p>
        </p:txBody>
      </p:sp>
      <p:sp>
        <p:nvSpPr>
          <p:cNvPr id="56" name="Sodium: shell 1"/>
          <p:cNvSpPr/>
          <p:nvPr/>
        </p:nvSpPr>
        <p:spPr>
          <a:xfrm>
            <a:off x="5073022" y="2631574"/>
            <a:ext cx="314692" cy="314692"/>
          </a:xfrm>
          <a:prstGeom prst="ellipse">
            <a:avLst/>
          </a:prstGeom>
          <a:solidFill>
            <a:schemeClr val="bg1">
              <a:alpha val="0"/>
            </a:schemeClr>
          </a:solidFill>
          <a:ln w="15875">
            <a:solidFill>
              <a:schemeClr val="bg2">
                <a:alpha val="55000"/>
              </a:schemeClr>
            </a:solidFill>
            <a:prstDash val="solid"/>
          </a:ln>
        </p:spPr>
      </p:sp>
      <p:sp>
        <p:nvSpPr>
          <p:cNvPr id="57" name="Sodium: shell 2"/>
          <p:cNvSpPr/>
          <p:nvPr/>
        </p:nvSpPr>
        <p:spPr>
          <a:xfrm>
            <a:off x="4974681" y="2533233"/>
            <a:ext cx="511374" cy="511374"/>
          </a:xfrm>
          <a:prstGeom prst="ellipse">
            <a:avLst/>
          </a:prstGeom>
          <a:solidFill>
            <a:schemeClr val="bg1">
              <a:alpha val="0"/>
            </a:schemeClr>
          </a:solidFill>
          <a:ln w="15875">
            <a:solidFill>
              <a:schemeClr val="bg2">
                <a:alpha val="55000"/>
              </a:schemeClr>
            </a:solidFill>
            <a:prstDash val="solid"/>
          </a:ln>
        </p:spPr>
      </p:sp>
      <p:sp>
        <p:nvSpPr>
          <p:cNvPr id="58" name="Sodium: shell 3"/>
          <p:cNvSpPr/>
          <p:nvPr/>
        </p:nvSpPr>
        <p:spPr>
          <a:xfrm>
            <a:off x="4882896" y="2441448"/>
            <a:ext cx="694944" cy="694944"/>
          </a:xfrm>
          <a:prstGeom prst="ellipse">
            <a:avLst/>
          </a:prstGeom>
          <a:solidFill>
            <a:schemeClr val="bg1">
              <a:alpha val="0"/>
            </a:schemeClr>
          </a:solidFill>
          <a:ln w="15875">
            <a:solidFill>
              <a:schemeClr val="accent2">
                <a:alpha val="80000"/>
              </a:schemeClr>
            </a:solidFill>
            <a:prstDash val="solid"/>
          </a:ln>
        </p:spPr>
      </p:sp>
      <p:sp>
        <p:nvSpPr>
          <p:cNvPr id="59" name="Sodium: nucleus"/>
          <p:cNvSpPr/>
          <p:nvPr/>
        </p:nvSpPr>
        <p:spPr>
          <a:xfrm>
            <a:off x="5128749" y="2687301"/>
            <a:ext cx="203238" cy="203238"/>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60" name="Sodium: electron, shell 1"/>
          <p:cNvSpPr/>
          <p:nvPr/>
        </p:nvSpPr>
        <p:spPr>
          <a:xfrm>
            <a:off x="5205783" y="2606989"/>
            <a:ext cx="49171" cy="49171"/>
          </a:xfrm>
          <a:prstGeom prst="ellipse">
            <a:avLst/>
          </a:prstGeom>
          <a:solidFill>
            <a:schemeClr val="accent1"/>
          </a:solidFill>
          <a:ln w="3175">
            <a:solidFill>
              <a:schemeClr val="accent1"/>
            </a:solidFill>
            <a:prstDash val="solid"/>
          </a:ln>
        </p:spPr>
      </p:sp>
      <p:sp>
        <p:nvSpPr>
          <p:cNvPr id="61" name="Sodium: electron, shell 1"/>
          <p:cNvSpPr/>
          <p:nvPr/>
        </p:nvSpPr>
        <p:spPr>
          <a:xfrm>
            <a:off x="5363129" y="2764335"/>
            <a:ext cx="49171" cy="49171"/>
          </a:xfrm>
          <a:prstGeom prst="ellipse">
            <a:avLst/>
          </a:prstGeom>
          <a:solidFill>
            <a:schemeClr val="accent1"/>
          </a:solidFill>
          <a:ln w="3175">
            <a:solidFill>
              <a:schemeClr val="accent1"/>
            </a:solidFill>
            <a:prstDash val="solid"/>
          </a:ln>
        </p:spPr>
      </p:sp>
      <p:sp>
        <p:nvSpPr>
          <p:cNvPr id="62" name="Sodium: electron, shell 2"/>
          <p:cNvSpPr/>
          <p:nvPr/>
        </p:nvSpPr>
        <p:spPr>
          <a:xfrm>
            <a:off x="5172767" y="2510788"/>
            <a:ext cx="49171" cy="49171"/>
          </a:xfrm>
          <a:prstGeom prst="ellipse">
            <a:avLst/>
          </a:prstGeom>
          <a:solidFill>
            <a:schemeClr val="accent1"/>
          </a:solidFill>
          <a:ln w="3175">
            <a:solidFill>
              <a:schemeClr val="accent1"/>
            </a:solidFill>
            <a:prstDash val="solid"/>
          </a:ln>
        </p:spPr>
      </p:sp>
      <p:sp>
        <p:nvSpPr>
          <p:cNvPr id="63" name="Sodium: electron, shell 2"/>
          <p:cNvSpPr/>
          <p:nvPr/>
        </p:nvSpPr>
        <p:spPr>
          <a:xfrm>
            <a:off x="5238798" y="2510788"/>
            <a:ext cx="49171" cy="49171"/>
          </a:xfrm>
          <a:prstGeom prst="ellipse">
            <a:avLst/>
          </a:prstGeom>
          <a:solidFill>
            <a:schemeClr val="accent1"/>
          </a:solidFill>
          <a:ln w="3175">
            <a:solidFill>
              <a:schemeClr val="accent1"/>
            </a:solidFill>
            <a:prstDash val="solid"/>
          </a:ln>
        </p:spPr>
      </p:sp>
      <p:sp>
        <p:nvSpPr>
          <p:cNvPr id="64" name="Sodium: electron, shell 2"/>
          <p:cNvSpPr/>
          <p:nvPr/>
        </p:nvSpPr>
        <p:spPr>
          <a:xfrm>
            <a:off x="5459329" y="2731319"/>
            <a:ext cx="49171" cy="49171"/>
          </a:xfrm>
          <a:prstGeom prst="ellipse">
            <a:avLst/>
          </a:prstGeom>
          <a:solidFill>
            <a:schemeClr val="accent1"/>
          </a:solidFill>
          <a:ln w="3175">
            <a:solidFill>
              <a:schemeClr val="accent1"/>
            </a:solidFill>
            <a:prstDash val="solid"/>
          </a:ln>
        </p:spPr>
      </p:sp>
      <p:sp>
        <p:nvSpPr>
          <p:cNvPr id="65" name="Sodium: electron, shell 2"/>
          <p:cNvSpPr/>
          <p:nvPr/>
        </p:nvSpPr>
        <p:spPr>
          <a:xfrm>
            <a:off x="5459329" y="2797350"/>
            <a:ext cx="49171" cy="49171"/>
          </a:xfrm>
          <a:prstGeom prst="ellipse">
            <a:avLst/>
          </a:prstGeom>
          <a:solidFill>
            <a:schemeClr val="accent1"/>
          </a:solidFill>
          <a:ln w="3175">
            <a:solidFill>
              <a:schemeClr val="accent1"/>
            </a:solidFill>
            <a:prstDash val="solid"/>
          </a:ln>
        </p:spPr>
      </p:sp>
      <p:sp>
        <p:nvSpPr>
          <p:cNvPr id="66" name="Sodium: electron, shell 2"/>
          <p:cNvSpPr/>
          <p:nvPr/>
        </p:nvSpPr>
        <p:spPr>
          <a:xfrm>
            <a:off x="5238798" y="3017881"/>
            <a:ext cx="49171" cy="49171"/>
          </a:xfrm>
          <a:prstGeom prst="ellipse">
            <a:avLst/>
          </a:prstGeom>
          <a:solidFill>
            <a:schemeClr val="accent1"/>
          </a:solidFill>
          <a:ln w="3175">
            <a:solidFill>
              <a:schemeClr val="accent1"/>
            </a:solidFill>
            <a:prstDash val="solid"/>
          </a:ln>
        </p:spPr>
      </p:sp>
      <p:sp>
        <p:nvSpPr>
          <p:cNvPr id="67" name="Sodium: electron, shell 2"/>
          <p:cNvSpPr/>
          <p:nvPr/>
        </p:nvSpPr>
        <p:spPr>
          <a:xfrm>
            <a:off x="5172767" y="3017881"/>
            <a:ext cx="49171" cy="49171"/>
          </a:xfrm>
          <a:prstGeom prst="ellipse">
            <a:avLst/>
          </a:prstGeom>
          <a:solidFill>
            <a:schemeClr val="accent1"/>
          </a:solidFill>
          <a:ln w="3175">
            <a:solidFill>
              <a:schemeClr val="accent1"/>
            </a:solidFill>
            <a:prstDash val="solid"/>
          </a:ln>
        </p:spPr>
      </p:sp>
      <p:sp>
        <p:nvSpPr>
          <p:cNvPr id="68" name="Sodium: electron, shell 2"/>
          <p:cNvSpPr/>
          <p:nvPr/>
        </p:nvSpPr>
        <p:spPr>
          <a:xfrm>
            <a:off x="4952236" y="2797350"/>
            <a:ext cx="49171" cy="49171"/>
          </a:xfrm>
          <a:prstGeom prst="ellipse">
            <a:avLst/>
          </a:prstGeom>
          <a:solidFill>
            <a:schemeClr val="accent1"/>
          </a:solidFill>
          <a:ln w="3175">
            <a:solidFill>
              <a:schemeClr val="accent1"/>
            </a:solidFill>
            <a:prstDash val="solid"/>
          </a:ln>
        </p:spPr>
      </p:sp>
      <p:sp>
        <p:nvSpPr>
          <p:cNvPr id="69" name="Sodium: electron, shell 2"/>
          <p:cNvSpPr/>
          <p:nvPr/>
        </p:nvSpPr>
        <p:spPr>
          <a:xfrm>
            <a:off x="4952236" y="2731319"/>
            <a:ext cx="49171" cy="49171"/>
          </a:xfrm>
          <a:prstGeom prst="ellipse">
            <a:avLst/>
          </a:prstGeom>
          <a:solidFill>
            <a:schemeClr val="accent1"/>
          </a:solidFill>
          <a:ln w="3175">
            <a:solidFill>
              <a:schemeClr val="accent1"/>
            </a:solidFill>
            <a:prstDash val="solid"/>
          </a:ln>
        </p:spPr>
      </p:sp>
      <p:sp>
        <p:nvSpPr>
          <p:cNvPr id="70" name="Sodium: electron, shell 3"/>
          <p:cNvSpPr/>
          <p:nvPr/>
        </p:nvSpPr>
        <p:spPr>
          <a:xfrm>
            <a:off x="5205783" y="2416863"/>
            <a:ext cx="49171" cy="49171"/>
          </a:xfrm>
          <a:prstGeom prst="ellipse">
            <a:avLst/>
          </a:prstGeom>
          <a:solidFill>
            <a:schemeClr val="accent2"/>
          </a:solidFill>
          <a:ln w="3175">
            <a:solidFill>
              <a:schemeClr val="accent2"/>
            </a:solidFill>
            <a:prstDash val="solid"/>
          </a:ln>
        </p:spPr>
      </p:sp>
      <p:sp>
        <p:nvSpPr>
          <p:cNvPr id="71" name="Text 69"/>
          <p:cNvSpPr txBox="1"/>
          <p:nvPr/>
        </p:nvSpPr>
        <p:spPr>
          <a:xfrm>
            <a:off x="4681728" y="3191256"/>
            <a:ext cx="1097280" cy="228600"/>
          </a:xfrm>
          <a:prstGeom prst="rect">
            <a:avLst/>
          </a:prstGeom>
          <a:noFill/>
          <a:ln/>
        </p:spPr>
        <p:txBody>
          <a:bodyPr wrap="square" lIns="0" tIns="0" rIns="0" bIns="0" rtlCol="0" anchor="t"/>
          <a:lstStyle/>
          <a:p>
            <a:pPr algn="ctr" indent="0" marL="0">
              <a:buNone/>
            </a:pPr>
            <a:r>
              <a:rPr lang="en-US" sz="1100" dirty="0">
                <a:solidFill>
                  <a:schemeClr val="bg2"/>
                </a:solidFill>
              </a:rPr>
              <a:t>Sodium</a:t>
            </a:r>
            <a:endParaRPr lang="en-US" sz="1100" dirty="0"/>
          </a:p>
        </p:txBody>
      </p:sp>
      <p:sp>
        <p:nvSpPr>
          <p:cNvPr id="72" name="Chlorine: shell 1"/>
          <p:cNvSpPr/>
          <p:nvPr/>
        </p:nvSpPr>
        <p:spPr>
          <a:xfrm>
            <a:off x="6033142" y="2631574"/>
            <a:ext cx="314692" cy="314692"/>
          </a:xfrm>
          <a:prstGeom prst="ellipse">
            <a:avLst/>
          </a:prstGeom>
          <a:solidFill>
            <a:schemeClr val="bg1">
              <a:alpha val="0"/>
            </a:schemeClr>
          </a:solidFill>
          <a:ln w="15875">
            <a:solidFill>
              <a:schemeClr val="bg2">
                <a:alpha val="55000"/>
              </a:schemeClr>
            </a:solidFill>
            <a:prstDash val="solid"/>
          </a:ln>
        </p:spPr>
      </p:sp>
      <p:sp>
        <p:nvSpPr>
          <p:cNvPr id="73" name="Chlorine: shell 2"/>
          <p:cNvSpPr/>
          <p:nvPr/>
        </p:nvSpPr>
        <p:spPr>
          <a:xfrm>
            <a:off x="5934801" y="2533233"/>
            <a:ext cx="511374" cy="511374"/>
          </a:xfrm>
          <a:prstGeom prst="ellipse">
            <a:avLst/>
          </a:prstGeom>
          <a:solidFill>
            <a:schemeClr val="bg1">
              <a:alpha val="0"/>
            </a:schemeClr>
          </a:solidFill>
          <a:ln w="15875">
            <a:solidFill>
              <a:schemeClr val="bg2">
                <a:alpha val="55000"/>
              </a:schemeClr>
            </a:solidFill>
            <a:prstDash val="solid"/>
          </a:ln>
        </p:spPr>
      </p:sp>
      <p:sp>
        <p:nvSpPr>
          <p:cNvPr id="74" name="Chlorine: shell 3"/>
          <p:cNvSpPr/>
          <p:nvPr/>
        </p:nvSpPr>
        <p:spPr>
          <a:xfrm>
            <a:off x="5843016" y="2441448"/>
            <a:ext cx="694944" cy="694944"/>
          </a:xfrm>
          <a:prstGeom prst="ellipse">
            <a:avLst/>
          </a:prstGeom>
          <a:solidFill>
            <a:schemeClr val="bg1">
              <a:alpha val="0"/>
            </a:schemeClr>
          </a:solidFill>
          <a:ln w="15875">
            <a:solidFill>
              <a:schemeClr val="accent2">
                <a:alpha val="80000"/>
              </a:schemeClr>
            </a:solidFill>
            <a:prstDash val="solid"/>
          </a:ln>
        </p:spPr>
      </p:sp>
      <p:sp>
        <p:nvSpPr>
          <p:cNvPr id="75" name="Chlorine: nucleus"/>
          <p:cNvSpPr/>
          <p:nvPr/>
        </p:nvSpPr>
        <p:spPr>
          <a:xfrm>
            <a:off x="6088869" y="2687301"/>
            <a:ext cx="203238" cy="203238"/>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76" name="Chlorine: electron, shell 1"/>
          <p:cNvSpPr/>
          <p:nvPr/>
        </p:nvSpPr>
        <p:spPr>
          <a:xfrm>
            <a:off x="6165903" y="2606989"/>
            <a:ext cx="49171" cy="49171"/>
          </a:xfrm>
          <a:prstGeom prst="ellipse">
            <a:avLst/>
          </a:prstGeom>
          <a:solidFill>
            <a:schemeClr val="accent1"/>
          </a:solidFill>
          <a:ln w="3175">
            <a:solidFill>
              <a:schemeClr val="accent1"/>
            </a:solidFill>
            <a:prstDash val="solid"/>
          </a:ln>
        </p:spPr>
      </p:sp>
      <p:sp>
        <p:nvSpPr>
          <p:cNvPr id="77" name="Chlorine: electron, shell 1"/>
          <p:cNvSpPr/>
          <p:nvPr/>
        </p:nvSpPr>
        <p:spPr>
          <a:xfrm>
            <a:off x="6323249" y="2764335"/>
            <a:ext cx="49171" cy="49171"/>
          </a:xfrm>
          <a:prstGeom prst="ellipse">
            <a:avLst/>
          </a:prstGeom>
          <a:solidFill>
            <a:schemeClr val="accent1"/>
          </a:solidFill>
          <a:ln w="3175">
            <a:solidFill>
              <a:schemeClr val="accent1"/>
            </a:solidFill>
            <a:prstDash val="solid"/>
          </a:ln>
        </p:spPr>
      </p:sp>
      <p:sp>
        <p:nvSpPr>
          <p:cNvPr id="78" name="Chlorine: electron, shell 2"/>
          <p:cNvSpPr/>
          <p:nvPr/>
        </p:nvSpPr>
        <p:spPr>
          <a:xfrm>
            <a:off x="6132887" y="2510788"/>
            <a:ext cx="49171" cy="49171"/>
          </a:xfrm>
          <a:prstGeom prst="ellipse">
            <a:avLst/>
          </a:prstGeom>
          <a:solidFill>
            <a:schemeClr val="accent1"/>
          </a:solidFill>
          <a:ln w="3175">
            <a:solidFill>
              <a:schemeClr val="accent1"/>
            </a:solidFill>
            <a:prstDash val="solid"/>
          </a:ln>
        </p:spPr>
      </p:sp>
      <p:sp>
        <p:nvSpPr>
          <p:cNvPr id="79" name="Chlorine: electron, shell 2"/>
          <p:cNvSpPr/>
          <p:nvPr/>
        </p:nvSpPr>
        <p:spPr>
          <a:xfrm>
            <a:off x="6198918" y="2510788"/>
            <a:ext cx="49171" cy="49171"/>
          </a:xfrm>
          <a:prstGeom prst="ellipse">
            <a:avLst/>
          </a:prstGeom>
          <a:solidFill>
            <a:schemeClr val="accent1"/>
          </a:solidFill>
          <a:ln w="3175">
            <a:solidFill>
              <a:schemeClr val="accent1"/>
            </a:solidFill>
            <a:prstDash val="solid"/>
          </a:ln>
        </p:spPr>
      </p:sp>
      <p:sp>
        <p:nvSpPr>
          <p:cNvPr id="80" name="Chlorine: electron, shell 2"/>
          <p:cNvSpPr/>
          <p:nvPr/>
        </p:nvSpPr>
        <p:spPr>
          <a:xfrm>
            <a:off x="6419449" y="2731319"/>
            <a:ext cx="49171" cy="49171"/>
          </a:xfrm>
          <a:prstGeom prst="ellipse">
            <a:avLst/>
          </a:prstGeom>
          <a:solidFill>
            <a:schemeClr val="accent1"/>
          </a:solidFill>
          <a:ln w="3175">
            <a:solidFill>
              <a:schemeClr val="accent1"/>
            </a:solidFill>
            <a:prstDash val="solid"/>
          </a:ln>
        </p:spPr>
      </p:sp>
      <p:sp>
        <p:nvSpPr>
          <p:cNvPr id="81" name="Chlorine: electron, shell 2"/>
          <p:cNvSpPr/>
          <p:nvPr/>
        </p:nvSpPr>
        <p:spPr>
          <a:xfrm>
            <a:off x="6419449" y="2797350"/>
            <a:ext cx="49171" cy="49171"/>
          </a:xfrm>
          <a:prstGeom prst="ellipse">
            <a:avLst/>
          </a:prstGeom>
          <a:solidFill>
            <a:schemeClr val="accent1"/>
          </a:solidFill>
          <a:ln w="3175">
            <a:solidFill>
              <a:schemeClr val="accent1"/>
            </a:solidFill>
            <a:prstDash val="solid"/>
          </a:ln>
        </p:spPr>
      </p:sp>
      <p:sp>
        <p:nvSpPr>
          <p:cNvPr id="82" name="Chlorine: electron, shell 2"/>
          <p:cNvSpPr/>
          <p:nvPr/>
        </p:nvSpPr>
        <p:spPr>
          <a:xfrm>
            <a:off x="6198918" y="3017881"/>
            <a:ext cx="49171" cy="49171"/>
          </a:xfrm>
          <a:prstGeom prst="ellipse">
            <a:avLst/>
          </a:prstGeom>
          <a:solidFill>
            <a:schemeClr val="accent1"/>
          </a:solidFill>
          <a:ln w="3175">
            <a:solidFill>
              <a:schemeClr val="accent1"/>
            </a:solidFill>
            <a:prstDash val="solid"/>
          </a:ln>
        </p:spPr>
      </p:sp>
      <p:sp>
        <p:nvSpPr>
          <p:cNvPr id="83" name="Chlorine: electron, shell 2"/>
          <p:cNvSpPr/>
          <p:nvPr/>
        </p:nvSpPr>
        <p:spPr>
          <a:xfrm>
            <a:off x="6132887" y="3017881"/>
            <a:ext cx="49171" cy="49171"/>
          </a:xfrm>
          <a:prstGeom prst="ellipse">
            <a:avLst/>
          </a:prstGeom>
          <a:solidFill>
            <a:schemeClr val="accent1"/>
          </a:solidFill>
          <a:ln w="3175">
            <a:solidFill>
              <a:schemeClr val="accent1"/>
            </a:solidFill>
            <a:prstDash val="solid"/>
          </a:ln>
        </p:spPr>
      </p:sp>
      <p:sp>
        <p:nvSpPr>
          <p:cNvPr id="84" name="Chlorine: electron, shell 2"/>
          <p:cNvSpPr/>
          <p:nvPr/>
        </p:nvSpPr>
        <p:spPr>
          <a:xfrm>
            <a:off x="5912356" y="2797350"/>
            <a:ext cx="49171" cy="49171"/>
          </a:xfrm>
          <a:prstGeom prst="ellipse">
            <a:avLst/>
          </a:prstGeom>
          <a:solidFill>
            <a:schemeClr val="accent1"/>
          </a:solidFill>
          <a:ln w="3175">
            <a:solidFill>
              <a:schemeClr val="accent1"/>
            </a:solidFill>
            <a:prstDash val="solid"/>
          </a:ln>
        </p:spPr>
      </p:sp>
      <p:sp>
        <p:nvSpPr>
          <p:cNvPr id="85" name="Chlorine: electron, shell 2"/>
          <p:cNvSpPr/>
          <p:nvPr/>
        </p:nvSpPr>
        <p:spPr>
          <a:xfrm>
            <a:off x="5912356" y="2731319"/>
            <a:ext cx="49171" cy="49171"/>
          </a:xfrm>
          <a:prstGeom prst="ellipse">
            <a:avLst/>
          </a:prstGeom>
          <a:solidFill>
            <a:schemeClr val="accent1"/>
          </a:solidFill>
          <a:ln w="3175">
            <a:solidFill>
              <a:schemeClr val="accent1"/>
            </a:solidFill>
            <a:prstDash val="solid"/>
          </a:ln>
        </p:spPr>
      </p:sp>
      <p:sp>
        <p:nvSpPr>
          <p:cNvPr id="86" name="Chlorine: electron, shell 3"/>
          <p:cNvSpPr/>
          <p:nvPr/>
        </p:nvSpPr>
        <p:spPr>
          <a:xfrm>
            <a:off x="6132845" y="2418439"/>
            <a:ext cx="49171" cy="49171"/>
          </a:xfrm>
          <a:prstGeom prst="ellipse">
            <a:avLst/>
          </a:prstGeom>
          <a:solidFill>
            <a:schemeClr val="accent2"/>
          </a:solidFill>
          <a:ln w="3175">
            <a:solidFill>
              <a:schemeClr val="accent2"/>
            </a:solidFill>
            <a:prstDash val="solid"/>
          </a:ln>
        </p:spPr>
      </p:sp>
      <p:sp>
        <p:nvSpPr>
          <p:cNvPr id="87" name="Chlorine: electron, shell 3"/>
          <p:cNvSpPr/>
          <p:nvPr/>
        </p:nvSpPr>
        <p:spPr>
          <a:xfrm>
            <a:off x="6198961" y="2418439"/>
            <a:ext cx="49171" cy="49171"/>
          </a:xfrm>
          <a:prstGeom prst="ellipse">
            <a:avLst/>
          </a:prstGeom>
          <a:solidFill>
            <a:schemeClr val="accent2"/>
          </a:solidFill>
          <a:ln w="3175">
            <a:solidFill>
              <a:schemeClr val="accent2"/>
            </a:solidFill>
            <a:prstDash val="solid"/>
          </a:ln>
        </p:spPr>
      </p:sp>
      <p:sp>
        <p:nvSpPr>
          <p:cNvPr id="88" name="Chlorine: electron, shell 3"/>
          <p:cNvSpPr/>
          <p:nvPr/>
        </p:nvSpPr>
        <p:spPr>
          <a:xfrm>
            <a:off x="6511799" y="2731277"/>
            <a:ext cx="49171" cy="49171"/>
          </a:xfrm>
          <a:prstGeom prst="ellipse">
            <a:avLst/>
          </a:prstGeom>
          <a:solidFill>
            <a:schemeClr val="accent2"/>
          </a:solidFill>
          <a:ln w="3175">
            <a:solidFill>
              <a:schemeClr val="accent2"/>
            </a:solidFill>
            <a:prstDash val="solid"/>
          </a:ln>
        </p:spPr>
      </p:sp>
      <p:sp>
        <p:nvSpPr>
          <p:cNvPr id="89" name="Chlorine: electron, shell 3"/>
          <p:cNvSpPr/>
          <p:nvPr/>
        </p:nvSpPr>
        <p:spPr>
          <a:xfrm>
            <a:off x="6511799" y="2797393"/>
            <a:ext cx="49171" cy="49171"/>
          </a:xfrm>
          <a:prstGeom prst="ellipse">
            <a:avLst/>
          </a:prstGeom>
          <a:solidFill>
            <a:schemeClr val="accent2"/>
          </a:solidFill>
          <a:ln w="3175">
            <a:solidFill>
              <a:schemeClr val="accent2"/>
            </a:solidFill>
            <a:prstDash val="solid"/>
          </a:ln>
        </p:spPr>
      </p:sp>
      <p:sp>
        <p:nvSpPr>
          <p:cNvPr id="90" name="Chlorine: electron, shell 3"/>
          <p:cNvSpPr/>
          <p:nvPr/>
        </p:nvSpPr>
        <p:spPr>
          <a:xfrm>
            <a:off x="6198961" y="3110231"/>
            <a:ext cx="49171" cy="49171"/>
          </a:xfrm>
          <a:prstGeom prst="ellipse">
            <a:avLst/>
          </a:prstGeom>
          <a:solidFill>
            <a:schemeClr val="accent2"/>
          </a:solidFill>
          <a:ln w="3175">
            <a:solidFill>
              <a:schemeClr val="accent2"/>
            </a:solidFill>
            <a:prstDash val="solid"/>
          </a:ln>
        </p:spPr>
      </p:sp>
      <p:sp>
        <p:nvSpPr>
          <p:cNvPr id="91" name="Chlorine: electron, shell 3"/>
          <p:cNvSpPr/>
          <p:nvPr/>
        </p:nvSpPr>
        <p:spPr>
          <a:xfrm>
            <a:off x="6132845" y="3110231"/>
            <a:ext cx="49171" cy="49171"/>
          </a:xfrm>
          <a:prstGeom prst="ellipse">
            <a:avLst/>
          </a:prstGeom>
          <a:solidFill>
            <a:schemeClr val="accent2"/>
          </a:solidFill>
          <a:ln w="3175">
            <a:solidFill>
              <a:schemeClr val="accent2"/>
            </a:solidFill>
            <a:prstDash val="solid"/>
          </a:ln>
        </p:spPr>
      </p:sp>
      <p:sp>
        <p:nvSpPr>
          <p:cNvPr id="92" name="Chlorine: electron, shell 3"/>
          <p:cNvSpPr/>
          <p:nvPr/>
        </p:nvSpPr>
        <p:spPr>
          <a:xfrm>
            <a:off x="5818431" y="2764335"/>
            <a:ext cx="49171" cy="49171"/>
          </a:xfrm>
          <a:prstGeom prst="ellipse">
            <a:avLst/>
          </a:prstGeom>
          <a:solidFill>
            <a:schemeClr val="accent2"/>
          </a:solidFill>
          <a:ln w="3175">
            <a:solidFill>
              <a:schemeClr val="accent2"/>
            </a:solidFill>
            <a:prstDash val="solid"/>
          </a:ln>
        </p:spPr>
      </p:sp>
      <p:sp>
        <p:nvSpPr>
          <p:cNvPr id="93" name="Text 91"/>
          <p:cNvSpPr txBox="1"/>
          <p:nvPr/>
        </p:nvSpPr>
        <p:spPr>
          <a:xfrm>
            <a:off x="5641848" y="3191256"/>
            <a:ext cx="1097280" cy="228600"/>
          </a:xfrm>
          <a:prstGeom prst="rect">
            <a:avLst/>
          </a:prstGeom>
          <a:noFill/>
          <a:ln/>
        </p:spPr>
        <p:txBody>
          <a:bodyPr wrap="square" lIns="0" tIns="0" rIns="0" bIns="0" rtlCol="0" anchor="t"/>
          <a:lstStyle/>
          <a:p>
            <a:pPr algn="ctr" indent="0" marL="0">
              <a:buNone/>
            </a:pPr>
            <a:r>
              <a:rPr lang="en-US" sz="1100" dirty="0">
                <a:solidFill>
                  <a:schemeClr val="bg2"/>
                </a:solidFill>
              </a:rPr>
              <a:t>Chlorine</a:t>
            </a:r>
            <a:endParaRPr lang="en-US" sz="1100" dirty="0"/>
          </a:p>
        </p:txBody>
      </p:sp>
      <p:sp>
        <p:nvSpPr>
          <p:cNvPr id="94" name="Oxygen: shell 1"/>
          <p:cNvSpPr/>
          <p:nvPr/>
        </p:nvSpPr>
        <p:spPr>
          <a:xfrm>
            <a:off x="6960413" y="2598725"/>
            <a:ext cx="380390" cy="380390"/>
          </a:xfrm>
          <a:prstGeom prst="ellipse">
            <a:avLst/>
          </a:prstGeom>
          <a:solidFill>
            <a:schemeClr val="bg1">
              <a:alpha val="0"/>
            </a:schemeClr>
          </a:solidFill>
          <a:ln w="15875">
            <a:solidFill>
              <a:schemeClr val="bg2">
                <a:alpha val="55000"/>
              </a:schemeClr>
            </a:solidFill>
            <a:prstDash val="solid"/>
          </a:ln>
        </p:spPr>
      </p:sp>
      <p:sp>
        <p:nvSpPr>
          <p:cNvPr id="95" name="Oxygen: shell 2"/>
          <p:cNvSpPr/>
          <p:nvPr/>
        </p:nvSpPr>
        <p:spPr>
          <a:xfrm>
            <a:off x="6841541" y="2479853"/>
            <a:ext cx="618134" cy="618134"/>
          </a:xfrm>
          <a:prstGeom prst="ellipse">
            <a:avLst/>
          </a:prstGeom>
          <a:solidFill>
            <a:schemeClr val="bg1">
              <a:alpha val="0"/>
            </a:schemeClr>
          </a:solidFill>
          <a:ln w="15875">
            <a:solidFill>
              <a:schemeClr val="accent2">
                <a:alpha val="80000"/>
              </a:schemeClr>
            </a:solidFill>
            <a:prstDash val="solid"/>
          </a:ln>
        </p:spPr>
      </p:sp>
      <p:sp>
        <p:nvSpPr>
          <p:cNvPr id="96" name="Oxygen: nucleus"/>
          <p:cNvSpPr/>
          <p:nvPr/>
        </p:nvSpPr>
        <p:spPr>
          <a:xfrm>
            <a:off x="7027774" y="2666086"/>
            <a:ext cx="245669" cy="245669"/>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97" name="Oxygen: electron, shell 1"/>
          <p:cNvSpPr/>
          <p:nvPr/>
        </p:nvSpPr>
        <p:spPr>
          <a:xfrm>
            <a:off x="7120890" y="2569007"/>
            <a:ext cx="59436" cy="59436"/>
          </a:xfrm>
          <a:prstGeom prst="ellipse">
            <a:avLst/>
          </a:prstGeom>
          <a:solidFill>
            <a:schemeClr val="accent1"/>
          </a:solidFill>
          <a:ln w="3175">
            <a:solidFill>
              <a:schemeClr val="accent1"/>
            </a:solidFill>
            <a:prstDash val="solid"/>
          </a:ln>
        </p:spPr>
      </p:sp>
      <p:sp>
        <p:nvSpPr>
          <p:cNvPr id="98" name="Oxygen: electron, shell 1"/>
          <p:cNvSpPr/>
          <p:nvPr/>
        </p:nvSpPr>
        <p:spPr>
          <a:xfrm>
            <a:off x="7311085" y="2759202"/>
            <a:ext cx="59436" cy="59436"/>
          </a:xfrm>
          <a:prstGeom prst="ellipse">
            <a:avLst/>
          </a:prstGeom>
          <a:solidFill>
            <a:schemeClr val="accent1"/>
          </a:solidFill>
          <a:ln w="3175">
            <a:solidFill>
              <a:schemeClr val="accent1"/>
            </a:solidFill>
            <a:prstDash val="solid"/>
          </a:ln>
        </p:spPr>
      </p:sp>
      <p:sp>
        <p:nvSpPr>
          <p:cNvPr id="99" name="Oxygen: electron, shell 2"/>
          <p:cNvSpPr/>
          <p:nvPr/>
        </p:nvSpPr>
        <p:spPr>
          <a:xfrm>
            <a:off x="7080982" y="2452722"/>
            <a:ext cx="59436" cy="59436"/>
          </a:xfrm>
          <a:prstGeom prst="ellipse">
            <a:avLst/>
          </a:prstGeom>
          <a:solidFill>
            <a:schemeClr val="accent2"/>
          </a:solidFill>
          <a:ln w="3175">
            <a:solidFill>
              <a:schemeClr val="accent2"/>
            </a:solidFill>
            <a:prstDash val="solid"/>
          </a:ln>
        </p:spPr>
      </p:sp>
      <p:sp>
        <p:nvSpPr>
          <p:cNvPr id="100" name="Oxygen: electron, shell 2"/>
          <p:cNvSpPr/>
          <p:nvPr/>
        </p:nvSpPr>
        <p:spPr>
          <a:xfrm>
            <a:off x="7160798" y="2452722"/>
            <a:ext cx="59436" cy="59436"/>
          </a:xfrm>
          <a:prstGeom prst="ellipse">
            <a:avLst/>
          </a:prstGeom>
          <a:solidFill>
            <a:schemeClr val="accent2"/>
          </a:solidFill>
          <a:ln w="3175">
            <a:solidFill>
              <a:schemeClr val="accent2"/>
            </a:solidFill>
            <a:prstDash val="solid"/>
          </a:ln>
        </p:spPr>
      </p:sp>
      <p:sp>
        <p:nvSpPr>
          <p:cNvPr id="101" name="Oxygen: electron, shell 2"/>
          <p:cNvSpPr/>
          <p:nvPr/>
        </p:nvSpPr>
        <p:spPr>
          <a:xfrm>
            <a:off x="7427370" y="2719294"/>
            <a:ext cx="59436" cy="59436"/>
          </a:xfrm>
          <a:prstGeom prst="ellipse">
            <a:avLst/>
          </a:prstGeom>
          <a:solidFill>
            <a:schemeClr val="accent2"/>
          </a:solidFill>
          <a:ln w="3175">
            <a:solidFill>
              <a:schemeClr val="accent2"/>
            </a:solidFill>
            <a:prstDash val="solid"/>
          </a:ln>
        </p:spPr>
      </p:sp>
      <p:sp>
        <p:nvSpPr>
          <p:cNvPr id="102" name="Oxygen: electron, shell 2"/>
          <p:cNvSpPr/>
          <p:nvPr/>
        </p:nvSpPr>
        <p:spPr>
          <a:xfrm>
            <a:off x="7427370" y="2799110"/>
            <a:ext cx="59436" cy="59436"/>
          </a:xfrm>
          <a:prstGeom prst="ellipse">
            <a:avLst/>
          </a:prstGeom>
          <a:solidFill>
            <a:schemeClr val="accent2"/>
          </a:solidFill>
          <a:ln w="3175">
            <a:solidFill>
              <a:schemeClr val="accent2"/>
            </a:solidFill>
            <a:prstDash val="solid"/>
          </a:ln>
        </p:spPr>
      </p:sp>
      <p:sp>
        <p:nvSpPr>
          <p:cNvPr id="103" name="Oxygen: electron, shell 2"/>
          <p:cNvSpPr/>
          <p:nvPr/>
        </p:nvSpPr>
        <p:spPr>
          <a:xfrm>
            <a:off x="7120890" y="3068269"/>
            <a:ext cx="59436" cy="59436"/>
          </a:xfrm>
          <a:prstGeom prst="ellipse">
            <a:avLst/>
          </a:prstGeom>
          <a:solidFill>
            <a:schemeClr val="accent2"/>
          </a:solidFill>
          <a:ln w="3175">
            <a:solidFill>
              <a:schemeClr val="accent2"/>
            </a:solidFill>
            <a:prstDash val="solid"/>
          </a:ln>
        </p:spPr>
      </p:sp>
      <p:sp>
        <p:nvSpPr>
          <p:cNvPr id="104" name="Oxygen: electron, shell 2"/>
          <p:cNvSpPr/>
          <p:nvPr/>
        </p:nvSpPr>
        <p:spPr>
          <a:xfrm>
            <a:off x="6811823" y="2759202"/>
            <a:ext cx="59436" cy="59436"/>
          </a:xfrm>
          <a:prstGeom prst="ellipse">
            <a:avLst/>
          </a:prstGeom>
          <a:solidFill>
            <a:schemeClr val="accent2"/>
          </a:solidFill>
          <a:ln w="3175">
            <a:solidFill>
              <a:schemeClr val="accent2"/>
            </a:solidFill>
            <a:prstDash val="solid"/>
          </a:ln>
        </p:spPr>
      </p:sp>
      <p:sp>
        <p:nvSpPr>
          <p:cNvPr id="105" name="Text 103"/>
          <p:cNvSpPr txBox="1"/>
          <p:nvPr/>
        </p:nvSpPr>
        <p:spPr>
          <a:xfrm>
            <a:off x="6601968" y="3191256"/>
            <a:ext cx="1097280" cy="228600"/>
          </a:xfrm>
          <a:prstGeom prst="rect">
            <a:avLst/>
          </a:prstGeom>
          <a:noFill/>
          <a:ln/>
        </p:spPr>
        <p:txBody>
          <a:bodyPr wrap="square" lIns="0" tIns="0" rIns="0" bIns="0" rtlCol="0" anchor="t"/>
          <a:lstStyle/>
          <a:p>
            <a:pPr algn="ctr" indent="0" marL="0">
              <a:buNone/>
            </a:pPr>
            <a:r>
              <a:rPr lang="en-US" sz="1100" dirty="0">
                <a:solidFill>
                  <a:schemeClr val="bg2"/>
                </a:solidFill>
              </a:rPr>
              <a:t>Oxygen</a:t>
            </a:r>
            <a:endParaRPr lang="en-US" sz="1100" dirty="0"/>
          </a:p>
        </p:txBody>
      </p:sp>
      <p:sp>
        <p:nvSpPr>
          <p:cNvPr id="106" name="Magnesium: shell 1"/>
          <p:cNvSpPr/>
          <p:nvPr/>
        </p:nvSpPr>
        <p:spPr>
          <a:xfrm>
            <a:off x="7953382" y="2631574"/>
            <a:ext cx="314692" cy="314692"/>
          </a:xfrm>
          <a:prstGeom prst="ellipse">
            <a:avLst/>
          </a:prstGeom>
          <a:solidFill>
            <a:schemeClr val="bg1">
              <a:alpha val="0"/>
            </a:schemeClr>
          </a:solidFill>
          <a:ln w="15875">
            <a:solidFill>
              <a:schemeClr val="bg2">
                <a:alpha val="55000"/>
              </a:schemeClr>
            </a:solidFill>
            <a:prstDash val="solid"/>
          </a:ln>
        </p:spPr>
      </p:sp>
      <p:sp>
        <p:nvSpPr>
          <p:cNvPr id="107" name="Magnesium: shell 2"/>
          <p:cNvSpPr/>
          <p:nvPr/>
        </p:nvSpPr>
        <p:spPr>
          <a:xfrm>
            <a:off x="7855041" y="2533233"/>
            <a:ext cx="511374" cy="511374"/>
          </a:xfrm>
          <a:prstGeom prst="ellipse">
            <a:avLst/>
          </a:prstGeom>
          <a:solidFill>
            <a:schemeClr val="bg1">
              <a:alpha val="0"/>
            </a:schemeClr>
          </a:solidFill>
          <a:ln w="15875">
            <a:solidFill>
              <a:schemeClr val="bg2">
                <a:alpha val="55000"/>
              </a:schemeClr>
            </a:solidFill>
            <a:prstDash val="solid"/>
          </a:ln>
        </p:spPr>
      </p:sp>
      <p:sp>
        <p:nvSpPr>
          <p:cNvPr id="108" name="Magnesium: shell 3"/>
          <p:cNvSpPr/>
          <p:nvPr/>
        </p:nvSpPr>
        <p:spPr>
          <a:xfrm>
            <a:off x="7763256" y="2441448"/>
            <a:ext cx="694944" cy="694944"/>
          </a:xfrm>
          <a:prstGeom prst="ellipse">
            <a:avLst/>
          </a:prstGeom>
          <a:solidFill>
            <a:schemeClr val="bg1">
              <a:alpha val="0"/>
            </a:schemeClr>
          </a:solidFill>
          <a:ln w="15875">
            <a:solidFill>
              <a:schemeClr val="accent2">
                <a:alpha val="80000"/>
              </a:schemeClr>
            </a:solidFill>
            <a:prstDash val="solid"/>
          </a:ln>
        </p:spPr>
      </p:sp>
      <p:sp>
        <p:nvSpPr>
          <p:cNvPr id="109" name="Magnesium: nucleus"/>
          <p:cNvSpPr/>
          <p:nvPr/>
        </p:nvSpPr>
        <p:spPr>
          <a:xfrm>
            <a:off x="8009109" y="2687301"/>
            <a:ext cx="203238" cy="203238"/>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110" name="Magnesium: electron, shell 1"/>
          <p:cNvSpPr/>
          <p:nvPr/>
        </p:nvSpPr>
        <p:spPr>
          <a:xfrm>
            <a:off x="8086143" y="2606989"/>
            <a:ext cx="49171" cy="49171"/>
          </a:xfrm>
          <a:prstGeom prst="ellipse">
            <a:avLst/>
          </a:prstGeom>
          <a:solidFill>
            <a:schemeClr val="accent1"/>
          </a:solidFill>
          <a:ln w="3175">
            <a:solidFill>
              <a:schemeClr val="accent1"/>
            </a:solidFill>
            <a:prstDash val="solid"/>
          </a:ln>
        </p:spPr>
      </p:sp>
      <p:sp>
        <p:nvSpPr>
          <p:cNvPr id="111" name="Magnesium: electron, shell 1"/>
          <p:cNvSpPr/>
          <p:nvPr/>
        </p:nvSpPr>
        <p:spPr>
          <a:xfrm>
            <a:off x="8243489" y="2764335"/>
            <a:ext cx="49171" cy="49171"/>
          </a:xfrm>
          <a:prstGeom prst="ellipse">
            <a:avLst/>
          </a:prstGeom>
          <a:solidFill>
            <a:schemeClr val="accent1"/>
          </a:solidFill>
          <a:ln w="3175">
            <a:solidFill>
              <a:schemeClr val="accent1"/>
            </a:solidFill>
            <a:prstDash val="solid"/>
          </a:ln>
        </p:spPr>
      </p:sp>
      <p:sp>
        <p:nvSpPr>
          <p:cNvPr id="112" name="Magnesium: electron, shell 2"/>
          <p:cNvSpPr/>
          <p:nvPr/>
        </p:nvSpPr>
        <p:spPr>
          <a:xfrm>
            <a:off x="8053127" y="2510788"/>
            <a:ext cx="49171" cy="49171"/>
          </a:xfrm>
          <a:prstGeom prst="ellipse">
            <a:avLst/>
          </a:prstGeom>
          <a:solidFill>
            <a:schemeClr val="accent1"/>
          </a:solidFill>
          <a:ln w="3175">
            <a:solidFill>
              <a:schemeClr val="accent1"/>
            </a:solidFill>
            <a:prstDash val="solid"/>
          </a:ln>
        </p:spPr>
      </p:sp>
      <p:sp>
        <p:nvSpPr>
          <p:cNvPr id="113" name="Magnesium: electron, shell 2"/>
          <p:cNvSpPr/>
          <p:nvPr/>
        </p:nvSpPr>
        <p:spPr>
          <a:xfrm>
            <a:off x="8119158" y="2510788"/>
            <a:ext cx="49171" cy="49171"/>
          </a:xfrm>
          <a:prstGeom prst="ellipse">
            <a:avLst/>
          </a:prstGeom>
          <a:solidFill>
            <a:schemeClr val="accent1"/>
          </a:solidFill>
          <a:ln w="3175">
            <a:solidFill>
              <a:schemeClr val="accent1"/>
            </a:solidFill>
            <a:prstDash val="solid"/>
          </a:ln>
        </p:spPr>
      </p:sp>
      <p:sp>
        <p:nvSpPr>
          <p:cNvPr id="114" name="Magnesium: electron, shell 2"/>
          <p:cNvSpPr/>
          <p:nvPr/>
        </p:nvSpPr>
        <p:spPr>
          <a:xfrm>
            <a:off x="8339689" y="2731319"/>
            <a:ext cx="49171" cy="49171"/>
          </a:xfrm>
          <a:prstGeom prst="ellipse">
            <a:avLst/>
          </a:prstGeom>
          <a:solidFill>
            <a:schemeClr val="accent1"/>
          </a:solidFill>
          <a:ln w="3175">
            <a:solidFill>
              <a:schemeClr val="accent1"/>
            </a:solidFill>
            <a:prstDash val="solid"/>
          </a:ln>
        </p:spPr>
      </p:sp>
      <p:sp>
        <p:nvSpPr>
          <p:cNvPr id="115" name="Magnesium: electron, shell 2"/>
          <p:cNvSpPr/>
          <p:nvPr/>
        </p:nvSpPr>
        <p:spPr>
          <a:xfrm>
            <a:off x="8339689" y="2797350"/>
            <a:ext cx="49171" cy="49171"/>
          </a:xfrm>
          <a:prstGeom prst="ellipse">
            <a:avLst/>
          </a:prstGeom>
          <a:solidFill>
            <a:schemeClr val="accent1"/>
          </a:solidFill>
          <a:ln w="3175">
            <a:solidFill>
              <a:schemeClr val="accent1"/>
            </a:solidFill>
            <a:prstDash val="solid"/>
          </a:ln>
        </p:spPr>
      </p:sp>
      <p:sp>
        <p:nvSpPr>
          <p:cNvPr id="116" name="Magnesium: electron, shell 2"/>
          <p:cNvSpPr/>
          <p:nvPr/>
        </p:nvSpPr>
        <p:spPr>
          <a:xfrm>
            <a:off x="8119158" y="3017881"/>
            <a:ext cx="49171" cy="49171"/>
          </a:xfrm>
          <a:prstGeom prst="ellipse">
            <a:avLst/>
          </a:prstGeom>
          <a:solidFill>
            <a:schemeClr val="accent1"/>
          </a:solidFill>
          <a:ln w="3175">
            <a:solidFill>
              <a:schemeClr val="accent1"/>
            </a:solidFill>
            <a:prstDash val="solid"/>
          </a:ln>
        </p:spPr>
      </p:sp>
      <p:sp>
        <p:nvSpPr>
          <p:cNvPr id="117" name="Magnesium: electron, shell 2"/>
          <p:cNvSpPr/>
          <p:nvPr/>
        </p:nvSpPr>
        <p:spPr>
          <a:xfrm>
            <a:off x="8053127" y="3017881"/>
            <a:ext cx="49171" cy="49171"/>
          </a:xfrm>
          <a:prstGeom prst="ellipse">
            <a:avLst/>
          </a:prstGeom>
          <a:solidFill>
            <a:schemeClr val="accent1"/>
          </a:solidFill>
          <a:ln w="3175">
            <a:solidFill>
              <a:schemeClr val="accent1"/>
            </a:solidFill>
            <a:prstDash val="solid"/>
          </a:ln>
        </p:spPr>
      </p:sp>
      <p:sp>
        <p:nvSpPr>
          <p:cNvPr id="118" name="Magnesium: electron, shell 2"/>
          <p:cNvSpPr/>
          <p:nvPr/>
        </p:nvSpPr>
        <p:spPr>
          <a:xfrm>
            <a:off x="7832596" y="2797350"/>
            <a:ext cx="49171" cy="49171"/>
          </a:xfrm>
          <a:prstGeom prst="ellipse">
            <a:avLst/>
          </a:prstGeom>
          <a:solidFill>
            <a:schemeClr val="accent1"/>
          </a:solidFill>
          <a:ln w="3175">
            <a:solidFill>
              <a:schemeClr val="accent1"/>
            </a:solidFill>
            <a:prstDash val="solid"/>
          </a:ln>
        </p:spPr>
      </p:sp>
      <p:sp>
        <p:nvSpPr>
          <p:cNvPr id="119" name="Magnesium: electron, shell 2"/>
          <p:cNvSpPr/>
          <p:nvPr/>
        </p:nvSpPr>
        <p:spPr>
          <a:xfrm>
            <a:off x="7832596" y="2731319"/>
            <a:ext cx="49171" cy="49171"/>
          </a:xfrm>
          <a:prstGeom prst="ellipse">
            <a:avLst/>
          </a:prstGeom>
          <a:solidFill>
            <a:schemeClr val="accent1"/>
          </a:solidFill>
          <a:ln w="3175">
            <a:solidFill>
              <a:schemeClr val="accent1"/>
            </a:solidFill>
            <a:prstDash val="solid"/>
          </a:ln>
        </p:spPr>
      </p:sp>
      <p:sp>
        <p:nvSpPr>
          <p:cNvPr id="120" name="Magnesium: electron, shell 3"/>
          <p:cNvSpPr/>
          <p:nvPr/>
        </p:nvSpPr>
        <p:spPr>
          <a:xfrm>
            <a:off x="8086143" y="2416863"/>
            <a:ext cx="49171" cy="49171"/>
          </a:xfrm>
          <a:prstGeom prst="ellipse">
            <a:avLst/>
          </a:prstGeom>
          <a:solidFill>
            <a:schemeClr val="accent2"/>
          </a:solidFill>
          <a:ln w="3175">
            <a:solidFill>
              <a:schemeClr val="accent2"/>
            </a:solidFill>
            <a:prstDash val="solid"/>
          </a:ln>
        </p:spPr>
      </p:sp>
      <p:sp>
        <p:nvSpPr>
          <p:cNvPr id="121" name="Magnesium: electron, shell 3"/>
          <p:cNvSpPr/>
          <p:nvPr/>
        </p:nvSpPr>
        <p:spPr>
          <a:xfrm>
            <a:off x="8433615" y="2764335"/>
            <a:ext cx="49171" cy="49171"/>
          </a:xfrm>
          <a:prstGeom prst="ellipse">
            <a:avLst/>
          </a:prstGeom>
          <a:solidFill>
            <a:schemeClr val="accent2"/>
          </a:solidFill>
          <a:ln w="3175">
            <a:solidFill>
              <a:schemeClr val="accent2"/>
            </a:solidFill>
            <a:prstDash val="solid"/>
          </a:ln>
        </p:spPr>
      </p:sp>
      <p:sp>
        <p:nvSpPr>
          <p:cNvPr id="122" name="Text 120"/>
          <p:cNvSpPr txBox="1"/>
          <p:nvPr/>
        </p:nvSpPr>
        <p:spPr>
          <a:xfrm>
            <a:off x="7562088" y="3191256"/>
            <a:ext cx="1097280" cy="228600"/>
          </a:xfrm>
          <a:prstGeom prst="rect">
            <a:avLst/>
          </a:prstGeom>
          <a:noFill/>
          <a:ln/>
        </p:spPr>
        <p:txBody>
          <a:bodyPr wrap="square" lIns="0" tIns="0" rIns="0" bIns="0" rtlCol="0" anchor="t"/>
          <a:lstStyle/>
          <a:p>
            <a:pPr algn="ctr" indent="0" marL="0">
              <a:buNone/>
            </a:pPr>
            <a:r>
              <a:rPr lang="en-US" sz="1100" dirty="0">
                <a:solidFill>
                  <a:schemeClr val="bg2"/>
                </a:solidFill>
              </a:rPr>
              <a:t>Magnesium</a:t>
            </a:r>
            <a:endParaRPr lang="en-US" sz="11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ection tile 1"/>
          <p:cNvSpPr/>
          <p:nvPr/>
        </p:nvSpPr>
        <p:spPr>
          <a:xfrm>
            <a:off x="457200" y="301752"/>
            <a:ext cx="749808" cy="841248"/>
          </a:xfrm>
          <a:prstGeom prst="roundRect">
            <a:avLst>
              <a:gd name="adj" fmla="val 12000"/>
            </a:avLst>
          </a:prstGeom>
          <a:solidFill>
            <a:srgbClr val="F6B93B">
              <a:alpha val="28000"/>
            </a:srgbClr>
          </a:solidFill>
          <a:ln w="19050">
            <a:solidFill>
              <a:srgbClr val="F6B93B"/>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1</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2900" b="1" dirty="0">
                <a:solidFill>
                  <a:schemeClr val="bg1"/>
                </a:solidFill>
              </a:rPr>
              <a:t>Ne</a:t>
            </a:r>
            <a:endParaRPr lang="en-US" sz="2900" dirty="0"/>
          </a:p>
        </p:txBody>
      </p:sp>
      <p:sp>
        <p:nvSpPr>
          <p:cNvPr id="5" name="Text 3"/>
          <p:cNvSpPr/>
          <p:nvPr/>
        </p:nvSpPr>
        <p:spPr>
          <a:xfrm>
            <a:off x="1417320" y="31089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6" name="Text 4"/>
          <p:cNvSpPr txBox="1"/>
          <p:nvPr/>
        </p:nvSpPr>
        <p:spPr>
          <a:xfrm>
            <a:off x="260604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1 of 9</a:t>
            </a:r>
            <a:endParaRPr lang="en-US" sz="1200" dirty="0"/>
          </a:p>
        </p:txBody>
      </p:sp>
      <p:sp>
        <p:nvSpPr>
          <p:cNvPr id="7" name="Text 0"/>
          <p:cNvSpPr/>
          <p:nvPr>
            <p:ph idx="100" type="title" hasCustomPrompt="1"/>
          </p:nvPr>
        </p:nvSpPr>
        <p:spPr>
          <a:xfrm>
            <a:off x="1417320" y="658368"/>
            <a:ext cx="7269480" cy="841248"/>
          </a:xfrm>
          <a:prstGeom prst="rect">
            <a:avLst/>
          </a:prstGeom>
          <a:noFill/>
          <a:ln/>
        </p:spPr>
        <p:txBody>
          <a:bodyPr wrap="square" lIns="0" tIns="0" rIns="0" bIns="0" rtlCol="0" anchor="t"/>
          <a:lstStyle/>
          <a:p>
            <a:pPr algn="l" indent="0" marL="0">
              <a:buNone/>
            </a:pPr>
            <a:r>
              <a:rPr lang="en-US" sz="2000" b="1" dirty="0">
                <a:solidFill>
                  <a:schemeClr val="bg1"/>
                </a:solidFill>
              </a:rPr>
              <a:t>Why do noble gases almost never form ions?</a:t>
            </a:r>
            <a:endParaRPr lang="en-US" sz="2000" dirty="0"/>
          </a:p>
        </p:txBody>
      </p:sp>
      <p:sp>
        <p:nvSpPr>
          <p:cNvPr id="8" name="Option A"/>
          <p:cNvSpPr/>
          <p:nvPr/>
        </p:nvSpPr>
        <p:spPr>
          <a:xfrm>
            <a:off x="457200" y="1645920"/>
            <a:ext cx="8229600" cy="457200"/>
          </a:xfrm>
          <a:prstGeom prst="roundRect">
            <a:avLst>
              <a:gd name="adj" fmla="val 18000"/>
            </a:avLst>
          </a:prstGeom>
          <a:solidFill>
            <a:schemeClr val="tx2"/>
          </a:solidFill>
          <a:ln w="9525">
            <a:solidFill>
              <a:schemeClr val="bg2">
                <a:alpha val="35000"/>
              </a:schemeClr>
            </a:solidFill>
            <a:prstDash val="solid"/>
          </a:ln>
        </p:spPr>
      </p:sp>
      <p:sp>
        <p:nvSpPr>
          <p:cNvPr id="9" name="Text 7"/>
          <p:cNvSpPr/>
          <p:nvPr/>
        </p:nvSpPr>
        <p:spPr>
          <a:xfrm>
            <a:off x="548640" y="1719072"/>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10" name="Text 8"/>
          <p:cNvSpPr txBox="1"/>
          <p:nvPr/>
        </p:nvSpPr>
        <p:spPr>
          <a:xfrm>
            <a:off x="969264" y="1645920"/>
            <a:ext cx="7626096" cy="457200"/>
          </a:xfrm>
          <a:prstGeom prst="rect">
            <a:avLst/>
          </a:prstGeom>
          <a:noFill/>
          <a:ln/>
        </p:spPr>
        <p:txBody>
          <a:bodyPr wrap="square" lIns="0" tIns="0" rIns="0" bIns="0" rtlCol="0" anchor="ctr"/>
          <a:lstStyle/>
          <a:p>
            <a:pPr indent="0" marL="0">
              <a:buNone/>
            </a:pPr>
            <a:r>
              <a:rPr lang="en-US" sz="1600" dirty="0">
                <a:solidFill>
                  <a:schemeClr val="bg1"/>
                </a:solidFill>
              </a:rPr>
              <a:t>They have no electrons</a:t>
            </a:r>
            <a:endParaRPr lang="en-US" sz="1600" dirty="0"/>
          </a:p>
        </p:txBody>
      </p:sp>
      <p:sp>
        <p:nvSpPr>
          <p:cNvPr id="11" name="Option B"/>
          <p:cNvSpPr/>
          <p:nvPr/>
        </p:nvSpPr>
        <p:spPr>
          <a:xfrm>
            <a:off x="457200" y="2231136"/>
            <a:ext cx="8229600" cy="457200"/>
          </a:xfrm>
          <a:prstGeom prst="roundRect">
            <a:avLst>
              <a:gd name="adj" fmla="val 18000"/>
            </a:avLst>
          </a:prstGeom>
          <a:solidFill>
            <a:schemeClr val="tx2"/>
          </a:solidFill>
          <a:ln w="9525">
            <a:solidFill>
              <a:schemeClr val="bg2">
                <a:alpha val="35000"/>
              </a:schemeClr>
            </a:solidFill>
            <a:prstDash val="solid"/>
          </a:ln>
        </p:spPr>
      </p:sp>
      <p:sp>
        <p:nvSpPr>
          <p:cNvPr id="12" name="Text 10"/>
          <p:cNvSpPr/>
          <p:nvPr/>
        </p:nvSpPr>
        <p:spPr>
          <a:xfrm>
            <a:off x="548640" y="2304288"/>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13" name="Text 11"/>
          <p:cNvSpPr txBox="1"/>
          <p:nvPr/>
        </p:nvSpPr>
        <p:spPr>
          <a:xfrm>
            <a:off x="969264" y="2231136"/>
            <a:ext cx="7626096" cy="457200"/>
          </a:xfrm>
          <a:prstGeom prst="rect">
            <a:avLst/>
          </a:prstGeom>
          <a:noFill/>
          <a:ln/>
        </p:spPr>
        <p:txBody>
          <a:bodyPr wrap="square" lIns="0" tIns="0" rIns="0" bIns="0" rtlCol="0" anchor="ctr"/>
          <a:lstStyle/>
          <a:p>
            <a:pPr indent="0" marL="0">
              <a:buNone/>
            </a:pPr>
            <a:r>
              <a:rPr lang="en-US" sz="1600" dirty="0">
                <a:solidFill>
                  <a:schemeClr val="bg1"/>
                </a:solidFill>
              </a:rPr>
              <a:t>Their outer shell is already full</a:t>
            </a:r>
            <a:endParaRPr lang="en-US" sz="1600" dirty="0"/>
          </a:p>
        </p:txBody>
      </p:sp>
      <p:sp>
        <p:nvSpPr>
          <p:cNvPr id="14" name="Option C"/>
          <p:cNvSpPr/>
          <p:nvPr/>
        </p:nvSpPr>
        <p:spPr>
          <a:xfrm>
            <a:off x="457200" y="2816352"/>
            <a:ext cx="8229600" cy="457200"/>
          </a:xfrm>
          <a:prstGeom prst="roundRect">
            <a:avLst>
              <a:gd name="adj" fmla="val 18000"/>
            </a:avLst>
          </a:prstGeom>
          <a:solidFill>
            <a:schemeClr val="tx2"/>
          </a:solidFill>
          <a:ln w="9525">
            <a:solidFill>
              <a:schemeClr val="bg2">
                <a:alpha val="35000"/>
              </a:schemeClr>
            </a:solidFill>
            <a:prstDash val="solid"/>
          </a:ln>
        </p:spPr>
      </p:sp>
      <p:sp>
        <p:nvSpPr>
          <p:cNvPr id="15" name="Text 13"/>
          <p:cNvSpPr/>
          <p:nvPr/>
        </p:nvSpPr>
        <p:spPr>
          <a:xfrm>
            <a:off x="548640" y="2889504"/>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6" name="Text 14"/>
          <p:cNvSpPr txBox="1"/>
          <p:nvPr/>
        </p:nvSpPr>
        <p:spPr>
          <a:xfrm>
            <a:off x="969264" y="2816352"/>
            <a:ext cx="7626096" cy="457200"/>
          </a:xfrm>
          <a:prstGeom prst="rect">
            <a:avLst/>
          </a:prstGeom>
          <a:noFill/>
          <a:ln/>
        </p:spPr>
        <p:txBody>
          <a:bodyPr wrap="square" lIns="0" tIns="0" rIns="0" bIns="0" rtlCol="0" anchor="ctr"/>
          <a:lstStyle/>
          <a:p>
            <a:pPr indent="0" marL="0">
              <a:buNone/>
            </a:pPr>
            <a:r>
              <a:rPr lang="en-US" sz="1600" dirty="0">
                <a:solidFill>
                  <a:schemeClr val="bg1"/>
                </a:solidFill>
              </a:rPr>
              <a:t>Their nucleus has no protons</a:t>
            </a:r>
            <a:endParaRPr lang="en-US" sz="1600" dirty="0"/>
          </a:p>
        </p:txBody>
      </p:sp>
      <p:sp>
        <p:nvSpPr>
          <p:cNvPr id="17" name="Option D"/>
          <p:cNvSpPr/>
          <p:nvPr/>
        </p:nvSpPr>
        <p:spPr>
          <a:xfrm>
            <a:off x="457200" y="3401568"/>
            <a:ext cx="8229600" cy="457200"/>
          </a:xfrm>
          <a:prstGeom prst="roundRect">
            <a:avLst>
              <a:gd name="adj" fmla="val 18000"/>
            </a:avLst>
          </a:prstGeom>
          <a:solidFill>
            <a:schemeClr val="tx2"/>
          </a:solidFill>
          <a:ln w="9525">
            <a:solidFill>
              <a:schemeClr val="bg2">
                <a:alpha val="35000"/>
              </a:schemeClr>
            </a:solidFill>
            <a:prstDash val="solid"/>
          </a:ln>
        </p:spPr>
      </p:sp>
      <p:sp>
        <p:nvSpPr>
          <p:cNvPr id="18" name="Text 16"/>
          <p:cNvSpPr/>
          <p:nvPr/>
        </p:nvSpPr>
        <p:spPr>
          <a:xfrm>
            <a:off x="548640" y="3474720"/>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19" name="Text 17"/>
          <p:cNvSpPr txBox="1"/>
          <p:nvPr/>
        </p:nvSpPr>
        <p:spPr>
          <a:xfrm>
            <a:off x="969264" y="3401568"/>
            <a:ext cx="7626096" cy="457200"/>
          </a:xfrm>
          <a:prstGeom prst="rect">
            <a:avLst/>
          </a:prstGeom>
          <a:noFill/>
          <a:ln/>
        </p:spPr>
        <p:txBody>
          <a:bodyPr wrap="square" lIns="0" tIns="0" rIns="0" bIns="0" rtlCol="0" anchor="ctr"/>
          <a:lstStyle/>
          <a:p>
            <a:pPr indent="0" marL="0">
              <a:buNone/>
            </a:pPr>
            <a:r>
              <a:rPr lang="en-US" sz="1600" dirty="0">
                <a:solidFill>
                  <a:schemeClr val="bg1"/>
                </a:solidFill>
              </a:rPr>
              <a:t>They have too many shells</a:t>
            </a:r>
            <a:endParaRPr lang="en-US" sz="16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ection tile 1"/>
          <p:cNvSpPr/>
          <p:nvPr/>
        </p:nvSpPr>
        <p:spPr>
          <a:xfrm>
            <a:off x="457200" y="301752"/>
            <a:ext cx="749808" cy="841248"/>
          </a:xfrm>
          <a:prstGeom prst="roundRect">
            <a:avLst>
              <a:gd name="adj" fmla="val 12000"/>
            </a:avLst>
          </a:prstGeom>
          <a:solidFill>
            <a:srgbClr val="F6B93B">
              <a:alpha val="28000"/>
            </a:srgbClr>
          </a:solidFill>
          <a:ln w="19050">
            <a:solidFill>
              <a:srgbClr val="F6B93B"/>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1</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2900" b="1" dirty="0">
                <a:solidFill>
                  <a:schemeClr val="bg1"/>
                </a:solidFill>
              </a:rPr>
              <a:t>Ne</a:t>
            </a:r>
            <a:endParaRPr lang="en-US" sz="2900" dirty="0"/>
          </a:p>
        </p:txBody>
      </p:sp>
      <p:sp>
        <p:nvSpPr>
          <p:cNvPr id="5" name="Text 3"/>
          <p:cNvSpPr/>
          <p:nvPr/>
        </p:nvSpPr>
        <p:spPr>
          <a:xfrm>
            <a:off x="1417320" y="31089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6" name="Text 4"/>
          <p:cNvSpPr/>
          <p:nvPr/>
        </p:nvSpPr>
        <p:spPr>
          <a:xfrm>
            <a:off x="256032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7" name="Text 5"/>
          <p:cNvSpPr txBox="1"/>
          <p:nvPr/>
        </p:nvSpPr>
        <p:spPr>
          <a:xfrm>
            <a:off x="352044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1 of 9</a:t>
            </a:r>
            <a:endParaRPr lang="en-US" sz="1200" dirty="0"/>
          </a:p>
        </p:txBody>
      </p:sp>
      <p:sp>
        <p:nvSpPr>
          <p:cNvPr id="8" name="Text 0"/>
          <p:cNvSpPr/>
          <p:nvPr>
            <p:ph idx="100" type="title" hasCustomPrompt="1"/>
          </p:nvPr>
        </p:nvSpPr>
        <p:spPr>
          <a:xfrm>
            <a:off x="1417320" y="658368"/>
            <a:ext cx="7269480" cy="841248"/>
          </a:xfrm>
          <a:prstGeom prst="rect">
            <a:avLst/>
          </a:prstGeom>
          <a:noFill/>
          <a:ln/>
        </p:spPr>
        <p:txBody>
          <a:bodyPr wrap="square" lIns="0" tIns="0" rIns="0" bIns="0" rtlCol="0" anchor="t"/>
          <a:lstStyle/>
          <a:p>
            <a:pPr algn="l" indent="0" marL="0">
              <a:buNone/>
            </a:pPr>
            <a:r>
              <a:rPr lang="en-US" sz="2000" b="1" dirty="0">
                <a:solidFill>
                  <a:schemeClr val="bg1"/>
                </a:solidFill>
              </a:rPr>
              <a:t>Why do noble gases almost never form ions?</a:t>
            </a:r>
            <a:endParaRPr lang="en-US" sz="2000" dirty="0"/>
          </a:p>
        </p:txBody>
      </p:sp>
      <p:sp>
        <p:nvSpPr>
          <p:cNvPr id="9" name="Option A"/>
          <p:cNvSpPr/>
          <p:nvPr/>
        </p:nvSpPr>
        <p:spPr>
          <a:xfrm>
            <a:off x="457200" y="1645920"/>
            <a:ext cx="8229600" cy="457200"/>
          </a:xfrm>
          <a:prstGeom prst="roundRect">
            <a:avLst>
              <a:gd name="adj" fmla="val 18000"/>
            </a:avLst>
          </a:prstGeom>
          <a:solidFill>
            <a:schemeClr val="tx2"/>
          </a:solidFill>
          <a:ln w="9525">
            <a:solidFill>
              <a:schemeClr val="bg2">
                <a:alpha val="35000"/>
              </a:schemeClr>
            </a:solidFill>
            <a:prstDash val="solid"/>
          </a:ln>
        </p:spPr>
      </p:sp>
      <p:sp>
        <p:nvSpPr>
          <p:cNvPr id="10" name="Text 8"/>
          <p:cNvSpPr/>
          <p:nvPr/>
        </p:nvSpPr>
        <p:spPr>
          <a:xfrm>
            <a:off x="548640" y="1719072"/>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11" name="Text 9"/>
          <p:cNvSpPr txBox="1"/>
          <p:nvPr/>
        </p:nvSpPr>
        <p:spPr>
          <a:xfrm>
            <a:off x="969264" y="1645920"/>
            <a:ext cx="7626096" cy="457200"/>
          </a:xfrm>
          <a:prstGeom prst="rect">
            <a:avLst/>
          </a:prstGeom>
          <a:noFill/>
          <a:ln/>
        </p:spPr>
        <p:txBody>
          <a:bodyPr wrap="square" lIns="0" tIns="0" rIns="0" bIns="0" rtlCol="0" anchor="ctr"/>
          <a:lstStyle/>
          <a:p>
            <a:pPr indent="0" marL="0">
              <a:buNone/>
            </a:pPr>
            <a:r>
              <a:rPr lang="en-US" sz="1600" dirty="0">
                <a:solidFill>
                  <a:schemeClr val="bg2"/>
                </a:solidFill>
              </a:rPr>
              <a:t>They have no electrons</a:t>
            </a:r>
            <a:endParaRPr lang="en-US" sz="1600" dirty="0"/>
          </a:p>
        </p:txBody>
      </p:sp>
      <p:sp>
        <p:nvSpPr>
          <p:cNvPr id="12" name="Option B"/>
          <p:cNvSpPr/>
          <p:nvPr/>
        </p:nvSpPr>
        <p:spPr>
          <a:xfrm>
            <a:off x="457200" y="2231136"/>
            <a:ext cx="8229600" cy="457200"/>
          </a:xfrm>
          <a:prstGeom prst="roundRect">
            <a:avLst>
              <a:gd name="adj" fmla="val 18000"/>
            </a:avLst>
          </a:prstGeom>
          <a:solidFill>
            <a:schemeClr val="accent4">
              <a:alpha val="20000"/>
            </a:schemeClr>
          </a:solidFill>
          <a:ln w="25400">
            <a:solidFill>
              <a:schemeClr val="accent4"/>
            </a:solidFill>
            <a:prstDash val="solid"/>
          </a:ln>
        </p:spPr>
      </p:sp>
      <p:sp>
        <p:nvSpPr>
          <p:cNvPr id="13" name="Text 11"/>
          <p:cNvSpPr/>
          <p:nvPr/>
        </p:nvSpPr>
        <p:spPr>
          <a:xfrm>
            <a:off x="548640" y="2304288"/>
            <a:ext cx="310896" cy="310896"/>
          </a:xfrm>
          <a:prstGeom prst="roundRect">
            <a:avLst>
              <a:gd name="adj" fmla="val 20588"/>
            </a:avLst>
          </a:prstGeom>
          <a:solidFill>
            <a:schemeClr val="accent4"/>
          </a:solidFill>
          <a:ln w="6350">
            <a:solidFill>
              <a:schemeClr val="accent4"/>
            </a:solidFill>
          </a:ln>
        </p:spPr>
        <p:txBody>
          <a:bodyPr wrap="square" lIns="0" tIns="0" rIns="0" bIns="0" rtlCol="0" anchor="ctr"/>
          <a:lstStyle/>
          <a:p>
            <a:pPr algn="ctr" indent="0" marL="0">
              <a:buNone/>
            </a:pPr>
            <a:r>
              <a:rPr lang="en-US" sz="1300" b="1" dirty="0">
                <a:solidFill>
                  <a:schemeClr val="tx1"/>
                </a:solidFill>
              </a:rPr>
              <a:t>B</a:t>
            </a:r>
            <a:endParaRPr lang="en-US" sz="1300" dirty="0"/>
          </a:p>
        </p:txBody>
      </p:sp>
      <p:sp>
        <p:nvSpPr>
          <p:cNvPr id="14" name="Text 12"/>
          <p:cNvSpPr txBox="1"/>
          <p:nvPr/>
        </p:nvSpPr>
        <p:spPr>
          <a:xfrm>
            <a:off x="969264" y="2231136"/>
            <a:ext cx="7626096" cy="457200"/>
          </a:xfrm>
          <a:prstGeom prst="rect">
            <a:avLst/>
          </a:prstGeom>
          <a:noFill/>
          <a:ln/>
        </p:spPr>
        <p:txBody>
          <a:bodyPr wrap="square" lIns="0" tIns="0" rIns="0" bIns="0" rtlCol="0" anchor="ctr"/>
          <a:lstStyle/>
          <a:p>
            <a:pPr indent="0" marL="0">
              <a:buNone/>
            </a:pPr>
            <a:r>
              <a:rPr lang="en-US" sz="1600" b="1" dirty="0">
                <a:solidFill>
                  <a:schemeClr val="bg1"/>
                </a:solidFill>
              </a:rPr>
              <a:t>Their outer shell is already full</a:t>
            </a:r>
            <a:endParaRPr lang="en-US" sz="1600" dirty="0"/>
          </a:p>
        </p:txBody>
      </p:sp>
      <p:sp>
        <p:nvSpPr>
          <p:cNvPr id="15" name="Option C"/>
          <p:cNvSpPr/>
          <p:nvPr/>
        </p:nvSpPr>
        <p:spPr>
          <a:xfrm>
            <a:off x="457200" y="2816352"/>
            <a:ext cx="8229600" cy="457200"/>
          </a:xfrm>
          <a:prstGeom prst="roundRect">
            <a:avLst>
              <a:gd name="adj" fmla="val 18000"/>
            </a:avLst>
          </a:prstGeom>
          <a:solidFill>
            <a:schemeClr val="tx2"/>
          </a:solidFill>
          <a:ln w="9525">
            <a:solidFill>
              <a:schemeClr val="bg2">
                <a:alpha val="35000"/>
              </a:schemeClr>
            </a:solidFill>
            <a:prstDash val="solid"/>
          </a:ln>
        </p:spPr>
      </p:sp>
      <p:sp>
        <p:nvSpPr>
          <p:cNvPr id="16" name="Text 14"/>
          <p:cNvSpPr/>
          <p:nvPr/>
        </p:nvSpPr>
        <p:spPr>
          <a:xfrm>
            <a:off x="548640" y="2889504"/>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7" name="Text 15"/>
          <p:cNvSpPr txBox="1"/>
          <p:nvPr/>
        </p:nvSpPr>
        <p:spPr>
          <a:xfrm>
            <a:off x="969264" y="2816352"/>
            <a:ext cx="7626096" cy="457200"/>
          </a:xfrm>
          <a:prstGeom prst="rect">
            <a:avLst/>
          </a:prstGeom>
          <a:noFill/>
          <a:ln/>
        </p:spPr>
        <p:txBody>
          <a:bodyPr wrap="square" lIns="0" tIns="0" rIns="0" bIns="0" rtlCol="0" anchor="ctr"/>
          <a:lstStyle/>
          <a:p>
            <a:pPr indent="0" marL="0">
              <a:buNone/>
            </a:pPr>
            <a:r>
              <a:rPr lang="en-US" sz="1600" dirty="0">
                <a:solidFill>
                  <a:schemeClr val="bg2"/>
                </a:solidFill>
              </a:rPr>
              <a:t>Their nucleus has no protons</a:t>
            </a:r>
            <a:endParaRPr lang="en-US" sz="1600" dirty="0"/>
          </a:p>
        </p:txBody>
      </p:sp>
      <p:sp>
        <p:nvSpPr>
          <p:cNvPr id="18" name="Option D"/>
          <p:cNvSpPr/>
          <p:nvPr/>
        </p:nvSpPr>
        <p:spPr>
          <a:xfrm>
            <a:off x="457200" y="3401568"/>
            <a:ext cx="8229600" cy="457200"/>
          </a:xfrm>
          <a:prstGeom prst="roundRect">
            <a:avLst>
              <a:gd name="adj" fmla="val 18000"/>
            </a:avLst>
          </a:prstGeom>
          <a:solidFill>
            <a:schemeClr val="tx2"/>
          </a:solidFill>
          <a:ln w="9525">
            <a:solidFill>
              <a:schemeClr val="bg2">
                <a:alpha val="35000"/>
              </a:schemeClr>
            </a:solidFill>
            <a:prstDash val="solid"/>
          </a:ln>
        </p:spPr>
      </p:sp>
      <p:sp>
        <p:nvSpPr>
          <p:cNvPr id="19" name="Text 17"/>
          <p:cNvSpPr/>
          <p:nvPr/>
        </p:nvSpPr>
        <p:spPr>
          <a:xfrm>
            <a:off x="548640" y="3474720"/>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20" name="Text 18"/>
          <p:cNvSpPr txBox="1"/>
          <p:nvPr/>
        </p:nvSpPr>
        <p:spPr>
          <a:xfrm>
            <a:off x="969264" y="3401568"/>
            <a:ext cx="7626096" cy="457200"/>
          </a:xfrm>
          <a:prstGeom prst="rect">
            <a:avLst/>
          </a:prstGeom>
          <a:noFill/>
          <a:ln/>
        </p:spPr>
        <p:txBody>
          <a:bodyPr wrap="square" lIns="0" tIns="0" rIns="0" bIns="0" rtlCol="0" anchor="ctr"/>
          <a:lstStyle/>
          <a:p>
            <a:pPr indent="0" marL="0">
              <a:buNone/>
            </a:pPr>
            <a:r>
              <a:rPr lang="en-US" sz="1600" dirty="0">
                <a:solidFill>
                  <a:schemeClr val="bg2"/>
                </a:solidFill>
              </a:rPr>
              <a:t>They have too many shells</a:t>
            </a:r>
            <a:endParaRPr lang="en-US" sz="1600" dirty="0"/>
          </a:p>
        </p:txBody>
      </p:sp>
      <p:sp>
        <p:nvSpPr>
          <p:cNvPr id="21" name="Why box"/>
          <p:cNvSpPr/>
          <p:nvPr/>
        </p:nvSpPr>
        <p:spPr>
          <a:xfrm>
            <a:off x="457200" y="4114800"/>
            <a:ext cx="8229600" cy="621792"/>
          </a:xfrm>
          <a:prstGeom prst="roundRect">
            <a:avLst>
              <a:gd name="adj" fmla="val 14706"/>
            </a:avLst>
          </a:prstGeom>
          <a:solidFill>
            <a:schemeClr val="accent4">
              <a:alpha val="12000"/>
            </a:schemeClr>
          </a:solidFill>
          <a:ln w="9525">
            <a:solidFill>
              <a:schemeClr val="accent4">
                <a:alpha val="60000"/>
              </a:schemeClr>
            </a:solidFill>
            <a:prstDash val="solid"/>
          </a:ln>
        </p:spPr>
      </p:sp>
      <p:sp>
        <p:nvSpPr>
          <p:cNvPr id="22" name="Text 20"/>
          <p:cNvSpPr txBox="1"/>
          <p:nvPr/>
        </p:nvSpPr>
        <p:spPr>
          <a:xfrm>
            <a:off x="640080" y="4114800"/>
            <a:ext cx="7863840" cy="621792"/>
          </a:xfrm>
          <a:prstGeom prst="rect">
            <a:avLst/>
          </a:prstGeom>
          <a:noFill/>
          <a:ln/>
        </p:spPr>
        <p:txBody>
          <a:bodyPr wrap="square" lIns="0" tIns="0" rIns="0" bIns="0" rtlCol="0" anchor="ctr"/>
          <a:lstStyle/>
          <a:p>
            <a:pPr indent="0" marL="0">
              <a:buNone/>
            </a:pPr>
            <a:r>
              <a:rPr lang="en-US" sz="1400" b="1" dirty="0">
                <a:solidFill>
                  <a:schemeClr val="accent4"/>
                </a:solidFill>
              </a:rPr>
              <a:t>Why: </a:t>
            </a:r>
            <a:pPr indent="0" marL="0">
              <a:buNone/>
            </a:pPr>
            <a:r>
              <a:rPr lang="en-US" sz="1400" dirty="0">
                <a:solidFill>
                  <a:schemeClr val="bg1"/>
                </a:solidFill>
              </a:rPr>
              <a:t>Noble gases already have a full outer shell, so they have no reason to gain or lose electrons.</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ection tile 2"/>
          <p:cNvSpPr/>
          <p:nvPr/>
        </p:nvSpPr>
        <p:spPr>
          <a:xfrm>
            <a:off x="457200" y="301752"/>
            <a:ext cx="749808" cy="841248"/>
          </a:xfrm>
          <a:prstGeom prst="roundRect">
            <a:avLst>
              <a:gd name="adj" fmla="val 12000"/>
            </a:avLst>
          </a:prstGeom>
          <a:solidFill>
            <a:srgbClr val="60A5FA">
              <a:alpha val="28000"/>
            </a:srgbClr>
          </a:solidFill>
          <a:ln w="19050">
            <a:solidFill>
              <a:srgbClr val="60A5FA"/>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2</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2400" b="1" dirty="0">
                <a:solidFill>
                  <a:schemeClr val="bg1"/>
                </a:solidFill>
              </a:rPr>
              <a:t>Na</a:t>
            </a:r>
            <a:pPr algn="ctr" indent="0" marL="0">
              <a:buNone/>
            </a:pPr>
            <a:r>
              <a:rPr lang="en-US" sz="2400" b="1" baseline="30000" dirty="0">
                <a:solidFill>
                  <a:schemeClr val="bg1"/>
                </a:solidFill>
              </a:rPr>
              <a:t>+</a:t>
            </a:r>
            <a:endParaRPr lang="en-US" sz="2400" dirty="0"/>
          </a:p>
        </p:txBody>
      </p:sp>
      <p:sp>
        <p:nvSpPr>
          <p:cNvPr id="5" name="Text 0"/>
          <p:cNvSpPr/>
          <p:nvPr>
            <p:ph idx="100" type="body" hasCustomPrompt="1"/>
          </p:nvPr>
        </p:nvSpPr>
        <p:spPr>
          <a:xfrm>
            <a:off x="1417320" y="329184"/>
            <a:ext cx="7223760" cy="256032"/>
          </a:xfrm>
          <a:prstGeom prst="rect">
            <a:avLst/>
          </a:prstGeom>
          <a:noFill/>
          <a:ln/>
        </p:spPr>
        <p:txBody>
          <a:bodyPr wrap="square" lIns="0" tIns="0" rIns="0" bIns="0" rtlCol="0" anchor="ctr"/>
          <a:lstStyle/>
          <a:p>
            <a:pPr algn="l" indent="0" marL="0">
              <a:buNone/>
            </a:pPr>
            <a:r>
              <a:rPr lang="en-US" sz="1200" dirty="0">
                <a:solidFill>
                  <a:schemeClr val="bg2"/>
                </a:solidFill>
              </a:rPr>
              <a:t>Section 2 of 9 · about 6 min</a:t>
            </a:r>
            <a:endParaRPr lang="en-US" sz="1200" dirty="0"/>
          </a:p>
        </p:txBody>
      </p:sp>
      <p:sp>
        <p:nvSpPr>
          <p:cNvPr id="6" name="Text 0"/>
          <p:cNvSpPr/>
          <p:nvPr>
            <p:ph idx="101" type="title" hasCustomPrompt="1"/>
          </p:nvPr>
        </p:nvSpPr>
        <p:spPr>
          <a:xfrm>
            <a:off x="1417320" y="603504"/>
            <a:ext cx="7223760" cy="530352"/>
          </a:xfrm>
          <a:prstGeom prst="rect">
            <a:avLst/>
          </a:prstGeom>
          <a:noFill/>
          <a:ln/>
        </p:spPr>
        <p:txBody>
          <a:bodyPr wrap="square" lIns="0" tIns="0" rIns="0" bIns="0" rtlCol="0" anchor="ctr"/>
          <a:lstStyle/>
          <a:p>
            <a:pPr algn="l" indent="0" marL="0">
              <a:buNone/>
            </a:pPr>
            <a:r>
              <a:rPr lang="en-US" sz="3000" b="1" dirty="0">
                <a:solidFill>
                  <a:schemeClr val="bg1"/>
                </a:solidFill>
              </a:rPr>
              <a:t>What is an ion?</a:t>
            </a:r>
            <a:endParaRPr lang="en-US" sz="3000" dirty="0"/>
          </a:p>
        </p:txBody>
      </p:sp>
      <p:sp>
        <p:nvSpPr>
          <p:cNvPr id="7" name="In this section"/>
          <p:cNvSpPr/>
          <p:nvPr/>
        </p:nvSpPr>
        <p:spPr>
          <a:xfrm>
            <a:off x="45720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8" name="Text 6"/>
          <p:cNvSpPr txBox="1"/>
          <p:nvPr/>
        </p:nvSpPr>
        <p:spPr>
          <a:xfrm>
            <a:off x="685800" y="1536192"/>
            <a:ext cx="3566160" cy="292608"/>
          </a:xfrm>
          <a:prstGeom prst="rect">
            <a:avLst/>
          </a:prstGeom>
          <a:noFill/>
          <a:ln/>
        </p:spPr>
        <p:txBody>
          <a:bodyPr wrap="square" lIns="0" tIns="0" rIns="0" bIns="0" rtlCol="0" anchor="t"/>
          <a:lstStyle/>
          <a:p>
            <a:pPr indent="0" marL="0">
              <a:buNone/>
            </a:pPr>
            <a:r>
              <a:rPr lang="en-US" sz="1500" b="1" dirty="0">
                <a:solidFill>
                  <a:schemeClr val="accent1"/>
                </a:solidFill>
              </a:rPr>
              <a:t>In this section</a:t>
            </a:r>
            <a:endParaRPr lang="en-US" sz="1500" dirty="0"/>
          </a:p>
        </p:txBody>
      </p:sp>
      <p:sp>
        <p:nvSpPr>
          <p:cNvPr id="9" name="Text 7"/>
          <p:cNvSpPr/>
          <p:nvPr/>
        </p:nvSpPr>
        <p:spPr>
          <a:xfrm>
            <a:off x="685800" y="2039112"/>
            <a:ext cx="73152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Read</a:t>
            </a:r>
            <a:endParaRPr lang="en-US" sz="1100" dirty="0"/>
          </a:p>
        </p:txBody>
      </p:sp>
      <p:sp>
        <p:nvSpPr>
          <p:cNvPr id="10" name="Text 8"/>
          <p:cNvSpPr txBox="1"/>
          <p:nvPr/>
        </p:nvSpPr>
        <p:spPr>
          <a:xfrm>
            <a:off x="1554480" y="1947672"/>
            <a:ext cx="2697480" cy="457200"/>
          </a:xfrm>
          <a:prstGeom prst="rect">
            <a:avLst/>
          </a:prstGeom>
          <a:noFill/>
          <a:ln/>
        </p:spPr>
        <p:txBody>
          <a:bodyPr wrap="square" lIns="0" tIns="0" rIns="0" bIns="0" rtlCol="0" anchor="ctr"/>
          <a:lstStyle/>
          <a:p>
            <a:pPr indent="0" marL="0">
              <a:buNone/>
            </a:pPr>
            <a:r>
              <a:rPr lang="en-US" sz="1400" dirty="0">
                <a:solidFill>
                  <a:schemeClr val="bg1"/>
                </a:solidFill>
              </a:rPr>
              <a:t>Ions have a charge</a:t>
            </a:r>
            <a:endParaRPr lang="en-US" sz="1400" dirty="0"/>
          </a:p>
        </p:txBody>
      </p:sp>
      <p:sp>
        <p:nvSpPr>
          <p:cNvPr id="11" name="Text 9"/>
          <p:cNvSpPr/>
          <p:nvPr/>
        </p:nvSpPr>
        <p:spPr>
          <a:xfrm>
            <a:off x="685800" y="2752344"/>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12" name="Text 10"/>
          <p:cNvSpPr txBox="1"/>
          <p:nvPr/>
        </p:nvSpPr>
        <p:spPr>
          <a:xfrm>
            <a:off x="1554480" y="2660904"/>
            <a:ext cx="2697480" cy="457200"/>
          </a:xfrm>
          <a:prstGeom prst="rect">
            <a:avLst/>
          </a:prstGeom>
          <a:noFill/>
          <a:ln/>
        </p:spPr>
        <p:txBody>
          <a:bodyPr wrap="square" lIns="0" tIns="0" rIns="0" bIns="0" rtlCol="0" anchor="ctr"/>
          <a:lstStyle/>
          <a:p>
            <a:pPr indent="0" marL="0">
              <a:buNone/>
            </a:pPr>
            <a:r>
              <a:rPr lang="en-US" sz="1400" dirty="0">
                <a:solidFill>
                  <a:schemeClr val="bg1"/>
                </a:solidFill>
              </a:rPr>
              <a:t>Charge machine</a:t>
            </a:r>
            <a:endParaRPr lang="en-US" sz="1400" dirty="0"/>
          </a:p>
        </p:txBody>
      </p:sp>
      <p:sp>
        <p:nvSpPr>
          <p:cNvPr id="13" name="Text 11"/>
          <p:cNvSpPr/>
          <p:nvPr/>
        </p:nvSpPr>
        <p:spPr>
          <a:xfrm>
            <a:off x="685800" y="346557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14" name="Text 12"/>
          <p:cNvSpPr txBox="1"/>
          <p:nvPr/>
        </p:nvSpPr>
        <p:spPr>
          <a:xfrm>
            <a:off x="1874520" y="3374136"/>
            <a:ext cx="2377440" cy="457200"/>
          </a:xfrm>
          <a:prstGeom prst="rect">
            <a:avLst/>
          </a:prstGeom>
          <a:noFill/>
          <a:ln/>
        </p:spPr>
        <p:txBody>
          <a:bodyPr wrap="square" lIns="0" tIns="0" rIns="0" bIns="0" rtlCol="0" anchor="ctr"/>
          <a:lstStyle/>
          <a:p>
            <a:pPr indent="0" marL="0">
              <a:buNone/>
            </a:pPr>
            <a:r>
              <a:rPr lang="en-US" sz="1400" dirty="0">
                <a:solidFill>
                  <a:schemeClr val="bg1"/>
                </a:solidFill>
              </a:rPr>
              <a:t>Charge of 8 p and 10 e</a:t>
            </a:r>
            <a:endParaRPr lang="en-US" sz="1400" dirty="0"/>
          </a:p>
        </p:txBody>
      </p:sp>
      <p:sp>
        <p:nvSpPr>
          <p:cNvPr id="15" name="To unlock the next section"/>
          <p:cNvSpPr/>
          <p:nvPr/>
        </p:nvSpPr>
        <p:spPr>
          <a:xfrm>
            <a:off x="466344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16" name="Text 14"/>
          <p:cNvSpPr txBox="1"/>
          <p:nvPr/>
        </p:nvSpPr>
        <p:spPr>
          <a:xfrm>
            <a:off x="4892040" y="1536192"/>
            <a:ext cx="3566160" cy="292608"/>
          </a:xfrm>
          <a:prstGeom prst="rect">
            <a:avLst/>
          </a:prstGeom>
          <a:noFill/>
          <a:ln/>
        </p:spPr>
        <p:txBody>
          <a:bodyPr wrap="square" lIns="0" tIns="0" rIns="0" bIns="0" rtlCol="0" anchor="t"/>
          <a:lstStyle/>
          <a:p>
            <a:pPr indent="0" marL="0">
              <a:buNone/>
            </a:pPr>
            <a:r>
              <a:rPr lang="en-US" sz="1500" b="1" dirty="0">
                <a:solidFill>
                  <a:schemeClr val="accent4"/>
                </a:solidFill>
              </a:rPr>
              <a:t>To unlock the next section</a:t>
            </a:r>
            <a:endParaRPr lang="en-US" sz="1500" dirty="0"/>
          </a:p>
        </p:txBody>
      </p:sp>
      <p:sp>
        <p:nvSpPr>
          <p:cNvPr id="17" name="Text 15"/>
          <p:cNvSpPr/>
          <p:nvPr/>
        </p:nvSpPr>
        <p:spPr>
          <a:xfrm>
            <a:off x="4892040" y="2066544"/>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18" name="Text 16"/>
          <p:cNvSpPr txBox="1"/>
          <p:nvPr/>
        </p:nvSpPr>
        <p:spPr>
          <a:xfrm>
            <a:off x="5303520" y="1993392"/>
            <a:ext cx="3200400" cy="457200"/>
          </a:xfrm>
          <a:prstGeom prst="rect">
            <a:avLst/>
          </a:prstGeom>
          <a:noFill/>
          <a:ln/>
        </p:spPr>
        <p:txBody>
          <a:bodyPr wrap="square" lIns="0" tIns="0" rIns="0" bIns="0" rtlCol="0" anchor="ctr"/>
          <a:lstStyle/>
          <a:p>
            <a:pPr indent="0" marL="0">
              <a:buNone/>
            </a:pPr>
            <a:r>
              <a:rPr lang="en-US" sz="1400" dirty="0">
                <a:solidFill>
                  <a:schemeClr val="bg1"/>
                </a:solidFill>
              </a:rPr>
              <a:t>Finish the 5 charge machine missions</a:t>
            </a:r>
            <a:endParaRPr lang="en-US" sz="1400" dirty="0"/>
          </a:p>
        </p:txBody>
      </p:sp>
      <p:sp>
        <p:nvSpPr>
          <p:cNvPr id="19" name="Text 17"/>
          <p:cNvSpPr/>
          <p:nvPr/>
        </p:nvSpPr>
        <p:spPr>
          <a:xfrm>
            <a:off x="4892040" y="2633472"/>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0" name="Text 18"/>
          <p:cNvSpPr txBox="1"/>
          <p:nvPr/>
        </p:nvSpPr>
        <p:spPr>
          <a:xfrm>
            <a:off x="5303520" y="2560320"/>
            <a:ext cx="3200400" cy="457200"/>
          </a:xfrm>
          <a:prstGeom prst="rect">
            <a:avLst/>
          </a:prstGeom>
          <a:noFill/>
          <a:ln/>
        </p:spPr>
        <p:txBody>
          <a:bodyPr wrap="square" lIns="0" tIns="0" rIns="0" bIns="0" rtlCol="0" anchor="ctr"/>
          <a:lstStyle/>
          <a:p>
            <a:pPr indent="0" marL="0">
              <a:buNone/>
            </a:pPr>
            <a:r>
              <a:rPr lang="en-US" sz="1400" dirty="0">
                <a:solidFill>
                  <a:schemeClr val="bg1"/>
                </a:solidFill>
              </a:rPr>
              <a:t>Answer the quick check correctly</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ection tile 2"/>
          <p:cNvSpPr/>
          <p:nvPr/>
        </p:nvSpPr>
        <p:spPr>
          <a:xfrm>
            <a:off x="457200" y="301752"/>
            <a:ext cx="749808" cy="841248"/>
          </a:xfrm>
          <a:prstGeom prst="roundRect">
            <a:avLst>
              <a:gd name="adj" fmla="val 12000"/>
            </a:avLst>
          </a:prstGeom>
          <a:solidFill>
            <a:srgbClr val="60A5FA">
              <a:alpha val="28000"/>
            </a:srgbClr>
          </a:solidFill>
          <a:ln w="19050">
            <a:solidFill>
              <a:srgbClr val="60A5FA"/>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2</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2400" b="1" dirty="0">
                <a:solidFill>
                  <a:schemeClr val="bg1"/>
                </a:solidFill>
              </a:rPr>
              <a:t>Na</a:t>
            </a:r>
            <a:pPr algn="ctr" indent="0" marL="0">
              <a:buNone/>
            </a:pPr>
            <a:r>
              <a:rPr lang="en-US" sz="2400" b="1" baseline="30000" dirty="0">
                <a:solidFill>
                  <a:schemeClr val="bg1"/>
                </a:solidFill>
              </a:rPr>
              <a:t>+</a:t>
            </a:r>
            <a:endParaRPr lang="en-US" sz="2400" dirty="0"/>
          </a:p>
        </p:txBody>
      </p:sp>
      <p:sp>
        <p:nvSpPr>
          <p:cNvPr id="5" name="Text 3"/>
          <p:cNvSpPr/>
          <p:nvPr/>
        </p:nvSpPr>
        <p:spPr>
          <a:xfrm>
            <a:off x="1417320" y="310896"/>
            <a:ext cx="73152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Read</a:t>
            </a:r>
            <a:endParaRPr lang="en-US" sz="1100" dirty="0"/>
          </a:p>
        </p:txBody>
      </p:sp>
      <p:sp>
        <p:nvSpPr>
          <p:cNvPr id="6" name="Text 4"/>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2 of 9</a:t>
            </a:r>
            <a:endParaRPr lang="en-US" sz="1200" dirty="0"/>
          </a:p>
        </p:txBody>
      </p:sp>
      <p:sp>
        <p:nvSpPr>
          <p:cNvPr id="7"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Ions have a charge</a:t>
            </a:r>
            <a:endParaRPr lang="en-US" sz="2800" dirty="0"/>
          </a:p>
        </p:txBody>
      </p:sp>
      <p:sp>
        <p:nvSpPr>
          <p:cNvPr id="8" name="Text 6"/>
          <p:cNvSpPr txBox="1"/>
          <p:nvPr/>
        </p:nvSpPr>
        <p:spPr>
          <a:xfrm>
            <a:off x="457200" y="1325880"/>
            <a:ext cx="8229600" cy="685800"/>
          </a:xfrm>
          <a:prstGeom prst="rect">
            <a:avLst/>
          </a:prstGeom>
          <a:noFill/>
          <a:ln/>
        </p:spPr>
        <p:txBody>
          <a:bodyPr wrap="square" lIns="0" tIns="0" rIns="0" bIns="0" rtlCol="0" anchor="t"/>
          <a:lstStyle/>
          <a:p>
            <a:pPr indent="0" marL="0">
              <a:spcAft>
                <a:spcPts val="800"/>
              </a:spcAft>
              <a:buNone/>
            </a:pPr>
            <a:r>
              <a:rPr lang="en-US" sz="1500" dirty="0">
                <a:solidFill>
                  <a:schemeClr val="bg1"/>
                </a:solidFill>
              </a:rPr>
              <a:t>An </a:t>
            </a:r>
            <a:pPr indent="0" marL="0">
              <a:spcAft>
                <a:spcPts val="800"/>
              </a:spcAft>
              <a:buNone/>
            </a:pPr>
            <a:r>
              <a:rPr lang="en-US" sz="1500" b="1" dirty="0">
                <a:solidFill>
                  <a:schemeClr val="accent1"/>
                </a:solidFill>
              </a:rPr>
              <a:t>ion</a:t>
            </a:r>
            <a:pPr indent="0" marL="0">
              <a:spcAft>
                <a:spcPts val="800"/>
              </a:spcAft>
              <a:buNone/>
            </a:pPr>
            <a:r>
              <a:rPr lang="en-US" sz="1500" dirty="0">
                <a:solidFill>
                  <a:schemeClr val="bg1"/>
                </a:solidFill>
              </a:rPr>
              <a:t> is an atom with an electric charge. It forms when an atom gains or loses electrons. The protons never change: changing the protons would make a different element.</a:t>
            </a:r>
            <a:endParaRPr lang="en-US" sz="1500" dirty="0"/>
          </a:p>
        </p:txBody>
      </p:sp>
      <p:sp>
        <p:nvSpPr>
          <p:cNvPr id="9" name="Rule"/>
          <p:cNvSpPr/>
          <p:nvPr/>
        </p:nvSpPr>
        <p:spPr>
          <a:xfrm>
            <a:off x="457200" y="2084832"/>
            <a:ext cx="8229600" cy="457200"/>
          </a:xfrm>
          <a:prstGeom prst="roundRect">
            <a:avLst>
              <a:gd name="adj" fmla="val 20000"/>
            </a:avLst>
          </a:prstGeom>
          <a:solidFill>
            <a:schemeClr val="tx2"/>
          </a:solidFill>
          <a:ln w="9525">
            <a:solidFill>
              <a:schemeClr val="bg2">
                <a:alpha val="30000"/>
              </a:schemeClr>
            </a:solidFill>
            <a:prstDash val="solid"/>
          </a:ln>
        </p:spPr>
      </p:sp>
      <p:sp>
        <p:nvSpPr>
          <p:cNvPr id="10" name="Dot"/>
          <p:cNvSpPr/>
          <p:nvPr/>
        </p:nvSpPr>
        <p:spPr>
          <a:xfrm>
            <a:off x="621792" y="2231136"/>
            <a:ext cx="164592" cy="164592"/>
          </a:xfrm>
          <a:prstGeom prst="ellipse">
            <a:avLst/>
          </a:prstGeom>
          <a:solidFill>
            <a:schemeClr val="accent3"/>
          </a:solidFill>
          <a:ln w="6350">
            <a:solidFill>
              <a:schemeClr val="accent3"/>
            </a:solidFill>
            <a:prstDash val="solid"/>
          </a:ln>
        </p:spPr>
      </p:sp>
      <p:sp>
        <p:nvSpPr>
          <p:cNvPr id="11" name="Text 9"/>
          <p:cNvSpPr txBox="1"/>
          <p:nvPr/>
        </p:nvSpPr>
        <p:spPr>
          <a:xfrm>
            <a:off x="914400" y="2084832"/>
            <a:ext cx="7680960" cy="457200"/>
          </a:xfrm>
          <a:prstGeom prst="rect">
            <a:avLst/>
          </a:prstGeom>
          <a:noFill/>
          <a:ln/>
        </p:spPr>
        <p:txBody>
          <a:bodyPr wrap="square" lIns="0" tIns="0" rIns="0" bIns="0" rtlCol="0" anchor="ctr"/>
          <a:lstStyle/>
          <a:p>
            <a:pPr indent="0" marL="0">
              <a:buNone/>
            </a:pPr>
            <a:r>
              <a:rPr lang="en-US" sz="1500" b="1" dirty="0">
                <a:solidFill>
                  <a:schemeClr val="bg1"/>
                </a:solidFill>
              </a:rPr>
              <a:t>Charge</a:t>
            </a:r>
            <a:pPr indent="0" marL="0">
              <a:buNone/>
            </a:pPr>
            <a:r>
              <a:rPr lang="en-US" sz="1500" dirty="0">
                <a:solidFill>
                  <a:schemeClr val="bg1"/>
                </a:solidFill>
              </a:rPr>
              <a:t> = protons − electrons</a:t>
            </a:r>
            <a:endParaRPr lang="en-US" sz="1500" dirty="0"/>
          </a:p>
        </p:txBody>
      </p:sp>
      <p:sp>
        <p:nvSpPr>
          <p:cNvPr id="12" name="Rule"/>
          <p:cNvSpPr/>
          <p:nvPr/>
        </p:nvSpPr>
        <p:spPr>
          <a:xfrm>
            <a:off x="457200" y="2633472"/>
            <a:ext cx="8229600" cy="457200"/>
          </a:xfrm>
          <a:prstGeom prst="roundRect">
            <a:avLst>
              <a:gd name="adj" fmla="val 20000"/>
            </a:avLst>
          </a:prstGeom>
          <a:solidFill>
            <a:schemeClr val="tx2"/>
          </a:solidFill>
          <a:ln w="9525">
            <a:solidFill>
              <a:schemeClr val="bg2">
                <a:alpha val="30000"/>
              </a:schemeClr>
            </a:solidFill>
            <a:prstDash val="solid"/>
          </a:ln>
        </p:spPr>
      </p:sp>
      <p:sp>
        <p:nvSpPr>
          <p:cNvPr id="13" name="Dot"/>
          <p:cNvSpPr/>
          <p:nvPr/>
        </p:nvSpPr>
        <p:spPr>
          <a:xfrm>
            <a:off x="621792" y="2779776"/>
            <a:ext cx="164592" cy="164592"/>
          </a:xfrm>
          <a:prstGeom prst="ellipse">
            <a:avLst/>
          </a:prstGeom>
          <a:solidFill>
            <a:schemeClr val="accent3"/>
          </a:solidFill>
          <a:ln w="6350">
            <a:solidFill>
              <a:schemeClr val="accent3"/>
            </a:solidFill>
            <a:prstDash val="solid"/>
          </a:ln>
        </p:spPr>
      </p:sp>
      <p:sp>
        <p:nvSpPr>
          <p:cNvPr id="14" name="Text 12"/>
          <p:cNvSpPr txBox="1"/>
          <p:nvPr/>
        </p:nvSpPr>
        <p:spPr>
          <a:xfrm>
            <a:off x="914400" y="2633472"/>
            <a:ext cx="7680960" cy="457200"/>
          </a:xfrm>
          <a:prstGeom prst="rect">
            <a:avLst/>
          </a:prstGeom>
          <a:noFill/>
          <a:ln/>
        </p:spPr>
        <p:txBody>
          <a:bodyPr wrap="square" lIns="0" tIns="0" rIns="0" bIns="0" rtlCol="0" anchor="ctr"/>
          <a:lstStyle/>
          <a:p>
            <a:pPr indent="0" marL="0">
              <a:buNone/>
            </a:pPr>
            <a:r>
              <a:rPr lang="en-US" sz="1500" b="1" dirty="0">
                <a:solidFill>
                  <a:schemeClr val="bg1"/>
                </a:solidFill>
              </a:rPr>
              <a:t>Lose electrons</a:t>
            </a:r>
            <a:pPr indent="0" marL="0">
              <a:buNone/>
            </a:pPr>
            <a:r>
              <a:rPr lang="en-US" sz="1500" dirty="0">
                <a:solidFill>
                  <a:schemeClr val="bg1"/>
                </a:solidFill>
              </a:rPr>
              <a:t> → more protons than electrons → positive ion, called a cation</a:t>
            </a:r>
            <a:endParaRPr lang="en-US" sz="1500" dirty="0"/>
          </a:p>
        </p:txBody>
      </p:sp>
      <p:sp>
        <p:nvSpPr>
          <p:cNvPr id="15" name="Rule"/>
          <p:cNvSpPr/>
          <p:nvPr/>
        </p:nvSpPr>
        <p:spPr>
          <a:xfrm>
            <a:off x="457200" y="3182112"/>
            <a:ext cx="8229600" cy="457200"/>
          </a:xfrm>
          <a:prstGeom prst="roundRect">
            <a:avLst>
              <a:gd name="adj" fmla="val 20000"/>
            </a:avLst>
          </a:prstGeom>
          <a:solidFill>
            <a:schemeClr val="tx2"/>
          </a:solidFill>
          <a:ln w="9525">
            <a:solidFill>
              <a:schemeClr val="bg2">
                <a:alpha val="30000"/>
              </a:schemeClr>
            </a:solidFill>
            <a:prstDash val="solid"/>
          </a:ln>
        </p:spPr>
      </p:sp>
      <p:sp>
        <p:nvSpPr>
          <p:cNvPr id="16" name="Dot"/>
          <p:cNvSpPr/>
          <p:nvPr/>
        </p:nvSpPr>
        <p:spPr>
          <a:xfrm>
            <a:off x="621792" y="3328416"/>
            <a:ext cx="164592" cy="164592"/>
          </a:xfrm>
          <a:prstGeom prst="ellipse">
            <a:avLst/>
          </a:prstGeom>
          <a:solidFill>
            <a:schemeClr val="accent1"/>
          </a:solidFill>
          <a:ln w="6350">
            <a:solidFill>
              <a:schemeClr val="accent1"/>
            </a:solidFill>
            <a:prstDash val="solid"/>
          </a:ln>
        </p:spPr>
      </p:sp>
      <p:sp>
        <p:nvSpPr>
          <p:cNvPr id="17" name="Text 15"/>
          <p:cNvSpPr txBox="1"/>
          <p:nvPr/>
        </p:nvSpPr>
        <p:spPr>
          <a:xfrm>
            <a:off x="914400" y="3182112"/>
            <a:ext cx="7680960" cy="457200"/>
          </a:xfrm>
          <a:prstGeom prst="rect">
            <a:avLst/>
          </a:prstGeom>
          <a:noFill/>
          <a:ln/>
        </p:spPr>
        <p:txBody>
          <a:bodyPr wrap="square" lIns="0" tIns="0" rIns="0" bIns="0" rtlCol="0" anchor="ctr"/>
          <a:lstStyle/>
          <a:p>
            <a:pPr indent="0" marL="0">
              <a:buNone/>
            </a:pPr>
            <a:r>
              <a:rPr lang="en-US" sz="1500" b="1" dirty="0">
                <a:solidFill>
                  <a:schemeClr val="bg1"/>
                </a:solidFill>
              </a:rPr>
              <a:t>Gain electrons</a:t>
            </a:r>
            <a:pPr indent="0" marL="0">
              <a:buNone/>
            </a:pPr>
            <a:r>
              <a:rPr lang="en-US" sz="1500" dirty="0">
                <a:solidFill>
                  <a:schemeClr val="bg1"/>
                </a:solidFill>
              </a:rPr>
              <a:t> → more electrons than protons → negative ion, called an anion</a:t>
            </a:r>
            <a:endParaRPr lang="en-US" sz="1500" dirty="0"/>
          </a:p>
        </p:txBody>
      </p:sp>
      <p:sp>
        <p:nvSpPr>
          <p:cNvPr id="18" name="Text 16"/>
          <p:cNvSpPr txBox="1"/>
          <p:nvPr/>
        </p:nvSpPr>
        <p:spPr>
          <a:xfrm>
            <a:off x="457200" y="3840480"/>
            <a:ext cx="8229600" cy="685800"/>
          </a:xfrm>
          <a:prstGeom prst="rect">
            <a:avLst/>
          </a:prstGeom>
          <a:noFill/>
          <a:ln/>
        </p:spPr>
        <p:txBody>
          <a:bodyPr wrap="square" lIns="0" tIns="0" rIns="0" bIns="0" rtlCol="0" anchor="t"/>
          <a:lstStyle/>
          <a:p>
            <a:pPr indent="0" marL="0">
              <a:buNone/>
            </a:pPr>
            <a:r>
              <a:rPr lang="en-US" sz="1500" dirty="0">
                <a:solidFill>
                  <a:schemeClr val="bg1"/>
                </a:solidFill>
              </a:rPr>
              <a:t>A sodium atom has 11 protons and 11 electrons, so its charge is 0. If it loses 1 electron, it has 11 protons and 10 electrons: 11 − 10 = +1. Now it's a sodium ion, </a:t>
            </a:r>
            <a:pPr indent="0" marL="0">
              <a:buNone/>
            </a:pPr>
            <a:r>
              <a:rPr lang="en-US" sz="1500" b="1" dirty="0">
                <a:solidFill>
                  <a:schemeClr val="bg1"/>
                </a:solidFill>
              </a:rPr>
              <a:t>Na</a:t>
            </a:r>
            <a:pPr indent="0" marL="0">
              <a:buNone/>
            </a:pPr>
            <a:r>
              <a:rPr lang="en-US" sz="1500" b="1" baseline="30000" dirty="0">
                <a:solidFill>
                  <a:schemeClr val="bg1"/>
                </a:solidFill>
              </a:rPr>
              <a:t>+</a:t>
            </a:r>
            <a:pPr indent="0" marL="0">
              <a:buNone/>
            </a:pPr>
            <a:r>
              <a:rPr lang="en-US" sz="1500" dirty="0">
                <a:solidFill>
                  <a:schemeClr val="bg1"/>
                </a:solidFill>
              </a:rPr>
              <a:t>.</a:t>
            </a:r>
            <a:endParaRPr lang="en-US" sz="15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ection tile 2"/>
          <p:cNvSpPr/>
          <p:nvPr/>
        </p:nvSpPr>
        <p:spPr>
          <a:xfrm>
            <a:off x="457200" y="301752"/>
            <a:ext cx="749808" cy="841248"/>
          </a:xfrm>
          <a:prstGeom prst="roundRect">
            <a:avLst>
              <a:gd name="adj" fmla="val 12000"/>
            </a:avLst>
          </a:prstGeom>
          <a:solidFill>
            <a:srgbClr val="60A5FA">
              <a:alpha val="28000"/>
            </a:srgbClr>
          </a:solidFill>
          <a:ln w="19050">
            <a:solidFill>
              <a:srgbClr val="60A5FA"/>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2</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2400" b="1" dirty="0">
                <a:solidFill>
                  <a:schemeClr val="bg1"/>
                </a:solidFill>
              </a:rPr>
              <a:t>Na</a:t>
            </a:r>
            <a:pPr algn="ctr" indent="0" marL="0">
              <a:buNone/>
            </a:pPr>
            <a:r>
              <a:rPr lang="en-US" sz="2400" b="1" baseline="30000" dirty="0">
                <a:solidFill>
                  <a:schemeClr val="bg1"/>
                </a:solidFill>
              </a:rPr>
              <a:t>+</a:t>
            </a:r>
            <a:endParaRPr lang="en-US" sz="2400" dirty="0"/>
          </a:p>
        </p:txBody>
      </p:sp>
      <p:sp>
        <p:nvSpPr>
          <p:cNvPr id="5" name="Text 3"/>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6" name="Text 4"/>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2 of 9</a:t>
            </a:r>
            <a:endParaRPr lang="en-US" sz="1200" dirty="0"/>
          </a:p>
        </p:txBody>
      </p:sp>
      <p:sp>
        <p:nvSpPr>
          <p:cNvPr id="7"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Charge machine</a:t>
            </a:r>
            <a:endParaRPr lang="en-US" sz="2800" dirty="0"/>
          </a:p>
        </p:txBody>
      </p:sp>
      <p:sp>
        <p:nvSpPr>
          <p:cNvPr id="8" name="Text 6"/>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Pick an atom, then add or remove electrons and watch the charge. Lock in each mission.</a:t>
            </a:r>
            <a:endParaRPr lang="en-US" sz="1300" dirty="0"/>
          </a:p>
        </p:txBody>
      </p:sp>
      <p:sp>
        <p:nvSpPr>
          <p:cNvPr id="9" name="Mission 1"/>
          <p:cNvSpPr/>
          <p:nvPr/>
        </p:nvSpPr>
        <p:spPr>
          <a:xfrm>
            <a:off x="457200" y="1691640"/>
            <a:ext cx="1554480" cy="2926080"/>
          </a:xfrm>
          <a:prstGeom prst="roundRect">
            <a:avLst>
              <a:gd name="adj" fmla="val 5882"/>
            </a:avLst>
          </a:prstGeom>
          <a:solidFill>
            <a:schemeClr val="tx2"/>
          </a:solidFill>
          <a:ln w="9525">
            <a:solidFill>
              <a:schemeClr val="bg2">
                <a:alpha val="30000"/>
              </a:schemeClr>
            </a:solidFill>
            <a:prstDash val="solid"/>
          </a:ln>
        </p:spPr>
      </p:sp>
      <p:sp>
        <p:nvSpPr>
          <p:cNvPr id="10" name="Text 8"/>
          <p:cNvSpPr txBox="1"/>
          <p:nvPr/>
        </p:nvSpPr>
        <p:spPr>
          <a:xfrm>
            <a:off x="566928" y="1783080"/>
            <a:ext cx="1371600" cy="256032"/>
          </a:xfrm>
          <a:prstGeom prst="rect">
            <a:avLst/>
          </a:prstGeom>
          <a:noFill/>
          <a:ln/>
        </p:spPr>
        <p:txBody>
          <a:bodyPr wrap="square" lIns="0" tIns="0" rIns="0" bIns="0" rtlCol="0" anchor="t"/>
          <a:lstStyle/>
          <a:p>
            <a:pPr indent="0" marL="0">
              <a:buNone/>
            </a:pPr>
            <a:r>
              <a:rPr lang="en-US" sz="1200" b="1" dirty="0">
                <a:solidFill>
                  <a:schemeClr val="accent2"/>
                </a:solidFill>
              </a:rPr>
              <a:t>Mission 1</a:t>
            </a:r>
            <a:endParaRPr lang="en-US" sz="1200" dirty="0"/>
          </a:p>
        </p:txBody>
      </p:sp>
      <p:sp>
        <p:nvSpPr>
          <p:cNvPr id="11" name="Text 9"/>
          <p:cNvSpPr txBox="1"/>
          <p:nvPr/>
        </p:nvSpPr>
        <p:spPr>
          <a:xfrm>
            <a:off x="566928" y="2057400"/>
            <a:ext cx="1353312" cy="566928"/>
          </a:xfrm>
          <a:prstGeom prst="rect">
            <a:avLst/>
          </a:prstGeom>
          <a:noFill/>
          <a:ln/>
        </p:spPr>
        <p:txBody>
          <a:bodyPr wrap="square" lIns="0" tIns="0" rIns="0" bIns="0" rtlCol="0" anchor="t"/>
          <a:lstStyle/>
          <a:p>
            <a:pPr indent="0" marL="0">
              <a:buNone/>
            </a:pPr>
            <a:r>
              <a:rPr lang="en-US" sz="1100" dirty="0">
                <a:solidFill>
                  <a:schemeClr val="bg1"/>
                </a:solidFill>
              </a:rPr>
              <a:t>Make a sodium ion with a +1 charge.</a:t>
            </a:r>
            <a:endParaRPr lang="en-US" sz="1100" dirty="0"/>
          </a:p>
        </p:txBody>
      </p:sp>
      <p:sp>
        <p:nvSpPr>
          <p:cNvPr id="12" name="Text 10"/>
          <p:cNvSpPr txBox="1"/>
          <p:nvPr/>
        </p:nvSpPr>
        <p:spPr>
          <a:xfrm>
            <a:off x="457200" y="2743200"/>
            <a:ext cx="1554480" cy="1188720"/>
          </a:xfrm>
          <a:prstGeom prst="rect">
            <a:avLst/>
          </a:prstGeom>
          <a:noFill/>
          <a:ln/>
        </p:spPr>
        <p:txBody>
          <a:bodyPr wrap="square" lIns="0" tIns="0" rIns="0" bIns="0" rtlCol="0" anchor="ctr"/>
          <a:lstStyle/>
          <a:p>
            <a:pPr algn="ctr" indent="0" marL="0">
              <a:buNone/>
            </a:pPr>
            <a:r>
              <a:rPr lang="en-US" sz="5400" b="1" dirty="0">
                <a:solidFill>
                  <a:schemeClr val="bg2"/>
                </a:solidFill>
              </a:rPr>
              <a:t>?</a:t>
            </a:r>
            <a:endParaRPr lang="en-US" sz="5400" dirty="0"/>
          </a:p>
        </p:txBody>
      </p:sp>
      <p:sp>
        <p:nvSpPr>
          <p:cNvPr id="13" name="Mission 2"/>
          <p:cNvSpPr/>
          <p:nvPr/>
        </p:nvSpPr>
        <p:spPr>
          <a:xfrm>
            <a:off x="2121408" y="1691640"/>
            <a:ext cx="1554480" cy="2926080"/>
          </a:xfrm>
          <a:prstGeom prst="roundRect">
            <a:avLst>
              <a:gd name="adj" fmla="val 5882"/>
            </a:avLst>
          </a:prstGeom>
          <a:solidFill>
            <a:schemeClr val="tx2"/>
          </a:solidFill>
          <a:ln w="9525">
            <a:solidFill>
              <a:schemeClr val="bg2">
                <a:alpha val="30000"/>
              </a:schemeClr>
            </a:solidFill>
            <a:prstDash val="solid"/>
          </a:ln>
        </p:spPr>
      </p:sp>
      <p:sp>
        <p:nvSpPr>
          <p:cNvPr id="14" name="Text 12"/>
          <p:cNvSpPr txBox="1"/>
          <p:nvPr/>
        </p:nvSpPr>
        <p:spPr>
          <a:xfrm>
            <a:off x="2231136" y="1783080"/>
            <a:ext cx="1371600" cy="256032"/>
          </a:xfrm>
          <a:prstGeom prst="rect">
            <a:avLst/>
          </a:prstGeom>
          <a:noFill/>
          <a:ln/>
        </p:spPr>
        <p:txBody>
          <a:bodyPr wrap="square" lIns="0" tIns="0" rIns="0" bIns="0" rtlCol="0" anchor="t"/>
          <a:lstStyle/>
          <a:p>
            <a:pPr indent="0" marL="0">
              <a:buNone/>
            </a:pPr>
            <a:r>
              <a:rPr lang="en-US" sz="1200" b="1" dirty="0">
                <a:solidFill>
                  <a:schemeClr val="accent2"/>
                </a:solidFill>
              </a:rPr>
              <a:t>Mission 2</a:t>
            </a:r>
            <a:endParaRPr lang="en-US" sz="1200" dirty="0"/>
          </a:p>
        </p:txBody>
      </p:sp>
      <p:sp>
        <p:nvSpPr>
          <p:cNvPr id="15" name="Text 13"/>
          <p:cNvSpPr txBox="1"/>
          <p:nvPr/>
        </p:nvSpPr>
        <p:spPr>
          <a:xfrm>
            <a:off x="2231136" y="2057400"/>
            <a:ext cx="1353312" cy="566928"/>
          </a:xfrm>
          <a:prstGeom prst="rect">
            <a:avLst/>
          </a:prstGeom>
          <a:noFill/>
          <a:ln/>
        </p:spPr>
        <p:txBody>
          <a:bodyPr wrap="square" lIns="0" tIns="0" rIns="0" bIns="0" rtlCol="0" anchor="t"/>
          <a:lstStyle/>
          <a:p>
            <a:pPr indent="0" marL="0">
              <a:buNone/>
            </a:pPr>
            <a:r>
              <a:rPr lang="en-US" sz="1100" dirty="0">
                <a:solidFill>
                  <a:schemeClr val="bg1"/>
                </a:solidFill>
              </a:rPr>
              <a:t>Make a chloride ion with a −1 charge.</a:t>
            </a:r>
            <a:endParaRPr lang="en-US" sz="1100" dirty="0"/>
          </a:p>
        </p:txBody>
      </p:sp>
      <p:sp>
        <p:nvSpPr>
          <p:cNvPr id="16" name="Text 14"/>
          <p:cNvSpPr txBox="1"/>
          <p:nvPr/>
        </p:nvSpPr>
        <p:spPr>
          <a:xfrm>
            <a:off x="2121408" y="2743200"/>
            <a:ext cx="1554480" cy="1188720"/>
          </a:xfrm>
          <a:prstGeom prst="rect">
            <a:avLst/>
          </a:prstGeom>
          <a:noFill/>
          <a:ln/>
        </p:spPr>
        <p:txBody>
          <a:bodyPr wrap="square" lIns="0" tIns="0" rIns="0" bIns="0" rtlCol="0" anchor="ctr"/>
          <a:lstStyle/>
          <a:p>
            <a:pPr algn="ctr" indent="0" marL="0">
              <a:buNone/>
            </a:pPr>
            <a:r>
              <a:rPr lang="en-US" sz="5400" b="1" dirty="0">
                <a:solidFill>
                  <a:schemeClr val="bg2"/>
                </a:solidFill>
              </a:rPr>
              <a:t>?</a:t>
            </a:r>
            <a:endParaRPr lang="en-US" sz="5400" dirty="0"/>
          </a:p>
        </p:txBody>
      </p:sp>
      <p:sp>
        <p:nvSpPr>
          <p:cNvPr id="17" name="Mission 3"/>
          <p:cNvSpPr/>
          <p:nvPr/>
        </p:nvSpPr>
        <p:spPr>
          <a:xfrm>
            <a:off x="3785616" y="1691640"/>
            <a:ext cx="1554480" cy="2926080"/>
          </a:xfrm>
          <a:prstGeom prst="roundRect">
            <a:avLst>
              <a:gd name="adj" fmla="val 5882"/>
            </a:avLst>
          </a:prstGeom>
          <a:solidFill>
            <a:schemeClr val="tx2"/>
          </a:solidFill>
          <a:ln w="9525">
            <a:solidFill>
              <a:schemeClr val="bg2">
                <a:alpha val="30000"/>
              </a:schemeClr>
            </a:solidFill>
            <a:prstDash val="solid"/>
          </a:ln>
        </p:spPr>
      </p:sp>
      <p:sp>
        <p:nvSpPr>
          <p:cNvPr id="18" name="Text 16"/>
          <p:cNvSpPr txBox="1"/>
          <p:nvPr/>
        </p:nvSpPr>
        <p:spPr>
          <a:xfrm>
            <a:off x="3895344" y="1783080"/>
            <a:ext cx="1371600" cy="256032"/>
          </a:xfrm>
          <a:prstGeom prst="rect">
            <a:avLst/>
          </a:prstGeom>
          <a:noFill/>
          <a:ln/>
        </p:spPr>
        <p:txBody>
          <a:bodyPr wrap="square" lIns="0" tIns="0" rIns="0" bIns="0" rtlCol="0" anchor="t"/>
          <a:lstStyle/>
          <a:p>
            <a:pPr indent="0" marL="0">
              <a:buNone/>
            </a:pPr>
            <a:r>
              <a:rPr lang="en-US" sz="1200" b="1" dirty="0">
                <a:solidFill>
                  <a:schemeClr val="accent2"/>
                </a:solidFill>
              </a:rPr>
              <a:t>Mission 3</a:t>
            </a:r>
            <a:endParaRPr lang="en-US" sz="1200" dirty="0"/>
          </a:p>
        </p:txBody>
      </p:sp>
      <p:sp>
        <p:nvSpPr>
          <p:cNvPr id="19" name="Text 17"/>
          <p:cNvSpPr txBox="1"/>
          <p:nvPr/>
        </p:nvSpPr>
        <p:spPr>
          <a:xfrm>
            <a:off x="3895344" y="2057400"/>
            <a:ext cx="1353312" cy="566928"/>
          </a:xfrm>
          <a:prstGeom prst="rect">
            <a:avLst/>
          </a:prstGeom>
          <a:noFill/>
          <a:ln/>
        </p:spPr>
        <p:txBody>
          <a:bodyPr wrap="square" lIns="0" tIns="0" rIns="0" bIns="0" rtlCol="0" anchor="t"/>
          <a:lstStyle/>
          <a:p>
            <a:pPr indent="0" marL="0">
              <a:buNone/>
            </a:pPr>
            <a:r>
              <a:rPr lang="en-US" sz="1100" dirty="0">
                <a:solidFill>
                  <a:schemeClr val="bg1"/>
                </a:solidFill>
              </a:rPr>
              <a:t>Give magnesium a +2 charge.</a:t>
            </a:r>
            <a:endParaRPr lang="en-US" sz="1100" dirty="0"/>
          </a:p>
        </p:txBody>
      </p:sp>
      <p:sp>
        <p:nvSpPr>
          <p:cNvPr id="20" name="Text 18"/>
          <p:cNvSpPr txBox="1"/>
          <p:nvPr/>
        </p:nvSpPr>
        <p:spPr>
          <a:xfrm>
            <a:off x="3785616" y="2743200"/>
            <a:ext cx="1554480" cy="1188720"/>
          </a:xfrm>
          <a:prstGeom prst="rect">
            <a:avLst/>
          </a:prstGeom>
          <a:noFill/>
          <a:ln/>
        </p:spPr>
        <p:txBody>
          <a:bodyPr wrap="square" lIns="0" tIns="0" rIns="0" bIns="0" rtlCol="0" anchor="ctr"/>
          <a:lstStyle/>
          <a:p>
            <a:pPr algn="ctr" indent="0" marL="0">
              <a:buNone/>
            </a:pPr>
            <a:r>
              <a:rPr lang="en-US" sz="5400" b="1" dirty="0">
                <a:solidFill>
                  <a:schemeClr val="bg2"/>
                </a:solidFill>
              </a:rPr>
              <a:t>?</a:t>
            </a:r>
            <a:endParaRPr lang="en-US" sz="5400" dirty="0"/>
          </a:p>
        </p:txBody>
      </p:sp>
      <p:sp>
        <p:nvSpPr>
          <p:cNvPr id="21" name="Mission 4"/>
          <p:cNvSpPr/>
          <p:nvPr/>
        </p:nvSpPr>
        <p:spPr>
          <a:xfrm>
            <a:off x="5449824" y="1691640"/>
            <a:ext cx="1554480" cy="2926080"/>
          </a:xfrm>
          <a:prstGeom prst="roundRect">
            <a:avLst>
              <a:gd name="adj" fmla="val 5882"/>
            </a:avLst>
          </a:prstGeom>
          <a:solidFill>
            <a:schemeClr val="tx2"/>
          </a:solidFill>
          <a:ln w="9525">
            <a:solidFill>
              <a:schemeClr val="bg2">
                <a:alpha val="30000"/>
              </a:schemeClr>
            </a:solidFill>
            <a:prstDash val="solid"/>
          </a:ln>
        </p:spPr>
      </p:sp>
      <p:sp>
        <p:nvSpPr>
          <p:cNvPr id="22" name="Text 20"/>
          <p:cNvSpPr txBox="1"/>
          <p:nvPr/>
        </p:nvSpPr>
        <p:spPr>
          <a:xfrm>
            <a:off x="5559552" y="1783080"/>
            <a:ext cx="1371600" cy="256032"/>
          </a:xfrm>
          <a:prstGeom prst="rect">
            <a:avLst/>
          </a:prstGeom>
          <a:noFill/>
          <a:ln/>
        </p:spPr>
        <p:txBody>
          <a:bodyPr wrap="square" lIns="0" tIns="0" rIns="0" bIns="0" rtlCol="0" anchor="t"/>
          <a:lstStyle/>
          <a:p>
            <a:pPr indent="0" marL="0">
              <a:buNone/>
            </a:pPr>
            <a:r>
              <a:rPr lang="en-US" sz="1200" b="1" dirty="0">
                <a:solidFill>
                  <a:schemeClr val="accent2"/>
                </a:solidFill>
              </a:rPr>
              <a:t>Mission 4</a:t>
            </a:r>
            <a:endParaRPr lang="en-US" sz="1200" dirty="0"/>
          </a:p>
        </p:txBody>
      </p:sp>
      <p:sp>
        <p:nvSpPr>
          <p:cNvPr id="23" name="Text 21"/>
          <p:cNvSpPr txBox="1"/>
          <p:nvPr/>
        </p:nvSpPr>
        <p:spPr>
          <a:xfrm>
            <a:off x="5559552" y="2057400"/>
            <a:ext cx="1353312" cy="566928"/>
          </a:xfrm>
          <a:prstGeom prst="rect">
            <a:avLst/>
          </a:prstGeom>
          <a:noFill/>
          <a:ln/>
        </p:spPr>
        <p:txBody>
          <a:bodyPr wrap="square" lIns="0" tIns="0" rIns="0" bIns="0" rtlCol="0" anchor="t"/>
          <a:lstStyle/>
          <a:p>
            <a:pPr indent="0" marL="0">
              <a:buNone/>
            </a:pPr>
            <a:r>
              <a:rPr lang="en-US" sz="1100" dirty="0">
                <a:solidFill>
                  <a:schemeClr val="bg1"/>
                </a:solidFill>
              </a:rPr>
              <a:t>Make an oxide ion with a −2 charge.</a:t>
            </a:r>
            <a:endParaRPr lang="en-US" sz="1100" dirty="0"/>
          </a:p>
        </p:txBody>
      </p:sp>
      <p:sp>
        <p:nvSpPr>
          <p:cNvPr id="24" name="Text 22"/>
          <p:cNvSpPr txBox="1"/>
          <p:nvPr/>
        </p:nvSpPr>
        <p:spPr>
          <a:xfrm>
            <a:off x="5449824" y="2743200"/>
            <a:ext cx="1554480" cy="1188720"/>
          </a:xfrm>
          <a:prstGeom prst="rect">
            <a:avLst/>
          </a:prstGeom>
          <a:noFill/>
          <a:ln/>
        </p:spPr>
        <p:txBody>
          <a:bodyPr wrap="square" lIns="0" tIns="0" rIns="0" bIns="0" rtlCol="0" anchor="ctr"/>
          <a:lstStyle/>
          <a:p>
            <a:pPr algn="ctr" indent="0" marL="0">
              <a:buNone/>
            </a:pPr>
            <a:r>
              <a:rPr lang="en-US" sz="5400" b="1" dirty="0">
                <a:solidFill>
                  <a:schemeClr val="bg2"/>
                </a:solidFill>
              </a:rPr>
              <a:t>?</a:t>
            </a:r>
            <a:endParaRPr lang="en-US" sz="5400" dirty="0"/>
          </a:p>
        </p:txBody>
      </p:sp>
      <p:sp>
        <p:nvSpPr>
          <p:cNvPr id="25" name="Mission 5"/>
          <p:cNvSpPr/>
          <p:nvPr/>
        </p:nvSpPr>
        <p:spPr>
          <a:xfrm>
            <a:off x="7114032" y="1691640"/>
            <a:ext cx="1554480" cy="2926080"/>
          </a:xfrm>
          <a:prstGeom prst="roundRect">
            <a:avLst>
              <a:gd name="adj" fmla="val 5882"/>
            </a:avLst>
          </a:prstGeom>
          <a:solidFill>
            <a:schemeClr val="tx2"/>
          </a:solidFill>
          <a:ln w="9525">
            <a:solidFill>
              <a:schemeClr val="bg2">
                <a:alpha val="30000"/>
              </a:schemeClr>
            </a:solidFill>
            <a:prstDash val="solid"/>
          </a:ln>
        </p:spPr>
      </p:sp>
      <p:sp>
        <p:nvSpPr>
          <p:cNvPr id="26" name="Text 24"/>
          <p:cNvSpPr txBox="1"/>
          <p:nvPr/>
        </p:nvSpPr>
        <p:spPr>
          <a:xfrm>
            <a:off x="7223760" y="1783080"/>
            <a:ext cx="1371600" cy="256032"/>
          </a:xfrm>
          <a:prstGeom prst="rect">
            <a:avLst/>
          </a:prstGeom>
          <a:noFill/>
          <a:ln/>
        </p:spPr>
        <p:txBody>
          <a:bodyPr wrap="square" lIns="0" tIns="0" rIns="0" bIns="0" rtlCol="0" anchor="t"/>
          <a:lstStyle/>
          <a:p>
            <a:pPr indent="0" marL="0">
              <a:buNone/>
            </a:pPr>
            <a:r>
              <a:rPr lang="en-US" sz="1200" b="1" dirty="0">
                <a:solidFill>
                  <a:schemeClr val="accent2"/>
                </a:solidFill>
              </a:rPr>
              <a:t>Mission 5</a:t>
            </a:r>
            <a:endParaRPr lang="en-US" sz="1200" dirty="0"/>
          </a:p>
        </p:txBody>
      </p:sp>
      <p:sp>
        <p:nvSpPr>
          <p:cNvPr id="27" name="Text 25"/>
          <p:cNvSpPr txBox="1"/>
          <p:nvPr/>
        </p:nvSpPr>
        <p:spPr>
          <a:xfrm>
            <a:off x="7223760" y="2057400"/>
            <a:ext cx="1353312" cy="566928"/>
          </a:xfrm>
          <a:prstGeom prst="rect">
            <a:avLst/>
          </a:prstGeom>
          <a:noFill/>
          <a:ln/>
        </p:spPr>
        <p:txBody>
          <a:bodyPr wrap="square" lIns="0" tIns="0" rIns="0" bIns="0" rtlCol="0" anchor="t"/>
          <a:lstStyle/>
          <a:p>
            <a:pPr indent="0" marL="0">
              <a:buNone/>
            </a:pPr>
            <a:r>
              <a:rPr lang="en-US" sz="1100" dirty="0">
                <a:solidFill>
                  <a:schemeClr val="bg1"/>
                </a:solidFill>
              </a:rPr>
              <a:t>Give aluminum a +3 charge.</a:t>
            </a:r>
            <a:endParaRPr lang="en-US" sz="1100" dirty="0"/>
          </a:p>
        </p:txBody>
      </p:sp>
      <p:sp>
        <p:nvSpPr>
          <p:cNvPr id="28" name="Text 26"/>
          <p:cNvSpPr txBox="1"/>
          <p:nvPr/>
        </p:nvSpPr>
        <p:spPr>
          <a:xfrm>
            <a:off x="7114032" y="2743200"/>
            <a:ext cx="1554480" cy="1188720"/>
          </a:xfrm>
          <a:prstGeom prst="rect">
            <a:avLst/>
          </a:prstGeom>
          <a:noFill/>
          <a:ln/>
        </p:spPr>
        <p:txBody>
          <a:bodyPr wrap="square" lIns="0" tIns="0" rIns="0" bIns="0" rtlCol="0" anchor="ctr"/>
          <a:lstStyle/>
          <a:p>
            <a:pPr algn="ctr" indent="0" marL="0">
              <a:buNone/>
            </a:pPr>
            <a:r>
              <a:rPr lang="en-US" sz="5400" b="1" dirty="0">
                <a:solidFill>
                  <a:schemeClr val="bg2"/>
                </a:solidFill>
              </a:rPr>
              <a:t>?</a:t>
            </a:r>
            <a:endParaRPr lang="en-US" sz="5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ection tile 2"/>
          <p:cNvSpPr/>
          <p:nvPr/>
        </p:nvSpPr>
        <p:spPr>
          <a:xfrm>
            <a:off x="457200" y="301752"/>
            <a:ext cx="749808" cy="841248"/>
          </a:xfrm>
          <a:prstGeom prst="roundRect">
            <a:avLst>
              <a:gd name="adj" fmla="val 12000"/>
            </a:avLst>
          </a:prstGeom>
          <a:solidFill>
            <a:srgbClr val="60A5FA">
              <a:alpha val="28000"/>
            </a:srgbClr>
          </a:solidFill>
          <a:ln w="19050">
            <a:solidFill>
              <a:srgbClr val="60A5FA"/>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2</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2400" b="1" dirty="0">
                <a:solidFill>
                  <a:schemeClr val="bg1"/>
                </a:solidFill>
              </a:rPr>
              <a:t>Na</a:t>
            </a:r>
            <a:pPr algn="ctr" indent="0" marL="0">
              <a:buNone/>
            </a:pPr>
            <a:r>
              <a:rPr lang="en-US" sz="2400" b="1" baseline="30000" dirty="0">
                <a:solidFill>
                  <a:schemeClr val="bg1"/>
                </a:solidFill>
              </a:rPr>
              <a:t>+</a:t>
            </a:r>
            <a:endParaRPr lang="en-US" sz="2400" dirty="0"/>
          </a:p>
        </p:txBody>
      </p:sp>
      <p:sp>
        <p:nvSpPr>
          <p:cNvPr id="5" name="Text 3"/>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6" name="Text 4"/>
          <p:cNvSpPr/>
          <p:nvPr/>
        </p:nvSpPr>
        <p:spPr>
          <a:xfrm>
            <a:off x="224028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7" name="Text 5"/>
          <p:cNvSpPr txBox="1"/>
          <p:nvPr/>
        </p:nvSpPr>
        <p:spPr>
          <a:xfrm>
            <a:off x="32004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2 of 9</a:t>
            </a:r>
            <a:endParaRPr lang="en-US" sz="1200" dirty="0"/>
          </a:p>
        </p:txBody>
      </p:sp>
      <p:sp>
        <p:nvSpPr>
          <p:cNvPr id="8"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Charge machine</a:t>
            </a:r>
            <a:endParaRPr lang="en-US" sz="2800" dirty="0"/>
          </a:p>
        </p:txBody>
      </p:sp>
      <p:sp>
        <p:nvSpPr>
          <p:cNvPr id="9" name="Text 7"/>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Pick an atom, then add or remove electrons and watch the charge. Lock in each mission.</a:t>
            </a:r>
            <a:endParaRPr lang="en-US" sz="1300" dirty="0"/>
          </a:p>
        </p:txBody>
      </p:sp>
      <p:sp>
        <p:nvSpPr>
          <p:cNvPr id="10" name="Mission 1"/>
          <p:cNvSpPr/>
          <p:nvPr/>
        </p:nvSpPr>
        <p:spPr>
          <a:xfrm>
            <a:off x="457200" y="1691640"/>
            <a:ext cx="1554480" cy="2926080"/>
          </a:xfrm>
          <a:prstGeom prst="roundRect">
            <a:avLst>
              <a:gd name="adj" fmla="val 5882"/>
            </a:avLst>
          </a:prstGeom>
          <a:solidFill>
            <a:schemeClr val="tx2"/>
          </a:solidFill>
          <a:ln w="9525">
            <a:solidFill>
              <a:schemeClr val="bg2">
                <a:alpha val="30000"/>
              </a:schemeClr>
            </a:solidFill>
            <a:prstDash val="solid"/>
          </a:ln>
        </p:spPr>
      </p:sp>
      <p:sp>
        <p:nvSpPr>
          <p:cNvPr id="11" name="Text 9"/>
          <p:cNvSpPr txBox="1"/>
          <p:nvPr/>
        </p:nvSpPr>
        <p:spPr>
          <a:xfrm>
            <a:off x="566928" y="1783080"/>
            <a:ext cx="1371600" cy="256032"/>
          </a:xfrm>
          <a:prstGeom prst="rect">
            <a:avLst/>
          </a:prstGeom>
          <a:noFill/>
          <a:ln/>
        </p:spPr>
        <p:txBody>
          <a:bodyPr wrap="square" lIns="0" tIns="0" rIns="0" bIns="0" rtlCol="0" anchor="t"/>
          <a:lstStyle/>
          <a:p>
            <a:pPr indent="0" marL="0">
              <a:buNone/>
            </a:pPr>
            <a:r>
              <a:rPr lang="en-US" sz="1200" b="1" dirty="0">
                <a:solidFill>
                  <a:schemeClr val="accent2"/>
                </a:solidFill>
              </a:rPr>
              <a:t>Mission 1</a:t>
            </a:r>
            <a:endParaRPr lang="en-US" sz="1200" dirty="0"/>
          </a:p>
        </p:txBody>
      </p:sp>
      <p:sp>
        <p:nvSpPr>
          <p:cNvPr id="12" name="Text 10"/>
          <p:cNvSpPr txBox="1"/>
          <p:nvPr/>
        </p:nvSpPr>
        <p:spPr>
          <a:xfrm>
            <a:off x="566928" y="2057400"/>
            <a:ext cx="1353312" cy="566928"/>
          </a:xfrm>
          <a:prstGeom prst="rect">
            <a:avLst/>
          </a:prstGeom>
          <a:noFill/>
          <a:ln/>
        </p:spPr>
        <p:txBody>
          <a:bodyPr wrap="square" lIns="0" tIns="0" rIns="0" bIns="0" rtlCol="0" anchor="t"/>
          <a:lstStyle/>
          <a:p>
            <a:pPr indent="0" marL="0">
              <a:buNone/>
            </a:pPr>
            <a:r>
              <a:rPr lang="en-US" sz="1100" dirty="0">
                <a:solidFill>
                  <a:schemeClr val="bg1"/>
                </a:solidFill>
              </a:rPr>
              <a:t>Make a sodium ion with a +1 charge.</a:t>
            </a:r>
            <a:endParaRPr lang="en-US" sz="1100" dirty="0"/>
          </a:p>
        </p:txBody>
      </p:sp>
      <p:sp>
        <p:nvSpPr>
          <p:cNvPr id="13" name="sodium ion: shell 1"/>
          <p:cNvSpPr/>
          <p:nvPr/>
        </p:nvSpPr>
        <p:spPr>
          <a:xfrm>
            <a:off x="1000354" y="3030322"/>
            <a:ext cx="468173" cy="468173"/>
          </a:xfrm>
          <a:prstGeom prst="ellipse">
            <a:avLst/>
          </a:prstGeom>
          <a:solidFill>
            <a:schemeClr val="bg1">
              <a:alpha val="0"/>
            </a:schemeClr>
          </a:solidFill>
          <a:ln w="15875">
            <a:solidFill>
              <a:schemeClr val="bg2">
                <a:alpha val="55000"/>
              </a:schemeClr>
            </a:solidFill>
            <a:prstDash val="solid"/>
          </a:ln>
        </p:spPr>
      </p:sp>
      <p:sp>
        <p:nvSpPr>
          <p:cNvPr id="14" name="sodium ion: shell 2"/>
          <p:cNvSpPr/>
          <p:nvPr/>
        </p:nvSpPr>
        <p:spPr>
          <a:xfrm>
            <a:off x="854050" y="2884018"/>
            <a:ext cx="760781" cy="760781"/>
          </a:xfrm>
          <a:prstGeom prst="ellipse">
            <a:avLst/>
          </a:prstGeom>
          <a:solidFill>
            <a:schemeClr val="bg1">
              <a:alpha val="0"/>
            </a:schemeClr>
          </a:solidFill>
          <a:ln w="15875">
            <a:solidFill>
              <a:schemeClr val="bg2">
                <a:alpha val="55000"/>
              </a:schemeClr>
            </a:solidFill>
            <a:prstDash val="solid"/>
          </a:ln>
        </p:spPr>
      </p:sp>
      <p:sp>
        <p:nvSpPr>
          <p:cNvPr id="15" name="sodium ion: nucleus"/>
          <p:cNvSpPr/>
          <p:nvPr/>
        </p:nvSpPr>
        <p:spPr>
          <a:xfrm>
            <a:off x="1083259" y="3113227"/>
            <a:ext cx="302362" cy="302362"/>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16" name="sodium ion: electron, shell 1"/>
          <p:cNvSpPr/>
          <p:nvPr/>
        </p:nvSpPr>
        <p:spPr>
          <a:xfrm>
            <a:off x="1197864" y="2993746"/>
            <a:ext cx="73152" cy="73152"/>
          </a:xfrm>
          <a:prstGeom prst="ellipse">
            <a:avLst/>
          </a:prstGeom>
          <a:solidFill>
            <a:schemeClr val="accent1"/>
          </a:solidFill>
          <a:ln w="3175">
            <a:solidFill>
              <a:schemeClr val="accent1"/>
            </a:solidFill>
            <a:prstDash val="solid"/>
          </a:ln>
        </p:spPr>
      </p:sp>
      <p:sp>
        <p:nvSpPr>
          <p:cNvPr id="17" name="sodium ion: electron, shell 1"/>
          <p:cNvSpPr/>
          <p:nvPr/>
        </p:nvSpPr>
        <p:spPr>
          <a:xfrm>
            <a:off x="1431950" y="3227832"/>
            <a:ext cx="73152" cy="73152"/>
          </a:xfrm>
          <a:prstGeom prst="ellipse">
            <a:avLst/>
          </a:prstGeom>
          <a:solidFill>
            <a:schemeClr val="accent1"/>
          </a:solidFill>
          <a:ln w="3175">
            <a:solidFill>
              <a:schemeClr val="accent1"/>
            </a:solidFill>
            <a:prstDash val="solid"/>
          </a:ln>
        </p:spPr>
      </p:sp>
      <p:sp>
        <p:nvSpPr>
          <p:cNvPr id="18" name="sodium ion: electron, shell 2"/>
          <p:cNvSpPr/>
          <p:nvPr/>
        </p:nvSpPr>
        <p:spPr>
          <a:xfrm>
            <a:off x="1148746" y="2850626"/>
            <a:ext cx="73152" cy="73152"/>
          </a:xfrm>
          <a:prstGeom prst="ellipse">
            <a:avLst/>
          </a:prstGeom>
          <a:solidFill>
            <a:schemeClr val="accent1"/>
          </a:solidFill>
          <a:ln w="3175">
            <a:solidFill>
              <a:schemeClr val="accent1"/>
            </a:solidFill>
            <a:prstDash val="solid"/>
          </a:ln>
        </p:spPr>
      </p:sp>
      <p:sp>
        <p:nvSpPr>
          <p:cNvPr id="19" name="sodium ion: electron, shell 2"/>
          <p:cNvSpPr/>
          <p:nvPr/>
        </p:nvSpPr>
        <p:spPr>
          <a:xfrm>
            <a:off x="1246982" y="2850626"/>
            <a:ext cx="73152" cy="73152"/>
          </a:xfrm>
          <a:prstGeom prst="ellipse">
            <a:avLst/>
          </a:prstGeom>
          <a:solidFill>
            <a:schemeClr val="accent1"/>
          </a:solidFill>
          <a:ln w="3175">
            <a:solidFill>
              <a:schemeClr val="accent1"/>
            </a:solidFill>
            <a:prstDash val="solid"/>
          </a:ln>
        </p:spPr>
      </p:sp>
      <p:sp>
        <p:nvSpPr>
          <p:cNvPr id="20" name="sodium ion: electron, shell 2"/>
          <p:cNvSpPr/>
          <p:nvPr/>
        </p:nvSpPr>
        <p:spPr>
          <a:xfrm>
            <a:off x="1575070" y="3178714"/>
            <a:ext cx="73152" cy="73152"/>
          </a:xfrm>
          <a:prstGeom prst="ellipse">
            <a:avLst/>
          </a:prstGeom>
          <a:solidFill>
            <a:schemeClr val="accent1"/>
          </a:solidFill>
          <a:ln w="3175">
            <a:solidFill>
              <a:schemeClr val="accent1"/>
            </a:solidFill>
            <a:prstDash val="solid"/>
          </a:ln>
        </p:spPr>
      </p:sp>
      <p:sp>
        <p:nvSpPr>
          <p:cNvPr id="21" name="sodium ion: electron, shell 2"/>
          <p:cNvSpPr/>
          <p:nvPr/>
        </p:nvSpPr>
        <p:spPr>
          <a:xfrm>
            <a:off x="1575070" y="3276950"/>
            <a:ext cx="73152" cy="73152"/>
          </a:xfrm>
          <a:prstGeom prst="ellipse">
            <a:avLst/>
          </a:prstGeom>
          <a:solidFill>
            <a:schemeClr val="accent1"/>
          </a:solidFill>
          <a:ln w="3175">
            <a:solidFill>
              <a:schemeClr val="accent1"/>
            </a:solidFill>
            <a:prstDash val="solid"/>
          </a:ln>
        </p:spPr>
      </p:sp>
      <p:sp>
        <p:nvSpPr>
          <p:cNvPr id="22" name="sodium ion: electron, shell 2"/>
          <p:cNvSpPr/>
          <p:nvPr/>
        </p:nvSpPr>
        <p:spPr>
          <a:xfrm>
            <a:off x="1246982" y="3605038"/>
            <a:ext cx="73152" cy="73152"/>
          </a:xfrm>
          <a:prstGeom prst="ellipse">
            <a:avLst/>
          </a:prstGeom>
          <a:solidFill>
            <a:schemeClr val="accent1"/>
          </a:solidFill>
          <a:ln w="3175">
            <a:solidFill>
              <a:schemeClr val="accent1"/>
            </a:solidFill>
            <a:prstDash val="solid"/>
          </a:ln>
        </p:spPr>
      </p:sp>
      <p:sp>
        <p:nvSpPr>
          <p:cNvPr id="23" name="sodium ion: electron, shell 2"/>
          <p:cNvSpPr/>
          <p:nvPr/>
        </p:nvSpPr>
        <p:spPr>
          <a:xfrm>
            <a:off x="1148746" y="3605038"/>
            <a:ext cx="73152" cy="73152"/>
          </a:xfrm>
          <a:prstGeom prst="ellipse">
            <a:avLst/>
          </a:prstGeom>
          <a:solidFill>
            <a:schemeClr val="accent1"/>
          </a:solidFill>
          <a:ln w="3175">
            <a:solidFill>
              <a:schemeClr val="accent1"/>
            </a:solidFill>
            <a:prstDash val="solid"/>
          </a:ln>
        </p:spPr>
      </p:sp>
      <p:sp>
        <p:nvSpPr>
          <p:cNvPr id="24" name="sodium ion: electron, shell 2"/>
          <p:cNvSpPr/>
          <p:nvPr/>
        </p:nvSpPr>
        <p:spPr>
          <a:xfrm>
            <a:off x="820658" y="3276950"/>
            <a:ext cx="73152" cy="73152"/>
          </a:xfrm>
          <a:prstGeom prst="ellipse">
            <a:avLst/>
          </a:prstGeom>
          <a:solidFill>
            <a:schemeClr val="accent1"/>
          </a:solidFill>
          <a:ln w="3175">
            <a:solidFill>
              <a:schemeClr val="accent1"/>
            </a:solidFill>
            <a:prstDash val="solid"/>
          </a:ln>
        </p:spPr>
      </p:sp>
      <p:sp>
        <p:nvSpPr>
          <p:cNvPr id="25" name="sodium ion: electron, shell 2"/>
          <p:cNvSpPr/>
          <p:nvPr/>
        </p:nvSpPr>
        <p:spPr>
          <a:xfrm>
            <a:off x="820658" y="3178714"/>
            <a:ext cx="73152" cy="73152"/>
          </a:xfrm>
          <a:prstGeom prst="ellipse">
            <a:avLst/>
          </a:prstGeom>
          <a:solidFill>
            <a:schemeClr val="accent1"/>
          </a:solidFill>
          <a:ln w="3175">
            <a:solidFill>
              <a:schemeClr val="accent1"/>
            </a:solidFill>
            <a:prstDash val="solid"/>
          </a:ln>
        </p:spPr>
      </p:sp>
      <p:sp>
        <p:nvSpPr>
          <p:cNvPr id="26" name="sodium ion: left bracket"/>
          <p:cNvSpPr/>
          <p:nvPr/>
        </p:nvSpPr>
        <p:spPr>
          <a:xfrm>
            <a:off x="776021" y="2805989"/>
            <a:ext cx="73152" cy="916838"/>
          </a:xfrm>
          <a:prstGeom prst="leftBracket">
            <a:avLst/>
          </a:prstGeom>
          <a:noFill/>
          <a:ln w="15875">
            <a:solidFill>
              <a:schemeClr val="bg1"/>
            </a:solidFill>
            <a:prstDash val="solid"/>
          </a:ln>
        </p:spPr>
      </p:sp>
      <p:sp>
        <p:nvSpPr>
          <p:cNvPr id="27" name="sodium ion: right bracket"/>
          <p:cNvSpPr/>
          <p:nvPr/>
        </p:nvSpPr>
        <p:spPr>
          <a:xfrm>
            <a:off x="1619707" y="2805989"/>
            <a:ext cx="73152" cy="916838"/>
          </a:xfrm>
          <a:prstGeom prst="rightBracket">
            <a:avLst/>
          </a:prstGeom>
          <a:noFill/>
          <a:ln w="15875">
            <a:solidFill>
              <a:schemeClr val="bg1"/>
            </a:solidFill>
            <a:prstDash val="solid"/>
          </a:ln>
        </p:spPr>
      </p:sp>
      <p:sp>
        <p:nvSpPr>
          <p:cNvPr id="28" name="sodium ion: charge"/>
          <p:cNvSpPr txBox="1"/>
          <p:nvPr/>
        </p:nvSpPr>
        <p:spPr>
          <a:xfrm>
            <a:off x="1711147" y="2729154"/>
            <a:ext cx="223520" cy="167640"/>
          </a:xfrm>
          <a:prstGeom prst="rect">
            <a:avLst/>
          </a:prstGeom>
          <a:noFill/>
          <a:ln/>
        </p:spPr>
        <p:txBody>
          <a:bodyPr wrap="square" lIns="0" tIns="0" rIns="0" bIns="0" rtlCol="0" anchor="t"/>
          <a:lstStyle/>
          <a:p>
            <a:pPr indent="0" marL="0">
              <a:buNone/>
            </a:pPr>
            <a:r>
              <a:rPr lang="en-US" sz="1100" b="1" dirty="0">
                <a:solidFill>
                  <a:schemeClr val="bg1"/>
                </a:solidFill>
              </a:rPr>
              <a:t>+</a:t>
            </a:r>
            <a:endParaRPr lang="en-US" sz="1100" dirty="0"/>
          </a:p>
        </p:txBody>
      </p:sp>
      <p:sp>
        <p:nvSpPr>
          <p:cNvPr id="29" name="Text 27"/>
          <p:cNvSpPr txBox="1"/>
          <p:nvPr/>
        </p:nvSpPr>
        <p:spPr>
          <a:xfrm>
            <a:off x="502920" y="3931920"/>
            <a:ext cx="1463040" cy="548640"/>
          </a:xfrm>
          <a:prstGeom prst="rect">
            <a:avLst/>
          </a:prstGeom>
          <a:noFill/>
          <a:ln/>
        </p:spPr>
        <p:txBody>
          <a:bodyPr wrap="square" lIns="0" tIns="0" rIns="0" bIns="0" rtlCol="0" anchor="ctr"/>
          <a:lstStyle/>
          <a:p>
            <a:pPr algn="ctr" indent="0" marL="0">
              <a:buNone/>
            </a:pPr>
            <a:r>
              <a:rPr lang="en-US" sz="1200" b="1" dirty="0">
                <a:solidFill>
                  <a:schemeClr val="accent4"/>
                </a:solidFill>
              </a:rPr>
              <a:t>Remove 1</a:t>
            </a:r>
            <a:endParaRPr lang="en-US" sz="1200" dirty="0"/>
          </a:p>
          <a:p>
            <a:pPr algn="ctr" indent="0" marL="0">
              <a:buNone/>
            </a:pPr>
            <a:r>
              <a:rPr lang="en-US" sz="1200" dirty="0">
                <a:solidFill>
                  <a:schemeClr val="bg1"/>
                </a:solidFill>
              </a:rPr>
              <a:t>11 p, 10 e → </a:t>
            </a:r>
            <a:pPr algn="ctr" indent="0" marL="0">
              <a:buNone/>
            </a:pPr>
            <a:r>
              <a:rPr lang="en-US" sz="1200" b="1" dirty="0">
                <a:solidFill>
                  <a:schemeClr val="bg1"/>
                </a:solidFill>
              </a:rPr>
              <a:t>Na</a:t>
            </a:r>
            <a:pPr algn="ctr" indent="0" marL="0">
              <a:buNone/>
            </a:pPr>
            <a:r>
              <a:rPr lang="en-US" sz="1200" b="1" baseline="30000" dirty="0">
                <a:solidFill>
                  <a:schemeClr val="bg1"/>
                </a:solidFill>
              </a:rPr>
              <a:t>+</a:t>
            </a:r>
            <a:endParaRPr lang="en-US" sz="1200" dirty="0"/>
          </a:p>
        </p:txBody>
      </p:sp>
      <p:sp>
        <p:nvSpPr>
          <p:cNvPr id="30" name="Mission 2"/>
          <p:cNvSpPr/>
          <p:nvPr/>
        </p:nvSpPr>
        <p:spPr>
          <a:xfrm>
            <a:off x="2121408" y="1691640"/>
            <a:ext cx="1554480" cy="2926080"/>
          </a:xfrm>
          <a:prstGeom prst="roundRect">
            <a:avLst>
              <a:gd name="adj" fmla="val 5882"/>
            </a:avLst>
          </a:prstGeom>
          <a:solidFill>
            <a:schemeClr val="tx2"/>
          </a:solidFill>
          <a:ln w="9525">
            <a:solidFill>
              <a:schemeClr val="bg2">
                <a:alpha val="30000"/>
              </a:schemeClr>
            </a:solidFill>
            <a:prstDash val="solid"/>
          </a:ln>
        </p:spPr>
      </p:sp>
      <p:sp>
        <p:nvSpPr>
          <p:cNvPr id="31" name="Text 29"/>
          <p:cNvSpPr txBox="1"/>
          <p:nvPr/>
        </p:nvSpPr>
        <p:spPr>
          <a:xfrm>
            <a:off x="2231136" y="1783080"/>
            <a:ext cx="1371600" cy="256032"/>
          </a:xfrm>
          <a:prstGeom prst="rect">
            <a:avLst/>
          </a:prstGeom>
          <a:noFill/>
          <a:ln/>
        </p:spPr>
        <p:txBody>
          <a:bodyPr wrap="square" lIns="0" tIns="0" rIns="0" bIns="0" rtlCol="0" anchor="t"/>
          <a:lstStyle/>
          <a:p>
            <a:pPr indent="0" marL="0">
              <a:buNone/>
            </a:pPr>
            <a:r>
              <a:rPr lang="en-US" sz="1200" b="1" dirty="0">
                <a:solidFill>
                  <a:schemeClr val="accent2"/>
                </a:solidFill>
              </a:rPr>
              <a:t>Mission 2</a:t>
            </a:r>
            <a:endParaRPr lang="en-US" sz="1200" dirty="0"/>
          </a:p>
        </p:txBody>
      </p:sp>
      <p:sp>
        <p:nvSpPr>
          <p:cNvPr id="32" name="Text 30"/>
          <p:cNvSpPr txBox="1"/>
          <p:nvPr/>
        </p:nvSpPr>
        <p:spPr>
          <a:xfrm>
            <a:off x="2231136" y="2057400"/>
            <a:ext cx="1353312" cy="566928"/>
          </a:xfrm>
          <a:prstGeom prst="rect">
            <a:avLst/>
          </a:prstGeom>
          <a:noFill/>
          <a:ln/>
        </p:spPr>
        <p:txBody>
          <a:bodyPr wrap="square" lIns="0" tIns="0" rIns="0" bIns="0" rtlCol="0" anchor="t"/>
          <a:lstStyle/>
          <a:p>
            <a:pPr indent="0" marL="0">
              <a:buNone/>
            </a:pPr>
            <a:r>
              <a:rPr lang="en-US" sz="1100" dirty="0">
                <a:solidFill>
                  <a:schemeClr val="bg1"/>
                </a:solidFill>
              </a:rPr>
              <a:t>Make a chloride ion with a −1 charge.</a:t>
            </a:r>
            <a:endParaRPr lang="en-US" sz="1100" dirty="0"/>
          </a:p>
        </p:txBody>
      </p:sp>
      <p:sp>
        <p:nvSpPr>
          <p:cNvPr id="33" name="chloride: shell 1"/>
          <p:cNvSpPr/>
          <p:nvPr/>
        </p:nvSpPr>
        <p:spPr>
          <a:xfrm>
            <a:off x="2699895" y="3065655"/>
            <a:ext cx="397505" cy="397505"/>
          </a:xfrm>
          <a:prstGeom prst="ellipse">
            <a:avLst/>
          </a:prstGeom>
          <a:solidFill>
            <a:schemeClr val="bg1">
              <a:alpha val="0"/>
            </a:schemeClr>
          </a:solidFill>
          <a:ln w="15875">
            <a:solidFill>
              <a:schemeClr val="bg2">
                <a:alpha val="55000"/>
              </a:schemeClr>
            </a:solidFill>
            <a:prstDash val="solid"/>
          </a:ln>
        </p:spPr>
      </p:sp>
      <p:sp>
        <p:nvSpPr>
          <p:cNvPr id="34" name="chloride: shell 2"/>
          <p:cNvSpPr/>
          <p:nvPr/>
        </p:nvSpPr>
        <p:spPr>
          <a:xfrm>
            <a:off x="2575675" y="2941435"/>
            <a:ext cx="645946" cy="645946"/>
          </a:xfrm>
          <a:prstGeom prst="ellipse">
            <a:avLst/>
          </a:prstGeom>
          <a:solidFill>
            <a:schemeClr val="bg1">
              <a:alpha val="0"/>
            </a:schemeClr>
          </a:solidFill>
          <a:ln w="15875">
            <a:solidFill>
              <a:schemeClr val="bg2">
                <a:alpha val="55000"/>
              </a:schemeClr>
            </a:solidFill>
            <a:prstDash val="solid"/>
          </a:ln>
        </p:spPr>
      </p:sp>
      <p:sp>
        <p:nvSpPr>
          <p:cNvPr id="35" name="chloride: shell 3"/>
          <p:cNvSpPr/>
          <p:nvPr/>
        </p:nvSpPr>
        <p:spPr>
          <a:xfrm>
            <a:off x="2459736" y="2825496"/>
            <a:ext cx="877824" cy="877824"/>
          </a:xfrm>
          <a:prstGeom prst="ellipse">
            <a:avLst/>
          </a:prstGeom>
          <a:solidFill>
            <a:schemeClr val="bg1">
              <a:alpha val="0"/>
            </a:schemeClr>
          </a:solidFill>
          <a:ln w="15875">
            <a:solidFill>
              <a:schemeClr val="bg2">
                <a:alpha val="55000"/>
              </a:schemeClr>
            </a:solidFill>
            <a:prstDash val="solid"/>
          </a:ln>
        </p:spPr>
      </p:sp>
      <p:sp>
        <p:nvSpPr>
          <p:cNvPr id="36" name="chloride: nucleus"/>
          <p:cNvSpPr/>
          <p:nvPr/>
        </p:nvSpPr>
        <p:spPr>
          <a:xfrm>
            <a:off x="2770287" y="3136047"/>
            <a:ext cx="256722" cy="256722"/>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37" name="chloride: electron, shell 1"/>
          <p:cNvSpPr/>
          <p:nvPr/>
        </p:nvSpPr>
        <p:spPr>
          <a:xfrm>
            <a:off x="2867593" y="3034600"/>
            <a:ext cx="62110" cy="62110"/>
          </a:xfrm>
          <a:prstGeom prst="ellipse">
            <a:avLst/>
          </a:prstGeom>
          <a:solidFill>
            <a:schemeClr val="accent1"/>
          </a:solidFill>
          <a:ln w="3175">
            <a:solidFill>
              <a:schemeClr val="accent1"/>
            </a:solidFill>
            <a:prstDash val="solid"/>
          </a:ln>
        </p:spPr>
      </p:sp>
      <p:sp>
        <p:nvSpPr>
          <p:cNvPr id="38" name="chloride: electron, shell 1"/>
          <p:cNvSpPr/>
          <p:nvPr/>
        </p:nvSpPr>
        <p:spPr>
          <a:xfrm>
            <a:off x="3066346" y="3233353"/>
            <a:ext cx="62110" cy="62110"/>
          </a:xfrm>
          <a:prstGeom prst="ellipse">
            <a:avLst/>
          </a:prstGeom>
          <a:solidFill>
            <a:schemeClr val="accent1"/>
          </a:solidFill>
          <a:ln w="3175">
            <a:solidFill>
              <a:schemeClr val="accent1"/>
            </a:solidFill>
            <a:prstDash val="solid"/>
          </a:ln>
        </p:spPr>
      </p:sp>
      <p:sp>
        <p:nvSpPr>
          <p:cNvPr id="39" name="chloride: electron, shell 2"/>
          <p:cNvSpPr/>
          <p:nvPr/>
        </p:nvSpPr>
        <p:spPr>
          <a:xfrm>
            <a:off x="2825889" y="2913084"/>
            <a:ext cx="62110" cy="62110"/>
          </a:xfrm>
          <a:prstGeom prst="ellipse">
            <a:avLst/>
          </a:prstGeom>
          <a:solidFill>
            <a:schemeClr val="accent1"/>
          </a:solidFill>
          <a:ln w="3175">
            <a:solidFill>
              <a:schemeClr val="accent1"/>
            </a:solidFill>
            <a:prstDash val="solid"/>
          </a:ln>
        </p:spPr>
      </p:sp>
      <p:sp>
        <p:nvSpPr>
          <p:cNvPr id="40" name="chloride: electron, shell 2"/>
          <p:cNvSpPr/>
          <p:nvPr/>
        </p:nvSpPr>
        <p:spPr>
          <a:xfrm>
            <a:off x="2909297" y="2913084"/>
            <a:ext cx="62110" cy="62110"/>
          </a:xfrm>
          <a:prstGeom prst="ellipse">
            <a:avLst/>
          </a:prstGeom>
          <a:solidFill>
            <a:schemeClr val="accent1"/>
          </a:solidFill>
          <a:ln w="3175">
            <a:solidFill>
              <a:schemeClr val="accent1"/>
            </a:solidFill>
            <a:prstDash val="solid"/>
          </a:ln>
        </p:spPr>
      </p:sp>
      <p:sp>
        <p:nvSpPr>
          <p:cNvPr id="41" name="chloride: electron, shell 2"/>
          <p:cNvSpPr/>
          <p:nvPr/>
        </p:nvSpPr>
        <p:spPr>
          <a:xfrm>
            <a:off x="3187862" y="3191649"/>
            <a:ext cx="62110" cy="62110"/>
          </a:xfrm>
          <a:prstGeom prst="ellipse">
            <a:avLst/>
          </a:prstGeom>
          <a:solidFill>
            <a:schemeClr val="accent1"/>
          </a:solidFill>
          <a:ln w="3175">
            <a:solidFill>
              <a:schemeClr val="accent1"/>
            </a:solidFill>
            <a:prstDash val="solid"/>
          </a:ln>
        </p:spPr>
      </p:sp>
      <p:sp>
        <p:nvSpPr>
          <p:cNvPr id="42" name="chloride: electron, shell 2"/>
          <p:cNvSpPr/>
          <p:nvPr/>
        </p:nvSpPr>
        <p:spPr>
          <a:xfrm>
            <a:off x="3187862" y="3275057"/>
            <a:ext cx="62110" cy="62110"/>
          </a:xfrm>
          <a:prstGeom prst="ellipse">
            <a:avLst/>
          </a:prstGeom>
          <a:solidFill>
            <a:schemeClr val="accent1"/>
          </a:solidFill>
          <a:ln w="3175">
            <a:solidFill>
              <a:schemeClr val="accent1"/>
            </a:solidFill>
            <a:prstDash val="solid"/>
          </a:ln>
        </p:spPr>
      </p:sp>
      <p:sp>
        <p:nvSpPr>
          <p:cNvPr id="43" name="chloride: electron, shell 2"/>
          <p:cNvSpPr/>
          <p:nvPr/>
        </p:nvSpPr>
        <p:spPr>
          <a:xfrm>
            <a:off x="2909297" y="3553622"/>
            <a:ext cx="62110" cy="62110"/>
          </a:xfrm>
          <a:prstGeom prst="ellipse">
            <a:avLst/>
          </a:prstGeom>
          <a:solidFill>
            <a:schemeClr val="accent1"/>
          </a:solidFill>
          <a:ln w="3175">
            <a:solidFill>
              <a:schemeClr val="accent1"/>
            </a:solidFill>
            <a:prstDash val="solid"/>
          </a:ln>
        </p:spPr>
      </p:sp>
      <p:sp>
        <p:nvSpPr>
          <p:cNvPr id="44" name="chloride: electron, shell 2"/>
          <p:cNvSpPr/>
          <p:nvPr/>
        </p:nvSpPr>
        <p:spPr>
          <a:xfrm>
            <a:off x="2825889" y="3553622"/>
            <a:ext cx="62110" cy="62110"/>
          </a:xfrm>
          <a:prstGeom prst="ellipse">
            <a:avLst/>
          </a:prstGeom>
          <a:solidFill>
            <a:schemeClr val="accent1"/>
          </a:solidFill>
          <a:ln w="3175">
            <a:solidFill>
              <a:schemeClr val="accent1"/>
            </a:solidFill>
            <a:prstDash val="solid"/>
          </a:ln>
        </p:spPr>
      </p:sp>
      <p:sp>
        <p:nvSpPr>
          <p:cNvPr id="45" name="chloride: electron, shell 2"/>
          <p:cNvSpPr/>
          <p:nvPr/>
        </p:nvSpPr>
        <p:spPr>
          <a:xfrm>
            <a:off x="2547324" y="3275057"/>
            <a:ext cx="62110" cy="62110"/>
          </a:xfrm>
          <a:prstGeom prst="ellipse">
            <a:avLst/>
          </a:prstGeom>
          <a:solidFill>
            <a:schemeClr val="accent1"/>
          </a:solidFill>
          <a:ln w="3175">
            <a:solidFill>
              <a:schemeClr val="accent1"/>
            </a:solidFill>
            <a:prstDash val="solid"/>
          </a:ln>
        </p:spPr>
      </p:sp>
      <p:sp>
        <p:nvSpPr>
          <p:cNvPr id="46" name="chloride: electron, shell 2"/>
          <p:cNvSpPr/>
          <p:nvPr/>
        </p:nvSpPr>
        <p:spPr>
          <a:xfrm>
            <a:off x="2547324" y="3191649"/>
            <a:ext cx="62110" cy="62110"/>
          </a:xfrm>
          <a:prstGeom prst="ellipse">
            <a:avLst/>
          </a:prstGeom>
          <a:solidFill>
            <a:schemeClr val="accent1"/>
          </a:solidFill>
          <a:ln w="3175">
            <a:solidFill>
              <a:schemeClr val="accent1"/>
            </a:solidFill>
            <a:prstDash val="solid"/>
          </a:ln>
        </p:spPr>
      </p:sp>
      <p:sp>
        <p:nvSpPr>
          <p:cNvPr id="47" name="chloride: electron, shell 3"/>
          <p:cNvSpPr/>
          <p:nvPr/>
        </p:nvSpPr>
        <p:spPr>
          <a:xfrm>
            <a:off x="2825835" y="2796432"/>
            <a:ext cx="62110" cy="62110"/>
          </a:xfrm>
          <a:prstGeom prst="ellipse">
            <a:avLst/>
          </a:prstGeom>
          <a:solidFill>
            <a:schemeClr val="accent1"/>
          </a:solidFill>
          <a:ln w="3175">
            <a:solidFill>
              <a:schemeClr val="accent1"/>
            </a:solidFill>
            <a:prstDash val="solid"/>
          </a:ln>
        </p:spPr>
      </p:sp>
      <p:sp>
        <p:nvSpPr>
          <p:cNvPr id="48" name="chloride: electron, shell 3"/>
          <p:cNvSpPr/>
          <p:nvPr/>
        </p:nvSpPr>
        <p:spPr>
          <a:xfrm>
            <a:off x="2909351" y="2796432"/>
            <a:ext cx="62110" cy="62110"/>
          </a:xfrm>
          <a:prstGeom prst="ellipse">
            <a:avLst/>
          </a:prstGeom>
          <a:solidFill>
            <a:schemeClr val="accent1"/>
          </a:solidFill>
          <a:ln w="3175">
            <a:solidFill>
              <a:schemeClr val="accent1"/>
            </a:solidFill>
            <a:prstDash val="solid"/>
          </a:ln>
        </p:spPr>
      </p:sp>
      <p:sp>
        <p:nvSpPr>
          <p:cNvPr id="49" name="chloride: electron, shell 3"/>
          <p:cNvSpPr/>
          <p:nvPr/>
        </p:nvSpPr>
        <p:spPr>
          <a:xfrm>
            <a:off x="3304514" y="3191595"/>
            <a:ext cx="62110" cy="62110"/>
          </a:xfrm>
          <a:prstGeom prst="ellipse">
            <a:avLst/>
          </a:prstGeom>
          <a:solidFill>
            <a:schemeClr val="accent1"/>
          </a:solidFill>
          <a:ln w="3175">
            <a:solidFill>
              <a:schemeClr val="accent1"/>
            </a:solidFill>
            <a:prstDash val="solid"/>
          </a:ln>
        </p:spPr>
      </p:sp>
      <p:sp>
        <p:nvSpPr>
          <p:cNvPr id="50" name="chloride: electron, shell 3"/>
          <p:cNvSpPr/>
          <p:nvPr/>
        </p:nvSpPr>
        <p:spPr>
          <a:xfrm>
            <a:off x="3304514" y="3275111"/>
            <a:ext cx="62110" cy="62110"/>
          </a:xfrm>
          <a:prstGeom prst="ellipse">
            <a:avLst/>
          </a:prstGeom>
          <a:solidFill>
            <a:schemeClr val="accent1"/>
          </a:solidFill>
          <a:ln w="3175">
            <a:solidFill>
              <a:schemeClr val="accent1"/>
            </a:solidFill>
            <a:prstDash val="solid"/>
          </a:ln>
        </p:spPr>
      </p:sp>
      <p:sp>
        <p:nvSpPr>
          <p:cNvPr id="51" name="chloride: electron, shell 3"/>
          <p:cNvSpPr/>
          <p:nvPr/>
        </p:nvSpPr>
        <p:spPr>
          <a:xfrm>
            <a:off x="2909351" y="3670274"/>
            <a:ext cx="62110" cy="62110"/>
          </a:xfrm>
          <a:prstGeom prst="ellipse">
            <a:avLst/>
          </a:prstGeom>
          <a:solidFill>
            <a:schemeClr val="accent1"/>
          </a:solidFill>
          <a:ln w="3175">
            <a:solidFill>
              <a:schemeClr val="accent1"/>
            </a:solidFill>
            <a:prstDash val="solid"/>
          </a:ln>
        </p:spPr>
      </p:sp>
      <p:sp>
        <p:nvSpPr>
          <p:cNvPr id="52" name="chloride: electron, shell 3"/>
          <p:cNvSpPr/>
          <p:nvPr/>
        </p:nvSpPr>
        <p:spPr>
          <a:xfrm>
            <a:off x="2825835" y="3670274"/>
            <a:ext cx="62110" cy="62110"/>
          </a:xfrm>
          <a:prstGeom prst="ellipse">
            <a:avLst/>
          </a:prstGeom>
          <a:solidFill>
            <a:schemeClr val="accent1"/>
          </a:solidFill>
          <a:ln w="3175">
            <a:solidFill>
              <a:schemeClr val="accent1"/>
            </a:solidFill>
            <a:prstDash val="solid"/>
          </a:ln>
        </p:spPr>
      </p:sp>
      <p:sp>
        <p:nvSpPr>
          <p:cNvPr id="53" name="chloride: electron, shell 3"/>
          <p:cNvSpPr/>
          <p:nvPr/>
        </p:nvSpPr>
        <p:spPr>
          <a:xfrm>
            <a:off x="2430672" y="3275111"/>
            <a:ext cx="62110" cy="62110"/>
          </a:xfrm>
          <a:prstGeom prst="ellipse">
            <a:avLst/>
          </a:prstGeom>
          <a:solidFill>
            <a:schemeClr val="accent1"/>
          </a:solidFill>
          <a:ln w="3175">
            <a:solidFill>
              <a:schemeClr val="accent1"/>
            </a:solidFill>
            <a:prstDash val="solid"/>
          </a:ln>
        </p:spPr>
      </p:sp>
      <p:sp>
        <p:nvSpPr>
          <p:cNvPr id="54" name="chloride: gained electron, shell 3"/>
          <p:cNvSpPr/>
          <p:nvPr/>
        </p:nvSpPr>
        <p:spPr>
          <a:xfrm>
            <a:off x="2430672" y="3191595"/>
            <a:ext cx="62110" cy="62110"/>
          </a:xfrm>
          <a:prstGeom prst="ellipse">
            <a:avLst/>
          </a:prstGeom>
          <a:solidFill>
            <a:schemeClr val="accent6"/>
          </a:solidFill>
          <a:ln w="3175">
            <a:solidFill>
              <a:schemeClr val="accent6"/>
            </a:solidFill>
            <a:prstDash val="solid"/>
          </a:ln>
        </p:spPr>
      </p:sp>
      <p:sp>
        <p:nvSpPr>
          <p:cNvPr id="55" name="chloride: left bracket"/>
          <p:cNvSpPr/>
          <p:nvPr/>
        </p:nvSpPr>
        <p:spPr>
          <a:xfrm>
            <a:off x="2393485" y="2759245"/>
            <a:ext cx="73152" cy="1010326"/>
          </a:xfrm>
          <a:prstGeom prst="leftBracket">
            <a:avLst/>
          </a:prstGeom>
          <a:noFill/>
          <a:ln w="15875">
            <a:solidFill>
              <a:schemeClr val="bg1"/>
            </a:solidFill>
            <a:prstDash val="solid"/>
          </a:ln>
        </p:spPr>
      </p:sp>
      <p:sp>
        <p:nvSpPr>
          <p:cNvPr id="56" name="chloride: right bracket"/>
          <p:cNvSpPr/>
          <p:nvPr/>
        </p:nvSpPr>
        <p:spPr>
          <a:xfrm>
            <a:off x="3330659" y="2759245"/>
            <a:ext cx="73152" cy="1010326"/>
          </a:xfrm>
          <a:prstGeom prst="rightBracket">
            <a:avLst/>
          </a:prstGeom>
          <a:noFill/>
          <a:ln w="15875">
            <a:solidFill>
              <a:schemeClr val="bg1"/>
            </a:solidFill>
            <a:prstDash val="solid"/>
          </a:ln>
        </p:spPr>
      </p:sp>
      <p:sp>
        <p:nvSpPr>
          <p:cNvPr id="57" name="chloride: charge"/>
          <p:cNvSpPr txBox="1"/>
          <p:nvPr/>
        </p:nvSpPr>
        <p:spPr>
          <a:xfrm>
            <a:off x="3422099" y="2682410"/>
            <a:ext cx="223520" cy="167640"/>
          </a:xfrm>
          <a:prstGeom prst="rect">
            <a:avLst/>
          </a:prstGeom>
          <a:noFill/>
          <a:ln/>
        </p:spPr>
        <p:txBody>
          <a:bodyPr wrap="square" lIns="0" tIns="0" rIns="0" bIns="0" rtlCol="0" anchor="t"/>
          <a:lstStyle/>
          <a:p>
            <a:pPr indent="0" marL="0">
              <a:buNone/>
            </a:pPr>
            <a:r>
              <a:rPr lang="en-US" sz="1100" b="1" dirty="0">
                <a:solidFill>
                  <a:schemeClr val="bg1"/>
                </a:solidFill>
              </a:rPr>
              <a:t>−</a:t>
            </a:r>
            <a:endParaRPr lang="en-US" sz="1100" dirty="0"/>
          </a:p>
        </p:txBody>
      </p:sp>
      <p:sp>
        <p:nvSpPr>
          <p:cNvPr id="58" name="Text 56"/>
          <p:cNvSpPr txBox="1"/>
          <p:nvPr/>
        </p:nvSpPr>
        <p:spPr>
          <a:xfrm>
            <a:off x="2167128" y="3931920"/>
            <a:ext cx="1463040" cy="548640"/>
          </a:xfrm>
          <a:prstGeom prst="rect">
            <a:avLst/>
          </a:prstGeom>
          <a:noFill/>
          <a:ln/>
        </p:spPr>
        <p:txBody>
          <a:bodyPr wrap="square" lIns="0" tIns="0" rIns="0" bIns="0" rtlCol="0" anchor="ctr"/>
          <a:lstStyle/>
          <a:p>
            <a:pPr algn="ctr" indent="0" marL="0">
              <a:buNone/>
            </a:pPr>
            <a:r>
              <a:rPr lang="en-US" sz="1200" b="1" dirty="0">
                <a:solidFill>
                  <a:schemeClr val="accent4"/>
                </a:solidFill>
              </a:rPr>
              <a:t>Add 1</a:t>
            </a:r>
            <a:endParaRPr lang="en-US" sz="1200" dirty="0"/>
          </a:p>
          <a:p>
            <a:pPr algn="ctr" indent="0" marL="0">
              <a:buNone/>
            </a:pPr>
            <a:r>
              <a:rPr lang="en-US" sz="1200" dirty="0">
                <a:solidFill>
                  <a:schemeClr val="bg1"/>
                </a:solidFill>
              </a:rPr>
              <a:t>17 p, 18 e → </a:t>
            </a:r>
            <a:pPr algn="ctr" indent="0" marL="0">
              <a:buNone/>
            </a:pPr>
            <a:r>
              <a:rPr lang="en-US" sz="1200" b="1" dirty="0">
                <a:solidFill>
                  <a:schemeClr val="bg1"/>
                </a:solidFill>
              </a:rPr>
              <a:t>Cl</a:t>
            </a:r>
            <a:pPr algn="ctr" indent="0" marL="0">
              <a:buNone/>
            </a:pPr>
            <a:r>
              <a:rPr lang="en-US" sz="1200" b="1" baseline="30000" dirty="0">
                <a:solidFill>
                  <a:schemeClr val="bg1"/>
                </a:solidFill>
              </a:rPr>
              <a:t>−</a:t>
            </a:r>
            <a:endParaRPr lang="en-US" sz="1200" dirty="0"/>
          </a:p>
        </p:txBody>
      </p:sp>
      <p:sp>
        <p:nvSpPr>
          <p:cNvPr id="59" name="Mission 3"/>
          <p:cNvSpPr/>
          <p:nvPr/>
        </p:nvSpPr>
        <p:spPr>
          <a:xfrm>
            <a:off x="3785616" y="1691640"/>
            <a:ext cx="1554480" cy="2926080"/>
          </a:xfrm>
          <a:prstGeom prst="roundRect">
            <a:avLst>
              <a:gd name="adj" fmla="val 5882"/>
            </a:avLst>
          </a:prstGeom>
          <a:solidFill>
            <a:schemeClr val="tx2"/>
          </a:solidFill>
          <a:ln w="9525">
            <a:solidFill>
              <a:schemeClr val="bg2">
                <a:alpha val="30000"/>
              </a:schemeClr>
            </a:solidFill>
            <a:prstDash val="solid"/>
          </a:ln>
        </p:spPr>
      </p:sp>
      <p:sp>
        <p:nvSpPr>
          <p:cNvPr id="60" name="Text 58"/>
          <p:cNvSpPr txBox="1"/>
          <p:nvPr/>
        </p:nvSpPr>
        <p:spPr>
          <a:xfrm>
            <a:off x="3895344" y="1783080"/>
            <a:ext cx="1371600" cy="256032"/>
          </a:xfrm>
          <a:prstGeom prst="rect">
            <a:avLst/>
          </a:prstGeom>
          <a:noFill/>
          <a:ln/>
        </p:spPr>
        <p:txBody>
          <a:bodyPr wrap="square" lIns="0" tIns="0" rIns="0" bIns="0" rtlCol="0" anchor="t"/>
          <a:lstStyle/>
          <a:p>
            <a:pPr indent="0" marL="0">
              <a:buNone/>
            </a:pPr>
            <a:r>
              <a:rPr lang="en-US" sz="1200" b="1" dirty="0">
                <a:solidFill>
                  <a:schemeClr val="accent2"/>
                </a:solidFill>
              </a:rPr>
              <a:t>Mission 3</a:t>
            </a:r>
            <a:endParaRPr lang="en-US" sz="1200" dirty="0"/>
          </a:p>
        </p:txBody>
      </p:sp>
      <p:sp>
        <p:nvSpPr>
          <p:cNvPr id="61" name="Text 59"/>
          <p:cNvSpPr txBox="1"/>
          <p:nvPr/>
        </p:nvSpPr>
        <p:spPr>
          <a:xfrm>
            <a:off x="3895344" y="2057400"/>
            <a:ext cx="1353312" cy="566928"/>
          </a:xfrm>
          <a:prstGeom prst="rect">
            <a:avLst/>
          </a:prstGeom>
          <a:noFill/>
          <a:ln/>
        </p:spPr>
        <p:txBody>
          <a:bodyPr wrap="square" lIns="0" tIns="0" rIns="0" bIns="0" rtlCol="0" anchor="t"/>
          <a:lstStyle/>
          <a:p>
            <a:pPr indent="0" marL="0">
              <a:buNone/>
            </a:pPr>
            <a:r>
              <a:rPr lang="en-US" sz="1100" dirty="0">
                <a:solidFill>
                  <a:schemeClr val="bg1"/>
                </a:solidFill>
              </a:rPr>
              <a:t>Give magnesium a +2 charge.</a:t>
            </a:r>
            <a:endParaRPr lang="en-US" sz="1100" dirty="0"/>
          </a:p>
        </p:txBody>
      </p:sp>
      <p:sp>
        <p:nvSpPr>
          <p:cNvPr id="62" name="magnesium ion: shell 1"/>
          <p:cNvSpPr/>
          <p:nvPr/>
        </p:nvSpPr>
        <p:spPr>
          <a:xfrm>
            <a:off x="4328770" y="3030322"/>
            <a:ext cx="468173" cy="468173"/>
          </a:xfrm>
          <a:prstGeom prst="ellipse">
            <a:avLst/>
          </a:prstGeom>
          <a:solidFill>
            <a:schemeClr val="bg1">
              <a:alpha val="0"/>
            </a:schemeClr>
          </a:solidFill>
          <a:ln w="15875">
            <a:solidFill>
              <a:schemeClr val="bg2">
                <a:alpha val="55000"/>
              </a:schemeClr>
            </a:solidFill>
            <a:prstDash val="solid"/>
          </a:ln>
        </p:spPr>
      </p:sp>
      <p:sp>
        <p:nvSpPr>
          <p:cNvPr id="63" name="magnesium ion: shell 2"/>
          <p:cNvSpPr/>
          <p:nvPr/>
        </p:nvSpPr>
        <p:spPr>
          <a:xfrm>
            <a:off x="4182466" y="2884018"/>
            <a:ext cx="760781" cy="760781"/>
          </a:xfrm>
          <a:prstGeom prst="ellipse">
            <a:avLst/>
          </a:prstGeom>
          <a:solidFill>
            <a:schemeClr val="bg1">
              <a:alpha val="0"/>
            </a:schemeClr>
          </a:solidFill>
          <a:ln w="15875">
            <a:solidFill>
              <a:schemeClr val="bg2">
                <a:alpha val="55000"/>
              </a:schemeClr>
            </a:solidFill>
            <a:prstDash val="solid"/>
          </a:ln>
        </p:spPr>
      </p:sp>
      <p:sp>
        <p:nvSpPr>
          <p:cNvPr id="64" name="magnesium ion: nucleus"/>
          <p:cNvSpPr/>
          <p:nvPr/>
        </p:nvSpPr>
        <p:spPr>
          <a:xfrm>
            <a:off x="4411675" y="3113227"/>
            <a:ext cx="302362" cy="302362"/>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65" name="magnesium ion: electron, shell 1"/>
          <p:cNvSpPr/>
          <p:nvPr/>
        </p:nvSpPr>
        <p:spPr>
          <a:xfrm>
            <a:off x="4526280" y="2993746"/>
            <a:ext cx="73152" cy="73152"/>
          </a:xfrm>
          <a:prstGeom prst="ellipse">
            <a:avLst/>
          </a:prstGeom>
          <a:solidFill>
            <a:schemeClr val="accent1"/>
          </a:solidFill>
          <a:ln w="3175">
            <a:solidFill>
              <a:schemeClr val="accent1"/>
            </a:solidFill>
            <a:prstDash val="solid"/>
          </a:ln>
        </p:spPr>
      </p:sp>
      <p:sp>
        <p:nvSpPr>
          <p:cNvPr id="66" name="magnesium ion: electron, shell 1"/>
          <p:cNvSpPr/>
          <p:nvPr/>
        </p:nvSpPr>
        <p:spPr>
          <a:xfrm>
            <a:off x="4760366" y="3227832"/>
            <a:ext cx="73152" cy="73152"/>
          </a:xfrm>
          <a:prstGeom prst="ellipse">
            <a:avLst/>
          </a:prstGeom>
          <a:solidFill>
            <a:schemeClr val="accent1"/>
          </a:solidFill>
          <a:ln w="3175">
            <a:solidFill>
              <a:schemeClr val="accent1"/>
            </a:solidFill>
            <a:prstDash val="solid"/>
          </a:ln>
        </p:spPr>
      </p:sp>
      <p:sp>
        <p:nvSpPr>
          <p:cNvPr id="67" name="magnesium ion: electron, shell 2"/>
          <p:cNvSpPr/>
          <p:nvPr/>
        </p:nvSpPr>
        <p:spPr>
          <a:xfrm>
            <a:off x="4477162" y="2850626"/>
            <a:ext cx="73152" cy="73152"/>
          </a:xfrm>
          <a:prstGeom prst="ellipse">
            <a:avLst/>
          </a:prstGeom>
          <a:solidFill>
            <a:schemeClr val="accent1"/>
          </a:solidFill>
          <a:ln w="3175">
            <a:solidFill>
              <a:schemeClr val="accent1"/>
            </a:solidFill>
            <a:prstDash val="solid"/>
          </a:ln>
        </p:spPr>
      </p:sp>
      <p:sp>
        <p:nvSpPr>
          <p:cNvPr id="68" name="magnesium ion: electron, shell 2"/>
          <p:cNvSpPr/>
          <p:nvPr/>
        </p:nvSpPr>
        <p:spPr>
          <a:xfrm>
            <a:off x="4575398" y="2850626"/>
            <a:ext cx="73152" cy="73152"/>
          </a:xfrm>
          <a:prstGeom prst="ellipse">
            <a:avLst/>
          </a:prstGeom>
          <a:solidFill>
            <a:schemeClr val="accent1"/>
          </a:solidFill>
          <a:ln w="3175">
            <a:solidFill>
              <a:schemeClr val="accent1"/>
            </a:solidFill>
            <a:prstDash val="solid"/>
          </a:ln>
        </p:spPr>
      </p:sp>
      <p:sp>
        <p:nvSpPr>
          <p:cNvPr id="69" name="magnesium ion: electron, shell 2"/>
          <p:cNvSpPr/>
          <p:nvPr/>
        </p:nvSpPr>
        <p:spPr>
          <a:xfrm>
            <a:off x="4903486" y="3178714"/>
            <a:ext cx="73152" cy="73152"/>
          </a:xfrm>
          <a:prstGeom prst="ellipse">
            <a:avLst/>
          </a:prstGeom>
          <a:solidFill>
            <a:schemeClr val="accent1"/>
          </a:solidFill>
          <a:ln w="3175">
            <a:solidFill>
              <a:schemeClr val="accent1"/>
            </a:solidFill>
            <a:prstDash val="solid"/>
          </a:ln>
        </p:spPr>
      </p:sp>
      <p:sp>
        <p:nvSpPr>
          <p:cNvPr id="70" name="magnesium ion: electron, shell 2"/>
          <p:cNvSpPr/>
          <p:nvPr/>
        </p:nvSpPr>
        <p:spPr>
          <a:xfrm>
            <a:off x="4903486" y="3276950"/>
            <a:ext cx="73152" cy="73152"/>
          </a:xfrm>
          <a:prstGeom prst="ellipse">
            <a:avLst/>
          </a:prstGeom>
          <a:solidFill>
            <a:schemeClr val="accent1"/>
          </a:solidFill>
          <a:ln w="3175">
            <a:solidFill>
              <a:schemeClr val="accent1"/>
            </a:solidFill>
            <a:prstDash val="solid"/>
          </a:ln>
        </p:spPr>
      </p:sp>
      <p:sp>
        <p:nvSpPr>
          <p:cNvPr id="71" name="magnesium ion: electron, shell 2"/>
          <p:cNvSpPr/>
          <p:nvPr/>
        </p:nvSpPr>
        <p:spPr>
          <a:xfrm>
            <a:off x="4575398" y="3605038"/>
            <a:ext cx="73152" cy="73152"/>
          </a:xfrm>
          <a:prstGeom prst="ellipse">
            <a:avLst/>
          </a:prstGeom>
          <a:solidFill>
            <a:schemeClr val="accent1"/>
          </a:solidFill>
          <a:ln w="3175">
            <a:solidFill>
              <a:schemeClr val="accent1"/>
            </a:solidFill>
            <a:prstDash val="solid"/>
          </a:ln>
        </p:spPr>
      </p:sp>
      <p:sp>
        <p:nvSpPr>
          <p:cNvPr id="72" name="magnesium ion: electron, shell 2"/>
          <p:cNvSpPr/>
          <p:nvPr/>
        </p:nvSpPr>
        <p:spPr>
          <a:xfrm>
            <a:off x="4477162" y="3605038"/>
            <a:ext cx="73152" cy="73152"/>
          </a:xfrm>
          <a:prstGeom prst="ellipse">
            <a:avLst/>
          </a:prstGeom>
          <a:solidFill>
            <a:schemeClr val="accent1"/>
          </a:solidFill>
          <a:ln w="3175">
            <a:solidFill>
              <a:schemeClr val="accent1"/>
            </a:solidFill>
            <a:prstDash val="solid"/>
          </a:ln>
        </p:spPr>
      </p:sp>
      <p:sp>
        <p:nvSpPr>
          <p:cNvPr id="73" name="magnesium ion: electron, shell 2"/>
          <p:cNvSpPr/>
          <p:nvPr/>
        </p:nvSpPr>
        <p:spPr>
          <a:xfrm>
            <a:off x="4149074" y="3276950"/>
            <a:ext cx="73152" cy="73152"/>
          </a:xfrm>
          <a:prstGeom prst="ellipse">
            <a:avLst/>
          </a:prstGeom>
          <a:solidFill>
            <a:schemeClr val="accent1"/>
          </a:solidFill>
          <a:ln w="3175">
            <a:solidFill>
              <a:schemeClr val="accent1"/>
            </a:solidFill>
            <a:prstDash val="solid"/>
          </a:ln>
        </p:spPr>
      </p:sp>
      <p:sp>
        <p:nvSpPr>
          <p:cNvPr id="74" name="magnesium ion: electron, shell 2"/>
          <p:cNvSpPr/>
          <p:nvPr/>
        </p:nvSpPr>
        <p:spPr>
          <a:xfrm>
            <a:off x="4149074" y="3178714"/>
            <a:ext cx="73152" cy="73152"/>
          </a:xfrm>
          <a:prstGeom prst="ellipse">
            <a:avLst/>
          </a:prstGeom>
          <a:solidFill>
            <a:schemeClr val="accent1"/>
          </a:solidFill>
          <a:ln w="3175">
            <a:solidFill>
              <a:schemeClr val="accent1"/>
            </a:solidFill>
            <a:prstDash val="solid"/>
          </a:ln>
        </p:spPr>
      </p:sp>
      <p:sp>
        <p:nvSpPr>
          <p:cNvPr id="75" name="magnesium ion: left bracket"/>
          <p:cNvSpPr/>
          <p:nvPr/>
        </p:nvSpPr>
        <p:spPr>
          <a:xfrm>
            <a:off x="4104437" y="2805989"/>
            <a:ext cx="73152" cy="916838"/>
          </a:xfrm>
          <a:prstGeom prst="leftBracket">
            <a:avLst/>
          </a:prstGeom>
          <a:noFill/>
          <a:ln w="15875">
            <a:solidFill>
              <a:schemeClr val="bg1"/>
            </a:solidFill>
            <a:prstDash val="solid"/>
          </a:ln>
        </p:spPr>
      </p:sp>
      <p:sp>
        <p:nvSpPr>
          <p:cNvPr id="76" name="magnesium ion: right bracket"/>
          <p:cNvSpPr/>
          <p:nvPr/>
        </p:nvSpPr>
        <p:spPr>
          <a:xfrm>
            <a:off x="4948123" y="2805989"/>
            <a:ext cx="73152" cy="916838"/>
          </a:xfrm>
          <a:prstGeom prst="rightBracket">
            <a:avLst/>
          </a:prstGeom>
          <a:noFill/>
          <a:ln w="15875">
            <a:solidFill>
              <a:schemeClr val="bg1"/>
            </a:solidFill>
            <a:prstDash val="solid"/>
          </a:ln>
        </p:spPr>
      </p:sp>
      <p:sp>
        <p:nvSpPr>
          <p:cNvPr id="77" name="magnesium ion: charge"/>
          <p:cNvSpPr txBox="1"/>
          <p:nvPr/>
        </p:nvSpPr>
        <p:spPr>
          <a:xfrm>
            <a:off x="5039563" y="2729154"/>
            <a:ext cx="223520" cy="167640"/>
          </a:xfrm>
          <a:prstGeom prst="rect">
            <a:avLst/>
          </a:prstGeom>
          <a:noFill/>
          <a:ln/>
        </p:spPr>
        <p:txBody>
          <a:bodyPr wrap="square" lIns="0" tIns="0" rIns="0" bIns="0" rtlCol="0" anchor="t"/>
          <a:lstStyle/>
          <a:p>
            <a:pPr indent="0" marL="0">
              <a:buNone/>
            </a:pPr>
            <a:r>
              <a:rPr lang="en-US" sz="1100" b="1" dirty="0">
                <a:solidFill>
                  <a:schemeClr val="bg1"/>
                </a:solidFill>
              </a:rPr>
              <a:t>2+</a:t>
            </a:r>
            <a:endParaRPr lang="en-US" sz="1100" dirty="0"/>
          </a:p>
        </p:txBody>
      </p:sp>
      <p:sp>
        <p:nvSpPr>
          <p:cNvPr id="78" name="Text 76"/>
          <p:cNvSpPr txBox="1"/>
          <p:nvPr/>
        </p:nvSpPr>
        <p:spPr>
          <a:xfrm>
            <a:off x="3831336" y="3931920"/>
            <a:ext cx="1463040" cy="548640"/>
          </a:xfrm>
          <a:prstGeom prst="rect">
            <a:avLst/>
          </a:prstGeom>
          <a:noFill/>
          <a:ln/>
        </p:spPr>
        <p:txBody>
          <a:bodyPr wrap="square" lIns="0" tIns="0" rIns="0" bIns="0" rtlCol="0" anchor="ctr"/>
          <a:lstStyle/>
          <a:p>
            <a:pPr algn="ctr" indent="0" marL="0">
              <a:buNone/>
            </a:pPr>
            <a:r>
              <a:rPr lang="en-US" sz="1200" b="1" dirty="0">
                <a:solidFill>
                  <a:schemeClr val="accent4"/>
                </a:solidFill>
              </a:rPr>
              <a:t>Remove 2</a:t>
            </a:r>
            <a:endParaRPr lang="en-US" sz="1200" dirty="0"/>
          </a:p>
          <a:p>
            <a:pPr algn="ctr" indent="0" marL="0">
              <a:buNone/>
            </a:pPr>
            <a:r>
              <a:rPr lang="en-US" sz="1200" dirty="0">
                <a:solidFill>
                  <a:schemeClr val="bg1"/>
                </a:solidFill>
              </a:rPr>
              <a:t>12 p, 10 e → </a:t>
            </a:r>
            <a:pPr algn="ctr" indent="0" marL="0">
              <a:buNone/>
            </a:pPr>
            <a:r>
              <a:rPr lang="en-US" sz="1200" b="1" dirty="0">
                <a:solidFill>
                  <a:schemeClr val="bg1"/>
                </a:solidFill>
              </a:rPr>
              <a:t>Mg</a:t>
            </a:r>
            <a:pPr algn="ctr" indent="0" marL="0">
              <a:buNone/>
            </a:pPr>
            <a:r>
              <a:rPr lang="en-US" sz="1200" b="1" baseline="30000" dirty="0">
                <a:solidFill>
                  <a:schemeClr val="bg1"/>
                </a:solidFill>
              </a:rPr>
              <a:t>2+</a:t>
            </a:r>
            <a:endParaRPr lang="en-US" sz="1200" dirty="0"/>
          </a:p>
        </p:txBody>
      </p:sp>
      <p:sp>
        <p:nvSpPr>
          <p:cNvPr id="79" name="Mission 4"/>
          <p:cNvSpPr/>
          <p:nvPr/>
        </p:nvSpPr>
        <p:spPr>
          <a:xfrm>
            <a:off x="5449824" y="1691640"/>
            <a:ext cx="1554480" cy="2926080"/>
          </a:xfrm>
          <a:prstGeom prst="roundRect">
            <a:avLst>
              <a:gd name="adj" fmla="val 5882"/>
            </a:avLst>
          </a:prstGeom>
          <a:solidFill>
            <a:schemeClr val="tx2"/>
          </a:solidFill>
          <a:ln w="9525">
            <a:solidFill>
              <a:schemeClr val="bg2">
                <a:alpha val="30000"/>
              </a:schemeClr>
            </a:solidFill>
            <a:prstDash val="solid"/>
          </a:ln>
        </p:spPr>
      </p:sp>
      <p:sp>
        <p:nvSpPr>
          <p:cNvPr id="80" name="Text 78"/>
          <p:cNvSpPr txBox="1"/>
          <p:nvPr/>
        </p:nvSpPr>
        <p:spPr>
          <a:xfrm>
            <a:off x="5559552" y="1783080"/>
            <a:ext cx="1371600" cy="256032"/>
          </a:xfrm>
          <a:prstGeom prst="rect">
            <a:avLst/>
          </a:prstGeom>
          <a:noFill/>
          <a:ln/>
        </p:spPr>
        <p:txBody>
          <a:bodyPr wrap="square" lIns="0" tIns="0" rIns="0" bIns="0" rtlCol="0" anchor="t"/>
          <a:lstStyle/>
          <a:p>
            <a:pPr indent="0" marL="0">
              <a:buNone/>
            </a:pPr>
            <a:r>
              <a:rPr lang="en-US" sz="1200" b="1" dirty="0">
                <a:solidFill>
                  <a:schemeClr val="accent2"/>
                </a:solidFill>
              </a:rPr>
              <a:t>Mission 4</a:t>
            </a:r>
            <a:endParaRPr lang="en-US" sz="1200" dirty="0"/>
          </a:p>
        </p:txBody>
      </p:sp>
      <p:sp>
        <p:nvSpPr>
          <p:cNvPr id="81" name="Text 79"/>
          <p:cNvSpPr txBox="1"/>
          <p:nvPr/>
        </p:nvSpPr>
        <p:spPr>
          <a:xfrm>
            <a:off x="5559552" y="2057400"/>
            <a:ext cx="1353312" cy="566928"/>
          </a:xfrm>
          <a:prstGeom prst="rect">
            <a:avLst/>
          </a:prstGeom>
          <a:noFill/>
          <a:ln/>
        </p:spPr>
        <p:txBody>
          <a:bodyPr wrap="square" lIns="0" tIns="0" rIns="0" bIns="0" rtlCol="0" anchor="t"/>
          <a:lstStyle/>
          <a:p>
            <a:pPr indent="0" marL="0">
              <a:buNone/>
            </a:pPr>
            <a:r>
              <a:rPr lang="en-US" sz="1100" dirty="0">
                <a:solidFill>
                  <a:schemeClr val="bg1"/>
                </a:solidFill>
              </a:rPr>
              <a:t>Make an oxide ion with a −2 charge.</a:t>
            </a:r>
            <a:endParaRPr lang="en-US" sz="1100" dirty="0"/>
          </a:p>
        </p:txBody>
      </p:sp>
      <p:sp>
        <p:nvSpPr>
          <p:cNvPr id="82" name="oxide: shell 1"/>
          <p:cNvSpPr/>
          <p:nvPr/>
        </p:nvSpPr>
        <p:spPr>
          <a:xfrm>
            <a:off x="5992978" y="3030322"/>
            <a:ext cx="468173" cy="468173"/>
          </a:xfrm>
          <a:prstGeom prst="ellipse">
            <a:avLst/>
          </a:prstGeom>
          <a:solidFill>
            <a:schemeClr val="bg1">
              <a:alpha val="0"/>
            </a:schemeClr>
          </a:solidFill>
          <a:ln w="15875">
            <a:solidFill>
              <a:schemeClr val="bg2">
                <a:alpha val="55000"/>
              </a:schemeClr>
            </a:solidFill>
            <a:prstDash val="solid"/>
          </a:ln>
        </p:spPr>
      </p:sp>
      <p:sp>
        <p:nvSpPr>
          <p:cNvPr id="83" name="oxide: shell 2"/>
          <p:cNvSpPr/>
          <p:nvPr/>
        </p:nvSpPr>
        <p:spPr>
          <a:xfrm>
            <a:off x="5846674" y="2884018"/>
            <a:ext cx="760781" cy="760781"/>
          </a:xfrm>
          <a:prstGeom prst="ellipse">
            <a:avLst/>
          </a:prstGeom>
          <a:solidFill>
            <a:schemeClr val="bg1">
              <a:alpha val="0"/>
            </a:schemeClr>
          </a:solidFill>
          <a:ln w="15875">
            <a:solidFill>
              <a:schemeClr val="bg2">
                <a:alpha val="55000"/>
              </a:schemeClr>
            </a:solidFill>
            <a:prstDash val="solid"/>
          </a:ln>
        </p:spPr>
      </p:sp>
      <p:sp>
        <p:nvSpPr>
          <p:cNvPr id="84" name="oxide: nucleus"/>
          <p:cNvSpPr/>
          <p:nvPr/>
        </p:nvSpPr>
        <p:spPr>
          <a:xfrm>
            <a:off x="6075883" y="3113227"/>
            <a:ext cx="302362" cy="302362"/>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85" name="oxide: electron, shell 1"/>
          <p:cNvSpPr/>
          <p:nvPr/>
        </p:nvSpPr>
        <p:spPr>
          <a:xfrm>
            <a:off x="6190488" y="2993746"/>
            <a:ext cx="73152" cy="73152"/>
          </a:xfrm>
          <a:prstGeom prst="ellipse">
            <a:avLst/>
          </a:prstGeom>
          <a:solidFill>
            <a:schemeClr val="accent1"/>
          </a:solidFill>
          <a:ln w="3175">
            <a:solidFill>
              <a:schemeClr val="accent1"/>
            </a:solidFill>
            <a:prstDash val="solid"/>
          </a:ln>
        </p:spPr>
      </p:sp>
      <p:sp>
        <p:nvSpPr>
          <p:cNvPr id="86" name="oxide: electron, shell 1"/>
          <p:cNvSpPr/>
          <p:nvPr/>
        </p:nvSpPr>
        <p:spPr>
          <a:xfrm>
            <a:off x="6424574" y="3227832"/>
            <a:ext cx="73152" cy="73152"/>
          </a:xfrm>
          <a:prstGeom prst="ellipse">
            <a:avLst/>
          </a:prstGeom>
          <a:solidFill>
            <a:schemeClr val="accent1"/>
          </a:solidFill>
          <a:ln w="3175">
            <a:solidFill>
              <a:schemeClr val="accent1"/>
            </a:solidFill>
            <a:prstDash val="solid"/>
          </a:ln>
        </p:spPr>
      </p:sp>
      <p:sp>
        <p:nvSpPr>
          <p:cNvPr id="87" name="oxide: electron, shell 2"/>
          <p:cNvSpPr/>
          <p:nvPr/>
        </p:nvSpPr>
        <p:spPr>
          <a:xfrm>
            <a:off x="6141370" y="2850626"/>
            <a:ext cx="73152" cy="73152"/>
          </a:xfrm>
          <a:prstGeom prst="ellipse">
            <a:avLst/>
          </a:prstGeom>
          <a:solidFill>
            <a:schemeClr val="accent1"/>
          </a:solidFill>
          <a:ln w="3175">
            <a:solidFill>
              <a:schemeClr val="accent1"/>
            </a:solidFill>
            <a:prstDash val="solid"/>
          </a:ln>
        </p:spPr>
      </p:sp>
      <p:sp>
        <p:nvSpPr>
          <p:cNvPr id="88" name="oxide: electron, shell 2"/>
          <p:cNvSpPr/>
          <p:nvPr/>
        </p:nvSpPr>
        <p:spPr>
          <a:xfrm>
            <a:off x="6239606" y="2850626"/>
            <a:ext cx="73152" cy="73152"/>
          </a:xfrm>
          <a:prstGeom prst="ellipse">
            <a:avLst/>
          </a:prstGeom>
          <a:solidFill>
            <a:schemeClr val="accent1"/>
          </a:solidFill>
          <a:ln w="3175">
            <a:solidFill>
              <a:schemeClr val="accent1"/>
            </a:solidFill>
            <a:prstDash val="solid"/>
          </a:ln>
        </p:spPr>
      </p:sp>
      <p:sp>
        <p:nvSpPr>
          <p:cNvPr id="89" name="oxide: electron, shell 2"/>
          <p:cNvSpPr/>
          <p:nvPr/>
        </p:nvSpPr>
        <p:spPr>
          <a:xfrm>
            <a:off x="6567694" y="3178714"/>
            <a:ext cx="73152" cy="73152"/>
          </a:xfrm>
          <a:prstGeom prst="ellipse">
            <a:avLst/>
          </a:prstGeom>
          <a:solidFill>
            <a:schemeClr val="accent1"/>
          </a:solidFill>
          <a:ln w="3175">
            <a:solidFill>
              <a:schemeClr val="accent1"/>
            </a:solidFill>
            <a:prstDash val="solid"/>
          </a:ln>
        </p:spPr>
      </p:sp>
      <p:sp>
        <p:nvSpPr>
          <p:cNvPr id="90" name="oxide: electron, shell 2"/>
          <p:cNvSpPr/>
          <p:nvPr/>
        </p:nvSpPr>
        <p:spPr>
          <a:xfrm>
            <a:off x="6567694" y="3276950"/>
            <a:ext cx="73152" cy="73152"/>
          </a:xfrm>
          <a:prstGeom prst="ellipse">
            <a:avLst/>
          </a:prstGeom>
          <a:solidFill>
            <a:schemeClr val="accent1"/>
          </a:solidFill>
          <a:ln w="3175">
            <a:solidFill>
              <a:schemeClr val="accent1"/>
            </a:solidFill>
            <a:prstDash val="solid"/>
          </a:ln>
        </p:spPr>
      </p:sp>
      <p:sp>
        <p:nvSpPr>
          <p:cNvPr id="91" name="oxide: electron, shell 2"/>
          <p:cNvSpPr/>
          <p:nvPr/>
        </p:nvSpPr>
        <p:spPr>
          <a:xfrm>
            <a:off x="6239606" y="3605038"/>
            <a:ext cx="73152" cy="73152"/>
          </a:xfrm>
          <a:prstGeom prst="ellipse">
            <a:avLst/>
          </a:prstGeom>
          <a:solidFill>
            <a:schemeClr val="accent1"/>
          </a:solidFill>
          <a:ln w="3175">
            <a:solidFill>
              <a:schemeClr val="accent1"/>
            </a:solidFill>
            <a:prstDash val="solid"/>
          </a:ln>
        </p:spPr>
      </p:sp>
      <p:sp>
        <p:nvSpPr>
          <p:cNvPr id="92" name="oxide: gained electron, shell 2"/>
          <p:cNvSpPr/>
          <p:nvPr/>
        </p:nvSpPr>
        <p:spPr>
          <a:xfrm>
            <a:off x="6141370" y="3605038"/>
            <a:ext cx="73152" cy="73152"/>
          </a:xfrm>
          <a:prstGeom prst="ellipse">
            <a:avLst/>
          </a:prstGeom>
          <a:solidFill>
            <a:schemeClr val="accent6"/>
          </a:solidFill>
          <a:ln w="3175">
            <a:solidFill>
              <a:schemeClr val="accent6"/>
            </a:solidFill>
            <a:prstDash val="solid"/>
          </a:ln>
        </p:spPr>
      </p:sp>
      <p:sp>
        <p:nvSpPr>
          <p:cNvPr id="93" name="oxide: electron, shell 2"/>
          <p:cNvSpPr/>
          <p:nvPr/>
        </p:nvSpPr>
        <p:spPr>
          <a:xfrm>
            <a:off x="5813282" y="3276950"/>
            <a:ext cx="73152" cy="73152"/>
          </a:xfrm>
          <a:prstGeom prst="ellipse">
            <a:avLst/>
          </a:prstGeom>
          <a:solidFill>
            <a:schemeClr val="accent1"/>
          </a:solidFill>
          <a:ln w="3175">
            <a:solidFill>
              <a:schemeClr val="accent1"/>
            </a:solidFill>
            <a:prstDash val="solid"/>
          </a:ln>
        </p:spPr>
      </p:sp>
      <p:sp>
        <p:nvSpPr>
          <p:cNvPr id="94" name="oxide: gained electron, shell 2"/>
          <p:cNvSpPr/>
          <p:nvPr/>
        </p:nvSpPr>
        <p:spPr>
          <a:xfrm>
            <a:off x="5813282" y="3178714"/>
            <a:ext cx="73152" cy="73152"/>
          </a:xfrm>
          <a:prstGeom prst="ellipse">
            <a:avLst/>
          </a:prstGeom>
          <a:solidFill>
            <a:schemeClr val="accent6"/>
          </a:solidFill>
          <a:ln w="3175">
            <a:solidFill>
              <a:schemeClr val="accent6"/>
            </a:solidFill>
            <a:prstDash val="solid"/>
          </a:ln>
        </p:spPr>
      </p:sp>
      <p:sp>
        <p:nvSpPr>
          <p:cNvPr id="95" name="oxide: left bracket"/>
          <p:cNvSpPr/>
          <p:nvPr/>
        </p:nvSpPr>
        <p:spPr>
          <a:xfrm>
            <a:off x="5768645" y="2805989"/>
            <a:ext cx="73152" cy="916838"/>
          </a:xfrm>
          <a:prstGeom prst="leftBracket">
            <a:avLst/>
          </a:prstGeom>
          <a:noFill/>
          <a:ln w="15875">
            <a:solidFill>
              <a:schemeClr val="bg1"/>
            </a:solidFill>
            <a:prstDash val="solid"/>
          </a:ln>
        </p:spPr>
      </p:sp>
      <p:sp>
        <p:nvSpPr>
          <p:cNvPr id="96" name="oxide: right bracket"/>
          <p:cNvSpPr/>
          <p:nvPr/>
        </p:nvSpPr>
        <p:spPr>
          <a:xfrm>
            <a:off x="6612331" y="2805989"/>
            <a:ext cx="73152" cy="916838"/>
          </a:xfrm>
          <a:prstGeom prst="rightBracket">
            <a:avLst/>
          </a:prstGeom>
          <a:noFill/>
          <a:ln w="15875">
            <a:solidFill>
              <a:schemeClr val="bg1"/>
            </a:solidFill>
            <a:prstDash val="solid"/>
          </a:ln>
        </p:spPr>
      </p:sp>
      <p:sp>
        <p:nvSpPr>
          <p:cNvPr id="97" name="oxide: charge"/>
          <p:cNvSpPr txBox="1"/>
          <p:nvPr/>
        </p:nvSpPr>
        <p:spPr>
          <a:xfrm>
            <a:off x="6703771" y="2729154"/>
            <a:ext cx="223520" cy="167640"/>
          </a:xfrm>
          <a:prstGeom prst="rect">
            <a:avLst/>
          </a:prstGeom>
          <a:noFill/>
          <a:ln/>
        </p:spPr>
        <p:txBody>
          <a:bodyPr wrap="square" lIns="0" tIns="0" rIns="0" bIns="0" rtlCol="0" anchor="t"/>
          <a:lstStyle/>
          <a:p>
            <a:pPr indent="0" marL="0">
              <a:buNone/>
            </a:pPr>
            <a:r>
              <a:rPr lang="en-US" sz="1100" b="1" dirty="0">
                <a:solidFill>
                  <a:schemeClr val="bg1"/>
                </a:solidFill>
              </a:rPr>
              <a:t>2−</a:t>
            </a:r>
            <a:endParaRPr lang="en-US" sz="1100" dirty="0"/>
          </a:p>
        </p:txBody>
      </p:sp>
      <p:sp>
        <p:nvSpPr>
          <p:cNvPr id="98" name="Text 96"/>
          <p:cNvSpPr txBox="1"/>
          <p:nvPr/>
        </p:nvSpPr>
        <p:spPr>
          <a:xfrm>
            <a:off x="5495544" y="3931920"/>
            <a:ext cx="1463040" cy="548640"/>
          </a:xfrm>
          <a:prstGeom prst="rect">
            <a:avLst/>
          </a:prstGeom>
          <a:noFill/>
          <a:ln/>
        </p:spPr>
        <p:txBody>
          <a:bodyPr wrap="square" lIns="0" tIns="0" rIns="0" bIns="0" rtlCol="0" anchor="ctr"/>
          <a:lstStyle/>
          <a:p>
            <a:pPr algn="ctr" indent="0" marL="0">
              <a:buNone/>
            </a:pPr>
            <a:r>
              <a:rPr lang="en-US" sz="1200" b="1" dirty="0">
                <a:solidFill>
                  <a:schemeClr val="accent4"/>
                </a:solidFill>
              </a:rPr>
              <a:t>Add 2</a:t>
            </a:r>
            <a:endParaRPr lang="en-US" sz="1200" dirty="0"/>
          </a:p>
          <a:p>
            <a:pPr algn="ctr" indent="0" marL="0">
              <a:buNone/>
            </a:pPr>
            <a:r>
              <a:rPr lang="en-US" sz="1200" dirty="0">
                <a:solidFill>
                  <a:schemeClr val="bg1"/>
                </a:solidFill>
              </a:rPr>
              <a:t>8 p, 10 e → </a:t>
            </a:r>
            <a:pPr algn="ctr" indent="0" marL="0">
              <a:buNone/>
            </a:pPr>
            <a:r>
              <a:rPr lang="en-US" sz="1200" b="1" dirty="0">
                <a:solidFill>
                  <a:schemeClr val="bg1"/>
                </a:solidFill>
              </a:rPr>
              <a:t>O</a:t>
            </a:r>
            <a:pPr algn="ctr" indent="0" marL="0">
              <a:buNone/>
            </a:pPr>
            <a:r>
              <a:rPr lang="en-US" sz="1200" b="1" baseline="30000" dirty="0">
                <a:solidFill>
                  <a:schemeClr val="bg1"/>
                </a:solidFill>
              </a:rPr>
              <a:t>2−</a:t>
            </a:r>
            <a:endParaRPr lang="en-US" sz="1200" dirty="0"/>
          </a:p>
        </p:txBody>
      </p:sp>
      <p:sp>
        <p:nvSpPr>
          <p:cNvPr id="99" name="Mission 5"/>
          <p:cNvSpPr/>
          <p:nvPr/>
        </p:nvSpPr>
        <p:spPr>
          <a:xfrm>
            <a:off x="7114032" y="1691640"/>
            <a:ext cx="1554480" cy="2926080"/>
          </a:xfrm>
          <a:prstGeom prst="roundRect">
            <a:avLst>
              <a:gd name="adj" fmla="val 5882"/>
            </a:avLst>
          </a:prstGeom>
          <a:solidFill>
            <a:schemeClr val="tx2"/>
          </a:solidFill>
          <a:ln w="9525">
            <a:solidFill>
              <a:schemeClr val="bg2">
                <a:alpha val="30000"/>
              </a:schemeClr>
            </a:solidFill>
            <a:prstDash val="solid"/>
          </a:ln>
        </p:spPr>
      </p:sp>
      <p:sp>
        <p:nvSpPr>
          <p:cNvPr id="100" name="Text 98"/>
          <p:cNvSpPr txBox="1"/>
          <p:nvPr/>
        </p:nvSpPr>
        <p:spPr>
          <a:xfrm>
            <a:off x="7223760" y="1783080"/>
            <a:ext cx="1371600" cy="256032"/>
          </a:xfrm>
          <a:prstGeom prst="rect">
            <a:avLst/>
          </a:prstGeom>
          <a:noFill/>
          <a:ln/>
        </p:spPr>
        <p:txBody>
          <a:bodyPr wrap="square" lIns="0" tIns="0" rIns="0" bIns="0" rtlCol="0" anchor="t"/>
          <a:lstStyle/>
          <a:p>
            <a:pPr indent="0" marL="0">
              <a:buNone/>
            </a:pPr>
            <a:r>
              <a:rPr lang="en-US" sz="1200" b="1" dirty="0">
                <a:solidFill>
                  <a:schemeClr val="accent2"/>
                </a:solidFill>
              </a:rPr>
              <a:t>Mission 5</a:t>
            </a:r>
            <a:endParaRPr lang="en-US" sz="1200" dirty="0"/>
          </a:p>
        </p:txBody>
      </p:sp>
      <p:sp>
        <p:nvSpPr>
          <p:cNvPr id="101" name="Text 99"/>
          <p:cNvSpPr txBox="1"/>
          <p:nvPr/>
        </p:nvSpPr>
        <p:spPr>
          <a:xfrm>
            <a:off x="7223760" y="2057400"/>
            <a:ext cx="1353312" cy="566928"/>
          </a:xfrm>
          <a:prstGeom prst="rect">
            <a:avLst/>
          </a:prstGeom>
          <a:noFill/>
          <a:ln/>
        </p:spPr>
        <p:txBody>
          <a:bodyPr wrap="square" lIns="0" tIns="0" rIns="0" bIns="0" rtlCol="0" anchor="t"/>
          <a:lstStyle/>
          <a:p>
            <a:pPr indent="0" marL="0">
              <a:buNone/>
            </a:pPr>
            <a:r>
              <a:rPr lang="en-US" sz="1100" dirty="0">
                <a:solidFill>
                  <a:schemeClr val="bg1"/>
                </a:solidFill>
              </a:rPr>
              <a:t>Give aluminum a +3 charge.</a:t>
            </a:r>
            <a:endParaRPr lang="en-US" sz="1100" dirty="0"/>
          </a:p>
        </p:txBody>
      </p:sp>
      <p:sp>
        <p:nvSpPr>
          <p:cNvPr id="102" name="aluminum ion: shell 1"/>
          <p:cNvSpPr/>
          <p:nvPr/>
        </p:nvSpPr>
        <p:spPr>
          <a:xfrm>
            <a:off x="7657186" y="3030322"/>
            <a:ext cx="468173" cy="468173"/>
          </a:xfrm>
          <a:prstGeom prst="ellipse">
            <a:avLst/>
          </a:prstGeom>
          <a:solidFill>
            <a:schemeClr val="bg1">
              <a:alpha val="0"/>
            </a:schemeClr>
          </a:solidFill>
          <a:ln w="15875">
            <a:solidFill>
              <a:schemeClr val="bg2">
                <a:alpha val="55000"/>
              </a:schemeClr>
            </a:solidFill>
            <a:prstDash val="solid"/>
          </a:ln>
        </p:spPr>
      </p:sp>
      <p:sp>
        <p:nvSpPr>
          <p:cNvPr id="103" name="aluminum ion: shell 2"/>
          <p:cNvSpPr/>
          <p:nvPr/>
        </p:nvSpPr>
        <p:spPr>
          <a:xfrm>
            <a:off x="7510882" y="2884018"/>
            <a:ext cx="760781" cy="760781"/>
          </a:xfrm>
          <a:prstGeom prst="ellipse">
            <a:avLst/>
          </a:prstGeom>
          <a:solidFill>
            <a:schemeClr val="bg1">
              <a:alpha val="0"/>
            </a:schemeClr>
          </a:solidFill>
          <a:ln w="15875">
            <a:solidFill>
              <a:schemeClr val="bg2">
                <a:alpha val="55000"/>
              </a:schemeClr>
            </a:solidFill>
            <a:prstDash val="solid"/>
          </a:ln>
        </p:spPr>
      </p:sp>
      <p:sp>
        <p:nvSpPr>
          <p:cNvPr id="104" name="aluminum ion: nucleus"/>
          <p:cNvSpPr/>
          <p:nvPr/>
        </p:nvSpPr>
        <p:spPr>
          <a:xfrm>
            <a:off x="7740091" y="3113227"/>
            <a:ext cx="302362" cy="302362"/>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105" name="aluminum ion: electron, shell 1"/>
          <p:cNvSpPr/>
          <p:nvPr/>
        </p:nvSpPr>
        <p:spPr>
          <a:xfrm>
            <a:off x="7854696" y="2993746"/>
            <a:ext cx="73152" cy="73152"/>
          </a:xfrm>
          <a:prstGeom prst="ellipse">
            <a:avLst/>
          </a:prstGeom>
          <a:solidFill>
            <a:schemeClr val="accent1"/>
          </a:solidFill>
          <a:ln w="3175">
            <a:solidFill>
              <a:schemeClr val="accent1"/>
            </a:solidFill>
            <a:prstDash val="solid"/>
          </a:ln>
        </p:spPr>
      </p:sp>
      <p:sp>
        <p:nvSpPr>
          <p:cNvPr id="106" name="aluminum ion: electron, shell 1"/>
          <p:cNvSpPr/>
          <p:nvPr/>
        </p:nvSpPr>
        <p:spPr>
          <a:xfrm>
            <a:off x="8088782" y="3227832"/>
            <a:ext cx="73152" cy="73152"/>
          </a:xfrm>
          <a:prstGeom prst="ellipse">
            <a:avLst/>
          </a:prstGeom>
          <a:solidFill>
            <a:schemeClr val="accent1"/>
          </a:solidFill>
          <a:ln w="3175">
            <a:solidFill>
              <a:schemeClr val="accent1"/>
            </a:solidFill>
            <a:prstDash val="solid"/>
          </a:ln>
        </p:spPr>
      </p:sp>
      <p:sp>
        <p:nvSpPr>
          <p:cNvPr id="107" name="aluminum ion: electron, shell 2"/>
          <p:cNvSpPr/>
          <p:nvPr/>
        </p:nvSpPr>
        <p:spPr>
          <a:xfrm>
            <a:off x="7805578" y="2850626"/>
            <a:ext cx="73152" cy="73152"/>
          </a:xfrm>
          <a:prstGeom prst="ellipse">
            <a:avLst/>
          </a:prstGeom>
          <a:solidFill>
            <a:schemeClr val="accent1"/>
          </a:solidFill>
          <a:ln w="3175">
            <a:solidFill>
              <a:schemeClr val="accent1"/>
            </a:solidFill>
            <a:prstDash val="solid"/>
          </a:ln>
        </p:spPr>
      </p:sp>
      <p:sp>
        <p:nvSpPr>
          <p:cNvPr id="108" name="aluminum ion: electron, shell 2"/>
          <p:cNvSpPr/>
          <p:nvPr/>
        </p:nvSpPr>
        <p:spPr>
          <a:xfrm>
            <a:off x="7903814" y="2850626"/>
            <a:ext cx="73152" cy="73152"/>
          </a:xfrm>
          <a:prstGeom prst="ellipse">
            <a:avLst/>
          </a:prstGeom>
          <a:solidFill>
            <a:schemeClr val="accent1"/>
          </a:solidFill>
          <a:ln w="3175">
            <a:solidFill>
              <a:schemeClr val="accent1"/>
            </a:solidFill>
            <a:prstDash val="solid"/>
          </a:ln>
        </p:spPr>
      </p:sp>
      <p:sp>
        <p:nvSpPr>
          <p:cNvPr id="109" name="aluminum ion: electron, shell 2"/>
          <p:cNvSpPr/>
          <p:nvPr/>
        </p:nvSpPr>
        <p:spPr>
          <a:xfrm>
            <a:off x="8231902" y="3178714"/>
            <a:ext cx="73152" cy="73152"/>
          </a:xfrm>
          <a:prstGeom prst="ellipse">
            <a:avLst/>
          </a:prstGeom>
          <a:solidFill>
            <a:schemeClr val="accent1"/>
          </a:solidFill>
          <a:ln w="3175">
            <a:solidFill>
              <a:schemeClr val="accent1"/>
            </a:solidFill>
            <a:prstDash val="solid"/>
          </a:ln>
        </p:spPr>
      </p:sp>
      <p:sp>
        <p:nvSpPr>
          <p:cNvPr id="110" name="aluminum ion: electron, shell 2"/>
          <p:cNvSpPr/>
          <p:nvPr/>
        </p:nvSpPr>
        <p:spPr>
          <a:xfrm>
            <a:off x="8231902" y="3276950"/>
            <a:ext cx="73152" cy="73152"/>
          </a:xfrm>
          <a:prstGeom prst="ellipse">
            <a:avLst/>
          </a:prstGeom>
          <a:solidFill>
            <a:schemeClr val="accent1"/>
          </a:solidFill>
          <a:ln w="3175">
            <a:solidFill>
              <a:schemeClr val="accent1"/>
            </a:solidFill>
            <a:prstDash val="solid"/>
          </a:ln>
        </p:spPr>
      </p:sp>
      <p:sp>
        <p:nvSpPr>
          <p:cNvPr id="111" name="aluminum ion: electron, shell 2"/>
          <p:cNvSpPr/>
          <p:nvPr/>
        </p:nvSpPr>
        <p:spPr>
          <a:xfrm>
            <a:off x="7903814" y="3605038"/>
            <a:ext cx="73152" cy="73152"/>
          </a:xfrm>
          <a:prstGeom prst="ellipse">
            <a:avLst/>
          </a:prstGeom>
          <a:solidFill>
            <a:schemeClr val="accent1"/>
          </a:solidFill>
          <a:ln w="3175">
            <a:solidFill>
              <a:schemeClr val="accent1"/>
            </a:solidFill>
            <a:prstDash val="solid"/>
          </a:ln>
        </p:spPr>
      </p:sp>
      <p:sp>
        <p:nvSpPr>
          <p:cNvPr id="112" name="aluminum ion: electron, shell 2"/>
          <p:cNvSpPr/>
          <p:nvPr/>
        </p:nvSpPr>
        <p:spPr>
          <a:xfrm>
            <a:off x="7805578" y="3605038"/>
            <a:ext cx="73152" cy="73152"/>
          </a:xfrm>
          <a:prstGeom prst="ellipse">
            <a:avLst/>
          </a:prstGeom>
          <a:solidFill>
            <a:schemeClr val="accent1"/>
          </a:solidFill>
          <a:ln w="3175">
            <a:solidFill>
              <a:schemeClr val="accent1"/>
            </a:solidFill>
            <a:prstDash val="solid"/>
          </a:ln>
        </p:spPr>
      </p:sp>
      <p:sp>
        <p:nvSpPr>
          <p:cNvPr id="113" name="aluminum ion: electron, shell 2"/>
          <p:cNvSpPr/>
          <p:nvPr/>
        </p:nvSpPr>
        <p:spPr>
          <a:xfrm>
            <a:off x="7477490" y="3276950"/>
            <a:ext cx="73152" cy="73152"/>
          </a:xfrm>
          <a:prstGeom prst="ellipse">
            <a:avLst/>
          </a:prstGeom>
          <a:solidFill>
            <a:schemeClr val="accent1"/>
          </a:solidFill>
          <a:ln w="3175">
            <a:solidFill>
              <a:schemeClr val="accent1"/>
            </a:solidFill>
            <a:prstDash val="solid"/>
          </a:ln>
        </p:spPr>
      </p:sp>
      <p:sp>
        <p:nvSpPr>
          <p:cNvPr id="114" name="aluminum ion: electron, shell 2"/>
          <p:cNvSpPr/>
          <p:nvPr/>
        </p:nvSpPr>
        <p:spPr>
          <a:xfrm>
            <a:off x="7477490" y="3178714"/>
            <a:ext cx="73152" cy="73152"/>
          </a:xfrm>
          <a:prstGeom prst="ellipse">
            <a:avLst/>
          </a:prstGeom>
          <a:solidFill>
            <a:schemeClr val="accent1"/>
          </a:solidFill>
          <a:ln w="3175">
            <a:solidFill>
              <a:schemeClr val="accent1"/>
            </a:solidFill>
            <a:prstDash val="solid"/>
          </a:ln>
        </p:spPr>
      </p:sp>
      <p:sp>
        <p:nvSpPr>
          <p:cNvPr id="115" name="aluminum ion: left bracket"/>
          <p:cNvSpPr/>
          <p:nvPr/>
        </p:nvSpPr>
        <p:spPr>
          <a:xfrm>
            <a:off x="7432853" y="2805989"/>
            <a:ext cx="73152" cy="916838"/>
          </a:xfrm>
          <a:prstGeom prst="leftBracket">
            <a:avLst/>
          </a:prstGeom>
          <a:noFill/>
          <a:ln w="15875">
            <a:solidFill>
              <a:schemeClr val="bg1"/>
            </a:solidFill>
            <a:prstDash val="solid"/>
          </a:ln>
        </p:spPr>
      </p:sp>
      <p:sp>
        <p:nvSpPr>
          <p:cNvPr id="116" name="aluminum ion: right bracket"/>
          <p:cNvSpPr/>
          <p:nvPr/>
        </p:nvSpPr>
        <p:spPr>
          <a:xfrm>
            <a:off x="8276539" y="2805989"/>
            <a:ext cx="73152" cy="916838"/>
          </a:xfrm>
          <a:prstGeom prst="rightBracket">
            <a:avLst/>
          </a:prstGeom>
          <a:noFill/>
          <a:ln w="15875">
            <a:solidFill>
              <a:schemeClr val="bg1"/>
            </a:solidFill>
            <a:prstDash val="solid"/>
          </a:ln>
        </p:spPr>
      </p:sp>
      <p:sp>
        <p:nvSpPr>
          <p:cNvPr id="117" name="aluminum ion: charge"/>
          <p:cNvSpPr txBox="1"/>
          <p:nvPr/>
        </p:nvSpPr>
        <p:spPr>
          <a:xfrm>
            <a:off x="8367979" y="2729154"/>
            <a:ext cx="223520" cy="167640"/>
          </a:xfrm>
          <a:prstGeom prst="rect">
            <a:avLst/>
          </a:prstGeom>
          <a:noFill/>
          <a:ln/>
        </p:spPr>
        <p:txBody>
          <a:bodyPr wrap="square" lIns="0" tIns="0" rIns="0" bIns="0" rtlCol="0" anchor="t"/>
          <a:lstStyle/>
          <a:p>
            <a:pPr indent="0" marL="0">
              <a:buNone/>
            </a:pPr>
            <a:r>
              <a:rPr lang="en-US" sz="1100" b="1" dirty="0">
                <a:solidFill>
                  <a:schemeClr val="bg1"/>
                </a:solidFill>
              </a:rPr>
              <a:t>3+</a:t>
            </a:r>
            <a:endParaRPr lang="en-US" sz="1100" dirty="0"/>
          </a:p>
        </p:txBody>
      </p:sp>
      <p:sp>
        <p:nvSpPr>
          <p:cNvPr id="118" name="Text 116"/>
          <p:cNvSpPr txBox="1"/>
          <p:nvPr/>
        </p:nvSpPr>
        <p:spPr>
          <a:xfrm>
            <a:off x="7159752" y="3931920"/>
            <a:ext cx="1463040" cy="548640"/>
          </a:xfrm>
          <a:prstGeom prst="rect">
            <a:avLst/>
          </a:prstGeom>
          <a:noFill/>
          <a:ln/>
        </p:spPr>
        <p:txBody>
          <a:bodyPr wrap="square" lIns="0" tIns="0" rIns="0" bIns="0" rtlCol="0" anchor="ctr"/>
          <a:lstStyle/>
          <a:p>
            <a:pPr algn="ctr" indent="0" marL="0">
              <a:buNone/>
            </a:pPr>
            <a:r>
              <a:rPr lang="en-US" sz="1200" b="1" dirty="0">
                <a:solidFill>
                  <a:schemeClr val="accent4"/>
                </a:solidFill>
              </a:rPr>
              <a:t>Remove 3</a:t>
            </a:r>
            <a:endParaRPr lang="en-US" sz="1200" dirty="0"/>
          </a:p>
          <a:p>
            <a:pPr algn="ctr" indent="0" marL="0">
              <a:buNone/>
            </a:pPr>
            <a:r>
              <a:rPr lang="en-US" sz="1200" dirty="0">
                <a:solidFill>
                  <a:schemeClr val="bg1"/>
                </a:solidFill>
              </a:rPr>
              <a:t>13 p, 10 e → </a:t>
            </a:r>
            <a:pPr algn="ctr" indent="0" marL="0">
              <a:buNone/>
            </a:pPr>
            <a:r>
              <a:rPr lang="en-US" sz="1200" b="1" dirty="0">
                <a:solidFill>
                  <a:schemeClr val="bg1"/>
                </a:solidFill>
              </a:rPr>
              <a:t>Al</a:t>
            </a:r>
            <a:pPr algn="ctr" indent="0" marL="0">
              <a:buNone/>
            </a:pPr>
            <a:r>
              <a:rPr lang="en-US" sz="1200" b="1" baseline="30000" dirty="0">
                <a:solidFill>
                  <a:schemeClr val="bg1"/>
                </a:solidFill>
              </a:rPr>
              <a:t>3+</a:t>
            </a:r>
            <a:endParaRPr lang="en-US" sz="12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ection tile 2"/>
          <p:cNvSpPr/>
          <p:nvPr/>
        </p:nvSpPr>
        <p:spPr>
          <a:xfrm>
            <a:off x="457200" y="301752"/>
            <a:ext cx="749808" cy="841248"/>
          </a:xfrm>
          <a:prstGeom prst="roundRect">
            <a:avLst>
              <a:gd name="adj" fmla="val 12000"/>
            </a:avLst>
          </a:prstGeom>
          <a:solidFill>
            <a:srgbClr val="60A5FA">
              <a:alpha val="28000"/>
            </a:srgbClr>
          </a:solidFill>
          <a:ln w="19050">
            <a:solidFill>
              <a:srgbClr val="60A5FA"/>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2</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2400" b="1" dirty="0">
                <a:solidFill>
                  <a:schemeClr val="bg1"/>
                </a:solidFill>
              </a:rPr>
              <a:t>Na</a:t>
            </a:r>
            <a:pPr algn="ctr" indent="0" marL="0">
              <a:buNone/>
            </a:pPr>
            <a:r>
              <a:rPr lang="en-US" sz="2400" b="1" baseline="30000" dirty="0">
                <a:solidFill>
                  <a:schemeClr val="bg1"/>
                </a:solidFill>
              </a:rPr>
              <a:t>+</a:t>
            </a:r>
            <a:endParaRPr lang="en-US" sz="2400" dirty="0"/>
          </a:p>
        </p:txBody>
      </p:sp>
      <p:sp>
        <p:nvSpPr>
          <p:cNvPr id="5" name="Text 3"/>
          <p:cNvSpPr/>
          <p:nvPr/>
        </p:nvSpPr>
        <p:spPr>
          <a:xfrm>
            <a:off x="1417320" y="31089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6" name="Text 4"/>
          <p:cNvSpPr txBox="1"/>
          <p:nvPr/>
        </p:nvSpPr>
        <p:spPr>
          <a:xfrm>
            <a:off x="260604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2 of 9</a:t>
            </a:r>
            <a:endParaRPr lang="en-US" sz="1200" dirty="0"/>
          </a:p>
        </p:txBody>
      </p:sp>
      <p:sp>
        <p:nvSpPr>
          <p:cNvPr id="7" name="Text 0"/>
          <p:cNvSpPr/>
          <p:nvPr>
            <p:ph idx="100" type="title" hasCustomPrompt="1"/>
          </p:nvPr>
        </p:nvSpPr>
        <p:spPr>
          <a:xfrm>
            <a:off x="1417320" y="658368"/>
            <a:ext cx="7269480" cy="841248"/>
          </a:xfrm>
          <a:prstGeom prst="rect">
            <a:avLst/>
          </a:prstGeom>
          <a:noFill/>
          <a:ln/>
        </p:spPr>
        <p:txBody>
          <a:bodyPr wrap="square" lIns="0" tIns="0" rIns="0" bIns="0" rtlCol="0" anchor="t"/>
          <a:lstStyle/>
          <a:p>
            <a:pPr algn="l" indent="0" marL="0">
              <a:buNone/>
            </a:pPr>
            <a:r>
              <a:rPr lang="en-US" sz="2000" b="1" dirty="0">
                <a:solidFill>
                  <a:schemeClr val="bg1"/>
                </a:solidFill>
              </a:rPr>
              <a:t>An ion has 8 protons and 10 electrons. What is its charge?</a:t>
            </a:r>
            <a:endParaRPr lang="en-US" sz="2000" dirty="0"/>
          </a:p>
        </p:txBody>
      </p:sp>
      <p:sp>
        <p:nvSpPr>
          <p:cNvPr id="8" name="Option A"/>
          <p:cNvSpPr/>
          <p:nvPr/>
        </p:nvSpPr>
        <p:spPr>
          <a:xfrm>
            <a:off x="457200" y="1645920"/>
            <a:ext cx="8229600" cy="457200"/>
          </a:xfrm>
          <a:prstGeom prst="roundRect">
            <a:avLst>
              <a:gd name="adj" fmla="val 18000"/>
            </a:avLst>
          </a:prstGeom>
          <a:solidFill>
            <a:schemeClr val="tx2"/>
          </a:solidFill>
          <a:ln w="9525">
            <a:solidFill>
              <a:schemeClr val="bg2">
                <a:alpha val="35000"/>
              </a:schemeClr>
            </a:solidFill>
            <a:prstDash val="solid"/>
          </a:ln>
        </p:spPr>
      </p:sp>
      <p:sp>
        <p:nvSpPr>
          <p:cNvPr id="9" name="Text 7"/>
          <p:cNvSpPr/>
          <p:nvPr/>
        </p:nvSpPr>
        <p:spPr>
          <a:xfrm>
            <a:off x="548640" y="1719072"/>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10" name="Text 8"/>
          <p:cNvSpPr txBox="1"/>
          <p:nvPr/>
        </p:nvSpPr>
        <p:spPr>
          <a:xfrm>
            <a:off x="969264" y="1645920"/>
            <a:ext cx="7626096" cy="457200"/>
          </a:xfrm>
          <a:prstGeom prst="rect">
            <a:avLst/>
          </a:prstGeom>
          <a:noFill/>
          <a:ln/>
        </p:spPr>
        <p:txBody>
          <a:bodyPr wrap="square" lIns="0" tIns="0" rIns="0" bIns="0" rtlCol="0" anchor="ctr"/>
          <a:lstStyle/>
          <a:p>
            <a:pPr indent="0" marL="0">
              <a:buNone/>
            </a:pPr>
            <a:r>
              <a:rPr lang="en-US" sz="1600" dirty="0">
                <a:solidFill>
                  <a:schemeClr val="bg1"/>
                </a:solidFill>
              </a:rPr>
              <a:t>+2</a:t>
            </a:r>
            <a:endParaRPr lang="en-US" sz="1600" dirty="0"/>
          </a:p>
        </p:txBody>
      </p:sp>
      <p:sp>
        <p:nvSpPr>
          <p:cNvPr id="11" name="Option B"/>
          <p:cNvSpPr/>
          <p:nvPr/>
        </p:nvSpPr>
        <p:spPr>
          <a:xfrm>
            <a:off x="457200" y="2231136"/>
            <a:ext cx="8229600" cy="457200"/>
          </a:xfrm>
          <a:prstGeom prst="roundRect">
            <a:avLst>
              <a:gd name="adj" fmla="val 18000"/>
            </a:avLst>
          </a:prstGeom>
          <a:solidFill>
            <a:schemeClr val="tx2"/>
          </a:solidFill>
          <a:ln w="9525">
            <a:solidFill>
              <a:schemeClr val="bg2">
                <a:alpha val="35000"/>
              </a:schemeClr>
            </a:solidFill>
            <a:prstDash val="solid"/>
          </a:ln>
        </p:spPr>
      </p:sp>
      <p:sp>
        <p:nvSpPr>
          <p:cNvPr id="12" name="Text 10"/>
          <p:cNvSpPr/>
          <p:nvPr/>
        </p:nvSpPr>
        <p:spPr>
          <a:xfrm>
            <a:off x="548640" y="2304288"/>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13" name="Text 11"/>
          <p:cNvSpPr txBox="1"/>
          <p:nvPr/>
        </p:nvSpPr>
        <p:spPr>
          <a:xfrm>
            <a:off x="969264" y="2231136"/>
            <a:ext cx="7626096" cy="457200"/>
          </a:xfrm>
          <a:prstGeom prst="rect">
            <a:avLst/>
          </a:prstGeom>
          <a:noFill/>
          <a:ln/>
        </p:spPr>
        <p:txBody>
          <a:bodyPr wrap="square" lIns="0" tIns="0" rIns="0" bIns="0" rtlCol="0" anchor="ctr"/>
          <a:lstStyle/>
          <a:p>
            <a:pPr indent="0" marL="0">
              <a:buNone/>
            </a:pPr>
            <a:r>
              <a:rPr lang="en-US" sz="1600" dirty="0">
                <a:solidFill>
                  <a:schemeClr val="bg1"/>
                </a:solidFill>
              </a:rPr>
              <a:t>−2</a:t>
            </a:r>
            <a:endParaRPr lang="en-US" sz="1600" dirty="0"/>
          </a:p>
        </p:txBody>
      </p:sp>
      <p:sp>
        <p:nvSpPr>
          <p:cNvPr id="14" name="Option C"/>
          <p:cNvSpPr/>
          <p:nvPr/>
        </p:nvSpPr>
        <p:spPr>
          <a:xfrm>
            <a:off x="457200" y="2816352"/>
            <a:ext cx="8229600" cy="457200"/>
          </a:xfrm>
          <a:prstGeom prst="roundRect">
            <a:avLst>
              <a:gd name="adj" fmla="val 18000"/>
            </a:avLst>
          </a:prstGeom>
          <a:solidFill>
            <a:schemeClr val="tx2"/>
          </a:solidFill>
          <a:ln w="9525">
            <a:solidFill>
              <a:schemeClr val="bg2">
                <a:alpha val="35000"/>
              </a:schemeClr>
            </a:solidFill>
            <a:prstDash val="solid"/>
          </a:ln>
        </p:spPr>
      </p:sp>
      <p:sp>
        <p:nvSpPr>
          <p:cNvPr id="15" name="Text 13"/>
          <p:cNvSpPr/>
          <p:nvPr/>
        </p:nvSpPr>
        <p:spPr>
          <a:xfrm>
            <a:off x="548640" y="2889504"/>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6" name="Text 14"/>
          <p:cNvSpPr txBox="1"/>
          <p:nvPr/>
        </p:nvSpPr>
        <p:spPr>
          <a:xfrm>
            <a:off x="969264" y="2816352"/>
            <a:ext cx="7626096" cy="457200"/>
          </a:xfrm>
          <a:prstGeom prst="rect">
            <a:avLst/>
          </a:prstGeom>
          <a:noFill/>
          <a:ln/>
        </p:spPr>
        <p:txBody>
          <a:bodyPr wrap="square" lIns="0" tIns="0" rIns="0" bIns="0" rtlCol="0" anchor="ctr"/>
          <a:lstStyle/>
          <a:p>
            <a:pPr indent="0" marL="0">
              <a:buNone/>
            </a:pPr>
            <a:r>
              <a:rPr lang="en-US" sz="1600" dirty="0">
                <a:solidFill>
                  <a:schemeClr val="bg1"/>
                </a:solidFill>
              </a:rPr>
              <a:t>+18</a:t>
            </a:r>
            <a:endParaRPr lang="en-US" sz="1600" dirty="0"/>
          </a:p>
        </p:txBody>
      </p:sp>
      <p:sp>
        <p:nvSpPr>
          <p:cNvPr id="17" name="Option D"/>
          <p:cNvSpPr/>
          <p:nvPr/>
        </p:nvSpPr>
        <p:spPr>
          <a:xfrm>
            <a:off x="457200" y="3401568"/>
            <a:ext cx="8229600" cy="457200"/>
          </a:xfrm>
          <a:prstGeom prst="roundRect">
            <a:avLst>
              <a:gd name="adj" fmla="val 18000"/>
            </a:avLst>
          </a:prstGeom>
          <a:solidFill>
            <a:schemeClr val="tx2"/>
          </a:solidFill>
          <a:ln w="9525">
            <a:solidFill>
              <a:schemeClr val="bg2">
                <a:alpha val="35000"/>
              </a:schemeClr>
            </a:solidFill>
            <a:prstDash val="solid"/>
          </a:ln>
        </p:spPr>
      </p:sp>
      <p:sp>
        <p:nvSpPr>
          <p:cNvPr id="18" name="Text 16"/>
          <p:cNvSpPr/>
          <p:nvPr/>
        </p:nvSpPr>
        <p:spPr>
          <a:xfrm>
            <a:off x="548640" y="3474720"/>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19" name="Text 17"/>
          <p:cNvSpPr txBox="1"/>
          <p:nvPr/>
        </p:nvSpPr>
        <p:spPr>
          <a:xfrm>
            <a:off x="969264" y="3401568"/>
            <a:ext cx="7626096" cy="457200"/>
          </a:xfrm>
          <a:prstGeom prst="rect">
            <a:avLst/>
          </a:prstGeom>
          <a:noFill/>
          <a:ln/>
        </p:spPr>
        <p:txBody>
          <a:bodyPr wrap="square" lIns="0" tIns="0" rIns="0" bIns="0" rtlCol="0" anchor="ctr"/>
          <a:lstStyle/>
          <a:p>
            <a:pPr indent="0" marL="0">
              <a:buNone/>
            </a:pPr>
            <a:r>
              <a:rPr lang="en-US" sz="1600" dirty="0">
                <a:solidFill>
                  <a:schemeClr val="bg1"/>
                </a:solidFill>
              </a:rPr>
              <a:t>−10</a:t>
            </a:r>
            <a:endParaRPr lang="en-US" sz="16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ection tile 2"/>
          <p:cNvSpPr/>
          <p:nvPr/>
        </p:nvSpPr>
        <p:spPr>
          <a:xfrm>
            <a:off x="457200" y="301752"/>
            <a:ext cx="749808" cy="841248"/>
          </a:xfrm>
          <a:prstGeom prst="roundRect">
            <a:avLst>
              <a:gd name="adj" fmla="val 12000"/>
            </a:avLst>
          </a:prstGeom>
          <a:solidFill>
            <a:srgbClr val="60A5FA">
              <a:alpha val="28000"/>
            </a:srgbClr>
          </a:solidFill>
          <a:ln w="19050">
            <a:solidFill>
              <a:srgbClr val="60A5FA"/>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2</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2400" b="1" dirty="0">
                <a:solidFill>
                  <a:schemeClr val="bg1"/>
                </a:solidFill>
              </a:rPr>
              <a:t>Na</a:t>
            </a:r>
            <a:pPr algn="ctr" indent="0" marL="0">
              <a:buNone/>
            </a:pPr>
            <a:r>
              <a:rPr lang="en-US" sz="2400" b="1" baseline="30000" dirty="0">
                <a:solidFill>
                  <a:schemeClr val="bg1"/>
                </a:solidFill>
              </a:rPr>
              <a:t>+</a:t>
            </a:r>
            <a:endParaRPr lang="en-US" sz="2400" dirty="0"/>
          </a:p>
        </p:txBody>
      </p:sp>
      <p:sp>
        <p:nvSpPr>
          <p:cNvPr id="5" name="Text 3"/>
          <p:cNvSpPr/>
          <p:nvPr/>
        </p:nvSpPr>
        <p:spPr>
          <a:xfrm>
            <a:off x="1417320" y="31089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6" name="Text 4"/>
          <p:cNvSpPr/>
          <p:nvPr/>
        </p:nvSpPr>
        <p:spPr>
          <a:xfrm>
            <a:off x="256032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7" name="Text 5"/>
          <p:cNvSpPr txBox="1"/>
          <p:nvPr/>
        </p:nvSpPr>
        <p:spPr>
          <a:xfrm>
            <a:off x="352044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2 of 9</a:t>
            </a:r>
            <a:endParaRPr lang="en-US" sz="1200" dirty="0"/>
          </a:p>
        </p:txBody>
      </p:sp>
      <p:sp>
        <p:nvSpPr>
          <p:cNvPr id="8" name="Text 0"/>
          <p:cNvSpPr/>
          <p:nvPr>
            <p:ph idx="100" type="title" hasCustomPrompt="1"/>
          </p:nvPr>
        </p:nvSpPr>
        <p:spPr>
          <a:xfrm>
            <a:off x="1417320" y="658368"/>
            <a:ext cx="7269480" cy="841248"/>
          </a:xfrm>
          <a:prstGeom prst="rect">
            <a:avLst/>
          </a:prstGeom>
          <a:noFill/>
          <a:ln/>
        </p:spPr>
        <p:txBody>
          <a:bodyPr wrap="square" lIns="0" tIns="0" rIns="0" bIns="0" rtlCol="0" anchor="t"/>
          <a:lstStyle/>
          <a:p>
            <a:pPr algn="l" indent="0" marL="0">
              <a:buNone/>
            </a:pPr>
            <a:r>
              <a:rPr lang="en-US" sz="2000" b="1" dirty="0">
                <a:solidFill>
                  <a:schemeClr val="bg1"/>
                </a:solidFill>
              </a:rPr>
              <a:t>An ion has 8 protons and 10 electrons. What is its charge?</a:t>
            </a:r>
            <a:endParaRPr lang="en-US" sz="2000" dirty="0"/>
          </a:p>
        </p:txBody>
      </p:sp>
      <p:sp>
        <p:nvSpPr>
          <p:cNvPr id="9" name="Option A"/>
          <p:cNvSpPr/>
          <p:nvPr/>
        </p:nvSpPr>
        <p:spPr>
          <a:xfrm>
            <a:off x="457200" y="1645920"/>
            <a:ext cx="8229600" cy="457200"/>
          </a:xfrm>
          <a:prstGeom prst="roundRect">
            <a:avLst>
              <a:gd name="adj" fmla="val 18000"/>
            </a:avLst>
          </a:prstGeom>
          <a:solidFill>
            <a:schemeClr val="tx2"/>
          </a:solidFill>
          <a:ln w="9525">
            <a:solidFill>
              <a:schemeClr val="bg2">
                <a:alpha val="35000"/>
              </a:schemeClr>
            </a:solidFill>
            <a:prstDash val="solid"/>
          </a:ln>
        </p:spPr>
      </p:sp>
      <p:sp>
        <p:nvSpPr>
          <p:cNvPr id="10" name="Text 8"/>
          <p:cNvSpPr/>
          <p:nvPr/>
        </p:nvSpPr>
        <p:spPr>
          <a:xfrm>
            <a:off x="548640" y="1719072"/>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11" name="Text 9"/>
          <p:cNvSpPr txBox="1"/>
          <p:nvPr/>
        </p:nvSpPr>
        <p:spPr>
          <a:xfrm>
            <a:off x="969264" y="1645920"/>
            <a:ext cx="7626096" cy="457200"/>
          </a:xfrm>
          <a:prstGeom prst="rect">
            <a:avLst/>
          </a:prstGeom>
          <a:noFill/>
          <a:ln/>
        </p:spPr>
        <p:txBody>
          <a:bodyPr wrap="square" lIns="0" tIns="0" rIns="0" bIns="0" rtlCol="0" anchor="ctr"/>
          <a:lstStyle/>
          <a:p>
            <a:pPr indent="0" marL="0">
              <a:buNone/>
            </a:pPr>
            <a:r>
              <a:rPr lang="en-US" sz="1600" dirty="0">
                <a:solidFill>
                  <a:schemeClr val="bg2"/>
                </a:solidFill>
              </a:rPr>
              <a:t>+2</a:t>
            </a:r>
            <a:endParaRPr lang="en-US" sz="1600" dirty="0"/>
          </a:p>
        </p:txBody>
      </p:sp>
      <p:sp>
        <p:nvSpPr>
          <p:cNvPr id="12" name="Option B"/>
          <p:cNvSpPr/>
          <p:nvPr/>
        </p:nvSpPr>
        <p:spPr>
          <a:xfrm>
            <a:off x="457200" y="2231136"/>
            <a:ext cx="8229600" cy="457200"/>
          </a:xfrm>
          <a:prstGeom prst="roundRect">
            <a:avLst>
              <a:gd name="adj" fmla="val 18000"/>
            </a:avLst>
          </a:prstGeom>
          <a:solidFill>
            <a:schemeClr val="accent4">
              <a:alpha val="20000"/>
            </a:schemeClr>
          </a:solidFill>
          <a:ln w="25400">
            <a:solidFill>
              <a:schemeClr val="accent4"/>
            </a:solidFill>
            <a:prstDash val="solid"/>
          </a:ln>
        </p:spPr>
      </p:sp>
      <p:sp>
        <p:nvSpPr>
          <p:cNvPr id="13" name="Text 11"/>
          <p:cNvSpPr/>
          <p:nvPr/>
        </p:nvSpPr>
        <p:spPr>
          <a:xfrm>
            <a:off x="548640" y="2304288"/>
            <a:ext cx="310896" cy="310896"/>
          </a:xfrm>
          <a:prstGeom prst="roundRect">
            <a:avLst>
              <a:gd name="adj" fmla="val 20588"/>
            </a:avLst>
          </a:prstGeom>
          <a:solidFill>
            <a:schemeClr val="accent4"/>
          </a:solidFill>
          <a:ln w="6350">
            <a:solidFill>
              <a:schemeClr val="accent4"/>
            </a:solidFill>
          </a:ln>
        </p:spPr>
        <p:txBody>
          <a:bodyPr wrap="square" lIns="0" tIns="0" rIns="0" bIns="0" rtlCol="0" anchor="ctr"/>
          <a:lstStyle/>
          <a:p>
            <a:pPr algn="ctr" indent="0" marL="0">
              <a:buNone/>
            </a:pPr>
            <a:r>
              <a:rPr lang="en-US" sz="1300" b="1" dirty="0">
                <a:solidFill>
                  <a:schemeClr val="tx1"/>
                </a:solidFill>
              </a:rPr>
              <a:t>B</a:t>
            </a:r>
            <a:endParaRPr lang="en-US" sz="1300" dirty="0"/>
          </a:p>
        </p:txBody>
      </p:sp>
      <p:sp>
        <p:nvSpPr>
          <p:cNvPr id="14" name="Text 12"/>
          <p:cNvSpPr txBox="1"/>
          <p:nvPr/>
        </p:nvSpPr>
        <p:spPr>
          <a:xfrm>
            <a:off x="969264" y="2231136"/>
            <a:ext cx="7626096" cy="457200"/>
          </a:xfrm>
          <a:prstGeom prst="rect">
            <a:avLst/>
          </a:prstGeom>
          <a:noFill/>
          <a:ln/>
        </p:spPr>
        <p:txBody>
          <a:bodyPr wrap="square" lIns="0" tIns="0" rIns="0" bIns="0" rtlCol="0" anchor="ctr"/>
          <a:lstStyle/>
          <a:p>
            <a:pPr indent="0" marL="0">
              <a:buNone/>
            </a:pPr>
            <a:r>
              <a:rPr lang="en-US" sz="1600" b="1" dirty="0">
                <a:solidFill>
                  <a:schemeClr val="bg1"/>
                </a:solidFill>
              </a:rPr>
              <a:t>−2</a:t>
            </a:r>
            <a:endParaRPr lang="en-US" sz="1600" dirty="0"/>
          </a:p>
        </p:txBody>
      </p:sp>
      <p:sp>
        <p:nvSpPr>
          <p:cNvPr id="15" name="Option C"/>
          <p:cNvSpPr/>
          <p:nvPr/>
        </p:nvSpPr>
        <p:spPr>
          <a:xfrm>
            <a:off x="457200" y="2816352"/>
            <a:ext cx="8229600" cy="457200"/>
          </a:xfrm>
          <a:prstGeom prst="roundRect">
            <a:avLst>
              <a:gd name="adj" fmla="val 18000"/>
            </a:avLst>
          </a:prstGeom>
          <a:solidFill>
            <a:schemeClr val="tx2"/>
          </a:solidFill>
          <a:ln w="9525">
            <a:solidFill>
              <a:schemeClr val="bg2">
                <a:alpha val="35000"/>
              </a:schemeClr>
            </a:solidFill>
            <a:prstDash val="solid"/>
          </a:ln>
        </p:spPr>
      </p:sp>
      <p:sp>
        <p:nvSpPr>
          <p:cNvPr id="16" name="Text 14"/>
          <p:cNvSpPr/>
          <p:nvPr/>
        </p:nvSpPr>
        <p:spPr>
          <a:xfrm>
            <a:off x="548640" y="2889504"/>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7" name="Text 15"/>
          <p:cNvSpPr txBox="1"/>
          <p:nvPr/>
        </p:nvSpPr>
        <p:spPr>
          <a:xfrm>
            <a:off x="969264" y="2816352"/>
            <a:ext cx="7626096" cy="457200"/>
          </a:xfrm>
          <a:prstGeom prst="rect">
            <a:avLst/>
          </a:prstGeom>
          <a:noFill/>
          <a:ln/>
        </p:spPr>
        <p:txBody>
          <a:bodyPr wrap="square" lIns="0" tIns="0" rIns="0" bIns="0" rtlCol="0" anchor="ctr"/>
          <a:lstStyle/>
          <a:p>
            <a:pPr indent="0" marL="0">
              <a:buNone/>
            </a:pPr>
            <a:r>
              <a:rPr lang="en-US" sz="1600" dirty="0">
                <a:solidFill>
                  <a:schemeClr val="bg2"/>
                </a:solidFill>
              </a:rPr>
              <a:t>+18</a:t>
            </a:r>
            <a:endParaRPr lang="en-US" sz="1600" dirty="0"/>
          </a:p>
        </p:txBody>
      </p:sp>
      <p:sp>
        <p:nvSpPr>
          <p:cNvPr id="18" name="Option D"/>
          <p:cNvSpPr/>
          <p:nvPr/>
        </p:nvSpPr>
        <p:spPr>
          <a:xfrm>
            <a:off x="457200" y="3401568"/>
            <a:ext cx="8229600" cy="457200"/>
          </a:xfrm>
          <a:prstGeom prst="roundRect">
            <a:avLst>
              <a:gd name="adj" fmla="val 18000"/>
            </a:avLst>
          </a:prstGeom>
          <a:solidFill>
            <a:schemeClr val="tx2"/>
          </a:solidFill>
          <a:ln w="9525">
            <a:solidFill>
              <a:schemeClr val="bg2">
                <a:alpha val="35000"/>
              </a:schemeClr>
            </a:solidFill>
            <a:prstDash val="solid"/>
          </a:ln>
        </p:spPr>
      </p:sp>
      <p:sp>
        <p:nvSpPr>
          <p:cNvPr id="19" name="Text 17"/>
          <p:cNvSpPr/>
          <p:nvPr/>
        </p:nvSpPr>
        <p:spPr>
          <a:xfrm>
            <a:off x="548640" y="3474720"/>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20" name="Text 18"/>
          <p:cNvSpPr txBox="1"/>
          <p:nvPr/>
        </p:nvSpPr>
        <p:spPr>
          <a:xfrm>
            <a:off x="969264" y="3401568"/>
            <a:ext cx="7626096" cy="457200"/>
          </a:xfrm>
          <a:prstGeom prst="rect">
            <a:avLst/>
          </a:prstGeom>
          <a:noFill/>
          <a:ln/>
        </p:spPr>
        <p:txBody>
          <a:bodyPr wrap="square" lIns="0" tIns="0" rIns="0" bIns="0" rtlCol="0" anchor="ctr"/>
          <a:lstStyle/>
          <a:p>
            <a:pPr indent="0" marL="0">
              <a:buNone/>
            </a:pPr>
            <a:r>
              <a:rPr lang="en-US" sz="1600" dirty="0">
                <a:solidFill>
                  <a:schemeClr val="bg2"/>
                </a:solidFill>
              </a:rPr>
              <a:t>−10</a:t>
            </a:r>
            <a:endParaRPr lang="en-US" sz="1600" dirty="0"/>
          </a:p>
        </p:txBody>
      </p:sp>
      <p:sp>
        <p:nvSpPr>
          <p:cNvPr id="21" name="Why box"/>
          <p:cNvSpPr/>
          <p:nvPr/>
        </p:nvSpPr>
        <p:spPr>
          <a:xfrm>
            <a:off x="457200" y="4114800"/>
            <a:ext cx="8229600" cy="621792"/>
          </a:xfrm>
          <a:prstGeom prst="roundRect">
            <a:avLst>
              <a:gd name="adj" fmla="val 14706"/>
            </a:avLst>
          </a:prstGeom>
          <a:solidFill>
            <a:schemeClr val="accent4">
              <a:alpha val="12000"/>
            </a:schemeClr>
          </a:solidFill>
          <a:ln w="9525">
            <a:solidFill>
              <a:schemeClr val="accent4">
                <a:alpha val="60000"/>
              </a:schemeClr>
            </a:solidFill>
            <a:prstDash val="solid"/>
          </a:ln>
        </p:spPr>
      </p:sp>
      <p:sp>
        <p:nvSpPr>
          <p:cNvPr id="22" name="Text 20"/>
          <p:cNvSpPr txBox="1"/>
          <p:nvPr/>
        </p:nvSpPr>
        <p:spPr>
          <a:xfrm>
            <a:off x="640080" y="4114800"/>
            <a:ext cx="7863840" cy="621792"/>
          </a:xfrm>
          <a:prstGeom prst="rect">
            <a:avLst/>
          </a:prstGeom>
          <a:noFill/>
          <a:ln/>
        </p:spPr>
        <p:txBody>
          <a:bodyPr wrap="square" lIns="0" tIns="0" rIns="0" bIns="0" rtlCol="0" anchor="ctr"/>
          <a:lstStyle/>
          <a:p>
            <a:pPr indent="0" marL="0">
              <a:buNone/>
            </a:pPr>
            <a:r>
              <a:rPr lang="en-US" sz="1400" b="1" dirty="0">
                <a:solidFill>
                  <a:schemeClr val="accent4"/>
                </a:solidFill>
              </a:rPr>
              <a:t>Why: </a:t>
            </a:r>
            <a:pPr indent="0" marL="0">
              <a:buNone/>
            </a:pPr>
            <a:r>
              <a:rPr lang="en-US" sz="1400" dirty="0">
                <a:solidFill>
                  <a:schemeClr val="bg1"/>
                </a:solidFill>
              </a:rPr>
              <a:t>Charge = protons − electrons = 8 − 10 = −2. It gained 2 electrons.</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ection tile 3"/>
          <p:cNvSpPr/>
          <p:nvPr/>
        </p:nvSpPr>
        <p:spPr>
          <a:xfrm>
            <a:off x="457200" y="301752"/>
            <a:ext cx="749808" cy="841248"/>
          </a:xfrm>
          <a:prstGeom prst="roundRect">
            <a:avLst>
              <a:gd name="adj" fmla="val 12000"/>
            </a:avLst>
          </a:prstGeom>
          <a:solidFill>
            <a:srgbClr val="60A5FA">
              <a:alpha val="28000"/>
            </a:srgbClr>
          </a:solidFill>
          <a:ln w="19050">
            <a:solidFill>
              <a:srgbClr val="60A5FA"/>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3</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2400" b="1" dirty="0">
                <a:solidFill>
                  <a:schemeClr val="bg1"/>
                </a:solidFill>
              </a:rPr>
              <a:t>Mg</a:t>
            </a:r>
            <a:pPr algn="ctr" indent="0" marL="0">
              <a:buNone/>
            </a:pPr>
            <a:r>
              <a:rPr lang="en-US" sz="2400" b="1" baseline="30000" dirty="0">
                <a:solidFill>
                  <a:schemeClr val="bg1"/>
                </a:solidFill>
              </a:rPr>
              <a:t>2+</a:t>
            </a:r>
            <a:endParaRPr lang="en-US" sz="2400" dirty="0"/>
          </a:p>
        </p:txBody>
      </p:sp>
      <p:sp>
        <p:nvSpPr>
          <p:cNvPr id="5" name="Text 0"/>
          <p:cNvSpPr/>
          <p:nvPr>
            <p:ph idx="100" type="body" hasCustomPrompt="1"/>
          </p:nvPr>
        </p:nvSpPr>
        <p:spPr>
          <a:xfrm>
            <a:off x="1417320" y="329184"/>
            <a:ext cx="7223760" cy="256032"/>
          </a:xfrm>
          <a:prstGeom prst="rect">
            <a:avLst/>
          </a:prstGeom>
          <a:noFill/>
          <a:ln/>
        </p:spPr>
        <p:txBody>
          <a:bodyPr wrap="square" lIns="0" tIns="0" rIns="0" bIns="0" rtlCol="0" anchor="ctr"/>
          <a:lstStyle/>
          <a:p>
            <a:pPr algn="l" indent="0" marL="0">
              <a:buNone/>
            </a:pPr>
            <a:r>
              <a:rPr lang="en-US" sz="1200" dirty="0">
                <a:solidFill>
                  <a:schemeClr val="bg2"/>
                </a:solidFill>
              </a:rPr>
              <a:t>Section 3 of 9 · about 8 min</a:t>
            </a:r>
            <a:endParaRPr lang="en-US" sz="1200" dirty="0"/>
          </a:p>
        </p:txBody>
      </p:sp>
      <p:sp>
        <p:nvSpPr>
          <p:cNvPr id="6" name="Text 0"/>
          <p:cNvSpPr/>
          <p:nvPr>
            <p:ph idx="101" type="title" hasCustomPrompt="1"/>
          </p:nvPr>
        </p:nvSpPr>
        <p:spPr>
          <a:xfrm>
            <a:off x="1417320" y="603504"/>
            <a:ext cx="7223760" cy="530352"/>
          </a:xfrm>
          <a:prstGeom prst="rect">
            <a:avLst/>
          </a:prstGeom>
          <a:noFill/>
          <a:ln/>
        </p:spPr>
        <p:txBody>
          <a:bodyPr wrap="square" lIns="0" tIns="0" rIns="0" bIns="0" rtlCol="0" anchor="ctr"/>
          <a:lstStyle/>
          <a:p>
            <a:pPr algn="l" indent="0" marL="0">
              <a:buNone/>
            </a:pPr>
            <a:r>
              <a:rPr lang="en-US" sz="3000" b="1" dirty="0">
                <a:solidFill>
                  <a:schemeClr val="bg1"/>
                </a:solidFill>
              </a:rPr>
              <a:t>Metals lose, nonmetals gain</a:t>
            </a:r>
            <a:endParaRPr lang="en-US" sz="3000" dirty="0"/>
          </a:p>
        </p:txBody>
      </p:sp>
      <p:sp>
        <p:nvSpPr>
          <p:cNvPr id="7" name="In this section"/>
          <p:cNvSpPr/>
          <p:nvPr/>
        </p:nvSpPr>
        <p:spPr>
          <a:xfrm>
            <a:off x="45720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8" name="Text 6"/>
          <p:cNvSpPr txBox="1"/>
          <p:nvPr/>
        </p:nvSpPr>
        <p:spPr>
          <a:xfrm>
            <a:off x="685800" y="1536192"/>
            <a:ext cx="3566160" cy="292608"/>
          </a:xfrm>
          <a:prstGeom prst="rect">
            <a:avLst/>
          </a:prstGeom>
          <a:noFill/>
          <a:ln/>
        </p:spPr>
        <p:txBody>
          <a:bodyPr wrap="square" lIns="0" tIns="0" rIns="0" bIns="0" rtlCol="0" anchor="t"/>
          <a:lstStyle/>
          <a:p>
            <a:pPr indent="0" marL="0">
              <a:buNone/>
            </a:pPr>
            <a:r>
              <a:rPr lang="en-US" sz="1500" b="1" dirty="0">
                <a:solidFill>
                  <a:schemeClr val="accent1"/>
                </a:solidFill>
              </a:rPr>
              <a:t>In this section</a:t>
            </a:r>
            <a:endParaRPr lang="en-US" sz="1500" dirty="0"/>
          </a:p>
        </p:txBody>
      </p:sp>
      <p:sp>
        <p:nvSpPr>
          <p:cNvPr id="9" name="Text 7"/>
          <p:cNvSpPr/>
          <p:nvPr/>
        </p:nvSpPr>
        <p:spPr>
          <a:xfrm>
            <a:off x="685800" y="2039112"/>
            <a:ext cx="73152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Read</a:t>
            </a:r>
            <a:endParaRPr lang="en-US" sz="1100" dirty="0"/>
          </a:p>
        </p:txBody>
      </p:sp>
      <p:sp>
        <p:nvSpPr>
          <p:cNvPr id="10" name="Text 8"/>
          <p:cNvSpPr txBox="1"/>
          <p:nvPr/>
        </p:nvSpPr>
        <p:spPr>
          <a:xfrm>
            <a:off x="1554480" y="1947672"/>
            <a:ext cx="2697480" cy="457200"/>
          </a:xfrm>
          <a:prstGeom prst="rect">
            <a:avLst/>
          </a:prstGeom>
          <a:noFill/>
          <a:ln/>
        </p:spPr>
        <p:txBody>
          <a:bodyPr wrap="square" lIns="0" tIns="0" rIns="0" bIns="0" rtlCol="0" anchor="ctr"/>
          <a:lstStyle/>
          <a:p>
            <a:pPr indent="0" marL="0">
              <a:buNone/>
            </a:pPr>
            <a:r>
              <a:rPr lang="en-US" sz="1400" dirty="0">
                <a:solidFill>
                  <a:schemeClr val="bg1"/>
                </a:solidFill>
              </a:rPr>
              <a:t>Lose a few or gain a few</a:t>
            </a:r>
            <a:endParaRPr lang="en-US" sz="1400" dirty="0"/>
          </a:p>
        </p:txBody>
      </p:sp>
      <p:sp>
        <p:nvSpPr>
          <p:cNvPr id="11" name="Text 9"/>
          <p:cNvSpPr/>
          <p:nvPr/>
        </p:nvSpPr>
        <p:spPr>
          <a:xfrm>
            <a:off x="685800" y="2752344"/>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12" name="Text 10"/>
          <p:cNvSpPr txBox="1"/>
          <p:nvPr/>
        </p:nvSpPr>
        <p:spPr>
          <a:xfrm>
            <a:off x="1554480" y="2660904"/>
            <a:ext cx="2697480" cy="457200"/>
          </a:xfrm>
          <a:prstGeom prst="rect">
            <a:avLst/>
          </a:prstGeom>
          <a:noFill/>
          <a:ln/>
        </p:spPr>
        <p:txBody>
          <a:bodyPr wrap="square" lIns="0" tIns="0" rIns="0" bIns="0" rtlCol="0" anchor="ctr"/>
          <a:lstStyle/>
          <a:p>
            <a:pPr indent="0" marL="0">
              <a:buNone/>
            </a:pPr>
            <a:r>
              <a:rPr lang="en-US" sz="1400" dirty="0">
                <a:solidFill>
                  <a:schemeClr val="bg1"/>
                </a:solidFill>
              </a:rPr>
              <a:t>Lose or gain?</a:t>
            </a:r>
            <a:endParaRPr lang="en-US" sz="1400" dirty="0"/>
          </a:p>
        </p:txBody>
      </p:sp>
      <p:sp>
        <p:nvSpPr>
          <p:cNvPr id="13" name="Text 11"/>
          <p:cNvSpPr/>
          <p:nvPr/>
        </p:nvSpPr>
        <p:spPr>
          <a:xfrm>
            <a:off x="685800" y="346557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14" name="Text 12"/>
          <p:cNvSpPr txBox="1"/>
          <p:nvPr/>
        </p:nvSpPr>
        <p:spPr>
          <a:xfrm>
            <a:off x="1874520" y="3374136"/>
            <a:ext cx="2377440" cy="457200"/>
          </a:xfrm>
          <a:prstGeom prst="rect">
            <a:avLst/>
          </a:prstGeom>
          <a:noFill/>
          <a:ln/>
        </p:spPr>
        <p:txBody>
          <a:bodyPr wrap="square" lIns="0" tIns="0" rIns="0" bIns="0" rtlCol="0" anchor="ctr"/>
          <a:lstStyle/>
          <a:p>
            <a:pPr indent="0" marL="0">
              <a:buNone/>
            </a:pPr>
            <a:r>
              <a:rPr lang="en-US" sz="1400" dirty="0">
                <a:solidFill>
                  <a:schemeClr val="bg1"/>
                </a:solidFill>
              </a:rPr>
              <a:t>Phosphorus's ion</a:t>
            </a:r>
            <a:endParaRPr lang="en-US" sz="1400" dirty="0"/>
          </a:p>
        </p:txBody>
      </p:sp>
      <p:sp>
        <p:nvSpPr>
          <p:cNvPr id="15" name="To unlock the next section"/>
          <p:cNvSpPr/>
          <p:nvPr/>
        </p:nvSpPr>
        <p:spPr>
          <a:xfrm>
            <a:off x="466344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16" name="Text 14"/>
          <p:cNvSpPr txBox="1"/>
          <p:nvPr/>
        </p:nvSpPr>
        <p:spPr>
          <a:xfrm>
            <a:off x="4892040" y="1536192"/>
            <a:ext cx="3566160" cy="292608"/>
          </a:xfrm>
          <a:prstGeom prst="rect">
            <a:avLst/>
          </a:prstGeom>
          <a:noFill/>
          <a:ln/>
        </p:spPr>
        <p:txBody>
          <a:bodyPr wrap="square" lIns="0" tIns="0" rIns="0" bIns="0" rtlCol="0" anchor="t"/>
          <a:lstStyle/>
          <a:p>
            <a:pPr indent="0" marL="0">
              <a:buNone/>
            </a:pPr>
            <a:r>
              <a:rPr lang="en-US" sz="1500" b="1" dirty="0">
                <a:solidFill>
                  <a:schemeClr val="accent4"/>
                </a:solidFill>
              </a:rPr>
              <a:t>To unlock the next section</a:t>
            </a:r>
            <a:endParaRPr lang="en-US" sz="1500" dirty="0"/>
          </a:p>
        </p:txBody>
      </p:sp>
      <p:sp>
        <p:nvSpPr>
          <p:cNvPr id="17" name="Text 15"/>
          <p:cNvSpPr/>
          <p:nvPr/>
        </p:nvSpPr>
        <p:spPr>
          <a:xfrm>
            <a:off x="4892040" y="2066544"/>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18" name="Text 16"/>
          <p:cNvSpPr txBox="1"/>
          <p:nvPr/>
        </p:nvSpPr>
        <p:spPr>
          <a:xfrm>
            <a:off x="5303520" y="1993392"/>
            <a:ext cx="3200400" cy="457200"/>
          </a:xfrm>
          <a:prstGeom prst="rect">
            <a:avLst/>
          </a:prstGeom>
          <a:noFill/>
          <a:ln/>
        </p:spPr>
        <p:txBody>
          <a:bodyPr wrap="square" lIns="0" tIns="0" rIns="0" bIns="0" rtlCol="0" anchor="ctr"/>
          <a:lstStyle/>
          <a:p>
            <a:pPr indent="0" marL="0">
              <a:buNone/>
            </a:pPr>
            <a:r>
              <a:rPr lang="en-US" sz="1400" dirty="0">
                <a:solidFill>
                  <a:schemeClr val="bg1"/>
                </a:solidFill>
              </a:rPr>
              <a:t>Make all 5 ions (decide lose or gain first)</a:t>
            </a:r>
            <a:endParaRPr lang="en-US" sz="1400" dirty="0"/>
          </a:p>
        </p:txBody>
      </p:sp>
      <p:sp>
        <p:nvSpPr>
          <p:cNvPr id="19" name="Text 17"/>
          <p:cNvSpPr/>
          <p:nvPr/>
        </p:nvSpPr>
        <p:spPr>
          <a:xfrm>
            <a:off x="4892040" y="2633472"/>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0" name="Text 18"/>
          <p:cNvSpPr txBox="1"/>
          <p:nvPr/>
        </p:nvSpPr>
        <p:spPr>
          <a:xfrm>
            <a:off x="5303520" y="2560320"/>
            <a:ext cx="3200400" cy="457200"/>
          </a:xfrm>
          <a:prstGeom prst="rect">
            <a:avLst/>
          </a:prstGeom>
          <a:noFill/>
          <a:ln/>
        </p:spPr>
        <p:txBody>
          <a:bodyPr wrap="square" lIns="0" tIns="0" rIns="0" bIns="0" rtlCol="0" anchor="ctr"/>
          <a:lstStyle/>
          <a:p>
            <a:pPr indent="0" marL="0">
              <a:buNone/>
            </a:pPr>
            <a:r>
              <a:rPr lang="en-US" sz="1400" dirty="0">
                <a:solidFill>
                  <a:schemeClr val="bg1"/>
                </a:solidFill>
              </a:rPr>
              <a:t>Answer the quick check correctly</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ection tile 3"/>
          <p:cNvSpPr/>
          <p:nvPr/>
        </p:nvSpPr>
        <p:spPr>
          <a:xfrm>
            <a:off x="457200" y="301752"/>
            <a:ext cx="749808" cy="841248"/>
          </a:xfrm>
          <a:prstGeom prst="roundRect">
            <a:avLst>
              <a:gd name="adj" fmla="val 12000"/>
            </a:avLst>
          </a:prstGeom>
          <a:solidFill>
            <a:srgbClr val="60A5FA">
              <a:alpha val="28000"/>
            </a:srgbClr>
          </a:solidFill>
          <a:ln w="19050">
            <a:solidFill>
              <a:srgbClr val="60A5FA"/>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3</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2400" b="1" dirty="0">
                <a:solidFill>
                  <a:schemeClr val="bg1"/>
                </a:solidFill>
              </a:rPr>
              <a:t>Mg</a:t>
            </a:r>
            <a:pPr algn="ctr" indent="0" marL="0">
              <a:buNone/>
            </a:pPr>
            <a:r>
              <a:rPr lang="en-US" sz="2400" b="1" baseline="30000" dirty="0">
                <a:solidFill>
                  <a:schemeClr val="bg1"/>
                </a:solidFill>
              </a:rPr>
              <a:t>2+</a:t>
            </a:r>
            <a:endParaRPr lang="en-US" sz="2400" dirty="0"/>
          </a:p>
        </p:txBody>
      </p:sp>
      <p:sp>
        <p:nvSpPr>
          <p:cNvPr id="5" name="Text 3"/>
          <p:cNvSpPr/>
          <p:nvPr/>
        </p:nvSpPr>
        <p:spPr>
          <a:xfrm>
            <a:off x="1417320" y="310896"/>
            <a:ext cx="73152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Read</a:t>
            </a:r>
            <a:endParaRPr lang="en-US" sz="1100" dirty="0"/>
          </a:p>
        </p:txBody>
      </p:sp>
      <p:sp>
        <p:nvSpPr>
          <p:cNvPr id="6" name="Text 4"/>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3 of 9</a:t>
            </a:r>
            <a:endParaRPr lang="en-US" sz="1200" dirty="0"/>
          </a:p>
        </p:txBody>
      </p:sp>
      <p:sp>
        <p:nvSpPr>
          <p:cNvPr id="7"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Lose a few or gain a few</a:t>
            </a:r>
            <a:endParaRPr lang="en-US" sz="2800" dirty="0"/>
          </a:p>
        </p:txBody>
      </p:sp>
      <p:sp>
        <p:nvSpPr>
          <p:cNvPr id="8" name="Text 6"/>
          <p:cNvSpPr txBox="1"/>
          <p:nvPr/>
        </p:nvSpPr>
        <p:spPr>
          <a:xfrm>
            <a:off x="457200" y="1325880"/>
            <a:ext cx="8229600" cy="1143000"/>
          </a:xfrm>
          <a:prstGeom prst="rect">
            <a:avLst/>
          </a:prstGeom>
          <a:noFill/>
          <a:ln/>
        </p:spPr>
        <p:txBody>
          <a:bodyPr wrap="square" lIns="0" tIns="0" rIns="0" bIns="0" rtlCol="0" anchor="t"/>
          <a:lstStyle/>
          <a:p>
            <a:pPr indent="0" marL="0">
              <a:spcAft>
                <a:spcPts val="800"/>
              </a:spcAft>
              <a:buNone/>
            </a:pPr>
            <a:r>
              <a:rPr lang="en-US" sz="1400" dirty="0">
                <a:solidFill>
                  <a:schemeClr val="bg1"/>
                </a:solidFill>
              </a:rPr>
              <a:t>Atoms take the easiest path to a full outer shell. Metals have only 1, 2, or 3 valence electrons, so they lose them. The empty shell disappears.</a:t>
            </a:r>
            <a:endParaRPr lang="en-US" sz="1400" dirty="0"/>
          </a:p>
          <a:p>
            <a:pPr indent="0" marL="0">
              <a:spcAft>
                <a:spcPts val="800"/>
              </a:spcAft>
              <a:buNone/>
            </a:pPr>
            <a:r>
              <a:rPr lang="en-US" sz="1400" dirty="0">
                <a:solidFill>
                  <a:schemeClr val="bg1"/>
                </a:solidFill>
              </a:rPr>
              <a:t>Nonmetals have 5, 6, or 7 valence electrons, so they gain just enough to reach 8. Gained electrons are pink.</a:t>
            </a:r>
            <a:endParaRPr lang="en-US" sz="1400" dirty="0"/>
          </a:p>
        </p:txBody>
      </p:sp>
      <p:sp>
        <p:nvSpPr>
          <p:cNvPr id="9" name="Sodium: shell 1"/>
          <p:cNvSpPr/>
          <p:nvPr/>
        </p:nvSpPr>
        <p:spPr>
          <a:xfrm>
            <a:off x="1006703" y="3018383"/>
            <a:ext cx="455475" cy="455475"/>
          </a:xfrm>
          <a:prstGeom prst="ellipse">
            <a:avLst/>
          </a:prstGeom>
          <a:solidFill>
            <a:schemeClr val="bg1">
              <a:alpha val="0"/>
            </a:schemeClr>
          </a:solidFill>
          <a:ln w="15875">
            <a:solidFill>
              <a:schemeClr val="bg2">
                <a:alpha val="55000"/>
              </a:schemeClr>
            </a:solidFill>
            <a:prstDash val="solid"/>
          </a:ln>
        </p:spPr>
      </p:sp>
      <p:sp>
        <p:nvSpPr>
          <p:cNvPr id="10" name="Sodium: shell 2"/>
          <p:cNvSpPr/>
          <p:nvPr/>
        </p:nvSpPr>
        <p:spPr>
          <a:xfrm>
            <a:off x="864367" y="2876047"/>
            <a:ext cx="740146" cy="740146"/>
          </a:xfrm>
          <a:prstGeom prst="ellipse">
            <a:avLst/>
          </a:prstGeom>
          <a:solidFill>
            <a:schemeClr val="bg1">
              <a:alpha val="0"/>
            </a:schemeClr>
          </a:solidFill>
          <a:ln w="15875">
            <a:solidFill>
              <a:schemeClr val="bg2">
                <a:alpha val="55000"/>
              </a:schemeClr>
            </a:solidFill>
            <a:prstDash val="solid"/>
          </a:ln>
        </p:spPr>
      </p:sp>
      <p:sp>
        <p:nvSpPr>
          <p:cNvPr id="11" name="Sodium: shell 3"/>
          <p:cNvSpPr/>
          <p:nvPr/>
        </p:nvSpPr>
        <p:spPr>
          <a:xfrm>
            <a:off x="731520" y="2743200"/>
            <a:ext cx="1005840" cy="1005840"/>
          </a:xfrm>
          <a:prstGeom prst="ellipse">
            <a:avLst/>
          </a:prstGeom>
          <a:solidFill>
            <a:schemeClr val="bg1">
              <a:alpha val="0"/>
            </a:schemeClr>
          </a:solidFill>
          <a:ln w="15875">
            <a:solidFill>
              <a:schemeClr val="accent2">
                <a:alpha val="80000"/>
              </a:schemeClr>
            </a:solidFill>
            <a:prstDash val="solid"/>
          </a:ln>
        </p:spPr>
      </p:sp>
      <p:sp>
        <p:nvSpPr>
          <p:cNvPr id="12" name="Sodium: nucleus"/>
          <p:cNvSpPr/>
          <p:nvPr/>
        </p:nvSpPr>
        <p:spPr>
          <a:xfrm>
            <a:off x="1087360" y="3099040"/>
            <a:ext cx="294161" cy="294161"/>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700" b="1" dirty="0">
                <a:solidFill>
                  <a:schemeClr val="bg1"/>
                </a:solidFill>
              </a:rPr>
              <a:t>11 p</a:t>
            </a:r>
            <a:pPr algn="ctr" indent="0" marL="0">
              <a:buNone/>
            </a:pPr>
            <a:r>
              <a:rPr lang="en-US" sz="700" b="1" baseline="30000" dirty="0">
                <a:solidFill>
                  <a:schemeClr val="bg1"/>
                </a:solidFill>
              </a:rPr>
              <a:t>+</a:t>
            </a:r>
            <a:endParaRPr lang="en-US" sz="700" dirty="0"/>
          </a:p>
          <a:p>
            <a:pPr algn="ctr" indent="0" marL="0">
              <a:buNone/>
            </a:pPr>
            <a:r>
              <a:rPr lang="en-US" sz="700" b="1" dirty="0">
                <a:solidFill>
                  <a:schemeClr val="bg1"/>
                </a:solidFill>
              </a:rPr>
              <a:t>12 n</a:t>
            </a:r>
            <a:pPr algn="ctr" indent="0" marL="0">
              <a:buNone/>
            </a:pPr>
            <a:r>
              <a:rPr lang="en-US" sz="700" b="1" baseline="30000" dirty="0">
                <a:solidFill>
                  <a:schemeClr val="bg1"/>
                </a:solidFill>
              </a:rPr>
              <a:t>0</a:t>
            </a:r>
            <a:endParaRPr lang="en-US" sz="700" dirty="0"/>
          </a:p>
        </p:txBody>
      </p:sp>
      <p:sp>
        <p:nvSpPr>
          <p:cNvPr id="13" name="Sodium: electron, shell 1"/>
          <p:cNvSpPr/>
          <p:nvPr/>
        </p:nvSpPr>
        <p:spPr>
          <a:xfrm>
            <a:off x="1198856" y="2982799"/>
            <a:ext cx="71168" cy="71168"/>
          </a:xfrm>
          <a:prstGeom prst="ellipse">
            <a:avLst/>
          </a:prstGeom>
          <a:solidFill>
            <a:schemeClr val="accent1"/>
          </a:solidFill>
          <a:ln w="3175">
            <a:solidFill>
              <a:schemeClr val="accent1"/>
            </a:solidFill>
            <a:prstDash val="solid"/>
          </a:ln>
        </p:spPr>
      </p:sp>
      <p:sp>
        <p:nvSpPr>
          <p:cNvPr id="14" name="Sodium: electron, shell 1"/>
          <p:cNvSpPr/>
          <p:nvPr/>
        </p:nvSpPr>
        <p:spPr>
          <a:xfrm>
            <a:off x="1426593" y="3210536"/>
            <a:ext cx="71168" cy="71168"/>
          </a:xfrm>
          <a:prstGeom prst="ellipse">
            <a:avLst/>
          </a:prstGeom>
          <a:solidFill>
            <a:schemeClr val="accent1"/>
          </a:solidFill>
          <a:ln w="3175">
            <a:solidFill>
              <a:schemeClr val="accent1"/>
            </a:solidFill>
            <a:prstDash val="solid"/>
          </a:ln>
        </p:spPr>
      </p:sp>
      <p:sp>
        <p:nvSpPr>
          <p:cNvPr id="15" name="Sodium: electron, shell 2"/>
          <p:cNvSpPr/>
          <p:nvPr/>
        </p:nvSpPr>
        <p:spPr>
          <a:xfrm>
            <a:off x="1151070" y="2843561"/>
            <a:ext cx="71168" cy="71168"/>
          </a:xfrm>
          <a:prstGeom prst="ellipse">
            <a:avLst/>
          </a:prstGeom>
          <a:solidFill>
            <a:schemeClr val="accent1"/>
          </a:solidFill>
          <a:ln w="3175">
            <a:solidFill>
              <a:schemeClr val="accent1"/>
            </a:solidFill>
            <a:prstDash val="solid"/>
          </a:ln>
        </p:spPr>
      </p:sp>
      <p:sp>
        <p:nvSpPr>
          <p:cNvPr id="16" name="Sodium: electron, shell 2"/>
          <p:cNvSpPr/>
          <p:nvPr/>
        </p:nvSpPr>
        <p:spPr>
          <a:xfrm>
            <a:off x="1246642" y="2843561"/>
            <a:ext cx="71168" cy="71168"/>
          </a:xfrm>
          <a:prstGeom prst="ellipse">
            <a:avLst/>
          </a:prstGeom>
          <a:solidFill>
            <a:schemeClr val="accent1"/>
          </a:solidFill>
          <a:ln w="3175">
            <a:solidFill>
              <a:schemeClr val="accent1"/>
            </a:solidFill>
            <a:prstDash val="solid"/>
          </a:ln>
        </p:spPr>
      </p:sp>
      <p:sp>
        <p:nvSpPr>
          <p:cNvPr id="17" name="Sodium: electron, shell 2"/>
          <p:cNvSpPr/>
          <p:nvPr/>
        </p:nvSpPr>
        <p:spPr>
          <a:xfrm>
            <a:off x="1565831" y="3162750"/>
            <a:ext cx="71168" cy="71168"/>
          </a:xfrm>
          <a:prstGeom prst="ellipse">
            <a:avLst/>
          </a:prstGeom>
          <a:solidFill>
            <a:schemeClr val="accent1"/>
          </a:solidFill>
          <a:ln w="3175">
            <a:solidFill>
              <a:schemeClr val="accent1"/>
            </a:solidFill>
            <a:prstDash val="solid"/>
          </a:ln>
        </p:spPr>
      </p:sp>
      <p:sp>
        <p:nvSpPr>
          <p:cNvPr id="18" name="Sodium: electron, shell 2"/>
          <p:cNvSpPr/>
          <p:nvPr/>
        </p:nvSpPr>
        <p:spPr>
          <a:xfrm>
            <a:off x="1565831" y="3258322"/>
            <a:ext cx="71168" cy="71168"/>
          </a:xfrm>
          <a:prstGeom prst="ellipse">
            <a:avLst/>
          </a:prstGeom>
          <a:solidFill>
            <a:schemeClr val="accent1"/>
          </a:solidFill>
          <a:ln w="3175">
            <a:solidFill>
              <a:schemeClr val="accent1"/>
            </a:solidFill>
            <a:prstDash val="solid"/>
          </a:ln>
        </p:spPr>
      </p:sp>
      <p:sp>
        <p:nvSpPr>
          <p:cNvPr id="19" name="Sodium: electron, shell 2"/>
          <p:cNvSpPr/>
          <p:nvPr/>
        </p:nvSpPr>
        <p:spPr>
          <a:xfrm>
            <a:off x="1246642" y="3577511"/>
            <a:ext cx="71168" cy="71168"/>
          </a:xfrm>
          <a:prstGeom prst="ellipse">
            <a:avLst/>
          </a:prstGeom>
          <a:solidFill>
            <a:schemeClr val="accent1"/>
          </a:solidFill>
          <a:ln w="3175">
            <a:solidFill>
              <a:schemeClr val="accent1"/>
            </a:solidFill>
            <a:prstDash val="solid"/>
          </a:ln>
        </p:spPr>
      </p:sp>
      <p:sp>
        <p:nvSpPr>
          <p:cNvPr id="20" name="Sodium: electron, shell 2"/>
          <p:cNvSpPr/>
          <p:nvPr/>
        </p:nvSpPr>
        <p:spPr>
          <a:xfrm>
            <a:off x="1151070" y="3577511"/>
            <a:ext cx="71168" cy="71168"/>
          </a:xfrm>
          <a:prstGeom prst="ellipse">
            <a:avLst/>
          </a:prstGeom>
          <a:solidFill>
            <a:schemeClr val="accent1"/>
          </a:solidFill>
          <a:ln w="3175">
            <a:solidFill>
              <a:schemeClr val="accent1"/>
            </a:solidFill>
            <a:prstDash val="solid"/>
          </a:ln>
        </p:spPr>
      </p:sp>
      <p:sp>
        <p:nvSpPr>
          <p:cNvPr id="21" name="Sodium: electron, shell 2"/>
          <p:cNvSpPr/>
          <p:nvPr/>
        </p:nvSpPr>
        <p:spPr>
          <a:xfrm>
            <a:off x="831881" y="3258322"/>
            <a:ext cx="71168" cy="71168"/>
          </a:xfrm>
          <a:prstGeom prst="ellipse">
            <a:avLst/>
          </a:prstGeom>
          <a:solidFill>
            <a:schemeClr val="accent1"/>
          </a:solidFill>
          <a:ln w="3175">
            <a:solidFill>
              <a:schemeClr val="accent1"/>
            </a:solidFill>
            <a:prstDash val="solid"/>
          </a:ln>
        </p:spPr>
      </p:sp>
      <p:sp>
        <p:nvSpPr>
          <p:cNvPr id="22" name="Sodium: electron, shell 2"/>
          <p:cNvSpPr/>
          <p:nvPr/>
        </p:nvSpPr>
        <p:spPr>
          <a:xfrm>
            <a:off x="831881" y="3162750"/>
            <a:ext cx="71168" cy="71168"/>
          </a:xfrm>
          <a:prstGeom prst="ellipse">
            <a:avLst/>
          </a:prstGeom>
          <a:solidFill>
            <a:schemeClr val="accent1"/>
          </a:solidFill>
          <a:ln w="3175">
            <a:solidFill>
              <a:schemeClr val="accent1"/>
            </a:solidFill>
            <a:prstDash val="solid"/>
          </a:ln>
        </p:spPr>
      </p:sp>
      <p:sp>
        <p:nvSpPr>
          <p:cNvPr id="23" name="Sodium: electron, shell 3"/>
          <p:cNvSpPr/>
          <p:nvPr/>
        </p:nvSpPr>
        <p:spPr>
          <a:xfrm>
            <a:off x="1198856" y="2707616"/>
            <a:ext cx="71168" cy="71168"/>
          </a:xfrm>
          <a:prstGeom prst="ellipse">
            <a:avLst/>
          </a:prstGeom>
          <a:solidFill>
            <a:schemeClr val="accent2"/>
          </a:solidFill>
          <a:ln w="3175">
            <a:solidFill>
              <a:schemeClr val="accent2"/>
            </a:solidFill>
            <a:prstDash val="solid"/>
          </a:ln>
        </p:spPr>
      </p:sp>
      <p:sp>
        <p:nvSpPr>
          <p:cNvPr id="24" name="Arrow"/>
          <p:cNvSpPr/>
          <p:nvPr/>
        </p:nvSpPr>
        <p:spPr>
          <a:xfrm>
            <a:off x="1901952" y="3090672"/>
            <a:ext cx="384048" cy="310896"/>
          </a:xfrm>
          <a:prstGeom prst="rightArrow">
            <a:avLst/>
          </a:prstGeom>
          <a:solidFill>
            <a:schemeClr val="accent2"/>
          </a:solidFill>
          <a:ln w="6350">
            <a:solidFill>
              <a:schemeClr val="accent2"/>
            </a:solidFill>
            <a:prstDash val="solid"/>
          </a:ln>
        </p:spPr>
      </p:sp>
      <p:sp>
        <p:nvSpPr>
          <p:cNvPr id="25" name="sodium ion: shell 1"/>
          <p:cNvSpPr/>
          <p:nvPr/>
        </p:nvSpPr>
        <p:spPr>
          <a:xfrm>
            <a:off x="2810022" y="2992902"/>
            <a:ext cx="506437" cy="506437"/>
          </a:xfrm>
          <a:prstGeom prst="ellipse">
            <a:avLst/>
          </a:prstGeom>
          <a:solidFill>
            <a:schemeClr val="bg1">
              <a:alpha val="0"/>
            </a:schemeClr>
          </a:solidFill>
          <a:ln w="15875">
            <a:solidFill>
              <a:schemeClr val="bg2">
                <a:alpha val="55000"/>
              </a:schemeClr>
            </a:solidFill>
            <a:prstDash val="solid"/>
          </a:ln>
        </p:spPr>
      </p:sp>
      <p:sp>
        <p:nvSpPr>
          <p:cNvPr id="26" name="sodium ion: shell 2"/>
          <p:cNvSpPr/>
          <p:nvPr/>
        </p:nvSpPr>
        <p:spPr>
          <a:xfrm>
            <a:off x="2651760" y="2834640"/>
            <a:ext cx="822960" cy="822960"/>
          </a:xfrm>
          <a:prstGeom prst="ellipse">
            <a:avLst/>
          </a:prstGeom>
          <a:solidFill>
            <a:schemeClr val="bg1">
              <a:alpha val="0"/>
            </a:schemeClr>
          </a:solidFill>
          <a:ln w="15875">
            <a:solidFill>
              <a:schemeClr val="bg2">
                <a:alpha val="55000"/>
              </a:schemeClr>
            </a:solidFill>
            <a:prstDash val="solid"/>
          </a:ln>
        </p:spPr>
      </p:sp>
      <p:sp>
        <p:nvSpPr>
          <p:cNvPr id="27" name="sodium ion: nucleus"/>
          <p:cNvSpPr/>
          <p:nvPr/>
        </p:nvSpPr>
        <p:spPr>
          <a:xfrm>
            <a:off x="2899703" y="3082583"/>
            <a:ext cx="327074" cy="327074"/>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700" b="1" dirty="0">
                <a:solidFill>
                  <a:schemeClr val="bg1"/>
                </a:solidFill>
              </a:rPr>
              <a:t>11 p</a:t>
            </a:r>
            <a:pPr algn="ctr" indent="0" marL="0">
              <a:buNone/>
            </a:pPr>
            <a:r>
              <a:rPr lang="en-US" sz="700" b="1" baseline="30000" dirty="0">
                <a:solidFill>
                  <a:schemeClr val="bg1"/>
                </a:solidFill>
              </a:rPr>
              <a:t>+</a:t>
            </a:r>
            <a:endParaRPr lang="en-US" sz="700" dirty="0"/>
          </a:p>
          <a:p>
            <a:pPr algn="ctr" indent="0" marL="0">
              <a:buNone/>
            </a:pPr>
            <a:r>
              <a:rPr lang="en-US" sz="700" b="1" dirty="0">
                <a:solidFill>
                  <a:schemeClr val="bg1"/>
                </a:solidFill>
              </a:rPr>
              <a:t>12 n</a:t>
            </a:r>
            <a:pPr algn="ctr" indent="0" marL="0">
              <a:buNone/>
            </a:pPr>
            <a:r>
              <a:rPr lang="en-US" sz="700" b="1" baseline="30000" dirty="0">
                <a:solidFill>
                  <a:schemeClr val="bg1"/>
                </a:solidFill>
              </a:rPr>
              <a:t>0</a:t>
            </a:r>
            <a:endParaRPr lang="en-US" sz="700" dirty="0"/>
          </a:p>
        </p:txBody>
      </p:sp>
      <p:sp>
        <p:nvSpPr>
          <p:cNvPr id="28" name="sodium ion: electron, shell 1"/>
          <p:cNvSpPr/>
          <p:nvPr/>
        </p:nvSpPr>
        <p:spPr>
          <a:xfrm>
            <a:off x="3023675" y="2953336"/>
            <a:ext cx="79131" cy="79131"/>
          </a:xfrm>
          <a:prstGeom prst="ellipse">
            <a:avLst/>
          </a:prstGeom>
          <a:solidFill>
            <a:schemeClr val="accent1"/>
          </a:solidFill>
          <a:ln w="3175">
            <a:solidFill>
              <a:schemeClr val="accent1"/>
            </a:solidFill>
            <a:prstDash val="solid"/>
          </a:ln>
        </p:spPr>
      </p:sp>
      <p:sp>
        <p:nvSpPr>
          <p:cNvPr id="29" name="sodium ion: electron, shell 1"/>
          <p:cNvSpPr/>
          <p:nvPr/>
        </p:nvSpPr>
        <p:spPr>
          <a:xfrm>
            <a:off x="3276893" y="3206555"/>
            <a:ext cx="79131" cy="79131"/>
          </a:xfrm>
          <a:prstGeom prst="ellipse">
            <a:avLst/>
          </a:prstGeom>
          <a:solidFill>
            <a:schemeClr val="accent1"/>
          </a:solidFill>
          <a:ln w="3175">
            <a:solidFill>
              <a:schemeClr val="accent1"/>
            </a:solidFill>
            <a:prstDash val="solid"/>
          </a:ln>
        </p:spPr>
      </p:sp>
      <p:sp>
        <p:nvSpPr>
          <p:cNvPr id="30" name="sodium ion: electron, shell 2"/>
          <p:cNvSpPr/>
          <p:nvPr/>
        </p:nvSpPr>
        <p:spPr>
          <a:xfrm>
            <a:off x="2970542" y="2798519"/>
            <a:ext cx="79131" cy="79131"/>
          </a:xfrm>
          <a:prstGeom prst="ellipse">
            <a:avLst/>
          </a:prstGeom>
          <a:solidFill>
            <a:schemeClr val="accent1"/>
          </a:solidFill>
          <a:ln w="3175">
            <a:solidFill>
              <a:schemeClr val="accent1"/>
            </a:solidFill>
            <a:prstDash val="solid"/>
          </a:ln>
        </p:spPr>
      </p:sp>
      <p:sp>
        <p:nvSpPr>
          <p:cNvPr id="31" name="sodium ion: electron, shell 2"/>
          <p:cNvSpPr/>
          <p:nvPr/>
        </p:nvSpPr>
        <p:spPr>
          <a:xfrm>
            <a:off x="3076807" y="2798519"/>
            <a:ext cx="79131" cy="79131"/>
          </a:xfrm>
          <a:prstGeom prst="ellipse">
            <a:avLst/>
          </a:prstGeom>
          <a:solidFill>
            <a:schemeClr val="accent1"/>
          </a:solidFill>
          <a:ln w="3175">
            <a:solidFill>
              <a:schemeClr val="accent1"/>
            </a:solidFill>
            <a:prstDash val="solid"/>
          </a:ln>
        </p:spPr>
      </p:sp>
      <p:sp>
        <p:nvSpPr>
          <p:cNvPr id="32" name="sodium ion: electron, shell 2"/>
          <p:cNvSpPr/>
          <p:nvPr/>
        </p:nvSpPr>
        <p:spPr>
          <a:xfrm>
            <a:off x="3431710" y="3153422"/>
            <a:ext cx="79131" cy="79131"/>
          </a:xfrm>
          <a:prstGeom prst="ellipse">
            <a:avLst/>
          </a:prstGeom>
          <a:solidFill>
            <a:schemeClr val="accent1"/>
          </a:solidFill>
          <a:ln w="3175">
            <a:solidFill>
              <a:schemeClr val="accent1"/>
            </a:solidFill>
            <a:prstDash val="solid"/>
          </a:ln>
        </p:spPr>
      </p:sp>
      <p:sp>
        <p:nvSpPr>
          <p:cNvPr id="33" name="sodium ion: electron, shell 2"/>
          <p:cNvSpPr/>
          <p:nvPr/>
        </p:nvSpPr>
        <p:spPr>
          <a:xfrm>
            <a:off x="3431710" y="3259687"/>
            <a:ext cx="79131" cy="79131"/>
          </a:xfrm>
          <a:prstGeom prst="ellipse">
            <a:avLst/>
          </a:prstGeom>
          <a:solidFill>
            <a:schemeClr val="accent1"/>
          </a:solidFill>
          <a:ln w="3175">
            <a:solidFill>
              <a:schemeClr val="accent1"/>
            </a:solidFill>
            <a:prstDash val="solid"/>
          </a:ln>
        </p:spPr>
      </p:sp>
      <p:sp>
        <p:nvSpPr>
          <p:cNvPr id="34" name="sodium ion: electron, shell 2"/>
          <p:cNvSpPr/>
          <p:nvPr/>
        </p:nvSpPr>
        <p:spPr>
          <a:xfrm>
            <a:off x="3076807" y="3614590"/>
            <a:ext cx="79131" cy="79131"/>
          </a:xfrm>
          <a:prstGeom prst="ellipse">
            <a:avLst/>
          </a:prstGeom>
          <a:solidFill>
            <a:schemeClr val="accent1"/>
          </a:solidFill>
          <a:ln w="3175">
            <a:solidFill>
              <a:schemeClr val="accent1"/>
            </a:solidFill>
            <a:prstDash val="solid"/>
          </a:ln>
        </p:spPr>
      </p:sp>
      <p:sp>
        <p:nvSpPr>
          <p:cNvPr id="35" name="sodium ion: electron, shell 2"/>
          <p:cNvSpPr/>
          <p:nvPr/>
        </p:nvSpPr>
        <p:spPr>
          <a:xfrm>
            <a:off x="2970542" y="3614590"/>
            <a:ext cx="79131" cy="79131"/>
          </a:xfrm>
          <a:prstGeom prst="ellipse">
            <a:avLst/>
          </a:prstGeom>
          <a:solidFill>
            <a:schemeClr val="accent1"/>
          </a:solidFill>
          <a:ln w="3175">
            <a:solidFill>
              <a:schemeClr val="accent1"/>
            </a:solidFill>
            <a:prstDash val="solid"/>
          </a:ln>
        </p:spPr>
      </p:sp>
      <p:sp>
        <p:nvSpPr>
          <p:cNvPr id="36" name="sodium ion: electron, shell 2"/>
          <p:cNvSpPr/>
          <p:nvPr/>
        </p:nvSpPr>
        <p:spPr>
          <a:xfrm>
            <a:off x="2615639" y="3259687"/>
            <a:ext cx="79131" cy="79131"/>
          </a:xfrm>
          <a:prstGeom prst="ellipse">
            <a:avLst/>
          </a:prstGeom>
          <a:solidFill>
            <a:schemeClr val="accent1"/>
          </a:solidFill>
          <a:ln w="3175">
            <a:solidFill>
              <a:schemeClr val="accent1"/>
            </a:solidFill>
            <a:prstDash val="solid"/>
          </a:ln>
        </p:spPr>
      </p:sp>
      <p:sp>
        <p:nvSpPr>
          <p:cNvPr id="37" name="sodium ion: electron, shell 2"/>
          <p:cNvSpPr/>
          <p:nvPr/>
        </p:nvSpPr>
        <p:spPr>
          <a:xfrm>
            <a:off x="2615639" y="3153422"/>
            <a:ext cx="79131" cy="79131"/>
          </a:xfrm>
          <a:prstGeom prst="ellipse">
            <a:avLst/>
          </a:prstGeom>
          <a:solidFill>
            <a:schemeClr val="accent1"/>
          </a:solidFill>
          <a:ln w="3175">
            <a:solidFill>
              <a:schemeClr val="accent1"/>
            </a:solidFill>
            <a:prstDash val="solid"/>
          </a:ln>
        </p:spPr>
      </p:sp>
      <p:sp>
        <p:nvSpPr>
          <p:cNvPr id="38" name="sodium ion: left bracket"/>
          <p:cNvSpPr/>
          <p:nvPr/>
        </p:nvSpPr>
        <p:spPr>
          <a:xfrm>
            <a:off x="2567354" y="2750234"/>
            <a:ext cx="73855" cy="991772"/>
          </a:xfrm>
          <a:prstGeom prst="leftBracket">
            <a:avLst/>
          </a:prstGeom>
          <a:noFill/>
          <a:ln w="28575">
            <a:solidFill>
              <a:schemeClr val="bg1"/>
            </a:solidFill>
            <a:prstDash val="solid"/>
          </a:ln>
        </p:spPr>
      </p:sp>
      <p:sp>
        <p:nvSpPr>
          <p:cNvPr id="39" name="sodium ion: right bracket"/>
          <p:cNvSpPr/>
          <p:nvPr/>
        </p:nvSpPr>
        <p:spPr>
          <a:xfrm>
            <a:off x="3485271" y="2750234"/>
            <a:ext cx="73855" cy="991772"/>
          </a:xfrm>
          <a:prstGeom prst="rightBracket">
            <a:avLst/>
          </a:prstGeom>
          <a:noFill/>
          <a:ln w="28575">
            <a:solidFill>
              <a:schemeClr val="bg1"/>
            </a:solidFill>
            <a:prstDash val="solid"/>
          </a:ln>
        </p:spPr>
      </p:sp>
      <p:sp>
        <p:nvSpPr>
          <p:cNvPr id="40" name="sodium ion: charge"/>
          <p:cNvSpPr txBox="1"/>
          <p:nvPr/>
        </p:nvSpPr>
        <p:spPr>
          <a:xfrm>
            <a:off x="3577414" y="2659429"/>
            <a:ext cx="264160" cy="198120"/>
          </a:xfrm>
          <a:prstGeom prst="rect">
            <a:avLst/>
          </a:prstGeom>
          <a:noFill/>
          <a:ln/>
        </p:spPr>
        <p:txBody>
          <a:bodyPr wrap="square" lIns="0" tIns="0" rIns="0" bIns="0" rtlCol="0" anchor="t"/>
          <a:lstStyle/>
          <a:p>
            <a:pPr indent="0" marL="0">
              <a:buNone/>
            </a:pPr>
            <a:r>
              <a:rPr lang="en-US" sz="1300" b="1" dirty="0">
                <a:solidFill>
                  <a:schemeClr val="bg1"/>
                </a:solidFill>
              </a:rPr>
              <a:t>+</a:t>
            </a:r>
            <a:endParaRPr lang="en-US" sz="1300" dirty="0"/>
          </a:p>
        </p:txBody>
      </p:sp>
      <p:sp>
        <p:nvSpPr>
          <p:cNvPr id="41" name="Text 39"/>
          <p:cNvSpPr txBox="1"/>
          <p:nvPr/>
        </p:nvSpPr>
        <p:spPr>
          <a:xfrm>
            <a:off x="365760" y="4114800"/>
            <a:ext cx="3840480" cy="274320"/>
          </a:xfrm>
          <a:prstGeom prst="rect">
            <a:avLst/>
          </a:prstGeom>
          <a:noFill/>
          <a:ln/>
        </p:spPr>
        <p:txBody>
          <a:bodyPr wrap="square" lIns="0" tIns="0" rIns="0" bIns="0" rtlCol="0" anchor="ctr"/>
          <a:lstStyle/>
          <a:p>
            <a:pPr algn="ctr" indent="0" marL="0">
              <a:buNone/>
            </a:pPr>
            <a:r>
              <a:rPr lang="en-US" sz="1200" dirty="0">
                <a:solidFill>
                  <a:schemeClr val="bg2"/>
                </a:solidFill>
              </a:rPr>
              <a:t>Na 2, 8, 1  loses 1  -&gt;  </a:t>
            </a:r>
            <a:pPr algn="ctr" indent="0" marL="0">
              <a:buNone/>
            </a:pPr>
            <a:r>
              <a:rPr lang="en-US" sz="1200" b="1" dirty="0">
                <a:solidFill>
                  <a:schemeClr val="bg2"/>
                </a:solidFill>
              </a:rPr>
              <a:t>Na</a:t>
            </a:r>
            <a:pPr algn="ctr" indent="0" marL="0">
              <a:buNone/>
            </a:pPr>
            <a:r>
              <a:rPr lang="en-US" sz="1200" b="1" baseline="30000" dirty="0">
                <a:solidFill>
                  <a:schemeClr val="bg2"/>
                </a:solidFill>
              </a:rPr>
              <a:t>+</a:t>
            </a:r>
            <a:pPr algn="ctr" indent="0" marL="0">
              <a:buNone/>
            </a:pPr>
            <a:r>
              <a:rPr lang="en-US" sz="1200" dirty="0">
                <a:solidFill>
                  <a:schemeClr val="bg2"/>
                </a:solidFill>
              </a:rPr>
              <a:t>  2, 8</a:t>
            </a:r>
            <a:endParaRPr lang="en-US" sz="1200" dirty="0"/>
          </a:p>
        </p:txBody>
      </p:sp>
      <p:sp>
        <p:nvSpPr>
          <p:cNvPr id="42" name="Chlorine: shell 1"/>
          <p:cNvSpPr/>
          <p:nvPr/>
        </p:nvSpPr>
        <p:spPr>
          <a:xfrm>
            <a:off x="5233646" y="3039086"/>
            <a:ext cx="414068" cy="414068"/>
          </a:xfrm>
          <a:prstGeom prst="ellipse">
            <a:avLst/>
          </a:prstGeom>
          <a:solidFill>
            <a:schemeClr val="bg1">
              <a:alpha val="0"/>
            </a:schemeClr>
          </a:solidFill>
          <a:ln w="15875">
            <a:solidFill>
              <a:schemeClr val="bg2">
                <a:alpha val="55000"/>
              </a:schemeClr>
            </a:solidFill>
            <a:prstDash val="solid"/>
          </a:ln>
        </p:spPr>
      </p:sp>
      <p:sp>
        <p:nvSpPr>
          <p:cNvPr id="43" name="Chlorine: shell 2"/>
          <p:cNvSpPr/>
          <p:nvPr/>
        </p:nvSpPr>
        <p:spPr>
          <a:xfrm>
            <a:off x="5104250" y="2909690"/>
            <a:ext cx="672860" cy="672860"/>
          </a:xfrm>
          <a:prstGeom prst="ellipse">
            <a:avLst/>
          </a:prstGeom>
          <a:solidFill>
            <a:schemeClr val="bg1">
              <a:alpha val="0"/>
            </a:schemeClr>
          </a:solidFill>
          <a:ln w="15875">
            <a:solidFill>
              <a:schemeClr val="bg2">
                <a:alpha val="55000"/>
              </a:schemeClr>
            </a:solidFill>
            <a:prstDash val="solid"/>
          </a:ln>
        </p:spPr>
      </p:sp>
      <p:sp>
        <p:nvSpPr>
          <p:cNvPr id="44" name="Chlorine: shell 3"/>
          <p:cNvSpPr/>
          <p:nvPr/>
        </p:nvSpPr>
        <p:spPr>
          <a:xfrm>
            <a:off x="4983480" y="2788920"/>
            <a:ext cx="914400" cy="914400"/>
          </a:xfrm>
          <a:prstGeom prst="ellipse">
            <a:avLst/>
          </a:prstGeom>
          <a:solidFill>
            <a:schemeClr val="bg1">
              <a:alpha val="0"/>
            </a:schemeClr>
          </a:solidFill>
          <a:ln w="15875">
            <a:solidFill>
              <a:schemeClr val="accent2">
                <a:alpha val="80000"/>
              </a:schemeClr>
            </a:solidFill>
            <a:prstDash val="solid"/>
          </a:ln>
        </p:spPr>
      </p:sp>
      <p:sp>
        <p:nvSpPr>
          <p:cNvPr id="45" name="Chlorine: nucleus"/>
          <p:cNvSpPr/>
          <p:nvPr/>
        </p:nvSpPr>
        <p:spPr>
          <a:xfrm>
            <a:off x="5306971" y="3112411"/>
            <a:ext cx="267419" cy="267419"/>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700" b="1" dirty="0">
                <a:solidFill>
                  <a:schemeClr val="bg1"/>
                </a:solidFill>
              </a:rPr>
              <a:t>17 p</a:t>
            </a:r>
            <a:pPr algn="ctr" indent="0" marL="0">
              <a:buNone/>
            </a:pPr>
            <a:r>
              <a:rPr lang="en-US" sz="700" b="1" baseline="30000" dirty="0">
                <a:solidFill>
                  <a:schemeClr val="bg1"/>
                </a:solidFill>
              </a:rPr>
              <a:t>+</a:t>
            </a:r>
            <a:endParaRPr lang="en-US" sz="700" dirty="0"/>
          </a:p>
          <a:p>
            <a:pPr algn="ctr" indent="0" marL="0">
              <a:buNone/>
            </a:pPr>
            <a:r>
              <a:rPr lang="en-US" sz="700" b="1" dirty="0">
                <a:solidFill>
                  <a:schemeClr val="bg1"/>
                </a:solidFill>
              </a:rPr>
              <a:t>18 n</a:t>
            </a:r>
            <a:pPr algn="ctr" indent="0" marL="0">
              <a:buNone/>
            </a:pPr>
            <a:r>
              <a:rPr lang="en-US" sz="700" b="1" baseline="30000" dirty="0">
                <a:solidFill>
                  <a:schemeClr val="bg1"/>
                </a:solidFill>
              </a:rPr>
              <a:t>0</a:t>
            </a:r>
            <a:endParaRPr lang="en-US" sz="700" dirty="0"/>
          </a:p>
        </p:txBody>
      </p:sp>
      <p:sp>
        <p:nvSpPr>
          <p:cNvPr id="46" name="Chlorine: electron, shell 1"/>
          <p:cNvSpPr/>
          <p:nvPr/>
        </p:nvSpPr>
        <p:spPr>
          <a:xfrm>
            <a:off x="5408331" y="3006737"/>
            <a:ext cx="64698" cy="64698"/>
          </a:xfrm>
          <a:prstGeom prst="ellipse">
            <a:avLst/>
          </a:prstGeom>
          <a:solidFill>
            <a:schemeClr val="accent1"/>
          </a:solidFill>
          <a:ln w="3175">
            <a:solidFill>
              <a:schemeClr val="accent1"/>
            </a:solidFill>
            <a:prstDash val="solid"/>
          </a:ln>
        </p:spPr>
      </p:sp>
      <p:sp>
        <p:nvSpPr>
          <p:cNvPr id="47" name="Chlorine: electron, shell 1"/>
          <p:cNvSpPr/>
          <p:nvPr/>
        </p:nvSpPr>
        <p:spPr>
          <a:xfrm>
            <a:off x="5615365" y="3213771"/>
            <a:ext cx="64698" cy="64698"/>
          </a:xfrm>
          <a:prstGeom prst="ellipse">
            <a:avLst/>
          </a:prstGeom>
          <a:solidFill>
            <a:schemeClr val="accent1"/>
          </a:solidFill>
          <a:ln w="3175">
            <a:solidFill>
              <a:schemeClr val="accent1"/>
            </a:solidFill>
            <a:prstDash val="solid"/>
          </a:ln>
        </p:spPr>
      </p:sp>
      <p:sp>
        <p:nvSpPr>
          <p:cNvPr id="48" name="Chlorine: electron, shell 2"/>
          <p:cNvSpPr/>
          <p:nvPr/>
        </p:nvSpPr>
        <p:spPr>
          <a:xfrm>
            <a:off x="5364889" y="2880157"/>
            <a:ext cx="64698" cy="64698"/>
          </a:xfrm>
          <a:prstGeom prst="ellipse">
            <a:avLst/>
          </a:prstGeom>
          <a:solidFill>
            <a:schemeClr val="accent1"/>
          </a:solidFill>
          <a:ln w="3175">
            <a:solidFill>
              <a:schemeClr val="accent1"/>
            </a:solidFill>
            <a:prstDash val="solid"/>
          </a:ln>
        </p:spPr>
      </p:sp>
      <p:sp>
        <p:nvSpPr>
          <p:cNvPr id="49" name="Chlorine: electron, shell 2"/>
          <p:cNvSpPr/>
          <p:nvPr/>
        </p:nvSpPr>
        <p:spPr>
          <a:xfrm>
            <a:off x="5451773" y="2880157"/>
            <a:ext cx="64698" cy="64698"/>
          </a:xfrm>
          <a:prstGeom prst="ellipse">
            <a:avLst/>
          </a:prstGeom>
          <a:solidFill>
            <a:schemeClr val="accent1"/>
          </a:solidFill>
          <a:ln w="3175">
            <a:solidFill>
              <a:schemeClr val="accent1"/>
            </a:solidFill>
            <a:prstDash val="solid"/>
          </a:ln>
        </p:spPr>
      </p:sp>
      <p:sp>
        <p:nvSpPr>
          <p:cNvPr id="50" name="Chlorine: electron, shell 2"/>
          <p:cNvSpPr/>
          <p:nvPr/>
        </p:nvSpPr>
        <p:spPr>
          <a:xfrm>
            <a:off x="5741945" y="3170329"/>
            <a:ext cx="64698" cy="64698"/>
          </a:xfrm>
          <a:prstGeom prst="ellipse">
            <a:avLst/>
          </a:prstGeom>
          <a:solidFill>
            <a:schemeClr val="accent1"/>
          </a:solidFill>
          <a:ln w="3175">
            <a:solidFill>
              <a:schemeClr val="accent1"/>
            </a:solidFill>
            <a:prstDash val="solid"/>
          </a:ln>
        </p:spPr>
      </p:sp>
      <p:sp>
        <p:nvSpPr>
          <p:cNvPr id="51" name="Chlorine: electron, shell 2"/>
          <p:cNvSpPr/>
          <p:nvPr/>
        </p:nvSpPr>
        <p:spPr>
          <a:xfrm>
            <a:off x="5741945" y="3257213"/>
            <a:ext cx="64698" cy="64698"/>
          </a:xfrm>
          <a:prstGeom prst="ellipse">
            <a:avLst/>
          </a:prstGeom>
          <a:solidFill>
            <a:schemeClr val="accent1"/>
          </a:solidFill>
          <a:ln w="3175">
            <a:solidFill>
              <a:schemeClr val="accent1"/>
            </a:solidFill>
            <a:prstDash val="solid"/>
          </a:ln>
        </p:spPr>
      </p:sp>
      <p:sp>
        <p:nvSpPr>
          <p:cNvPr id="52" name="Chlorine: electron, shell 2"/>
          <p:cNvSpPr/>
          <p:nvPr/>
        </p:nvSpPr>
        <p:spPr>
          <a:xfrm>
            <a:off x="5451773" y="3547385"/>
            <a:ext cx="64698" cy="64698"/>
          </a:xfrm>
          <a:prstGeom prst="ellipse">
            <a:avLst/>
          </a:prstGeom>
          <a:solidFill>
            <a:schemeClr val="accent1"/>
          </a:solidFill>
          <a:ln w="3175">
            <a:solidFill>
              <a:schemeClr val="accent1"/>
            </a:solidFill>
            <a:prstDash val="solid"/>
          </a:ln>
        </p:spPr>
      </p:sp>
      <p:sp>
        <p:nvSpPr>
          <p:cNvPr id="53" name="Chlorine: electron, shell 2"/>
          <p:cNvSpPr/>
          <p:nvPr/>
        </p:nvSpPr>
        <p:spPr>
          <a:xfrm>
            <a:off x="5364889" y="3547385"/>
            <a:ext cx="64698" cy="64698"/>
          </a:xfrm>
          <a:prstGeom prst="ellipse">
            <a:avLst/>
          </a:prstGeom>
          <a:solidFill>
            <a:schemeClr val="accent1"/>
          </a:solidFill>
          <a:ln w="3175">
            <a:solidFill>
              <a:schemeClr val="accent1"/>
            </a:solidFill>
            <a:prstDash val="solid"/>
          </a:ln>
        </p:spPr>
      </p:sp>
      <p:sp>
        <p:nvSpPr>
          <p:cNvPr id="54" name="Chlorine: electron, shell 2"/>
          <p:cNvSpPr/>
          <p:nvPr/>
        </p:nvSpPr>
        <p:spPr>
          <a:xfrm>
            <a:off x="5074717" y="3257213"/>
            <a:ext cx="64698" cy="64698"/>
          </a:xfrm>
          <a:prstGeom prst="ellipse">
            <a:avLst/>
          </a:prstGeom>
          <a:solidFill>
            <a:schemeClr val="accent1"/>
          </a:solidFill>
          <a:ln w="3175">
            <a:solidFill>
              <a:schemeClr val="accent1"/>
            </a:solidFill>
            <a:prstDash val="solid"/>
          </a:ln>
        </p:spPr>
      </p:sp>
      <p:sp>
        <p:nvSpPr>
          <p:cNvPr id="55" name="Chlorine: electron, shell 2"/>
          <p:cNvSpPr/>
          <p:nvPr/>
        </p:nvSpPr>
        <p:spPr>
          <a:xfrm>
            <a:off x="5074717" y="3170329"/>
            <a:ext cx="64698" cy="64698"/>
          </a:xfrm>
          <a:prstGeom prst="ellipse">
            <a:avLst/>
          </a:prstGeom>
          <a:solidFill>
            <a:schemeClr val="accent1"/>
          </a:solidFill>
          <a:ln w="3175">
            <a:solidFill>
              <a:schemeClr val="accent1"/>
            </a:solidFill>
            <a:prstDash val="solid"/>
          </a:ln>
        </p:spPr>
      </p:sp>
      <p:sp>
        <p:nvSpPr>
          <p:cNvPr id="56" name="Chlorine: electron, shell 3"/>
          <p:cNvSpPr/>
          <p:nvPr/>
        </p:nvSpPr>
        <p:spPr>
          <a:xfrm>
            <a:off x="5364833" y="2758645"/>
            <a:ext cx="64698" cy="64698"/>
          </a:xfrm>
          <a:prstGeom prst="ellipse">
            <a:avLst/>
          </a:prstGeom>
          <a:solidFill>
            <a:schemeClr val="accent2"/>
          </a:solidFill>
          <a:ln w="3175">
            <a:solidFill>
              <a:schemeClr val="accent2"/>
            </a:solidFill>
            <a:prstDash val="solid"/>
          </a:ln>
        </p:spPr>
      </p:sp>
      <p:sp>
        <p:nvSpPr>
          <p:cNvPr id="57" name="Chlorine: electron, shell 3"/>
          <p:cNvSpPr/>
          <p:nvPr/>
        </p:nvSpPr>
        <p:spPr>
          <a:xfrm>
            <a:off x="5451828" y="2758645"/>
            <a:ext cx="64698" cy="64698"/>
          </a:xfrm>
          <a:prstGeom prst="ellipse">
            <a:avLst/>
          </a:prstGeom>
          <a:solidFill>
            <a:schemeClr val="accent2"/>
          </a:solidFill>
          <a:ln w="3175">
            <a:solidFill>
              <a:schemeClr val="accent2"/>
            </a:solidFill>
            <a:prstDash val="solid"/>
          </a:ln>
        </p:spPr>
      </p:sp>
      <p:sp>
        <p:nvSpPr>
          <p:cNvPr id="58" name="Chlorine: electron, shell 3"/>
          <p:cNvSpPr/>
          <p:nvPr/>
        </p:nvSpPr>
        <p:spPr>
          <a:xfrm>
            <a:off x="5863457" y="3170273"/>
            <a:ext cx="64698" cy="64698"/>
          </a:xfrm>
          <a:prstGeom prst="ellipse">
            <a:avLst/>
          </a:prstGeom>
          <a:solidFill>
            <a:schemeClr val="accent2"/>
          </a:solidFill>
          <a:ln w="3175">
            <a:solidFill>
              <a:schemeClr val="accent2"/>
            </a:solidFill>
            <a:prstDash val="solid"/>
          </a:ln>
        </p:spPr>
      </p:sp>
      <p:sp>
        <p:nvSpPr>
          <p:cNvPr id="59" name="Chlorine: electron, shell 3"/>
          <p:cNvSpPr/>
          <p:nvPr/>
        </p:nvSpPr>
        <p:spPr>
          <a:xfrm>
            <a:off x="5863457" y="3257268"/>
            <a:ext cx="64698" cy="64698"/>
          </a:xfrm>
          <a:prstGeom prst="ellipse">
            <a:avLst/>
          </a:prstGeom>
          <a:solidFill>
            <a:schemeClr val="accent2"/>
          </a:solidFill>
          <a:ln w="3175">
            <a:solidFill>
              <a:schemeClr val="accent2"/>
            </a:solidFill>
            <a:prstDash val="solid"/>
          </a:ln>
        </p:spPr>
      </p:sp>
      <p:sp>
        <p:nvSpPr>
          <p:cNvPr id="60" name="Chlorine: electron, shell 3"/>
          <p:cNvSpPr/>
          <p:nvPr/>
        </p:nvSpPr>
        <p:spPr>
          <a:xfrm>
            <a:off x="5451828" y="3668897"/>
            <a:ext cx="64698" cy="64698"/>
          </a:xfrm>
          <a:prstGeom prst="ellipse">
            <a:avLst/>
          </a:prstGeom>
          <a:solidFill>
            <a:schemeClr val="accent2"/>
          </a:solidFill>
          <a:ln w="3175">
            <a:solidFill>
              <a:schemeClr val="accent2"/>
            </a:solidFill>
            <a:prstDash val="solid"/>
          </a:ln>
        </p:spPr>
      </p:sp>
      <p:sp>
        <p:nvSpPr>
          <p:cNvPr id="61" name="Chlorine: electron, shell 3"/>
          <p:cNvSpPr/>
          <p:nvPr/>
        </p:nvSpPr>
        <p:spPr>
          <a:xfrm>
            <a:off x="5364833" y="3668897"/>
            <a:ext cx="64698" cy="64698"/>
          </a:xfrm>
          <a:prstGeom prst="ellipse">
            <a:avLst/>
          </a:prstGeom>
          <a:solidFill>
            <a:schemeClr val="accent2"/>
          </a:solidFill>
          <a:ln w="3175">
            <a:solidFill>
              <a:schemeClr val="accent2"/>
            </a:solidFill>
            <a:prstDash val="solid"/>
          </a:ln>
        </p:spPr>
      </p:sp>
      <p:sp>
        <p:nvSpPr>
          <p:cNvPr id="62" name="Chlorine: electron, shell 3"/>
          <p:cNvSpPr/>
          <p:nvPr/>
        </p:nvSpPr>
        <p:spPr>
          <a:xfrm>
            <a:off x="4951131" y="3213771"/>
            <a:ext cx="64698" cy="64698"/>
          </a:xfrm>
          <a:prstGeom prst="ellipse">
            <a:avLst/>
          </a:prstGeom>
          <a:solidFill>
            <a:schemeClr val="accent2"/>
          </a:solidFill>
          <a:ln w="3175">
            <a:solidFill>
              <a:schemeClr val="accent2"/>
            </a:solidFill>
            <a:prstDash val="solid"/>
          </a:ln>
        </p:spPr>
      </p:sp>
      <p:sp>
        <p:nvSpPr>
          <p:cNvPr id="63" name="Arrow"/>
          <p:cNvSpPr/>
          <p:nvPr/>
        </p:nvSpPr>
        <p:spPr>
          <a:xfrm>
            <a:off x="6172200" y="3090672"/>
            <a:ext cx="384048" cy="310896"/>
          </a:xfrm>
          <a:prstGeom prst="rightArrow">
            <a:avLst/>
          </a:prstGeom>
          <a:solidFill>
            <a:schemeClr val="accent2"/>
          </a:solidFill>
          <a:ln w="6350">
            <a:solidFill>
              <a:schemeClr val="accent2"/>
            </a:solidFill>
            <a:prstDash val="solid"/>
          </a:ln>
        </p:spPr>
      </p:sp>
      <p:sp>
        <p:nvSpPr>
          <p:cNvPr id="64" name="chloride: shell 1"/>
          <p:cNvSpPr/>
          <p:nvPr/>
        </p:nvSpPr>
        <p:spPr>
          <a:xfrm>
            <a:off x="7303468" y="3051508"/>
            <a:ext cx="389224" cy="389224"/>
          </a:xfrm>
          <a:prstGeom prst="ellipse">
            <a:avLst/>
          </a:prstGeom>
          <a:solidFill>
            <a:schemeClr val="bg1">
              <a:alpha val="0"/>
            </a:schemeClr>
          </a:solidFill>
          <a:ln w="15875">
            <a:solidFill>
              <a:schemeClr val="bg2">
                <a:alpha val="55000"/>
              </a:schemeClr>
            </a:solidFill>
            <a:prstDash val="solid"/>
          </a:ln>
        </p:spPr>
      </p:sp>
      <p:sp>
        <p:nvSpPr>
          <p:cNvPr id="65" name="chloride: shell 2"/>
          <p:cNvSpPr/>
          <p:nvPr/>
        </p:nvSpPr>
        <p:spPr>
          <a:xfrm>
            <a:off x="7181836" y="2929876"/>
            <a:ext cx="632489" cy="632489"/>
          </a:xfrm>
          <a:prstGeom prst="ellipse">
            <a:avLst/>
          </a:prstGeom>
          <a:solidFill>
            <a:schemeClr val="bg1">
              <a:alpha val="0"/>
            </a:schemeClr>
          </a:solidFill>
          <a:ln w="15875">
            <a:solidFill>
              <a:schemeClr val="bg2">
                <a:alpha val="55000"/>
              </a:schemeClr>
            </a:solidFill>
            <a:prstDash val="solid"/>
          </a:ln>
        </p:spPr>
      </p:sp>
      <p:sp>
        <p:nvSpPr>
          <p:cNvPr id="66" name="chloride: shell 3"/>
          <p:cNvSpPr/>
          <p:nvPr/>
        </p:nvSpPr>
        <p:spPr>
          <a:xfrm>
            <a:off x="7068312" y="2816352"/>
            <a:ext cx="859536" cy="859536"/>
          </a:xfrm>
          <a:prstGeom prst="ellipse">
            <a:avLst/>
          </a:prstGeom>
          <a:solidFill>
            <a:schemeClr val="bg1">
              <a:alpha val="0"/>
            </a:schemeClr>
          </a:solidFill>
          <a:ln w="15875">
            <a:solidFill>
              <a:schemeClr val="bg2">
                <a:alpha val="55000"/>
              </a:schemeClr>
            </a:solidFill>
            <a:prstDash val="solid"/>
          </a:ln>
        </p:spPr>
      </p:sp>
      <p:sp>
        <p:nvSpPr>
          <p:cNvPr id="67" name="chloride: nucleus"/>
          <p:cNvSpPr/>
          <p:nvPr/>
        </p:nvSpPr>
        <p:spPr>
          <a:xfrm>
            <a:off x="7372393" y="3120433"/>
            <a:ext cx="251374" cy="251374"/>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700" b="1" dirty="0">
                <a:solidFill>
                  <a:schemeClr val="bg1"/>
                </a:solidFill>
              </a:rPr>
              <a:t>17 p</a:t>
            </a:r>
            <a:pPr algn="ctr" indent="0" marL="0">
              <a:buNone/>
            </a:pPr>
            <a:r>
              <a:rPr lang="en-US" sz="700" b="1" baseline="30000" dirty="0">
                <a:solidFill>
                  <a:schemeClr val="bg1"/>
                </a:solidFill>
              </a:rPr>
              <a:t>+</a:t>
            </a:r>
            <a:endParaRPr lang="en-US" sz="700" dirty="0"/>
          </a:p>
          <a:p>
            <a:pPr algn="ctr" indent="0" marL="0">
              <a:buNone/>
            </a:pPr>
            <a:r>
              <a:rPr lang="en-US" sz="700" b="1" dirty="0">
                <a:solidFill>
                  <a:schemeClr val="bg1"/>
                </a:solidFill>
              </a:rPr>
              <a:t>18 n</a:t>
            </a:r>
            <a:pPr algn="ctr" indent="0" marL="0">
              <a:buNone/>
            </a:pPr>
            <a:r>
              <a:rPr lang="en-US" sz="700" b="1" baseline="30000" dirty="0">
                <a:solidFill>
                  <a:schemeClr val="bg1"/>
                </a:solidFill>
              </a:rPr>
              <a:t>0</a:t>
            </a:r>
            <a:endParaRPr lang="en-US" sz="700" dirty="0"/>
          </a:p>
        </p:txBody>
      </p:sp>
      <p:sp>
        <p:nvSpPr>
          <p:cNvPr id="68" name="chloride: electron, shell 1"/>
          <p:cNvSpPr/>
          <p:nvPr/>
        </p:nvSpPr>
        <p:spPr>
          <a:xfrm>
            <a:off x="7467672" y="3021100"/>
            <a:ext cx="60816" cy="60816"/>
          </a:xfrm>
          <a:prstGeom prst="ellipse">
            <a:avLst/>
          </a:prstGeom>
          <a:solidFill>
            <a:schemeClr val="accent1"/>
          </a:solidFill>
          <a:ln w="3175">
            <a:solidFill>
              <a:schemeClr val="accent1"/>
            </a:solidFill>
            <a:prstDash val="solid"/>
          </a:ln>
        </p:spPr>
      </p:sp>
      <p:sp>
        <p:nvSpPr>
          <p:cNvPr id="69" name="chloride: electron, shell 1"/>
          <p:cNvSpPr/>
          <p:nvPr/>
        </p:nvSpPr>
        <p:spPr>
          <a:xfrm>
            <a:off x="7662284" y="3215712"/>
            <a:ext cx="60816" cy="60816"/>
          </a:xfrm>
          <a:prstGeom prst="ellipse">
            <a:avLst/>
          </a:prstGeom>
          <a:solidFill>
            <a:schemeClr val="accent1"/>
          </a:solidFill>
          <a:ln w="3175">
            <a:solidFill>
              <a:schemeClr val="accent1"/>
            </a:solidFill>
            <a:prstDash val="solid"/>
          </a:ln>
        </p:spPr>
      </p:sp>
      <p:sp>
        <p:nvSpPr>
          <p:cNvPr id="70" name="chloride: electron, shell 2"/>
          <p:cNvSpPr/>
          <p:nvPr/>
        </p:nvSpPr>
        <p:spPr>
          <a:xfrm>
            <a:off x="7426837" y="2902115"/>
            <a:ext cx="60816" cy="60816"/>
          </a:xfrm>
          <a:prstGeom prst="ellipse">
            <a:avLst/>
          </a:prstGeom>
          <a:solidFill>
            <a:schemeClr val="accent1"/>
          </a:solidFill>
          <a:ln w="3175">
            <a:solidFill>
              <a:schemeClr val="accent1"/>
            </a:solidFill>
            <a:prstDash val="solid"/>
          </a:ln>
        </p:spPr>
      </p:sp>
      <p:sp>
        <p:nvSpPr>
          <p:cNvPr id="71" name="chloride: electron, shell 2"/>
          <p:cNvSpPr/>
          <p:nvPr/>
        </p:nvSpPr>
        <p:spPr>
          <a:xfrm>
            <a:off x="7508507" y="2902115"/>
            <a:ext cx="60816" cy="60816"/>
          </a:xfrm>
          <a:prstGeom prst="ellipse">
            <a:avLst/>
          </a:prstGeom>
          <a:solidFill>
            <a:schemeClr val="accent1"/>
          </a:solidFill>
          <a:ln w="3175">
            <a:solidFill>
              <a:schemeClr val="accent1"/>
            </a:solidFill>
            <a:prstDash val="solid"/>
          </a:ln>
        </p:spPr>
      </p:sp>
      <p:sp>
        <p:nvSpPr>
          <p:cNvPr id="72" name="chloride: electron, shell 2"/>
          <p:cNvSpPr/>
          <p:nvPr/>
        </p:nvSpPr>
        <p:spPr>
          <a:xfrm>
            <a:off x="7781269" y="3174877"/>
            <a:ext cx="60816" cy="60816"/>
          </a:xfrm>
          <a:prstGeom prst="ellipse">
            <a:avLst/>
          </a:prstGeom>
          <a:solidFill>
            <a:schemeClr val="accent1"/>
          </a:solidFill>
          <a:ln w="3175">
            <a:solidFill>
              <a:schemeClr val="accent1"/>
            </a:solidFill>
            <a:prstDash val="solid"/>
          </a:ln>
        </p:spPr>
      </p:sp>
      <p:sp>
        <p:nvSpPr>
          <p:cNvPr id="73" name="chloride: electron, shell 2"/>
          <p:cNvSpPr/>
          <p:nvPr/>
        </p:nvSpPr>
        <p:spPr>
          <a:xfrm>
            <a:off x="7781269" y="3256547"/>
            <a:ext cx="60816" cy="60816"/>
          </a:xfrm>
          <a:prstGeom prst="ellipse">
            <a:avLst/>
          </a:prstGeom>
          <a:solidFill>
            <a:schemeClr val="accent1"/>
          </a:solidFill>
          <a:ln w="3175">
            <a:solidFill>
              <a:schemeClr val="accent1"/>
            </a:solidFill>
            <a:prstDash val="solid"/>
          </a:ln>
        </p:spPr>
      </p:sp>
      <p:sp>
        <p:nvSpPr>
          <p:cNvPr id="74" name="chloride: electron, shell 2"/>
          <p:cNvSpPr/>
          <p:nvPr/>
        </p:nvSpPr>
        <p:spPr>
          <a:xfrm>
            <a:off x="7508507" y="3529309"/>
            <a:ext cx="60816" cy="60816"/>
          </a:xfrm>
          <a:prstGeom prst="ellipse">
            <a:avLst/>
          </a:prstGeom>
          <a:solidFill>
            <a:schemeClr val="accent1"/>
          </a:solidFill>
          <a:ln w="3175">
            <a:solidFill>
              <a:schemeClr val="accent1"/>
            </a:solidFill>
            <a:prstDash val="solid"/>
          </a:ln>
        </p:spPr>
      </p:sp>
      <p:sp>
        <p:nvSpPr>
          <p:cNvPr id="75" name="chloride: electron, shell 2"/>
          <p:cNvSpPr/>
          <p:nvPr/>
        </p:nvSpPr>
        <p:spPr>
          <a:xfrm>
            <a:off x="7426837" y="3529309"/>
            <a:ext cx="60816" cy="60816"/>
          </a:xfrm>
          <a:prstGeom prst="ellipse">
            <a:avLst/>
          </a:prstGeom>
          <a:solidFill>
            <a:schemeClr val="accent1"/>
          </a:solidFill>
          <a:ln w="3175">
            <a:solidFill>
              <a:schemeClr val="accent1"/>
            </a:solidFill>
            <a:prstDash val="solid"/>
          </a:ln>
        </p:spPr>
      </p:sp>
      <p:sp>
        <p:nvSpPr>
          <p:cNvPr id="76" name="chloride: electron, shell 2"/>
          <p:cNvSpPr/>
          <p:nvPr/>
        </p:nvSpPr>
        <p:spPr>
          <a:xfrm>
            <a:off x="7154075" y="3256547"/>
            <a:ext cx="60816" cy="60816"/>
          </a:xfrm>
          <a:prstGeom prst="ellipse">
            <a:avLst/>
          </a:prstGeom>
          <a:solidFill>
            <a:schemeClr val="accent1"/>
          </a:solidFill>
          <a:ln w="3175">
            <a:solidFill>
              <a:schemeClr val="accent1"/>
            </a:solidFill>
            <a:prstDash val="solid"/>
          </a:ln>
        </p:spPr>
      </p:sp>
      <p:sp>
        <p:nvSpPr>
          <p:cNvPr id="77" name="chloride: electron, shell 2"/>
          <p:cNvSpPr/>
          <p:nvPr/>
        </p:nvSpPr>
        <p:spPr>
          <a:xfrm>
            <a:off x="7154075" y="3174877"/>
            <a:ext cx="60816" cy="60816"/>
          </a:xfrm>
          <a:prstGeom prst="ellipse">
            <a:avLst/>
          </a:prstGeom>
          <a:solidFill>
            <a:schemeClr val="accent1"/>
          </a:solidFill>
          <a:ln w="3175">
            <a:solidFill>
              <a:schemeClr val="accent1"/>
            </a:solidFill>
            <a:prstDash val="solid"/>
          </a:ln>
        </p:spPr>
      </p:sp>
      <p:sp>
        <p:nvSpPr>
          <p:cNvPr id="78" name="chloride: electron, shell 3"/>
          <p:cNvSpPr/>
          <p:nvPr/>
        </p:nvSpPr>
        <p:spPr>
          <a:xfrm>
            <a:off x="7426784" y="2787893"/>
            <a:ext cx="60816" cy="60816"/>
          </a:xfrm>
          <a:prstGeom prst="ellipse">
            <a:avLst/>
          </a:prstGeom>
          <a:solidFill>
            <a:schemeClr val="accent1"/>
          </a:solidFill>
          <a:ln w="3175">
            <a:solidFill>
              <a:schemeClr val="accent1"/>
            </a:solidFill>
            <a:prstDash val="solid"/>
          </a:ln>
        </p:spPr>
      </p:sp>
      <p:sp>
        <p:nvSpPr>
          <p:cNvPr id="79" name="chloride: electron, shell 3"/>
          <p:cNvSpPr/>
          <p:nvPr/>
        </p:nvSpPr>
        <p:spPr>
          <a:xfrm>
            <a:off x="7508560" y="2787893"/>
            <a:ext cx="60816" cy="60816"/>
          </a:xfrm>
          <a:prstGeom prst="ellipse">
            <a:avLst/>
          </a:prstGeom>
          <a:solidFill>
            <a:schemeClr val="accent1"/>
          </a:solidFill>
          <a:ln w="3175">
            <a:solidFill>
              <a:schemeClr val="accent1"/>
            </a:solidFill>
            <a:prstDash val="solid"/>
          </a:ln>
        </p:spPr>
      </p:sp>
      <p:sp>
        <p:nvSpPr>
          <p:cNvPr id="80" name="chloride: electron, shell 3"/>
          <p:cNvSpPr/>
          <p:nvPr/>
        </p:nvSpPr>
        <p:spPr>
          <a:xfrm>
            <a:off x="7895490" y="3174824"/>
            <a:ext cx="60816" cy="60816"/>
          </a:xfrm>
          <a:prstGeom prst="ellipse">
            <a:avLst/>
          </a:prstGeom>
          <a:solidFill>
            <a:schemeClr val="accent1"/>
          </a:solidFill>
          <a:ln w="3175">
            <a:solidFill>
              <a:schemeClr val="accent1"/>
            </a:solidFill>
            <a:prstDash val="solid"/>
          </a:ln>
        </p:spPr>
      </p:sp>
      <p:sp>
        <p:nvSpPr>
          <p:cNvPr id="81" name="chloride: electron, shell 3"/>
          <p:cNvSpPr/>
          <p:nvPr/>
        </p:nvSpPr>
        <p:spPr>
          <a:xfrm>
            <a:off x="7895490" y="3256600"/>
            <a:ext cx="60816" cy="60816"/>
          </a:xfrm>
          <a:prstGeom prst="ellipse">
            <a:avLst/>
          </a:prstGeom>
          <a:solidFill>
            <a:schemeClr val="accent1"/>
          </a:solidFill>
          <a:ln w="3175">
            <a:solidFill>
              <a:schemeClr val="accent1"/>
            </a:solidFill>
            <a:prstDash val="solid"/>
          </a:ln>
        </p:spPr>
      </p:sp>
      <p:sp>
        <p:nvSpPr>
          <p:cNvPr id="82" name="chloride: electron, shell 3"/>
          <p:cNvSpPr/>
          <p:nvPr/>
        </p:nvSpPr>
        <p:spPr>
          <a:xfrm>
            <a:off x="7508560" y="3643530"/>
            <a:ext cx="60816" cy="60816"/>
          </a:xfrm>
          <a:prstGeom prst="ellipse">
            <a:avLst/>
          </a:prstGeom>
          <a:solidFill>
            <a:schemeClr val="accent1"/>
          </a:solidFill>
          <a:ln w="3175">
            <a:solidFill>
              <a:schemeClr val="accent1"/>
            </a:solidFill>
            <a:prstDash val="solid"/>
          </a:ln>
        </p:spPr>
      </p:sp>
      <p:sp>
        <p:nvSpPr>
          <p:cNvPr id="83" name="chloride: electron, shell 3"/>
          <p:cNvSpPr/>
          <p:nvPr/>
        </p:nvSpPr>
        <p:spPr>
          <a:xfrm>
            <a:off x="7426784" y="3643530"/>
            <a:ext cx="60816" cy="60816"/>
          </a:xfrm>
          <a:prstGeom prst="ellipse">
            <a:avLst/>
          </a:prstGeom>
          <a:solidFill>
            <a:schemeClr val="accent1"/>
          </a:solidFill>
          <a:ln w="3175">
            <a:solidFill>
              <a:schemeClr val="accent1"/>
            </a:solidFill>
            <a:prstDash val="solid"/>
          </a:ln>
        </p:spPr>
      </p:sp>
      <p:sp>
        <p:nvSpPr>
          <p:cNvPr id="84" name="chloride: electron, shell 3"/>
          <p:cNvSpPr/>
          <p:nvPr/>
        </p:nvSpPr>
        <p:spPr>
          <a:xfrm>
            <a:off x="7039853" y="3256600"/>
            <a:ext cx="60816" cy="60816"/>
          </a:xfrm>
          <a:prstGeom prst="ellipse">
            <a:avLst/>
          </a:prstGeom>
          <a:solidFill>
            <a:schemeClr val="accent1"/>
          </a:solidFill>
          <a:ln w="3175">
            <a:solidFill>
              <a:schemeClr val="accent1"/>
            </a:solidFill>
            <a:prstDash val="solid"/>
          </a:ln>
        </p:spPr>
      </p:sp>
      <p:sp>
        <p:nvSpPr>
          <p:cNvPr id="85" name="chloride: gained electron, shell 3"/>
          <p:cNvSpPr/>
          <p:nvPr/>
        </p:nvSpPr>
        <p:spPr>
          <a:xfrm>
            <a:off x="7039853" y="3174824"/>
            <a:ext cx="60816" cy="60816"/>
          </a:xfrm>
          <a:prstGeom prst="ellipse">
            <a:avLst/>
          </a:prstGeom>
          <a:solidFill>
            <a:schemeClr val="accent6"/>
          </a:solidFill>
          <a:ln w="3175">
            <a:solidFill>
              <a:schemeClr val="accent6"/>
            </a:solidFill>
            <a:prstDash val="solid"/>
          </a:ln>
        </p:spPr>
      </p:sp>
      <p:sp>
        <p:nvSpPr>
          <p:cNvPr id="86" name="chloride: left bracket"/>
          <p:cNvSpPr/>
          <p:nvPr/>
        </p:nvSpPr>
        <p:spPr>
          <a:xfrm>
            <a:off x="7003441" y="2751481"/>
            <a:ext cx="73152" cy="989277"/>
          </a:xfrm>
          <a:prstGeom prst="leftBracket">
            <a:avLst/>
          </a:prstGeom>
          <a:noFill/>
          <a:ln w="28575">
            <a:solidFill>
              <a:schemeClr val="bg1"/>
            </a:solidFill>
            <a:prstDash val="solid"/>
          </a:ln>
        </p:spPr>
      </p:sp>
      <p:sp>
        <p:nvSpPr>
          <p:cNvPr id="87" name="chloride: right bracket"/>
          <p:cNvSpPr/>
          <p:nvPr/>
        </p:nvSpPr>
        <p:spPr>
          <a:xfrm>
            <a:off x="7919567" y="2751481"/>
            <a:ext cx="73152" cy="989277"/>
          </a:xfrm>
          <a:prstGeom prst="rightBracket">
            <a:avLst/>
          </a:prstGeom>
          <a:noFill/>
          <a:ln w="28575">
            <a:solidFill>
              <a:schemeClr val="bg1"/>
            </a:solidFill>
            <a:prstDash val="solid"/>
          </a:ln>
        </p:spPr>
      </p:sp>
      <p:sp>
        <p:nvSpPr>
          <p:cNvPr id="88" name="chloride: charge"/>
          <p:cNvSpPr txBox="1"/>
          <p:nvPr/>
        </p:nvSpPr>
        <p:spPr>
          <a:xfrm>
            <a:off x="8011007" y="2660676"/>
            <a:ext cx="264160" cy="198120"/>
          </a:xfrm>
          <a:prstGeom prst="rect">
            <a:avLst/>
          </a:prstGeom>
          <a:noFill/>
          <a:ln/>
        </p:spPr>
        <p:txBody>
          <a:bodyPr wrap="square" lIns="0" tIns="0" rIns="0" bIns="0" rtlCol="0" anchor="t"/>
          <a:lstStyle/>
          <a:p>
            <a:pPr indent="0" marL="0">
              <a:buNone/>
            </a:pPr>
            <a:r>
              <a:rPr lang="en-US" sz="1300" b="1" dirty="0">
                <a:solidFill>
                  <a:schemeClr val="bg1"/>
                </a:solidFill>
              </a:rPr>
              <a:t>−</a:t>
            </a:r>
            <a:endParaRPr lang="en-US" sz="1300" dirty="0"/>
          </a:p>
        </p:txBody>
      </p:sp>
      <p:sp>
        <p:nvSpPr>
          <p:cNvPr id="89" name="Text 87"/>
          <p:cNvSpPr txBox="1"/>
          <p:nvPr/>
        </p:nvSpPr>
        <p:spPr>
          <a:xfrm>
            <a:off x="4572000" y="4114800"/>
            <a:ext cx="4114800" cy="274320"/>
          </a:xfrm>
          <a:prstGeom prst="rect">
            <a:avLst/>
          </a:prstGeom>
          <a:noFill/>
          <a:ln/>
        </p:spPr>
        <p:txBody>
          <a:bodyPr wrap="square" lIns="0" tIns="0" rIns="0" bIns="0" rtlCol="0" anchor="ctr"/>
          <a:lstStyle/>
          <a:p>
            <a:pPr algn="ctr" indent="0" marL="0">
              <a:buNone/>
            </a:pPr>
            <a:r>
              <a:rPr lang="en-US" sz="1200" dirty="0">
                <a:solidFill>
                  <a:schemeClr val="bg2"/>
                </a:solidFill>
              </a:rPr>
              <a:t>Cl 2, 8, 7  gains 1  -&gt;  </a:t>
            </a:r>
            <a:pPr algn="ctr" indent="0" marL="0">
              <a:buNone/>
            </a:pPr>
            <a:r>
              <a:rPr lang="en-US" sz="1200" b="1" dirty="0">
                <a:solidFill>
                  <a:schemeClr val="bg2"/>
                </a:solidFill>
              </a:rPr>
              <a:t>Cl</a:t>
            </a:r>
            <a:pPr algn="ctr" indent="0" marL="0">
              <a:buNone/>
            </a:pPr>
            <a:r>
              <a:rPr lang="en-US" sz="1200" b="1" baseline="30000" dirty="0">
                <a:solidFill>
                  <a:schemeClr val="bg2"/>
                </a:solidFill>
              </a:rPr>
              <a:t>−</a:t>
            </a:r>
            <a:pPr algn="ctr" indent="0" marL="0">
              <a:buNone/>
            </a:pPr>
            <a:r>
              <a:rPr lang="en-US" sz="1200" dirty="0">
                <a:solidFill>
                  <a:schemeClr val="bg2"/>
                </a:solidFill>
              </a:rPr>
              <a:t>  2, 8, 8</a:t>
            </a:r>
            <a:endParaRPr lang="en-US" sz="12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ection tile 3"/>
          <p:cNvSpPr/>
          <p:nvPr/>
        </p:nvSpPr>
        <p:spPr>
          <a:xfrm>
            <a:off x="457200" y="301752"/>
            <a:ext cx="749808" cy="841248"/>
          </a:xfrm>
          <a:prstGeom prst="roundRect">
            <a:avLst>
              <a:gd name="adj" fmla="val 12000"/>
            </a:avLst>
          </a:prstGeom>
          <a:solidFill>
            <a:srgbClr val="60A5FA">
              <a:alpha val="28000"/>
            </a:srgbClr>
          </a:solidFill>
          <a:ln w="19050">
            <a:solidFill>
              <a:srgbClr val="60A5FA"/>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3</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2400" b="1" dirty="0">
                <a:solidFill>
                  <a:schemeClr val="bg1"/>
                </a:solidFill>
              </a:rPr>
              <a:t>Mg</a:t>
            </a:r>
            <a:pPr algn="ctr" indent="0" marL="0">
              <a:buNone/>
            </a:pPr>
            <a:r>
              <a:rPr lang="en-US" sz="2400" b="1" baseline="30000" dirty="0">
                <a:solidFill>
                  <a:schemeClr val="bg1"/>
                </a:solidFill>
              </a:rPr>
              <a:t>2+</a:t>
            </a:r>
            <a:endParaRPr lang="en-US" sz="2400" dirty="0"/>
          </a:p>
        </p:txBody>
      </p:sp>
      <p:sp>
        <p:nvSpPr>
          <p:cNvPr id="5" name="Text 3"/>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6" name="Text 4"/>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3 of 9</a:t>
            </a:r>
            <a:endParaRPr lang="en-US" sz="1200" dirty="0"/>
          </a:p>
        </p:txBody>
      </p:sp>
      <p:sp>
        <p:nvSpPr>
          <p:cNvPr id="7"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Lose or gain?</a:t>
            </a:r>
            <a:endParaRPr lang="en-US" sz="2800" dirty="0"/>
          </a:p>
        </p:txBody>
      </p:sp>
      <p:sp>
        <p:nvSpPr>
          <p:cNvPr id="8" name="Text 6"/>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For each atom: will it lose or gain electrons? How many? Which ion forms?</a:t>
            </a:r>
            <a:endParaRPr lang="en-US" sz="1300" dirty="0"/>
          </a:p>
        </p:txBody>
      </p:sp>
      <p:sp>
        <p:nvSpPr>
          <p:cNvPr id="9" name="Lithium"/>
          <p:cNvSpPr/>
          <p:nvPr/>
        </p:nvSpPr>
        <p:spPr>
          <a:xfrm>
            <a:off x="457200" y="1691640"/>
            <a:ext cx="1554480" cy="2926080"/>
          </a:xfrm>
          <a:prstGeom prst="roundRect">
            <a:avLst>
              <a:gd name="adj" fmla="val 5882"/>
            </a:avLst>
          </a:prstGeom>
          <a:solidFill>
            <a:schemeClr val="tx2"/>
          </a:solidFill>
          <a:ln w="9525">
            <a:solidFill>
              <a:schemeClr val="bg2">
                <a:alpha val="30000"/>
              </a:schemeClr>
            </a:solidFill>
            <a:prstDash val="solid"/>
          </a:ln>
        </p:spPr>
      </p:sp>
      <p:sp>
        <p:nvSpPr>
          <p:cNvPr id="10" name="Text 8"/>
          <p:cNvSpPr txBox="1"/>
          <p:nvPr/>
        </p:nvSpPr>
        <p:spPr>
          <a:xfrm>
            <a:off x="566928" y="1783080"/>
            <a:ext cx="1371600" cy="274320"/>
          </a:xfrm>
          <a:prstGeom prst="rect">
            <a:avLst/>
          </a:prstGeom>
          <a:noFill/>
          <a:ln/>
        </p:spPr>
        <p:txBody>
          <a:bodyPr wrap="square" lIns="0" tIns="0" rIns="0" bIns="0" rtlCol="0" anchor="t"/>
          <a:lstStyle/>
          <a:p>
            <a:pPr indent="0" marL="0">
              <a:buNone/>
            </a:pPr>
            <a:r>
              <a:rPr lang="en-US" sz="1300" b="1" dirty="0">
                <a:solidFill>
                  <a:schemeClr val="bg1"/>
                </a:solidFill>
              </a:rPr>
              <a:t>Lithium</a:t>
            </a:r>
            <a:endParaRPr lang="en-US" sz="1300" dirty="0"/>
          </a:p>
        </p:txBody>
      </p:sp>
      <p:sp>
        <p:nvSpPr>
          <p:cNvPr id="11" name="Text 9"/>
          <p:cNvSpPr txBox="1"/>
          <p:nvPr/>
        </p:nvSpPr>
        <p:spPr>
          <a:xfrm>
            <a:off x="566928" y="2057400"/>
            <a:ext cx="1371600" cy="237744"/>
          </a:xfrm>
          <a:prstGeom prst="rect">
            <a:avLst/>
          </a:prstGeom>
          <a:noFill/>
          <a:ln/>
        </p:spPr>
        <p:txBody>
          <a:bodyPr wrap="square" lIns="0" tIns="0" rIns="0" bIns="0" rtlCol="0" anchor="t"/>
          <a:lstStyle/>
          <a:p>
            <a:pPr indent="0" marL="0">
              <a:buNone/>
            </a:pPr>
            <a:r>
              <a:rPr lang="en-US" sz="1100" dirty="0">
                <a:solidFill>
                  <a:schemeClr val="bg2"/>
                </a:solidFill>
              </a:rPr>
              <a:t>2, 1</a:t>
            </a:r>
            <a:endParaRPr lang="en-US" sz="1100" dirty="0"/>
          </a:p>
        </p:txBody>
      </p:sp>
      <p:sp>
        <p:nvSpPr>
          <p:cNvPr id="12" name="Lithium: shell 1"/>
          <p:cNvSpPr/>
          <p:nvPr/>
        </p:nvSpPr>
        <p:spPr>
          <a:xfrm>
            <a:off x="971093" y="2909621"/>
            <a:ext cx="526694" cy="526694"/>
          </a:xfrm>
          <a:prstGeom prst="ellipse">
            <a:avLst/>
          </a:prstGeom>
          <a:solidFill>
            <a:schemeClr val="bg1">
              <a:alpha val="0"/>
            </a:schemeClr>
          </a:solidFill>
          <a:ln w="15875">
            <a:solidFill>
              <a:schemeClr val="bg2">
                <a:alpha val="55000"/>
              </a:schemeClr>
            </a:solidFill>
            <a:prstDash val="solid"/>
          </a:ln>
        </p:spPr>
      </p:sp>
      <p:sp>
        <p:nvSpPr>
          <p:cNvPr id="13" name="Lithium: shell 2"/>
          <p:cNvSpPr/>
          <p:nvPr/>
        </p:nvSpPr>
        <p:spPr>
          <a:xfrm>
            <a:off x="806501" y="2745029"/>
            <a:ext cx="855878" cy="855878"/>
          </a:xfrm>
          <a:prstGeom prst="ellipse">
            <a:avLst/>
          </a:prstGeom>
          <a:solidFill>
            <a:schemeClr val="bg1">
              <a:alpha val="0"/>
            </a:schemeClr>
          </a:solidFill>
          <a:ln w="15875">
            <a:solidFill>
              <a:schemeClr val="accent2">
                <a:alpha val="80000"/>
              </a:schemeClr>
            </a:solidFill>
            <a:prstDash val="solid"/>
          </a:ln>
        </p:spPr>
      </p:sp>
      <p:sp>
        <p:nvSpPr>
          <p:cNvPr id="14" name="Lithium: nucleus"/>
          <p:cNvSpPr/>
          <p:nvPr/>
        </p:nvSpPr>
        <p:spPr>
          <a:xfrm>
            <a:off x="1064362" y="3002890"/>
            <a:ext cx="340157" cy="340157"/>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15" name="Lithium: electron, shell 1"/>
          <p:cNvSpPr/>
          <p:nvPr/>
        </p:nvSpPr>
        <p:spPr>
          <a:xfrm>
            <a:off x="1193292" y="2868473"/>
            <a:ext cx="82296" cy="82296"/>
          </a:xfrm>
          <a:prstGeom prst="ellipse">
            <a:avLst/>
          </a:prstGeom>
          <a:solidFill>
            <a:schemeClr val="accent1"/>
          </a:solidFill>
          <a:ln w="3175">
            <a:solidFill>
              <a:schemeClr val="accent1"/>
            </a:solidFill>
            <a:prstDash val="solid"/>
          </a:ln>
        </p:spPr>
      </p:sp>
      <p:sp>
        <p:nvSpPr>
          <p:cNvPr id="16" name="Lithium: electron, shell 1"/>
          <p:cNvSpPr/>
          <p:nvPr/>
        </p:nvSpPr>
        <p:spPr>
          <a:xfrm>
            <a:off x="1456639" y="3131820"/>
            <a:ext cx="82296" cy="82296"/>
          </a:xfrm>
          <a:prstGeom prst="ellipse">
            <a:avLst/>
          </a:prstGeom>
          <a:solidFill>
            <a:schemeClr val="accent1"/>
          </a:solidFill>
          <a:ln w="3175">
            <a:solidFill>
              <a:schemeClr val="accent1"/>
            </a:solidFill>
            <a:prstDash val="solid"/>
          </a:ln>
        </p:spPr>
      </p:sp>
      <p:sp>
        <p:nvSpPr>
          <p:cNvPr id="17" name="Lithium: electron, shell 2"/>
          <p:cNvSpPr/>
          <p:nvPr/>
        </p:nvSpPr>
        <p:spPr>
          <a:xfrm>
            <a:off x="1193292" y="2703881"/>
            <a:ext cx="82296" cy="82296"/>
          </a:xfrm>
          <a:prstGeom prst="ellipse">
            <a:avLst/>
          </a:prstGeom>
          <a:solidFill>
            <a:schemeClr val="accent2"/>
          </a:solidFill>
          <a:ln w="3175">
            <a:solidFill>
              <a:schemeClr val="accent2"/>
            </a:solidFill>
            <a:prstDash val="solid"/>
          </a:ln>
        </p:spPr>
      </p:sp>
      <p:sp>
        <p:nvSpPr>
          <p:cNvPr id="18" name="Text 16"/>
          <p:cNvSpPr txBox="1"/>
          <p:nvPr/>
        </p:nvSpPr>
        <p:spPr>
          <a:xfrm>
            <a:off x="457200" y="4069080"/>
            <a:ext cx="1554480" cy="320040"/>
          </a:xfrm>
          <a:prstGeom prst="rect">
            <a:avLst/>
          </a:prstGeom>
          <a:noFill/>
          <a:ln/>
        </p:spPr>
        <p:txBody>
          <a:bodyPr wrap="square" lIns="0" tIns="0" rIns="0" bIns="0" rtlCol="0" anchor="t"/>
          <a:lstStyle/>
          <a:p>
            <a:pPr algn="ctr" indent="0" marL="0">
              <a:buNone/>
            </a:pPr>
            <a:r>
              <a:rPr lang="en-US" sz="1200" dirty="0">
                <a:solidFill>
                  <a:schemeClr val="bg2"/>
                </a:solidFill>
              </a:rPr>
              <a:t>Lose or gain? ?</a:t>
            </a:r>
            <a:endParaRPr lang="en-US" sz="1200" dirty="0"/>
          </a:p>
        </p:txBody>
      </p:sp>
      <p:sp>
        <p:nvSpPr>
          <p:cNvPr id="19" name="Fluorine"/>
          <p:cNvSpPr/>
          <p:nvPr/>
        </p:nvSpPr>
        <p:spPr>
          <a:xfrm>
            <a:off x="2121408" y="1691640"/>
            <a:ext cx="1554480" cy="2926080"/>
          </a:xfrm>
          <a:prstGeom prst="roundRect">
            <a:avLst>
              <a:gd name="adj" fmla="val 5882"/>
            </a:avLst>
          </a:prstGeom>
          <a:solidFill>
            <a:schemeClr val="tx2"/>
          </a:solidFill>
          <a:ln w="9525">
            <a:solidFill>
              <a:schemeClr val="bg2">
                <a:alpha val="30000"/>
              </a:schemeClr>
            </a:solidFill>
            <a:prstDash val="solid"/>
          </a:ln>
        </p:spPr>
      </p:sp>
      <p:sp>
        <p:nvSpPr>
          <p:cNvPr id="20" name="Text 18"/>
          <p:cNvSpPr txBox="1"/>
          <p:nvPr/>
        </p:nvSpPr>
        <p:spPr>
          <a:xfrm>
            <a:off x="2231136" y="1783080"/>
            <a:ext cx="1371600" cy="274320"/>
          </a:xfrm>
          <a:prstGeom prst="rect">
            <a:avLst/>
          </a:prstGeom>
          <a:noFill/>
          <a:ln/>
        </p:spPr>
        <p:txBody>
          <a:bodyPr wrap="square" lIns="0" tIns="0" rIns="0" bIns="0" rtlCol="0" anchor="t"/>
          <a:lstStyle/>
          <a:p>
            <a:pPr indent="0" marL="0">
              <a:buNone/>
            </a:pPr>
            <a:r>
              <a:rPr lang="en-US" sz="1300" b="1" dirty="0">
                <a:solidFill>
                  <a:schemeClr val="bg1"/>
                </a:solidFill>
              </a:rPr>
              <a:t>Fluorine</a:t>
            </a:r>
            <a:endParaRPr lang="en-US" sz="1300" dirty="0"/>
          </a:p>
        </p:txBody>
      </p:sp>
      <p:sp>
        <p:nvSpPr>
          <p:cNvPr id="21" name="Text 19"/>
          <p:cNvSpPr txBox="1"/>
          <p:nvPr/>
        </p:nvSpPr>
        <p:spPr>
          <a:xfrm>
            <a:off x="2231136" y="2057400"/>
            <a:ext cx="1371600" cy="237744"/>
          </a:xfrm>
          <a:prstGeom prst="rect">
            <a:avLst/>
          </a:prstGeom>
          <a:noFill/>
          <a:ln/>
        </p:spPr>
        <p:txBody>
          <a:bodyPr wrap="square" lIns="0" tIns="0" rIns="0" bIns="0" rtlCol="0" anchor="t"/>
          <a:lstStyle/>
          <a:p>
            <a:pPr indent="0" marL="0">
              <a:buNone/>
            </a:pPr>
            <a:r>
              <a:rPr lang="en-US" sz="1100" dirty="0">
                <a:solidFill>
                  <a:schemeClr val="bg2"/>
                </a:solidFill>
              </a:rPr>
              <a:t>2, 7</a:t>
            </a:r>
            <a:endParaRPr lang="en-US" sz="1100" dirty="0"/>
          </a:p>
        </p:txBody>
      </p:sp>
      <p:sp>
        <p:nvSpPr>
          <p:cNvPr id="22" name="Fluorine: shell 1"/>
          <p:cNvSpPr/>
          <p:nvPr/>
        </p:nvSpPr>
        <p:spPr>
          <a:xfrm>
            <a:off x="2635301" y="2909621"/>
            <a:ext cx="526694" cy="526694"/>
          </a:xfrm>
          <a:prstGeom prst="ellipse">
            <a:avLst/>
          </a:prstGeom>
          <a:solidFill>
            <a:schemeClr val="bg1">
              <a:alpha val="0"/>
            </a:schemeClr>
          </a:solidFill>
          <a:ln w="15875">
            <a:solidFill>
              <a:schemeClr val="bg2">
                <a:alpha val="55000"/>
              </a:schemeClr>
            </a:solidFill>
            <a:prstDash val="solid"/>
          </a:ln>
        </p:spPr>
      </p:sp>
      <p:sp>
        <p:nvSpPr>
          <p:cNvPr id="23" name="Fluorine: shell 2"/>
          <p:cNvSpPr/>
          <p:nvPr/>
        </p:nvSpPr>
        <p:spPr>
          <a:xfrm>
            <a:off x="2470709" y="2745029"/>
            <a:ext cx="855878" cy="855878"/>
          </a:xfrm>
          <a:prstGeom prst="ellipse">
            <a:avLst/>
          </a:prstGeom>
          <a:solidFill>
            <a:schemeClr val="bg1">
              <a:alpha val="0"/>
            </a:schemeClr>
          </a:solidFill>
          <a:ln w="15875">
            <a:solidFill>
              <a:schemeClr val="accent2">
                <a:alpha val="80000"/>
              </a:schemeClr>
            </a:solidFill>
            <a:prstDash val="solid"/>
          </a:ln>
        </p:spPr>
      </p:sp>
      <p:sp>
        <p:nvSpPr>
          <p:cNvPr id="24" name="Fluorine: nucleus"/>
          <p:cNvSpPr/>
          <p:nvPr/>
        </p:nvSpPr>
        <p:spPr>
          <a:xfrm>
            <a:off x="2728570" y="3002890"/>
            <a:ext cx="340157" cy="340157"/>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25" name="Fluorine: electron, shell 1"/>
          <p:cNvSpPr/>
          <p:nvPr/>
        </p:nvSpPr>
        <p:spPr>
          <a:xfrm>
            <a:off x="2857500" y="2868473"/>
            <a:ext cx="82296" cy="82296"/>
          </a:xfrm>
          <a:prstGeom prst="ellipse">
            <a:avLst/>
          </a:prstGeom>
          <a:solidFill>
            <a:schemeClr val="accent1"/>
          </a:solidFill>
          <a:ln w="3175">
            <a:solidFill>
              <a:schemeClr val="accent1"/>
            </a:solidFill>
            <a:prstDash val="solid"/>
          </a:ln>
        </p:spPr>
      </p:sp>
      <p:sp>
        <p:nvSpPr>
          <p:cNvPr id="26" name="Fluorine: electron, shell 1"/>
          <p:cNvSpPr/>
          <p:nvPr/>
        </p:nvSpPr>
        <p:spPr>
          <a:xfrm>
            <a:off x="3120847" y="3131820"/>
            <a:ext cx="82296" cy="82296"/>
          </a:xfrm>
          <a:prstGeom prst="ellipse">
            <a:avLst/>
          </a:prstGeom>
          <a:solidFill>
            <a:schemeClr val="accent1"/>
          </a:solidFill>
          <a:ln w="3175">
            <a:solidFill>
              <a:schemeClr val="accent1"/>
            </a:solidFill>
            <a:prstDash val="solid"/>
          </a:ln>
        </p:spPr>
      </p:sp>
      <p:sp>
        <p:nvSpPr>
          <p:cNvPr id="27" name="Fluorine: electron, shell 2"/>
          <p:cNvSpPr/>
          <p:nvPr/>
        </p:nvSpPr>
        <p:spPr>
          <a:xfrm>
            <a:off x="2802242" y="2707463"/>
            <a:ext cx="82296" cy="82296"/>
          </a:xfrm>
          <a:prstGeom prst="ellipse">
            <a:avLst/>
          </a:prstGeom>
          <a:solidFill>
            <a:schemeClr val="accent2"/>
          </a:solidFill>
          <a:ln w="3175">
            <a:solidFill>
              <a:schemeClr val="accent2"/>
            </a:solidFill>
            <a:prstDash val="solid"/>
          </a:ln>
        </p:spPr>
      </p:sp>
      <p:sp>
        <p:nvSpPr>
          <p:cNvPr id="28" name="Fluorine: electron, shell 2"/>
          <p:cNvSpPr/>
          <p:nvPr/>
        </p:nvSpPr>
        <p:spPr>
          <a:xfrm>
            <a:off x="2912758" y="2707463"/>
            <a:ext cx="82296" cy="82296"/>
          </a:xfrm>
          <a:prstGeom prst="ellipse">
            <a:avLst/>
          </a:prstGeom>
          <a:solidFill>
            <a:schemeClr val="accent2"/>
          </a:solidFill>
          <a:ln w="3175">
            <a:solidFill>
              <a:schemeClr val="accent2"/>
            </a:solidFill>
            <a:prstDash val="solid"/>
          </a:ln>
        </p:spPr>
      </p:sp>
      <p:sp>
        <p:nvSpPr>
          <p:cNvPr id="29" name="Fluorine: electron, shell 2"/>
          <p:cNvSpPr/>
          <p:nvPr/>
        </p:nvSpPr>
        <p:spPr>
          <a:xfrm>
            <a:off x="3281857" y="3076562"/>
            <a:ext cx="82296" cy="82296"/>
          </a:xfrm>
          <a:prstGeom prst="ellipse">
            <a:avLst/>
          </a:prstGeom>
          <a:solidFill>
            <a:schemeClr val="accent2"/>
          </a:solidFill>
          <a:ln w="3175">
            <a:solidFill>
              <a:schemeClr val="accent2"/>
            </a:solidFill>
            <a:prstDash val="solid"/>
          </a:ln>
        </p:spPr>
      </p:sp>
      <p:sp>
        <p:nvSpPr>
          <p:cNvPr id="30" name="Fluorine: electron, shell 2"/>
          <p:cNvSpPr/>
          <p:nvPr/>
        </p:nvSpPr>
        <p:spPr>
          <a:xfrm>
            <a:off x="3281857" y="3187078"/>
            <a:ext cx="82296" cy="82296"/>
          </a:xfrm>
          <a:prstGeom prst="ellipse">
            <a:avLst/>
          </a:prstGeom>
          <a:solidFill>
            <a:schemeClr val="accent2"/>
          </a:solidFill>
          <a:ln w="3175">
            <a:solidFill>
              <a:schemeClr val="accent2"/>
            </a:solidFill>
            <a:prstDash val="solid"/>
          </a:ln>
        </p:spPr>
      </p:sp>
      <p:sp>
        <p:nvSpPr>
          <p:cNvPr id="31" name="Fluorine: electron, shell 2"/>
          <p:cNvSpPr/>
          <p:nvPr/>
        </p:nvSpPr>
        <p:spPr>
          <a:xfrm>
            <a:off x="2912758" y="3556177"/>
            <a:ext cx="82296" cy="82296"/>
          </a:xfrm>
          <a:prstGeom prst="ellipse">
            <a:avLst/>
          </a:prstGeom>
          <a:solidFill>
            <a:schemeClr val="accent2"/>
          </a:solidFill>
          <a:ln w="3175">
            <a:solidFill>
              <a:schemeClr val="accent2"/>
            </a:solidFill>
            <a:prstDash val="solid"/>
          </a:ln>
        </p:spPr>
      </p:sp>
      <p:sp>
        <p:nvSpPr>
          <p:cNvPr id="32" name="Fluorine: electron, shell 2"/>
          <p:cNvSpPr/>
          <p:nvPr/>
        </p:nvSpPr>
        <p:spPr>
          <a:xfrm>
            <a:off x="2802242" y="3556177"/>
            <a:ext cx="82296" cy="82296"/>
          </a:xfrm>
          <a:prstGeom prst="ellipse">
            <a:avLst/>
          </a:prstGeom>
          <a:solidFill>
            <a:schemeClr val="accent2"/>
          </a:solidFill>
          <a:ln w="3175">
            <a:solidFill>
              <a:schemeClr val="accent2"/>
            </a:solidFill>
            <a:prstDash val="solid"/>
          </a:ln>
        </p:spPr>
      </p:sp>
      <p:sp>
        <p:nvSpPr>
          <p:cNvPr id="33" name="Fluorine: electron, shell 2"/>
          <p:cNvSpPr/>
          <p:nvPr/>
        </p:nvSpPr>
        <p:spPr>
          <a:xfrm>
            <a:off x="2429561" y="3131820"/>
            <a:ext cx="82296" cy="82296"/>
          </a:xfrm>
          <a:prstGeom prst="ellipse">
            <a:avLst/>
          </a:prstGeom>
          <a:solidFill>
            <a:schemeClr val="accent2"/>
          </a:solidFill>
          <a:ln w="3175">
            <a:solidFill>
              <a:schemeClr val="accent2"/>
            </a:solidFill>
            <a:prstDash val="solid"/>
          </a:ln>
        </p:spPr>
      </p:sp>
      <p:sp>
        <p:nvSpPr>
          <p:cNvPr id="34" name="Text 32"/>
          <p:cNvSpPr txBox="1"/>
          <p:nvPr/>
        </p:nvSpPr>
        <p:spPr>
          <a:xfrm>
            <a:off x="2121408" y="4069080"/>
            <a:ext cx="1554480" cy="320040"/>
          </a:xfrm>
          <a:prstGeom prst="rect">
            <a:avLst/>
          </a:prstGeom>
          <a:noFill/>
          <a:ln/>
        </p:spPr>
        <p:txBody>
          <a:bodyPr wrap="square" lIns="0" tIns="0" rIns="0" bIns="0" rtlCol="0" anchor="t"/>
          <a:lstStyle/>
          <a:p>
            <a:pPr algn="ctr" indent="0" marL="0">
              <a:buNone/>
            </a:pPr>
            <a:r>
              <a:rPr lang="en-US" sz="1200" dirty="0">
                <a:solidFill>
                  <a:schemeClr val="bg2"/>
                </a:solidFill>
              </a:rPr>
              <a:t>Lose or gain? ?</a:t>
            </a:r>
            <a:endParaRPr lang="en-US" sz="1200" dirty="0"/>
          </a:p>
        </p:txBody>
      </p:sp>
      <p:sp>
        <p:nvSpPr>
          <p:cNvPr id="35" name="Magnesium"/>
          <p:cNvSpPr/>
          <p:nvPr/>
        </p:nvSpPr>
        <p:spPr>
          <a:xfrm>
            <a:off x="3785616" y="1691640"/>
            <a:ext cx="1554480" cy="2926080"/>
          </a:xfrm>
          <a:prstGeom prst="roundRect">
            <a:avLst>
              <a:gd name="adj" fmla="val 5882"/>
            </a:avLst>
          </a:prstGeom>
          <a:solidFill>
            <a:schemeClr val="tx2"/>
          </a:solidFill>
          <a:ln w="9525">
            <a:solidFill>
              <a:schemeClr val="bg2">
                <a:alpha val="30000"/>
              </a:schemeClr>
            </a:solidFill>
            <a:prstDash val="solid"/>
          </a:ln>
        </p:spPr>
      </p:sp>
      <p:sp>
        <p:nvSpPr>
          <p:cNvPr id="36" name="Text 34"/>
          <p:cNvSpPr txBox="1"/>
          <p:nvPr/>
        </p:nvSpPr>
        <p:spPr>
          <a:xfrm>
            <a:off x="3895344" y="1783080"/>
            <a:ext cx="1371600" cy="274320"/>
          </a:xfrm>
          <a:prstGeom prst="rect">
            <a:avLst/>
          </a:prstGeom>
          <a:noFill/>
          <a:ln/>
        </p:spPr>
        <p:txBody>
          <a:bodyPr wrap="square" lIns="0" tIns="0" rIns="0" bIns="0" rtlCol="0" anchor="t"/>
          <a:lstStyle/>
          <a:p>
            <a:pPr indent="0" marL="0">
              <a:buNone/>
            </a:pPr>
            <a:r>
              <a:rPr lang="en-US" sz="1300" b="1" dirty="0">
                <a:solidFill>
                  <a:schemeClr val="bg1"/>
                </a:solidFill>
              </a:rPr>
              <a:t>Magnesium</a:t>
            </a:r>
            <a:endParaRPr lang="en-US" sz="1300" dirty="0"/>
          </a:p>
        </p:txBody>
      </p:sp>
      <p:sp>
        <p:nvSpPr>
          <p:cNvPr id="37" name="Text 35"/>
          <p:cNvSpPr txBox="1"/>
          <p:nvPr/>
        </p:nvSpPr>
        <p:spPr>
          <a:xfrm>
            <a:off x="3895344" y="2057400"/>
            <a:ext cx="1371600" cy="237744"/>
          </a:xfrm>
          <a:prstGeom prst="rect">
            <a:avLst/>
          </a:prstGeom>
          <a:noFill/>
          <a:ln/>
        </p:spPr>
        <p:txBody>
          <a:bodyPr wrap="square" lIns="0" tIns="0" rIns="0" bIns="0" rtlCol="0" anchor="t"/>
          <a:lstStyle/>
          <a:p>
            <a:pPr indent="0" marL="0">
              <a:buNone/>
            </a:pPr>
            <a:r>
              <a:rPr lang="en-US" sz="1100" dirty="0">
                <a:solidFill>
                  <a:schemeClr val="bg2"/>
                </a:solidFill>
              </a:rPr>
              <a:t>2, 8, 2</a:t>
            </a:r>
            <a:endParaRPr lang="en-US" sz="1100" dirty="0"/>
          </a:p>
        </p:txBody>
      </p:sp>
      <p:sp>
        <p:nvSpPr>
          <p:cNvPr id="38" name="Magnesium: shell 1"/>
          <p:cNvSpPr/>
          <p:nvPr/>
        </p:nvSpPr>
        <p:spPr>
          <a:xfrm>
            <a:off x="4335119" y="2945231"/>
            <a:ext cx="455475" cy="455475"/>
          </a:xfrm>
          <a:prstGeom prst="ellipse">
            <a:avLst/>
          </a:prstGeom>
          <a:solidFill>
            <a:schemeClr val="bg1">
              <a:alpha val="0"/>
            </a:schemeClr>
          </a:solidFill>
          <a:ln w="15875">
            <a:solidFill>
              <a:schemeClr val="bg2">
                <a:alpha val="55000"/>
              </a:schemeClr>
            </a:solidFill>
            <a:prstDash val="solid"/>
          </a:ln>
        </p:spPr>
      </p:sp>
      <p:sp>
        <p:nvSpPr>
          <p:cNvPr id="39" name="Magnesium: shell 2"/>
          <p:cNvSpPr/>
          <p:nvPr/>
        </p:nvSpPr>
        <p:spPr>
          <a:xfrm>
            <a:off x="4192783" y="2802895"/>
            <a:ext cx="740146" cy="740146"/>
          </a:xfrm>
          <a:prstGeom prst="ellipse">
            <a:avLst/>
          </a:prstGeom>
          <a:solidFill>
            <a:schemeClr val="bg1">
              <a:alpha val="0"/>
            </a:schemeClr>
          </a:solidFill>
          <a:ln w="15875">
            <a:solidFill>
              <a:schemeClr val="bg2">
                <a:alpha val="55000"/>
              </a:schemeClr>
            </a:solidFill>
            <a:prstDash val="solid"/>
          </a:ln>
        </p:spPr>
      </p:sp>
      <p:sp>
        <p:nvSpPr>
          <p:cNvPr id="40" name="Magnesium: shell 3"/>
          <p:cNvSpPr/>
          <p:nvPr/>
        </p:nvSpPr>
        <p:spPr>
          <a:xfrm>
            <a:off x="4059936" y="2670048"/>
            <a:ext cx="1005840" cy="1005840"/>
          </a:xfrm>
          <a:prstGeom prst="ellipse">
            <a:avLst/>
          </a:prstGeom>
          <a:solidFill>
            <a:schemeClr val="bg1">
              <a:alpha val="0"/>
            </a:schemeClr>
          </a:solidFill>
          <a:ln w="15875">
            <a:solidFill>
              <a:schemeClr val="accent2">
                <a:alpha val="80000"/>
              </a:schemeClr>
            </a:solidFill>
            <a:prstDash val="solid"/>
          </a:ln>
        </p:spPr>
      </p:sp>
      <p:sp>
        <p:nvSpPr>
          <p:cNvPr id="41" name="Magnesium: nucleus"/>
          <p:cNvSpPr/>
          <p:nvPr/>
        </p:nvSpPr>
        <p:spPr>
          <a:xfrm>
            <a:off x="4415776" y="3025888"/>
            <a:ext cx="294161" cy="294161"/>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42" name="Magnesium: electron, shell 1"/>
          <p:cNvSpPr/>
          <p:nvPr/>
        </p:nvSpPr>
        <p:spPr>
          <a:xfrm>
            <a:off x="4527272" y="2909647"/>
            <a:ext cx="71168" cy="71168"/>
          </a:xfrm>
          <a:prstGeom prst="ellipse">
            <a:avLst/>
          </a:prstGeom>
          <a:solidFill>
            <a:schemeClr val="accent1"/>
          </a:solidFill>
          <a:ln w="3175">
            <a:solidFill>
              <a:schemeClr val="accent1"/>
            </a:solidFill>
            <a:prstDash val="solid"/>
          </a:ln>
        </p:spPr>
      </p:sp>
      <p:sp>
        <p:nvSpPr>
          <p:cNvPr id="43" name="Magnesium: electron, shell 1"/>
          <p:cNvSpPr/>
          <p:nvPr/>
        </p:nvSpPr>
        <p:spPr>
          <a:xfrm>
            <a:off x="4755009" y="3137384"/>
            <a:ext cx="71168" cy="71168"/>
          </a:xfrm>
          <a:prstGeom prst="ellipse">
            <a:avLst/>
          </a:prstGeom>
          <a:solidFill>
            <a:schemeClr val="accent1"/>
          </a:solidFill>
          <a:ln w="3175">
            <a:solidFill>
              <a:schemeClr val="accent1"/>
            </a:solidFill>
            <a:prstDash val="solid"/>
          </a:ln>
        </p:spPr>
      </p:sp>
      <p:sp>
        <p:nvSpPr>
          <p:cNvPr id="44" name="Magnesium: electron, shell 2"/>
          <p:cNvSpPr/>
          <p:nvPr/>
        </p:nvSpPr>
        <p:spPr>
          <a:xfrm>
            <a:off x="4479486" y="2770409"/>
            <a:ext cx="71168" cy="71168"/>
          </a:xfrm>
          <a:prstGeom prst="ellipse">
            <a:avLst/>
          </a:prstGeom>
          <a:solidFill>
            <a:schemeClr val="accent1"/>
          </a:solidFill>
          <a:ln w="3175">
            <a:solidFill>
              <a:schemeClr val="accent1"/>
            </a:solidFill>
            <a:prstDash val="solid"/>
          </a:ln>
        </p:spPr>
      </p:sp>
      <p:sp>
        <p:nvSpPr>
          <p:cNvPr id="45" name="Magnesium: electron, shell 2"/>
          <p:cNvSpPr/>
          <p:nvPr/>
        </p:nvSpPr>
        <p:spPr>
          <a:xfrm>
            <a:off x="4575058" y="2770409"/>
            <a:ext cx="71168" cy="71168"/>
          </a:xfrm>
          <a:prstGeom prst="ellipse">
            <a:avLst/>
          </a:prstGeom>
          <a:solidFill>
            <a:schemeClr val="accent1"/>
          </a:solidFill>
          <a:ln w="3175">
            <a:solidFill>
              <a:schemeClr val="accent1"/>
            </a:solidFill>
            <a:prstDash val="solid"/>
          </a:ln>
        </p:spPr>
      </p:sp>
      <p:sp>
        <p:nvSpPr>
          <p:cNvPr id="46" name="Magnesium: electron, shell 2"/>
          <p:cNvSpPr/>
          <p:nvPr/>
        </p:nvSpPr>
        <p:spPr>
          <a:xfrm>
            <a:off x="4894247" y="3089598"/>
            <a:ext cx="71168" cy="71168"/>
          </a:xfrm>
          <a:prstGeom prst="ellipse">
            <a:avLst/>
          </a:prstGeom>
          <a:solidFill>
            <a:schemeClr val="accent1"/>
          </a:solidFill>
          <a:ln w="3175">
            <a:solidFill>
              <a:schemeClr val="accent1"/>
            </a:solidFill>
            <a:prstDash val="solid"/>
          </a:ln>
        </p:spPr>
      </p:sp>
      <p:sp>
        <p:nvSpPr>
          <p:cNvPr id="47" name="Magnesium: electron, shell 2"/>
          <p:cNvSpPr/>
          <p:nvPr/>
        </p:nvSpPr>
        <p:spPr>
          <a:xfrm>
            <a:off x="4894247" y="3185170"/>
            <a:ext cx="71168" cy="71168"/>
          </a:xfrm>
          <a:prstGeom prst="ellipse">
            <a:avLst/>
          </a:prstGeom>
          <a:solidFill>
            <a:schemeClr val="accent1"/>
          </a:solidFill>
          <a:ln w="3175">
            <a:solidFill>
              <a:schemeClr val="accent1"/>
            </a:solidFill>
            <a:prstDash val="solid"/>
          </a:ln>
        </p:spPr>
      </p:sp>
      <p:sp>
        <p:nvSpPr>
          <p:cNvPr id="48" name="Magnesium: electron, shell 2"/>
          <p:cNvSpPr/>
          <p:nvPr/>
        </p:nvSpPr>
        <p:spPr>
          <a:xfrm>
            <a:off x="4575058" y="3504359"/>
            <a:ext cx="71168" cy="71168"/>
          </a:xfrm>
          <a:prstGeom prst="ellipse">
            <a:avLst/>
          </a:prstGeom>
          <a:solidFill>
            <a:schemeClr val="accent1"/>
          </a:solidFill>
          <a:ln w="3175">
            <a:solidFill>
              <a:schemeClr val="accent1"/>
            </a:solidFill>
            <a:prstDash val="solid"/>
          </a:ln>
        </p:spPr>
      </p:sp>
      <p:sp>
        <p:nvSpPr>
          <p:cNvPr id="49" name="Magnesium: electron, shell 2"/>
          <p:cNvSpPr/>
          <p:nvPr/>
        </p:nvSpPr>
        <p:spPr>
          <a:xfrm>
            <a:off x="4479486" y="3504359"/>
            <a:ext cx="71168" cy="71168"/>
          </a:xfrm>
          <a:prstGeom prst="ellipse">
            <a:avLst/>
          </a:prstGeom>
          <a:solidFill>
            <a:schemeClr val="accent1"/>
          </a:solidFill>
          <a:ln w="3175">
            <a:solidFill>
              <a:schemeClr val="accent1"/>
            </a:solidFill>
            <a:prstDash val="solid"/>
          </a:ln>
        </p:spPr>
      </p:sp>
      <p:sp>
        <p:nvSpPr>
          <p:cNvPr id="50" name="Magnesium: electron, shell 2"/>
          <p:cNvSpPr/>
          <p:nvPr/>
        </p:nvSpPr>
        <p:spPr>
          <a:xfrm>
            <a:off x="4160297" y="3185170"/>
            <a:ext cx="71168" cy="71168"/>
          </a:xfrm>
          <a:prstGeom prst="ellipse">
            <a:avLst/>
          </a:prstGeom>
          <a:solidFill>
            <a:schemeClr val="accent1"/>
          </a:solidFill>
          <a:ln w="3175">
            <a:solidFill>
              <a:schemeClr val="accent1"/>
            </a:solidFill>
            <a:prstDash val="solid"/>
          </a:ln>
        </p:spPr>
      </p:sp>
      <p:sp>
        <p:nvSpPr>
          <p:cNvPr id="51" name="Magnesium: electron, shell 2"/>
          <p:cNvSpPr/>
          <p:nvPr/>
        </p:nvSpPr>
        <p:spPr>
          <a:xfrm>
            <a:off x="4160297" y="3089598"/>
            <a:ext cx="71168" cy="71168"/>
          </a:xfrm>
          <a:prstGeom prst="ellipse">
            <a:avLst/>
          </a:prstGeom>
          <a:solidFill>
            <a:schemeClr val="accent1"/>
          </a:solidFill>
          <a:ln w="3175">
            <a:solidFill>
              <a:schemeClr val="accent1"/>
            </a:solidFill>
            <a:prstDash val="solid"/>
          </a:ln>
        </p:spPr>
      </p:sp>
      <p:sp>
        <p:nvSpPr>
          <p:cNvPr id="52" name="Magnesium: electron, shell 3"/>
          <p:cNvSpPr/>
          <p:nvPr/>
        </p:nvSpPr>
        <p:spPr>
          <a:xfrm>
            <a:off x="4527272" y="2634464"/>
            <a:ext cx="71168" cy="71168"/>
          </a:xfrm>
          <a:prstGeom prst="ellipse">
            <a:avLst/>
          </a:prstGeom>
          <a:solidFill>
            <a:schemeClr val="accent2"/>
          </a:solidFill>
          <a:ln w="3175">
            <a:solidFill>
              <a:schemeClr val="accent2"/>
            </a:solidFill>
            <a:prstDash val="solid"/>
          </a:ln>
        </p:spPr>
      </p:sp>
      <p:sp>
        <p:nvSpPr>
          <p:cNvPr id="53" name="Magnesium: electron, shell 3"/>
          <p:cNvSpPr/>
          <p:nvPr/>
        </p:nvSpPr>
        <p:spPr>
          <a:xfrm>
            <a:off x="5030192" y="3137384"/>
            <a:ext cx="71168" cy="71168"/>
          </a:xfrm>
          <a:prstGeom prst="ellipse">
            <a:avLst/>
          </a:prstGeom>
          <a:solidFill>
            <a:schemeClr val="accent2"/>
          </a:solidFill>
          <a:ln w="3175">
            <a:solidFill>
              <a:schemeClr val="accent2"/>
            </a:solidFill>
            <a:prstDash val="solid"/>
          </a:ln>
        </p:spPr>
      </p:sp>
      <p:sp>
        <p:nvSpPr>
          <p:cNvPr id="54" name="Text 52"/>
          <p:cNvSpPr txBox="1"/>
          <p:nvPr/>
        </p:nvSpPr>
        <p:spPr>
          <a:xfrm>
            <a:off x="3785616" y="4069080"/>
            <a:ext cx="1554480" cy="320040"/>
          </a:xfrm>
          <a:prstGeom prst="rect">
            <a:avLst/>
          </a:prstGeom>
          <a:noFill/>
          <a:ln/>
        </p:spPr>
        <p:txBody>
          <a:bodyPr wrap="square" lIns="0" tIns="0" rIns="0" bIns="0" rtlCol="0" anchor="t"/>
          <a:lstStyle/>
          <a:p>
            <a:pPr algn="ctr" indent="0" marL="0">
              <a:buNone/>
            </a:pPr>
            <a:r>
              <a:rPr lang="en-US" sz="1200" dirty="0">
                <a:solidFill>
                  <a:schemeClr val="bg2"/>
                </a:solidFill>
              </a:rPr>
              <a:t>Lose or gain? ?</a:t>
            </a:r>
            <a:endParaRPr lang="en-US" sz="1200" dirty="0"/>
          </a:p>
        </p:txBody>
      </p:sp>
      <p:sp>
        <p:nvSpPr>
          <p:cNvPr id="55" name="Sulfur"/>
          <p:cNvSpPr/>
          <p:nvPr/>
        </p:nvSpPr>
        <p:spPr>
          <a:xfrm>
            <a:off x="5449824" y="1691640"/>
            <a:ext cx="1554480" cy="2926080"/>
          </a:xfrm>
          <a:prstGeom prst="roundRect">
            <a:avLst>
              <a:gd name="adj" fmla="val 5882"/>
            </a:avLst>
          </a:prstGeom>
          <a:solidFill>
            <a:schemeClr val="tx2"/>
          </a:solidFill>
          <a:ln w="9525">
            <a:solidFill>
              <a:schemeClr val="bg2">
                <a:alpha val="30000"/>
              </a:schemeClr>
            </a:solidFill>
            <a:prstDash val="solid"/>
          </a:ln>
        </p:spPr>
      </p:sp>
      <p:sp>
        <p:nvSpPr>
          <p:cNvPr id="56" name="Text 54"/>
          <p:cNvSpPr txBox="1"/>
          <p:nvPr/>
        </p:nvSpPr>
        <p:spPr>
          <a:xfrm>
            <a:off x="5559552" y="1783080"/>
            <a:ext cx="1371600" cy="274320"/>
          </a:xfrm>
          <a:prstGeom prst="rect">
            <a:avLst/>
          </a:prstGeom>
          <a:noFill/>
          <a:ln/>
        </p:spPr>
        <p:txBody>
          <a:bodyPr wrap="square" lIns="0" tIns="0" rIns="0" bIns="0" rtlCol="0" anchor="t"/>
          <a:lstStyle/>
          <a:p>
            <a:pPr indent="0" marL="0">
              <a:buNone/>
            </a:pPr>
            <a:r>
              <a:rPr lang="en-US" sz="1300" b="1" dirty="0">
                <a:solidFill>
                  <a:schemeClr val="bg1"/>
                </a:solidFill>
              </a:rPr>
              <a:t>Sulfur</a:t>
            </a:r>
            <a:endParaRPr lang="en-US" sz="1300" dirty="0"/>
          </a:p>
        </p:txBody>
      </p:sp>
      <p:sp>
        <p:nvSpPr>
          <p:cNvPr id="57" name="Text 55"/>
          <p:cNvSpPr txBox="1"/>
          <p:nvPr/>
        </p:nvSpPr>
        <p:spPr>
          <a:xfrm>
            <a:off x="5559552" y="2057400"/>
            <a:ext cx="1371600" cy="237744"/>
          </a:xfrm>
          <a:prstGeom prst="rect">
            <a:avLst/>
          </a:prstGeom>
          <a:noFill/>
          <a:ln/>
        </p:spPr>
        <p:txBody>
          <a:bodyPr wrap="square" lIns="0" tIns="0" rIns="0" bIns="0" rtlCol="0" anchor="t"/>
          <a:lstStyle/>
          <a:p>
            <a:pPr indent="0" marL="0">
              <a:buNone/>
            </a:pPr>
            <a:r>
              <a:rPr lang="en-US" sz="1100" dirty="0">
                <a:solidFill>
                  <a:schemeClr val="bg2"/>
                </a:solidFill>
              </a:rPr>
              <a:t>2, 8, 6</a:t>
            </a:r>
            <a:endParaRPr lang="en-US" sz="1100" dirty="0"/>
          </a:p>
        </p:txBody>
      </p:sp>
      <p:sp>
        <p:nvSpPr>
          <p:cNvPr id="58" name="Sulfur: shell 1"/>
          <p:cNvSpPr/>
          <p:nvPr/>
        </p:nvSpPr>
        <p:spPr>
          <a:xfrm>
            <a:off x="5999327" y="2945231"/>
            <a:ext cx="455475" cy="455475"/>
          </a:xfrm>
          <a:prstGeom prst="ellipse">
            <a:avLst/>
          </a:prstGeom>
          <a:solidFill>
            <a:schemeClr val="bg1">
              <a:alpha val="0"/>
            </a:schemeClr>
          </a:solidFill>
          <a:ln w="15875">
            <a:solidFill>
              <a:schemeClr val="bg2">
                <a:alpha val="55000"/>
              </a:schemeClr>
            </a:solidFill>
            <a:prstDash val="solid"/>
          </a:ln>
        </p:spPr>
      </p:sp>
      <p:sp>
        <p:nvSpPr>
          <p:cNvPr id="59" name="Sulfur: shell 2"/>
          <p:cNvSpPr/>
          <p:nvPr/>
        </p:nvSpPr>
        <p:spPr>
          <a:xfrm>
            <a:off x="5856991" y="2802895"/>
            <a:ext cx="740146" cy="740146"/>
          </a:xfrm>
          <a:prstGeom prst="ellipse">
            <a:avLst/>
          </a:prstGeom>
          <a:solidFill>
            <a:schemeClr val="bg1">
              <a:alpha val="0"/>
            </a:schemeClr>
          </a:solidFill>
          <a:ln w="15875">
            <a:solidFill>
              <a:schemeClr val="bg2">
                <a:alpha val="55000"/>
              </a:schemeClr>
            </a:solidFill>
            <a:prstDash val="solid"/>
          </a:ln>
        </p:spPr>
      </p:sp>
      <p:sp>
        <p:nvSpPr>
          <p:cNvPr id="60" name="Sulfur: shell 3"/>
          <p:cNvSpPr/>
          <p:nvPr/>
        </p:nvSpPr>
        <p:spPr>
          <a:xfrm>
            <a:off x="5724144" y="2670048"/>
            <a:ext cx="1005840" cy="1005840"/>
          </a:xfrm>
          <a:prstGeom prst="ellipse">
            <a:avLst/>
          </a:prstGeom>
          <a:solidFill>
            <a:schemeClr val="bg1">
              <a:alpha val="0"/>
            </a:schemeClr>
          </a:solidFill>
          <a:ln w="15875">
            <a:solidFill>
              <a:schemeClr val="accent2">
                <a:alpha val="80000"/>
              </a:schemeClr>
            </a:solidFill>
            <a:prstDash val="solid"/>
          </a:ln>
        </p:spPr>
      </p:sp>
      <p:sp>
        <p:nvSpPr>
          <p:cNvPr id="61" name="Sulfur: nucleus"/>
          <p:cNvSpPr/>
          <p:nvPr/>
        </p:nvSpPr>
        <p:spPr>
          <a:xfrm>
            <a:off x="6079984" y="3025888"/>
            <a:ext cx="294161" cy="294161"/>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62" name="Sulfur: electron, shell 1"/>
          <p:cNvSpPr/>
          <p:nvPr/>
        </p:nvSpPr>
        <p:spPr>
          <a:xfrm>
            <a:off x="6191480" y="2909647"/>
            <a:ext cx="71168" cy="71168"/>
          </a:xfrm>
          <a:prstGeom prst="ellipse">
            <a:avLst/>
          </a:prstGeom>
          <a:solidFill>
            <a:schemeClr val="accent1"/>
          </a:solidFill>
          <a:ln w="3175">
            <a:solidFill>
              <a:schemeClr val="accent1"/>
            </a:solidFill>
            <a:prstDash val="solid"/>
          </a:ln>
        </p:spPr>
      </p:sp>
      <p:sp>
        <p:nvSpPr>
          <p:cNvPr id="63" name="Sulfur: electron, shell 1"/>
          <p:cNvSpPr/>
          <p:nvPr/>
        </p:nvSpPr>
        <p:spPr>
          <a:xfrm>
            <a:off x="6419217" y="3137384"/>
            <a:ext cx="71168" cy="71168"/>
          </a:xfrm>
          <a:prstGeom prst="ellipse">
            <a:avLst/>
          </a:prstGeom>
          <a:solidFill>
            <a:schemeClr val="accent1"/>
          </a:solidFill>
          <a:ln w="3175">
            <a:solidFill>
              <a:schemeClr val="accent1"/>
            </a:solidFill>
            <a:prstDash val="solid"/>
          </a:ln>
        </p:spPr>
      </p:sp>
      <p:sp>
        <p:nvSpPr>
          <p:cNvPr id="64" name="Sulfur: electron, shell 2"/>
          <p:cNvSpPr/>
          <p:nvPr/>
        </p:nvSpPr>
        <p:spPr>
          <a:xfrm>
            <a:off x="6143694" y="2770409"/>
            <a:ext cx="71168" cy="71168"/>
          </a:xfrm>
          <a:prstGeom prst="ellipse">
            <a:avLst/>
          </a:prstGeom>
          <a:solidFill>
            <a:schemeClr val="accent1"/>
          </a:solidFill>
          <a:ln w="3175">
            <a:solidFill>
              <a:schemeClr val="accent1"/>
            </a:solidFill>
            <a:prstDash val="solid"/>
          </a:ln>
        </p:spPr>
      </p:sp>
      <p:sp>
        <p:nvSpPr>
          <p:cNvPr id="65" name="Sulfur: electron, shell 2"/>
          <p:cNvSpPr/>
          <p:nvPr/>
        </p:nvSpPr>
        <p:spPr>
          <a:xfrm>
            <a:off x="6239266" y="2770409"/>
            <a:ext cx="71168" cy="71168"/>
          </a:xfrm>
          <a:prstGeom prst="ellipse">
            <a:avLst/>
          </a:prstGeom>
          <a:solidFill>
            <a:schemeClr val="accent1"/>
          </a:solidFill>
          <a:ln w="3175">
            <a:solidFill>
              <a:schemeClr val="accent1"/>
            </a:solidFill>
            <a:prstDash val="solid"/>
          </a:ln>
        </p:spPr>
      </p:sp>
      <p:sp>
        <p:nvSpPr>
          <p:cNvPr id="66" name="Sulfur: electron, shell 2"/>
          <p:cNvSpPr/>
          <p:nvPr/>
        </p:nvSpPr>
        <p:spPr>
          <a:xfrm>
            <a:off x="6558455" y="3089598"/>
            <a:ext cx="71168" cy="71168"/>
          </a:xfrm>
          <a:prstGeom prst="ellipse">
            <a:avLst/>
          </a:prstGeom>
          <a:solidFill>
            <a:schemeClr val="accent1"/>
          </a:solidFill>
          <a:ln w="3175">
            <a:solidFill>
              <a:schemeClr val="accent1"/>
            </a:solidFill>
            <a:prstDash val="solid"/>
          </a:ln>
        </p:spPr>
      </p:sp>
      <p:sp>
        <p:nvSpPr>
          <p:cNvPr id="67" name="Sulfur: electron, shell 2"/>
          <p:cNvSpPr/>
          <p:nvPr/>
        </p:nvSpPr>
        <p:spPr>
          <a:xfrm>
            <a:off x="6558455" y="3185170"/>
            <a:ext cx="71168" cy="71168"/>
          </a:xfrm>
          <a:prstGeom prst="ellipse">
            <a:avLst/>
          </a:prstGeom>
          <a:solidFill>
            <a:schemeClr val="accent1"/>
          </a:solidFill>
          <a:ln w="3175">
            <a:solidFill>
              <a:schemeClr val="accent1"/>
            </a:solidFill>
            <a:prstDash val="solid"/>
          </a:ln>
        </p:spPr>
      </p:sp>
      <p:sp>
        <p:nvSpPr>
          <p:cNvPr id="68" name="Sulfur: electron, shell 2"/>
          <p:cNvSpPr/>
          <p:nvPr/>
        </p:nvSpPr>
        <p:spPr>
          <a:xfrm>
            <a:off x="6239266" y="3504359"/>
            <a:ext cx="71168" cy="71168"/>
          </a:xfrm>
          <a:prstGeom prst="ellipse">
            <a:avLst/>
          </a:prstGeom>
          <a:solidFill>
            <a:schemeClr val="accent1"/>
          </a:solidFill>
          <a:ln w="3175">
            <a:solidFill>
              <a:schemeClr val="accent1"/>
            </a:solidFill>
            <a:prstDash val="solid"/>
          </a:ln>
        </p:spPr>
      </p:sp>
      <p:sp>
        <p:nvSpPr>
          <p:cNvPr id="69" name="Sulfur: electron, shell 2"/>
          <p:cNvSpPr/>
          <p:nvPr/>
        </p:nvSpPr>
        <p:spPr>
          <a:xfrm>
            <a:off x="6143694" y="3504359"/>
            <a:ext cx="71168" cy="71168"/>
          </a:xfrm>
          <a:prstGeom prst="ellipse">
            <a:avLst/>
          </a:prstGeom>
          <a:solidFill>
            <a:schemeClr val="accent1"/>
          </a:solidFill>
          <a:ln w="3175">
            <a:solidFill>
              <a:schemeClr val="accent1"/>
            </a:solidFill>
            <a:prstDash val="solid"/>
          </a:ln>
        </p:spPr>
      </p:sp>
      <p:sp>
        <p:nvSpPr>
          <p:cNvPr id="70" name="Sulfur: electron, shell 2"/>
          <p:cNvSpPr/>
          <p:nvPr/>
        </p:nvSpPr>
        <p:spPr>
          <a:xfrm>
            <a:off x="5824505" y="3185170"/>
            <a:ext cx="71168" cy="71168"/>
          </a:xfrm>
          <a:prstGeom prst="ellipse">
            <a:avLst/>
          </a:prstGeom>
          <a:solidFill>
            <a:schemeClr val="accent1"/>
          </a:solidFill>
          <a:ln w="3175">
            <a:solidFill>
              <a:schemeClr val="accent1"/>
            </a:solidFill>
            <a:prstDash val="solid"/>
          </a:ln>
        </p:spPr>
      </p:sp>
      <p:sp>
        <p:nvSpPr>
          <p:cNvPr id="71" name="Sulfur: electron, shell 2"/>
          <p:cNvSpPr/>
          <p:nvPr/>
        </p:nvSpPr>
        <p:spPr>
          <a:xfrm>
            <a:off x="5824505" y="3089598"/>
            <a:ext cx="71168" cy="71168"/>
          </a:xfrm>
          <a:prstGeom prst="ellipse">
            <a:avLst/>
          </a:prstGeom>
          <a:solidFill>
            <a:schemeClr val="accent1"/>
          </a:solidFill>
          <a:ln w="3175">
            <a:solidFill>
              <a:schemeClr val="accent1"/>
            </a:solidFill>
            <a:prstDash val="solid"/>
          </a:ln>
        </p:spPr>
      </p:sp>
      <p:sp>
        <p:nvSpPr>
          <p:cNvPr id="72" name="Sulfur: electron, shell 3"/>
          <p:cNvSpPr/>
          <p:nvPr/>
        </p:nvSpPr>
        <p:spPr>
          <a:xfrm>
            <a:off x="6143633" y="2636745"/>
            <a:ext cx="71168" cy="71168"/>
          </a:xfrm>
          <a:prstGeom prst="ellipse">
            <a:avLst/>
          </a:prstGeom>
          <a:solidFill>
            <a:schemeClr val="accent2"/>
          </a:solidFill>
          <a:ln w="3175">
            <a:solidFill>
              <a:schemeClr val="accent2"/>
            </a:solidFill>
            <a:prstDash val="solid"/>
          </a:ln>
        </p:spPr>
      </p:sp>
      <p:sp>
        <p:nvSpPr>
          <p:cNvPr id="73" name="Sulfur: electron, shell 3"/>
          <p:cNvSpPr/>
          <p:nvPr/>
        </p:nvSpPr>
        <p:spPr>
          <a:xfrm>
            <a:off x="6239327" y="2636745"/>
            <a:ext cx="71168" cy="71168"/>
          </a:xfrm>
          <a:prstGeom prst="ellipse">
            <a:avLst/>
          </a:prstGeom>
          <a:solidFill>
            <a:schemeClr val="accent2"/>
          </a:solidFill>
          <a:ln w="3175">
            <a:solidFill>
              <a:schemeClr val="accent2"/>
            </a:solidFill>
            <a:prstDash val="solid"/>
          </a:ln>
        </p:spPr>
      </p:sp>
      <p:sp>
        <p:nvSpPr>
          <p:cNvPr id="74" name="Sulfur: electron, shell 3"/>
          <p:cNvSpPr/>
          <p:nvPr/>
        </p:nvSpPr>
        <p:spPr>
          <a:xfrm>
            <a:off x="6692119" y="3089537"/>
            <a:ext cx="71168" cy="71168"/>
          </a:xfrm>
          <a:prstGeom prst="ellipse">
            <a:avLst/>
          </a:prstGeom>
          <a:solidFill>
            <a:schemeClr val="accent2"/>
          </a:solidFill>
          <a:ln w="3175">
            <a:solidFill>
              <a:schemeClr val="accent2"/>
            </a:solidFill>
            <a:prstDash val="solid"/>
          </a:ln>
        </p:spPr>
      </p:sp>
      <p:sp>
        <p:nvSpPr>
          <p:cNvPr id="75" name="Sulfur: electron, shell 3"/>
          <p:cNvSpPr/>
          <p:nvPr/>
        </p:nvSpPr>
        <p:spPr>
          <a:xfrm>
            <a:off x="6692119" y="3185231"/>
            <a:ext cx="71168" cy="71168"/>
          </a:xfrm>
          <a:prstGeom prst="ellipse">
            <a:avLst/>
          </a:prstGeom>
          <a:solidFill>
            <a:schemeClr val="accent2"/>
          </a:solidFill>
          <a:ln w="3175">
            <a:solidFill>
              <a:schemeClr val="accent2"/>
            </a:solidFill>
            <a:prstDash val="solid"/>
          </a:ln>
        </p:spPr>
      </p:sp>
      <p:sp>
        <p:nvSpPr>
          <p:cNvPr id="76" name="Sulfur: electron, shell 3"/>
          <p:cNvSpPr/>
          <p:nvPr/>
        </p:nvSpPr>
        <p:spPr>
          <a:xfrm>
            <a:off x="6191480" y="3640304"/>
            <a:ext cx="71168" cy="71168"/>
          </a:xfrm>
          <a:prstGeom prst="ellipse">
            <a:avLst/>
          </a:prstGeom>
          <a:solidFill>
            <a:schemeClr val="accent2"/>
          </a:solidFill>
          <a:ln w="3175">
            <a:solidFill>
              <a:schemeClr val="accent2"/>
            </a:solidFill>
            <a:prstDash val="solid"/>
          </a:ln>
        </p:spPr>
      </p:sp>
      <p:sp>
        <p:nvSpPr>
          <p:cNvPr id="77" name="Sulfur: electron, shell 3"/>
          <p:cNvSpPr/>
          <p:nvPr/>
        </p:nvSpPr>
        <p:spPr>
          <a:xfrm>
            <a:off x="5688560" y="3137384"/>
            <a:ext cx="71168" cy="71168"/>
          </a:xfrm>
          <a:prstGeom prst="ellipse">
            <a:avLst/>
          </a:prstGeom>
          <a:solidFill>
            <a:schemeClr val="accent2"/>
          </a:solidFill>
          <a:ln w="3175">
            <a:solidFill>
              <a:schemeClr val="accent2"/>
            </a:solidFill>
            <a:prstDash val="solid"/>
          </a:ln>
        </p:spPr>
      </p:sp>
      <p:sp>
        <p:nvSpPr>
          <p:cNvPr id="78" name="Text 76"/>
          <p:cNvSpPr txBox="1"/>
          <p:nvPr/>
        </p:nvSpPr>
        <p:spPr>
          <a:xfrm>
            <a:off x="5449824" y="4069080"/>
            <a:ext cx="1554480" cy="320040"/>
          </a:xfrm>
          <a:prstGeom prst="rect">
            <a:avLst/>
          </a:prstGeom>
          <a:noFill/>
          <a:ln/>
        </p:spPr>
        <p:txBody>
          <a:bodyPr wrap="square" lIns="0" tIns="0" rIns="0" bIns="0" rtlCol="0" anchor="t"/>
          <a:lstStyle/>
          <a:p>
            <a:pPr algn="ctr" indent="0" marL="0">
              <a:buNone/>
            </a:pPr>
            <a:r>
              <a:rPr lang="en-US" sz="1200" dirty="0">
                <a:solidFill>
                  <a:schemeClr val="bg2"/>
                </a:solidFill>
              </a:rPr>
              <a:t>Lose or gain? ?</a:t>
            </a:r>
            <a:endParaRPr lang="en-US" sz="1200" dirty="0"/>
          </a:p>
        </p:txBody>
      </p:sp>
      <p:sp>
        <p:nvSpPr>
          <p:cNvPr id="79" name="Potassium"/>
          <p:cNvSpPr/>
          <p:nvPr/>
        </p:nvSpPr>
        <p:spPr>
          <a:xfrm>
            <a:off x="7114032" y="1691640"/>
            <a:ext cx="1554480" cy="2926080"/>
          </a:xfrm>
          <a:prstGeom prst="roundRect">
            <a:avLst>
              <a:gd name="adj" fmla="val 5882"/>
            </a:avLst>
          </a:prstGeom>
          <a:solidFill>
            <a:schemeClr val="tx2"/>
          </a:solidFill>
          <a:ln w="9525">
            <a:solidFill>
              <a:schemeClr val="bg2">
                <a:alpha val="30000"/>
              </a:schemeClr>
            </a:solidFill>
            <a:prstDash val="solid"/>
          </a:ln>
        </p:spPr>
      </p:sp>
      <p:sp>
        <p:nvSpPr>
          <p:cNvPr id="80" name="Text 78"/>
          <p:cNvSpPr txBox="1"/>
          <p:nvPr/>
        </p:nvSpPr>
        <p:spPr>
          <a:xfrm>
            <a:off x="7223760" y="1783080"/>
            <a:ext cx="1371600" cy="274320"/>
          </a:xfrm>
          <a:prstGeom prst="rect">
            <a:avLst/>
          </a:prstGeom>
          <a:noFill/>
          <a:ln/>
        </p:spPr>
        <p:txBody>
          <a:bodyPr wrap="square" lIns="0" tIns="0" rIns="0" bIns="0" rtlCol="0" anchor="t"/>
          <a:lstStyle/>
          <a:p>
            <a:pPr indent="0" marL="0">
              <a:buNone/>
            </a:pPr>
            <a:r>
              <a:rPr lang="en-US" sz="1300" b="1" dirty="0">
                <a:solidFill>
                  <a:schemeClr val="bg1"/>
                </a:solidFill>
              </a:rPr>
              <a:t>Potassium</a:t>
            </a:r>
            <a:endParaRPr lang="en-US" sz="1300" dirty="0"/>
          </a:p>
        </p:txBody>
      </p:sp>
      <p:sp>
        <p:nvSpPr>
          <p:cNvPr id="81" name="Text 79"/>
          <p:cNvSpPr txBox="1"/>
          <p:nvPr/>
        </p:nvSpPr>
        <p:spPr>
          <a:xfrm>
            <a:off x="7223760" y="2057400"/>
            <a:ext cx="1371600" cy="237744"/>
          </a:xfrm>
          <a:prstGeom prst="rect">
            <a:avLst/>
          </a:prstGeom>
          <a:noFill/>
          <a:ln/>
        </p:spPr>
        <p:txBody>
          <a:bodyPr wrap="square" lIns="0" tIns="0" rIns="0" bIns="0" rtlCol="0" anchor="t"/>
          <a:lstStyle/>
          <a:p>
            <a:pPr indent="0" marL="0">
              <a:buNone/>
            </a:pPr>
            <a:r>
              <a:rPr lang="en-US" sz="1100" dirty="0">
                <a:solidFill>
                  <a:schemeClr val="bg2"/>
                </a:solidFill>
              </a:rPr>
              <a:t>2, 8, 8, 1</a:t>
            </a:r>
            <a:endParaRPr lang="en-US" sz="1100" dirty="0"/>
          </a:p>
        </p:txBody>
      </p:sp>
      <p:sp>
        <p:nvSpPr>
          <p:cNvPr id="82" name="Potassium: shell 1"/>
          <p:cNvSpPr/>
          <p:nvPr/>
        </p:nvSpPr>
        <p:spPr>
          <a:xfrm>
            <a:off x="7711122" y="2992818"/>
            <a:ext cx="360301" cy="360301"/>
          </a:xfrm>
          <a:prstGeom prst="ellipse">
            <a:avLst/>
          </a:prstGeom>
          <a:solidFill>
            <a:schemeClr val="bg1">
              <a:alpha val="0"/>
            </a:schemeClr>
          </a:solidFill>
          <a:ln w="15875">
            <a:solidFill>
              <a:schemeClr val="bg2">
                <a:alpha val="55000"/>
              </a:schemeClr>
            </a:solidFill>
            <a:prstDash val="solid"/>
          </a:ln>
        </p:spPr>
      </p:sp>
      <p:sp>
        <p:nvSpPr>
          <p:cNvPr id="83" name="Potassium: shell 2"/>
          <p:cNvSpPr/>
          <p:nvPr/>
        </p:nvSpPr>
        <p:spPr>
          <a:xfrm>
            <a:off x="7598528" y="2880224"/>
            <a:ext cx="585489" cy="585489"/>
          </a:xfrm>
          <a:prstGeom prst="ellipse">
            <a:avLst/>
          </a:prstGeom>
          <a:solidFill>
            <a:schemeClr val="bg1">
              <a:alpha val="0"/>
            </a:schemeClr>
          </a:solidFill>
          <a:ln w="15875">
            <a:solidFill>
              <a:schemeClr val="bg2">
                <a:alpha val="55000"/>
              </a:schemeClr>
            </a:solidFill>
            <a:prstDash val="solid"/>
          </a:ln>
        </p:spPr>
      </p:sp>
      <p:sp>
        <p:nvSpPr>
          <p:cNvPr id="84" name="Potassium: shell 3"/>
          <p:cNvSpPr/>
          <p:nvPr/>
        </p:nvSpPr>
        <p:spPr>
          <a:xfrm>
            <a:off x="7493440" y="2775136"/>
            <a:ext cx="795664" cy="795664"/>
          </a:xfrm>
          <a:prstGeom prst="ellipse">
            <a:avLst/>
          </a:prstGeom>
          <a:solidFill>
            <a:schemeClr val="bg1">
              <a:alpha val="0"/>
            </a:schemeClr>
          </a:solidFill>
          <a:ln w="15875">
            <a:solidFill>
              <a:schemeClr val="bg2">
                <a:alpha val="55000"/>
              </a:schemeClr>
            </a:solidFill>
            <a:prstDash val="solid"/>
          </a:ln>
        </p:spPr>
      </p:sp>
      <p:sp>
        <p:nvSpPr>
          <p:cNvPr id="85" name="Potassium: shell 4"/>
          <p:cNvSpPr/>
          <p:nvPr/>
        </p:nvSpPr>
        <p:spPr>
          <a:xfrm>
            <a:off x="7388352" y="2670048"/>
            <a:ext cx="1005840" cy="1005840"/>
          </a:xfrm>
          <a:prstGeom prst="ellipse">
            <a:avLst/>
          </a:prstGeom>
          <a:solidFill>
            <a:schemeClr val="bg1">
              <a:alpha val="0"/>
            </a:schemeClr>
          </a:solidFill>
          <a:ln w="15875">
            <a:solidFill>
              <a:schemeClr val="accent2">
                <a:alpha val="80000"/>
              </a:schemeClr>
            </a:solidFill>
            <a:prstDash val="solid"/>
          </a:ln>
        </p:spPr>
      </p:sp>
      <p:sp>
        <p:nvSpPr>
          <p:cNvPr id="86" name="Potassium: nucleus"/>
          <p:cNvSpPr/>
          <p:nvPr/>
        </p:nvSpPr>
        <p:spPr>
          <a:xfrm>
            <a:off x="7774925" y="3056621"/>
            <a:ext cx="232694" cy="232694"/>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87" name="Potassium: electron, shell 1"/>
          <p:cNvSpPr/>
          <p:nvPr/>
        </p:nvSpPr>
        <p:spPr>
          <a:xfrm>
            <a:off x="7863123" y="2964669"/>
            <a:ext cx="56297" cy="56297"/>
          </a:xfrm>
          <a:prstGeom prst="ellipse">
            <a:avLst/>
          </a:prstGeom>
          <a:solidFill>
            <a:schemeClr val="accent1"/>
          </a:solidFill>
          <a:ln w="3175">
            <a:solidFill>
              <a:schemeClr val="accent1"/>
            </a:solidFill>
            <a:prstDash val="solid"/>
          </a:ln>
        </p:spPr>
      </p:sp>
      <p:sp>
        <p:nvSpPr>
          <p:cNvPr id="88" name="Potassium: electron, shell 1"/>
          <p:cNvSpPr/>
          <p:nvPr/>
        </p:nvSpPr>
        <p:spPr>
          <a:xfrm>
            <a:off x="8043274" y="3144819"/>
            <a:ext cx="56297" cy="56297"/>
          </a:xfrm>
          <a:prstGeom prst="ellipse">
            <a:avLst/>
          </a:prstGeom>
          <a:solidFill>
            <a:schemeClr val="accent1"/>
          </a:solidFill>
          <a:ln w="3175">
            <a:solidFill>
              <a:schemeClr val="accent1"/>
            </a:solidFill>
            <a:prstDash val="solid"/>
          </a:ln>
        </p:spPr>
      </p:sp>
      <p:sp>
        <p:nvSpPr>
          <p:cNvPr id="89" name="Potassium: electron, shell 2"/>
          <p:cNvSpPr/>
          <p:nvPr/>
        </p:nvSpPr>
        <p:spPr>
          <a:xfrm>
            <a:off x="7825323" y="2854526"/>
            <a:ext cx="56297" cy="56297"/>
          </a:xfrm>
          <a:prstGeom prst="ellipse">
            <a:avLst/>
          </a:prstGeom>
          <a:solidFill>
            <a:schemeClr val="accent1"/>
          </a:solidFill>
          <a:ln w="3175">
            <a:solidFill>
              <a:schemeClr val="accent1"/>
            </a:solidFill>
            <a:prstDash val="solid"/>
          </a:ln>
        </p:spPr>
      </p:sp>
      <p:sp>
        <p:nvSpPr>
          <p:cNvPr id="90" name="Potassium: electron, shell 2"/>
          <p:cNvSpPr/>
          <p:nvPr/>
        </p:nvSpPr>
        <p:spPr>
          <a:xfrm>
            <a:off x="7900924" y="2854526"/>
            <a:ext cx="56297" cy="56297"/>
          </a:xfrm>
          <a:prstGeom prst="ellipse">
            <a:avLst/>
          </a:prstGeom>
          <a:solidFill>
            <a:schemeClr val="accent1"/>
          </a:solidFill>
          <a:ln w="3175">
            <a:solidFill>
              <a:schemeClr val="accent1"/>
            </a:solidFill>
            <a:prstDash val="solid"/>
          </a:ln>
        </p:spPr>
      </p:sp>
      <p:sp>
        <p:nvSpPr>
          <p:cNvPr id="91" name="Potassium: electron, shell 2"/>
          <p:cNvSpPr/>
          <p:nvPr/>
        </p:nvSpPr>
        <p:spPr>
          <a:xfrm>
            <a:off x="8153417" y="3107019"/>
            <a:ext cx="56297" cy="56297"/>
          </a:xfrm>
          <a:prstGeom prst="ellipse">
            <a:avLst/>
          </a:prstGeom>
          <a:solidFill>
            <a:schemeClr val="accent1"/>
          </a:solidFill>
          <a:ln w="3175">
            <a:solidFill>
              <a:schemeClr val="accent1"/>
            </a:solidFill>
            <a:prstDash val="solid"/>
          </a:ln>
        </p:spPr>
      </p:sp>
      <p:sp>
        <p:nvSpPr>
          <p:cNvPr id="92" name="Potassium: electron, shell 2"/>
          <p:cNvSpPr/>
          <p:nvPr/>
        </p:nvSpPr>
        <p:spPr>
          <a:xfrm>
            <a:off x="8153417" y="3182620"/>
            <a:ext cx="56297" cy="56297"/>
          </a:xfrm>
          <a:prstGeom prst="ellipse">
            <a:avLst/>
          </a:prstGeom>
          <a:solidFill>
            <a:schemeClr val="accent1"/>
          </a:solidFill>
          <a:ln w="3175">
            <a:solidFill>
              <a:schemeClr val="accent1"/>
            </a:solidFill>
            <a:prstDash val="solid"/>
          </a:ln>
        </p:spPr>
      </p:sp>
      <p:sp>
        <p:nvSpPr>
          <p:cNvPr id="93" name="Potassium: electron, shell 2"/>
          <p:cNvSpPr/>
          <p:nvPr/>
        </p:nvSpPr>
        <p:spPr>
          <a:xfrm>
            <a:off x="7900924" y="3435113"/>
            <a:ext cx="56297" cy="56297"/>
          </a:xfrm>
          <a:prstGeom prst="ellipse">
            <a:avLst/>
          </a:prstGeom>
          <a:solidFill>
            <a:schemeClr val="accent1"/>
          </a:solidFill>
          <a:ln w="3175">
            <a:solidFill>
              <a:schemeClr val="accent1"/>
            </a:solidFill>
            <a:prstDash val="solid"/>
          </a:ln>
        </p:spPr>
      </p:sp>
      <p:sp>
        <p:nvSpPr>
          <p:cNvPr id="94" name="Potassium: electron, shell 2"/>
          <p:cNvSpPr/>
          <p:nvPr/>
        </p:nvSpPr>
        <p:spPr>
          <a:xfrm>
            <a:off x="7825323" y="3435113"/>
            <a:ext cx="56297" cy="56297"/>
          </a:xfrm>
          <a:prstGeom prst="ellipse">
            <a:avLst/>
          </a:prstGeom>
          <a:solidFill>
            <a:schemeClr val="accent1"/>
          </a:solidFill>
          <a:ln w="3175">
            <a:solidFill>
              <a:schemeClr val="accent1"/>
            </a:solidFill>
            <a:prstDash val="solid"/>
          </a:ln>
        </p:spPr>
      </p:sp>
      <p:sp>
        <p:nvSpPr>
          <p:cNvPr id="95" name="Potassium: electron, shell 2"/>
          <p:cNvSpPr/>
          <p:nvPr/>
        </p:nvSpPr>
        <p:spPr>
          <a:xfrm>
            <a:off x="7572830" y="3182620"/>
            <a:ext cx="56297" cy="56297"/>
          </a:xfrm>
          <a:prstGeom prst="ellipse">
            <a:avLst/>
          </a:prstGeom>
          <a:solidFill>
            <a:schemeClr val="accent1"/>
          </a:solidFill>
          <a:ln w="3175">
            <a:solidFill>
              <a:schemeClr val="accent1"/>
            </a:solidFill>
            <a:prstDash val="solid"/>
          </a:ln>
        </p:spPr>
      </p:sp>
      <p:sp>
        <p:nvSpPr>
          <p:cNvPr id="96" name="Potassium: electron, shell 2"/>
          <p:cNvSpPr/>
          <p:nvPr/>
        </p:nvSpPr>
        <p:spPr>
          <a:xfrm>
            <a:off x="7572830" y="3107019"/>
            <a:ext cx="56297" cy="56297"/>
          </a:xfrm>
          <a:prstGeom prst="ellipse">
            <a:avLst/>
          </a:prstGeom>
          <a:solidFill>
            <a:schemeClr val="accent1"/>
          </a:solidFill>
          <a:ln w="3175">
            <a:solidFill>
              <a:schemeClr val="accent1"/>
            </a:solidFill>
            <a:prstDash val="solid"/>
          </a:ln>
        </p:spPr>
      </p:sp>
      <p:sp>
        <p:nvSpPr>
          <p:cNvPr id="97" name="Potassium: electron, shell 3"/>
          <p:cNvSpPr/>
          <p:nvPr/>
        </p:nvSpPr>
        <p:spPr>
          <a:xfrm>
            <a:off x="7825274" y="2748792"/>
            <a:ext cx="56297" cy="56297"/>
          </a:xfrm>
          <a:prstGeom prst="ellipse">
            <a:avLst/>
          </a:prstGeom>
          <a:solidFill>
            <a:schemeClr val="accent1"/>
          </a:solidFill>
          <a:ln w="3175">
            <a:solidFill>
              <a:schemeClr val="accent1"/>
            </a:solidFill>
            <a:prstDash val="solid"/>
          </a:ln>
        </p:spPr>
      </p:sp>
      <p:sp>
        <p:nvSpPr>
          <p:cNvPr id="98" name="Potassium: electron, shell 3"/>
          <p:cNvSpPr/>
          <p:nvPr/>
        </p:nvSpPr>
        <p:spPr>
          <a:xfrm>
            <a:off x="7900973" y="2748792"/>
            <a:ext cx="56297" cy="56297"/>
          </a:xfrm>
          <a:prstGeom prst="ellipse">
            <a:avLst/>
          </a:prstGeom>
          <a:solidFill>
            <a:schemeClr val="accent1"/>
          </a:solidFill>
          <a:ln w="3175">
            <a:solidFill>
              <a:schemeClr val="accent1"/>
            </a:solidFill>
            <a:prstDash val="solid"/>
          </a:ln>
        </p:spPr>
      </p:sp>
      <p:sp>
        <p:nvSpPr>
          <p:cNvPr id="99" name="Potassium: electron, shell 3"/>
          <p:cNvSpPr/>
          <p:nvPr/>
        </p:nvSpPr>
        <p:spPr>
          <a:xfrm>
            <a:off x="8259151" y="3106970"/>
            <a:ext cx="56297" cy="56297"/>
          </a:xfrm>
          <a:prstGeom prst="ellipse">
            <a:avLst/>
          </a:prstGeom>
          <a:solidFill>
            <a:schemeClr val="accent1"/>
          </a:solidFill>
          <a:ln w="3175">
            <a:solidFill>
              <a:schemeClr val="accent1"/>
            </a:solidFill>
            <a:prstDash val="solid"/>
          </a:ln>
        </p:spPr>
      </p:sp>
      <p:sp>
        <p:nvSpPr>
          <p:cNvPr id="100" name="Potassium: electron, shell 3"/>
          <p:cNvSpPr/>
          <p:nvPr/>
        </p:nvSpPr>
        <p:spPr>
          <a:xfrm>
            <a:off x="8259151" y="3182669"/>
            <a:ext cx="56297" cy="56297"/>
          </a:xfrm>
          <a:prstGeom prst="ellipse">
            <a:avLst/>
          </a:prstGeom>
          <a:solidFill>
            <a:schemeClr val="accent1"/>
          </a:solidFill>
          <a:ln w="3175">
            <a:solidFill>
              <a:schemeClr val="accent1"/>
            </a:solidFill>
            <a:prstDash val="solid"/>
          </a:ln>
        </p:spPr>
      </p:sp>
      <p:sp>
        <p:nvSpPr>
          <p:cNvPr id="101" name="Potassium: electron, shell 3"/>
          <p:cNvSpPr/>
          <p:nvPr/>
        </p:nvSpPr>
        <p:spPr>
          <a:xfrm>
            <a:off x="7900973" y="3540847"/>
            <a:ext cx="56297" cy="56297"/>
          </a:xfrm>
          <a:prstGeom prst="ellipse">
            <a:avLst/>
          </a:prstGeom>
          <a:solidFill>
            <a:schemeClr val="accent1"/>
          </a:solidFill>
          <a:ln w="3175">
            <a:solidFill>
              <a:schemeClr val="accent1"/>
            </a:solidFill>
            <a:prstDash val="solid"/>
          </a:ln>
        </p:spPr>
      </p:sp>
      <p:sp>
        <p:nvSpPr>
          <p:cNvPr id="102" name="Potassium: electron, shell 3"/>
          <p:cNvSpPr/>
          <p:nvPr/>
        </p:nvSpPr>
        <p:spPr>
          <a:xfrm>
            <a:off x="7825274" y="3540847"/>
            <a:ext cx="56297" cy="56297"/>
          </a:xfrm>
          <a:prstGeom prst="ellipse">
            <a:avLst/>
          </a:prstGeom>
          <a:solidFill>
            <a:schemeClr val="accent1"/>
          </a:solidFill>
          <a:ln w="3175">
            <a:solidFill>
              <a:schemeClr val="accent1"/>
            </a:solidFill>
            <a:prstDash val="solid"/>
          </a:ln>
        </p:spPr>
      </p:sp>
      <p:sp>
        <p:nvSpPr>
          <p:cNvPr id="103" name="Potassium: electron, shell 3"/>
          <p:cNvSpPr/>
          <p:nvPr/>
        </p:nvSpPr>
        <p:spPr>
          <a:xfrm>
            <a:off x="7467096" y="3182669"/>
            <a:ext cx="56297" cy="56297"/>
          </a:xfrm>
          <a:prstGeom prst="ellipse">
            <a:avLst/>
          </a:prstGeom>
          <a:solidFill>
            <a:schemeClr val="accent1"/>
          </a:solidFill>
          <a:ln w="3175">
            <a:solidFill>
              <a:schemeClr val="accent1"/>
            </a:solidFill>
            <a:prstDash val="solid"/>
          </a:ln>
        </p:spPr>
      </p:sp>
      <p:sp>
        <p:nvSpPr>
          <p:cNvPr id="104" name="Potassium: electron, shell 3"/>
          <p:cNvSpPr/>
          <p:nvPr/>
        </p:nvSpPr>
        <p:spPr>
          <a:xfrm>
            <a:off x="7467096" y="3106970"/>
            <a:ext cx="56297" cy="56297"/>
          </a:xfrm>
          <a:prstGeom prst="ellipse">
            <a:avLst/>
          </a:prstGeom>
          <a:solidFill>
            <a:schemeClr val="accent1"/>
          </a:solidFill>
          <a:ln w="3175">
            <a:solidFill>
              <a:schemeClr val="accent1"/>
            </a:solidFill>
            <a:prstDash val="solid"/>
          </a:ln>
        </p:spPr>
      </p:sp>
      <p:sp>
        <p:nvSpPr>
          <p:cNvPr id="105" name="Potassium: electron, shell 4"/>
          <p:cNvSpPr/>
          <p:nvPr/>
        </p:nvSpPr>
        <p:spPr>
          <a:xfrm>
            <a:off x="7863123" y="2641899"/>
            <a:ext cx="56297" cy="56297"/>
          </a:xfrm>
          <a:prstGeom prst="ellipse">
            <a:avLst/>
          </a:prstGeom>
          <a:solidFill>
            <a:schemeClr val="accent2"/>
          </a:solidFill>
          <a:ln w="3175">
            <a:solidFill>
              <a:schemeClr val="accent2"/>
            </a:solidFill>
            <a:prstDash val="solid"/>
          </a:ln>
        </p:spPr>
      </p:sp>
      <p:sp>
        <p:nvSpPr>
          <p:cNvPr id="106" name="Text 104"/>
          <p:cNvSpPr txBox="1"/>
          <p:nvPr/>
        </p:nvSpPr>
        <p:spPr>
          <a:xfrm>
            <a:off x="7114032" y="4069080"/>
            <a:ext cx="1554480" cy="320040"/>
          </a:xfrm>
          <a:prstGeom prst="rect">
            <a:avLst/>
          </a:prstGeom>
          <a:noFill/>
          <a:ln/>
        </p:spPr>
        <p:txBody>
          <a:bodyPr wrap="square" lIns="0" tIns="0" rIns="0" bIns="0" rtlCol="0" anchor="t"/>
          <a:lstStyle/>
          <a:p>
            <a:pPr algn="ctr" indent="0" marL="0">
              <a:buNone/>
            </a:pPr>
            <a:r>
              <a:rPr lang="en-US" sz="1200" dirty="0">
                <a:solidFill>
                  <a:schemeClr val="bg2"/>
                </a:solidFill>
              </a:rPr>
              <a:t>Lose or gain? ?</a:t>
            </a:r>
            <a:endParaRPr lang="en-US" sz="12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ection tile 3"/>
          <p:cNvSpPr/>
          <p:nvPr/>
        </p:nvSpPr>
        <p:spPr>
          <a:xfrm>
            <a:off x="457200" y="301752"/>
            <a:ext cx="749808" cy="841248"/>
          </a:xfrm>
          <a:prstGeom prst="roundRect">
            <a:avLst>
              <a:gd name="adj" fmla="val 12000"/>
            </a:avLst>
          </a:prstGeom>
          <a:solidFill>
            <a:srgbClr val="60A5FA">
              <a:alpha val="28000"/>
            </a:srgbClr>
          </a:solidFill>
          <a:ln w="19050">
            <a:solidFill>
              <a:srgbClr val="60A5FA"/>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3</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2400" b="1" dirty="0">
                <a:solidFill>
                  <a:schemeClr val="bg1"/>
                </a:solidFill>
              </a:rPr>
              <a:t>Mg</a:t>
            </a:r>
            <a:pPr algn="ctr" indent="0" marL="0">
              <a:buNone/>
            </a:pPr>
            <a:r>
              <a:rPr lang="en-US" sz="2400" b="1" baseline="30000" dirty="0">
                <a:solidFill>
                  <a:schemeClr val="bg1"/>
                </a:solidFill>
              </a:rPr>
              <a:t>2+</a:t>
            </a:r>
            <a:endParaRPr lang="en-US" sz="2400" dirty="0"/>
          </a:p>
        </p:txBody>
      </p:sp>
      <p:sp>
        <p:nvSpPr>
          <p:cNvPr id="5" name="Text 3"/>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6" name="Text 4"/>
          <p:cNvSpPr/>
          <p:nvPr/>
        </p:nvSpPr>
        <p:spPr>
          <a:xfrm>
            <a:off x="224028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7" name="Text 5"/>
          <p:cNvSpPr txBox="1"/>
          <p:nvPr/>
        </p:nvSpPr>
        <p:spPr>
          <a:xfrm>
            <a:off x="32004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3 of 9</a:t>
            </a:r>
            <a:endParaRPr lang="en-US" sz="1200" dirty="0"/>
          </a:p>
        </p:txBody>
      </p:sp>
      <p:sp>
        <p:nvSpPr>
          <p:cNvPr id="8"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Lose or gain?</a:t>
            </a:r>
            <a:endParaRPr lang="en-US" sz="2800" dirty="0"/>
          </a:p>
        </p:txBody>
      </p:sp>
      <p:sp>
        <p:nvSpPr>
          <p:cNvPr id="9" name="Text 7"/>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Metals lost their valence electrons. Nonmetals gained electrons (pink) to reach 8.</a:t>
            </a:r>
            <a:endParaRPr lang="en-US" sz="1300" dirty="0"/>
          </a:p>
        </p:txBody>
      </p:sp>
      <p:sp>
        <p:nvSpPr>
          <p:cNvPr id="10" name="Lithium"/>
          <p:cNvSpPr/>
          <p:nvPr/>
        </p:nvSpPr>
        <p:spPr>
          <a:xfrm>
            <a:off x="457200" y="1691640"/>
            <a:ext cx="1554480" cy="2926080"/>
          </a:xfrm>
          <a:prstGeom prst="roundRect">
            <a:avLst>
              <a:gd name="adj" fmla="val 5882"/>
            </a:avLst>
          </a:prstGeom>
          <a:solidFill>
            <a:schemeClr val="tx2"/>
          </a:solidFill>
          <a:ln w="9525">
            <a:solidFill>
              <a:schemeClr val="bg2">
                <a:alpha val="30000"/>
              </a:schemeClr>
            </a:solidFill>
            <a:prstDash val="solid"/>
          </a:ln>
        </p:spPr>
      </p:sp>
      <p:sp>
        <p:nvSpPr>
          <p:cNvPr id="11" name="Text 9"/>
          <p:cNvSpPr txBox="1"/>
          <p:nvPr/>
        </p:nvSpPr>
        <p:spPr>
          <a:xfrm>
            <a:off x="566928" y="1783080"/>
            <a:ext cx="1371600" cy="274320"/>
          </a:xfrm>
          <a:prstGeom prst="rect">
            <a:avLst/>
          </a:prstGeom>
          <a:noFill/>
          <a:ln/>
        </p:spPr>
        <p:txBody>
          <a:bodyPr wrap="square" lIns="0" tIns="0" rIns="0" bIns="0" rtlCol="0" anchor="t"/>
          <a:lstStyle/>
          <a:p>
            <a:pPr indent="0" marL="0">
              <a:buNone/>
            </a:pPr>
            <a:r>
              <a:rPr lang="en-US" sz="1300" b="1" dirty="0">
                <a:solidFill>
                  <a:schemeClr val="bg1"/>
                </a:solidFill>
              </a:rPr>
              <a:t>Lithium</a:t>
            </a:r>
            <a:endParaRPr lang="en-US" sz="1300" dirty="0"/>
          </a:p>
        </p:txBody>
      </p:sp>
      <p:sp>
        <p:nvSpPr>
          <p:cNvPr id="12" name="Text 10"/>
          <p:cNvSpPr txBox="1"/>
          <p:nvPr/>
        </p:nvSpPr>
        <p:spPr>
          <a:xfrm>
            <a:off x="566928" y="2057400"/>
            <a:ext cx="1371600" cy="237744"/>
          </a:xfrm>
          <a:prstGeom prst="rect">
            <a:avLst/>
          </a:prstGeom>
          <a:noFill/>
          <a:ln/>
        </p:spPr>
        <p:txBody>
          <a:bodyPr wrap="square" lIns="0" tIns="0" rIns="0" bIns="0" rtlCol="0" anchor="t"/>
          <a:lstStyle/>
          <a:p>
            <a:pPr indent="0" marL="0">
              <a:buNone/>
            </a:pPr>
            <a:r>
              <a:rPr lang="en-US" sz="1100" dirty="0">
                <a:solidFill>
                  <a:schemeClr val="bg2"/>
                </a:solidFill>
              </a:rPr>
              <a:t>2, 1</a:t>
            </a:r>
            <a:endParaRPr lang="en-US" sz="1100" dirty="0"/>
          </a:p>
        </p:txBody>
      </p:sp>
      <p:sp>
        <p:nvSpPr>
          <p:cNvPr id="13" name="lithium ion: shell 1"/>
          <p:cNvSpPr/>
          <p:nvPr/>
        </p:nvSpPr>
        <p:spPr>
          <a:xfrm>
            <a:off x="971093" y="2909621"/>
            <a:ext cx="526694" cy="526694"/>
          </a:xfrm>
          <a:prstGeom prst="ellipse">
            <a:avLst/>
          </a:prstGeom>
          <a:solidFill>
            <a:schemeClr val="bg1">
              <a:alpha val="0"/>
            </a:schemeClr>
          </a:solidFill>
          <a:ln w="15875">
            <a:solidFill>
              <a:schemeClr val="bg2">
                <a:alpha val="55000"/>
              </a:schemeClr>
            </a:solidFill>
            <a:prstDash val="solid"/>
          </a:ln>
        </p:spPr>
      </p:sp>
      <p:sp>
        <p:nvSpPr>
          <p:cNvPr id="14" name="lithium ion: nucleus"/>
          <p:cNvSpPr/>
          <p:nvPr/>
        </p:nvSpPr>
        <p:spPr>
          <a:xfrm>
            <a:off x="1064362" y="3002890"/>
            <a:ext cx="340157" cy="340157"/>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15" name="lithium ion: electron, shell 1"/>
          <p:cNvSpPr/>
          <p:nvPr/>
        </p:nvSpPr>
        <p:spPr>
          <a:xfrm>
            <a:off x="1193292" y="2868473"/>
            <a:ext cx="82296" cy="82296"/>
          </a:xfrm>
          <a:prstGeom prst="ellipse">
            <a:avLst/>
          </a:prstGeom>
          <a:solidFill>
            <a:schemeClr val="accent1"/>
          </a:solidFill>
          <a:ln w="3175">
            <a:solidFill>
              <a:schemeClr val="accent1"/>
            </a:solidFill>
            <a:prstDash val="solid"/>
          </a:ln>
        </p:spPr>
      </p:sp>
      <p:sp>
        <p:nvSpPr>
          <p:cNvPr id="16" name="lithium ion: electron, shell 1"/>
          <p:cNvSpPr/>
          <p:nvPr/>
        </p:nvSpPr>
        <p:spPr>
          <a:xfrm>
            <a:off x="1456639" y="3131820"/>
            <a:ext cx="82296" cy="82296"/>
          </a:xfrm>
          <a:prstGeom prst="ellipse">
            <a:avLst/>
          </a:prstGeom>
          <a:solidFill>
            <a:schemeClr val="accent1"/>
          </a:solidFill>
          <a:ln w="3175">
            <a:solidFill>
              <a:schemeClr val="accent1"/>
            </a:solidFill>
            <a:prstDash val="solid"/>
          </a:ln>
        </p:spPr>
      </p:sp>
      <p:sp>
        <p:nvSpPr>
          <p:cNvPr id="17" name="lithium ion: left bracket"/>
          <p:cNvSpPr/>
          <p:nvPr/>
        </p:nvSpPr>
        <p:spPr>
          <a:xfrm>
            <a:off x="883310" y="2821838"/>
            <a:ext cx="76810" cy="702259"/>
          </a:xfrm>
          <a:prstGeom prst="leftBracket">
            <a:avLst/>
          </a:prstGeom>
          <a:noFill/>
          <a:ln w="15875">
            <a:solidFill>
              <a:schemeClr val="bg1"/>
            </a:solidFill>
            <a:prstDash val="solid"/>
          </a:ln>
        </p:spPr>
      </p:sp>
      <p:sp>
        <p:nvSpPr>
          <p:cNvPr id="18" name="lithium ion: right bracket"/>
          <p:cNvSpPr/>
          <p:nvPr/>
        </p:nvSpPr>
        <p:spPr>
          <a:xfrm>
            <a:off x="1508760" y="2821838"/>
            <a:ext cx="76810" cy="702259"/>
          </a:xfrm>
          <a:prstGeom prst="rightBracket">
            <a:avLst/>
          </a:prstGeom>
          <a:noFill/>
          <a:ln w="15875">
            <a:solidFill>
              <a:schemeClr val="bg1"/>
            </a:solidFill>
            <a:prstDash val="solid"/>
          </a:ln>
        </p:spPr>
      </p:sp>
      <p:sp>
        <p:nvSpPr>
          <p:cNvPr id="19" name="lithium ion: charge"/>
          <p:cNvSpPr txBox="1"/>
          <p:nvPr/>
        </p:nvSpPr>
        <p:spPr>
          <a:xfrm>
            <a:off x="1603858" y="2745003"/>
            <a:ext cx="223520" cy="167640"/>
          </a:xfrm>
          <a:prstGeom prst="rect">
            <a:avLst/>
          </a:prstGeom>
          <a:noFill/>
          <a:ln/>
        </p:spPr>
        <p:txBody>
          <a:bodyPr wrap="square" lIns="0" tIns="0" rIns="0" bIns="0" rtlCol="0" anchor="t"/>
          <a:lstStyle/>
          <a:p>
            <a:pPr indent="0" marL="0">
              <a:buNone/>
            </a:pPr>
            <a:r>
              <a:rPr lang="en-US" sz="1100" b="1" dirty="0">
                <a:solidFill>
                  <a:schemeClr val="bg1"/>
                </a:solidFill>
              </a:rPr>
              <a:t>+</a:t>
            </a:r>
            <a:endParaRPr lang="en-US" sz="1100" dirty="0"/>
          </a:p>
        </p:txBody>
      </p:sp>
      <p:sp>
        <p:nvSpPr>
          <p:cNvPr id="20" name="Text 18"/>
          <p:cNvSpPr txBox="1"/>
          <p:nvPr/>
        </p:nvSpPr>
        <p:spPr>
          <a:xfrm>
            <a:off x="457200" y="4023360"/>
            <a:ext cx="1554480" cy="502920"/>
          </a:xfrm>
          <a:prstGeom prst="rect">
            <a:avLst/>
          </a:prstGeom>
          <a:noFill/>
          <a:ln/>
        </p:spPr>
        <p:txBody>
          <a:bodyPr wrap="square" lIns="0" tIns="0" rIns="0" bIns="0" rtlCol="0" anchor="ctr"/>
          <a:lstStyle/>
          <a:p>
            <a:pPr algn="ctr" indent="0" marL="0">
              <a:buNone/>
            </a:pPr>
            <a:r>
              <a:rPr lang="en-US" sz="1200" b="1" dirty="0">
                <a:solidFill>
                  <a:schemeClr val="accent4"/>
                </a:solidFill>
              </a:rPr>
              <a:t>Lose 1 -&gt; </a:t>
            </a:r>
            <a:pPr algn="ctr" indent="0" marL="0">
              <a:buNone/>
            </a:pPr>
            <a:r>
              <a:rPr lang="en-US" sz="1200" b="1" dirty="0">
                <a:solidFill>
                  <a:schemeClr val="bg1"/>
                </a:solidFill>
              </a:rPr>
              <a:t>Li</a:t>
            </a:r>
            <a:pPr algn="ctr" indent="0" marL="0">
              <a:buNone/>
            </a:pPr>
            <a:r>
              <a:rPr lang="en-US" sz="1200" b="1" baseline="30000" dirty="0">
                <a:solidFill>
                  <a:schemeClr val="bg1"/>
                </a:solidFill>
              </a:rPr>
              <a:t>+</a:t>
            </a:r>
            <a:pPr algn="ctr" indent="0" marL="0">
              <a:buNone/>
            </a:pPr>
            <a:endParaRPr lang="en-US" sz="1200" dirty="0"/>
          </a:p>
          <a:p>
            <a:pPr algn="ctr" indent="0" marL="0">
              <a:buNone/>
            </a:pPr>
            <a:r>
              <a:rPr lang="en-US" sz="1200" dirty="0">
                <a:solidFill>
                  <a:schemeClr val="bg2"/>
                </a:solidFill>
              </a:rPr>
              <a:t>2</a:t>
            </a:r>
            <a:endParaRPr lang="en-US" sz="1200" dirty="0"/>
          </a:p>
        </p:txBody>
      </p:sp>
      <p:sp>
        <p:nvSpPr>
          <p:cNvPr id="21" name="Fluorine"/>
          <p:cNvSpPr/>
          <p:nvPr/>
        </p:nvSpPr>
        <p:spPr>
          <a:xfrm>
            <a:off x="2121408" y="1691640"/>
            <a:ext cx="1554480" cy="2926080"/>
          </a:xfrm>
          <a:prstGeom prst="roundRect">
            <a:avLst>
              <a:gd name="adj" fmla="val 5882"/>
            </a:avLst>
          </a:prstGeom>
          <a:solidFill>
            <a:schemeClr val="tx2"/>
          </a:solidFill>
          <a:ln w="9525">
            <a:solidFill>
              <a:schemeClr val="bg2">
                <a:alpha val="30000"/>
              </a:schemeClr>
            </a:solidFill>
            <a:prstDash val="solid"/>
          </a:ln>
        </p:spPr>
      </p:sp>
      <p:sp>
        <p:nvSpPr>
          <p:cNvPr id="22" name="Text 20"/>
          <p:cNvSpPr txBox="1"/>
          <p:nvPr/>
        </p:nvSpPr>
        <p:spPr>
          <a:xfrm>
            <a:off x="2231136" y="1783080"/>
            <a:ext cx="1371600" cy="274320"/>
          </a:xfrm>
          <a:prstGeom prst="rect">
            <a:avLst/>
          </a:prstGeom>
          <a:noFill/>
          <a:ln/>
        </p:spPr>
        <p:txBody>
          <a:bodyPr wrap="square" lIns="0" tIns="0" rIns="0" bIns="0" rtlCol="0" anchor="t"/>
          <a:lstStyle/>
          <a:p>
            <a:pPr indent="0" marL="0">
              <a:buNone/>
            </a:pPr>
            <a:r>
              <a:rPr lang="en-US" sz="1300" b="1" dirty="0">
                <a:solidFill>
                  <a:schemeClr val="bg1"/>
                </a:solidFill>
              </a:rPr>
              <a:t>Fluorine</a:t>
            </a:r>
            <a:endParaRPr lang="en-US" sz="1300" dirty="0"/>
          </a:p>
        </p:txBody>
      </p:sp>
      <p:sp>
        <p:nvSpPr>
          <p:cNvPr id="23" name="Text 21"/>
          <p:cNvSpPr txBox="1"/>
          <p:nvPr/>
        </p:nvSpPr>
        <p:spPr>
          <a:xfrm>
            <a:off x="2231136" y="2057400"/>
            <a:ext cx="1371600" cy="237744"/>
          </a:xfrm>
          <a:prstGeom prst="rect">
            <a:avLst/>
          </a:prstGeom>
          <a:noFill/>
          <a:ln/>
        </p:spPr>
        <p:txBody>
          <a:bodyPr wrap="square" lIns="0" tIns="0" rIns="0" bIns="0" rtlCol="0" anchor="t"/>
          <a:lstStyle/>
          <a:p>
            <a:pPr indent="0" marL="0">
              <a:buNone/>
            </a:pPr>
            <a:r>
              <a:rPr lang="en-US" sz="1100" dirty="0">
                <a:solidFill>
                  <a:schemeClr val="bg2"/>
                </a:solidFill>
              </a:rPr>
              <a:t>2, 7</a:t>
            </a:r>
            <a:endParaRPr lang="en-US" sz="1100" dirty="0"/>
          </a:p>
        </p:txBody>
      </p:sp>
      <p:sp>
        <p:nvSpPr>
          <p:cNvPr id="24" name="fluoride: shell 1"/>
          <p:cNvSpPr/>
          <p:nvPr/>
        </p:nvSpPr>
        <p:spPr>
          <a:xfrm>
            <a:off x="2635301" y="2909621"/>
            <a:ext cx="526694" cy="526694"/>
          </a:xfrm>
          <a:prstGeom prst="ellipse">
            <a:avLst/>
          </a:prstGeom>
          <a:solidFill>
            <a:schemeClr val="bg1">
              <a:alpha val="0"/>
            </a:schemeClr>
          </a:solidFill>
          <a:ln w="15875">
            <a:solidFill>
              <a:schemeClr val="bg2">
                <a:alpha val="55000"/>
              </a:schemeClr>
            </a:solidFill>
            <a:prstDash val="solid"/>
          </a:ln>
        </p:spPr>
      </p:sp>
      <p:sp>
        <p:nvSpPr>
          <p:cNvPr id="25" name="fluoride: shell 2"/>
          <p:cNvSpPr/>
          <p:nvPr/>
        </p:nvSpPr>
        <p:spPr>
          <a:xfrm>
            <a:off x="2470709" y="2745029"/>
            <a:ext cx="855878" cy="855878"/>
          </a:xfrm>
          <a:prstGeom prst="ellipse">
            <a:avLst/>
          </a:prstGeom>
          <a:solidFill>
            <a:schemeClr val="bg1">
              <a:alpha val="0"/>
            </a:schemeClr>
          </a:solidFill>
          <a:ln w="15875">
            <a:solidFill>
              <a:schemeClr val="bg2">
                <a:alpha val="55000"/>
              </a:schemeClr>
            </a:solidFill>
            <a:prstDash val="solid"/>
          </a:ln>
        </p:spPr>
      </p:sp>
      <p:sp>
        <p:nvSpPr>
          <p:cNvPr id="26" name="fluoride: nucleus"/>
          <p:cNvSpPr/>
          <p:nvPr/>
        </p:nvSpPr>
        <p:spPr>
          <a:xfrm>
            <a:off x="2728570" y="3002890"/>
            <a:ext cx="340157" cy="340157"/>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27" name="fluoride: electron, shell 1"/>
          <p:cNvSpPr/>
          <p:nvPr/>
        </p:nvSpPr>
        <p:spPr>
          <a:xfrm>
            <a:off x="2857500" y="2868473"/>
            <a:ext cx="82296" cy="82296"/>
          </a:xfrm>
          <a:prstGeom prst="ellipse">
            <a:avLst/>
          </a:prstGeom>
          <a:solidFill>
            <a:schemeClr val="accent1"/>
          </a:solidFill>
          <a:ln w="3175">
            <a:solidFill>
              <a:schemeClr val="accent1"/>
            </a:solidFill>
            <a:prstDash val="solid"/>
          </a:ln>
        </p:spPr>
      </p:sp>
      <p:sp>
        <p:nvSpPr>
          <p:cNvPr id="28" name="fluoride: electron, shell 1"/>
          <p:cNvSpPr/>
          <p:nvPr/>
        </p:nvSpPr>
        <p:spPr>
          <a:xfrm>
            <a:off x="3120847" y="3131820"/>
            <a:ext cx="82296" cy="82296"/>
          </a:xfrm>
          <a:prstGeom prst="ellipse">
            <a:avLst/>
          </a:prstGeom>
          <a:solidFill>
            <a:schemeClr val="accent1"/>
          </a:solidFill>
          <a:ln w="3175">
            <a:solidFill>
              <a:schemeClr val="accent1"/>
            </a:solidFill>
            <a:prstDash val="solid"/>
          </a:ln>
        </p:spPr>
      </p:sp>
      <p:sp>
        <p:nvSpPr>
          <p:cNvPr id="29" name="fluoride: electron, shell 2"/>
          <p:cNvSpPr/>
          <p:nvPr/>
        </p:nvSpPr>
        <p:spPr>
          <a:xfrm>
            <a:off x="2802242" y="2707463"/>
            <a:ext cx="82296" cy="82296"/>
          </a:xfrm>
          <a:prstGeom prst="ellipse">
            <a:avLst/>
          </a:prstGeom>
          <a:solidFill>
            <a:schemeClr val="accent1"/>
          </a:solidFill>
          <a:ln w="3175">
            <a:solidFill>
              <a:schemeClr val="accent1"/>
            </a:solidFill>
            <a:prstDash val="solid"/>
          </a:ln>
        </p:spPr>
      </p:sp>
      <p:sp>
        <p:nvSpPr>
          <p:cNvPr id="30" name="fluoride: electron, shell 2"/>
          <p:cNvSpPr/>
          <p:nvPr/>
        </p:nvSpPr>
        <p:spPr>
          <a:xfrm>
            <a:off x="2912758" y="2707463"/>
            <a:ext cx="82296" cy="82296"/>
          </a:xfrm>
          <a:prstGeom prst="ellipse">
            <a:avLst/>
          </a:prstGeom>
          <a:solidFill>
            <a:schemeClr val="accent1"/>
          </a:solidFill>
          <a:ln w="3175">
            <a:solidFill>
              <a:schemeClr val="accent1"/>
            </a:solidFill>
            <a:prstDash val="solid"/>
          </a:ln>
        </p:spPr>
      </p:sp>
      <p:sp>
        <p:nvSpPr>
          <p:cNvPr id="31" name="fluoride: electron, shell 2"/>
          <p:cNvSpPr/>
          <p:nvPr/>
        </p:nvSpPr>
        <p:spPr>
          <a:xfrm>
            <a:off x="3281857" y="3076562"/>
            <a:ext cx="82296" cy="82296"/>
          </a:xfrm>
          <a:prstGeom prst="ellipse">
            <a:avLst/>
          </a:prstGeom>
          <a:solidFill>
            <a:schemeClr val="accent1"/>
          </a:solidFill>
          <a:ln w="3175">
            <a:solidFill>
              <a:schemeClr val="accent1"/>
            </a:solidFill>
            <a:prstDash val="solid"/>
          </a:ln>
        </p:spPr>
      </p:sp>
      <p:sp>
        <p:nvSpPr>
          <p:cNvPr id="32" name="fluoride: electron, shell 2"/>
          <p:cNvSpPr/>
          <p:nvPr/>
        </p:nvSpPr>
        <p:spPr>
          <a:xfrm>
            <a:off x="3281857" y="3187078"/>
            <a:ext cx="82296" cy="82296"/>
          </a:xfrm>
          <a:prstGeom prst="ellipse">
            <a:avLst/>
          </a:prstGeom>
          <a:solidFill>
            <a:schemeClr val="accent1"/>
          </a:solidFill>
          <a:ln w="3175">
            <a:solidFill>
              <a:schemeClr val="accent1"/>
            </a:solidFill>
            <a:prstDash val="solid"/>
          </a:ln>
        </p:spPr>
      </p:sp>
      <p:sp>
        <p:nvSpPr>
          <p:cNvPr id="33" name="fluoride: electron, shell 2"/>
          <p:cNvSpPr/>
          <p:nvPr/>
        </p:nvSpPr>
        <p:spPr>
          <a:xfrm>
            <a:off x="2912758" y="3556177"/>
            <a:ext cx="82296" cy="82296"/>
          </a:xfrm>
          <a:prstGeom prst="ellipse">
            <a:avLst/>
          </a:prstGeom>
          <a:solidFill>
            <a:schemeClr val="accent1"/>
          </a:solidFill>
          <a:ln w="3175">
            <a:solidFill>
              <a:schemeClr val="accent1"/>
            </a:solidFill>
            <a:prstDash val="solid"/>
          </a:ln>
        </p:spPr>
      </p:sp>
      <p:sp>
        <p:nvSpPr>
          <p:cNvPr id="34" name="fluoride: electron, shell 2"/>
          <p:cNvSpPr/>
          <p:nvPr/>
        </p:nvSpPr>
        <p:spPr>
          <a:xfrm>
            <a:off x="2802242" y="3556177"/>
            <a:ext cx="82296" cy="82296"/>
          </a:xfrm>
          <a:prstGeom prst="ellipse">
            <a:avLst/>
          </a:prstGeom>
          <a:solidFill>
            <a:schemeClr val="accent1"/>
          </a:solidFill>
          <a:ln w="3175">
            <a:solidFill>
              <a:schemeClr val="accent1"/>
            </a:solidFill>
            <a:prstDash val="solid"/>
          </a:ln>
        </p:spPr>
      </p:sp>
      <p:sp>
        <p:nvSpPr>
          <p:cNvPr id="35" name="fluoride: electron, shell 2"/>
          <p:cNvSpPr/>
          <p:nvPr/>
        </p:nvSpPr>
        <p:spPr>
          <a:xfrm>
            <a:off x="2433143" y="3187078"/>
            <a:ext cx="82296" cy="82296"/>
          </a:xfrm>
          <a:prstGeom prst="ellipse">
            <a:avLst/>
          </a:prstGeom>
          <a:solidFill>
            <a:schemeClr val="accent1"/>
          </a:solidFill>
          <a:ln w="3175">
            <a:solidFill>
              <a:schemeClr val="accent1"/>
            </a:solidFill>
            <a:prstDash val="solid"/>
          </a:ln>
        </p:spPr>
      </p:sp>
      <p:sp>
        <p:nvSpPr>
          <p:cNvPr id="36" name="fluoride: gained electron, shell 2"/>
          <p:cNvSpPr/>
          <p:nvPr/>
        </p:nvSpPr>
        <p:spPr>
          <a:xfrm>
            <a:off x="2433143" y="3076562"/>
            <a:ext cx="82296" cy="82296"/>
          </a:xfrm>
          <a:prstGeom prst="ellipse">
            <a:avLst/>
          </a:prstGeom>
          <a:solidFill>
            <a:schemeClr val="accent6"/>
          </a:solidFill>
          <a:ln w="3175">
            <a:solidFill>
              <a:schemeClr val="accent6"/>
            </a:solidFill>
            <a:prstDash val="solid"/>
          </a:ln>
        </p:spPr>
      </p:sp>
      <p:sp>
        <p:nvSpPr>
          <p:cNvPr id="37" name="fluoride: left bracket"/>
          <p:cNvSpPr/>
          <p:nvPr/>
        </p:nvSpPr>
        <p:spPr>
          <a:xfrm>
            <a:off x="2382926" y="2657246"/>
            <a:ext cx="76810" cy="1031443"/>
          </a:xfrm>
          <a:prstGeom prst="leftBracket">
            <a:avLst/>
          </a:prstGeom>
          <a:noFill/>
          <a:ln w="15875">
            <a:solidFill>
              <a:schemeClr val="bg1"/>
            </a:solidFill>
            <a:prstDash val="solid"/>
          </a:ln>
        </p:spPr>
      </p:sp>
      <p:sp>
        <p:nvSpPr>
          <p:cNvPr id="38" name="fluoride: right bracket"/>
          <p:cNvSpPr/>
          <p:nvPr/>
        </p:nvSpPr>
        <p:spPr>
          <a:xfrm>
            <a:off x="3337560" y="2657246"/>
            <a:ext cx="76810" cy="1031443"/>
          </a:xfrm>
          <a:prstGeom prst="rightBracket">
            <a:avLst/>
          </a:prstGeom>
          <a:noFill/>
          <a:ln w="15875">
            <a:solidFill>
              <a:schemeClr val="bg1"/>
            </a:solidFill>
            <a:prstDash val="solid"/>
          </a:ln>
        </p:spPr>
      </p:sp>
      <p:sp>
        <p:nvSpPr>
          <p:cNvPr id="39" name="fluoride: charge"/>
          <p:cNvSpPr txBox="1"/>
          <p:nvPr/>
        </p:nvSpPr>
        <p:spPr>
          <a:xfrm>
            <a:off x="3432658" y="2580411"/>
            <a:ext cx="223520" cy="167640"/>
          </a:xfrm>
          <a:prstGeom prst="rect">
            <a:avLst/>
          </a:prstGeom>
          <a:noFill/>
          <a:ln/>
        </p:spPr>
        <p:txBody>
          <a:bodyPr wrap="square" lIns="0" tIns="0" rIns="0" bIns="0" rtlCol="0" anchor="t"/>
          <a:lstStyle/>
          <a:p>
            <a:pPr indent="0" marL="0">
              <a:buNone/>
            </a:pPr>
            <a:r>
              <a:rPr lang="en-US" sz="1100" b="1" dirty="0">
                <a:solidFill>
                  <a:schemeClr val="bg1"/>
                </a:solidFill>
              </a:rPr>
              <a:t>−</a:t>
            </a:r>
            <a:endParaRPr lang="en-US" sz="1100" dirty="0"/>
          </a:p>
        </p:txBody>
      </p:sp>
      <p:sp>
        <p:nvSpPr>
          <p:cNvPr id="40" name="Text 38"/>
          <p:cNvSpPr txBox="1"/>
          <p:nvPr/>
        </p:nvSpPr>
        <p:spPr>
          <a:xfrm>
            <a:off x="2121408" y="4023360"/>
            <a:ext cx="1554480" cy="502920"/>
          </a:xfrm>
          <a:prstGeom prst="rect">
            <a:avLst/>
          </a:prstGeom>
          <a:noFill/>
          <a:ln/>
        </p:spPr>
        <p:txBody>
          <a:bodyPr wrap="square" lIns="0" tIns="0" rIns="0" bIns="0" rtlCol="0" anchor="ctr"/>
          <a:lstStyle/>
          <a:p>
            <a:pPr algn="ctr" indent="0" marL="0">
              <a:buNone/>
            </a:pPr>
            <a:r>
              <a:rPr lang="en-US" sz="1200" b="1" dirty="0">
                <a:solidFill>
                  <a:schemeClr val="accent4"/>
                </a:solidFill>
              </a:rPr>
              <a:t>Gain 1 -&gt; </a:t>
            </a:r>
            <a:pPr algn="ctr" indent="0" marL="0">
              <a:buNone/>
            </a:pPr>
            <a:r>
              <a:rPr lang="en-US" sz="1200" b="1" dirty="0">
                <a:solidFill>
                  <a:schemeClr val="bg1"/>
                </a:solidFill>
              </a:rPr>
              <a:t>F</a:t>
            </a:r>
            <a:pPr algn="ctr" indent="0" marL="0">
              <a:buNone/>
            </a:pPr>
            <a:r>
              <a:rPr lang="en-US" sz="1200" b="1" baseline="30000" dirty="0">
                <a:solidFill>
                  <a:schemeClr val="bg1"/>
                </a:solidFill>
              </a:rPr>
              <a:t>−</a:t>
            </a:r>
            <a:pPr algn="ctr" indent="0" marL="0">
              <a:buNone/>
            </a:pPr>
            <a:endParaRPr lang="en-US" sz="1200" dirty="0"/>
          </a:p>
          <a:p>
            <a:pPr algn="ctr" indent="0" marL="0">
              <a:buNone/>
            </a:pPr>
            <a:r>
              <a:rPr lang="en-US" sz="1200" dirty="0">
                <a:solidFill>
                  <a:schemeClr val="bg2"/>
                </a:solidFill>
              </a:rPr>
              <a:t>2, 8</a:t>
            </a:r>
            <a:endParaRPr lang="en-US" sz="1200" dirty="0"/>
          </a:p>
        </p:txBody>
      </p:sp>
      <p:sp>
        <p:nvSpPr>
          <p:cNvPr id="41" name="Magnesium"/>
          <p:cNvSpPr/>
          <p:nvPr/>
        </p:nvSpPr>
        <p:spPr>
          <a:xfrm>
            <a:off x="3785616" y="1691640"/>
            <a:ext cx="1554480" cy="2926080"/>
          </a:xfrm>
          <a:prstGeom prst="roundRect">
            <a:avLst>
              <a:gd name="adj" fmla="val 5882"/>
            </a:avLst>
          </a:prstGeom>
          <a:solidFill>
            <a:schemeClr val="tx2"/>
          </a:solidFill>
          <a:ln w="9525">
            <a:solidFill>
              <a:schemeClr val="bg2">
                <a:alpha val="30000"/>
              </a:schemeClr>
            </a:solidFill>
            <a:prstDash val="solid"/>
          </a:ln>
        </p:spPr>
      </p:sp>
      <p:sp>
        <p:nvSpPr>
          <p:cNvPr id="42" name="Text 40"/>
          <p:cNvSpPr txBox="1"/>
          <p:nvPr/>
        </p:nvSpPr>
        <p:spPr>
          <a:xfrm>
            <a:off x="3895344" y="1783080"/>
            <a:ext cx="1371600" cy="274320"/>
          </a:xfrm>
          <a:prstGeom prst="rect">
            <a:avLst/>
          </a:prstGeom>
          <a:noFill/>
          <a:ln/>
        </p:spPr>
        <p:txBody>
          <a:bodyPr wrap="square" lIns="0" tIns="0" rIns="0" bIns="0" rtlCol="0" anchor="t"/>
          <a:lstStyle/>
          <a:p>
            <a:pPr indent="0" marL="0">
              <a:buNone/>
            </a:pPr>
            <a:r>
              <a:rPr lang="en-US" sz="1300" b="1" dirty="0">
                <a:solidFill>
                  <a:schemeClr val="bg1"/>
                </a:solidFill>
              </a:rPr>
              <a:t>Magnesium</a:t>
            </a:r>
            <a:endParaRPr lang="en-US" sz="1300" dirty="0"/>
          </a:p>
        </p:txBody>
      </p:sp>
      <p:sp>
        <p:nvSpPr>
          <p:cNvPr id="43" name="Text 41"/>
          <p:cNvSpPr txBox="1"/>
          <p:nvPr/>
        </p:nvSpPr>
        <p:spPr>
          <a:xfrm>
            <a:off x="3895344" y="2057400"/>
            <a:ext cx="1371600" cy="237744"/>
          </a:xfrm>
          <a:prstGeom prst="rect">
            <a:avLst/>
          </a:prstGeom>
          <a:noFill/>
          <a:ln/>
        </p:spPr>
        <p:txBody>
          <a:bodyPr wrap="square" lIns="0" tIns="0" rIns="0" bIns="0" rtlCol="0" anchor="t"/>
          <a:lstStyle/>
          <a:p>
            <a:pPr indent="0" marL="0">
              <a:buNone/>
            </a:pPr>
            <a:r>
              <a:rPr lang="en-US" sz="1100" dirty="0">
                <a:solidFill>
                  <a:schemeClr val="bg2"/>
                </a:solidFill>
              </a:rPr>
              <a:t>2, 8, 2</a:t>
            </a:r>
            <a:endParaRPr lang="en-US" sz="1100" dirty="0"/>
          </a:p>
        </p:txBody>
      </p:sp>
      <p:sp>
        <p:nvSpPr>
          <p:cNvPr id="44" name="magnesium ion: shell 1"/>
          <p:cNvSpPr/>
          <p:nvPr/>
        </p:nvSpPr>
        <p:spPr>
          <a:xfrm>
            <a:off x="4299509" y="2909621"/>
            <a:ext cx="526694" cy="526694"/>
          </a:xfrm>
          <a:prstGeom prst="ellipse">
            <a:avLst/>
          </a:prstGeom>
          <a:solidFill>
            <a:schemeClr val="bg1">
              <a:alpha val="0"/>
            </a:schemeClr>
          </a:solidFill>
          <a:ln w="15875">
            <a:solidFill>
              <a:schemeClr val="bg2">
                <a:alpha val="55000"/>
              </a:schemeClr>
            </a:solidFill>
            <a:prstDash val="solid"/>
          </a:ln>
        </p:spPr>
      </p:sp>
      <p:sp>
        <p:nvSpPr>
          <p:cNvPr id="45" name="magnesium ion: shell 2"/>
          <p:cNvSpPr/>
          <p:nvPr/>
        </p:nvSpPr>
        <p:spPr>
          <a:xfrm>
            <a:off x="4134917" y="2745029"/>
            <a:ext cx="855878" cy="855878"/>
          </a:xfrm>
          <a:prstGeom prst="ellipse">
            <a:avLst/>
          </a:prstGeom>
          <a:solidFill>
            <a:schemeClr val="bg1">
              <a:alpha val="0"/>
            </a:schemeClr>
          </a:solidFill>
          <a:ln w="15875">
            <a:solidFill>
              <a:schemeClr val="bg2">
                <a:alpha val="55000"/>
              </a:schemeClr>
            </a:solidFill>
            <a:prstDash val="solid"/>
          </a:ln>
        </p:spPr>
      </p:sp>
      <p:sp>
        <p:nvSpPr>
          <p:cNvPr id="46" name="magnesium ion: nucleus"/>
          <p:cNvSpPr/>
          <p:nvPr/>
        </p:nvSpPr>
        <p:spPr>
          <a:xfrm>
            <a:off x="4392778" y="3002890"/>
            <a:ext cx="340157" cy="340157"/>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47" name="magnesium ion: electron, shell 1"/>
          <p:cNvSpPr/>
          <p:nvPr/>
        </p:nvSpPr>
        <p:spPr>
          <a:xfrm>
            <a:off x="4521708" y="2868473"/>
            <a:ext cx="82296" cy="82296"/>
          </a:xfrm>
          <a:prstGeom prst="ellipse">
            <a:avLst/>
          </a:prstGeom>
          <a:solidFill>
            <a:schemeClr val="accent1"/>
          </a:solidFill>
          <a:ln w="3175">
            <a:solidFill>
              <a:schemeClr val="accent1"/>
            </a:solidFill>
            <a:prstDash val="solid"/>
          </a:ln>
        </p:spPr>
      </p:sp>
      <p:sp>
        <p:nvSpPr>
          <p:cNvPr id="48" name="magnesium ion: electron, shell 1"/>
          <p:cNvSpPr/>
          <p:nvPr/>
        </p:nvSpPr>
        <p:spPr>
          <a:xfrm>
            <a:off x="4785055" y="3131820"/>
            <a:ext cx="82296" cy="82296"/>
          </a:xfrm>
          <a:prstGeom prst="ellipse">
            <a:avLst/>
          </a:prstGeom>
          <a:solidFill>
            <a:schemeClr val="accent1"/>
          </a:solidFill>
          <a:ln w="3175">
            <a:solidFill>
              <a:schemeClr val="accent1"/>
            </a:solidFill>
            <a:prstDash val="solid"/>
          </a:ln>
        </p:spPr>
      </p:sp>
      <p:sp>
        <p:nvSpPr>
          <p:cNvPr id="49" name="magnesium ion: electron, shell 2"/>
          <p:cNvSpPr/>
          <p:nvPr/>
        </p:nvSpPr>
        <p:spPr>
          <a:xfrm>
            <a:off x="4466450" y="2707463"/>
            <a:ext cx="82296" cy="82296"/>
          </a:xfrm>
          <a:prstGeom prst="ellipse">
            <a:avLst/>
          </a:prstGeom>
          <a:solidFill>
            <a:schemeClr val="accent1"/>
          </a:solidFill>
          <a:ln w="3175">
            <a:solidFill>
              <a:schemeClr val="accent1"/>
            </a:solidFill>
            <a:prstDash val="solid"/>
          </a:ln>
        </p:spPr>
      </p:sp>
      <p:sp>
        <p:nvSpPr>
          <p:cNvPr id="50" name="magnesium ion: electron, shell 2"/>
          <p:cNvSpPr/>
          <p:nvPr/>
        </p:nvSpPr>
        <p:spPr>
          <a:xfrm>
            <a:off x="4576966" y="2707463"/>
            <a:ext cx="82296" cy="82296"/>
          </a:xfrm>
          <a:prstGeom prst="ellipse">
            <a:avLst/>
          </a:prstGeom>
          <a:solidFill>
            <a:schemeClr val="accent1"/>
          </a:solidFill>
          <a:ln w="3175">
            <a:solidFill>
              <a:schemeClr val="accent1"/>
            </a:solidFill>
            <a:prstDash val="solid"/>
          </a:ln>
        </p:spPr>
      </p:sp>
      <p:sp>
        <p:nvSpPr>
          <p:cNvPr id="51" name="magnesium ion: electron, shell 2"/>
          <p:cNvSpPr/>
          <p:nvPr/>
        </p:nvSpPr>
        <p:spPr>
          <a:xfrm>
            <a:off x="4946065" y="3076562"/>
            <a:ext cx="82296" cy="82296"/>
          </a:xfrm>
          <a:prstGeom prst="ellipse">
            <a:avLst/>
          </a:prstGeom>
          <a:solidFill>
            <a:schemeClr val="accent1"/>
          </a:solidFill>
          <a:ln w="3175">
            <a:solidFill>
              <a:schemeClr val="accent1"/>
            </a:solidFill>
            <a:prstDash val="solid"/>
          </a:ln>
        </p:spPr>
      </p:sp>
      <p:sp>
        <p:nvSpPr>
          <p:cNvPr id="52" name="magnesium ion: electron, shell 2"/>
          <p:cNvSpPr/>
          <p:nvPr/>
        </p:nvSpPr>
        <p:spPr>
          <a:xfrm>
            <a:off x="4946065" y="3187078"/>
            <a:ext cx="82296" cy="82296"/>
          </a:xfrm>
          <a:prstGeom prst="ellipse">
            <a:avLst/>
          </a:prstGeom>
          <a:solidFill>
            <a:schemeClr val="accent1"/>
          </a:solidFill>
          <a:ln w="3175">
            <a:solidFill>
              <a:schemeClr val="accent1"/>
            </a:solidFill>
            <a:prstDash val="solid"/>
          </a:ln>
        </p:spPr>
      </p:sp>
      <p:sp>
        <p:nvSpPr>
          <p:cNvPr id="53" name="magnesium ion: electron, shell 2"/>
          <p:cNvSpPr/>
          <p:nvPr/>
        </p:nvSpPr>
        <p:spPr>
          <a:xfrm>
            <a:off x="4576966" y="3556177"/>
            <a:ext cx="82296" cy="82296"/>
          </a:xfrm>
          <a:prstGeom prst="ellipse">
            <a:avLst/>
          </a:prstGeom>
          <a:solidFill>
            <a:schemeClr val="accent1"/>
          </a:solidFill>
          <a:ln w="3175">
            <a:solidFill>
              <a:schemeClr val="accent1"/>
            </a:solidFill>
            <a:prstDash val="solid"/>
          </a:ln>
        </p:spPr>
      </p:sp>
      <p:sp>
        <p:nvSpPr>
          <p:cNvPr id="54" name="magnesium ion: electron, shell 2"/>
          <p:cNvSpPr/>
          <p:nvPr/>
        </p:nvSpPr>
        <p:spPr>
          <a:xfrm>
            <a:off x="4466450" y="3556177"/>
            <a:ext cx="82296" cy="82296"/>
          </a:xfrm>
          <a:prstGeom prst="ellipse">
            <a:avLst/>
          </a:prstGeom>
          <a:solidFill>
            <a:schemeClr val="accent1"/>
          </a:solidFill>
          <a:ln w="3175">
            <a:solidFill>
              <a:schemeClr val="accent1"/>
            </a:solidFill>
            <a:prstDash val="solid"/>
          </a:ln>
        </p:spPr>
      </p:sp>
      <p:sp>
        <p:nvSpPr>
          <p:cNvPr id="55" name="magnesium ion: electron, shell 2"/>
          <p:cNvSpPr/>
          <p:nvPr/>
        </p:nvSpPr>
        <p:spPr>
          <a:xfrm>
            <a:off x="4097351" y="3187078"/>
            <a:ext cx="82296" cy="82296"/>
          </a:xfrm>
          <a:prstGeom prst="ellipse">
            <a:avLst/>
          </a:prstGeom>
          <a:solidFill>
            <a:schemeClr val="accent1"/>
          </a:solidFill>
          <a:ln w="3175">
            <a:solidFill>
              <a:schemeClr val="accent1"/>
            </a:solidFill>
            <a:prstDash val="solid"/>
          </a:ln>
        </p:spPr>
      </p:sp>
      <p:sp>
        <p:nvSpPr>
          <p:cNvPr id="56" name="magnesium ion: electron, shell 2"/>
          <p:cNvSpPr/>
          <p:nvPr/>
        </p:nvSpPr>
        <p:spPr>
          <a:xfrm>
            <a:off x="4097351" y="3076562"/>
            <a:ext cx="82296" cy="82296"/>
          </a:xfrm>
          <a:prstGeom prst="ellipse">
            <a:avLst/>
          </a:prstGeom>
          <a:solidFill>
            <a:schemeClr val="accent1"/>
          </a:solidFill>
          <a:ln w="3175">
            <a:solidFill>
              <a:schemeClr val="accent1"/>
            </a:solidFill>
            <a:prstDash val="solid"/>
          </a:ln>
        </p:spPr>
      </p:sp>
      <p:sp>
        <p:nvSpPr>
          <p:cNvPr id="57" name="magnesium ion: left bracket"/>
          <p:cNvSpPr/>
          <p:nvPr/>
        </p:nvSpPr>
        <p:spPr>
          <a:xfrm>
            <a:off x="4047134" y="2657246"/>
            <a:ext cx="76810" cy="1031443"/>
          </a:xfrm>
          <a:prstGeom prst="leftBracket">
            <a:avLst/>
          </a:prstGeom>
          <a:noFill/>
          <a:ln w="15875">
            <a:solidFill>
              <a:schemeClr val="bg1"/>
            </a:solidFill>
            <a:prstDash val="solid"/>
          </a:ln>
        </p:spPr>
      </p:sp>
      <p:sp>
        <p:nvSpPr>
          <p:cNvPr id="58" name="magnesium ion: right bracket"/>
          <p:cNvSpPr/>
          <p:nvPr/>
        </p:nvSpPr>
        <p:spPr>
          <a:xfrm>
            <a:off x="5001768" y="2657246"/>
            <a:ext cx="76810" cy="1031443"/>
          </a:xfrm>
          <a:prstGeom prst="rightBracket">
            <a:avLst/>
          </a:prstGeom>
          <a:noFill/>
          <a:ln w="15875">
            <a:solidFill>
              <a:schemeClr val="bg1"/>
            </a:solidFill>
            <a:prstDash val="solid"/>
          </a:ln>
        </p:spPr>
      </p:sp>
      <p:sp>
        <p:nvSpPr>
          <p:cNvPr id="59" name="magnesium ion: charge"/>
          <p:cNvSpPr txBox="1"/>
          <p:nvPr/>
        </p:nvSpPr>
        <p:spPr>
          <a:xfrm>
            <a:off x="5096866" y="2580411"/>
            <a:ext cx="223520" cy="167640"/>
          </a:xfrm>
          <a:prstGeom prst="rect">
            <a:avLst/>
          </a:prstGeom>
          <a:noFill/>
          <a:ln/>
        </p:spPr>
        <p:txBody>
          <a:bodyPr wrap="square" lIns="0" tIns="0" rIns="0" bIns="0" rtlCol="0" anchor="t"/>
          <a:lstStyle/>
          <a:p>
            <a:pPr indent="0" marL="0">
              <a:buNone/>
            </a:pPr>
            <a:r>
              <a:rPr lang="en-US" sz="1100" b="1" dirty="0">
                <a:solidFill>
                  <a:schemeClr val="bg1"/>
                </a:solidFill>
              </a:rPr>
              <a:t>2+</a:t>
            </a:r>
            <a:endParaRPr lang="en-US" sz="1100" dirty="0"/>
          </a:p>
        </p:txBody>
      </p:sp>
      <p:sp>
        <p:nvSpPr>
          <p:cNvPr id="60" name="Text 58"/>
          <p:cNvSpPr txBox="1"/>
          <p:nvPr/>
        </p:nvSpPr>
        <p:spPr>
          <a:xfrm>
            <a:off x="3785616" y="4023360"/>
            <a:ext cx="1554480" cy="502920"/>
          </a:xfrm>
          <a:prstGeom prst="rect">
            <a:avLst/>
          </a:prstGeom>
          <a:noFill/>
          <a:ln/>
        </p:spPr>
        <p:txBody>
          <a:bodyPr wrap="square" lIns="0" tIns="0" rIns="0" bIns="0" rtlCol="0" anchor="ctr"/>
          <a:lstStyle/>
          <a:p>
            <a:pPr algn="ctr" indent="0" marL="0">
              <a:buNone/>
            </a:pPr>
            <a:r>
              <a:rPr lang="en-US" sz="1200" b="1" dirty="0">
                <a:solidFill>
                  <a:schemeClr val="accent4"/>
                </a:solidFill>
              </a:rPr>
              <a:t>Lose 2 -&gt; </a:t>
            </a:r>
            <a:pPr algn="ctr" indent="0" marL="0">
              <a:buNone/>
            </a:pPr>
            <a:r>
              <a:rPr lang="en-US" sz="1200" b="1" dirty="0">
                <a:solidFill>
                  <a:schemeClr val="bg1"/>
                </a:solidFill>
              </a:rPr>
              <a:t>Mg</a:t>
            </a:r>
            <a:pPr algn="ctr" indent="0" marL="0">
              <a:buNone/>
            </a:pPr>
            <a:r>
              <a:rPr lang="en-US" sz="1200" b="1" baseline="30000" dirty="0">
                <a:solidFill>
                  <a:schemeClr val="bg1"/>
                </a:solidFill>
              </a:rPr>
              <a:t>2+</a:t>
            </a:r>
            <a:pPr algn="ctr" indent="0" marL="0">
              <a:buNone/>
            </a:pPr>
            <a:endParaRPr lang="en-US" sz="1200" dirty="0"/>
          </a:p>
          <a:p>
            <a:pPr algn="ctr" indent="0" marL="0">
              <a:buNone/>
            </a:pPr>
            <a:r>
              <a:rPr lang="en-US" sz="1200" dirty="0">
                <a:solidFill>
                  <a:schemeClr val="bg2"/>
                </a:solidFill>
              </a:rPr>
              <a:t>2, 8</a:t>
            </a:r>
            <a:endParaRPr lang="en-US" sz="1200" dirty="0"/>
          </a:p>
        </p:txBody>
      </p:sp>
      <p:sp>
        <p:nvSpPr>
          <p:cNvPr id="61" name="Sulfur"/>
          <p:cNvSpPr/>
          <p:nvPr/>
        </p:nvSpPr>
        <p:spPr>
          <a:xfrm>
            <a:off x="5449824" y="1691640"/>
            <a:ext cx="1554480" cy="2926080"/>
          </a:xfrm>
          <a:prstGeom prst="roundRect">
            <a:avLst>
              <a:gd name="adj" fmla="val 5882"/>
            </a:avLst>
          </a:prstGeom>
          <a:solidFill>
            <a:schemeClr val="tx2"/>
          </a:solidFill>
          <a:ln w="9525">
            <a:solidFill>
              <a:schemeClr val="bg2">
                <a:alpha val="30000"/>
              </a:schemeClr>
            </a:solidFill>
            <a:prstDash val="solid"/>
          </a:ln>
        </p:spPr>
      </p:sp>
      <p:sp>
        <p:nvSpPr>
          <p:cNvPr id="62" name="Text 60"/>
          <p:cNvSpPr txBox="1"/>
          <p:nvPr/>
        </p:nvSpPr>
        <p:spPr>
          <a:xfrm>
            <a:off x="5559552" y="1783080"/>
            <a:ext cx="1371600" cy="274320"/>
          </a:xfrm>
          <a:prstGeom prst="rect">
            <a:avLst/>
          </a:prstGeom>
          <a:noFill/>
          <a:ln/>
        </p:spPr>
        <p:txBody>
          <a:bodyPr wrap="square" lIns="0" tIns="0" rIns="0" bIns="0" rtlCol="0" anchor="t"/>
          <a:lstStyle/>
          <a:p>
            <a:pPr indent="0" marL="0">
              <a:buNone/>
            </a:pPr>
            <a:r>
              <a:rPr lang="en-US" sz="1300" b="1" dirty="0">
                <a:solidFill>
                  <a:schemeClr val="bg1"/>
                </a:solidFill>
              </a:rPr>
              <a:t>Sulfur</a:t>
            </a:r>
            <a:endParaRPr lang="en-US" sz="1300" dirty="0"/>
          </a:p>
        </p:txBody>
      </p:sp>
      <p:sp>
        <p:nvSpPr>
          <p:cNvPr id="63" name="Text 61"/>
          <p:cNvSpPr txBox="1"/>
          <p:nvPr/>
        </p:nvSpPr>
        <p:spPr>
          <a:xfrm>
            <a:off x="5559552" y="2057400"/>
            <a:ext cx="1371600" cy="237744"/>
          </a:xfrm>
          <a:prstGeom prst="rect">
            <a:avLst/>
          </a:prstGeom>
          <a:noFill/>
          <a:ln/>
        </p:spPr>
        <p:txBody>
          <a:bodyPr wrap="square" lIns="0" tIns="0" rIns="0" bIns="0" rtlCol="0" anchor="t"/>
          <a:lstStyle/>
          <a:p>
            <a:pPr indent="0" marL="0">
              <a:buNone/>
            </a:pPr>
            <a:r>
              <a:rPr lang="en-US" sz="1100" dirty="0">
                <a:solidFill>
                  <a:schemeClr val="bg2"/>
                </a:solidFill>
              </a:rPr>
              <a:t>2, 8, 6</a:t>
            </a:r>
            <a:endParaRPr lang="en-US" sz="1100" dirty="0"/>
          </a:p>
        </p:txBody>
      </p:sp>
      <p:sp>
        <p:nvSpPr>
          <p:cNvPr id="64" name="sulfide: shell 1"/>
          <p:cNvSpPr/>
          <p:nvPr/>
        </p:nvSpPr>
        <p:spPr>
          <a:xfrm>
            <a:off x="6020030" y="2965934"/>
            <a:ext cx="414068" cy="414068"/>
          </a:xfrm>
          <a:prstGeom prst="ellipse">
            <a:avLst/>
          </a:prstGeom>
          <a:solidFill>
            <a:schemeClr val="bg1">
              <a:alpha val="0"/>
            </a:schemeClr>
          </a:solidFill>
          <a:ln w="15875">
            <a:solidFill>
              <a:schemeClr val="bg2">
                <a:alpha val="55000"/>
              </a:schemeClr>
            </a:solidFill>
            <a:prstDash val="solid"/>
          </a:ln>
        </p:spPr>
      </p:sp>
      <p:sp>
        <p:nvSpPr>
          <p:cNvPr id="65" name="sulfide: shell 2"/>
          <p:cNvSpPr/>
          <p:nvPr/>
        </p:nvSpPr>
        <p:spPr>
          <a:xfrm>
            <a:off x="5890634" y="2836538"/>
            <a:ext cx="672860" cy="672860"/>
          </a:xfrm>
          <a:prstGeom prst="ellipse">
            <a:avLst/>
          </a:prstGeom>
          <a:solidFill>
            <a:schemeClr val="bg1">
              <a:alpha val="0"/>
            </a:schemeClr>
          </a:solidFill>
          <a:ln w="15875">
            <a:solidFill>
              <a:schemeClr val="bg2">
                <a:alpha val="55000"/>
              </a:schemeClr>
            </a:solidFill>
            <a:prstDash val="solid"/>
          </a:ln>
        </p:spPr>
      </p:sp>
      <p:sp>
        <p:nvSpPr>
          <p:cNvPr id="66" name="sulfide: shell 3"/>
          <p:cNvSpPr/>
          <p:nvPr/>
        </p:nvSpPr>
        <p:spPr>
          <a:xfrm>
            <a:off x="5769864" y="2715768"/>
            <a:ext cx="914400" cy="914400"/>
          </a:xfrm>
          <a:prstGeom prst="ellipse">
            <a:avLst/>
          </a:prstGeom>
          <a:solidFill>
            <a:schemeClr val="bg1">
              <a:alpha val="0"/>
            </a:schemeClr>
          </a:solidFill>
          <a:ln w="15875">
            <a:solidFill>
              <a:schemeClr val="bg2">
                <a:alpha val="55000"/>
              </a:schemeClr>
            </a:solidFill>
            <a:prstDash val="solid"/>
          </a:ln>
        </p:spPr>
      </p:sp>
      <p:sp>
        <p:nvSpPr>
          <p:cNvPr id="67" name="sulfide: nucleus"/>
          <p:cNvSpPr/>
          <p:nvPr/>
        </p:nvSpPr>
        <p:spPr>
          <a:xfrm>
            <a:off x="6093355" y="3039259"/>
            <a:ext cx="267419" cy="267419"/>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68" name="sulfide: electron, shell 1"/>
          <p:cNvSpPr/>
          <p:nvPr/>
        </p:nvSpPr>
        <p:spPr>
          <a:xfrm>
            <a:off x="6194715" y="2933585"/>
            <a:ext cx="64698" cy="64698"/>
          </a:xfrm>
          <a:prstGeom prst="ellipse">
            <a:avLst/>
          </a:prstGeom>
          <a:solidFill>
            <a:schemeClr val="accent1"/>
          </a:solidFill>
          <a:ln w="3175">
            <a:solidFill>
              <a:schemeClr val="accent1"/>
            </a:solidFill>
            <a:prstDash val="solid"/>
          </a:ln>
        </p:spPr>
      </p:sp>
      <p:sp>
        <p:nvSpPr>
          <p:cNvPr id="69" name="sulfide: electron, shell 1"/>
          <p:cNvSpPr/>
          <p:nvPr/>
        </p:nvSpPr>
        <p:spPr>
          <a:xfrm>
            <a:off x="6401749" y="3140619"/>
            <a:ext cx="64698" cy="64698"/>
          </a:xfrm>
          <a:prstGeom prst="ellipse">
            <a:avLst/>
          </a:prstGeom>
          <a:solidFill>
            <a:schemeClr val="accent1"/>
          </a:solidFill>
          <a:ln w="3175">
            <a:solidFill>
              <a:schemeClr val="accent1"/>
            </a:solidFill>
            <a:prstDash val="solid"/>
          </a:ln>
        </p:spPr>
      </p:sp>
      <p:sp>
        <p:nvSpPr>
          <p:cNvPr id="70" name="sulfide: electron, shell 2"/>
          <p:cNvSpPr/>
          <p:nvPr/>
        </p:nvSpPr>
        <p:spPr>
          <a:xfrm>
            <a:off x="6151273" y="2807005"/>
            <a:ext cx="64698" cy="64698"/>
          </a:xfrm>
          <a:prstGeom prst="ellipse">
            <a:avLst/>
          </a:prstGeom>
          <a:solidFill>
            <a:schemeClr val="accent1"/>
          </a:solidFill>
          <a:ln w="3175">
            <a:solidFill>
              <a:schemeClr val="accent1"/>
            </a:solidFill>
            <a:prstDash val="solid"/>
          </a:ln>
        </p:spPr>
      </p:sp>
      <p:sp>
        <p:nvSpPr>
          <p:cNvPr id="71" name="sulfide: electron, shell 2"/>
          <p:cNvSpPr/>
          <p:nvPr/>
        </p:nvSpPr>
        <p:spPr>
          <a:xfrm>
            <a:off x="6238157" y="2807005"/>
            <a:ext cx="64698" cy="64698"/>
          </a:xfrm>
          <a:prstGeom prst="ellipse">
            <a:avLst/>
          </a:prstGeom>
          <a:solidFill>
            <a:schemeClr val="accent1"/>
          </a:solidFill>
          <a:ln w="3175">
            <a:solidFill>
              <a:schemeClr val="accent1"/>
            </a:solidFill>
            <a:prstDash val="solid"/>
          </a:ln>
        </p:spPr>
      </p:sp>
      <p:sp>
        <p:nvSpPr>
          <p:cNvPr id="72" name="sulfide: electron, shell 2"/>
          <p:cNvSpPr/>
          <p:nvPr/>
        </p:nvSpPr>
        <p:spPr>
          <a:xfrm>
            <a:off x="6528329" y="3097177"/>
            <a:ext cx="64698" cy="64698"/>
          </a:xfrm>
          <a:prstGeom prst="ellipse">
            <a:avLst/>
          </a:prstGeom>
          <a:solidFill>
            <a:schemeClr val="accent1"/>
          </a:solidFill>
          <a:ln w="3175">
            <a:solidFill>
              <a:schemeClr val="accent1"/>
            </a:solidFill>
            <a:prstDash val="solid"/>
          </a:ln>
        </p:spPr>
      </p:sp>
      <p:sp>
        <p:nvSpPr>
          <p:cNvPr id="73" name="sulfide: electron, shell 2"/>
          <p:cNvSpPr/>
          <p:nvPr/>
        </p:nvSpPr>
        <p:spPr>
          <a:xfrm>
            <a:off x="6528329" y="3184061"/>
            <a:ext cx="64698" cy="64698"/>
          </a:xfrm>
          <a:prstGeom prst="ellipse">
            <a:avLst/>
          </a:prstGeom>
          <a:solidFill>
            <a:schemeClr val="accent1"/>
          </a:solidFill>
          <a:ln w="3175">
            <a:solidFill>
              <a:schemeClr val="accent1"/>
            </a:solidFill>
            <a:prstDash val="solid"/>
          </a:ln>
        </p:spPr>
      </p:sp>
      <p:sp>
        <p:nvSpPr>
          <p:cNvPr id="74" name="sulfide: electron, shell 2"/>
          <p:cNvSpPr/>
          <p:nvPr/>
        </p:nvSpPr>
        <p:spPr>
          <a:xfrm>
            <a:off x="6238157" y="3474233"/>
            <a:ext cx="64698" cy="64698"/>
          </a:xfrm>
          <a:prstGeom prst="ellipse">
            <a:avLst/>
          </a:prstGeom>
          <a:solidFill>
            <a:schemeClr val="accent1"/>
          </a:solidFill>
          <a:ln w="3175">
            <a:solidFill>
              <a:schemeClr val="accent1"/>
            </a:solidFill>
            <a:prstDash val="solid"/>
          </a:ln>
        </p:spPr>
      </p:sp>
      <p:sp>
        <p:nvSpPr>
          <p:cNvPr id="75" name="sulfide: electron, shell 2"/>
          <p:cNvSpPr/>
          <p:nvPr/>
        </p:nvSpPr>
        <p:spPr>
          <a:xfrm>
            <a:off x="6151273" y="3474233"/>
            <a:ext cx="64698" cy="64698"/>
          </a:xfrm>
          <a:prstGeom prst="ellipse">
            <a:avLst/>
          </a:prstGeom>
          <a:solidFill>
            <a:schemeClr val="accent1"/>
          </a:solidFill>
          <a:ln w="3175">
            <a:solidFill>
              <a:schemeClr val="accent1"/>
            </a:solidFill>
            <a:prstDash val="solid"/>
          </a:ln>
        </p:spPr>
      </p:sp>
      <p:sp>
        <p:nvSpPr>
          <p:cNvPr id="76" name="sulfide: electron, shell 2"/>
          <p:cNvSpPr/>
          <p:nvPr/>
        </p:nvSpPr>
        <p:spPr>
          <a:xfrm>
            <a:off x="5861101" y="3184061"/>
            <a:ext cx="64698" cy="64698"/>
          </a:xfrm>
          <a:prstGeom prst="ellipse">
            <a:avLst/>
          </a:prstGeom>
          <a:solidFill>
            <a:schemeClr val="accent1"/>
          </a:solidFill>
          <a:ln w="3175">
            <a:solidFill>
              <a:schemeClr val="accent1"/>
            </a:solidFill>
            <a:prstDash val="solid"/>
          </a:ln>
        </p:spPr>
      </p:sp>
      <p:sp>
        <p:nvSpPr>
          <p:cNvPr id="77" name="sulfide: electron, shell 2"/>
          <p:cNvSpPr/>
          <p:nvPr/>
        </p:nvSpPr>
        <p:spPr>
          <a:xfrm>
            <a:off x="5861101" y="3097177"/>
            <a:ext cx="64698" cy="64698"/>
          </a:xfrm>
          <a:prstGeom prst="ellipse">
            <a:avLst/>
          </a:prstGeom>
          <a:solidFill>
            <a:schemeClr val="accent1"/>
          </a:solidFill>
          <a:ln w="3175">
            <a:solidFill>
              <a:schemeClr val="accent1"/>
            </a:solidFill>
            <a:prstDash val="solid"/>
          </a:ln>
        </p:spPr>
      </p:sp>
      <p:sp>
        <p:nvSpPr>
          <p:cNvPr id="78" name="sulfide: electron, shell 3"/>
          <p:cNvSpPr/>
          <p:nvPr/>
        </p:nvSpPr>
        <p:spPr>
          <a:xfrm>
            <a:off x="6151217" y="2685493"/>
            <a:ext cx="64698" cy="64698"/>
          </a:xfrm>
          <a:prstGeom prst="ellipse">
            <a:avLst/>
          </a:prstGeom>
          <a:solidFill>
            <a:schemeClr val="accent1"/>
          </a:solidFill>
          <a:ln w="3175">
            <a:solidFill>
              <a:schemeClr val="accent1"/>
            </a:solidFill>
            <a:prstDash val="solid"/>
          </a:ln>
        </p:spPr>
      </p:sp>
      <p:sp>
        <p:nvSpPr>
          <p:cNvPr id="79" name="sulfide: electron, shell 3"/>
          <p:cNvSpPr/>
          <p:nvPr/>
        </p:nvSpPr>
        <p:spPr>
          <a:xfrm>
            <a:off x="6238212" y="2685493"/>
            <a:ext cx="64698" cy="64698"/>
          </a:xfrm>
          <a:prstGeom prst="ellipse">
            <a:avLst/>
          </a:prstGeom>
          <a:solidFill>
            <a:schemeClr val="accent1"/>
          </a:solidFill>
          <a:ln w="3175">
            <a:solidFill>
              <a:schemeClr val="accent1"/>
            </a:solidFill>
            <a:prstDash val="solid"/>
          </a:ln>
        </p:spPr>
      </p:sp>
      <p:sp>
        <p:nvSpPr>
          <p:cNvPr id="80" name="sulfide: electron, shell 3"/>
          <p:cNvSpPr/>
          <p:nvPr/>
        </p:nvSpPr>
        <p:spPr>
          <a:xfrm>
            <a:off x="6649841" y="3097121"/>
            <a:ext cx="64698" cy="64698"/>
          </a:xfrm>
          <a:prstGeom prst="ellipse">
            <a:avLst/>
          </a:prstGeom>
          <a:solidFill>
            <a:schemeClr val="accent1"/>
          </a:solidFill>
          <a:ln w="3175">
            <a:solidFill>
              <a:schemeClr val="accent1"/>
            </a:solidFill>
            <a:prstDash val="solid"/>
          </a:ln>
        </p:spPr>
      </p:sp>
      <p:sp>
        <p:nvSpPr>
          <p:cNvPr id="81" name="sulfide: electron, shell 3"/>
          <p:cNvSpPr/>
          <p:nvPr/>
        </p:nvSpPr>
        <p:spPr>
          <a:xfrm>
            <a:off x="6649841" y="3184116"/>
            <a:ext cx="64698" cy="64698"/>
          </a:xfrm>
          <a:prstGeom prst="ellipse">
            <a:avLst/>
          </a:prstGeom>
          <a:solidFill>
            <a:schemeClr val="accent1"/>
          </a:solidFill>
          <a:ln w="3175">
            <a:solidFill>
              <a:schemeClr val="accent1"/>
            </a:solidFill>
            <a:prstDash val="solid"/>
          </a:ln>
        </p:spPr>
      </p:sp>
      <p:sp>
        <p:nvSpPr>
          <p:cNvPr id="82" name="sulfide: electron, shell 3"/>
          <p:cNvSpPr/>
          <p:nvPr/>
        </p:nvSpPr>
        <p:spPr>
          <a:xfrm>
            <a:off x="6238212" y="3595745"/>
            <a:ext cx="64698" cy="64698"/>
          </a:xfrm>
          <a:prstGeom prst="ellipse">
            <a:avLst/>
          </a:prstGeom>
          <a:solidFill>
            <a:schemeClr val="accent1"/>
          </a:solidFill>
          <a:ln w="3175">
            <a:solidFill>
              <a:schemeClr val="accent1"/>
            </a:solidFill>
            <a:prstDash val="solid"/>
          </a:ln>
        </p:spPr>
      </p:sp>
      <p:sp>
        <p:nvSpPr>
          <p:cNvPr id="83" name="sulfide: gained electron, shell 3"/>
          <p:cNvSpPr/>
          <p:nvPr/>
        </p:nvSpPr>
        <p:spPr>
          <a:xfrm>
            <a:off x="6151217" y="3595745"/>
            <a:ext cx="64698" cy="64698"/>
          </a:xfrm>
          <a:prstGeom prst="ellipse">
            <a:avLst/>
          </a:prstGeom>
          <a:solidFill>
            <a:schemeClr val="accent6"/>
          </a:solidFill>
          <a:ln w="3175">
            <a:solidFill>
              <a:schemeClr val="accent6"/>
            </a:solidFill>
            <a:prstDash val="solid"/>
          </a:ln>
        </p:spPr>
      </p:sp>
      <p:sp>
        <p:nvSpPr>
          <p:cNvPr id="84" name="sulfide: electron, shell 3"/>
          <p:cNvSpPr/>
          <p:nvPr/>
        </p:nvSpPr>
        <p:spPr>
          <a:xfrm>
            <a:off x="5739589" y="3184116"/>
            <a:ext cx="64698" cy="64698"/>
          </a:xfrm>
          <a:prstGeom prst="ellipse">
            <a:avLst/>
          </a:prstGeom>
          <a:solidFill>
            <a:schemeClr val="accent1"/>
          </a:solidFill>
          <a:ln w="3175">
            <a:solidFill>
              <a:schemeClr val="accent1"/>
            </a:solidFill>
            <a:prstDash val="solid"/>
          </a:ln>
        </p:spPr>
      </p:sp>
      <p:sp>
        <p:nvSpPr>
          <p:cNvPr id="85" name="sulfide: gained electron, shell 3"/>
          <p:cNvSpPr/>
          <p:nvPr/>
        </p:nvSpPr>
        <p:spPr>
          <a:xfrm>
            <a:off x="5739589" y="3097121"/>
            <a:ext cx="64698" cy="64698"/>
          </a:xfrm>
          <a:prstGeom prst="ellipse">
            <a:avLst/>
          </a:prstGeom>
          <a:solidFill>
            <a:schemeClr val="accent6"/>
          </a:solidFill>
          <a:ln w="3175">
            <a:solidFill>
              <a:schemeClr val="accent6"/>
            </a:solidFill>
            <a:prstDash val="solid"/>
          </a:ln>
        </p:spPr>
      </p:sp>
      <p:sp>
        <p:nvSpPr>
          <p:cNvPr id="86" name="sulfide: left bracket"/>
          <p:cNvSpPr/>
          <p:nvPr/>
        </p:nvSpPr>
        <p:spPr>
          <a:xfrm>
            <a:off x="5700853" y="2646757"/>
            <a:ext cx="73152" cy="1052423"/>
          </a:xfrm>
          <a:prstGeom prst="leftBracket">
            <a:avLst/>
          </a:prstGeom>
          <a:noFill/>
          <a:ln w="15875">
            <a:solidFill>
              <a:schemeClr val="bg1"/>
            </a:solidFill>
            <a:prstDash val="solid"/>
          </a:ln>
        </p:spPr>
      </p:sp>
      <p:sp>
        <p:nvSpPr>
          <p:cNvPr id="87" name="sulfide: right bracket"/>
          <p:cNvSpPr/>
          <p:nvPr/>
        </p:nvSpPr>
        <p:spPr>
          <a:xfrm>
            <a:off x="6680123" y="2646757"/>
            <a:ext cx="73152" cy="1052423"/>
          </a:xfrm>
          <a:prstGeom prst="rightBracket">
            <a:avLst/>
          </a:prstGeom>
          <a:noFill/>
          <a:ln w="15875">
            <a:solidFill>
              <a:schemeClr val="bg1"/>
            </a:solidFill>
            <a:prstDash val="solid"/>
          </a:ln>
        </p:spPr>
      </p:sp>
      <p:sp>
        <p:nvSpPr>
          <p:cNvPr id="88" name="sulfide: charge"/>
          <p:cNvSpPr txBox="1"/>
          <p:nvPr/>
        </p:nvSpPr>
        <p:spPr>
          <a:xfrm>
            <a:off x="6771563" y="2569922"/>
            <a:ext cx="223520" cy="167640"/>
          </a:xfrm>
          <a:prstGeom prst="rect">
            <a:avLst/>
          </a:prstGeom>
          <a:noFill/>
          <a:ln/>
        </p:spPr>
        <p:txBody>
          <a:bodyPr wrap="square" lIns="0" tIns="0" rIns="0" bIns="0" rtlCol="0" anchor="t"/>
          <a:lstStyle/>
          <a:p>
            <a:pPr indent="0" marL="0">
              <a:buNone/>
            </a:pPr>
            <a:r>
              <a:rPr lang="en-US" sz="1100" b="1" dirty="0">
                <a:solidFill>
                  <a:schemeClr val="bg1"/>
                </a:solidFill>
              </a:rPr>
              <a:t>2−</a:t>
            </a:r>
            <a:endParaRPr lang="en-US" sz="1100" dirty="0"/>
          </a:p>
        </p:txBody>
      </p:sp>
      <p:sp>
        <p:nvSpPr>
          <p:cNvPr id="89" name="Text 87"/>
          <p:cNvSpPr txBox="1"/>
          <p:nvPr/>
        </p:nvSpPr>
        <p:spPr>
          <a:xfrm>
            <a:off x="5449824" y="4023360"/>
            <a:ext cx="1554480" cy="502920"/>
          </a:xfrm>
          <a:prstGeom prst="rect">
            <a:avLst/>
          </a:prstGeom>
          <a:noFill/>
          <a:ln/>
        </p:spPr>
        <p:txBody>
          <a:bodyPr wrap="square" lIns="0" tIns="0" rIns="0" bIns="0" rtlCol="0" anchor="ctr"/>
          <a:lstStyle/>
          <a:p>
            <a:pPr algn="ctr" indent="0" marL="0">
              <a:buNone/>
            </a:pPr>
            <a:r>
              <a:rPr lang="en-US" sz="1200" b="1" dirty="0">
                <a:solidFill>
                  <a:schemeClr val="accent4"/>
                </a:solidFill>
              </a:rPr>
              <a:t>Gain 2 -&gt; </a:t>
            </a:r>
            <a:pPr algn="ctr" indent="0" marL="0">
              <a:buNone/>
            </a:pPr>
            <a:r>
              <a:rPr lang="en-US" sz="1200" b="1" dirty="0">
                <a:solidFill>
                  <a:schemeClr val="bg1"/>
                </a:solidFill>
              </a:rPr>
              <a:t>S</a:t>
            </a:r>
            <a:pPr algn="ctr" indent="0" marL="0">
              <a:buNone/>
            </a:pPr>
            <a:r>
              <a:rPr lang="en-US" sz="1200" b="1" baseline="30000" dirty="0">
                <a:solidFill>
                  <a:schemeClr val="bg1"/>
                </a:solidFill>
              </a:rPr>
              <a:t>2−</a:t>
            </a:r>
            <a:pPr algn="ctr" indent="0" marL="0">
              <a:buNone/>
            </a:pPr>
            <a:endParaRPr lang="en-US" sz="1200" dirty="0"/>
          </a:p>
          <a:p>
            <a:pPr algn="ctr" indent="0" marL="0">
              <a:buNone/>
            </a:pPr>
            <a:r>
              <a:rPr lang="en-US" sz="1200" dirty="0">
                <a:solidFill>
                  <a:schemeClr val="bg2"/>
                </a:solidFill>
              </a:rPr>
              <a:t>2, 8, 8</a:t>
            </a:r>
            <a:endParaRPr lang="en-US" sz="1200" dirty="0"/>
          </a:p>
        </p:txBody>
      </p:sp>
      <p:sp>
        <p:nvSpPr>
          <p:cNvPr id="90" name="Potassium"/>
          <p:cNvSpPr/>
          <p:nvPr/>
        </p:nvSpPr>
        <p:spPr>
          <a:xfrm>
            <a:off x="7114032" y="1691640"/>
            <a:ext cx="1554480" cy="2926080"/>
          </a:xfrm>
          <a:prstGeom prst="roundRect">
            <a:avLst>
              <a:gd name="adj" fmla="val 5882"/>
            </a:avLst>
          </a:prstGeom>
          <a:solidFill>
            <a:schemeClr val="tx2"/>
          </a:solidFill>
          <a:ln w="9525">
            <a:solidFill>
              <a:schemeClr val="bg2">
                <a:alpha val="30000"/>
              </a:schemeClr>
            </a:solidFill>
            <a:prstDash val="solid"/>
          </a:ln>
        </p:spPr>
      </p:sp>
      <p:sp>
        <p:nvSpPr>
          <p:cNvPr id="91" name="Text 89"/>
          <p:cNvSpPr txBox="1"/>
          <p:nvPr/>
        </p:nvSpPr>
        <p:spPr>
          <a:xfrm>
            <a:off x="7223760" y="1783080"/>
            <a:ext cx="1371600" cy="274320"/>
          </a:xfrm>
          <a:prstGeom prst="rect">
            <a:avLst/>
          </a:prstGeom>
          <a:noFill/>
          <a:ln/>
        </p:spPr>
        <p:txBody>
          <a:bodyPr wrap="square" lIns="0" tIns="0" rIns="0" bIns="0" rtlCol="0" anchor="t"/>
          <a:lstStyle/>
          <a:p>
            <a:pPr indent="0" marL="0">
              <a:buNone/>
            </a:pPr>
            <a:r>
              <a:rPr lang="en-US" sz="1300" b="1" dirty="0">
                <a:solidFill>
                  <a:schemeClr val="bg1"/>
                </a:solidFill>
              </a:rPr>
              <a:t>Potassium</a:t>
            </a:r>
            <a:endParaRPr lang="en-US" sz="1300" dirty="0"/>
          </a:p>
        </p:txBody>
      </p:sp>
      <p:sp>
        <p:nvSpPr>
          <p:cNvPr id="92" name="Text 90"/>
          <p:cNvSpPr txBox="1"/>
          <p:nvPr/>
        </p:nvSpPr>
        <p:spPr>
          <a:xfrm>
            <a:off x="7223760" y="2057400"/>
            <a:ext cx="1371600" cy="237744"/>
          </a:xfrm>
          <a:prstGeom prst="rect">
            <a:avLst/>
          </a:prstGeom>
          <a:noFill/>
          <a:ln/>
        </p:spPr>
        <p:txBody>
          <a:bodyPr wrap="square" lIns="0" tIns="0" rIns="0" bIns="0" rtlCol="0" anchor="t"/>
          <a:lstStyle/>
          <a:p>
            <a:pPr indent="0" marL="0">
              <a:buNone/>
            </a:pPr>
            <a:r>
              <a:rPr lang="en-US" sz="1100" dirty="0">
                <a:solidFill>
                  <a:schemeClr val="bg2"/>
                </a:solidFill>
              </a:rPr>
              <a:t>2, 8, 8, 1</a:t>
            </a:r>
            <a:endParaRPr lang="en-US" sz="1100" dirty="0"/>
          </a:p>
        </p:txBody>
      </p:sp>
      <p:sp>
        <p:nvSpPr>
          <p:cNvPr id="93" name="potassium ion: shell 1"/>
          <p:cNvSpPr/>
          <p:nvPr/>
        </p:nvSpPr>
        <p:spPr>
          <a:xfrm>
            <a:off x="7684238" y="2965934"/>
            <a:ext cx="414068" cy="414068"/>
          </a:xfrm>
          <a:prstGeom prst="ellipse">
            <a:avLst/>
          </a:prstGeom>
          <a:solidFill>
            <a:schemeClr val="bg1">
              <a:alpha val="0"/>
            </a:schemeClr>
          </a:solidFill>
          <a:ln w="15875">
            <a:solidFill>
              <a:schemeClr val="bg2">
                <a:alpha val="55000"/>
              </a:schemeClr>
            </a:solidFill>
            <a:prstDash val="solid"/>
          </a:ln>
        </p:spPr>
      </p:sp>
      <p:sp>
        <p:nvSpPr>
          <p:cNvPr id="94" name="potassium ion: shell 2"/>
          <p:cNvSpPr/>
          <p:nvPr/>
        </p:nvSpPr>
        <p:spPr>
          <a:xfrm>
            <a:off x="7554842" y="2836538"/>
            <a:ext cx="672860" cy="672860"/>
          </a:xfrm>
          <a:prstGeom prst="ellipse">
            <a:avLst/>
          </a:prstGeom>
          <a:solidFill>
            <a:schemeClr val="bg1">
              <a:alpha val="0"/>
            </a:schemeClr>
          </a:solidFill>
          <a:ln w="15875">
            <a:solidFill>
              <a:schemeClr val="bg2">
                <a:alpha val="55000"/>
              </a:schemeClr>
            </a:solidFill>
            <a:prstDash val="solid"/>
          </a:ln>
        </p:spPr>
      </p:sp>
      <p:sp>
        <p:nvSpPr>
          <p:cNvPr id="95" name="potassium ion: shell 3"/>
          <p:cNvSpPr/>
          <p:nvPr/>
        </p:nvSpPr>
        <p:spPr>
          <a:xfrm>
            <a:off x="7434072" y="2715768"/>
            <a:ext cx="914400" cy="914400"/>
          </a:xfrm>
          <a:prstGeom prst="ellipse">
            <a:avLst/>
          </a:prstGeom>
          <a:solidFill>
            <a:schemeClr val="bg1">
              <a:alpha val="0"/>
            </a:schemeClr>
          </a:solidFill>
          <a:ln w="15875">
            <a:solidFill>
              <a:schemeClr val="bg2">
                <a:alpha val="55000"/>
              </a:schemeClr>
            </a:solidFill>
            <a:prstDash val="solid"/>
          </a:ln>
        </p:spPr>
      </p:sp>
      <p:sp>
        <p:nvSpPr>
          <p:cNvPr id="96" name="potassium ion: nucleus"/>
          <p:cNvSpPr/>
          <p:nvPr/>
        </p:nvSpPr>
        <p:spPr>
          <a:xfrm>
            <a:off x="7757563" y="3039259"/>
            <a:ext cx="267419" cy="267419"/>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97" name="potassium ion: electron, shell 1"/>
          <p:cNvSpPr/>
          <p:nvPr/>
        </p:nvSpPr>
        <p:spPr>
          <a:xfrm>
            <a:off x="7858923" y="2933585"/>
            <a:ext cx="64698" cy="64698"/>
          </a:xfrm>
          <a:prstGeom prst="ellipse">
            <a:avLst/>
          </a:prstGeom>
          <a:solidFill>
            <a:schemeClr val="accent1"/>
          </a:solidFill>
          <a:ln w="3175">
            <a:solidFill>
              <a:schemeClr val="accent1"/>
            </a:solidFill>
            <a:prstDash val="solid"/>
          </a:ln>
        </p:spPr>
      </p:sp>
      <p:sp>
        <p:nvSpPr>
          <p:cNvPr id="98" name="potassium ion: electron, shell 1"/>
          <p:cNvSpPr/>
          <p:nvPr/>
        </p:nvSpPr>
        <p:spPr>
          <a:xfrm>
            <a:off x="8065957" y="3140619"/>
            <a:ext cx="64698" cy="64698"/>
          </a:xfrm>
          <a:prstGeom prst="ellipse">
            <a:avLst/>
          </a:prstGeom>
          <a:solidFill>
            <a:schemeClr val="accent1"/>
          </a:solidFill>
          <a:ln w="3175">
            <a:solidFill>
              <a:schemeClr val="accent1"/>
            </a:solidFill>
            <a:prstDash val="solid"/>
          </a:ln>
        </p:spPr>
      </p:sp>
      <p:sp>
        <p:nvSpPr>
          <p:cNvPr id="99" name="potassium ion: electron, shell 2"/>
          <p:cNvSpPr/>
          <p:nvPr/>
        </p:nvSpPr>
        <p:spPr>
          <a:xfrm>
            <a:off x="7815481" y="2807005"/>
            <a:ext cx="64698" cy="64698"/>
          </a:xfrm>
          <a:prstGeom prst="ellipse">
            <a:avLst/>
          </a:prstGeom>
          <a:solidFill>
            <a:schemeClr val="accent1"/>
          </a:solidFill>
          <a:ln w="3175">
            <a:solidFill>
              <a:schemeClr val="accent1"/>
            </a:solidFill>
            <a:prstDash val="solid"/>
          </a:ln>
        </p:spPr>
      </p:sp>
      <p:sp>
        <p:nvSpPr>
          <p:cNvPr id="100" name="potassium ion: electron, shell 2"/>
          <p:cNvSpPr/>
          <p:nvPr/>
        </p:nvSpPr>
        <p:spPr>
          <a:xfrm>
            <a:off x="7902365" y="2807005"/>
            <a:ext cx="64698" cy="64698"/>
          </a:xfrm>
          <a:prstGeom prst="ellipse">
            <a:avLst/>
          </a:prstGeom>
          <a:solidFill>
            <a:schemeClr val="accent1"/>
          </a:solidFill>
          <a:ln w="3175">
            <a:solidFill>
              <a:schemeClr val="accent1"/>
            </a:solidFill>
            <a:prstDash val="solid"/>
          </a:ln>
        </p:spPr>
      </p:sp>
      <p:sp>
        <p:nvSpPr>
          <p:cNvPr id="101" name="potassium ion: electron, shell 2"/>
          <p:cNvSpPr/>
          <p:nvPr/>
        </p:nvSpPr>
        <p:spPr>
          <a:xfrm>
            <a:off x="8192537" y="3097177"/>
            <a:ext cx="64698" cy="64698"/>
          </a:xfrm>
          <a:prstGeom prst="ellipse">
            <a:avLst/>
          </a:prstGeom>
          <a:solidFill>
            <a:schemeClr val="accent1"/>
          </a:solidFill>
          <a:ln w="3175">
            <a:solidFill>
              <a:schemeClr val="accent1"/>
            </a:solidFill>
            <a:prstDash val="solid"/>
          </a:ln>
        </p:spPr>
      </p:sp>
      <p:sp>
        <p:nvSpPr>
          <p:cNvPr id="102" name="potassium ion: electron, shell 2"/>
          <p:cNvSpPr/>
          <p:nvPr/>
        </p:nvSpPr>
        <p:spPr>
          <a:xfrm>
            <a:off x="8192537" y="3184061"/>
            <a:ext cx="64698" cy="64698"/>
          </a:xfrm>
          <a:prstGeom prst="ellipse">
            <a:avLst/>
          </a:prstGeom>
          <a:solidFill>
            <a:schemeClr val="accent1"/>
          </a:solidFill>
          <a:ln w="3175">
            <a:solidFill>
              <a:schemeClr val="accent1"/>
            </a:solidFill>
            <a:prstDash val="solid"/>
          </a:ln>
        </p:spPr>
      </p:sp>
      <p:sp>
        <p:nvSpPr>
          <p:cNvPr id="103" name="potassium ion: electron, shell 2"/>
          <p:cNvSpPr/>
          <p:nvPr/>
        </p:nvSpPr>
        <p:spPr>
          <a:xfrm>
            <a:off x="7902365" y="3474233"/>
            <a:ext cx="64698" cy="64698"/>
          </a:xfrm>
          <a:prstGeom prst="ellipse">
            <a:avLst/>
          </a:prstGeom>
          <a:solidFill>
            <a:schemeClr val="accent1"/>
          </a:solidFill>
          <a:ln w="3175">
            <a:solidFill>
              <a:schemeClr val="accent1"/>
            </a:solidFill>
            <a:prstDash val="solid"/>
          </a:ln>
        </p:spPr>
      </p:sp>
      <p:sp>
        <p:nvSpPr>
          <p:cNvPr id="104" name="potassium ion: electron, shell 2"/>
          <p:cNvSpPr/>
          <p:nvPr/>
        </p:nvSpPr>
        <p:spPr>
          <a:xfrm>
            <a:off x="7815481" y="3474233"/>
            <a:ext cx="64698" cy="64698"/>
          </a:xfrm>
          <a:prstGeom prst="ellipse">
            <a:avLst/>
          </a:prstGeom>
          <a:solidFill>
            <a:schemeClr val="accent1"/>
          </a:solidFill>
          <a:ln w="3175">
            <a:solidFill>
              <a:schemeClr val="accent1"/>
            </a:solidFill>
            <a:prstDash val="solid"/>
          </a:ln>
        </p:spPr>
      </p:sp>
      <p:sp>
        <p:nvSpPr>
          <p:cNvPr id="105" name="potassium ion: electron, shell 2"/>
          <p:cNvSpPr/>
          <p:nvPr/>
        </p:nvSpPr>
        <p:spPr>
          <a:xfrm>
            <a:off x="7525309" y="3184061"/>
            <a:ext cx="64698" cy="64698"/>
          </a:xfrm>
          <a:prstGeom prst="ellipse">
            <a:avLst/>
          </a:prstGeom>
          <a:solidFill>
            <a:schemeClr val="accent1"/>
          </a:solidFill>
          <a:ln w="3175">
            <a:solidFill>
              <a:schemeClr val="accent1"/>
            </a:solidFill>
            <a:prstDash val="solid"/>
          </a:ln>
        </p:spPr>
      </p:sp>
      <p:sp>
        <p:nvSpPr>
          <p:cNvPr id="106" name="potassium ion: electron, shell 2"/>
          <p:cNvSpPr/>
          <p:nvPr/>
        </p:nvSpPr>
        <p:spPr>
          <a:xfrm>
            <a:off x="7525309" y="3097177"/>
            <a:ext cx="64698" cy="64698"/>
          </a:xfrm>
          <a:prstGeom prst="ellipse">
            <a:avLst/>
          </a:prstGeom>
          <a:solidFill>
            <a:schemeClr val="accent1"/>
          </a:solidFill>
          <a:ln w="3175">
            <a:solidFill>
              <a:schemeClr val="accent1"/>
            </a:solidFill>
            <a:prstDash val="solid"/>
          </a:ln>
        </p:spPr>
      </p:sp>
      <p:sp>
        <p:nvSpPr>
          <p:cNvPr id="107" name="potassium ion: electron, shell 3"/>
          <p:cNvSpPr/>
          <p:nvPr/>
        </p:nvSpPr>
        <p:spPr>
          <a:xfrm>
            <a:off x="7815425" y="2685493"/>
            <a:ext cx="64698" cy="64698"/>
          </a:xfrm>
          <a:prstGeom prst="ellipse">
            <a:avLst/>
          </a:prstGeom>
          <a:solidFill>
            <a:schemeClr val="accent1"/>
          </a:solidFill>
          <a:ln w="3175">
            <a:solidFill>
              <a:schemeClr val="accent1"/>
            </a:solidFill>
            <a:prstDash val="solid"/>
          </a:ln>
        </p:spPr>
      </p:sp>
      <p:sp>
        <p:nvSpPr>
          <p:cNvPr id="108" name="potassium ion: electron, shell 3"/>
          <p:cNvSpPr/>
          <p:nvPr/>
        </p:nvSpPr>
        <p:spPr>
          <a:xfrm>
            <a:off x="7902420" y="2685493"/>
            <a:ext cx="64698" cy="64698"/>
          </a:xfrm>
          <a:prstGeom prst="ellipse">
            <a:avLst/>
          </a:prstGeom>
          <a:solidFill>
            <a:schemeClr val="accent1"/>
          </a:solidFill>
          <a:ln w="3175">
            <a:solidFill>
              <a:schemeClr val="accent1"/>
            </a:solidFill>
            <a:prstDash val="solid"/>
          </a:ln>
        </p:spPr>
      </p:sp>
      <p:sp>
        <p:nvSpPr>
          <p:cNvPr id="109" name="potassium ion: electron, shell 3"/>
          <p:cNvSpPr/>
          <p:nvPr/>
        </p:nvSpPr>
        <p:spPr>
          <a:xfrm>
            <a:off x="8314049" y="3097121"/>
            <a:ext cx="64698" cy="64698"/>
          </a:xfrm>
          <a:prstGeom prst="ellipse">
            <a:avLst/>
          </a:prstGeom>
          <a:solidFill>
            <a:schemeClr val="accent1"/>
          </a:solidFill>
          <a:ln w="3175">
            <a:solidFill>
              <a:schemeClr val="accent1"/>
            </a:solidFill>
            <a:prstDash val="solid"/>
          </a:ln>
        </p:spPr>
      </p:sp>
      <p:sp>
        <p:nvSpPr>
          <p:cNvPr id="110" name="potassium ion: electron, shell 3"/>
          <p:cNvSpPr/>
          <p:nvPr/>
        </p:nvSpPr>
        <p:spPr>
          <a:xfrm>
            <a:off x="8314049" y="3184116"/>
            <a:ext cx="64698" cy="64698"/>
          </a:xfrm>
          <a:prstGeom prst="ellipse">
            <a:avLst/>
          </a:prstGeom>
          <a:solidFill>
            <a:schemeClr val="accent1"/>
          </a:solidFill>
          <a:ln w="3175">
            <a:solidFill>
              <a:schemeClr val="accent1"/>
            </a:solidFill>
            <a:prstDash val="solid"/>
          </a:ln>
        </p:spPr>
      </p:sp>
      <p:sp>
        <p:nvSpPr>
          <p:cNvPr id="111" name="potassium ion: electron, shell 3"/>
          <p:cNvSpPr/>
          <p:nvPr/>
        </p:nvSpPr>
        <p:spPr>
          <a:xfrm>
            <a:off x="7902420" y="3595745"/>
            <a:ext cx="64698" cy="64698"/>
          </a:xfrm>
          <a:prstGeom prst="ellipse">
            <a:avLst/>
          </a:prstGeom>
          <a:solidFill>
            <a:schemeClr val="accent1"/>
          </a:solidFill>
          <a:ln w="3175">
            <a:solidFill>
              <a:schemeClr val="accent1"/>
            </a:solidFill>
            <a:prstDash val="solid"/>
          </a:ln>
        </p:spPr>
      </p:sp>
      <p:sp>
        <p:nvSpPr>
          <p:cNvPr id="112" name="potassium ion: electron, shell 3"/>
          <p:cNvSpPr/>
          <p:nvPr/>
        </p:nvSpPr>
        <p:spPr>
          <a:xfrm>
            <a:off x="7815425" y="3595745"/>
            <a:ext cx="64698" cy="64698"/>
          </a:xfrm>
          <a:prstGeom prst="ellipse">
            <a:avLst/>
          </a:prstGeom>
          <a:solidFill>
            <a:schemeClr val="accent1"/>
          </a:solidFill>
          <a:ln w="3175">
            <a:solidFill>
              <a:schemeClr val="accent1"/>
            </a:solidFill>
            <a:prstDash val="solid"/>
          </a:ln>
        </p:spPr>
      </p:sp>
      <p:sp>
        <p:nvSpPr>
          <p:cNvPr id="113" name="potassium ion: electron, shell 3"/>
          <p:cNvSpPr/>
          <p:nvPr/>
        </p:nvSpPr>
        <p:spPr>
          <a:xfrm>
            <a:off x="7403797" y="3184116"/>
            <a:ext cx="64698" cy="64698"/>
          </a:xfrm>
          <a:prstGeom prst="ellipse">
            <a:avLst/>
          </a:prstGeom>
          <a:solidFill>
            <a:schemeClr val="accent1"/>
          </a:solidFill>
          <a:ln w="3175">
            <a:solidFill>
              <a:schemeClr val="accent1"/>
            </a:solidFill>
            <a:prstDash val="solid"/>
          </a:ln>
        </p:spPr>
      </p:sp>
      <p:sp>
        <p:nvSpPr>
          <p:cNvPr id="114" name="potassium ion: electron, shell 3"/>
          <p:cNvSpPr/>
          <p:nvPr/>
        </p:nvSpPr>
        <p:spPr>
          <a:xfrm>
            <a:off x="7403797" y="3097121"/>
            <a:ext cx="64698" cy="64698"/>
          </a:xfrm>
          <a:prstGeom prst="ellipse">
            <a:avLst/>
          </a:prstGeom>
          <a:solidFill>
            <a:schemeClr val="accent1"/>
          </a:solidFill>
          <a:ln w="3175">
            <a:solidFill>
              <a:schemeClr val="accent1"/>
            </a:solidFill>
            <a:prstDash val="solid"/>
          </a:ln>
        </p:spPr>
      </p:sp>
      <p:sp>
        <p:nvSpPr>
          <p:cNvPr id="115" name="potassium ion: left bracket"/>
          <p:cNvSpPr/>
          <p:nvPr/>
        </p:nvSpPr>
        <p:spPr>
          <a:xfrm>
            <a:off x="7365061" y="2646757"/>
            <a:ext cx="73152" cy="1052423"/>
          </a:xfrm>
          <a:prstGeom prst="leftBracket">
            <a:avLst/>
          </a:prstGeom>
          <a:noFill/>
          <a:ln w="15875">
            <a:solidFill>
              <a:schemeClr val="bg1"/>
            </a:solidFill>
            <a:prstDash val="solid"/>
          </a:ln>
        </p:spPr>
      </p:sp>
      <p:sp>
        <p:nvSpPr>
          <p:cNvPr id="116" name="potassium ion: right bracket"/>
          <p:cNvSpPr/>
          <p:nvPr/>
        </p:nvSpPr>
        <p:spPr>
          <a:xfrm>
            <a:off x="8344331" y="2646757"/>
            <a:ext cx="73152" cy="1052423"/>
          </a:xfrm>
          <a:prstGeom prst="rightBracket">
            <a:avLst/>
          </a:prstGeom>
          <a:noFill/>
          <a:ln w="15875">
            <a:solidFill>
              <a:schemeClr val="bg1"/>
            </a:solidFill>
            <a:prstDash val="solid"/>
          </a:ln>
        </p:spPr>
      </p:sp>
      <p:sp>
        <p:nvSpPr>
          <p:cNvPr id="117" name="potassium ion: charge"/>
          <p:cNvSpPr txBox="1"/>
          <p:nvPr/>
        </p:nvSpPr>
        <p:spPr>
          <a:xfrm>
            <a:off x="8435771" y="2569922"/>
            <a:ext cx="223520" cy="167640"/>
          </a:xfrm>
          <a:prstGeom prst="rect">
            <a:avLst/>
          </a:prstGeom>
          <a:noFill/>
          <a:ln/>
        </p:spPr>
        <p:txBody>
          <a:bodyPr wrap="square" lIns="0" tIns="0" rIns="0" bIns="0" rtlCol="0" anchor="t"/>
          <a:lstStyle/>
          <a:p>
            <a:pPr indent="0" marL="0">
              <a:buNone/>
            </a:pPr>
            <a:r>
              <a:rPr lang="en-US" sz="1100" b="1" dirty="0">
                <a:solidFill>
                  <a:schemeClr val="bg1"/>
                </a:solidFill>
              </a:rPr>
              <a:t>+</a:t>
            </a:r>
            <a:endParaRPr lang="en-US" sz="1100" dirty="0"/>
          </a:p>
        </p:txBody>
      </p:sp>
      <p:sp>
        <p:nvSpPr>
          <p:cNvPr id="118" name="Text 116"/>
          <p:cNvSpPr txBox="1"/>
          <p:nvPr/>
        </p:nvSpPr>
        <p:spPr>
          <a:xfrm>
            <a:off x="7114032" y="4023360"/>
            <a:ext cx="1554480" cy="502920"/>
          </a:xfrm>
          <a:prstGeom prst="rect">
            <a:avLst/>
          </a:prstGeom>
          <a:noFill/>
          <a:ln/>
        </p:spPr>
        <p:txBody>
          <a:bodyPr wrap="square" lIns="0" tIns="0" rIns="0" bIns="0" rtlCol="0" anchor="ctr"/>
          <a:lstStyle/>
          <a:p>
            <a:pPr algn="ctr" indent="0" marL="0">
              <a:buNone/>
            </a:pPr>
            <a:r>
              <a:rPr lang="en-US" sz="1200" b="1" dirty="0">
                <a:solidFill>
                  <a:schemeClr val="accent4"/>
                </a:solidFill>
              </a:rPr>
              <a:t>Lose 1 -&gt; </a:t>
            </a:r>
            <a:pPr algn="ctr" indent="0" marL="0">
              <a:buNone/>
            </a:pPr>
            <a:r>
              <a:rPr lang="en-US" sz="1200" b="1" dirty="0">
                <a:solidFill>
                  <a:schemeClr val="bg1"/>
                </a:solidFill>
              </a:rPr>
              <a:t>K</a:t>
            </a:r>
            <a:pPr algn="ctr" indent="0" marL="0">
              <a:buNone/>
            </a:pPr>
            <a:r>
              <a:rPr lang="en-US" sz="1200" b="1" baseline="30000" dirty="0">
                <a:solidFill>
                  <a:schemeClr val="bg1"/>
                </a:solidFill>
              </a:rPr>
              <a:t>+</a:t>
            </a:r>
            <a:pPr algn="ctr" indent="0" marL="0">
              <a:buNone/>
            </a:pPr>
            <a:endParaRPr lang="en-US" sz="1200" dirty="0"/>
          </a:p>
          <a:p>
            <a:pPr algn="ctr" indent="0" marL="0">
              <a:buNone/>
            </a:pPr>
            <a:r>
              <a:rPr lang="en-US" sz="1200" dirty="0">
                <a:solidFill>
                  <a:schemeClr val="bg2"/>
                </a:solidFill>
              </a:rPr>
              <a:t>2, 8, 8</a:t>
            </a:r>
            <a:endParaRPr lang="en-US" sz="12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ection tile 3"/>
          <p:cNvSpPr/>
          <p:nvPr/>
        </p:nvSpPr>
        <p:spPr>
          <a:xfrm>
            <a:off x="457200" y="301752"/>
            <a:ext cx="749808" cy="841248"/>
          </a:xfrm>
          <a:prstGeom prst="roundRect">
            <a:avLst>
              <a:gd name="adj" fmla="val 12000"/>
            </a:avLst>
          </a:prstGeom>
          <a:solidFill>
            <a:srgbClr val="60A5FA">
              <a:alpha val="28000"/>
            </a:srgbClr>
          </a:solidFill>
          <a:ln w="19050">
            <a:solidFill>
              <a:srgbClr val="60A5FA"/>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3</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2400" b="1" dirty="0">
                <a:solidFill>
                  <a:schemeClr val="bg1"/>
                </a:solidFill>
              </a:rPr>
              <a:t>Mg</a:t>
            </a:r>
            <a:pPr algn="ctr" indent="0" marL="0">
              <a:buNone/>
            </a:pPr>
            <a:r>
              <a:rPr lang="en-US" sz="2400" b="1" baseline="30000" dirty="0">
                <a:solidFill>
                  <a:schemeClr val="bg1"/>
                </a:solidFill>
              </a:rPr>
              <a:t>2+</a:t>
            </a:r>
            <a:endParaRPr lang="en-US" sz="2400" dirty="0"/>
          </a:p>
        </p:txBody>
      </p:sp>
      <p:sp>
        <p:nvSpPr>
          <p:cNvPr id="5" name="Text 3"/>
          <p:cNvSpPr/>
          <p:nvPr/>
        </p:nvSpPr>
        <p:spPr>
          <a:xfrm>
            <a:off x="1417320" y="31089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6" name="Text 4"/>
          <p:cNvSpPr txBox="1"/>
          <p:nvPr/>
        </p:nvSpPr>
        <p:spPr>
          <a:xfrm>
            <a:off x="260604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3 of 9</a:t>
            </a:r>
            <a:endParaRPr lang="en-US" sz="1200" dirty="0"/>
          </a:p>
        </p:txBody>
      </p:sp>
      <p:sp>
        <p:nvSpPr>
          <p:cNvPr id="7" name="Text 0"/>
          <p:cNvSpPr/>
          <p:nvPr>
            <p:ph idx="100" type="title" hasCustomPrompt="1"/>
          </p:nvPr>
        </p:nvSpPr>
        <p:spPr>
          <a:xfrm>
            <a:off x="1417320" y="658368"/>
            <a:ext cx="7269480" cy="841248"/>
          </a:xfrm>
          <a:prstGeom prst="rect">
            <a:avLst/>
          </a:prstGeom>
          <a:noFill/>
          <a:ln/>
        </p:spPr>
        <p:txBody>
          <a:bodyPr wrap="square" lIns="0" tIns="0" rIns="0" bIns="0" rtlCol="0" anchor="t"/>
          <a:lstStyle/>
          <a:p>
            <a:pPr algn="l" indent="0" marL="0">
              <a:buNone/>
            </a:pPr>
            <a:r>
              <a:rPr lang="en-US" sz="2000" b="1" dirty="0">
                <a:solidFill>
                  <a:schemeClr val="bg1"/>
                </a:solidFill>
              </a:rPr>
              <a:t>Phosphorus has the arrangement 2, 8, 5. Which ion does it form?</a:t>
            </a:r>
            <a:endParaRPr lang="en-US" sz="2000" dirty="0"/>
          </a:p>
        </p:txBody>
      </p:sp>
      <p:sp>
        <p:nvSpPr>
          <p:cNvPr id="8" name="Option A"/>
          <p:cNvSpPr/>
          <p:nvPr/>
        </p:nvSpPr>
        <p:spPr>
          <a:xfrm>
            <a:off x="457200" y="1645920"/>
            <a:ext cx="8229600" cy="457200"/>
          </a:xfrm>
          <a:prstGeom prst="roundRect">
            <a:avLst>
              <a:gd name="adj" fmla="val 18000"/>
            </a:avLst>
          </a:prstGeom>
          <a:solidFill>
            <a:schemeClr val="tx2"/>
          </a:solidFill>
          <a:ln w="9525">
            <a:solidFill>
              <a:schemeClr val="bg2">
                <a:alpha val="35000"/>
              </a:schemeClr>
            </a:solidFill>
            <a:prstDash val="solid"/>
          </a:ln>
        </p:spPr>
      </p:sp>
      <p:sp>
        <p:nvSpPr>
          <p:cNvPr id="9" name="Text 7"/>
          <p:cNvSpPr/>
          <p:nvPr/>
        </p:nvSpPr>
        <p:spPr>
          <a:xfrm>
            <a:off x="548640" y="1719072"/>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10" name="Text 8"/>
          <p:cNvSpPr txBox="1"/>
          <p:nvPr/>
        </p:nvSpPr>
        <p:spPr>
          <a:xfrm>
            <a:off x="969264" y="1645920"/>
            <a:ext cx="7626096" cy="457200"/>
          </a:xfrm>
          <a:prstGeom prst="rect">
            <a:avLst/>
          </a:prstGeom>
          <a:noFill/>
          <a:ln/>
        </p:spPr>
        <p:txBody>
          <a:bodyPr wrap="square" lIns="0" tIns="0" rIns="0" bIns="0" rtlCol="0" anchor="ctr"/>
          <a:lstStyle/>
          <a:p>
            <a:pPr indent="0" marL="0">
              <a:buNone/>
            </a:pPr>
            <a:r>
              <a:rPr lang="en-US" sz="1600" dirty="0">
                <a:solidFill>
                  <a:schemeClr val="bg1"/>
                </a:solidFill>
              </a:rPr>
              <a:t>P</a:t>
            </a:r>
            <a:pPr indent="0" marL="0">
              <a:buNone/>
            </a:pPr>
            <a:r>
              <a:rPr lang="en-US" sz="1600" baseline="30000" dirty="0">
                <a:solidFill>
                  <a:schemeClr val="bg1"/>
                </a:solidFill>
              </a:rPr>
              <a:t>3+</a:t>
            </a:r>
            <a:endParaRPr lang="en-US" sz="1600" dirty="0"/>
          </a:p>
        </p:txBody>
      </p:sp>
      <p:sp>
        <p:nvSpPr>
          <p:cNvPr id="11" name="Option B"/>
          <p:cNvSpPr/>
          <p:nvPr/>
        </p:nvSpPr>
        <p:spPr>
          <a:xfrm>
            <a:off x="457200" y="2231136"/>
            <a:ext cx="8229600" cy="457200"/>
          </a:xfrm>
          <a:prstGeom prst="roundRect">
            <a:avLst>
              <a:gd name="adj" fmla="val 18000"/>
            </a:avLst>
          </a:prstGeom>
          <a:solidFill>
            <a:schemeClr val="tx2"/>
          </a:solidFill>
          <a:ln w="9525">
            <a:solidFill>
              <a:schemeClr val="bg2">
                <a:alpha val="35000"/>
              </a:schemeClr>
            </a:solidFill>
            <a:prstDash val="solid"/>
          </a:ln>
        </p:spPr>
      </p:sp>
      <p:sp>
        <p:nvSpPr>
          <p:cNvPr id="12" name="Text 10"/>
          <p:cNvSpPr/>
          <p:nvPr/>
        </p:nvSpPr>
        <p:spPr>
          <a:xfrm>
            <a:off x="548640" y="2304288"/>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13" name="Text 11"/>
          <p:cNvSpPr txBox="1"/>
          <p:nvPr/>
        </p:nvSpPr>
        <p:spPr>
          <a:xfrm>
            <a:off x="969264" y="2231136"/>
            <a:ext cx="7626096" cy="457200"/>
          </a:xfrm>
          <a:prstGeom prst="rect">
            <a:avLst/>
          </a:prstGeom>
          <a:noFill/>
          <a:ln/>
        </p:spPr>
        <p:txBody>
          <a:bodyPr wrap="square" lIns="0" tIns="0" rIns="0" bIns="0" rtlCol="0" anchor="ctr"/>
          <a:lstStyle/>
          <a:p>
            <a:pPr indent="0" marL="0">
              <a:buNone/>
            </a:pPr>
            <a:r>
              <a:rPr lang="en-US" sz="1600" dirty="0">
                <a:solidFill>
                  <a:schemeClr val="bg1"/>
                </a:solidFill>
              </a:rPr>
              <a:t>P</a:t>
            </a:r>
            <a:pPr indent="0" marL="0">
              <a:buNone/>
            </a:pPr>
            <a:r>
              <a:rPr lang="en-US" sz="1600" baseline="30000" dirty="0">
                <a:solidFill>
                  <a:schemeClr val="bg1"/>
                </a:solidFill>
              </a:rPr>
              <a:t>5+</a:t>
            </a:r>
            <a:endParaRPr lang="en-US" sz="1600" dirty="0"/>
          </a:p>
        </p:txBody>
      </p:sp>
      <p:sp>
        <p:nvSpPr>
          <p:cNvPr id="14" name="Option C"/>
          <p:cNvSpPr/>
          <p:nvPr/>
        </p:nvSpPr>
        <p:spPr>
          <a:xfrm>
            <a:off x="457200" y="2816352"/>
            <a:ext cx="8229600" cy="457200"/>
          </a:xfrm>
          <a:prstGeom prst="roundRect">
            <a:avLst>
              <a:gd name="adj" fmla="val 18000"/>
            </a:avLst>
          </a:prstGeom>
          <a:solidFill>
            <a:schemeClr val="tx2"/>
          </a:solidFill>
          <a:ln w="9525">
            <a:solidFill>
              <a:schemeClr val="bg2">
                <a:alpha val="35000"/>
              </a:schemeClr>
            </a:solidFill>
            <a:prstDash val="solid"/>
          </a:ln>
        </p:spPr>
      </p:sp>
      <p:sp>
        <p:nvSpPr>
          <p:cNvPr id="15" name="Text 13"/>
          <p:cNvSpPr/>
          <p:nvPr/>
        </p:nvSpPr>
        <p:spPr>
          <a:xfrm>
            <a:off x="548640" y="2889504"/>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6" name="Text 14"/>
          <p:cNvSpPr txBox="1"/>
          <p:nvPr/>
        </p:nvSpPr>
        <p:spPr>
          <a:xfrm>
            <a:off x="969264" y="2816352"/>
            <a:ext cx="7626096" cy="457200"/>
          </a:xfrm>
          <a:prstGeom prst="rect">
            <a:avLst/>
          </a:prstGeom>
          <a:noFill/>
          <a:ln/>
        </p:spPr>
        <p:txBody>
          <a:bodyPr wrap="square" lIns="0" tIns="0" rIns="0" bIns="0" rtlCol="0" anchor="ctr"/>
          <a:lstStyle/>
          <a:p>
            <a:pPr indent="0" marL="0">
              <a:buNone/>
            </a:pPr>
            <a:r>
              <a:rPr lang="en-US" sz="1600" dirty="0">
                <a:solidFill>
                  <a:schemeClr val="bg1"/>
                </a:solidFill>
              </a:rPr>
              <a:t>P</a:t>
            </a:r>
            <a:pPr indent="0" marL="0">
              <a:buNone/>
            </a:pPr>
            <a:r>
              <a:rPr lang="en-US" sz="1600" baseline="30000" dirty="0">
                <a:solidFill>
                  <a:schemeClr val="bg1"/>
                </a:solidFill>
              </a:rPr>
              <a:t>3−</a:t>
            </a:r>
            <a:endParaRPr lang="en-US" sz="1600" dirty="0"/>
          </a:p>
        </p:txBody>
      </p:sp>
      <p:sp>
        <p:nvSpPr>
          <p:cNvPr id="17" name="Option D"/>
          <p:cNvSpPr/>
          <p:nvPr/>
        </p:nvSpPr>
        <p:spPr>
          <a:xfrm>
            <a:off x="457200" y="3401568"/>
            <a:ext cx="8229600" cy="457200"/>
          </a:xfrm>
          <a:prstGeom prst="roundRect">
            <a:avLst>
              <a:gd name="adj" fmla="val 18000"/>
            </a:avLst>
          </a:prstGeom>
          <a:solidFill>
            <a:schemeClr val="tx2"/>
          </a:solidFill>
          <a:ln w="9525">
            <a:solidFill>
              <a:schemeClr val="bg2">
                <a:alpha val="35000"/>
              </a:schemeClr>
            </a:solidFill>
            <a:prstDash val="solid"/>
          </a:ln>
        </p:spPr>
      </p:sp>
      <p:sp>
        <p:nvSpPr>
          <p:cNvPr id="18" name="Text 16"/>
          <p:cNvSpPr/>
          <p:nvPr/>
        </p:nvSpPr>
        <p:spPr>
          <a:xfrm>
            <a:off x="548640" y="3474720"/>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19" name="Text 17"/>
          <p:cNvSpPr txBox="1"/>
          <p:nvPr/>
        </p:nvSpPr>
        <p:spPr>
          <a:xfrm>
            <a:off x="969264" y="3401568"/>
            <a:ext cx="7626096" cy="457200"/>
          </a:xfrm>
          <a:prstGeom prst="rect">
            <a:avLst/>
          </a:prstGeom>
          <a:noFill/>
          <a:ln/>
        </p:spPr>
        <p:txBody>
          <a:bodyPr wrap="square" lIns="0" tIns="0" rIns="0" bIns="0" rtlCol="0" anchor="ctr"/>
          <a:lstStyle/>
          <a:p>
            <a:pPr indent="0" marL="0">
              <a:buNone/>
            </a:pPr>
            <a:r>
              <a:rPr lang="en-US" sz="1600" dirty="0">
                <a:solidFill>
                  <a:schemeClr val="bg1"/>
                </a:solidFill>
              </a:rPr>
              <a:t>P</a:t>
            </a:r>
            <a:pPr indent="0" marL="0">
              <a:buNone/>
            </a:pPr>
            <a:r>
              <a:rPr lang="en-US" sz="1600" baseline="30000" dirty="0">
                <a:solidFill>
                  <a:schemeClr val="bg1"/>
                </a:solidFill>
              </a:rPr>
              <a:t>5−</a:t>
            </a:r>
            <a:endParaRPr lang="en-US" sz="16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ection tile 3"/>
          <p:cNvSpPr/>
          <p:nvPr/>
        </p:nvSpPr>
        <p:spPr>
          <a:xfrm>
            <a:off x="457200" y="301752"/>
            <a:ext cx="749808" cy="841248"/>
          </a:xfrm>
          <a:prstGeom prst="roundRect">
            <a:avLst>
              <a:gd name="adj" fmla="val 12000"/>
            </a:avLst>
          </a:prstGeom>
          <a:solidFill>
            <a:srgbClr val="60A5FA">
              <a:alpha val="28000"/>
            </a:srgbClr>
          </a:solidFill>
          <a:ln w="19050">
            <a:solidFill>
              <a:srgbClr val="60A5FA"/>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3</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2400" b="1" dirty="0">
                <a:solidFill>
                  <a:schemeClr val="bg1"/>
                </a:solidFill>
              </a:rPr>
              <a:t>Mg</a:t>
            </a:r>
            <a:pPr algn="ctr" indent="0" marL="0">
              <a:buNone/>
            </a:pPr>
            <a:r>
              <a:rPr lang="en-US" sz="2400" b="1" baseline="30000" dirty="0">
                <a:solidFill>
                  <a:schemeClr val="bg1"/>
                </a:solidFill>
              </a:rPr>
              <a:t>2+</a:t>
            </a:r>
            <a:endParaRPr lang="en-US" sz="2400" dirty="0"/>
          </a:p>
        </p:txBody>
      </p:sp>
      <p:sp>
        <p:nvSpPr>
          <p:cNvPr id="5" name="Text 3"/>
          <p:cNvSpPr/>
          <p:nvPr/>
        </p:nvSpPr>
        <p:spPr>
          <a:xfrm>
            <a:off x="1417320" y="31089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6" name="Text 4"/>
          <p:cNvSpPr/>
          <p:nvPr/>
        </p:nvSpPr>
        <p:spPr>
          <a:xfrm>
            <a:off x="256032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7" name="Text 5"/>
          <p:cNvSpPr txBox="1"/>
          <p:nvPr/>
        </p:nvSpPr>
        <p:spPr>
          <a:xfrm>
            <a:off x="352044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3 of 9</a:t>
            </a:r>
            <a:endParaRPr lang="en-US" sz="1200" dirty="0"/>
          </a:p>
        </p:txBody>
      </p:sp>
      <p:sp>
        <p:nvSpPr>
          <p:cNvPr id="8" name="Text 0"/>
          <p:cNvSpPr/>
          <p:nvPr>
            <p:ph idx="100" type="title" hasCustomPrompt="1"/>
          </p:nvPr>
        </p:nvSpPr>
        <p:spPr>
          <a:xfrm>
            <a:off x="1417320" y="658368"/>
            <a:ext cx="7269480" cy="841248"/>
          </a:xfrm>
          <a:prstGeom prst="rect">
            <a:avLst/>
          </a:prstGeom>
          <a:noFill/>
          <a:ln/>
        </p:spPr>
        <p:txBody>
          <a:bodyPr wrap="square" lIns="0" tIns="0" rIns="0" bIns="0" rtlCol="0" anchor="t"/>
          <a:lstStyle/>
          <a:p>
            <a:pPr algn="l" indent="0" marL="0">
              <a:buNone/>
            </a:pPr>
            <a:r>
              <a:rPr lang="en-US" sz="2000" b="1" dirty="0">
                <a:solidFill>
                  <a:schemeClr val="bg1"/>
                </a:solidFill>
              </a:rPr>
              <a:t>Phosphorus has the arrangement 2, 8, 5. Which ion does it form?</a:t>
            </a:r>
            <a:endParaRPr lang="en-US" sz="2000" dirty="0"/>
          </a:p>
        </p:txBody>
      </p:sp>
      <p:sp>
        <p:nvSpPr>
          <p:cNvPr id="9" name="Option A"/>
          <p:cNvSpPr/>
          <p:nvPr/>
        </p:nvSpPr>
        <p:spPr>
          <a:xfrm>
            <a:off x="457200" y="1645920"/>
            <a:ext cx="8229600" cy="457200"/>
          </a:xfrm>
          <a:prstGeom prst="roundRect">
            <a:avLst>
              <a:gd name="adj" fmla="val 18000"/>
            </a:avLst>
          </a:prstGeom>
          <a:solidFill>
            <a:schemeClr val="tx2"/>
          </a:solidFill>
          <a:ln w="9525">
            <a:solidFill>
              <a:schemeClr val="bg2">
                <a:alpha val="35000"/>
              </a:schemeClr>
            </a:solidFill>
            <a:prstDash val="solid"/>
          </a:ln>
        </p:spPr>
      </p:sp>
      <p:sp>
        <p:nvSpPr>
          <p:cNvPr id="10" name="Text 8"/>
          <p:cNvSpPr/>
          <p:nvPr/>
        </p:nvSpPr>
        <p:spPr>
          <a:xfrm>
            <a:off x="548640" y="1719072"/>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11" name="Text 9"/>
          <p:cNvSpPr txBox="1"/>
          <p:nvPr/>
        </p:nvSpPr>
        <p:spPr>
          <a:xfrm>
            <a:off x="969264" y="1645920"/>
            <a:ext cx="7626096" cy="457200"/>
          </a:xfrm>
          <a:prstGeom prst="rect">
            <a:avLst/>
          </a:prstGeom>
          <a:noFill/>
          <a:ln/>
        </p:spPr>
        <p:txBody>
          <a:bodyPr wrap="square" lIns="0" tIns="0" rIns="0" bIns="0" rtlCol="0" anchor="ctr"/>
          <a:lstStyle/>
          <a:p>
            <a:pPr indent="0" marL="0">
              <a:buNone/>
            </a:pPr>
            <a:r>
              <a:rPr lang="en-US" sz="1600" dirty="0">
                <a:solidFill>
                  <a:schemeClr val="bg1"/>
                </a:solidFill>
              </a:rPr>
              <a:t>P</a:t>
            </a:r>
            <a:pPr indent="0" marL="0">
              <a:buNone/>
            </a:pPr>
            <a:r>
              <a:rPr lang="en-US" sz="1600" baseline="30000" dirty="0">
                <a:solidFill>
                  <a:schemeClr val="bg1"/>
                </a:solidFill>
              </a:rPr>
              <a:t>3+</a:t>
            </a:r>
            <a:endParaRPr lang="en-US" sz="1600" dirty="0"/>
          </a:p>
        </p:txBody>
      </p:sp>
      <p:sp>
        <p:nvSpPr>
          <p:cNvPr id="12" name="Option B"/>
          <p:cNvSpPr/>
          <p:nvPr/>
        </p:nvSpPr>
        <p:spPr>
          <a:xfrm>
            <a:off x="457200" y="2231136"/>
            <a:ext cx="8229600" cy="457200"/>
          </a:xfrm>
          <a:prstGeom prst="roundRect">
            <a:avLst>
              <a:gd name="adj" fmla="val 18000"/>
            </a:avLst>
          </a:prstGeom>
          <a:solidFill>
            <a:schemeClr val="tx2"/>
          </a:solidFill>
          <a:ln w="9525">
            <a:solidFill>
              <a:schemeClr val="bg2">
                <a:alpha val="35000"/>
              </a:schemeClr>
            </a:solidFill>
            <a:prstDash val="solid"/>
          </a:ln>
        </p:spPr>
      </p:sp>
      <p:sp>
        <p:nvSpPr>
          <p:cNvPr id="13" name="Text 11"/>
          <p:cNvSpPr/>
          <p:nvPr/>
        </p:nvSpPr>
        <p:spPr>
          <a:xfrm>
            <a:off x="548640" y="2304288"/>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14" name="Text 12"/>
          <p:cNvSpPr txBox="1"/>
          <p:nvPr/>
        </p:nvSpPr>
        <p:spPr>
          <a:xfrm>
            <a:off x="969264" y="2231136"/>
            <a:ext cx="7626096" cy="457200"/>
          </a:xfrm>
          <a:prstGeom prst="rect">
            <a:avLst/>
          </a:prstGeom>
          <a:noFill/>
          <a:ln/>
        </p:spPr>
        <p:txBody>
          <a:bodyPr wrap="square" lIns="0" tIns="0" rIns="0" bIns="0" rtlCol="0" anchor="ctr"/>
          <a:lstStyle/>
          <a:p>
            <a:pPr indent="0" marL="0">
              <a:buNone/>
            </a:pPr>
            <a:r>
              <a:rPr lang="en-US" sz="1600" dirty="0">
                <a:solidFill>
                  <a:schemeClr val="bg1"/>
                </a:solidFill>
              </a:rPr>
              <a:t>P</a:t>
            </a:r>
            <a:pPr indent="0" marL="0">
              <a:buNone/>
            </a:pPr>
            <a:r>
              <a:rPr lang="en-US" sz="1600" baseline="30000" dirty="0">
                <a:solidFill>
                  <a:schemeClr val="bg1"/>
                </a:solidFill>
              </a:rPr>
              <a:t>5+</a:t>
            </a:r>
            <a:endParaRPr lang="en-US" sz="1600" dirty="0"/>
          </a:p>
        </p:txBody>
      </p:sp>
      <p:sp>
        <p:nvSpPr>
          <p:cNvPr id="15" name="Option C"/>
          <p:cNvSpPr/>
          <p:nvPr/>
        </p:nvSpPr>
        <p:spPr>
          <a:xfrm>
            <a:off x="457200" y="2816352"/>
            <a:ext cx="8229600" cy="457200"/>
          </a:xfrm>
          <a:prstGeom prst="roundRect">
            <a:avLst>
              <a:gd name="adj" fmla="val 18000"/>
            </a:avLst>
          </a:prstGeom>
          <a:solidFill>
            <a:schemeClr val="accent4">
              <a:alpha val="20000"/>
            </a:schemeClr>
          </a:solidFill>
          <a:ln w="25400">
            <a:solidFill>
              <a:schemeClr val="accent4"/>
            </a:solidFill>
            <a:prstDash val="solid"/>
          </a:ln>
        </p:spPr>
      </p:sp>
      <p:sp>
        <p:nvSpPr>
          <p:cNvPr id="16" name="Text 14"/>
          <p:cNvSpPr/>
          <p:nvPr/>
        </p:nvSpPr>
        <p:spPr>
          <a:xfrm>
            <a:off x="548640" y="2889504"/>
            <a:ext cx="310896" cy="310896"/>
          </a:xfrm>
          <a:prstGeom prst="roundRect">
            <a:avLst>
              <a:gd name="adj" fmla="val 20588"/>
            </a:avLst>
          </a:prstGeom>
          <a:solidFill>
            <a:schemeClr val="accent4"/>
          </a:solidFill>
          <a:ln w="6350">
            <a:solidFill>
              <a:schemeClr val="accent4"/>
            </a:solidFill>
          </a:ln>
        </p:spPr>
        <p:txBody>
          <a:bodyPr wrap="square" lIns="0" tIns="0" rIns="0" bIns="0" rtlCol="0" anchor="ctr"/>
          <a:lstStyle/>
          <a:p>
            <a:pPr algn="ctr" indent="0" marL="0">
              <a:buNone/>
            </a:pPr>
            <a:r>
              <a:rPr lang="en-US" sz="1300" b="1" dirty="0">
                <a:solidFill>
                  <a:schemeClr val="tx1"/>
                </a:solidFill>
              </a:rPr>
              <a:t>C</a:t>
            </a:r>
            <a:endParaRPr lang="en-US" sz="1300" dirty="0"/>
          </a:p>
        </p:txBody>
      </p:sp>
      <p:sp>
        <p:nvSpPr>
          <p:cNvPr id="17" name="Text 15"/>
          <p:cNvSpPr txBox="1"/>
          <p:nvPr/>
        </p:nvSpPr>
        <p:spPr>
          <a:xfrm>
            <a:off x="969264" y="2816352"/>
            <a:ext cx="7626096" cy="457200"/>
          </a:xfrm>
          <a:prstGeom prst="rect">
            <a:avLst/>
          </a:prstGeom>
          <a:noFill/>
          <a:ln/>
        </p:spPr>
        <p:txBody>
          <a:bodyPr wrap="square" lIns="0" tIns="0" rIns="0" bIns="0" rtlCol="0" anchor="ctr"/>
          <a:lstStyle/>
          <a:p>
            <a:pPr indent="0" marL="0">
              <a:buNone/>
            </a:pPr>
            <a:r>
              <a:rPr lang="en-US" sz="1600" b="1" dirty="0">
                <a:solidFill>
                  <a:schemeClr val="bg1"/>
                </a:solidFill>
              </a:rPr>
              <a:t>P</a:t>
            </a:r>
            <a:pPr indent="0" marL="0">
              <a:buNone/>
            </a:pPr>
            <a:r>
              <a:rPr lang="en-US" sz="1600" b="1" baseline="30000" dirty="0">
                <a:solidFill>
                  <a:schemeClr val="bg1"/>
                </a:solidFill>
              </a:rPr>
              <a:t>3−</a:t>
            </a:r>
            <a:endParaRPr lang="en-US" sz="1600" dirty="0"/>
          </a:p>
        </p:txBody>
      </p:sp>
      <p:sp>
        <p:nvSpPr>
          <p:cNvPr id="18" name="Option D"/>
          <p:cNvSpPr/>
          <p:nvPr/>
        </p:nvSpPr>
        <p:spPr>
          <a:xfrm>
            <a:off x="457200" y="3401568"/>
            <a:ext cx="8229600" cy="457200"/>
          </a:xfrm>
          <a:prstGeom prst="roundRect">
            <a:avLst>
              <a:gd name="adj" fmla="val 18000"/>
            </a:avLst>
          </a:prstGeom>
          <a:solidFill>
            <a:schemeClr val="tx2"/>
          </a:solidFill>
          <a:ln w="9525">
            <a:solidFill>
              <a:schemeClr val="bg2">
                <a:alpha val="35000"/>
              </a:schemeClr>
            </a:solidFill>
            <a:prstDash val="solid"/>
          </a:ln>
        </p:spPr>
      </p:sp>
      <p:sp>
        <p:nvSpPr>
          <p:cNvPr id="19" name="Text 17"/>
          <p:cNvSpPr/>
          <p:nvPr/>
        </p:nvSpPr>
        <p:spPr>
          <a:xfrm>
            <a:off x="548640" y="3474720"/>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20" name="Text 18"/>
          <p:cNvSpPr txBox="1"/>
          <p:nvPr/>
        </p:nvSpPr>
        <p:spPr>
          <a:xfrm>
            <a:off x="969264" y="3401568"/>
            <a:ext cx="7626096" cy="457200"/>
          </a:xfrm>
          <a:prstGeom prst="rect">
            <a:avLst/>
          </a:prstGeom>
          <a:noFill/>
          <a:ln/>
        </p:spPr>
        <p:txBody>
          <a:bodyPr wrap="square" lIns="0" tIns="0" rIns="0" bIns="0" rtlCol="0" anchor="ctr"/>
          <a:lstStyle/>
          <a:p>
            <a:pPr indent="0" marL="0">
              <a:buNone/>
            </a:pPr>
            <a:r>
              <a:rPr lang="en-US" sz="1600" dirty="0">
                <a:solidFill>
                  <a:schemeClr val="bg1"/>
                </a:solidFill>
              </a:rPr>
              <a:t>P</a:t>
            </a:r>
            <a:pPr indent="0" marL="0">
              <a:buNone/>
            </a:pPr>
            <a:r>
              <a:rPr lang="en-US" sz="1600" baseline="30000" dirty="0">
                <a:solidFill>
                  <a:schemeClr val="bg1"/>
                </a:solidFill>
              </a:rPr>
              <a:t>5−</a:t>
            </a:r>
            <a:endParaRPr lang="en-US" sz="1600" dirty="0"/>
          </a:p>
        </p:txBody>
      </p:sp>
      <p:sp>
        <p:nvSpPr>
          <p:cNvPr id="21" name="Why box"/>
          <p:cNvSpPr/>
          <p:nvPr/>
        </p:nvSpPr>
        <p:spPr>
          <a:xfrm>
            <a:off x="457200" y="4114800"/>
            <a:ext cx="8229600" cy="621792"/>
          </a:xfrm>
          <a:prstGeom prst="roundRect">
            <a:avLst>
              <a:gd name="adj" fmla="val 14706"/>
            </a:avLst>
          </a:prstGeom>
          <a:solidFill>
            <a:schemeClr val="accent4">
              <a:alpha val="12000"/>
            </a:schemeClr>
          </a:solidFill>
          <a:ln w="9525">
            <a:solidFill>
              <a:schemeClr val="accent4">
                <a:alpha val="60000"/>
              </a:schemeClr>
            </a:solidFill>
            <a:prstDash val="solid"/>
          </a:ln>
        </p:spPr>
      </p:sp>
      <p:sp>
        <p:nvSpPr>
          <p:cNvPr id="22" name="Text 20"/>
          <p:cNvSpPr txBox="1"/>
          <p:nvPr/>
        </p:nvSpPr>
        <p:spPr>
          <a:xfrm>
            <a:off x="640080" y="4114800"/>
            <a:ext cx="7863840" cy="621792"/>
          </a:xfrm>
          <a:prstGeom prst="rect">
            <a:avLst/>
          </a:prstGeom>
          <a:noFill/>
          <a:ln/>
        </p:spPr>
        <p:txBody>
          <a:bodyPr wrap="square" lIns="0" tIns="0" rIns="0" bIns="0" rtlCol="0" anchor="ctr"/>
          <a:lstStyle/>
          <a:p>
            <a:pPr indent="0" marL="0">
              <a:buNone/>
            </a:pPr>
            <a:r>
              <a:rPr lang="en-US" sz="1400" b="1" dirty="0">
                <a:solidFill>
                  <a:schemeClr val="accent4"/>
                </a:solidFill>
              </a:rPr>
              <a:t>Why: </a:t>
            </a:r>
            <a:pPr indent="0" marL="0">
              <a:buNone/>
            </a:pPr>
            <a:r>
              <a:rPr lang="en-US" sz="1400" dirty="0">
                <a:solidFill>
                  <a:schemeClr val="bg1"/>
                </a:solidFill>
              </a:rPr>
              <a:t>Phosphorus is a nonmetal with 5 valence electrons. Gaining 3 is easier than losing 5, so it forms P³⁻ (15 protons, 18 electrons).</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ection tile 4"/>
          <p:cNvSpPr/>
          <p:nvPr/>
        </p:nvSpPr>
        <p:spPr>
          <a:xfrm>
            <a:off x="457200" y="301752"/>
            <a:ext cx="749808" cy="841248"/>
          </a:xfrm>
          <a:prstGeom prst="roundRect">
            <a:avLst>
              <a:gd name="adj" fmla="val 12000"/>
            </a:avLst>
          </a:prstGeom>
          <a:solidFill>
            <a:srgbClr val="60A5FA">
              <a:alpha val="28000"/>
            </a:srgbClr>
          </a:solidFill>
          <a:ln w="19050">
            <a:solidFill>
              <a:srgbClr val="60A5FA"/>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4</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2400" b="1" dirty="0">
                <a:solidFill>
                  <a:schemeClr val="bg1"/>
                </a:solidFill>
              </a:rPr>
              <a:t>Al</a:t>
            </a:r>
            <a:pPr algn="ctr" indent="0" marL="0">
              <a:buNone/>
            </a:pPr>
            <a:r>
              <a:rPr lang="en-US" sz="2400" b="1" baseline="30000" dirty="0">
                <a:solidFill>
                  <a:schemeClr val="bg1"/>
                </a:solidFill>
              </a:rPr>
              <a:t>3+</a:t>
            </a:r>
            <a:endParaRPr lang="en-US" sz="2400" dirty="0"/>
          </a:p>
        </p:txBody>
      </p:sp>
      <p:sp>
        <p:nvSpPr>
          <p:cNvPr id="5" name="Text 0"/>
          <p:cNvSpPr/>
          <p:nvPr>
            <p:ph idx="100" type="body" hasCustomPrompt="1"/>
          </p:nvPr>
        </p:nvSpPr>
        <p:spPr>
          <a:xfrm>
            <a:off x="1417320" y="329184"/>
            <a:ext cx="7223760" cy="256032"/>
          </a:xfrm>
          <a:prstGeom prst="rect">
            <a:avLst/>
          </a:prstGeom>
          <a:noFill/>
          <a:ln/>
        </p:spPr>
        <p:txBody>
          <a:bodyPr wrap="square" lIns="0" tIns="0" rIns="0" bIns="0" rtlCol="0" anchor="ctr"/>
          <a:lstStyle/>
          <a:p>
            <a:pPr algn="l" indent="0" marL="0">
              <a:buNone/>
            </a:pPr>
            <a:r>
              <a:rPr lang="en-US" sz="1200" dirty="0">
                <a:solidFill>
                  <a:schemeClr val="bg2"/>
                </a:solidFill>
              </a:rPr>
              <a:t>Section 4 of 9 · about 6 min</a:t>
            </a:r>
            <a:endParaRPr lang="en-US" sz="1200" dirty="0"/>
          </a:p>
        </p:txBody>
      </p:sp>
      <p:sp>
        <p:nvSpPr>
          <p:cNvPr id="6" name="Text 0"/>
          <p:cNvSpPr/>
          <p:nvPr>
            <p:ph idx="101" type="title" hasCustomPrompt="1"/>
          </p:nvPr>
        </p:nvSpPr>
        <p:spPr>
          <a:xfrm>
            <a:off x="1417320" y="603504"/>
            <a:ext cx="7269480" cy="530352"/>
          </a:xfrm>
          <a:prstGeom prst="rect">
            <a:avLst/>
          </a:prstGeom>
          <a:noFill/>
          <a:ln/>
        </p:spPr>
        <p:txBody>
          <a:bodyPr wrap="square" lIns="0" tIns="0" rIns="0" bIns="0" rtlCol="0" anchor="ctr"/>
          <a:lstStyle/>
          <a:p>
            <a:pPr algn="l" indent="0" marL="0">
              <a:buNone/>
            </a:pPr>
            <a:r>
              <a:rPr lang="en-US" sz="2500" b="1" dirty="0">
                <a:solidFill>
                  <a:schemeClr val="bg1"/>
                </a:solidFill>
              </a:rPr>
              <a:t>Predict charges from the periodic table</a:t>
            </a:r>
            <a:endParaRPr lang="en-US" sz="2500" dirty="0"/>
          </a:p>
        </p:txBody>
      </p:sp>
      <p:sp>
        <p:nvSpPr>
          <p:cNvPr id="7" name="In this section"/>
          <p:cNvSpPr/>
          <p:nvPr/>
        </p:nvSpPr>
        <p:spPr>
          <a:xfrm>
            <a:off x="45720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8" name="Text 6"/>
          <p:cNvSpPr txBox="1"/>
          <p:nvPr/>
        </p:nvSpPr>
        <p:spPr>
          <a:xfrm>
            <a:off x="685800" y="1536192"/>
            <a:ext cx="3566160" cy="292608"/>
          </a:xfrm>
          <a:prstGeom prst="rect">
            <a:avLst/>
          </a:prstGeom>
          <a:noFill/>
          <a:ln/>
        </p:spPr>
        <p:txBody>
          <a:bodyPr wrap="square" lIns="0" tIns="0" rIns="0" bIns="0" rtlCol="0" anchor="t"/>
          <a:lstStyle/>
          <a:p>
            <a:pPr indent="0" marL="0">
              <a:buNone/>
            </a:pPr>
            <a:r>
              <a:rPr lang="en-US" sz="1500" b="1" dirty="0">
                <a:solidFill>
                  <a:schemeClr val="accent1"/>
                </a:solidFill>
              </a:rPr>
              <a:t>In this section</a:t>
            </a:r>
            <a:endParaRPr lang="en-US" sz="1500" dirty="0"/>
          </a:p>
        </p:txBody>
      </p:sp>
      <p:sp>
        <p:nvSpPr>
          <p:cNvPr id="9" name="Text 7"/>
          <p:cNvSpPr/>
          <p:nvPr/>
        </p:nvSpPr>
        <p:spPr>
          <a:xfrm>
            <a:off x="685800" y="2039112"/>
            <a:ext cx="73152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Read</a:t>
            </a:r>
            <a:endParaRPr lang="en-US" sz="1100" dirty="0"/>
          </a:p>
        </p:txBody>
      </p:sp>
      <p:sp>
        <p:nvSpPr>
          <p:cNvPr id="10" name="Text 8"/>
          <p:cNvSpPr txBox="1"/>
          <p:nvPr/>
        </p:nvSpPr>
        <p:spPr>
          <a:xfrm>
            <a:off x="1554480" y="1947672"/>
            <a:ext cx="2697480" cy="457200"/>
          </a:xfrm>
          <a:prstGeom prst="rect">
            <a:avLst/>
          </a:prstGeom>
          <a:noFill/>
          <a:ln/>
        </p:spPr>
        <p:txBody>
          <a:bodyPr wrap="square" lIns="0" tIns="0" rIns="0" bIns="0" rtlCol="0" anchor="ctr"/>
          <a:lstStyle/>
          <a:p>
            <a:pPr indent="0" marL="0">
              <a:buNone/>
            </a:pPr>
            <a:r>
              <a:rPr lang="en-US" sz="1400" dirty="0">
                <a:solidFill>
                  <a:schemeClr val="bg1"/>
                </a:solidFill>
              </a:rPr>
              <a:t>The pattern in the table</a:t>
            </a:r>
            <a:endParaRPr lang="en-US" sz="1400" dirty="0"/>
          </a:p>
        </p:txBody>
      </p:sp>
      <p:sp>
        <p:nvSpPr>
          <p:cNvPr id="11" name="Text 9"/>
          <p:cNvSpPr/>
          <p:nvPr/>
        </p:nvSpPr>
        <p:spPr>
          <a:xfrm>
            <a:off x="685800" y="2624328"/>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12" name="Text 10"/>
          <p:cNvSpPr txBox="1"/>
          <p:nvPr/>
        </p:nvSpPr>
        <p:spPr>
          <a:xfrm>
            <a:off x="1554480" y="2532888"/>
            <a:ext cx="2697480" cy="457200"/>
          </a:xfrm>
          <a:prstGeom prst="rect">
            <a:avLst/>
          </a:prstGeom>
          <a:noFill/>
          <a:ln/>
        </p:spPr>
        <p:txBody>
          <a:bodyPr wrap="square" lIns="0" tIns="0" rIns="0" bIns="0" rtlCol="0" anchor="ctr"/>
          <a:lstStyle/>
          <a:p>
            <a:pPr indent="0" marL="0">
              <a:buNone/>
            </a:pPr>
            <a:r>
              <a:rPr lang="en-US" sz="1400" dirty="0">
                <a:solidFill>
                  <a:schemeClr val="bg1"/>
                </a:solidFill>
              </a:rPr>
              <a:t>Explore the pattern</a:t>
            </a:r>
            <a:endParaRPr lang="en-US" sz="1400" dirty="0"/>
          </a:p>
        </p:txBody>
      </p:sp>
      <p:sp>
        <p:nvSpPr>
          <p:cNvPr id="13" name="Text 11"/>
          <p:cNvSpPr/>
          <p:nvPr/>
        </p:nvSpPr>
        <p:spPr>
          <a:xfrm>
            <a:off x="685800" y="3209544"/>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14" name="Text 12"/>
          <p:cNvSpPr txBox="1"/>
          <p:nvPr/>
        </p:nvSpPr>
        <p:spPr>
          <a:xfrm>
            <a:off x="1554480" y="3118104"/>
            <a:ext cx="2697480" cy="457200"/>
          </a:xfrm>
          <a:prstGeom prst="rect">
            <a:avLst/>
          </a:prstGeom>
          <a:noFill/>
          <a:ln/>
        </p:spPr>
        <p:txBody>
          <a:bodyPr wrap="square" lIns="0" tIns="0" rIns="0" bIns="0" rtlCol="0" anchor="ctr"/>
          <a:lstStyle/>
          <a:p>
            <a:pPr indent="0" marL="0">
              <a:buNone/>
            </a:pPr>
            <a:r>
              <a:rPr lang="en-US" sz="1400" dirty="0">
                <a:solidFill>
                  <a:schemeClr val="bg1"/>
                </a:solidFill>
              </a:rPr>
              <a:t>Sort by ion charge</a:t>
            </a:r>
            <a:endParaRPr lang="en-US" sz="1400" dirty="0"/>
          </a:p>
        </p:txBody>
      </p:sp>
      <p:sp>
        <p:nvSpPr>
          <p:cNvPr id="15" name="Text 13"/>
          <p:cNvSpPr/>
          <p:nvPr/>
        </p:nvSpPr>
        <p:spPr>
          <a:xfrm>
            <a:off x="685800" y="3794760"/>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16" name="Text 14"/>
          <p:cNvSpPr txBox="1"/>
          <p:nvPr/>
        </p:nvSpPr>
        <p:spPr>
          <a:xfrm>
            <a:off x="1874520" y="3703320"/>
            <a:ext cx="2377440" cy="457200"/>
          </a:xfrm>
          <a:prstGeom prst="rect">
            <a:avLst/>
          </a:prstGeom>
          <a:noFill/>
          <a:ln/>
        </p:spPr>
        <p:txBody>
          <a:bodyPr wrap="square" lIns="0" tIns="0" rIns="0" bIns="0" rtlCol="0" anchor="ctr"/>
          <a:lstStyle/>
          <a:p>
            <a:pPr indent="0" marL="0">
              <a:buNone/>
            </a:pPr>
            <a:r>
              <a:rPr lang="en-US" sz="1400" dirty="0">
                <a:solidFill>
                  <a:schemeClr val="bg1"/>
                </a:solidFill>
              </a:rPr>
              <a:t>Which forms a 2− ion?</a:t>
            </a:r>
            <a:endParaRPr lang="en-US" sz="1400" dirty="0"/>
          </a:p>
        </p:txBody>
      </p:sp>
      <p:sp>
        <p:nvSpPr>
          <p:cNvPr id="17" name="To unlock the next section"/>
          <p:cNvSpPr/>
          <p:nvPr/>
        </p:nvSpPr>
        <p:spPr>
          <a:xfrm>
            <a:off x="466344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18" name="Text 16"/>
          <p:cNvSpPr txBox="1"/>
          <p:nvPr/>
        </p:nvSpPr>
        <p:spPr>
          <a:xfrm>
            <a:off x="4892040" y="1536192"/>
            <a:ext cx="3566160" cy="292608"/>
          </a:xfrm>
          <a:prstGeom prst="rect">
            <a:avLst/>
          </a:prstGeom>
          <a:noFill/>
          <a:ln/>
        </p:spPr>
        <p:txBody>
          <a:bodyPr wrap="square" lIns="0" tIns="0" rIns="0" bIns="0" rtlCol="0" anchor="t"/>
          <a:lstStyle/>
          <a:p>
            <a:pPr indent="0" marL="0">
              <a:buNone/>
            </a:pPr>
            <a:r>
              <a:rPr lang="en-US" sz="1500" b="1" dirty="0">
                <a:solidFill>
                  <a:schemeClr val="accent4"/>
                </a:solidFill>
              </a:rPr>
              <a:t>To unlock the next section</a:t>
            </a:r>
            <a:endParaRPr lang="en-US" sz="1500" dirty="0"/>
          </a:p>
        </p:txBody>
      </p:sp>
      <p:sp>
        <p:nvSpPr>
          <p:cNvPr id="19" name="Text 17"/>
          <p:cNvSpPr/>
          <p:nvPr/>
        </p:nvSpPr>
        <p:spPr>
          <a:xfrm>
            <a:off x="4892040" y="2066544"/>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0" name="Text 18"/>
          <p:cNvSpPr txBox="1"/>
          <p:nvPr/>
        </p:nvSpPr>
        <p:spPr>
          <a:xfrm>
            <a:off x="5303520" y="1993392"/>
            <a:ext cx="3200400" cy="457200"/>
          </a:xfrm>
          <a:prstGeom prst="rect">
            <a:avLst/>
          </a:prstGeom>
          <a:noFill/>
          <a:ln/>
        </p:spPr>
        <p:txBody>
          <a:bodyPr wrap="square" lIns="0" tIns="0" rIns="0" bIns="0" rtlCol="0" anchor="ctr"/>
          <a:lstStyle/>
          <a:p>
            <a:pPr indent="0" marL="0">
              <a:buNone/>
            </a:pPr>
            <a:r>
              <a:rPr lang="en-US" sz="1400" dirty="0">
                <a:solidFill>
                  <a:schemeClr val="bg1"/>
                </a:solidFill>
              </a:rPr>
              <a:t>Tap at least 6 elements on the table</a:t>
            </a:r>
            <a:endParaRPr lang="en-US" sz="1400" dirty="0"/>
          </a:p>
        </p:txBody>
      </p:sp>
      <p:sp>
        <p:nvSpPr>
          <p:cNvPr id="21" name="Text 19"/>
          <p:cNvSpPr/>
          <p:nvPr/>
        </p:nvSpPr>
        <p:spPr>
          <a:xfrm>
            <a:off x="4892040" y="2633472"/>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2" name="Text 20"/>
          <p:cNvSpPr txBox="1"/>
          <p:nvPr/>
        </p:nvSpPr>
        <p:spPr>
          <a:xfrm>
            <a:off x="5303520" y="2560320"/>
            <a:ext cx="3200400" cy="457200"/>
          </a:xfrm>
          <a:prstGeom prst="rect">
            <a:avLst/>
          </a:prstGeom>
          <a:noFill/>
          <a:ln/>
        </p:spPr>
        <p:txBody>
          <a:bodyPr wrap="square" lIns="0" tIns="0" rIns="0" bIns="0" rtlCol="0" anchor="ctr"/>
          <a:lstStyle/>
          <a:p>
            <a:pPr indent="0" marL="0">
              <a:buNone/>
            </a:pPr>
            <a:r>
              <a:rPr lang="en-US" sz="1400" dirty="0">
                <a:solidFill>
                  <a:schemeClr val="bg1"/>
                </a:solidFill>
              </a:rPr>
              <a:t>Sort the elements by ion charge</a:t>
            </a:r>
            <a:endParaRPr lang="en-US" sz="1400" dirty="0"/>
          </a:p>
        </p:txBody>
      </p:sp>
      <p:sp>
        <p:nvSpPr>
          <p:cNvPr id="23" name="Text 21"/>
          <p:cNvSpPr/>
          <p:nvPr/>
        </p:nvSpPr>
        <p:spPr>
          <a:xfrm>
            <a:off x="4892040" y="3200400"/>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4" name="Text 22"/>
          <p:cNvSpPr txBox="1"/>
          <p:nvPr/>
        </p:nvSpPr>
        <p:spPr>
          <a:xfrm>
            <a:off x="5303520" y="3127248"/>
            <a:ext cx="3200400" cy="457200"/>
          </a:xfrm>
          <a:prstGeom prst="rect">
            <a:avLst/>
          </a:prstGeom>
          <a:noFill/>
          <a:ln/>
        </p:spPr>
        <p:txBody>
          <a:bodyPr wrap="square" lIns="0" tIns="0" rIns="0" bIns="0" rtlCol="0" anchor="ctr"/>
          <a:lstStyle/>
          <a:p>
            <a:pPr indent="0" marL="0">
              <a:buNone/>
            </a:pPr>
            <a:r>
              <a:rPr lang="en-US" sz="1400" dirty="0">
                <a:solidFill>
                  <a:schemeClr val="bg1"/>
                </a:solidFill>
              </a:rPr>
              <a:t>Answer the quick check correctly</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ection tile 4"/>
          <p:cNvSpPr/>
          <p:nvPr/>
        </p:nvSpPr>
        <p:spPr>
          <a:xfrm>
            <a:off x="457200" y="301752"/>
            <a:ext cx="749808" cy="841248"/>
          </a:xfrm>
          <a:prstGeom prst="roundRect">
            <a:avLst>
              <a:gd name="adj" fmla="val 12000"/>
            </a:avLst>
          </a:prstGeom>
          <a:solidFill>
            <a:srgbClr val="60A5FA">
              <a:alpha val="28000"/>
            </a:srgbClr>
          </a:solidFill>
          <a:ln w="19050">
            <a:solidFill>
              <a:srgbClr val="60A5FA"/>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4</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2400" b="1" dirty="0">
                <a:solidFill>
                  <a:schemeClr val="bg1"/>
                </a:solidFill>
              </a:rPr>
              <a:t>Al</a:t>
            </a:r>
            <a:pPr algn="ctr" indent="0" marL="0">
              <a:buNone/>
            </a:pPr>
            <a:r>
              <a:rPr lang="en-US" sz="2400" b="1" baseline="30000" dirty="0">
                <a:solidFill>
                  <a:schemeClr val="bg1"/>
                </a:solidFill>
              </a:rPr>
              <a:t>3+</a:t>
            </a:r>
            <a:endParaRPr lang="en-US" sz="2400" dirty="0"/>
          </a:p>
        </p:txBody>
      </p:sp>
      <p:sp>
        <p:nvSpPr>
          <p:cNvPr id="5" name="Text 3"/>
          <p:cNvSpPr/>
          <p:nvPr/>
        </p:nvSpPr>
        <p:spPr>
          <a:xfrm>
            <a:off x="1417320" y="310896"/>
            <a:ext cx="73152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Read</a:t>
            </a:r>
            <a:endParaRPr lang="en-US" sz="1100" dirty="0"/>
          </a:p>
        </p:txBody>
      </p:sp>
      <p:sp>
        <p:nvSpPr>
          <p:cNvPr id="6" name="Text 4"/>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4 of 9</a:t>
            </a:r>
            <a:endParaRPr lang="en-US" sz="1200" dirty="0"/>
          </a:p>
        </p:txBody>
      </p:sp>
      <p:sp>
        <p:nvSpPr>
          <p:cNvPr id="7"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The periodic table shows the pattern</a:t>
            </a:r>
            <a:endParaRPr lang="en-US" sz="2800" dirty="0"/>
          </a:p>
        </p:txBody>
      </p:sp>
      <p:sp>
        <p:nvSpPr>
          <p:cNvPr id="8" name="Text 6"/>
          <p:cNvSpPr txBox="1"/>
          <p:nvPr/>
        </p:nvSpPr>
        <p:spPr>
          <a:xfrm>
            <a:off x="457200" y="1325880"/>
            <a:ext cx="8229600" cy="868680"/>
          </a:xfrm>
          <a:prstGeom prst="rect">
            <a:avLst/>
          </a:prstGeom>
          <a:noFill/>
          <a:ln/>
        </p:spPr>
        <p:txBody>
          <a:bodyPr wrap="square" lIns="0" tIns="0" rIns="0" bIns="0" rtlCol="0" anchor="t"/>
          <a:lstStyle/>
          <a:p>
            <a:pPr indent="0" marL="0">
              <a:spcAft>
                <a:spcPts val="800"/>
              </a:spcAft>
              <a:buNone/>
            </a:pPr>
            <a:r>
              <a:rPr lang="en-US" sz="1500" dirty="0">
                <a:solidFill>
                  <a:schemeClr val="bg1"/>
                </a:solidFill>
              </a:rPr>
              <a:t>Elements in the same </a:t>
            </a:r>
            <a:pPr indent="0" marL="0">
              <a:spcAft>
                <a:spcPts val="800"/>
              </a:spcAft>
              <a:buNone/>
            </a:pPr>
            <a:r>
              <a:rPr lang="en-US" sz="1500" b="1" dirty="0">
                <a:solidFill>
                  <a:schemeClr val="accent1"/>
                </a:solidFill>
              </a:rPr>
              <a:t>group</a:t>
            </a:r>
            <a:pPr indent="0" marL="0">
              <a:spcAft>
                <a:spcPts val="800"/>
              </a:spcAft>
              <a:buNone/>
            </a:pPr>
            <a:r>
              <a:rPr lang="en-US" sz="1500" dirty="0">
                <a:solidFill>
                  <a:schemeClr val="bg1"/>
                </a:solidFill>
              </a:rPr>
              <a:t> have the same number of valence electrons, so they form ions with the same charge. Metals on the left lose electrons and become positive. Nonmetals on the right gain electrons and become negative.</a:t>
            </a:r>
            <a:endParaRPr lang="en-US" sz="15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2286000"/>
          <a:ext cx="8229600" cy="914400"/>
        </p:xfrm>
        <a:graphic>
          <a:graphicData uri="http://schemas.openxmlformats.org/drawingml/2006/table">
            <a:tbl>
              <a:tblPr/>
              <a:tblGrid>
                <a:gridCol w="2011680"/>
                <a:gridCol w="777240"/>
                <a:gridCol w="777240"/>
                <a:gridCol w="777240"/>
                <a:gridCol w="777240"/>
                <a:gridCol w="777240"/>
                <a:gridCol w="777240"/>
                <a:gridCol w="777240"/>
                <a:gridCol w="777240"/>
              </a:tblGrid>
              <a:tr h="365760">
                <a:tc>
                  <a:txBody>
                    <a:bodyPr/>
                    <a:lstStyle/>
                    <a:p>
                      <a:pPr indent="0" marL="0">
                        <a:buNone/>
                      </a:pPr>
                      <a:r>
                        <a:rPr lang="en-US" sz="1400" b="1" dirty="0">
                          <a:solidFill>
                            <a:schemeClr val="bg2"/>
                          </a:solidFill>
                        </a:rPr>
                        <a:t>Group</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c>
                  <a:txBody>
                    <a:bodyPr/>
                    <a:lstStyle/>
                    <a:p>
                      <a:pPr indent="0" marL="0">
                        <a:buNone/>
                      </a:pPr>
                      <a:r>
                        <a:rPr lang="en-US" sz="1400" b="1" dirty="0">
                          <a:solidFill>
                            <a:schemeClr val="bg2"/>
                          </a:solidFill>
                        </a:rPr>
                        <a:t>1</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c>
                  <a:txBody>
                    <a:bodyPr/>
                    <a:lstStyle/>
                    <a:p>
                      <a:pPr indent="0" marL="0">
                        <a:buNone/>
                      </a:pPr>
                      <a:r>
                        <a:rPr lang="en-US" sz="1400" b="1" dirty="0">
                          <a:solidFill>
                            <a:schemeClr val="bg2"/>
                          </a:solidFill>
                        </a:rPr>
                        <a:t>2</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c>
                  <a:txBody>
                    <a:bodyPr/>
                    <a:lstStyle/>
                    <a:p>
                      <a:pPr indent="0" marL="0">
                        <a:buNone/>
                      </a:pPr>
                      <a:r>
                        <a:rPr lang="en-US" sz="1400" b="1" dirty="0">
                          <a:solidFill>
                            <a:schemeClr val="bg2"/>
                          </a:solidFill>
                        </a:rPr>
                        <a:t>13</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c>
                  <a:txBody>
                    <a:bodyPr/>
                    <a:lstStyle/>
                    <a:p>
                      <a:pPr indent="0" marL="0">
                        <a:buNone/>
                      </a:pPr>
                      <a:r>
                        <a:rPr lang="en-US" sz="1400" b="1" dirty="0">
                          <a:solidFill>
                            <a:schemeClr val="bg2"/>
                          </a:solidFill>
                        </a:rPr>
                        <a:t>14</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c>
                  <a:txBody>
                    <a:bodyPr/>
                    <a:lstStyle/>
                    <a:p>
                      <a:pPr indent="0" marL="0">
                        <a:buNone/>
                      </a:pPr>
                      <a:r>
                        <a:rPr lang="en-US" sz="1400" b="1" dirty="0">
                          <a:solidFill>
                            <a:schemeClr val="bg2"/>
                          </a:solidFill>
                        </a:rPr>
                        <a:t>15</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c>
                  <a:txBody>
                    <a:bodyPr/>
                    <a:lstStyle/>
                    <a:p>
                      <a:pPr indent="0" marL="0">
                        <a:buNone/>
                      </a:pPr>
                      <a:r>
                        <a:rPr lang="en-US" sz="1400" b="1" dirty="0">
                          <a:solidFill>
                            <a:schemeClr val="bg2"/>
                          </a:solidFill>
                        </a:rPr>
                        <a:t>16</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c>
                  <a:txBody>
                    <a:bodyPr/>
                    <a:lstStyle/>
                    <a:p>
                      <a:pPr indent="0" marL="0">
                        <a:buNone/>
                      </a:pPr>
                      <a:r>
                        <a:rPr lang="en-US" sz="1400" b="1" dirty="0">
                          <a:solidFill>
                            <a:schemeClr val="bg2"/>
                          </a:solidFill>
                        </a:rPr>
                        <a:t>17</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c>
                  <a:txBody>
                    <a:bodyPr/>
                    <a:lstStyle/>
                    <a:p>
                      <a:pPr indent="0" marL="0">
                        <a:buNone/>
                      </a:pPr>
                      <a:r>
                        <a:rPr lang="en-US" sz="1400" b="1" dirty="0">
                          <a:solidFill>
                            <a:schemeClr val="bg2"/>
                          </a:solidFill>
                        </a:rPr>
                        <a:t>18</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r>
              <a:tr h="365760">
                <a:tc>
                  <a:txBody>
                    <a:bodyPr/>
                    <a:lstStyle/>
                    <a:p>
                      <a:pPr indent="0" marL="0">
                        <a:buNone/>
                      </a:pPr>
                      <a:r>
                        <a:rPr lang="en-US" sz="1400" dirty="0">
                          <a:solidFill>
                            <a:schemeClr val="bg1"/>
                          </a:solidFill>
                        </a:rPr>
                        <a:t>Valence electrons</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1</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2</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3</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4</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5</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6</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7</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8</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r>
              <a:tr h="365760">
                <a:tc>
                  <a:txBody>
                    <a:bodyPr/>
                    <a:lstStyle/>
                    <a:p>
                      <a:pPr indent="0" marL="0">
                        <a:buNone/>
                      </a:pPr>
                      <a:r>
                        <a:rPr lang="en-US" sz="1400" b="1" dirty="0">
                          <a:solidFill>
                            <a:schemeClr val="bg1"/>
                          </a:solidFill>
                        </a:rPr>
                        <a:t>Ion charge</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b="1" dirty="0">
                          <a:solidFill>
                            <a:schemeClr val="accent3"/>
                          </a:solidFill>
                        </a:rPr>
                        <a:t>1+</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b="1" dirty="0">
                          <a:solidFill>
                            <a:schemeClr val="accent3"/>
                          </a:solidFill>
                        </a:rPr>
                        <a:t>2+</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b="1" dirty="0">
                          <a:solidFill>
                            <a:schemeClr val="accent3"/>
                          </a:solidFill>
                        </a:rPr>
                        <a:t>3+</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b="1" dirty="0">
                          <a:solidFill>
                            <a:schemeClr val="bg2"/>
                          </a:solidFill>
                        </a:rPr>
                        <a:t>shares*</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b="1" dirty="0">
                          <a:solidFill>
                            <a:schemeClr val="accent1"/>
                          </a:solidFill>
                        </a:rPr>
                        <a:t>3−</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b="1" dirty="0">
                          <a:solidFill>
                            <a:schemeClr val="accent1"/>
                          </a:solidFill>
                        </a:rPr>
                        <a:t>2−</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b="1" dirty="0">
                          <a:solidFill>
                            <a:schemeClr val="accent1"/>
                          </a:solidFill>
                        </a:rPr>
                        <a:t>1−</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b="1" dirty="0">
                          <a:solidFill>
                            <a:schemeClr val="bg2"/>
                          </a:solidFill>
                        </a:rPr>
                        <a:t>none</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r>
            </a:tbl>
          </a:graphicData>
        </a:graphic>
      </p:graphicFrame>
      <p:sp>
        <p:nvSpPr>
          <p:cNvPr id="10" name="Text 7"/>
          <p:cNvSpPr txBox="1"/>
          <p:nvPr/>
        </p:nvSpPr>
        <p:spPr>
          <a:xfrm>
            <a:off x="457200" y="3639312"/>
            <a:ext cx="8229600" cy="274320"/>
          </a:xfrm>
          <a:prstGeom prst="rect">
            <a:avLst/>
          </a:prstGeom>
          <a:noFill/>
          <a:ln/>
        </p:spPr>
        <p:txBody>
          <a:bodyPr wrap="square" lIns="0" tIns="0" rIns="0" bIns="0" rtlCol="0" anchor="t"/>
          <a:lstStyle/>
          <a:p>
            <a:pPr indent="0" marL="0">
              <a:buNone/>
            </a:pPr>
            <a:r>
              <a:rPr lang="en-US" sz="1200" dirty="0">
                <a:solidFill>
                  <a:schemeClr val="bg2"/>
                </a:solidFill>
              </a:rPr>
              <a:t>*Carbon and silicon in group 14 (and boron in group 13) usually share electrons instead of forming simple ions.</a:t>
            </a:r>
            <a:endParaRPr lang="en-US" sz="1200" dirty="0"/>
          </a:p>
        </p:txBody>
      </p:sp>
      <p:sp>
        <p:nvSpPr>
          <p:cNvPr id="11" name="Text 8"/>
          <p:cNvSpPr txBox="1"/>
          <p:nvPr/>
        </p:nvSpPr>
        <p:spPr>
          <a:xfrm>
            <a:off x="457200" y="4041648"/>
            <a:ext cx="8229600" cy="457200"/>
          </a:xfrm>
          <a:prstGeom prst="rect">
            <a:avLst/>
          </a:prstGeom>
          <a:noFill/>
          <a:ln/>
        </p:spPr>
        <p:txBody>
          <a:bodyPr wrap="square" lIns="0" tIns="0" rIns="0" bIns="0" rtlCol="0" anchor="ctr"/>
          <a:lstStyle/>
          <a:p>
            <a:pPr indent="0" marL="0">
              <a:buNone/>
            </a:pPr>
            <a:r>
              <a:rPr lang="en-US" sz="1500" dirty="0">
                <a:solidFill>
                  <a:schemeClr val="bg1"/>
                </a:solidFill>
              </a:rPr>
              <a:t>The number tells you how many electrons were lost (+) or gained (−). </a:t>
            </a:r>
            <a:pPr indent="0" marL="0">
              <a:buNone/>
            </a:pPr>
            <a:r>
              <a:rPr lang="en-US" sz="1500" b="1" dirty="0">
                <a:solidFill>
                  <a:schemeClr val="bg1"/>
                </a:solidFill>
              </a:rPr>
              <a:t>Ca</a:t>
            </a:r>
            <a:pPr indent="0" marL="0">
              <a:buNone/>
            </a:pPr>
            <a:r>
              <a:rPr lang="en-US" sz="1500" b="1" baseline="30000" dirty="0">
                <a:solidFill>
                  <a:schemeClr val="bg1"/>
                </a:solidFill>
              </a:rPr>
              <a:t>2+</a:t>
            </a:r>
            <a:pPr indent="0" marL="0">
              <a:buNone/>
            </a:pPr>
            <a:r>
              <a:rPr lang="en-US" sz="1500" dirty="0">
                <a:solidFill>
                  <a:schemeClr val="bg1"/>
                </a:solidFill>
              </a:rPr>
              <a:t> lost 2. </a:t>
            </a:r>
            <a:pPr indent="0" marL="0">
              <a:buNone/>
            </a:pPr>
            <a:r>
              <a:rPr lang="en-US" sz="1500" b="1" dirty="0">
                <a:solidFill>
                  <a:schemeClr val="bg1"/>
                </a:solidFill>
              </a:rPr>
              <a:t>N</a:t>
            </a:r>
            <a:pPr indent="0" marL="0">
              <a:buNone/>
            </a:pPr>
            <a:r>
              <a:rPr lang="en-US" sz="1500" b="1" baseline="30000" dirty="0">
                <a:solidFill>
                  <a:schemeClr val="bg1"/>
                </a:solidFill>
              </a:rPr>
              <a:t>3−</a:t>
            </a:r>
            <a:pPr indent="0" marL="0">
              <a:buNone/>
            </a:pPr>
            <a:r>
              <a:rPr lang="en-US" sz="1500" dirty="0">
                <a:solidFill>
                  <a:schemeClr val="bg1"/>
                </a:solidFill>
              </a:rPr>
              <a:t> gained 3.</a:t>
            </a:r>
            <a:endParaRPr lang="en-US" sz="15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ection tile 4"/>
          <p:cNvSpPr/>
          <p:nvPr/>
        </p:nvSpPr>
        <p:spPr>
          <a:xfrm>
            <a:off x="457200" y="301752"/>
            <a:ext cx="749808" cy="841248"/>
          </a:xfrm>
          <a:prstGeom prst="roundRect">
            <a:avLst>
              <a:gd name="adj" fmla="val 12000"/>
            </a:avLst>
          </a:prstGeom>
          <a:solidFill>
            <a:srgbClr val="60A5FA">
              <a:alpha val="28000"/>
            </a:srgbClr>
          </a:solidFill>
          <a:ln w="19050">
            <a:solidFill>
              <a:srgbClr val="60A5FA"/>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4</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2400" b="1" dirty="0">
                <a:solidFill>
                  <a:schemeClr val="bg1"/>
                </a:solidFill>
              </a:rPr>
              <a:t>Al</a:t>
            </a:r>
            <a:pPr algn="ctr" indent="0" marL="0">
              <a:buNone/>
            </a:pPr>
            <a:r>
              <a:rPr lang="en-US" sz="2400" b="1" baseline="30000" dirty="0">
                <a:solidFill>
                  <a:schemeClr val="bg1"/>
                </a:solidFill>
              </a:rPr>
              <a:t>3+</a:t>
            </a:r>
            <a:endParaRPr lang="en-US" sz="2400" dirty="0"/>
          </a:p>
        </p:txBody>
      </p:sp>
      <p:sp>
        <p:nvSpPr>
          <p:cNvPr id="5" name="Text 3"/>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6" name="Text 4"/>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4 of 9</a:t>
            </a:r>
            <a:endParaRPr lang="en-US" sz="1200" dirty="0"/>
          </a:p>
        </p:txBody>
      </p:sp>
      <p:sp>
        <p:nvSpPr>
          <p:cNvPr id="7"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Explore the pattern</a:t>
            </a:r>
            <a:endParaRPr lang="en-US" sz="2800" dirty="0"/>
          </a:p>
        </p:txBody>
      </p:sp>
      <p:sp>
        <p:nvSpPr>
          <p:cNvPr id="8" name="Text 6"/>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In the lesson, tap an element to see its atom and the ion it forms.</a:t>
            </a:r>
            <a:endParaRPr lang="en-US" sz="1300" dirty="0"/>
          </a:p>
        </p:txBody>
      </p:sp>
      <p:sp>
        <p:nvSpPr>
          <p:cNvPr id="9" name="Calcium"/>
          <p:cNvSpPr/>
          <p:nvPr/>
        </p:nvSpPr>
        <p:spPr>
          <a:xfrm>
            <a:off x="457200" y="1691640"/>
            <a:ext cx="4023360" cy="2926080"/>
          </a:xfrm>
          <a:prstGeom prst="roundRect">
            <a:avLst>
              <a:gd name="adj" fmla="val 3125"/>
            </a:avLst>
          </a:prstGeom>
          <a:solidFill>
            <a:schemeClr val="tx2"/>
          </a:solidFill>
          <a:ln w="9525">
            <a:solidFill>
              <a:schemeClr val="bg2">
                <a:alpha val="30000"/>
              </a:schemeClr>
            </a:solidFill>
            <a:prstDash val="solid"/>
          </a:ln>
        </p:spPr>
      </p:sp>
      <p:sp>
        <p:nvSpPr>
          <p:cNvPr id="10" name="Tile Ca"/>
          <p:cNvSpPr/>
          <p:nvPr/>
        </p:nvSpPr>
        <p:spPr>
          <a:xfrm>
            <a:off x="640080" y="1828800"/>
            <a:ext cx="566928" cy="621792"/>
          </a:xfrm>
          <a:prstGeom prst="roundRect">
            <a:avLst>
              <a:gd name="adj" fmla="val 12000"/>
            </a:avLst>
          </a:prstGeom>
          <a:solidFill>
            <a:srgbClr val="FFCB5C">
              <a:alpha val="30000"/>
            </a:srgbClr>
          </a:solidFill>
          <a:ln w="19050">
            <a:solidFill>
              <a:srgbClr val="FFCB5C"/>
            </a:solidFill>
            <a:prstDash val="solid"/>
          </a:ln>
        </p:spPr>
      </p:sp>
      <p:sp>
        <p:nvSpPr>
          <p:cNvPr id="11" name="Text 9"/>
          <p:cNvSpPr txBox="1"/>
          <p:nvPr/>
        </p:nvSpPr>
        <p:spPr>
          <a:xfrm>
            <a:off x="685434" y="1859890"/>
            <a:ext cx="340157" cy="149230"/>
          </a:xfrm>
          <a:prstGeom prst="rect">
            <a:avLst/>
          </a:prstGeom>
          <a:noFill/>
          <a:ln/>
        </p:spPr>
        <p:txBody>
          <a:bodyPr wrap="square" lIns="0" tIns="0" rIns="0" bIns="0" rtlCol="0" anchor="t"/>
          <a:lstStyle/>
          <a:p>
            <a:pPr indent="0" marL="0">
              <a:buNone/>
            </a:pPr>
            <a:r>
              <a:rPr lang="en-US" sz="900" dirty="0">
                <a:solidFill>
                  <a:schemeClr val="bg2"/>
                </a:solidFill>
              </a:rPr>
              <a:t>20</a:t>
            </a:r>
            <a:endParaRPr lang="en-US" sz="900" dirty="0"/>
          </a:p>
        </p:txBody>
      </p:sp>
      <p:sp>
        <p:nvSpPr>
          <p:cNvPr id="12" name="Text 10"/>
          <p:cNvSpPr txBox="1"/>
          <p:nvPr/>
        </p:nvSpPr>
        <p:spPr>
          <a:xfrm>
            <a:off x="640080" y="1928287"/>
            <a:ext cx="566928" cy="497434"/>
          </a:xfrm>
          <a:prstGeom prst="rect">
            <a:avLst/>
          </a:prstGeom>
          <a:noFill/>
          <a:ln/>
        </p:spPr>
        <p:txBody>
          <a:bodyPr wrap="square" lIns="0" tIns="0" rIns="0" bIns="0" rtlCol="0" anchor="ctr"/>
          <a:lstStyle/>
          <a:p>
            <a:pPr algn="ctr" indent="0" marL="0">
              <a:buNone/>
            </a:pPr>
            <a:r>
              <a:rPr lang="en-US" sz="2300" b="1" dirty="0">
                <a:solidFill>
                  <a:schemeClr val="bg1"/>
                </a:solidFill>
              </a:rPr>
              <a:t>Ca</a:t>
            </a:r>
            <a:endParaRPr lang="en-US" sz="2300" dirty="0"/>
          </a:p>
        </p:txBody>
      </p:sp>
      <p:sp>
        <p:nvSpPr>
          <p:cNvPr id="13" name="Text 11"/>
          <p:cNvSpPr txBox="1"/>
          <p:nvPr/>
        </p:nvSpPr>
        <p:spPr>
          <a:xfrm>
            <a:off x="1325880" y="1874520"/>
            <a:ext cx="3017520" cy="292608"/>
          </a:xfrm>
          <a:prstGeom prst="rect">
            <a:avLst/>
          </a:prstGeom>
          <a:noFill/>
          <a:ln/>
        </p:spPr>
        <p:txBody>
          <a:bodyPr wrap="square" lIns="0" tIns="0" rIns="0" bIns="0" rtlCol="0" anchor="t"/>
          <a:lstStyle/>
          <a:p>
            <a:pPr indent="0" marL="0">
              <a:buNone/>
            </a:pPr>
            <a:r>
              <a:rPr lang="en-US" sz="1500" b="1" dirty="0">
                <a:solidFill>
                  <a:schemeClr val="bg1"/>
                </a:solidFill>
              </a:rPr>
              <a:t>Calcium, group 2</a:t>
            </a:r>
            <a:endParaRPr lang="en-US" sz="1500" dirty="0"/>
          </a:p>
        </p:txBody>
      </p:sp>
      <p:sp>
        <p:nvSpPr>
          <p:cNvPr id="14" name="Text 12"/>
          <p:cNvSpPr txBox="1"/>
          <p:nvPr/>
        </p:nvSpPr>
        <p:spPr>
          <a:xfrm>
            <a:off x="1325880" y="2176272"/>
            <a:ext cx="3017520" cy="256032"/>
          </a:xfrm>
          <a:prstGeom prst="rect">
            <a:avLst/>
          </a:prstGeom>
          <a:noFill/>
          <a:ln/>
        </p:spPr>
        <p:txBody>
          <a:bodyPr wrap="square" lIns="0" tIns="0" rIns="0" bIns="0" rtlCol="0" anchor="t"/>
          <a:lstStyle/>
          <a:p>
            <a:pPr indent="0" marL="0">
              <a:buNone/>
            </a:pPr>
            <a:r>
              <a:rPr lang="en-US" sz="1200" dirty="0">
                <a:solidFill>
                  <a:schemeClr val="bg2"/>
                </a:solidFill>
              </a:rPr>
              <a:t>2, 8, 8, 2</a:t>
            </a:r>
            <a:endParaRPr lang="en-US" sz="1200" dirty="0"/>
          </a:p>
        </p:txBody>
      </p:sp>
      <p:sp>
        <p:nvSpPr>
          <p:cNvPr id="15" name="Calcium: shell 1"/>
          <p:cNvSpPr/>
          <p:nvPr/>
        </p:nvSpPr>
        <p:spPr>
          <a:xfrm>
            <a:off x="1259961" y="3225921"/>
            <a:ext cx="406157" cy="406157"/>
          </a:xfrm>
          <a:prstGeom prst="ellipse">
            <a:avLst/>
          </a:prstGeom>
          <a:solidFill>
            <a:schemeClr val="bg1">
              <a:alpha val="0"/>
            </a:schemeClr>
          </a:solidFill>
          <a:ln w="15875">
            <a:solidFill>
              <a:schemeClr val="bg2">
                <a:alpha val="55000"/>
              </a:schemeClr>
            </a:solidFill>
            <a:prstDash val="solid"/>
          </a:ln>
        </p:spPr>
      </p:sp>
      <p:sp>
        <p:nvSpPr>
          <p:cNvPr id="16" name="Calcium: shell 2"/>
          <p:cNvSpPr/>
          <p:nvPr/>
        </p:nvSpPr>
        <p:spPr>
          <a:xfrm>
            <a:off x="1133037" y="3098997"/>
            <a:ext cx="660006" cy="660006"/>
          </a:xfrm>
          <a:prstGeom prst="ellipse">
            <a:avLst/>
          </a:prstGeom>
          <a:solidFill>
            <a:schemeClr val="bg1">
              <a:alpha val="0"/>
            </a:schemeClr>
          </a:solidFill>
          <a:ln w="15875">
            <a:solidFill>
              <a:schemeClr val="bg2">
                <a:alpha val="55000"/>
              </a:schemeClr>
            </a:solidFill>
            <a:prstDash val="solid"/>
          </a:ln>
        </p:spPr>
      </p:sp>
      <p:sp>
        <p:nvSpPr>
          <p:cNvPr id="17" name="Calcium: shell 3"/>
          <p:cNvSpPr/>
          <p:nvPr/>
        </p:nvSpPr>
        <p:spPr>
          <a:xfrm>
            <a:off x="1014575" y="2980535"/>
            <a:ext cx="896931" cy="896931"/>
          </a:xfrm>
          <a:prstGeom prst="ellipse">
            <a:avLst/>
          </a:prstGeom>
          <a:solidFill>
            <a:schemeClr val="bg1">
              <a:alpha val="0"/>
            </a:schemeClr>
          </a:solidFill>
          <a:ln w="15875">
            <a:solidFill>
              <a:schemeClr val="bg2">
                <a:alpha val="55000"/>
              </a:schemeClr>
            </a:solidFill>
            <a:prstDash val="solid"/>
          </a:ln>
        </p:spPr>
      </p:sp>
      <p:sp>
        <p:nvSpPr>
          <p:cNvPr id="18" name="Calcium: shell 4"/>
          <p:cNvSpPr/>
          <p:nvPr/>
        </p:nvSpPr>
        <p:spPr>
          <a:xfrm>
            <a:off x="896112" y="2862072"/>
            <a:ext cx="1133856" cy="1133856"/>
          </a:xfrm>
          <a:prstGeom prst="ellipse">
            <a:avLst/>
          </a:prstGeom>
          <a:solidFill>
            <a:schemeClr val="bg1">
              <a:alpha val="0"/>
            </a:schemeClr>
          </a:solidFill>
          <a:ln w="15875">
            <a:solidFill>
              <a:schemeClr val="accent2">
                <a:alpha val="80000"/>
              </a:schemeClr>
            </a:solidFill>
            <a:prstDash val="solid"/>
          </a:ln>
        </p:spPr>
      </p:sp>
      <p:sp>
        <p:nvSpPr>
          <p:cNvPr id="19" name="Calcium: nucleus"/>
          <p:cNvSpPr/>
          <p:nvPr/>
        </p:nvSpPr>
        <p:spPr>
          <a:xfrm>
            <a:off x="1331885" y="3297845"/>
            <a:ext cx="262310" cy="262310"/>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20" name="Calcium: electron, shell 1"/>
          <p:cNvSpPr/>
          <p:nvPr/>
        </p:nvSpPr>
        <p:spPr>
          <a:xfrm>
            <a:off x="1431309" y="3194190"/>
            <a:ext cx="63462" cy="63462"/>
          </a:xfrm>
          <a:prstGeom prst="ellipse">
            <a:avLst/>
          </a:prstGeom>
          <a:solidFill>
            <a:schemeClr val="accent1"/>
          </a:solidFill>
          <a:ln w="3175">
            <a:solidFill>
              <a:schemeClr val="accent1"/>
            </a:solidFill>
            <a:prstDash val="solid"/>
          </a:ln>
        </p:spPr>
      </p:sp>
      <p:sp>
        <p:nvSpPr>
          <p:cNvPr id="21" name="Calcium: electron, shell 1"/>
          <p:cNvSpPr/>
          <p:nvPr/>
        </p:nvSpPr>
        <p:spPr>
          <a:xfrm>
            <a:off x="1634388" y="3397269"/>
            <a:ext cx="63462" cy="63462"/>
          </a:xfrm>
          <a:prstGeom prst="ellipse">
            <a:avLst/>
          </a:prstGeom>
          <a:solidFill>
            <a:schemeClr val="accent1"/>
          </a:solidFill>
          <a:ln w="3175">
            <a:solidFill>
              <a:schemeClr val="accent1"/>
            </a:solidFill>
            <a:prstDash val="solid"/>
          </a:ln>
        </p:spPr>
      </p:sp>
      <p:sp>
        <p:nvSpPr>
          <p:cNvPr id="22" name="Calcium: electron, shell 2"/>
          <p:cNvSpPr/>
          <p:nvPr/>
        </p:nvSpPr>
        <p:spPr>
          <a:xfrm>
            <a:off x="1388697" y="3070029"/>
            <a:ext cx="63462" cy="63462"/>
          </a:xfrm>
          <a:prstGeom prst="ellipse">
            <a:avLst/>
          </a:prstGeom>
          <a:solidFill>
            <a:schemeClr val="accent1"/>
          </a:solidFill>
          <a:ln w="3175">
            <a:solidFill>
              <a:schemeClr val="accent1"/>
            </a:solidFill>
            <a:prstDash val="solid"/>
          </a:ln>
        </p:spPr>
      </p:sp>
      <p:sp>
        <p:nvSpPr>
          <p:cNvPr id="23" name="Calcium: electron, shell 2"/>
          <p:cNvSpPr/>
          <p:nvPr/>
        </p:nvSpPr>
        <p:spPr>
          <a:xfrm>
            <a:off x="1473921" y="3070029"/>
            <a:ext cx="63462" cy="63462"/>
          </a:xfrm>
          <a:prstGeom prst="ellipse">
            <a:avLst/>
          </a:prstGeom>
          <a:solidFill>
            <a:schemeClr val="accent1"/>
          </a:solidFill>
          <a:ln w="3175">
            <a:solidFill>
              <a:schemeClr val="accent1"/>
            </a:solidFill>
            <a:prstDash val="solid"/>
          </a:ln>
        </p:spPr>
      </p:sp>
      <p:sp>
        <p:nvSpPr>
          <p:cNvPr id="24" name="Calcium: electron, shell 2"/>
          <p:cNvSpPr/>
          <p:nvPr/>
        </p:nvSpPr>
        <p:spPr>
          <a:xfrm>
            <a:off x="1758549" y="3354657"/>
            <a:ext cx="63462" cy="63462"/>
          </a:xfrm>
          <a:prstGeom prst="ellipse">
            <a:avLst/>
          </a:prstGeom>
          <a:solidFill>
            <a:schemeClr val="accent1"/>
          </a:solidFill>
          <a:ln w="3175">
            <a:solidFill>
              <a:schemeClr val="accent1"/>
            </a:solidFill>
            <a:prstDash val="solid"/>
          </a:ln>
        </p:spPr>
      </p:sp>
      <p:sp>
        <p:nvSpPr>
          <p:cNvPr id="25" name="Calcium: electron, shell 2"/>
          <p:cNvSpPr/>
          <p:nvPr/>
        </p:nvSpPr>
        <p:spPr>
          <a:xfrm>
            <a:off x="1758549" y="3439881"/>
            <a:ext cx="63462" cy="63462"/>
          </a:xfrm>
          <a:prstGeom prst="ellipse">
            <a:avLst/>
          </a:prstGeom>
          <a:solidFill>
            <a:schemeClr val="accent1"/>
          </a:solidFill>
          <a:ln w="3175">
            <a:solidFill>
              <a:schemeClr val="accent1"/>
            </a:solidFill>
            <a:prstDash val="solid"/>
          </a:ln>
        </p:spPr>
      </p:sp>
      <p:sp>
        <p:nvSpPr>
          <p:cNvPr id="26" name="Calcium: electron, shell 2"/>
          <p:cNvSpPr/>
          <p:nvPr/>
        </p:nvSpPr>
        <p:spPr>
          <a:xfrm>
            <a:off x="1473921" y="3724509"/>
            <a:ext cx="63462" cy="63462"/>
          </a:xfrm>
          <a:prstGeom prst="ellipse">
            <a:avLst/>
          </a:prstGeom>
          <a:solidFill>
            <a:schemeClr val="accent1"/>
          </a:solidFill>
          <a:ln w="3175">
            <a:solidFill>
              <a:schemeClr val="accent1"/>
            </a:solidFill>
            <a:prstDash val="solid"/>
          </a:ln>
        </p:spPr>
      </p:sp>
      <p:sp>
        <p:nvSpPr>
          <p:cNvPr id="27" name="Calcium: electron, shell 2"/>
          <p:cNvSpPr/>
          <p:nvPr/>
        </p:nvSpPr>
        <p:spPr>
          <a:xfrm>
            <a:off x="1388697" y="3724509"/>
            <a:ext cx="63462" cy="63462"/>
          </a:xfrm>
          <a:prstGeom prst="ellipse">
            <a:avLst/>
          </a:prstGeom>
          <a:solidFill>
            <a:schemeClr val="accent1"/>
          </a:solidFill>
          <a:ln w="3175">
            <a:solidFill>
              <a:schemeClr val="accent1"/>
            </a:solidFill>
            <a:prstDash val="solid"/>
          </a:ln>
        </p:spPr>
      </p:sp>
      <p:sp>
        <p:nvSpPr>
          <p:cNvPr id="28" name="Calcium: electron, shell 2"/>
          <p:cNvSpPr/>
          <p:nvPr/>
        </p:nvSpPr>
        <p:spPr>
          <a:xfrm>
            <a:off x="1104069" y="3439881"/>
            <a:ext cx="63462" cy="63462"/>
          </a:xfrm>
          <a:prstGeom prst="ellipse">
            <a:avLst/>
          </a:prstGeom>
          <a:solidFill>
            <a:schemeClr val="accent1"/>
          </a:solidFill>
          <a:ln w="3175">
            <a:solidFill>
              <a:schemeClr val="accent1"/>
            </a:solidFill>
            <a:prstDash val="solid"/>
          </a:ln>
        </p:spPr>
      </p:sp>
      <p:sp>
        <p:nvSpPr>
          <p:cNvPr id="29" name="Calcium: electron, shell 2"/>
          <p:cNvSpPr/>
          <p:nvPr/>
        </p:nvSpPr>
        <p:spPr>
          <a:xfrm>
            <a:off x="1104069" y="3354657"/>
            <a:ext cx="63462" cy="63462"/>
          </a:xfrm>
          <a:prstGeom prst="ellipse">
            <a:avLst/>
          </a:prstGeom>
          <a:solidFill>
            <a:schemeClr val="accent1"/>
          </a:solidFill>
          <a:ln w="3175">
            <a:solidFill>
              <a:schemeClr val="accent1"/>
            </a:solidFill>
            <a:prstDash val="solid"/>
          </a:ln>
        </p:spPr>
      </p:sp>
      <p:sp>
        <p:nvSpPr>
          <p:cNvPr id="30" name="Calcium: electron, shell 3"/>
          <p:cNvSpPr/>
          <p:nvPr/>
        </p:nvSpPr>
        <p:spPr>
          <a:xfrm>
            <a:off x="1388642" y="2950838"/>
            <a:ext cx="63462" cy="63462"/>
          </a:xfrm>
          <a:prstGeom prst="ellipse">
            <a:avLst/>
          </a:prstGeom>
          <a:solidFill>
            <a:schemeClr val="accent1"/>
          </a:solidFill>
          <a:ln w="3175">
            <a:solidFill>
              <a:schemeClr val="accent1"/>
            </a:solidFill>
            <a:prstDash val="solid"/>
          </a:ln>
        </p:spPr>
      </p:sp>
      <p:sp>
        <p:nvSpPr>
          <p:cNvPr id="31" name="Calcium: electron, shell 3"/>
          <p:cNvSpPr/>
          <p:nvPr/>
        </p:nvSpPr>
        <p:spPr>
          <a:xfrm>
            <a:off x="1473975" y="2950838"/>
            <a:ext cx="63462" cy="63462"/>
          </a:xfrm>
          <a:prstGeom prst="ellipse">
            <a:avLst/>
          </a:prstGeom>
          <a:solidFill>
            <a:schemeClr val="accent1"/>
          </a:solidFill>
          <a:ln w="3175">
            <a:solidFill>
              <a:schemeClr val="accent1"/>
            </a:solidFill>
            <a:prstDash val="solid"/>
          </a:ln>
        </p:spPr>
      </p:sp>
      <p:sp>
        <p:nvSpPr>
          <p:cNvPr id="32" name="Calcium: electron, shell 3"/>
          <p:cNvSpPr/>
          <p:nvPr/>
        </p:nvSpPr>
        <p:spPr>
          <a:xfrm>
            <a:off x="1877740" y="3354602"/>
            <a:ext cx="63462" cy="63462"/>
          </a:xfrm>
          <a:prstGeom prst="ellipse">
            <a:avLst/>
          </a:prstGeom>
          <a:solidFill>
            <a:schemeClr val="accent1"/>
          </a:solidFill>
          <a:ln w="3175">
            <a:solidFill>
              <a:schemeClr val="accent1"/>
            </a:solidFill>
            <a:prstDash val="solid"/>
          </a:ln>
        </p:spPr>
      </p:sp>
      <p:sp>
        <p:nvSpPr>
          <p:cNvPr id="33" name="Calcium: electron, shell 3"/>
          <p:cNvSpPr/>
          <p:nvPr/>
        </p:nvSpPr>
        <p:spPr>
          <a:xfrm>
            <a:off x="1877740" y="3439935"/>
            <a:ext cx="63462" cy="63462"/>
          </a:xfrm>
          <a:prstGeom prst="ellipse">
            <a:avLst/>
          </a:prstGeom>
          <a:solidFill>
            <a:schemeClr val="accent1"/>
          </a:solidFill>
          <a:ln w="3175">
            <a:solidFill>
              <a:schemeClr val="accent1"/>
            </a:solidFill>
            <a:prstDash val="solid"/>
          </a:ln>
        </p:spPr>
      </p:sp>
      <p:sp>
        <p:nvSpPr>
          <p:cNvPr id="34" name="Calcium: electron, shell 3"/>
          <p:cNvSpPr/>
          <p:nvPr/>
        </p:nvSpPr>
        <p:spPr>
          <a:xfrm>
            <a:off x="1473975" y="3843700"/>
            <a:ext cx="63462" cy="63462"/>
          </a:xfrm>
          <a:prstGeom prst="ellipse">
            <a:avLst/>
          </a:prstGeom>
          <a:solidFill>
            <a:schemeClr val="accent1"/>
          </a:solidFill>
          <a:ln w="3175">
            <a:solidFill>
              <a:schemeClr val="accent1"/>
            </a:solidFill>
            <a:prstDash val="solid"/>
          </a:ln>
        </p:spPr>
      </p:sp>
      <p:sp>
        <p:nvSpPr>
          <p:cNvPr id="35" name="Calcium: electron, shell 3"/>
          <p:cNvSpPr/>
          <p:nvPr/>
        </p:nvSpPr>
        <p:spPr>
          <a:xfrm>
            <a:off x="1388642" y="3843700"/>
            <a:ext cx="63462" cy="63462"/>
          </a:xfrm>
          <a:prstGeom prst="ellipse">
            <a:avLst/>
          </a:prstGeom>
          <a:solidFill>
            <a:schemeClr val="accent1"/>
          </a:solidFill>
          <a:ln w="3175">
            <a:solidFill>
              <a:schemeClr val="accent1"/>
            </a:solidFill>
            <a:prstDash val="solid"/>
          </a:ln>
        </p:spPr>
      </p:sp>
      <p:sp>
        <p:nvSpPr>
          <p:cNvPr id="36" name="Calcium: electron, shell 3"/>
          <p:cNvSpPr/>
          <p:nvPr/>
        </p:nvSpPr>
        <p:spPr>
          <a:xfrm>
            <a:off x="984878" y="3439935"/>
            <a:ext cx="63462" cy="63462"/>
          </a:xfrm>
          <a:prstGeom prst="ellipse">
            <a:avLst/>
          </a:prstGeom>
          <a:solidFill>
            <a:schemeClr val="accent1"/>
          </a:solidFill>
          <a:ln w="3175">
            <a:solidFill>
              <a:schemeClr val="accent1"/>
            </a:solidFill>
            <a:prstDash val="solid"/>
          </a:ln>
        </p:spPr>
      </p:sp>
      <p:sp>
        <p:nvSpPr>
          <p:cNvPr id="37" name="Calcium: electron, shell 3"/>
          <p:cNvSpPr/>
          <p:nvPr/>
        </p:nvSpPr>
        <p:spPr>
          <a:xfrm>
            <a:off x="984878" y="3354602"/>
            <a:ext cx="63462" cy="63462"/>
          </a:xfrm>
          <a:prstGeom prst="ellipse">
            <a:avLst/>
          </a:prstGeom>
          <a:solidFill>
            <a:schemeClr val="accent1"/>
          </a:solidFill>
          <a:ln w="3175">
            <a:solidFill>
              <a:schemeClr val="accent1"/>
            </a:solidFill>
            <a:prstDash val="solid"/>
          </a:ln>
        </p:spPr>
      </p:sp>
      <p:sp>
        <p:nvSpPr>
          <p:cNvPr id="38" name="Calcium: electron, shell 4"/>
          <p:cNvSpPr/>
          <p:nvPr/>
        </p:nvSpPr>
        <p:spPr>
          <a:xfrm>
            <a:off x="1431309" y="2830341"/>
            <a:ext cx="63462" cy="63462"/>
          </a:xfrm>
          <a:prstGeom prst="ellipse">
            <a:avLst/>
          </a:prstGeom>
          <a:solidFill>
            <a:schemeClr val="accent2"/>
          </a:solidFill>
          <a:ln w="3175">
            <a:solidFill>
              <a:schemeClr val="accent2"/>
            </a:solidFill>
            <a:prstDash val="solid"/>
          </a:ln>
        </p:spPr>
      </p:sp>
      <p:sp>
        <p:nvSpPr>
          <p:cNvPr id="39" name="Calcium: electron, shell 4"/>
          <p:cNvSpPr/>
          <p:nvPr/>
        </p:nvSpPr>
        <p:spPr>
          <a:xfrm>
            <a:off x="1998237" y="3397269"/>
            <a:ext cx="63462" cy="63462"/>
          </a:xfrm>
          <a:prstGeom prst="ellipse">
            <a:avLst/>
          </a:prstGeom>
          <a:solidFill>
            <a:schemeClr val="accent2"/>
          </a:solidFill>
          <a:ln w="3175">
            <a:solidFill>
              <a:schemeClr val="accent2"/>
            </a:solidFill>
            <a:prstDash val="solid"/>
          </a:ln>
        </p:spPr>
      </p:sp>
      <p:sp>
        <p:nvSpPr>
          <p:cNvPr id="40" name="Arrow"/>
          <p:cNvSpPr/>
          <p:nvPr/>
        </p:nvSpPr>
        <p:spPr>
          <a:xfrm>
            <a:off x="2240280" y="3273552"/>
            <a:ext cx="384048" cy="310896"/>
          </a:xfrm>
          <a:prstGeom prst="rightArrow">
            <a:avLst/>
          </a:prstGeom>
          <a:solidFill>
            <a:schemeClr val="accent2"/>
          </a:solidFill>
          <a:ln w="6350">
            <a:solidFill>
              <a:schemeClr val="accent2"/>
            </a:solidFill>
            <a:prstDash val="solid"/>
          </a:ln>
        </p:spPr>
      </p:sp>
      <p:sp>
        <p:nvSpPr>
          <p:cNvPr id="41" name="Text 39"/>
          <p:cNvSpPr txBox="1"/>
          <p:nvPr/>
        </p:nvSpPr>
        <p:spPr>
          <a:xfrm>
            <a:off x="2743200" y="2834640"/>
            <a:ext cx="1463040" cy="1188720"/>
          </a:xfrm>
          <a:prstGeom prst="rect">
            <a:avLst/>
          </a:prstGeom>
          <a:noFill/>
          <a:ln/>
        </p:spPr>
        <p:txBody>
          <a:bodyPr wrap="square" lIns="0" tIns="0" rIns="0" bIns="0" rtlCol="0" anchor="ctr"/>
          <a:lstStyle/>
          <a:p>
            <a:pPr algn="ctr" indent="0" marL="0">
              <a:buNone/>
            </a:pPr>
            <a:r>
              <a:rPr lang="en-US" sz="5400" b="1" dirty="0">
                <a:solidFill>
                  <a:schemeClr val="bg2"/>
                </a:solidFill>
              </a:rPr>
              <a:t>?</a:t>
            </a:r>
            <a:endParaRPr lang="en-US" sz="5400" dirty="0"/>
          </a:p>
        </p:txBody>
      </p:sp>
      <p:sp>
        <p:nvSpPr>
          <p:cNvPr id="42" name="Nitrogen"/>
          <p:cNvSpPr/>
          <p:nvPr/>
        </p:nvSpPr>
        <p:spPr>
          <a:xfrm>
            <a:off x="4663440" y="1691640"/>
            <a:ext cx="4023360" cy="2926080"/>
          </a:xfrm>
          <a:prstGeom prst="roundRect">
            <a:avLst>
              <a:gd name="adj" fmla="val 3125"/>
            </a:avLst>
          </a:prstGeom>
          <a:solidFill>
            <a:schemeClr val="tx2"/>
          </a:solidFill>
          <a:ln w="9525">
            <a:solidFill>
              <a:schemeClr val="bg2">
                <a:alpha val="30000"/>
              </a:schemeClr>
            </a:solidFill>
            <a:prstDash val="solid"/>
          </a:ln>
        </p:spPr>
      </p:sp>
      <p:sp>
        <p:nvSpPr>
          <p:cNvPr id="43" name="Tile N"/>
          <p:cNvSpPr/>
          <p:nvPr/>
        </p:nvSpPr>
        <p:spPr>
          <a:xfrm>
            <a:off x="4846320" y="1828800"/>
            <a:ext cx="566928" cy="621792"/>
          </a:xfrm>
          <a:prstGeom prst="roundRect">
            <a:avLst>
              <a:gd name="adj" fmla="val 12000"/>
            </a:avLst>
          </a:prstGeom>
          <a:solidFill>
            <a:srgbClr val="45C08F">
              <a:alpha val="30000"/>
            </a:srgbClr>
          </a:solidFill>
          <a:ln w="19050">
            <a:solidFill>
              <a:srgbClr val="45C08F"/>
            </a:solidFill>
            <a:prstDash val="solid"/>
          </a:ln>
        </p:spPr>
      </p:sp>
      <p:sp>
        <p:nvSpPr>
          <p:cNvPr id="44" name="Text 42"/>
          <p:cNvSpPr txBox="1"/>
          <p:nvPr/>
        </p:nvSpPr>
        <p:spPr>
          <a:xfrm>
            <a:off x="4891674" y="1859890"/>
            <a:ext cx="340157" cy="149230"/>
          </a:xfrm>
          <a:prstGeom prst="rect">
            <a:avLst/>
          </a:prstGeom>
          <a:noFill/>
          <a:ln/>
        </p:spPr>
        <p:txBody>
          <a:bodyPr wrap="square" lIns="0" tIns="0" rIns="0" bIns="0" rtlCol="0" anchor="t"/>
          <a:lstStyle/>
          <a:p>
            <a:pPr indent="0" marL="0">
              <a:buNone/>
            </a:pPr>
            <a:r>
              <a:rPr lang="en-US" sz="900" dirty="0">
                <a:solidFill>
                  <a:schemeClr val="bg2"/>
                </a:solidFill>
              </a:rPr>
              <a:t>7</a:t>
            </a:r>
            <a:endParaRPr lang="en-US" sz="900" dirty="0"/>
          </a:p>
        </p:txBody>
      </p:sp>
      <p:sp>
        <p:nvSpPr>
          <p:cNvPr id="45" name="Text 43"/>
          <p:cNvSpPr txBox="1"/>
          <p:nvPr/>
        </p:nvSpPr>
        <p:spPr>
          <a:xfrm>
            <a:off x="4846320" y="1928287"/>
            <a:ext cx="566928" cy="497434"/>
          </a:xfrm>
          <a:prstGeom prst="rect">
            <a:avLst/>
          </a:prstGeom>
          <a:noFill/>
          <a:ln/>
        </p:spPr>
        <p:txBody>
          <a:bodyPr wrap="square" lIns="0" tIns="0" rIns="0" bIns="0" rtlCol="0" anchor="ctr"/>
          <a:lstStyle/>
          <a:p>
            <a:pPr algn="ctr" indent="0" marL="0">
              <a:buNone/>
            </a:pPr>
            <a:r>
              <a:rPr lang="en-US" sz="2300" b="1" dirty="0">
                <a:solidFill>
                  <a:schemeClr val="bg1"/>
                </a:solidFill>
              </a:rPr>
              <a:t>N</a:t>
            </a:r>
            <a:endParaRPr lang="en-US" sz="2300" dirty="0"/>
          </a:p>
        </p:txBody>
      </p:sp>
      <p:sp>
        <p:nvSpPr>
          <p:cNvPr id="46" name="Text 44"/>
          <p:cNvSpPr txBox="1"/>
          <p:nvPr/>
        </p:nvSpPr>
        <p:spPr>
          <a:xfrm>
            <a:off x="5532120" y="1874520"/>
            <a:ext cx="3017520" cy="292608"/>
          </a:xfrm>
          <a:prstGeom prst="rect">
            <a:avLst/>
          </a:prstGeom>
          <a:noFill/>
          <a:ln/>
        </p:spPr>
        <p:txBody>
          <a:bodyPr wrap="square" lIns="0" tIns="0" rIns="0" bIns="0" rtlCol="0" anchor="t"/>
          <a:lstStyle/>
          <a:p>
            <a:pPr indent="0" marL="0">
              <a:buNone/>
            </a:pPr>
            <a:r>
              <a:rPr lang="en-US" sz="1500" b="1" dirty="0">
                <a:solidFill>
                  <a:schemeClr val="bg1"/>
                </a:solidFill>
              </a:rPr>
              <a:t>Nitrogen, group 15</a:t>
            </a:r>
            <a:endParaRPr lang="en-US" sz="1500" dirty="0"/>
          </a:p>
        </p:txBody>
      </p:sp>
      <p:sp>
        <p:nvSpPr>
          <p:cNvPr id="47" name="Text 45"/>
          <p:cNvSpPr txBox="1"/>
          <p:nvPr/>
        </p:nvSpPr>
        <p:spPr>
          <a:xfrm>
            <a:off x="5532120" y="2176272"/>
            <a:ext cx="3017520" cy="256032"/>
          </a:xfrm>
          <a:prstGeom prst="rect">
            <a:avLst/>
          </a:prstGeom>
          <a:noFill/>
          <a:ln/>
        </p:spPr>
        <p:txBody>
          <a:bodyPr wrap="square" lIns="0" tIns="0" rIns="0" bIns="0" rtlCol="0" anchor="t"/>
          <a:lstStyle/>
          <a:p>
            <a:pPr indent="0" marL="0">
              <a:buNone/>
            </a:pPr>
            <a:r>
              <a:rPr lang="en-US" sz="1200" dirty="0">
                <a:solidFill>
                  <a:schemeClr val="bg2"/>
                </a:solidFill>
              </a:rPr>
              <a:t>2, 5</a:t>
            </a:r>
            <a:endParaRPr lang="en-US" sz="1200" dirty="0"/>
          </a:p>
        </p:txBody>
      </p:sp>
      <p:sp>
        <p:nvSpPr>
          <p:cNvPr id="48" name="Nitrogen: shell 1"/>
          <p:cNvSpPr/>
          <p:nvPr/>
        </p:nvSpPr>
        <p:spPr>
          <a:xfrm>
            <a:off x="5376672" y="3136392"/>
            <a:ext cx="585216" cy="585216"/>
          </a:xfrm>
          <a:prstGeom prst="ellipse">
            <a:avLst/>
          </a:prstGeom>
          <a:solidFill>
            <a:schemeClr val="bg1">
              <a:alpha val="0"/>
            </a:schemeClr>
          </a:solidFill>
          <a:ln w="15875">
            <a:solidFill>
              <a:schemeClr val="bg2">
                <a:alpha val="55000"/>
              </a:schemeClr>
            </a:solidFill>
            <a:prstDash val="solid"/>
          </a:ln>
        </p:spPr>
      </p:sp>
      <p:sp>
        <p:nvSpPr>
          <p:cNvPr id="49" name="Nitrogen: shell 2"/>
          <p:cNvSpPr/>
          <p:nvPr/>
        </p:nvSpPr>
        <p:spPr>
          <a:xfrm>
            <a:off x="5193792" y="2953512"/>
            <a:ext cx="950976" cy="950976"/>
          </a:xfrm>
          <a:prstGeom prst="ellipse">
            <a:avLst/>
          </a:prstGeom>
          <a:solidFill>
            <a:schemeClr val="bg1">
              <a:alpha val="0"/>
            </a:schemeClr>
          </a:solidFill>
          <a:ln w="15875">
            <a:solidFill>
              <a:schemeClr val="accent2">
                <a:alpha val="80000"/>
              </a:schemeClr>
            </a:solidFill>
            <a:prstDash val="solid"/>
          </a:ln>
        </p:spPr>
      </p:sp>
      <p:sp>
        <p:nvSpPr>
          <p:cNvPr id="50" name="Nitrogen: nucleus"/>
          <p:cNvSpPr/>
          <p:nvPr/>
        </p:nvSpPr>
        <p:spPr>
          <a:xfrm>
            <a:off x="5480304" y="3240024"/>
            <a:ext cx="377952" cy="377952"/>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51" name="Nitrogen: electron, shell 1"/>
          <p:cNvSpPr/>
          <p:nvPr/>
        </p:nvSpPr>
        <p:spPr>
          <a:xfrm>
            <a:off x="5623560" y="3090672"/>
            <a:ext cx="91440" cy="91440"/>
          </a:xfrm>
          <a:prstGeom prst="ellipse">
            <a:avLst/>
          </a:prstGeom>
          <a:solidFill>
            <a:schemeClr val="accent1"/>
          </a:solidFill>
          <a:ln w="3175">
            <a:solidFill>
              <a:schemeClr val="accent1"/>
            </a:solidFill>
            <a:prstDash val="solid"/>
          </a:ln>
        </p:spPr>
      </p:sp>
      <p:sp>
        <p:nvSpPr>
          <p:cNvPr id="52" name="Nitrogen: electron, shell 1"/>
          <p:cNvSpPr/>
          <p:nvPr/>
        </p:nvSpPr>
        <p:spPr>
          <a:xfrm>
            <a:off x="5916168" y="3383280"/>
            <a:ext cx="91440" cy="91440"/>
          </a:xfrm>
          <a:prstGeom prst="ellipse">
            <a:avLst/>
          </a:prstGeom>
          <a:solidFill>
            <a:schemeClr val="accent1"/>
          </a:solidFill>
          <a:ln w="3175">
            <a:solidFill>
              <a:schemeClr val="accent1"/>
            </a:solidFill>
            <a:prstDash val="solid"/>
          </a:ln>
        </p:spPr>
      </p:sp>
      <p:sp>
        <p:nvSpPr>
          <p:cNvPr id="53" name="Nitrogen: electron, shell 2"/>
          <p:cNvSpPr/>
          <p:nvPr/>
        </p:nvSpPr>
        <p:spPr>
          <a:xfrm>
            <a:off x="5562162" y="2911773"/>
            <a:ext cx="91440" cy="91440"/>
          </a:xfrm>
          <a:prstGeom prst="ellipse">
            <a:avLst/>
          </a:prstGeom>
          <a:solidFill>
            <a:schemeClr val="accent2"/>
          </a:solidFill>
          <a:ln w="3175">
            <a:solidFill>
              <a:schemeClr val="accent2"/>
            </a:solidFill>
            <a:prstDash val="solid"/>
          </a:ln>
        </p:spPr>
      </p:sp>
      <p:sp>
        <p:nvSpPr>
          <p:cNvPr id="54" name="Nitrogen: electron, shell 2"/>
          <p:cNvSpPr/>
          <p:nvPr/>
        </p:nvSpPr>
        <p:spPr>
          <a:xfrm>
            <a:off x="5684958" y="2911773"/>
            <a:ext cx="91440" cy="91440"/>
          </a:xfrm>
          <a:prstGeom prst="ellipse">
            <a:avLst/>
          </a:prstGeom>
          <a:solidFill>
            <a:schemeClr val="accent2"/>
          </a:solidFill>
          <a:ln w="3175">
            <a:solidFill>
              <a:schemeClr val="accent2"/>
            </a:solidFill>
            <a:prstDash val="solid"/>
          </a:ln>
        </p:spPr>
      </p:sp>
      <p:sp>
        <p:nvSpPr>
          <p:cNvPr id="55" name="Nitrogen: electron, shell 2"/>
          <p:cNvSpPr/>
          <p:nvPr/>
        </p:nvSpPr>
        <p:spPr>
          <a:xfrm>
            <a:off x="6099048" y="3383280"/>
            <a:ext cx="91440" cy="91440"/>
          </a:xfrm>
          <a:prstGeom prst="ellipse">
            <a:avLst/>
          </a:prstGeom>
          <a:solidFill>
            <a:schemeClr val="accent2"/>
          </a:solidFill>
          <a:ln w="3175">
            <a:solidFill>
              <a:schemeClr val="accent2"/>
            </a:solidFill>
            <a:prstDash val="solid"/>
          </a:ln>
        </p:spPr>
      </p:sp>
      <p:sp>
        <p:nvSpPr>
          <p:cNvPr id="56" name="Nitrogen: electron, shell 2"/>
          <p:cNvSpPr/>
          <p:nvPr/>
        </p:nvSpPr>
        <p:spPr>
          <a:xfrm>
            <a:off x="5623560" y="3858768"/>
            <a:ext cx="91440" cy="91440"/>
          </a:xfrm>
          <a:prstGeom prst="ellipse">
            <a:avLst/>
          </a:prstGeom>
          <a:solidFill>
            <a:schemeClr val="accent2"/>
          </a:solidFill>
          <a:ln w="3175">
            <a:solidFill>
              <a:schemeClr val="accent2"/>
            </a:solidFill>
            <a:prstDash val="solid"/>
          </a:ln>
        </p:spPr>
      </p:sp>
      <p:sp>
        <p:nvSpPr>
          <p:cNvPr id="57" name="Nitrogen: electron, shell 2"/>
          <p:cNvSpPr/>
          <p:nvPr/>
        </p:nvSpPr>
        <p:spPr>
          <a:xfrm>
            <a:off x="5148072" y="3383280"/>
            <a:ext cx="91440" cy="91440"/>
          </a:xfrm>
          <a:prstGeom prst="ellipse">
            <a:avLst/>
          </a:prstGeom>
          <a:solidFill>
            <a:schemeClr val="accent2"/>
          </a:solidFill>
          <a:ln w="3175">
            <a:solidFill>
              <a:schemeClr val="accent2"/>
            </a:solidFill>
            <a:prstDash val="solid"/>
          </a:ln>
        </p:spPr>
      </p:sp>
      <p:sp>
        <p:nvSpPr>
          <p:cNvPr id="58" name="Arrow"/>
          <p:cNvSpPr/>
          <p:nvPr/>
        </p:nvSpPr>
        <p:spPr>
          <a:xfrm>
            <a:off x="6446520" y="3273552"/>
            <a:ext cx="384048" cy="310896"/>
          </a:xfrm>
          <a:prstGeom prst="rightArrow">
            <a:avLst/>
          </a:prstGeom>
          <a:solidFill>
            <a:schemeClr val="accent2"/>
          </a:solidFill>
          <a:ln w="6350">
            <a:solidFill>
              <a:schemeClr val="accent2"/>
            </a:solidFill>
            <a:prstDash val="solid"/>
          </a:ln>
        </p:spPr>
      </p:sp>
      <p:sp>
        <p:nvSpPr>
          <p:cNvPr id="59" name="Text 57"/>
          <p:cNvSpPr txBox="1"/>
          <p:nvPr/>
        </p:nvSpPr>
        <p:spPr>
          <a:xfrm>
            <a:off x="6949440" y="2834640"/>
            <a:ext cx="1463040" cy="1188720"/>
          </a:xfrm>
          <a:prstGeom prst="rect">
            <a:avLst/>
          </a:prstGeom>
          <a:noFill/>
          <a:ln/>
        </p:spPr>
        <p:txBody>
          <a:bodyPr wrap="square" lIns="0" tIns="0" rIns="0" bIns="0" rtlCol="0" anchor="ctr"/>
          <a:lstStyle/>
          <a:p>
            <a:pPr algn="ctr" indent="0" marL="0">
              <a:buNone/>
            </a:pPr>
            <a:r>
              <a:rPr lang="en-US" sz="5400" b="1" dirty="0">
                <a:solidFill>
                  <a:schemeClr val="bg2"/>
                </a:solidFill>
              </a:rPr>
              <a:t>?</a:t>
            </a:r>
            <a:endParaRPr lang="en-US" sz="5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ection tile 4"/>
          <p:cNvSpPr/>
          <p:nvPr/>
        </p:nvSpPr>
        <p:spPr>
          <a:xfrm>
            <a:off x="457200" y="301752"/>
            <a:ext cx="749808" cy="841248"/>
          </a:xfrm>
          <a:prstGeom prst="roundRect">
            <a:avLst>
              <a:gd name="adj" fmla="val 12000"/>
            </a:avLst>
          </a:prstGeom>
          <a:solidFill>
            <a:srgbClr val="60A5FA">
              <a:alpha val="28000"/>
            </a:srgbClr>
          </a:solidFill>
          <a:ln w="19050">
            <a:solidFill>
              <a:srgbClr val="60A5FA"/>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4</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2400" b="1" dirty="0">
                <a:solidFill>
                  <a:schemeClr val="bg1"/>
                </a:solidFill>
              </a:rPr>
              <a:t>Al</a:t>
            </a:r>
            <a:pPr algn="ctr" indent="0" marL="0">
              <a:buNone/>
            </a:pPr>
            <a:r>
              <a:rPr lang="en-US" sz="2400" b="1" baseline="30000" dirty="0">
                <a:solidFill>
                  <a:schemeClr val="bg1"/>
                </a:solidFill>
              </a:rPr>
              <a:t>3+</a:t>
            </a:r>
            <a:endParaRPr lang="en-US" sz="2400" dirty="0"/>
          </a:p>
        </p:txBody>
      </p:sp>
      <p:sp>
        <p:nvSpPr>
          <p:cNvPr id="5" name="Text 3"/>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6" name="Text 4"/>
          <p:cNvSpPr/>
          <p:nvPr/>
        </p:nvSpPr>
        <p:spPr>
          <a:xfrm>
            <a:off x="224028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7" name="Text 5"/>
          <p:cNvSpPr txBox="1"/>
          <p:nvPr/>
        </p:nvSpPr>
        <p:spPr>
          <a:xfrm>
            <a:off x="32004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4 of 9</a:t>
            </a:r>
            <a:endParaRPr lang="en-US" sz="1200" dirty="0"/>
          </a:p>
        </p:txBody>
      </p:sp>
      <p:sp>
        <p:nvSpPr>
          <p:cNvPr id="8"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Explore the pattern</a:t>
            </a:r>
            <a:endParaRPr lang="en-US" sz="2800" dirty="0"/>
          </a:p>
        </p:txBody>
      </p:sp>
      <p:sp>
        <p:nvSpPr>
          <p:cNvPr id="9" name="Text 7"/>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In the lesson, tap an element to see its atom and the ion it forms.</a:t>
            </a:r>
            <a:endParaRPr lang="en-US" sz="1300" dirty="0"/>
          </a:p>
        </p:txBody>
      </p:sp>
      <p:sp>
        <p:nvSpPr>
          <p:cNvPr id="10" name="Calcium"/>
          <p:cNvSpPr/>
          <p:nvPr/>
        </p:nvSpPr>
        <p:spPr>
          <a:xfrm>
            <a:off x="457200" y="1691640"/>
            <a:ext cx="4023360" cy="2926080"/>
          </a:xfrm>
          <a:prstGeom prst="roundRect">
            <a:avLst>
              <a:gd name="adj" fmla="val 3125"/>
            </a:avLst>
          </a:prstGeom>
          <a:solidFill>
            <a:schemeClr val="tx2"/>
          </a:solidFill>
          <a:ln w="9525">
            <a:solidFill>
              <a:schemeClr val="bg2">
                <a:alpha val="30000"/>
              </a:schemeClr>
            </a:solidFill>
            <a:prstDash val="solid"/>
          </a:ln>
        </p:spPr>
      </p:sp>
      <p:sp>
        <p:nvSpPr>
          <p:cNvPr id="11" name="Tile Ca"/>
          <p:cNvSpPr/>
          <p:nvPr/>
        </p:nvSpPr>
        <p:spPr>
          <a:xfrm>
            <a:off x="640080" y="1828800"/>
            <a:ext cx="566928" cy="621792"/>
          </a:xfrm>
          <a:prstGeom prst="roundRect">
            <a:avLst>
              <a:gd name="adj" fmla="val 12000"/>
            </a:avLst>
          </a:prstGeom>
          <a:solidFill>
            <a:srgbClr val="FFCB5C">
              <a:alpha val="30000"/>
            </a:srgbClr>
          </a:solidFill>
          <a:ln w="19050">
            <a:solidFill>
              <a:srgbClr val="FFCB5C"/>
            </a:solidFill>
            <a:prstDash val="solid"/>
          </a:ln>
        </p:spPr>
      </p:sp>
      <p:sp>
        <p:nvSpPr>
          <p:cNvPr id="12" name="Text 10"/>
          <p:cNvSpPr txBox="1"/>
          <p:nvPr/>
        </p:nvSpPr>
        <p:spPr>
          <a:xfrm>
            <a:off x="685434" y="1859890"/>
            <a:ext cx="340157" cy="149230"/>
          </a:xfrm>
          <a:prstGeom prst="rect">
            <a:avLst/>
          </a:prstGeom>
          <a:noFill/>
          <a:ln/>
        </p:spPr>
        <p:txBody>
          <a:bodyPr wrap="square" lIns="0" tIns="0" rIns="0" bIns="0" rtlCol="0" anchor="t"/>
          <a:lstStyle/>
          <a:p>
            <a:pPr indent="0" marL="0">
              <a:buNone/>
            </a:pPr>
            <a:r>
              <a:rPr lang="en-US" sz="900" dirty="0">
                <a:solidFill>
                  <a:schemeClr val="bg2"/>
                </a:solidFill>
              </a:rPr>
              <a:t>20</a:t>
            </a:r>
            <a:endParaRPr lang="en-US" sz="900" dirty="0"/>
          </a:p>
        </p:txBody>
      </p:sp>
      <p:sp>
        <p:nvSpPr>
          <p:cNvPr id="13" name="Text 11"/>
          <p:cNvSpPr txBox="1"/>
          <p:nvPr/>
        </p:nvSpPr>
        <p:spPr>
          <a:xfrm>
            <a:off x="640080" y="1928287"/>
            <a:ext cx="566928" cy="497434"/>
          </a:xfrm>
          <a:prstGeom prst="rect">
            <a:avLst/>
          </a:prstGeom>
          <a:noFill/>
          <a:ln/>
        </p:spPr>
        <p:txBody>
          <a:bodyPr wrap="square" lIns="0" tIns="0" rIns="0" bIns="0" rtlCol="0" anchor="ctr"/>
          <a:lstStyle/>
          <a:p>
            <a:pPr algn="ctr" indent="0" marL="0">
              <a:buNone/>
            </a:pPr>
            <a:r>
              <a:rPr lang="en-US" sz="2300" b="1" dirty="0">
                <a:solidFill>
                  <a:schemeClr val="bg1"/>
                </a:solidFill>
              </a:rPr>
              <a:t>Ca</a:t>
            </a:r>
            <a:endParaRPr lang="en-US" sz="2300" dirty="0"/>
          </a:p>
        </p:txBody>
      </p:sp>
      <p:sp>
        <p:nvSpPr>
          <p:cNvPr id="14" name="Text 12"/>
          <p:cNvSpPr txBox="1"/>
          <p:nvPr/>
        </p:nvSpPr>
        <p:spPr>
          <a:xfrm>
            <a:off x="1325880" y="1874520"/>
            <a:ext cx="3017520" cy="292608"/>
          </a:xfrm>
          <a:prstGeom prst="rect">
            <a:avLst/>
          </a:prstGeom>
          <a:noFill/>
          <a:ln/>
        </p:spPr>
        <p:txBody>
          <a:bodyPr wrap="square" lIns="0" tIns="0" rIns="0" bIns="0" rtlCol="0" anchor="t"/>
          <a:lstStyle/>
          <a:p>
            <a:pPr indent="0" marL="0">
              <a:buNone/>
            </a:pPr>
            <a:r>
              <a:rPr lang="en-US" sz="1500" b="1" dirty="0">
                <a:solidFill>
                  <a:schemeClr val="bg1"/>
                </a:solidFill>
              </a:rPr>
              <a:t>Calcium, group 2</a:t>
            </a:r>
            <a:endParaRPr lang="en-US" sz="1500" dirty="0"/>
          </a:p>
        </p:txBody>
      </p:sp>
      <p:sp>
        <p:nvSpPr>
          <p:cNvPr id="15" name="Text 13"/>
          <p:cNvSpPr txBox="1"/>
          <p:nvPr/>
        </p:nvSpPr>
        <p:spPr>
          <a:xfrm>
            <a:off x="1325880" y="2176272"/>
            <a:ext cx="3017520" cy="256032"/>
          </a:xfrm>
          <a:prstGeom prst="rect">
            <a:avLst/>
          </a:prstGeom>
          <a:noFill/>
          <a:ln/>
        </p:spPr>
        <p:txBody>
          <a:bodyPr wrap="square" lIns="0" tIns="0" rIns="0" bIns="0" rtlCol="0" anchor="t"/>
          <a:lstStyle/>
          <a:p>
            <a:pPr indent="0" marL="0">
              <a:buNone/>
            </a:pPr>
            <a:r>
              <a:rPr lang="en-US" sz="1200" dirty="0">
                <a:solidFill>
                  <a:schemeClr val="bg2"/>
                </a:solidFill>
              </a:rPr>
              <a:t>2, 8, 8, 2</a:t>
            </a:r>
            <a:endParaRPr lang="en-US" sz="1200" dirty="0"/>
          </a:p>
        </p:txBody>
      </p:sp>
      <p:sp>
        <p:nvSpPr>
          <p:cNvPr id="16" name="Calcium: shell 1"/>
          <p:cNvSpPr/>
          <p:nvPr/>
        </p:nvSpPr>
        <p:spPr>
          <a:xfrm>
            <a:off x="1259961" y="3225921"/>
            <a:ext cx="406157" cy="406157"/>
          </a:xfrm>
          <a:prstGeom prst="ellipse">
            <a:avLst/>
          </a:prstGeom>
          <a:solidFill>
            <a:schemeClr val="bg1">
              <a:alpha val="0"/>
            </a:schemeClr>
          </a:solidFill>
          <a:ln w="15875">
            <a:solidFill>
              <a:schemeClr val="bg2">
                <a:alpha val="55000"/>
              </a:schemeClr>
            </a:solidFill>
            <a:prstDash val="solid"/>
          </a:ln>
        </p:spPr>
      </p:sp>
      <p:sp>
        <p:nvSpPr>
          <p:cNvPr id="17" name="Calcium: shell 2"/>
          <p:cNvSpPr/>
          <p:nvPr/>
        </p:nvSpPr>
        <p:spPr>
          <a:xfrm>
            <a:off x="1133037" y="3098997"/>
            <a:ext cx="660006" cy="660006"/>
          </a:xfrm>
          <a:prstGeom prst="ellipse">
            <a:avLst/>
          </a:prstGeom>
          <a:solidFill>
            <a:schemeClr val="bg1">
              <a:alpha val="0"/>
            </a:schemeClr>
          </a:solidFill>
          <a:ln w="15875">
            <a:solidFill>
              <a:schemeClr val="bg2">
                <a:alpha val="55000"/>
              </a:schemeClr>
            </a:solidFill>
            <a:prstDash val="solid"/>
          </a:ln>
        </p:spPr>
      </p:sp>
      <p:sp>
        <p:nvSpPr>
          <p:cNvPr id="18" name="Calcium: shell 3"/>
          <p:cNvSpPr/>
          <p:nvPr/>
        </p:nvSpPr>
        <p:spPr>
          <a:xfrm>
            <a:off x="1014575" y="2980535"/>
            <a:ext cx="896931" cy="896931"/>
          </a:xfrm>
          <a:prstGeom prst="ellipse">
            <a:avLst/>
          </a:prstGeom>
          <a:solidFill>
            <a:schemeClr val="bg1">
              <a:alpha val="0"/>
            </a:schemeClr>
          </a:solidFill>
          <a:ln w="15875">
            <a:solidFill>
              <a:schemeClr val="bg2">
                <a:alpha val="55000"/>
              </a:schemeClr>
            </a:solidFill>
            <a:prstDash val="solid"/>
          </a:ln>
        </p:spPr>
      </p:sp>
      <p:sp>
        <p:nvSpPr>
          <p:cNvPr id="19" name="Calcium: shell 4"/>
          <p:cNvSpPr/>
          <p:nvPr/>
        </p:nvSpPr>
        <p:spPr>
          <a:xfrm>
            <a:off x="896112" y="2862072"/>
            <a:ext cx="1133856" cy="1133856"/>
          </a:xfrm>
          <a:prstGeom prst="ellipse">
            <a:avLst/>
          </a:prstGeom>
          <a:solidFill>
            <a:schemeClr val="bg1">
              <a:alpha val="0"/>
            </a:schemeClr>
          </a:solidFill>
          <a:ln w="15875">
            <a:solidFill>
              <a:schemeClr val="accent2">
                <a:alpha val="80000"/>
              </a:schemeClr>
            </a:solidFill>
            <a:prstDash val="solid"/>
          </a:ln>
        </p:spPr>
      </p:sp>
      <p:sp>
        <p:nvSpPr>
          <p:cNvPr id="20" name="Calcium: nucleus"/>
          <p:cNvSpPr/>
          <p:nvPr/>
        </p:nvSpPr>
        <p:spPr>
          <a:xfrm>
            <a:off x="1331885" y="3297845"/>
            <a:ext cx="262310" cy="262310"/>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21" name="Calcium: electron, shell 1"/>
          <p:cNvSpPr/>
          <p:nvPr/>
        </p:nvSpPr>
        <p:spPr>
          <a:xfrm>
            <a:off x="1431309" y="3194190"/>
            <a:ext cx="63462" cy="63462"/>
          </a:xfrm>
          <a:prstGeom prst="ellipse">
            <a:avLst/>
          </a:prstGeom>
          <a:solidFill>
            <a:schemeClr val="accent1"/>
          </a:solidFill>
          <a:ln w="3175">
            <a:solidFill>
              <a:schemeClr val="accent1"/>
            </a:solidFill>
            <a:prstDash val="solid"/>
          </a:ln>
        </p:spPr>
      </p:sp>
      <p:sp>
        <p:nvSpPr>
          <p:cNvPr id="22" name="Calcium: electron, shell 1"/>
          <p:cNvSpPr/>
          <p:nvPr/>
        </p:nvSpPr>
        <p:spPr>
          <a:xfrm>
            <a:off x="1634388" y="3397269"/>
            <a:ext cx="63462" cy="63462"/>
          </a:xfrm>
          <a:prstGeom prst="ellipse">
            <a:avLst/>
          </a:prstGeom>
          <a:solidFill>
            <a:schemeClr val="accent1"/>
          </a:solidFill>
          <a:ln w="3175">
            <a:solidFill>
              <a:schemeClr val="accent1"/>
            </a:solidFill>
            <a:prstDash val="solid"/>
          </a:ln>
        </p:spPr>
      </p:sp>
      <p:sp>
        <p:nvSpPr>
          <p:cNvPr id="23" name="Calcium: electron, shell 2"/>
          <p:cNvSpPr/>
          <p:nvPr/>
        </p:nvSpPr>
        <p:spPr>
          <a:xfrm>
            <a:off x="1388697" y="3070029"/>
            <a:ext cx="63462" cy="63462"/>
          </a:xfrm>
          <a:prstGeom prst="ellipse">
            <a:avLst/>
          </a:prstGeom>
          <a:solidFill>
            <a:schemeClr val="accent1"/>
          </a:solidFill>
          <a:ln w="3175">
            <a:solidFill>
              <a:schemeClr val="accent1"/>
            </a:solidFill>
            <a:prstDash val="solid"/>
          </a:ln>
        </p:spPr>
      </p:sp>
      <p:sp>
        <p:nvSpPr>
          <p:cNvPr id="24" name="Calcium: electron, shell 2"/>
          <p:cNvSpPr/>
          <p:nvPr/>
        </p:nvSpPr>
        <p:spPr>
          <a:xfrm>
            <a:off x="1473921" y="3070029"/>
            <a:ext cx="63462" cy="63462"/>
          </a:xfrm>
          <a:prstGeom prst="ellipse">
            <a:avLst/>
          </a:prstGeom>
          <a:solidFill>
            <a:schemeClr val="accent1"/>
          </a:solidFill>
          <a:ln w="3175">
            <a:solidFill>
              <a:schemeClr val="accent1"/>
            </a:solidFill>
            <a:prstDash val="solid"/>
          </a:ln>
        </p:spPr>
      </p:sp>
      <p:sp>
        <p:nvSpPr>
          <p:cNvPr id="25" name="Calcium: electron, shell 2"/>
          <p:cNvSpPr/>
          <p:nvPr/>
        </p:nvSpPr>
        <p:spPr>
          <a:xfrm>
            <a:off x="1758549" y="3354657"/>
            <a:ext cx="63462" cy="63462"/>
          </a:xfrm>
          <a:prstGeom prst="ellipse">
            <a:avLst/>
          </a:prstGeom>
          <a:solidFill>
            <a:schemeClr val="accent1"/>
          </a:solidFill>
          <a:ln w="3175">
            <a:solidFill>
              <a:schemeClr val="accent1"/>
            </a:solidFill>
            <a:prstDash val="solid"/>
          </a:ln>
        </p:spPr>
      </p:sp>
      <p:sp>
        <p:nvSpPr>
          <p:cNvPr id="26" name="Calcium: electron, shell 2"/>
          <p:cNvSpPr/>
          <p:nvPr/>
        </p:nvSpPr>
        <p:spPr>
          <a:xfrm>
            <a:off x="1758549" y="3439881"/>
            <a:ext cx="63462" cy="63462"/>
          </a:xfrm>
          <a:prstGeom prst="ellipse">
            <a:avLst/>
          </a:prstGeom>
          <a:solidFill>
            <a:schemeClr val="accent1"/>
          </a:solidFill>
          <a:ln w="3175">
            <a:solidFill>
              <a:schemeClr val="accent1"/>
            </a:solidFill>
            <a:prstDash val="solid"/>
          </a:ln>
        </p:spPr>
      </p:sp>
      <p:sp>
        <p:nvSpPr>
          <p:cNvPr id="27" name="Calcium: electron, shell 2"/>
          <p:cNvSpPr/>
          <p:nvPr/>
        </p:nvSpPr>
        <p:spPr>
          <a:xfrm>
            <a:off x="1473921" y="3724509"/>
            <a:ext cx="63462" cy="63462"/>
          </a:xfrm>
          <a:prstGeom prst="ellipse">
            <a:avLst/>
          </a:prstGeom>
          <a:solidFill>
            <a:schemeClr val="accent1"/>
          </a:solidFill>
          <a:ln w="3175">
            <a:solidFill>
              <a:schemeClr val="accent1"/>
            </a:solidFill>
            <a:prstDash val="solid"/>
          </a:ln>
        </p:spPr>
      </p:sp>
      <p:sp>
        <p:nvSpPr>
          <p:cNvPr id="28" name="Calcium: electron, shell 2"/>
          <p:cNvSpPr/>
          <p:nvPr/>
        </p:nvSpPr>
        <p:spPr>
          <a:xfrm>
            <a:off x="1388697" y="3724509"/>
            <a:ext cx="63462" cy="63462"/>
          </a:xfrm>
          <a:prstGeom prst="ellipse">
            <a:avLst/>
          </a:prstGeom>
          <a:solidFill>
            <a:schemeClr val="accent1"/>
          </a:solidFill>
          <a:ln w="3175">
            <a:solidFill>
              <a:schemeClr val="accent1"/>
            </a:solidFill>
            <a:prstDash val="solid"/>
          </a:ln>
        </p:spPr>
      </p:sp>
      <p:sp>
        <p:nvSpPr>
          <p:cNvPr id="29" name="Calcium: electron, shell 2"/>
          <p:cNvSpPr/>
          <p:nvPr/>
        </p:nvSpPr>
        <p:spPr>
          <a:xfrm>
            <a:off x="1104069" y="3439881"/>
            <a:ext cx="63462" cy="63462"/>
          </a:xfrm>
          <a:prstGeom prst="ellipse">
            <a:avLst/>
          </a:prstGeom>
          <a:solidFill>
            <a:schemeClr val="accent1"/>
          </a:solidFill>
          <a:ln w="3175">
            <a:solidFill>
              <a:schemeClr val="accent1"/>
            </a:solidFill>
            <a:prstDash val="solid"/>
          </a:ln>
        </p:spPr>
      </p:sp>
      <p:sp>
        <p:nvSpPr>
          <p:cNvPr id="30" name="Calcium: electron, shell 2"/>
          <p:cNvSpPr/>
          <p:nvPr/>
        </p:nvSpPr>
        <p:spPr>
          <a:xfrm>
            <a:off x="1104069" y="3354657"/>
            <a:ext cx="63462" cy="63462"/>
          </a:xfrm>
          <a:prstGeom prst="ellipse">
            <a:avLst/>
          </a:prstGeom>
          <a:solidFill>
            <a:schemeClr val="accent1"/>
          </a:solidFill>
          <a:ln w="3175">
            <a:solidFill>
              <a:schemeClr val="accent1"/>
            </a:solidFill>
            <a:prstDash val="solid"/>
          </a:ln>
        </p:spPr>
      </p:sp>
      <p:sp>
        <p:nvSpPr>
          <p:cNvPr id="31" name="Calcium: electron, shell 3"/>
          <p:cNvSpPr/>
          <p:nvPr/>
        </p:nvSpPr>
        <p:spPr>
          <a:xfrm>
            <a:off x="1388642" y="2950838"/>
            <a:ext cx="63462" cy="63462"/>
          </a:xfrm>
          <a:prstGeom prst="ellipse">
            <a:avLst/>
          </a:prstGeom>
          <a:solidFill>
            <a:schemeClr val="accent1"/>
          </a:solidFill>
          <a:ln w="3175">
            <a:solidFill>
              <a:schemeClr val="accent1"/>
            </a:solidFill>
            <a:prstDash val="solid"/>
          </a:ln>
        </p:spPr>
      </p:sp>
      <p:sp>
        <p:nvSpPr>
          <p:cNvPr id="32" name="Calcium: electron, shell 3"/>
          <p:cNvSpPr/>
          <p:nvPr/>
        </p:nvSpPr>
        <p:spPr>
          <a:xfrm>
            <a:off x="1473975" y="2950838"/>
            <a:ext cx="63462" cy="63462"/>
          </a:xfrm>
          <a:prstGeom prst="ellipse">
            <a:avLst/>
          </a:prstGeom>
          <a:solidFill>
            <a:schemeClr val="accent1"/>
          </a:solidFill>
          <a:ln w="3175">
            <a:solidFill>
              <a:schemeClr val="accent1"/>
            </a:solidFill>
            <a:prstDash val="solid"/>
          </a:ln>
        </p:spPr>
      </p:sp>
      <p:sp>
        <p:nvSpPr>
          <p:cNvPr id="33" name="Calcium: electron, shell 3"/>
          <p:cNvSpPr/>
          <p:nvPr/>
        </p:nvSpPr>
        <p:spPr>
          <a:xfrm>
            <a:off x="1877740" y="3354602"/>
            <a:ext cx="63462" cy="63462"/>
          </a:xfrm>
          <a:prstGeom prst="ellipse">
            <a:avLst/>
          </a:prstGeom>
          <a:solidFill>
            <a:schemeClr val="accent1"/>
          </a:solidFill>
          <a:ln w="3175">
            <a:solidFill>
              <a:schemeClr val="accent1"/>
            </a:solidFill>
            <a:prstDash val="solid"/>
          </a:ln>
        </p:spPr>
      </p:sp>
      <p:sp>
        <p:nvSpPr>
          <p:cNvPr id="34" name="Calcium: electron, shell 3"/>
          <p:cNvSpPr/>
          <p:nvPr/>
        </p:nvSpPr>
        <p:spPr>
          <a:xfrm>
            <a:off x="1877740" y="3439935"/>
            <a:ext cx="63462" cy="63462"/>
          </a:xfrm>
          <a:prstGeom prst="ellipse">
            <a:avLst/>
          </a:prstGeom>
          <a:solidFill>
            <a:schemeClr val="accent1"/>
          </a:solidFill>
          <a:ln w="3175">
            <a:solidFill>
              <a:schemeClr val="accent1"/>
            </a:solidFill>
            <a:prstDash val="solid"/>
          </a:ln>
        </p:spPr>
      </p:sp>
      <p:sp>
        <p:nvSpPr>
          <p:cNvPr id="35" name="Calcium: electron, shell 3"/>
          <p:cNvSpPr/>
          <p:nvPr/>
        </p:nvSpPr>
        <p:spPr>
          <a:xfrm>
            <a:off x="1473975" y="3843700"/>
            <a:ext cx="63462" cy="63462"/>
          </a:xfrm>
          <a:prstGeom prst="ellipse">
            <a:avLst/>
          </a:prstGeom>
          <a:solidFill>
            <a:schemeClr val="accent1"/>
          </a:solidFill>
          <a:ln w="3175">
            <a:solidFill>
              <a:schemeClr val="accent1"/>
            </a:solidFill>
            <a:prstDash val="solid"/>
          </a:ln>
        </p:spPr>
      </p:sp>
      <p:sp>
        <p:nvSpPr>
          <p:cNvPr id="36" name="Calcium: electron, shell 3"/>
          <p:cNvSpPr/>
          <p:nvPr/>
        </p:nvSpPr>
        <p:spPr>
          <a:xfrm>
            <a:off x="1388642" y="3843700"/>
            <a:ext cx="63462" cy="63462"/>
          </a:xfrm>
          <a:prstGeom prst="ellipse">
            <a:avLst/>
          </a:prstGeom>
          <a:solidFill>
            <a:schemeClr val="accent1"/>
          </a:solidFill>
          <a:ln w="3175">
            <a:solidFill>
              <a:schemeClr val="accent1"/>
            </a:solidFill>
            <a:prstDash val="solid"/>
          </a:ln>
        </p:spPr>
      </p:sp>
      <p:sp>
        <p:nvSpPr>
          <p:cNvPr id="37" name="Calcium: electron, shell 3"/>
          <p:cNvSpPr/>
          <p:nvPr/>
        </p:nvSpPr>
        <p:spPr>
          <a:xfrm>
            <a:off x="984878" y="3439935"/>
            <a:ext cx="63462" cy="63462"/>
          </a:xfrm>
          <a:prstGeom prst="ellipse">
            <a:avLst/>
          </a:prstGeom>
          <a:solidFill>
            <a:schemeClr val="accent1"/>
          </a:solidFill>
          <a:ln w="3175">
            <a:solidFill>
              <a:schemeClr val="accent1"/>
            </a:solidFill>
            <a:prstDash val="solid"/>
          </a:ln>
        </p:spPr>
      </p:sp>
      <p:sp>
        <p:nvSpPr>
          <p:cNvPr id="38" name="Calcium: electron, shell 3"/>
          <p:cNvSpPr/>
          <p:nvPr/>
        </p:nvSpPr>
        <p:spPr>
          <a:xfrm>
            <a:off x="984878" y="3354602"/>
            <a:ext cx="63462" cy="63462"/>
          </a:xfrm>
          <a:prstGeom prst="ellipse">
            <a:avLst/>
          </a:prstGeom>
          <a:solidFill>
            <a:schemeClr val="accent1"/>
          </a:solidFill>
          <a:ln w="3175">
            <a:solidFill>
              <a:schemeClr val="accent1"/>
            </a:solidFill>
            <a:prstDash val="solid"/>
          </a:ln>
        </p:spPr>
      </p:sp>
      <p:sp>
        <p:nvSpPr>
          <p:cNvPr id="39" name="Calcium: electron, shell 4"/>
          <p:cNvSpPr/>
          <p:nvPr/>
        </p:nvSpPr>
        <p:spPr>
          <a:xfrm>
            <a:off x="1431309" y="2830341"/>
            <a:ext cx="63462" cy="63462"/>
          </a:xfrm>
          <a:prstGeom prst="ellipse">
            <a:avLst/>
          </a:prstGeom>
          <a:solidFill>
            <a:schemeClr val="accent2"/>
          </a:solidFill>
          <a:ln w="3175">
            <a:solidFill>
              <a:schemeClr val="accent2"/>
            </a:solidFill>
            <a:prstDash val="solid"/>
          </a:ln>
        </p:spPr>
      </p:sp>
      <p:sp>
        <p:nvSpPr>
          <p:cNvPr id="40" name="Calcium: electron, shell 4"/>
          <p:cNvSpPr/>
          <p:nvPr/>
        </p:nvSpPr>
        <p:spPr>
          <a:xfrm>
            <a:off x="1998237" y="3397269"/>
            <a:ext cx="63462" cy="63462"/>
          </a:xfrm>
          <a:prstGeom prst="ellipse">
            <a:avLst/>
          </a:prstGeom>
          <a:solidFill>
            <a:schemeClr val="accent2"/>
          </a:solidFill>
          <a:ln w="3175">
            <a:solidFill>
              <a:schemeClr val="accent2"/>
            </a:solidFill>
            <a:prstDash val="solid"/>
          </a:ln>
        </p:spPr>
      </p:sp>
      <p:sp>
        <p:nvSpPr>
          <p:cNvPr id="41" name="Arrow"/>
          <p:cNvSpPr/>
          <p:nvPr/>
        </p:nvSpPr>
        <p:spPr>
          <a:xfrm>
            <a:off x="2240280" y="3273552"/>
            <a:ext cx="384048" cy="310896"/>
          </a:xfrm>
          <a:prstGeom prst="rightArrow">
            <a:avLst/>
          </a:prstGeom>
          <a:solidFill>
            <a:schemeClr val="accent2"/>
          </a:solidFill>
          <a:ln w="6350">
            <a:solidFill>
              <a:schemeClr val="accent2"/>
            </a:solidFill>
            <a:prstDash val="solid"/>
          </a:ln>
        </p:spPr>
      </p:sp>
      <p:sp>
        <p:nvSpPr>
          <p:cNvPr id="42" name="calcium ion: shell 1"/>
          <p:cNvSpPr/>
          <p:nvPr/>
        </p:nvSpPr>
        <p:spPr>
          <a:xfrm>
            <a:off x="3246983" y="3201263"/>
            <a:ext cx="455475" cy="455475"/>
          </a:xfrm>
          <a:prstGeom prst="ellipse">
            <a:avLst/>
          </a:prstGeom>
          <a:solidFill>
            <a:schemeClr val="bg1">
              <a:alpha val="0"/>
            </a:schemeClr>
          </a:solidFill>
          <a:ln w="15875">
            <a:solidFill>
              <a:schemeClr val="bg2">
                <a:alpha val="55000"/>
              </a:schemeClr>
            </a:solidFill>
            <a:prstDash val="solid"/>
          </a:ln>
        </p:spPr>
      </p:sp>
      <p:sp>
        <p:nvSpPr>
          <p:cNvPr id="43" name="calcium ion: shell 2"/>
          <p:cNvSpPr/>
          <p:nvPr/>
        </p:nvSpPr>
        <p:spPr>
          <a:xfrm>
            <a:off x="3104647" y="3058927"/>
            <a:ext cx="740146" cy="740146"/>
          </a:xfrm>
          <a:prstGeom prst="ellipse">
            <a:avLst/>
          </a:prstGeom>
          <a:solidFill>
            <a:schemeClr val="bg1">
              <a:alpha val="0"/>
            </a:schemeClr>
          </a:solidFill>
          <a:ln w="15875">
            <a:solidFill>
              <a:schemeClr val="bg2">
                <a:alpha val="55000"/>
              </a:schemeClr>
            </a:solidFill>
            <a:prstDash val="solid"/>
          </a:ln>
        </p:spPr>
      </p:sp>
      <p:sp>
        <p:nvSpPr>
          <p:cNvPr id="44" name="calcium ion: shell 3"/>
          <p:cNvSpPr/>
          <p:nvPr/>
        </p:nvSpPr>
        <p:spPr>
          <a:xfrm>
            <a:off x="2971800" y="2926080"/>
            <a:ext cx="1005840" cy="1005840"/>
          </a:xfrm>
          <a:prstGeom prst="ellipse">
            <a:avLst/>
          </a:prstGeom>
          <a:solidFill>
            <a:schemeClr val="bg1">
              <a:alpha val="0"/>
            </a:schemeClr>
          </a:solidFill>
          <a:ln w="15875">
            <a:solidFill>
              <a:schemeClr val="bg2">
                <a:alpha val="55000"/>
              </a:schemeClr>
            </a:solidFill>
            <a:prstDash val="solid"/>
          </a:ln>
        </p:spPr>
      </p:sp>
      <p:sp>
        <p:nvSpPr>
          <p:cNvPr id="45" name="calcium ion: nucleus"/>
          <p:cNvSpPr/>
          <p:nvPr/>
        </p:nvSpPr>
        <p:spPr>
          <a:xfrm>
            <a:off x="3327640" y="3281920"/>
            <a:ext cx="294161" cy="294161"/>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46" name="calcium ion: electron, shell 1"/>
          <p:cNvSpPr/>
          <p:nvPr/>
        </p:nvSpPr>
        <p:spPr>
          <a:xfrm>
            <a:off x="3439136" y="3165679"/>
            <a:ext cx="71168" cy="71168"/>
          </a:xfrm>
          <a:prstGeom prst="ellipse">
            <a:avLst/>
          </a:prstGeom>
          <a:solidFill>
            <a:schemeClr val="accent1"/>
          </a:solidFill>
          <a:ln w="3175">
            <a:solidFill>
              <a:schemeClr val="accent1"/>
            </a:solidFill>
            <a:prstDash val="solid"/>
          </a:ln>
        </p:spPr>
      </p:sp>
      <p:sp>
        <p:nvSpPr>
          <p:cNvPr id="47" name="calcium ion: electron, shell 1"/>
          <p:cNvSpPr/>
          <p:nvPr/>
        </p:nvSpPr>
        <p:spPr>
          <a:xfrm>
            <a:off x="3666873" y="3393416"/>
            <a:ext cx="71168" cy="71168"/>
          </a:xfrm>
          <a:prstGeom prst="ellipse">
            <a:avLst/>
          </a:prstGeom>
          <a:solidFill>
            <a:schemeClr val="accent1"/>
          </a:solidFill>
          <a:ln w="3175">
            <a:solidFill>
              <a:schemeClr val="accent1"/>
            </a:solidFill>
            <a:prstDash val="solid"/>
          </a:ln>
        </p:spPr>
      </p:sp>
      <p:sp>
        <p:nvSpPr>
          <p:cNvPr id="48" name="calcium ion: electron, shell 2"/>
          <p:cNvSpPr/>
          <p:nvPr/>
        </p:nvSpPr>
        <p:spPr>
          <a:xfrm>
            <a:off x="3391350" y="3026441"/>
            <a:ext cx="71168" cy="71168"/>
          </a:xfrm>
          <a:prstGeom prst="ellipse">
            <a:avLst/>
          </a:prstGeom>
          <a:solidFill>
            <a:schemeClr val="accent1"/>
          </a:solidFill>
          <a:ln w="3175">
            <a:solidFill>
              <a:schemeClr val="accent1"/>
            </a:solidFill>
            <a:prstDash val="solid"/>
          </a:ln>
        </p:spPr>
      </p:sp>
      <p:sp>
        <p:nvSpPr>
          <p:cNvPr id="49" name="calcium ion: electron, shell 2"/>
          <p:cNvSpPr/>
          <p:nvPr/>
        </p:nvSpPr>
        <p:spPr>
          <a:xfrm>
            <a:off x="3486922" y="3026441"/>
            <a:ext cx="71168" cy="71168"/>
          </a:xfrm>
          <a:prstGeom prst="ellipse">
            <a:avLst/>
          </a:prstGeom>
          <a:solidFill>
            <a:schemeClr val="accent1"/>
          </a:solidFill>
          <a:ln w="3175">
            <a:solidFill>
              <a:schemeClr val="accent1"/>
            </a:solidFill>
            <a:prstDash val="solid"/>
          </a:ln>
        </p:spPr>
      </p:sp>
      <p:sp>
        <p:nvSpPr>
          <p:cNvPr id="50" name="calcium ion: electron, shell 2"/>
          <p:cNvSpPr/>
          <p:nvPr/>
        </p:nvSpPr>
        <p:spPr>
          <a:xfrm>
            <a:off x="3806111" y="3345630"/>
            <a:ext cx="71168" cy="71168"/>
          </a:xfrm>
          <a:prstGeom prst="ellipse">
            <a:avLst/>
          </a:prstGeom>
          <a:solidFill>
            <a:schemeClr val="accent1"/>
          </a:solidFill>
          <a:ln w="3175">
            <a:solidFill>
              <a:schemeClr val="accent1"/>
            </a:solidFill>
            <a:prstDash val="solid"/>
          </a:ln>
        </p:spPr>
      </p:sp>
      <p:sp>
        <p:nvSpPr>
          <p:cNvPr id="51" name="calcium ion: electron, shell 2"/>
          <p:cNvSpPr/>
          <p:nvPr/>
        </p:nvSpPr>
        <p:spPr>
          <a:xfrm>
            <a:off x="3806111" y="3441202"/>
            <a:ext cx="71168" cy="71168"/>
          </a:xfrm>
          <a:prstGeom prst="ellipse">
            <a:avLst/>
          </a:prstGeom>
          <a:solidFill>
            <a:schemeClr val="accent1"/>
          </a:solidFill>
          <a:ln w="3175">
            <a:solidFill>
              <a:schemeClr val="accent1"/>
            </a:solidFill>
            <a:prstDash val="solid"/>
          </a:ln>
        </p:spPr>
      </p:sp>
      <p:sp>
        <p:nvSpPr>
          <p:cNvPr id="52" name="calcium ion: electron, shell 2"/>
          <p:cNvSpPr/>
          <p:nvPr/>
        </p:nvSpPr>
        <p:spPr>
          <a:xfrm>
            <a:off x="3486922" y="3760391"/>
            <a:ext cx="71168" cy="71168"/>
          </a:xfrm>
          <a:prstGeom prst="ellipse">
            <a:avLst/>
          </a:prstGeom>
          <a:solidFill>
            <a:schemeClr val="accent1"/>
          </a:solidFill>
          <a:ln w="3175">
            <a:solidFill>
              <a:schemeClr val="accent1"/>
            </a:solidFill>
            <a:prstDash val="solid"/>
          </a:ln>
        </p:spPr>
      </p:sp>
      <p:sp>
        <p:nvSpPr>
          <p:cNvPr id="53" name="calcium ion: electron, shell 2"/>
          <p:cNvSpPr/>
          <p:nvPr/>
        </p:nvSpPr>
        <p:spPr>
          <a:xfrm>
            <a:off x="3391350" y="3760391"/>
            <a:ext cx="71168" cy="71168"/>
          </a:xfrm>
          <a:prstGeom prst="ellipse">
            <a:avLst/>
          </a:prstGeom>
          <a:solidFill>
            <a:schemeClr val="accent1"/>
          </a:solidFill>
          <a:ln w="3175">
            <a:solidFill>
              <a:schemeClr val="accent1"/>
            </a:solidFill>
            <a:prstDash val="solid"/>
          </a:ln>
        </p:spPr>
      </p:sp>
      <p:sp>
        <p:nvSpPr>
          <p:cNvPr id="54" name="calcium ion: electron, shell 2"/>
          <p:cNvSpPr/>
          <p:nvPr/>
        </p:nvSpPr>
        <p:spPr>
          <a:xfrm>
            <a:off x="3072161" y="3441202"/>
            <a:ext cx="71168" cy="71168"/>
          </a:xfrm>
          <a:prstGeom prst="ellipse">
            <a:avLst/>
          </a:prstGeom>
          <a:solidFill>
            <a:schemeClr val="accent1"/>
          </a:solidFill>
          <a:ln w="3175">
            <a:solidFill>
              <a:schemeClr val="accent1"/>
            </a:solidFill>
            <a:prstDash val="solid"/>
          </a:ln>
        </p:spPr>
      </p:sp>
      <p:sp>
        <p:nvSpPr>
          <p:cNvPr id="55" name="calcium ion: electron, shell 2"/>
          <p:cNvSpPr/>
          <p:nvPr/>
        </p:nvSpPr>
        <p:spPr>
          <a:xfrm>
            <a:off x="3072161" y="3345630"/>
            <a:ext cx="71168" cy="71168"/>
          </a:xfrm>
          <a:prstGeom prst="ellipse">
            <a:avLst/>
          </a:prstGeom>
          <a:solidFill>
            <a:schemeClr val="accent1"/>
          </a:solidFill>
          <a:ln w="3175">
            <a:solidFill>
              <a:schemeClr val="accent1"/>
            </a:solidFill>
            <a:prstDash val="solid"/>
          </a:ln>
        </p:spPr>
      </p:sp>
      <p:sp>
        <p:nvSpPr>
          <p:cNvPr id="56" name="calcium ion: electron, shell 3"/>
          <p:cNvSpPr/>
          <p:nvPr/>
        </p:nvSpPr>
        <p:spPr>
          <a:xfrm>
            <a:off x="3391289" y="2892777"/>
            <a:ext cx="71168" cy="71168"/>
          </a:xfrm>
          <a:prstGeom prst="ellipse">
            <a:avLst/>
          </a:prstGeom>
          <a:solidFill>
            <a:schemeClr val="accent1"/>
          </a:solidFill>
          <a:ln w="3175">
            <a:solidFill>
              <a:schemeClr val="accent1"/>
            </a:solidFill>
            <a:prstDash val="solid"/>
          </a:ln>
        </p:spPr>
      </p:sp>
      <p:sp>
        <p:nvSpPr>
          <p:cNvPr id="57" name="calcium ion: electron, shell 3"/>
          <p:cNvSpPr/>
          <p:nvPr/>
        </p:nvSpPr>
        <p:spPr>
          <a:xfrm>
            <a:off x="3486983" y="2892777"/>
            <a:ext cx="71168" cy="71168"/>
          </a:xfrm>
          <a:prstGeom prst="ellipse">
            <a:avLst/>
          </a:prstGeom>
          <a:solidFill>
            <a:schemeClr val="accent1"/>
          </a:solidFill>
          <a:ln w="3175">
            <a:solidFill>
              <a:schemeClr val="accent1"/>
            </a:solidFill>
            <a:prstDash val="solid"/>
          </a:ln>
        </p:spPr>
      </p:sp>
      <p:sp>
        <p:nvSpPr>
          <p:cNvPr id="58" name="calcium ion: electron, shell 3"/>
          <p:cNvSpPr/>
          <p:nvPr/>
        </p:nvSpPr>
        <p:spPr>
          <a:xfrm>
            <a:off x="3939775" y="3345569"/>
            <a:ext cx="71168" cy="71168"/>
          </a:xfrm>
          <a:prstGeom prst="ellipse">
            <a:avLst/>
          </a:prstGeom>
          <a:solidFill>
            <a:schemeClr val="accent1"/>
          </a:solidFill>
          <a:ln w="3175">
            <a:solidFill>
              <a:schemeClr val="accent1"/>
            </a:solidFill>
            <a:prstDash val="solid"/>
          </a:ln>
        </p:spPr>
      </p:sp>
      <p:sp>
        <p:nvSpPr>
          <p:cNvPr id="59" name="calcium ion: electron, shell 3"/>
          <p:cNvSpPr/>
          <p:nvPr/>
        </p:nvSpPr>
        <p:spPr>
          <a:xfrm>
            <a:off x="3939775" y="3441263"/>
            <a:ext cx="71168" cy="71168"/>
          </a:xfrm>
          <a:prstGeom prst="ellipse">
            <a:avLst/>
          </a:prstGeom>
          <a:solidFill>
            <a:schemeClr val="accent1"/>
          </a:solidFill>
          <a:ln w="3175">
            <a:solidFill>
              <a:schemeClr val="accent1"/>
            </a:solidFill>
            <a:prstDash val="solid"/>
          </a:ln>
        </p:spPr>
      </p:sp>
      <p:sp>
        <p:nvSpPr>
          <p:cNvPr id="60" name="calcium ion: electron, shell 3"/>
          <p:cNvSpPr/>
          <p:nvPr/>
        </p:nvSpPr>
        <p:spPr>
          <a:xfrm>
            <a:off x="3486983" y="3894055"/>
            <a:ext cx="71168" cy="71168"/>
          </a:xfrm>
          <a:prstGeom prst="ellipse">
            <a:avLst/>
          </a:prstGeom>
          <a:solidFill>
            <a:schemeClr val="accent1"/>
          </a:solidFill>
          <a:ln w="3175">
            <a:solidFill>
              <a:schemeClr val="accent1"/>
            </a:solidFill>
            <a:prstDash val="solid"/>
          </a:ln>
        </p:spPr>
      </p:sp>
      <p:sp>
        <p:nvSpPr>
          <p:cNvPr id="61" name="calcium ion: electron, shell 3"/>
          <p:cNvSpPr/>
          <p:nvPr/>
        </p:nvSpPr>
        <p:spPr>
          <a:xfrm>
            <a:off x="3391289" y="3894055"/>
            <a:ext cx="71168" cy="71168"/>
          </a:xfrm>
          <a:prstGeom prst="ellipse">
            <a:avLst/>
          </a:prstGeom>
          <a:solidFill>
            <a:schemeClr val="accent1"/>
          </a:solidFill>
          <a:ln w="3175">
            <a:solidFill>
              <a:schemeClr val="accent1"/>
            </a:solidFill>
            <a:prstDash val="solid"/>
          </a:ln>
        </p:spPr>
      </p:sp>
      <p:sp>
        <p:nvSpPr>
          <p:cNvPr id="62" name="calcium ion: electron, shell 3"/>
          <p:cNvSpPr/>
          <p:nvPr/>
        </p:nvSpPr>
        <p:spPr>
          <a:xfrm>
            <a:off x="2938497" y="3441263"/>
            <a:ext cx="71168" cy="71168"/>
          </a:xfrm>
          <a:prstGeom prst="ellipse">
            <a:avLst/>
          </a:prstGeom>
          <a:solidFill>
            <a:schemeClr val="accent1"/>
          </a:solidFill>
          <a:ln w="3175">
            <a:solidFill>
              <a:schemeClr val="accent1"/>
            </a:solidFill>
            <a:prstDash val="solid"/>
          </a:ln>
        </p:spPr>
      </p:sp>
      <p:sp>
        <p:nvSpPr>
          <p:cNvPr id="63" name="calcium ion: electron, shell 3"/>
          <p:cNvSpPr/>
          <p:nvPr/>
        </p:nvSpPr>
        <p:spPr>
          <a:xfrm>
            <a:off x="2938497" y="3345569"/>
            <a:ext cx="71168" cy="71168"/>
          </a:xfrm>
          <a:prstGeom prst="ellipse">
            <a:avLst/>
          </a:prstGeom>
          <a:solidFill>
            <a:schemeClr val="accent1"/>
          </a:solidFill>
          <a:ln w="3175">
            <a:solidFill>
              <a:schemeClr val="accent1"/>
            </a:solidFill>
            <a:prstDash val="solid"/>
          </a:ln>
        </p:spPr>
      </p:sp>
      <p:sp>
        <p:nvSpPr>
          <p:cNvPr id="64" name="calcium ion: left bracket"/>
          <p:cNvSpPr/>
          <p:nvPr/>
        </p:nvSpPr>
        <p:spPr>
          <a:xfrm>
            <a:off x="2895888" y="2850168"/>
            <a:ext cx="73152" cy="1157665"/>
          </a:xfrm>
          <a:prstGeom prst="leftBracket">
            <a:avLst/>
          </a:prstGeom>
          <a:noFill/>
          <a:ln w="19050">
            <a:solidFill>
              <a:schemeClr val="bg1"/>
            </a:solidFill>
            <a:prstDash val="solid"/>
          </a:ln>
        </p:spPr>
      </p:sp>
      <p:sp>
        <p:nvSpPr>
          <p:cNvPr id="65" name="calcium ion: right bracket"/>
          <p:cNvSpPr/>
          <p:nvPr/>
        </p:nvSpPr>
        <p:spPr>
          <a:xfrm>
            <a:off x="3980400" y="2850168"/>
            <a:ext cx="73152" cy="1157665"/>
          </a:xfrm>
          <a:prstGeom prst="rightBracket">
            <a:avLst/>
          </a:prstGeom>
          <a:noFill/>
          <a:ln w="19050">
            <a:solidFill>
              <a:schemeClr val="bg1"/>
            </a:solidFill>
            <a:prstDash val="solid"/>
          </a:ln>
        </p:spPr>
      </p:sp>
      <p:sp>
        <p:nvSpPr>
          <p:cNvPr id="66" name="calcium ion: charge"/>
          <p:cNvSpPr txBox="1"/>
          <p:nvPr/>
        </p:nvSpPr>
        <p:spPr>
          <a:xfrm>
            <a:off x="4071840" y="2759363"/>
            <a:ext cx="264160" cy="198120"/>
          </a:xfrm>
          <a:prstGeom prst="rect">
            <a:avLst/>
          </a:prstGeom>
          <a:noFill/>
          <a:ln/>
        </p:spPr>
        <p:txBody>
          <a:bodyPr wrap="square" lIns="0" tIns="0" rIns="0" bIns="0" rtlCol="0" anchor="t"/>
          <a:lstStyle/>
          <a:p>
            <a:pPr indent="0" marL="0">
              <a:buNone/>
            </a:pPr>
            <a:r>
              <a:rPr lang="en-US" sz="1300" b="1" dirty="0">
                <a:solidFill>
                  <a:schemeClr val="bg1"/>
                </a:solidFill>
              </a:rPr>
              <a:t>2+</a:t>
            </a:r>
            <a:endParaRPr lang="en-US" sz="1300" dirty="0"/>
          </a:p>
        </p:txBody>
      </p:sp>
      <p:sp>
        <p:nvSpPr>
          <p:cNvPr id="67" name="Text 65"/>
          <p:cNvSpPr txBox="1"/>
          <p:nvPr/>
        </p:nvSpPr>
        <p:spPr>
          <a:xfrm>
            <a:off x="2560320" y="4224528"/>
            <a:ext cx="1828800" cy="292608"/>
          </a:xfrm>
          <a:prstGeom prst="rect">
            <a:avLst/>
          </a:prstGeom>
          <a:noFill/>
          <a:ln/>
        </p:spPr>
        <p:txBody>
          <a:bodyPr wrap="square" lIns="0" tIns="0" rIns="0" bIns="0" rtlCol="0" anchor="ctr"/>
          <a:lstStyle/>
          <a:p>
            <a:pPr algn="ctr" indent="0" marL="0">
              <a:buNone/>
            </a:pPr>
            <a:r>
              <a:rPr lang="en-US" sz="1300" b="1" dirty="0">
                <a:solidFill>
                  <a:schemeClr val="accent4"/>
                </a:solidFill>
              </a:rPr>
              <a:t>Loses 2 → </a:t>
            </a:r>
            <a:pPr algn="ctr" indent="0" marL="0">
              <a:buNone/>
            </a:pPr>
            <a:r>
              <a:rPr lang="en-US" sz="1300" b="1" dirty="0">
                <a:solidFill>
                  <a:schemeClr val="bg1"/>
                </a:solidFill>
              </a:rPr>
              <a:t>Ca</a:t>
            </a:r>
            <a:pPr algn="ctr" indent="0" marL="0">
              <a:buNone/>
            </a:pPr>
            <a:r>
              <a:rPr lang="en-US" sz="1300" b="1" baseline="30000" dirty="0">
                <a:solidFill>
                  <a:schemeClr val="bg1"/>
                </a:solidFill>
              </a:rPr>
              <a:t>2+</a:t>
            </a:r>
            <a:endParaRPr lang="en-US" sz="1300" dirty="0"/>
          </a:p>
        </p:txBody>
      </p:sp>
      <p:sp>
        <p:nvSpPr>
          <p:cNvPr id="68" name="Nitrogen"/>
          <p:cNvSpPr/>
          <p:nvPr/>
        </p:nvSpPr>
        <p:spPr>
          <a:xfrm>
            <a:off x="4663440" y="1691640"/>
            <a:ext cx="4023360" cy="2926080"/>
          </a:xfrm>
          <a:prstGeom prst="roundRect">
            <a:avLst>
              <a:gd name="adj" fmla="val 3125"/>
            </a:avLst>
          </a:prstGeom>
          <a:solidFill>
            <a:schemeClr val="tx2"/>
          </a:solidFill>
          <a:ln w="9525">
            <a:solidFill>
              <a:schemeClr val="bg2">
                <a:alpha val="30000"/>
              </a:schemeClr>
            </a:solidFill>
            <a:prstDash val="solid"/>
          </a:ln>
        </p:spPr>
      </p:sp>
      <p:sp>
        <p:nvSpPr>
          <p:cNvPr id="69" name="Tile N"/>
          <p:cNvSpPr/>
          <p:nvPr/>
        </p:nvSpPr>
        <p:spPr>
          <a:xfrm>
            <a:off x="4846320" y="1828800"/>
            <a:ext cx="566928" cy="621792"/>
          </a:xfrm>
          <a:prstGeom prst="roundRect">
            <a:avLst>
              <a:gd name="adj" fmla="val 12000"/>
            </a:avLst>
          </a:prstGeom>
          <a:solidFill>
            <a:srgbClr val="45C08F">
              <a:alpha val="30000"/>
            </a:srgbClr>
          </a:solidFill>
          <a:ln w="19050">
            <a:solidFill>
              <a:srgbClr val="45C08F"/>
            </a:solidFill>
            <a:prstDash val="solid"/>
          </a:ln>
        </p:spPr>
      </p:sp>
      <p:sp>
        <p:nvSpPr>
          <p:cNvPr id="70" name="Text 68"/>
          <p:cNvSpPr txBox="1"/>
          <p:nvPr/>
        </p:nvSpPr>
        <p:spPr>
          <a:xfrm>
            <a:off x="4891674" y="1859890"/>
            <a:ext cx="340157" cy="149230"/>
          </a:xfrm>
          <a:prstGeom prst="rect">
            <a:avLst/>
          </a:prstGeom>
          <a:noFill/>
          <a:ln/>
        </p:spPr>
        <p:txBody>
          <a:bodyPr wrap="square" lIns="0" tIns="0" rIns="0" bIns="0" rtlCol="0" anchor="t"/>
          <a:lstStyle/>
          <a:p>
            <a:pPr indent="0" marL="0">
              <a:buNone/>
            </a:pPr>
            <a:r>
              <a:rPr lang="en-US" sz="900" dirty="0">
                <a:solidFill>
                  <a:schemeClr val="bg2"/>
                </a:solidFill>
              </a:rPr>
              <a:t>7</a:t>
            </a:r>
            <a:endParaRPr lang="en-US" sz="900" dirty="0"/>
          </a:p>
        </p:txBody>
      </p:sp>
      <p:sp>
        <p:nvSpPr>
          <p:cNvPr id="71" name="Text 69"/>
          <p:cNvSpPr txBox="1"/>
          <p:nvPr/>
        </p:nvSpPr>
        <p:spPr>
          <a:xfrm>
            <a:off x="4846320" y="1928287"/>
            <a:ext cx="566928" cy="497434"/>
          </a:xfrm>
          <a:prstGeom prst="rect">
            <a:avLst/>
          </a:prstGeom>
          <a:noFill/>
          <a:ln/>
        </p:spPr>
        <p:txBody>
          <a:bodyPr wrap="square" lIns="0" tIns="0" rIns="0" bIns="0" rtlCol="0" anchor="ctr"/>
          <a:lstStyle/>
          <a:p>
            <a:pPr algn="ctr" indent="0" marL="0">
              <a:buNone/>
            </a:pPr>
            <a:r>
              <a:rPr lang="en-US" sz="2300" b="1" dirty="0">
                <a:solidFill>
                  <a:schemeClr val="bg1"/>
                </a:solidFill>
              </a:rPr>
              <a:t>N</a:t>
            </a:r>
            <a:endParaRPr lang="en-US" sz="2300" dirty="0"/>
          </a:p>
        </p:txBody>
      </p:sp>
      <p:sp>
        <p:nvSpPr>
          <p:cNvPr id="72" name="Text 70"/>
          <p:cNvSpPr txBox="1"/>
          <p:nvPr/>
        </p:nvSpPr>
        <p:spPr>
          <a:xfrm>
            <a:off x="5532120" y="1874520"/>
            <a:ext cx="3017520" cy="292608"/>
          </a:xfrm>
          <a:prstGeom prst="rect">
            <a:avLst/>
          </a:prstGeom>
          <a:noFill/>
          <a:ln/>
        </p:spPr>
        <p:txBody>
          <a:bodyPr wrap="square" lIns="0" tIns="0" rIns="0" bIns="0" rtlCol="0" anchor="t"/>
          <a:lstStyle/>
          <a:p>
            <a:pPr indent="0" marL="0">
              <a:buNone/>
            </a:pPr>
            <a:r>
              <a:rPr lang="en-US" sz="1500" b="1" dirty="0">
                <a:solidFill>
                  <a:schemeClr val="bg1"/>
                </a:solidFill>
              </a:rPr>
              <a:t>Nitrogen, group 15</a:t>
            </a:r>
            <a:endParaRPr lang="en-US" sz="1500" dirty="0"/>
          </a:p>
        </p:txBody>
      </p:sp>
      <p:sp>
        <p:nvSpPr>
          <p:cNvPr id="73" name="Text 71"/>
          <p:cNvSpPr txBox="1"/>
          <p:nvPr/>
        </p:nvSpPr>
        <p:spPr>
          <a:xfrm>
            <a:off x="5532120" y="2176272"/>
            <a:ext cx="3017520" cy="256032"/>
          </a:xfrm>
          <a:prstGeom prst="rect">
            <a:avLst/>
          </a:prstGeom>
          <a:noFill/>
          <a:ln/>
        </p:spPr>
        <p:txBody>
          <a:bodyPr wrap="square" lIns="0" tIns="0" rIns="0" bIns="0" rtlCol="0" anchor="t"/>
          <a:lstStyle/>
          <a:p>
            <a:pPr indent="0" marL="0">
              <a:buNone/>
            </a:pPr>
            <a:r>
              <a:rPr lang="en-US" sz="1200" dirty="0">
                <a:solidFill>
                  <a:schemeClr val="bg2"/>
                </a:solidFill>
              </a:rPr>
              <a:t>2, 5</a:t>
            </a:r>
            <a:endParaRPr lang="en-US" sz="1200" dirty="0"/>
          </a:p>
        </p:txBody>
      </p:sp>
      <p:sp>
        <p:nvSpPr>
          <p:cNvPr id="74" name="Nitrogen: shell 1"/>
          <p:cNvSpPr/>
          <p:nvPr/>
        </p:nvSpPr>
        <p:spPr>
          <a:xfrm>
            <a:off x="5376672" y="3136392"/>
            <a:ext cx="585216" cy="585216"/>
          </a:xfrm>
          <a:prstGeom prst="ellipse">
            <a:avLst/>
          </a:prstGeom>
          <a:solidFill>
            <a:schemeClr val="bg1">
              <a:alpha val="0"/>
            </a:schemeClr>
          </a:solidFill>
          <a:ln w="15875">
            <a:solidFill>
              <a:schemeClr val="bg2">
                <a:alpha val="55000"/>
              </a:schemeClr>
            </a:solidFill>
            <a:prstDash val="solid"/>
          </a:ln>
        </p:spPr>
      </p:sp>
      <p:sp>
        <p:nvSpPr>
          <p:cNvPr id="75" name="Nitrogen: shell 2"/>
          <p:cNvSpPr/>
          <p:nvPr/>
        </p:nvSpPr>
        <p:spPr>
          <a:xfrm>
            <a:off x="5193792" y="2953512"/>
            <a:ext cx="950976" cy="950976"/>
          </a:xfrm>
          <a:prstGeom prst="ellipse">
            <a:avLst/>
          </a:prstGeom>
          <a:solidFill>
            <a:schemeClr val="bg1">
              <a:alpha val="0"/>
            </a:schemeClr>
          </a:solidFill>
          <a:ln w="15875">
            <a:solidFill>
              <a:schemeClr val="accent2">
                <a:alpha val="80000"/>
              </a:schemeClr>
            </a:solidFill>
            <a:prstDash val="solid"/>
          </a:ln>
        </p:spPr>
      </p:sp>
      <p:sp>
        <p:nvSpPr>
          <p:cNvPr id="76" name="Nitrogen: nucleus"/>
          <p:cNvSpPr/>
          <p:nvPr/>
        </p:nvSpPr>
        <p:spPr>
          <a:xfrm>
            <a:off x="5480304" y="3240024"/>
            <a:ext cx="377952" cy="377952"/>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77" name="Nitrogen: electron, shell 1"/>
          <p:cNvSpPr/>
          <p:nvPr/>
        </p:nvSpPr>
        <p:spPr>
          <a:xfrm>
            <a:off x="5623560" y="3090672"/>
            <a:ext cx="91440" cy="91440"/>
          </a:xfrm>
          <a:prstGeom prst="ellipse">
            <a:avLst/>
          </a:prstGeom>
          <a:solidFill>
            <a:schemeClr val="accent1"/>
          </a:solidFill>
          <a:ln w="3175">
            <a:solidFill>
              <a:schemeClr val="accent1"/>
            </a:solidFill>
            <a:prstDash val="solid"/>
          </a:ln>
        </p:spPr>
      </p:sp>
      <p:sp>
        <p:nvSpPr>
          <p:cNvPr id="78" name="Nitrogen: electron, shell 1"/>
          <p:cNvSpPr/>
          <p:nvPr/>
        </p:nvSpPr>
        <p:spPr>
          <a:xfrm>
            <a:off x="5916168" y="3383280"/>
            <a:ext cx="91440" cy="91440"/>
          </a:xfrm>
          <a:prstGeom prst="ellipse">
            <a:avLst/>
          </a:prstGeom>
          <a:solidFill>
            <a:schemeClr val="accent1"/>
          </a:solidFill>
          <a:ln w="3175">
            <a:solidFill>
              <a:schemeClr val="accent1"/>
            </a:solidFill>
            <a:prstDash val="solid"/>
          </a:ln>
        </p:spPr>
      </p:sp>
      <p:sp>
        <p:nvSpPr>
          <p:cNvPr id="79" name="Nitrogen: electron, shell 2"/>
          <p:cNvSpPr/>
          <p:nvPr/>
        </p:nvSpPr>
        <p:spPr>
          <a:xfrm>
            <a:off x="5562162" y="2911773"/>
            <a:ext cx="91440" cy="91440"/>
          </a:xfrm>
          <a:prstGeom prst="ellipse">
            <a:avLst/>
          </a:prstGeom>
          <a:solidFill>
            <a:schemeClr val="accent2"/>
          </a:solidFill>
          <a:ln w="3175">
            <a:solidFill>
              <a:schemeClr val="accent2"/>
            </a:solidFill>
            <a:prstDash val="solid"/>
          </a:ln>
        </p:spPr>
      </p:sp>
      <p:sp>
        <p:nvSpPr>
          <p:cNvPr id="80" name="Nitrogen: electron, shell 2"/>
          <p:cNvSpPr/>
          <p:nvPr/>
        </p:nvSpPr>
        <p:spPr>
          <a:xfrm>
            <a:off x="5684958" y="2911773"/>
            <a:ext cx="91440" cy="91440"/>
          </a:xfrm>
          <a:prstGeom prst="ellipse">
            <a:avLst/>
          </a:prstGeom>
          <a:solidFill>
            <a:schemeClr val="accent2"/>
          </a:solidFill>
          <a:ln w="3175">
            <a:solidFill>
              <a:schemeClr val="accent2"/>
            </a:solidFill>
            <a:prstDash val="solid"/>
          </a:ln>
        </p:spPr>
      </p:sp>
      <p:sp>
        <p:nvSpPr>
          <p:cNvPr id="81" name="Nitrogen: electron, shell 2"/>
          <p:cNvSpPr/>
          <p:nvPr/>
        </p:nvSpPr>
        <p:spPr>
          <a:xfrm>
            <a:off x="6099048" y="3383280"/>
            <a:ext cx="91440" cy="91440"/>
          </a:xfrm>
          <a:prstGeom prst="ellipse">
            <a:avLst/>
          </a:prstGeom>
          <a:solidFill>
            <a:schemeClr val="accent2"/>
          </a:solidFill>
          <a:ln w="3175">
            <a:solidFill>
              <a:schemeClr val="accent2"/>
            </a:solidFill>
            <a:prstDash val="solid"/>
          </a:ln>
        </p:spPr>
      </p:sp>
      <p:sp>
        <p:nvSpPr>
          <p:cNvPr id="82" name="Nitrogen: electron, shell 2"/>
          <p:cNvSpPr/>
          <p:nvPr/>
        </p:nvSpPr>
        <p:spPr>
          <a:xfrm>
            <a:off x="5623560" y="3858768"/>
            <a:ext cx="91440" cy="91440"/>
          </a:xfrm>
          <a:prstGeom prst="ellipse">
            <a:avLst/>
          </a:prstGeom>
          <a:solidFill>
            <a:schemeClr val="accent2"/>
          </a:solidFill>
          <a:ln w="3175">
            <a:solidFill>
              <a:schemeClr val="accent2"/>
            </a:solidFill>
            <a:prstDash val="solid"/>
          </a:ln>
        </p:spPr>
      </p:sp>
      <p:sp>
        <p:nvSpPr>
          <p:cNvPr id="83" name="Nitrogen: electron, shell 2"/>
          <p:cNvSpPr/>
          <p:nvPr/>
        </p:nvSpPr>
        <p:spPr>
          <a:xfrm>
            <a:off x="5148072" y="3383280"/>
            <a:ext cx="91440" cy="91440"/>
          </a:xfrm>
          <a:prstGeom prst="ellipse">
            <a:avLst/>
          </a:prstGeom>
          <a:solidFill>
            <a:schemeClr val="accent2"/>
          </a:solidFill>
          <a:ln w="3175">
            <a:solidFill>
              <a:schemeClr val="accent2"/>
            </a:solidFill>
            <a:prstDash val="solid"/>
          </a:ln>
        </p:spPr>
      </p:sp>
      <p:sp>
        <p:nvSpPr>
          <p:cNvPr id="84" name="Arrow"/>
          <p:cNvSpPr/>
          <p:nvPr/>
        </p:nvSpPr>
        <p:spPr>
          <a:xfrm>
            <a:off x="6446520" y="3273552"/>
            <a:ext cx="384048" cy="310896"/>
          </a:xfrm>
          <a:prstGeom prst="rightArrow">
            <a:avLst/>
          </a:prstGeom>
          <a:solidFill>
            <a:schemeClr val="accent2"/>
          </a:solidFill>
          <a:ln w="6350">
            <a:solidFill>
              <a:schemeClr val="accent2"/>
            </a:solidFill>
            <a:prstDash val="solid"/>
          </a:ln>
        </p:spPr>
      </p:sp>
      <p:sp>
        <p:nvSpPr>
          <p:cNvPr id="85" name="nitride: shell 1"/>
          <p:cNvSpPr/>
          <p:nvPr/>
        </p:nvSpPr>
        <p:spPr>
          <a:xfrm>
            <a:off x="7388352" y="3136392"/>
            <a:ext cx="585216" cy="585216"/>
          </a:xfrm>
          <a:prstGeom prst="ellipse">
            <a:avLst/>
          </a:prstGeom>
          <a:solidFill>
            <a:schemeClr val="bg1">
              <a:alpha val="0"/>
            </a:schemeClr>
          </a:solidFill>
          <a:ln w="15875">
            <a:solidFill>
              <a:schemeClr val="bg2">
                <a:alpha val="55000"/>
              </a:schemeClr>
            </a:solidFill>
            <a:prstDash val="solid"/>
          </a:ln>
        </p:spPr>
      </p:sp>
      <p:sp>
        <p:nvSpPr>
          <p:cNvPr id="86" name="nitride: shell 2"/>
          <p:cNvSpPr/>
          <p:nvPr/>
        </p:nvSpPr>
        <p:spPr>
          <a:xfrm>
            <a:off x="7205472" y="2953512"/>
            <a:ext cx="950976" cy="950976"/>
          </a:xfrm>
          <a:prstGeom prst="ellipse">
            <a:avLst/>
          </a:prstGeom>
          <a:solidFill>
            <a:schemeClr val="bg1">
              <a:alpha val="0"/>
            </a:schemeClr>
          </a:solidFill>
          <a:ln w="15875">
            <a:solidFill>
              <a:schemeClr val="bg2">
                <a:alpha val="55000"/>
              </a:schemeClr>
            </a:solidFill>
            <a:prstDash val="solid"/>
          </a:ln>
        </p:spPr>
      </p:sp>
      <p:sp>
        <p:nvSpPr>
          <p:cNvPr id="87" name="nitride: nucleus"/>
          <p:cNvSpPr/>
          <p:nvPr/>
        </p:nvSpPr>
        <p:spPr>
          <a:xfrm>
            <a:off x="7491984" y="3240024"/>
            <a:ext cx="377952" cy="377952"/>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88" name="nitride: electron, shell 1"/>
          <p:cNvSpPr/>
          <p:nvPr/>
        </p:nvSpPr>
        <p:spPr>
          <a:xfrm>
            <a:off x="7635240" y="3090672"/>
            <a:ext cx="91440" cy="91440"/>
          </a:xfrm>
          <a:prstGeom prst="ellipse">
            <a:avLst/>
          </a:prstGeom>
          <a:solidFill>
            <a:schemeClr val="accent1"/>
          </a:solidFill>
          <a:ln w="3175">
            <a:solidFill>
              <a:schemeClr val="accent1"/>
            </a:solidFill>
            <a:prstDash val="solid"/>
          </a:ln>
        </p:spPr>
      </p:sp>
      <p:sp>
        <p:nvSpPr>
          <p:cNvPr id="89" name="nitride: electron, shell 1"/>
          <p:cNvSpPr/>
          <p:nvPr/>
        </p:nvSpPr>
        <p:spPr>
          <a:xfrm>
            <a:off x="7927848" y="3383280"/>
            <a:ext cx="91440" cy="91440"/>
          </a:xfrm>
          <a:prstGeom prst="ellipse">
            <a:avLst/>
          </a:prstGeom>
          <a:solidFill>
            <a:schemeClr val="accent1"/>
          </a:solidFill>
          <a:ln w="3175">
            <a:solidFill>
              <a:schemeClr val="accent1"/>
            </a:solidFill>
            <a:prstDash val="solid"/>
          </a:ln>
        </p:spPr>
      </p:sp>
      <p:sp>
        <p:nvSpPr>
          <p:cNvPr id="90" name="nitride: electron, shell 2"/>
          <p:cNvSpPr/>
          <p:nvPr/>
        </p:nvSpPr>
        <p:spPr>
          <a:xfrm>
            <a:off x="7573842" y="2911773"/>
            <a:ext cx="91440" cy="91440"/>
          </a:xfrm>
          <a:prstGeom prst="ellipse">
            <a:avLst/>
          </a:prstGeom>
          <a:solidFill>
            <a:schemeClr val="accent1"/>
          </a:solidFill>
          <a:ln w="3175">
            <a:solidFill>
              <a:schemeClr val="accent1"/>
            </a:solidFill>
            <a:prstDash val="solid"/>
          </a:ln>
        </p:spPr>
      </p:sp>
      <p:sp>
        <p:nvSpPr>
          <p:cNvPr id="91" name="nitride: electron, shell 2"/>
          <p:cNvSpPr/>
          <p:nvPr/>
        </p:nvSpPr>
        <p:spPr>
          <a:xfrm>
            <a:off x="7696638" y="2911773"/>
            <a:ext cx="91440" cy="91440"/>
          </a:xfrm>
          <a:prstGeom prst="ellipse">
            <a:avLst/>
          </a:prstGeom>
          <a:solidFill>
            <a:schemeClr val="accent1"/>
          </a:solidFill>
          <a:ln w="3175">
            <a:solidFill>
              <a:schemeClr val="accent1"/>
            </a:solidFill>
            <a:prstDash val="solid"/>
          </a:ln>
        </p:spPr>
      </p:sp>
      <p:sp>
        <p:nvSpPr>
          <p:cNvPr id="92" name="nitride: electron, shell 2"/>
          <p:cNvSpPr/>
          <p:nvPr/>
        </p:nvSpPr>
        <p:spPr>
          <a:xfrm>
            <a:off x="8106747" y="3321882"/>
            <a:ext cx="91440" cy="91440"/>
          </a:xfrm>
          <a:prstGeom prst="ellipse">
            <a:avLst/>
          </a:prstGeom>
          <a:solidFill>
            <a:schemeClr val="accent1"/>
          </a:solidFill>
          <a:ln w="3175">
            <a:solidFill>
              <a:schemeClr val="accent1"/>
            </a:solidFill>
            <a:prstDash val="solid"/>
          </a:ln>
        </p:spPr>
      </p:sp>
      <p:sp>
        <p:nvSpPr>
          <p:cNvPr id="93" name="nitride: gained electron, shell 2"/>
          <p:cNvSpPr/>
          <p:nvPr/>
        </p:nvSpPr>
        <p:spPr>
          <a:xfrm>
            <a:off x="8106747" y="3444678"/>
            <a:ext cx="91440" cy="91440"/>
          </a:xfrm>
          <a:prstGeom prst="ellipse">
            <a:avLst/>
          </a:prstGeom>
          <a:solidFill>
            <a:schemeClr val="accent6"/>
          </a:solidFill>
          <a:ln w="3175">
            <a:solidFill>
              <a:schemeClr val="accent6"/>
            </a:solidFill>
            <a:prstDash val="solid"/>
          </a:ln>
        </p:spPr>
      </p:sp>
      <p:sp>
        <p:nvSpPr>
          <p:cNvPr id="94" name="nitride: electron, shell 2"/>
          <p:cNvSpPr/>
          <p:nvPr/>
        </p:nvSpPr>
        <p:spPr>
          <a:xfrm>
            <a:off x="7696638" y="3854787"/>
            <a:ext cx="91440" cy="91440"/>
          </a:xfrm>
          <a:prstGeom prst="ellipse">
            <a:avLst/>
          </a:prstGeom>
          <a:solidFill>
            <a:schemeClr val="accent1"/>
          </a:solidFill>
          <a:ln w="3175">
            <a:solidFill>
              <a:schemeClr val="accent1"/>
            </a:solidFill>
            <a:prstDash val="solid"/>
          </a:ln>
        </p:spPr>
      </p:sp>
      <p:sp>
        <p:nvSpPr>
          <p:cNvPr id="95" name="nitride: gained electron, shell 2"/>
          <p:cNvSpPr/>
          <p:nvPr/>
        </p:nvSpPr>
        <p:spPr>
          <a:xfrm>
            <a:off x="7573842" y="3854787"/>
            <a:ext cx="91440" cy="91440"/>
          </a:xfrm>
          <a:prstGeom prst="ellipse">
            <a:avLst/>
          </a:prstGeom>
          <a:solidFill>
            <a:schemeClr val="accent6"/>
          </a:solidFill>
          <a:ln w="3175">
            <a:solidFill>
              <a:schemeClr val="accent6"/>
            </a:solidFill>
            <a:prstDash val="solid"/>
          </a:ln>
        </p:spPr>
      </p:sp>
      <p:sp>
        <p:nvSpPr>
          <p:cNvPr id="96" name="nitride: electron, shell 2"/>
          <p:cNvSpPr/>
          <p:nvPr/>
        </p:nvSpPr>
        <p:spPr>
          <a:xfrm>
            <a:off x="7163733" y="3444678"/>
            <a:ext cx="91440" cy="91440"/>
          </a:xfrm>
          <a:prstGeom prst="ellipse">
            <a:avLst/>
          </a:prstGeom>
          <a:solidFill>
            <a:schemeClr val="accent1"/>
          </a:solidFill>
          <a:ln w="3175">
            <a:solidFill>
              <a:schemeClr val="accent1"/>
            </a:solidFill>
            <a:prstDash val="solid"/>
          </a:ln>
        </p:spPr>
      </p:sp>
      <p:sp>
        <p:nvSpPr>
          <p:cNvPr id="97" name="nitride: gained electron, shell 2"/>
          <p:cNvSpPr/>
          <p:nvPr/>
        </p:nvSpPr>
        <p:spPr>
          <a:xfrm>
            <a:off x="7163733" y="3321882"/>
            <a:ext cx="91440" cy="91440"/>
          </a:xfrm>
          <a:prstGeom prst="ellipse">
            <a:avLst/>
          </a:prstGeom>
          <a:solidFill>
            <a:schemeClr val="accent6"/>
          </a:solidFill>
          <a:ln w="3175">
            <a:solidFill>
              <a:schemeClr val="accent6"/>
            </a:solidFill>
            <a:prstDash val="solid"/>
          </a:ln>
        </p:spPr>
      </p:sp>
      <p:sp>
        <p:nvSpPr>
          <p:cNvPr id="98" name="nitride: left bracket"/>
          <p:cNvSpPr/>
          <p:nvPr/>
        </p:nvSpPr>
        <p:spPr>
          <a:xfrm>
            <a:off x="7107936" y="2855976"/>
            <a:ext cx="85344" cy="1146048"/>
          </a:xfrm>
          <a:prstGeom prst="leftBracket">
            <a:avLst/>
          </a:prstGeom>
          <a:noFill/>
          <a:ln w="19050">
            <a:solidFill>
              <a:schemeClr val="bg1"/>
            </a:solidFill>
            <a:prstDash val="solid"/>
          </a:ln>
        </p:spPr>
      </p:sp>
      <p:sp>
        <p:nvSpPr>
          <p:cNvPr id="99" name="nitride: right bracket"/>
          <p:cNvSpPr/>
          <p:nvPr/>
        </p:nvSpPr>
        <p:spPr>
          <a:xfrm>
            <a:off x="8168640" y="2855976"/>
            <a:ext cx="85344" cy="1146048"/>
          </a:xfrm>
          <a:prstGeom prst="rightBracket">
            <a:avLst/>
          </a:prstGeom>
          <a:noFill/>
          <a:ln w="19050">
            <a:solidFill>
              <a:schemeClr val="bg1"/>
            </a:solidFill>
            <a:prstDash val="solid"/>
          </a:ln>
        </p:spPr>
      </p:sp>
      <p:sp>
        <p:nvSpPr>
          <p:cNvPr id="100" name="nitride: charge"/>
          <p:cNvSpPr txBox="1"/>
          <p:nvPr/>
        </p:nvSpPr>
        <p:spPr>
          <a:xfrm>
            <a:off x="8272272" y="2765171"/>
            <a:ext cx="264160" cy="198120"/>
          </a:xfrm>
          <a:prstGeom prst="rect">
            <a:avLst/>
          </a:prstGeom>
          <a:noFill/>
          <a:ln/>
        </p:spPr>
        <p:txBody>
          <a:bodyPr wrap="square" lIns="0" tIns="0" rIns="0" bIns="0" rtlCol="0" anchor="t"/>
          <a:lstStyle/>
          <a:p>
            <a:pPr indent="0" marL="0">
              <a:buNone/>
            </a:pPr>
            <a:r>
              <a:rPr lang="en-US" sz="1300" b="1" dirty="0">
                <a:solidFill>
                  <a:schemeClr val="bg1"/>
                </a:solidFill>
              </a:rPr>
              <a:t>3−</a:t>
            </a:r>
            <a:endParaRPr lang="en-US" sz="1300" dirty="0"/>
          </a:p>
        </p:txBody>
      </p:sp>
      <p:sp>
        <p:nvSpPr>
          <p:cNvPr id="101" name="Text 99"/>
          <p:cNvSpPr txBox="1"/>
          <p:nvPr/>
        </p:nvSpPr>
        <p:spPr>
          <a:xfrm>
            <a:off x="6766560" y="4224528"/>
            <a:ext cx="1828800" cy="292608"/>
          </a:xfrm>
          <a:prstGeom prst="rect">
            <a:avLst/>
          </a:prstGeom>
          <a:noFill/>
          <a:ln/>
        </p:spPr>
        <p:txBody>
          <a:bodyPr wrap="square" lIns="0" tIns="0" rIns="0" bIns="0" rtlCol="0" anchor="ctr"/>
          <a:lstStyle/>
          <a:p>
            <a:pPr algn="ctr" indent="0" marL="0">
              <a:buNone/>
            </a:pPr>
            <a:r>
              <a:rPr lang="en-US" sz="1300" b="1" dirty="0">
                <a:solidFill>
                  <a:schemeClr val="accent4"/>
                </a:solidFill>
              </a:rPr>
              <a:t>Gains 3 → </a:t>
            </a:r>
            <a:pPr algn="ctr" indent="0" marL="0">
              <a:buNone/>
            </a:pPr>
            <a:r>
              <a:rPr lang="en-US" sz="1300" b="1" dirty="0">
                <a:solidFill>
                  <a:schemeClr val="bg1"/>
                </a:solidFill>
              </a:rPr>
              <a:t>N</a:t>
            </a:r>
            <a:pPr algn="ctr" indent="0" marL="0">
              <a:buNone/>
            </a:pPr>
            <a:r>
              <a:rPr lang="en-US" sz="1300" b="1" baseline="30000" dirty="0">
                <a:solidFill>
                  <a:schemeClr val="bg1"/>
                </a:solidFill>
              </a:rPr>
              <a:t>3−</a:t>
            </a:r>
            <a:endParaRPr lang="en-US" sz="13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ection tile 4"/>
          <p:cNvSpPr/>
          <p:nvPr/>
        </p:nvSpPr>
        <p:spPr>
          <a:xfrm>
            <a:off x="457200" y="301752"/>
            <a:ext cx="749808" cy="841248"/>
          </a:xfrm>
          <a:prstGeom prst="roundRect">
            <a:avLst>
              <a:gd name="adj" fmla="val 12000"/>
            </a:avLst>
          </a:prstGeom>
          <a:solidFill>
            <a:srgbClr val="60A5FA">
              <a:alpha val="28000"/>
            </a:srgbClr>
          </a:solidFill>
          <a:ln w="19050">
            <a:solidFill>
              <a:srgbClr val="60A5FA"/>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4</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2400" b="1" dirty="0">
                <a:solidFill>
                  <a:schemeClr val="bg1"/>
                </a:solidFill>
              </a:rPr>
              <a:t>Al</a:t>
            </a:r>
            <a:pPr algn="ctr" indent="0" marL="0">
              <a:buNone/>
            </a:pPr>
            <a:r>
              <a:rPr lang="en-US" sz="2400" b="1" baseline="30000" dirty="0">
                <a:solidFill>
                  <a:schemeClr val="bg1"/>
                </a:solidFill>
              </a:rPr>
              <a:t>3+</a:t>
            </a:r>
            <a:endParaRPr lang="en-US" sz="2400" dirty="0"/>
          </a:p>
        </p:txBody>
      </p:sp>
      <p:sp>
        <p:nvSpPr>
          <p:cNvPr id="5" name="Text 3"/>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6" name="Text 4"/>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4 of 9</a:t>
            </a:r>
            <a:endParaRPr lang="en-US" sz="1200" dirty="0"/>
          </a:p>
        </p:txBody>
      </p:sp>
      <p:sp>
        <p:nvSpPr>
          <p:cNvPr id="7"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Sort by ion charge</a:t>
            </a:r>
            <a:endParaRPr lang="en-US" sz="2800" dirty="0"/>
          </a:p>
        </p:txBody>
      </p:sp>
      <p:sp>
        <p:nvSpPr>
          <p:cNvPr id="8" name="Text 6"/>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Drag each element to the charge of the ion it forms, or tap an element and then tap a box.</a:t>
            </a:r>
            <a:endParaRPr lang="en-US" sz="1300" dirty="0"/>
          </a:p>
        </p:txBody>
      </p:sp>
      <p:sp>
        <p:nvSpPr>
          <p:cNvPr id="9" name="Tile S"/>
          <p:cNvSpPr/>
          <p:nvPr/>
        </p:nvSpPr>
        <p:spPr>
          <a:xfrm>
            <a:off x="457200" y="1691640"/>
            <a:ext cx="658368" cy="694944"/>
          </a:xfrm>
          <a:prstGeom prst="roundRect">
            <a:avLst>
              <a:gd name="adj" fmla="val 12000"/>
            </a:avLst>
          </a:prstGeom>
          <a:solidFill>
            <a:srgbClr val="45C08F">
              <a:alpha val="30000"/>
            </a:srgbClr>
          </a:solidFill>
          <a:ln w="19050">
            <a:solidFill>
              <a:srgbClr val="45C08F"/>
            </a:solidFill>
            <a:prstDash val="solid"/>
          </a:ln>
        </p:spPr>
      </p:sp>
      <p:sp>
        <p:nvSpPr>
          <p:cNvPr id="10" name="Text 8"/>
          <p:cNvSpPr txBox="1"/>
          <p:nvPr/>
        </p:nvSpPr>
        <p:spPr>
          <a:xfrm>
            <a:off x="509869" y="1726387"/>
            <a:ext cx="395021" cy="166787"/>
          </a:xfrm>
          <a:prstGeom prst="rect">
            <a:avLst/>
          </a:prstGeom>
          <a:noFill/>
          <a:ln/>
        </p:spPr>
        <p:txBody>
          <a:bodyPr wrap="square" lIns="0" tIns="0" rIns="0" bIns="0" rtlCol="0" anchor="t"/>
          <a:lstStyle/>
          <a:p>
            <a:pPr indent="0" marL="0">
              <a:buNone/>
            </a:pPr>
            <a:r>
              <a:rPr lang="en-US" sz="1000" dirty="0">
                <a:solidFill>
                  <a:schemeClr val="bg2"/>
                </a:solidFill>
              </a:rPr>
              <a:t>16</a:t>
            </a:r>
            <a:endParaRPr lang="en-US" sz="1000" dirty="0"/>
          </a:p>
        </p:txBody>
      </p:sp>
      <p:sp>
        <p:nvSpPr>
          <p:cNvPr id="11" name="Text 9"/>
          <p:cNvSpPr txBox="1"/>
          <p:nvPr/>
        </p:nvSpPr>
        <p:spPr>
          <a:xfrm>
            <a:off x="457200" y="1802831"/>
            <a:ext cx="658368" cy="555955"/>
          </a:xfrm>
          <a:prstGeom prst="rect">
            <a:avLst/>
          </a:prstGeom>
          <a:noFill/>
          <a:ln/>
        </p:spPr>
        <p:txBody>
          <a:bodyPr wrap="square" lIns="0" tIns="0" rIns="0" bIns="0" rtlCol="0" anchor="ctr"/>
          <a:lstStyle/>
          <a:p>
            <a:pPr algn="ctr" indent="0" marL="0">
              <a:buNone/>
            </a:pPr>
            <a:r>
              <a:rPr lang="en-US" sz="2600" b="1" dirty="0">
                <a:solidFill>
                  <a:schemeClr val="bg1"/>
                </a:solidFill>
              </a:rPr>
              <a:t>S</a:t>
            </a:r>
            <a:endParaRPr lang="en-US" sz="2600" dirty="0"/>
          </a:p>
        </p:txBody>
      </p:sp>
      <p:sp>
        <p:nvSpPr>
          <p:cNvPr id="12" name="Tile Al"/>
          <p:cNvSpPr/>
          <p:nvPr/>
        </p:nvSpPr>
        <p:spPr>
          <a:xfrm>
            <a:off x="1216152" y="1691640"/>
            <a:ext cx="658368" cy="694944"/>
          </a:xfrm>
          <a:prstGeom prst="roundRect">
            <a:avLst>
              <a:gd name="adj" fmla="val 12000"/>
            </a:avLst>
          </a:prstGeom>
          <a:solidFill>
            <a:srgbClr val="8EA8CC">
              <a:alpha val="30000"/>
            </a:srgbClr>
          </a:solidFill>
          <a:ln w="19050">
            <a:solidFill>
              <a:srgbClr val="8EA8CC"/>
            </a:solidFill>
            <a:prstDash val="solid"/>
          </a:ln>
        </p:spPr>
      </p:sp>
      <p:sp>
        <p:nvSpPr>
          <p:cNvPr id="13" name="Text 11"/>
          <p:cNvSpPr txBox="1"/>
          <p:nvPr/>
        </p:nvSpPr>
        <p:spPr>
          <a:xfrm>
            <a:off x="1268821" y="1726387"/>
            <a:ext cx="395021" cy="166787"/>
          </a:xfrm>
          <a:prstGeom prst="rect">
            <a:avLst/>
          </a:prstGeom>
          <a:noFill/>
          <a:ln/>
        </p:spPr>
        <p:txBody>
          <a:bodyPr wrap="square" lIns="0" tIns="0" rIns="0" bIns="0" rtlCol="0" anchor="t"/>
          <a:lstStyle/>
          <a:p>
            <a:pPr indent="0" marL="0">
              <a:buNone/>
            </a:pPr>
            <a:r>
              <a:rPr lang="en-US" sz="1000" dirty="0">
                <a:solidFill>
                  <a:schemeClr val="bg2"/>
                </a:solidFill>
              </a:rPr>
              <a:t>13</a:t>
            </a:r>
            <a:endParaRPr lang="en-US" sz="1000" dirty="0"/>
          </a:p>
        </p:txBody>
      </p:sp>
      <p:sp>
        <p:nvSpPr>
          <p:cNvPr id="14" name="Text 12"/>
          <p:cNvSpPr txBox="1"/>
          <p:nvPr/>
        </p:nvSpPr>
        <p:spPr>
          <a:xfrm>
            <a:off x="1216152" y="1802831"/>
            <a:ext cx="658368" cy="555955"/>
          </a:xfrm>
          <a:prstGeom prst="rect">
            <a:avLst/>
          </a:prstGeom>
          <a:noFill/>
          <a:ln/>
        </p:spPr>
        <p:txBody>
          <a:bodyPr wrap="square" lIns="0" tIns="0" rIns="0" bIns="0" rtlCol="0" anchor="ctr"/>
          <a:lstStyle/>
          <a:p>
            <a:pPr algn="ctr" indent="0" marL="0">
              <a:buNone/>
            </a:pPr>
            <a:r>
              <a:rPr lang="en-US" sz="2600" b="1" dirty="0">
                <a:solidFill>
                  <a:schemeClr val="bg1"/>
                </a:solidFill>
              </a:rPr>
              <a:t>Al</a:t>
            </a:r>
            <a:endParaRPr lang="en-US" sz="2600" dirty="0"/>
          </a:p>
        </p:txBody>
      </p:sp>
      <p:sp>
        <p:nvSpPr>
          <p:cNvPr id="15" name="Tile Li"/>
          <p:cNvSpPr/>
          <p:nvPr/>
        </p:nvSpPr>
        <p:spPr>
          <a:xfrm>
            <a:off x="1975104" y="1691640"/>
            <a:ext cx="658368" cy="694944"/>
          </a:xfrm>
          <a:prstGeom prst="roundRect">
            <a:avLst>
              <a:gd name="adj" fmla="val 12000"/>
            </a:avLst>
          </a:prstGeom>
          <a:solidFill>
            <a:srgbClr val="FF8F5E">
              <a:alpha val="30000"/>
            </a:srgbClr>
          </a:solidFill>
          <a:ln w="19050">
            <a:solidFill>
              <a:srgbClr val="FF8F5E"/>
            </a:solidFill>
            <a:prstDash val="solid"/>
          </a:ln>
        </p:spPr>
      </p:sp>
      <p:sp>
        <p:nvSpPr>
          <p:cNvPr id="16" name="Text 14"/>
          <p:cNvSpPr txBox="1"/>
          <p:nvPr/>
        </p:nvSpPr>
        <p:spPr>
          <a:xfrm>
            <a:off x="2027773" y="1726387"/>
            <a:ext cx="395021" cy="166787"/>
          </a:xfrm>
          <a:prstGeom prst="rect">
            <a:avLst/>
          </a:prstGeom>
          <a:noFill/>
          <a:ln/>
        </p:spPr>
        <p:txBody>
          <a:bodyPr wrap="square" lIns="0" tIns="0" rIns="0" bIns="0" rtlCol="0" anchor="t"/>
          <a:lstStyle/>
          <a:p>
            <a:pPr indent="0" marL="0">
              <a:buNone/>
            </a:pPr>
            <a:r>
              <a:rPr lang="en-US" sz="1000" dirty="0">
                <a:solidFill>
                  <a:schemeClr val="bg2"/>
                </a:solidFill>
              </a:rPr>
              <a:t>3</a:t>
            </a:r>
            <a:endParaRPr lang="en-US" sz="1000" dirty="0"/>
          </a:p>
        </p:txBody>
      </p:sp>
      <p:sp>
        <p:nvSpPr>
          <p:cNvPr id="17" name="Text 15"/>
          <p:cNvSpPr txBox="1"/>
          <p:nvPr/>
        </p:nvSpPr>
        <p:spPr>
          <a:xfrm>
            <a:off x="1975104" y="1802831"/>
            <a:ext cx="658368" cy="555955"/>
          </a:xfrm>
          <a:prstGeom prst="rect">
            <a:avLst/>
          </a:prstGeom>
          <a:noFill/>
          <a:ln/>
        </p:spPr>
        <p:txBody>
          <a:bodyPr wrap="square" lIns="0" tIns="0" rIns="0" bIns="0" rtlCol="0" anchor="ctr"/>
          <a:lstStyle/>
          <a:p>
            <a:pPr algn="ctr" indent="0" marL="0">
              <a:buNone/>
            </a:pPr>
            <a:r>
              <a:rPr lang="en-US" sz="2600" b="1" dirty="0">
                <a:solidFill>
                  <a:schemeClr val="bg1"/>
                </a:solidFill>
              </a:rPr>
              <a:t>Li</a:t>
            </a:r>
            <a:endParaRPr lang="en-US" sz="2600" dirty="0"/>
          </a:p>
        </p:txBody>
      </p:sp>
      <p:sp>
        <p:nvSpPr>
          <p:cNvPr id="18" name="Tile N"/>
          <p:cNvSpPr/>
          <p:nvPr/>
        </p:nvSpPr>
        <p:spPr>
          <a:xfrm>
            <a:off x="2734056" y="1691640"/>
            <a:ext cx="658368" cy="694944"/>
          </a:xfrm>
          <a:prstGeom prst="roundRect">
            <a:avLst>
              <a:gd name="adj" fmla="val 12000"/>
            </a:avLst>
          </a:prstGeom>
          <a:solidFill>
            <a:srgbClr val="45C08F">
              <a:alpha val="30000"/>
            </a:srgbClr>
          </a:solidFill>
          <a:ln w="19050">
            <a:solidFill>
              <a:srgbClr val="45C08F"/>
            </a:solidFill>
            <a:prstDash val="solid"/>
          </a:ln>
        </p:spPr>
      </p:sp>
      <p:sp>
        <p:nvSpPr>
          <p:cNvPr id="19" name="Text 17"/>
          <p:cNvSpPr txBox="1"/>
          <p:nvPr/>
        </p:nvSpPr>
        <p:spPr>
          <a:xfrm>
            <a:off x="2786725" y="1726387"/>
            <a:ext cx="395021" cy="166787"/>
          </a:xfrm>
          <a:prstGeom prst="rect">
            <a:avLst/>
          </a:prstGeom>
          <a:noFill/>
          <a:ln/>
        </p:spPr>
        <p:txBody>
          <a:bodyPr wrap="square" lIns="0" tIns="0" rIns="0" bIns="0" rtlCol="0" anchor="t"/>
          <a:lstStyle/>
          <a:p>
            <a:pPr indent="0" marL="0">
              <a:buNone/>
            </a:pPr>
            <a:r>
              <a:rPr lang="en-US" sz="1000" dirty="0">
                <a:solidFill>
                  <a:schemeClr val="bg2"/>
                </a:solidFill>
              </a:rPr>
              <a:t>7</a:t>
            </a:r>
            <a:endParaRPr lang="en-US" sz="1000" dirty="0"/>
          </a:p>
        </p:txBody>
      </p:sp>
      <p:sp>
        <p:nvSpPr>
          <p:cNvPr id="20" name="Text 18"/>
          <p:cNvSpPr txBox="1"/>
          <p:nvPr/>
        </p:nvSpPr>
        <p:spPr>
          <a:xfrm>
            <a:off x="2734056" y="1802831"/>
            <a:ext cx="658368" cy="555955"/>
          </a:xfrm>
          <a:prstGeom prst="rect">
            <a:avLst/>
          </a:prstGeom>
          <a:noFill/>
          <a:ln/>
        </p:spPr>
        <p:txBody>
          <a:bodyPr wrap="square" lIns="0" tIns="0" rIns="0" bIns="0" rtlCol="0" anchor="ctr"/>
          <a:lstStyle/>
          <a:p>
            <a:pPr algn="ctr" indent="0" marL="0">
              <a:buNone/>
            </a:pPr>
            <a:r>
              <a:rPr lang="en-US" sz="2600" b="1" dirty="0">
                <a:solidFill>
                  <a:schemeClr val="bg1"/>
                </a:solidFill>
              </a:rPr>
              <a:t>N</a:t>
            </a:r>
            <a:endParaRPr lang="en-US" sz="2600" dirty="0"/>
          </a:p>
        </p:txBody>
      </p:sp>
      <p:sp>
        <p:nvSpPr>
          <p:cNvPr id="21" name="Tile F"/>
          <p:cNvSpPr/>
          <p:nvPr/>
        </p:nvSpPr>
        <p:spPr>
          <a:xfrm>
            <a:off x="3493008" y="1691640"/>
            <a:ext cx="658368" cy="694944"/>
          </a:xfrm>
          <a:prstGeom prst="roundRect">
            <a:avLst>
              <a:gd name="adj" fmla="val 12000"/>
            </a:avLst>
          </a:prstGeom>
          <a:solidFill>
            <a:srgbClr val="F477B8">
              <a:alpha val="30000"/>
            </a:srgbClr>
          </a:solidFill>
          <a:ln w="19050">
            <a:solidFill>
              <a:srgbClr val="F477B8"/>
            </a:solidFill>
            <a:prstDash val="solid"/>
          </a:ln>
        </p:spPr>
      </p:sp>
      <p:sp>
        <p:nvSpPr>
          <p:cNvPr id="22" name="Text 20"/>
          <p:cNvSpPr txBox="1"/>
          <p:nvPr/>
        </p:nvSpPr>
        <p:spPr>
          <a:xfrm>
            <a:off x="3545677" y="1726387"/>
            <a:ext cx="395021" cy="166787"/>
          </a:xfrm>
          <a:prstGeom prst="rect">
            <a:avLst/>
          </a:prstGeom>
          <a:noFill/>
          <a:ln/>
        </p:spPr>
        <p:txBody>
          <a:bodyPr wrap="square" lIns="0" tIns="0" rIns="0" bIns="0" rtlCol="0" anchor="t"/>
          <a:lstStyle/>
          <a:p>
            <a:pPr indent="0" marL="0">
              <a:buNone/>
            </a:pPr>
            <a:r>
              <a:rPr lang="en-US" sz="1000" dirty="0">
                <a:solidFill>
                  <a:schemeClr val="bg2"/>
                </a:solidFill>
              </a:rPr>
              <a:t>9</a:t>
            </a:r>
            <a:endParaRPr lang="en-US" sz="1000" dirty="0"/>
          </a:p>
        </p:txBody>
      </p:sp>
      <p:sp>
        <p:nvSpPr>
          <p:cNvPr id="23" name="Text 21"/>
          <p:cNvSpPr txBox="1"/>
          <p:nvPr/>
        </p:nvSpPr>
        <p:spPr>
          <a:xfrm>
            <a:off x="3493008" y="1802831"/>
            <a:ext cx="658368" cy="555955"/>
          </a:xfrm>
          <a:prstGeom prst="rect">
            <a:avLst/>
          </a:prstGeom>
          <a:noFill/>
          <a:ln/>
        </p:spPr>
        <p:txBody>
          <a:bodyPr wrap="square" lIns="0" tIns="0" rIns="0" bIns="0" rtlCol="0" anchor="ctr"/>
          <a:lstStyle/>
          <a:p>
            <a:pPr algn="ctr" indent="0" marL="0">
              <a:buNone/>
            </a:pPr>
            <a:r>
              <a:rPr lang="en-US" sz="2600" b="1" dirty="0">
                <a:solidFill>
                  <a:schemeClr val="bg1"/>
                </a:solidFill>
              </a:rPr>
              <a:t>F</a:t>
            </a:r>
            <a:endParaRPr lang="en-US" sz="2600" dirty="0"/>
          </a:p>
        </p:txBody>
      </p:sp>
      <p:sp>
        <p:nvSpPr>
          <p:cNvPr id="24" name="Tile P"/>
          <p:cNvSpPr/>
          <p:nvPr/>
        </p:nvSpPr>
        <p:spPr>
          <a:xfrm>
            <a:off x="4251960" y="1691640"/>
            <a:ext cx="658368" cy="694944"/>
          </a:xfrm>
          <a:prstGeom prst="roundRect">
            <a:avLst>
              <a:gd name="adj" fmla="val 12000"/>
            </a:avLst>
          </a:prstGeom>
          <a:solidFill>
            <a:srgbClr val="45C08F">
              <a:alpha val="30000"/>
            </a:srgbClr>
          </a:solidFill>
          <a:ln w="19050">
            <a:solidFill>
              <a:srgbClr val="45C08F"/>
            </a:solidFill>
            <a:prstDash val="solid"/>
          </a:ln>
        </p:spPr>
      </p:sp>
      <p:sp>
        <p:nvSpPr>
          <p:cNvPr id="25" name="Text 23"/>
          <p:cNvSpPr txBox="1"/>
          <p:nvPr/>
        </p:nvSpPr>
        <p:spPr>
          <a:xfrm>
            <a:off x="4304629" y="1726387"/>
            <a:ext cx="395021" cy="166787"/>
          </a:xfrm>
          <a:prstGeom prst="rect">
            <a:avLst/>
          </a:prstGeom>
          <a:noFill/>
          <a:ln/>
        </p:spPr>
        <p:txBody>
          <a:bodyPr wrap="square" lIns="0" tIns="0" rIns="0" bIns="0" rtlCol="0" anchor="t"/>
          <a:lstStyle/>
          <a:p>
            <a:pPr indent="0" marL="0">
              <a:buNone/>
            </a:pPr>
            <a:r>
              <a:rPr lang="en-US" sz="1000" dirty="0">
                <a:solidFill>
                  <a:schemeClr val="bg2"/>
                </a:solidFill>
              </a:rPr>
              <a:t>15</a:t>
            </a:r>
            <a:endParaRPr lang="en-US" sz="1000" dirty="0"/>
          </a:p>
        </p:txBody>
      </p:sp>
      <p:sp>
        <p:nvSpPr>
          <p:cNvPr id="26" name="Text 24"/>
          <p:cNvSpPr txBox="1"/>
          <p:nvPr/>
        </p:nvSpPr>
        <p:spPr>
          <a:xfrm>
            <a:off x="4251960" y="1802831"/>
            <a:ext cx="658368" cy="555955"/>
          </a:xfrm>
          <a:prstGeom prst="rect">
            <a:avLst/>
          </a:prstGeom>
          <a:noFill/>
          <a:ln/>
        </p:spPr>
        <p:txBody>
          <a:bodyPr wrap="square" lIns="0" tIns="0" rIns="0" bIns="0" rtlCol="0" anchor="ctr"/>
          <a:lstStyle/>
          <a:p>
            <a:pPr algn="ctr" indent="0" marL="0">
              <a:buNone/>
            </a:pPr>
            <a:r>
              <a:rPr lang="en-US" sz="2600" b="1" dirty="0">
                <a:solidFill>
                  <a:schemeClr val="bg1"/>
                </a:solidFill>
              </a:rPr>
              <a:t>P</a:t>
            </a:r>
            <a:endParaRPr lang="en-US" sz="2600" dirty="0"/>
          </a:p>
        </p:txBody>
      </p:sp>
      <p:sp>
        <p:nvSpPr>
          <p:cNvPr id="27" name="Tile Ca"/>
          <p:cNvSpPr/>
          <p:nvPr/>
        </p:nvSpPr>
        <p:spPr>
          <a:xfrm>
            <a:off x="5010912" y="1691640"/>
            <a:ext cx="658368" cy="694944"/>
          </a:xfrm>
          <a:prstGeom prst="roundRect">
            <a:avLst>
              <a:gd name="adj" fmla="val 12000"/>
            </a:avLst>
          </a:prstGeom>
          <a:solidFill>
            <a:srgbClr val="FFCB5C">
              <a:alpha val="30000"/>
            </a:srgbClr>
          </a:solidFill>
          <a:ln w="19050">
            <a:solidFill>
              <a:srgbClr val="FFCB5C"/>
            </a:solidFill>
            <a:prstDash val="solid"/>
          </a:ln>
        </p:spPr>
      </p:sp>
      <p:sp>
        <p:nvSpPr>
          <p:cNvPr id="28" name="Text 26"/>
          <p:cNvSpPr txBox="1"/>
          <p:nvPr/>
        </p:nvSpPr>
        <p:spPr>
          <a:xfrm>
            <a:off x="5063581" y="1726387"/>
            <a:ext cx="395021" cy="166787"/>
          </a:xfrm>
          <a:prstGeom prst="rect">
            <a:avLst/>
          </a:prstGeom>
          <a:noFill/>
          <a:ln/>
        </p:spPr>
        <p:txBody>
          <a:bodyPr wrap="square" lIns="0" tIns="0" rIns="0" bIns="0" rtlCol="0" anchor="t"/>
          <a:lstStyle/>
          <a:p>
            <a:pPr indent="0" marL="0">
              <a:buNone/>
            </a:pPr>
            <a:r>
              <a:rPr lang="en-US" sz="1000" dirty="0">
                <a:solidFill>
                  <a:schemeClr val="bg2"/>
                </a:solidFill>
              </a:rPr>
              <a:t>20</a:t>
            </a:r>
            <a:endParaRPr lang="en-US" sz="1000" dirty="0"/>
          </a:p>
        </p:txBody>
      </p:sp>
      <p:sp>
        <p:nvSpPr>
          <p:cNvPr id="29" name="Text 27"/>
          <p:cNvSpPr txBox="1"/>
          <p:nvPr/>
        </p:nvSpPr>
        <p:spPr>
          <a:xfrm>
            <a:off x="5010912" y="1802831"/>
            <a:ext cx="658368" cy="555955"/>
          </a:xfrm>
          <a:prstGeom prst="rect">
            <a:avLst/>
          </a:prstGeom>
          <a:noFill/>
          <a:ln/>
        </p:spPr>
        <p:txBody>
          <a:bodyPr wrap="square" lIns="0" tIns="0" rIns="0" bIns="0" rtlCol="0" anchor="ctr"/>
          <a:lstStyle/>
          <a:p>
            <a:pPr algn="ctr" indent="0" marL="0">
              <a:buNone/>
            </a:pPr>
            <a:r>
              <a:rPr lang="en-US" sz="2600" b="1" dirty="0">
                <a:solidFill>
                  <a:schemeClr val="bg1"/>
                </a:solidFill>
              </a:rPr>
              <a:t>Ca</a:t>
            </a:r>
            <a:endParaRPr lang="en-US" sz="2600" dirty="0"/>
          </a:p>
        </p:txBody>
      </p:sp>
      <p:sp>
        <p:nvSpPr>
          <p:cNvPr id="30" name="Tile O"/>
          <p:cNvSpPr/>
          <p:nvPr/>
        </p:nvSpPr>
        <p:spPr>
          <a:xfrm>
            <a:off x="5769864" y="1691640"/>
            <a:ext cx="658368" cy="694944"/>
          </a:xfrm>
          <a:prstGeom prst="roundRect">
            <a:avLst>
              <a:gd name="adj" fmla="val 12000"/>
            </a:avLst>
          </a:prstGeom>
          <a:solidFill>
            <a:srgbClr val="45C08F">
              <a:alpha val="30000"/>
            </a:srgbClr>
          </a:solidFill>
          <a:ln w="19050">
            <a:solidFill>
              <a:srgbClr val="45C08F"/>
            </a:solidFill>
            <a:prstDash val="solid"/>
          </a:ln>
        </p:spPr>
      </p:sp>
      <p:sp>
        <p:nvSpPr>
          <p:cNvPr id="31" name="Text 29"/>
          <p:cNvSpPr txBox="1"/>
          <p:nvPr/>
        </p:nvSpPr>
        <p:spPr>
          <a:xfrm>
            <a:off x="5822533" y="1726387"/>
            <a:ext cx="395021" cy="166787"/>
          </a:xfrm>
          <a:prstGeom prst="rect">
            <a:avLst/>
          </a:prstGeom>
          <a:noFill/>
          <a:ln/>
        </p:spPr>
        <p:txBody>
          <a:bodyPr wrap="square" lIns="0" tIns="0" rIns="0" bIns="0" rtlCol="0" anchor="t"/>
          <a:lstStyle/>
          <a:p>
            <a:pPr indent="0" marL="0">
              <a:buNone/>
            </a:pPr>
            <a:r>
              <a:rPr lang="en-US" sz="1000" dirty="0">
                <a:solidFill>
                  <a:schemeClr val="bg2"/>
                </a:solidFill>
              </a:rPr>
              <a:t>8</a:t>
            </a:r>
            <a:endParaRPr lang="en-US" sz="1000" dirty="0"/>
          </a:p>
        </p:txBody>
      </p:sp>
      <p:sp>
        <p:nvSpPr>
          <p:cNvPr id="32" name="Text 30"/>
          <p:cNvSpPr txBox="1"/>
          <p:nvPr/>
        </p:nvSpPr>
        <p:spPr>
          <a:xfrm>
            <a:off x="5769864" y="1802831"/>
            <a:ext cx="658368" cy="555955"/>
          </a:xfrm>
          <a:prstGeom prst="rect">
            <a:avLst/>
          </a:prstGeom>
          <a:noFill/>
          <a:ln/>
        </p:spPr>
        <p:txBody>
          <a:bodyPr wrap="square" lIns="0" tIns="0" rIns="0" bIns="0" rtlCol="0" anchor="ctr"/>
          <a:lstStyle/>
          <a:p>
            <a:pPr algn="ctr" indent="0" marL="0">
              <a:buNone/>
            </a:pPr>
            <a:r>
              <a:rPr lang="en-US" sz="2600" b="1" dirty="0">
                <a:solidFill>
                  <a:schemeClr val="bg1"/>
                </a:solidFill>
              </a:rPr>
              <a:t>O</a:t>
            </a:r>
            <a:endParaRPr lang="en-US" sz="2600" dirty="0"/>
          </a:p>
        </p:txBody>
      </p:sp>
      <p:sp>
        <p:nvSpPr>
          <p:cNvPr id="33" name="Tile Be"/>
          <p:cNvSpPr/>
          <p:nvPr/>
        </p:nvSpPr>
        <p:spPr>
          <a:xfrm>
            <a:off x="6528816" y="1691640"/>
            <a:ext cx="658368" cy="694944"/>
          </a:xfrm>
          <a:prstGeom prst="roundRect">
            <a:avLst>
              <a:gd name="adj" fmla="val 12000"/>
            </a:avLst>
          </a:prstGeom>
          <a:solidFill>
            <a:srgbClr val="FFCB5C">
              <a:alpha val="30000"/>
            </a:srgbClr>
          </a:solidFill>
          <a:ln w="19050">
            <a:solidFill>
              <a:srgbClr val="FFCB5C"/>
            </a:solidFill>
            <a:prstDash val="solid"/>
          </a:ln>
        </p:spPr>
      </p:sp>
      <p:sp>
        <p:nvSpPr>
          <p:cNvPr id="34" name="Text 32"/>
          <p:cNvSpPr txBox="1"/>
          <p:nvPr/>
        </p:nvSpPr>
        <p:spPr>
          <a:xfrm>
            <a:off x="6581485" y="1726387"/>
            <a:ext cx="395021" cy="166787"/>
          </a:xfrm>
          <a:prstGeom prst="rect">
            <a:avLst/>
          </a:prstGeom>
          <a:noFill/>
          <a:ln/>
        </p:spPr>
        <p:txBody>
          <a:bodyPr wrap="square" lIns="0" tIns="0" rIns="0" bIns="0" rtlCol="0" anchor="t"/>
          <a:lstStyle/>
          <a:p>
            <a:pPr indent="0" marL="0">
              <a:buNone/>
            </a:pPr>
            <a:r>
              <a:rPr lang="en-US" sz="1000" dirty="0">
                <a:solidFill>
                  <a:schemeClr val="bg2"/>
                </a:solidFill>
              </a:rPr>
              <a:t>4</a:t>
            </a:r>
            <a:endParaRPr lang="en-US" sz="1000" dirty="0"/>
          </a:p>
        </p:txBody>
      </p:sp>
      <p:sp>
        <p:nvSpPr>
          <p:cNvPr id="35" name="Text 33"/>
          <p:cNvSpPr txBox="1"/>
          <p:nvPr/>
        </p:nvSpPr>
        <p:spPr>
          <a:xfrm>
            <a:off x="6528816" y="1802831"/>
            <a:ext cx="658368" cy="555955"/>
          </a:xfrm>
          <a:prstGeom prst="rect">
            <a:avLst/>
          </a:prstGeom>
          <a:noFill/>
          <a:ln/>
        </p:spPr>
        <p:txBody>
          <a:bodyPr wrap="square" lIns="0" tIns="0" rIns="0" bIns="0" rtlCol="0" anchor="ctr"/>
          <a:lstStyle/>
          <a:p>
            <a:pPr algn="ctr" indent="0" marL="0">
              <a:buNone/>
            </a:pPr>
            <a:r>
              <a:rPr lang="en-US" sz="2600" b="1" dirty="0">
                <a:solidFill>
                  <a:schemeClr val="bg1"/>
                </a:solidFill>
              </a:rPr>
              <a:t>Be</a:t>
            </a:r>
            <a:endParaRPr lang="en-US" sz="2600" dirty="0"/>
          </a:p>
        </p:txBody>
      </p:sp>
      <p:sp>
        <p:nvSpPr>
          <p:cNvPr id="36" name="Tile Cl"/>
          <p:cNvSpPr/>
          <p:nvPr/>
        </p:nvSpPr>
        <p:spPr>
          <a:xfrm>
            <a:off x="7287768" y="1691640"/>
            <a:ext cx="658368" cy="694944"/>
          </a:xfrm>
          <a:prstGeom prst="roundRect">
            <a:avLst>
              <a:gd name="adj" fmla="val 12000"/>
            </a:avLst>
          </a:prstGeom>
          <a:solidFill>
            <a:srgbClr val="F477B8">
              <a:alpha val="30000"/>
            </a:srgbClr>
          </a:solidFill>
          <a:ln w="19050">
            <a:solidFill>
              <a:srgbClr val="F477B8"/>
            </a:solidFill>
            <a:prstDash val="solid"/>
          </a:ln>
        </p:spPr>
      </p:sp>
      <p:sp>
        <p:nvSpPr>
          <p:cNvPr id="37" name="Text 35"/>
          <p:cNvSpPr txBox="1"/>
          <p:nvPr/>
        </p:nvSpPr>
        <p:spPr>
          <a:xfrm>
            <a:off x="7340437" y="1726387"/>
            <a:ext cx="395021" cy="166787"/>
          </a:xfrm>
          <a:prstGeom prst="rect">
            <a:avLst/>
          </a:prstGeom>
          <a:noFill/>
          <a:ln/>
        </p:spPr>
        <p:txBody>
          <a:bodyPr wrap="square" lIns="0" tIns="0" rIns="0" bIns="0" rtlCol="0" anchor="t"/>
          <a:lstStyle/>
          <a:p>
            <a:pPr indent="0" marL="0">
              <a:buNone/>
            </a:pPr>
            <a:r>
              <a:rPr lang="en-US" sz="1000" dirty="0">
                <a:solidFill>
                  <a:schemeClr val="bg2"/>
                </a:solidFill>
              </a:rPr>
              <a:t>17</a:t>
            </a:r>
            <a:endParaRPr lang="en-US" sz="1000" dirty="0"/>
          </a:p>
        </p:txBody>
      </p:sp>
      <p:sp>
        <p:nvSpPr>
          <p:cNvPr id="38" name="Text 36"/>
          <p:cNvSpPr txBox="1"/>
          <p:nvPr/>
        </p:nvSpPr>
        <p:spPr>
          <a:xfrm>
            <a:off x="7287768" y="1802831"/>
            <a:ext cx="658368" cy="555955"/>
          </a:xfrm>
          <a:prstGeom prst="rect">
            <a:avLst/>
          </a:prstGeom>
          <a:noFill/>
          <a:ln/>
        </p:spPr>
        <p:txBody>
          <a:bodyPr wrap="square" lIns="0" tIns="0" rIns="0" bIns="0" rtlCol="0" anchor="ctr"/>
          <a:lstStyle/>
          <a:p>
            <a:pPr algn="ctr" indent="0" marL="0">
              <a:buNone/>
            </a:pPr>
            <a:r>
              <a:rPr lang="en-US" sz="2600" b="1" dirty="0">
                <a:solidFill>
                  <a:schemeClr val="bg1"/>
                </a:solidFill>
              </a:rPr>
              <a:t>Cl</a:t>
            </a:r>
            <a:endParaRPr lang="en-US" sz="2600" dirty="0"/>
          </a:p>
        </p:txBody>
      </p:sp>
      <p:sp>
        <p:nvSpPr>
          <p:cNvPr id="39" name="Tile K"/>
          <p:cNvSpPr/>
          <p:nvPr/>
        </p:nvSpPr>
        <p:spPr>
          <a:xfrm>
            <a:off x="8046720" y="1691640"/>
            <a:ext cx="658368" cy="694944"/>
          </a:xfrm>
          <a:prstGeom prst="roundRect">
            <a:avLst>
              <a:gd name="adj" fmla="val 12000"/>
            </a:avLst>
          </a:prstGeom>
          <a:solidFill>
            <a:srgbClr val="FF8F5E">
              <a:alpha val="30000"/>
            </a:srgbClr>
          </a:solidFill>
          <a:ln w="19050">
            <a:solidFill>
              <a:srgbClr val="FF8F5E"/>
            </a:solidFill>
            <a:prstDash val="solid"/>
          </a:ln>
        </p:spPr>
      </p:sp>
      <p:sp>
        <p:nvSpPr>
          <p:cNvPr id="40" name="Text 38"/>
          <p:cNvSpPr txBox="1"/>
          <p:nvPr/>
        </p:nvSpPr>
        <p:spPr>
          <a:xfrm>
            <a:off x="8099389" y="1726387"/>
            <a:ext cx="395021" cy="166787"/>
          </a:xfrm>
          <a:prstGeom prst="rect">
            <a:avLst/>
          </a:prstGeom>
          <a:noFill/>
          <a:ln/>
        </p:spPr>
        <p:txBody>
          <a:bodyPr wrap="square" lIns="0" tIns="0" rIns="0" bIns="0" rtlCol="0" anchor="t"/>
          <a:lstStyle/>
          <a:p>
            <a:pPr indent="0" marL="0">
              <a:buNone/>
            </a:pPr>
            <a:r>
              <a:rPr lang="en-US" sz="1000" dirty="0">
                <a:solidFill>
                  <a:schemeClr val="bg2"/>
                </a:solidFill>
              </a:rPr>
              <a:t>19</a:t>
            </a:r>
            <a:endParaRPr lang="en-US" sz="1000" dirty="0"/>
          </a:p>
        </p:txBody>
      </p:sp>
      <p:sp>
        <p:nvSpPr>
          <p:cNvPr id="41" name="Text 39"/>
          <p:cNvSpPr txBox="1"/>
          <p:nvPr/>
        </p:nvSpPr>
        <p:spPr>
          <a:xfrm>
            <a:off x="8046720" y="1802831"/>
            <a:ext cx="658368" cy="555955"/>
          </a:xfrm>
          <a:prstGeom prst="rect">
            <a:avLst/>
          </a:prstGeom>
          <a:noFill/>
          <a:ln/>
        </p:spPr>
        <p:txBody>
          <a:bodyPr wrap="square" lIns="0" tIns="0" rIns="0" bIns="0" rtlCol="0" anchor="ctr"/>
          <a:lstStyle/>
          <a:p>
            <a:pPr algn="ctr" indent="0" marL="0">
              <a:buNone/>
            </a:pPr>
            <a:r>
              <a:rPr lang="en-US" sz="2600" b="1" dirty="0">
                <a:solidFill>
                  <a:schemeClr val="bg1"/>
                </a:solidFill>
              </a:rPr>
              <a:t>K</a:t>
            </a:r>
            <a:endParaRPr lang="en-US" sz="2600" dirty="0"/>
          </a:p>
        </p:txBody>
      </p:sp>
      <p:sp>
        <p:nvSpPr>
          <p:cNvPr id="42" name="1+"/>
          <p:cNvSpPr/>
          <p:nvPr/>
        </p:nvSpPr>
        <p:spPr>
          <a:xfrm>
            <a:off x="457200" y="2606040"/>
            <a:ext cx="2651760" cy="914400"/>
          </a:xfrm>
          <a:prstGeom prst="roundRect">
            <a:avLst>
              <a:gd name="adj" fmla="val 10000"/>
            </a:avLst>
          </a:prstGeom>
          <a:solidFill>
            <a:schemeClr val="tx2"/>
          </a:solidFill>
          <a:ln w="9525">
            <a:solidFill>
              <a:schemeClr val="bg2">
                <a:alpha val="30000"/>
              </a:schemeClr>
            </a:solidFill>
            <a:prstDash val="solid"/>
          </a:ln>
        </p:spPr>
      </p:sp>
      <p:sp>
        <p:nvSpPr>
          <p:cNvPr id="43" name="Text 41"/>
          <p:cNvSpPr txBox="1"/>
          <p:nvPr/>
        </p:nvSpPr>
        <p:spPr>
          <a:xfrm>
            <a:off x="594360" y="2679192"/>
            <a:ext cx="914400" cy="320040"/>
          </a:xfrm>
          <a:prstGeom prst="rect">
            <a:avLst/>
          </a:prstGeom>
          <a:noFill/>
          <a:ln/>
        </p:spPr>
        <p:txBody>
          <a:bodyPr wrap="square" lIns="0" tIns="0" rIns="0" bIns="0" rtlCol="0" anchor="t"/>
          <a:lstStyle/>
          <a:p>
            <a:pPr indent="0" marL="0">
              <a:buNone/>
            </a:pPr>
            <a:r>
              <a:rPr lang="en-US" sz="1600" b="1" dirty="0">
                <a:solidFill>
                  <a:schemeClr val="accent3"/>
                </a:solidFill>
              </a:rPr>
              <a:t>1+</a:t>
            </a:r>
            <a:endParaRPr lang="en-US" sz="1600" dirty="0"/>
          </a:p>
        </p:txBody>
      </p:sp>
      <p:sp>
        <p:nvSpPr>
          <p:cNvPr id="44" name="2+"/>
          <p:cNvSpPr/>
          <p:nvPr/>
        </p:nvSpPr>
        <p:spPr>
          <a:xfrm>
            <a:off x="3246120" y="2606040"/>
            <a:ext cx="2651760" cy="914400"/>
          </a:xfrm>
          <a:prstGeom prst="roundRect">
            <a:avLst>
              <a:gd name="adj" fmla="val 10000"/>
            </a:avLst>
          </a:prstGeom>
          <a:solidFill>
            <a:schemeClr val="tx2"/>
          </a:solidFill>
          <a:ln w="9525">
            <a:solidFill>
              <a:schemeClr val="bg2">
                <a:alpha val="30000"/>
              </a:schemeClr>
            </a:solidFill>
            <a:prstDash val="solid"/>
          </a:ln>
        </p:spPr>
      </p:sp>
      <p:sp>
        <p:nvSpPr>
          <p:cNvPr id="45" name="Text 43"/>
          <p:cNvSpPr txBox="1"/>
          <p:nvPr/>
        </p:nvSpPr>
        <p:spPr>
          <a:xfrm>
            <a:off x="3383280" y="2679192"/>
            <a:ext cx="914400" cy="320040"/>
          </a:xfrm>
          <a:prstGeom prst="rect">
            <a:avLst/>
          </a:prstGeom>
          <a:noFill/>
          <a:ln/>
        </p:spPr>
        <p:txBody>
          <a:bodyPr wrap="square" lIns="0" tIns="0" rIns="0" bIns="0" rtlCol="0" anchor="t"/>
          <a:lstStyle/>
          <a:p>
            <a:pPr indent="0" marL="0">
              <a:buNone/>
            </a:pPr>
            <a:r>
              <a:rPr lang="en-US" sz="1600" b="1" dirty="0">
                <a:solidFill>
                  <a:schemeClr val="accent3"/>
                </a:solidFill>
              </a:rPr>
              <a:t>2+</a:t>
            </a:r>
            <a:endParaRPr lang="en-US" sz="1600" dirty="0"/>
          </a:p>
        </p:txBody>
      </p:sp>
      <p:sp>
        <p:nvSpPr>
          <p:cNvPr id="46" name="3+"/>
          <p:cNvSpPr/>
          <p:nvPr/>
        </p:nvSpPr>
        <p:spPr>
          <a:xfrm>
            <a:off x="6035040" y="2606040"/>
            <a:ext cx="2651760" cy="914400"/>
          </a:xfrm>
          <a:prstGeom prst="roundRect">
            <a:avLst>
              <a:gd name="adj" fmla="val 10000"/>
            </a:avLst>
          </a:prstGeom>
          <a:solidFill>
            <a:schemeClr val="tx2"/>
          </a:solidFill>
          <a:ln w="9525">
            <a:solidFill>
              <a:schemeClr val="bg2">
                <a:alpha val="30000"/>
              </a:schemeClr>
            </a:solidFill>
            <a:prstDash val="solid"/>
          </a:ln>
        </p:spPr>
      </p:sp>
      <p:sp>
        <p:nvSpPr>
          <p:cNvPr id="47" name="Text 45"/>
          <p:cNvSpPr txBox="1"/>
          <p:nvPr/>
        </p:nvSpPr>
        <p:spPr>
          <a:xfrm>
            <a:off x="6172200" y="2679192"/>
            <a:ext cx="914400" cy="320040"/>
          </a:xfrm>
          <a:prstGeom prst="rect">
            <a:avLst/>
          </a:prstGeom>
          <a:noFill/>
          <a:ln/>
        </p:spPr>
        <p:txBody>
          <a:bodyPr wrap="square" lIns="0" tIns="0" rIns="0" bIns="0" rtlCol="0" anchor="t"/>
          <a:lstStyle/>
          <a:p>
            <a:pPr indent="0" marL="0">
              <a:buNone/>
            </a:pPr>
            <a:r>
              <a:rPr lang="en-US" sz="1600" b="1" dirty="0">
                <a:solidFill>
                  <a:schemeClr val="accent3"/>
                </a:solidFill>
              </a:rPr>
              <a:t>3+</a:t>
            </a:r>
            <a:endParaRPr lang="en-US" sz="1600" dirty="0"/>
          </a:p>
        </p:txBody>
      </p:sp>
      <p:sp>
        <p:nvSpPr>
          <p:cNvPr id="48" name="1−"/>
          <p:cNvSpPr/>
          <p:nvPr/>
        </p:nvSpPr>
        <p:spPr>
          <a:xfrm>
            <a:off x="457200" y="3630168"/>
            <a:ext cx="2651760" cy="914400"/>
          </a:xfrm>
          <a:prstGeom prst="roundRect">
            <a:avLst>
              <a:gd name="adj" fmla="val 10000"/>
            </a:avLst>
          </a:prstGeom>
          <a:solidFill>
            <a:schemeClr val="tx2"/>
          </a:solidFill>
          <a:ln w="9525">
            <a:solidFill>
              <a:schemeClr val="bg2">
                <a:alpha val="30000"/>
              </a:schemeClr>
            </a:solidFill>
            <a:prstDash val="solid"/>
          </a:ln>
        </p:spPr>
      </p:sp>
      <p:sp>
        <p:nvSpPr>
          <p:cNvPr id="49" name="Text 47"/>
          <p:cNvSpPr txBox="1"/>
          <p:nvPr/>
        </p:nvSpPr>
        <p:spPr>
          <a:xfrm>
            <a:off x="594360" y="3703320"/>
            <a:ext cx="914400" cy="320040"/>
          </a:xfrm>
          <a:prstGeom prst="rect">
            <a:avLst/>
          </a:prstGeom>
          <a:noFill/>
          <a:ln/>
        </p:spPr>
        <p:txBody>
          <a:bodyPr wrap="square" lIns="0" tIns="0" rIns="0" bIns="0" rtlCol="0" anchor="t"/>
          <a:lstStyle/>
          <a:p>
            <a:pPr indent="0" marL="0">
              <a:buNone/>
            </a:pPr>
            <a:r>
              <a:rPr lang="en-US" sz="1600" b="1" dirty="0">
                <a:solidFill>
                  <a:schemeClr val="accent1"/>
                </a:solidFill>
              </a:rPr>
              <a:t>1−</a:t>
            </a:r>
            <a:endParaRPr lang="en-US" sz="1600" dirty="0"/>
          </a:p>
        </p:txBody>
      </p:sp>
      <p:sp>
        <p:nvSpPr>
          <p:cNvPr id="50" name="2−"/>
          <p:cNvSpPr/>
          <p:nvPr/>
        </p:nvSpPr>
        <p:spPr>
          <a:xfrm>
            <a:off x="3246120" y="3630168"/>
            <a:ext cx="2651760" cy="914400"/>
          </a:xfrm>
          <a:prstGeom prst="roundRect">
            <a:avLst>
              <a:gd name="adj" fmla="val 10000"/>
            </a:avLst>
          </a:prstGeom>
          <a:solidFill>
            <a:schemeClr val="tx2"/>
          </a:solidFill>
          <a:ln w="9525">
            <a:solidFill>
              <a:schemeClr val="bg2">
                <a:alpha val="30000"/>
              </a:schemeClr>
            </a:solidFill>
            <a:prstDash val="solid"/>
          </a:ln>
        </p:spPr>
      </p:sp>
      <p:sp>
        <p:nvSpPr>
          <p:cNvPr id="51" name="Text 49"/>
          <p:cNvSpPr txBox="1"/>
          <p:nvPr/>
        </p:nvSpPr>
        <p:spPr>
          <a:xfrm>
            <a:off x="3383280" y="3703320"/>
            <a:ext cx="914400" cy="320040"/>
          </a:xfrm>
          <a:prstGeom prst="rect">
            <a:avLst/>
          </a:prstGeom>
          <a:noFill/>
          <a:ln/>
        </p:spPr>
        <p:txBody>
          <a:bodyPr wrap="square" lIns="0" tIns="0" rIns="0" bIns="0" rtlCol="0" anchor="t"/>
          <a:lstStyle/>
          <a:p>
            <a:pPr indent="0" marL="0">
              <a:buNone/>
            </a:pPr>
            <a:r>
              <a:rPr lang="en-US" sz="1600" b="1" dirty="0">
                <a:solidFill>
                  <a:schemeClr val="accent1"/>
                </a:solidFill>
              </a:rPr>
              <a:t>2−</a:t>
            </a:r>
            <a:endParaRPr lang="en-US" sz="1600" dirty="0"/>
          </a:p>
        </p:txBody>
      </p:sp>
      <p:sp>
        <p:nvSpPr>
          <p:cNvPr id="52" name="3−"/>
          <p:cNvSpPr/>
          <p:nvPr/>
        </p:nvSpPr>
        <p:spPr>
          <a:xfrm>
            <a:off x="6035040" y="3630168"/>
            <a:ext cx="2651760" cy="914400"/>
          </a:xfrm>
          <a:prstGeom prst="roundRect">
            <a:avLst>
              <a:gd name="adj" fmla="val 10000"/>
            </a:avLst>
          </a:prstGeom>
          <a:solidFill>
            <a:schemeClr val="tx2"/>
          </a:solidFill>
          <a:ln w="9525">
            <a:solidFill>
              <a:schemeClr val="bg2">
                <a:alpha val="30000"/>
              </a:schemeClr>
            </a:solidFill>
            <a:prstDash val="solid"/>
          </a:ln>
        </p:spPr>
      </p:sp>
      <p:sp>
        <p:nvSpPr>
          <p:cNvPr id="53" name="Text 51"/>
          <p:cNvSpPr txBox="1"/>
          <p:nvPr/>
        </p:nvSpPr>
        <p:spPr>
          <a:xfrm>
            <a:off x="6172200" y="3703320"/>
            <a:ext cx="914400" cy="320040"/>
          </a:xfrm>
          <a:prstGeom prst="rect">
            <a:avLst/>
          </a:prstGeom>
          <a:noFill/>
          <a:ln/>
        </p:spPr>
        <p:txBody>
          <a:bodyPr wrap="square" lIns="0" tIns="0" rIns="0" bIns="0" rtlCol="0" anchor="t"/>
          <a:lstStyle/>
          <a:p>
            <a:pPr indent="0" marL="0">
              <a:buNone/>
            </a:pPr>
            <a:r>
              <a:rPr lang="en-US" sz="1600" b="1" dirty="0">
                <a:solidFill>
                  <a:schemeClr val="accent1"/>
                </a:solidFill>
              </a:rPr>
              <a:t>3−</a:t>
            </a:r>
            <a:endParaRPr lang="en-US" sz="16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ection tile 4"/>
          <p:cNvSpPr/>
          <p:nvPr/>
        </p:nvSpPr>
        <p:spPr>
          <a:xfrm>
            <a:off x="457200" y="301752"/>
            <a:ext cx="749808" cy="841248"/>
          </a:xfrm>
          <a:prstGeom prst="roundRect">
            <a:avLst>
              <a:gd name="adj" fmla="val 12000"/>
            </a:avLst>
          </a:prstGeom>
          <a:solidFill>
            <a:srgbClr val="60A5FA">
              <a:alpha val="28000"/>
            </a:srgbClr>
          </a:solidFill>
          <a:ln w="19050">
            <a:solidFill>
              <a:srgbClr val="60A5FA"/>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4</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2400" b="1" dirty="0">
                <a:solidFill>
                  <a:schemeClr val="bg1"/>
                </a:solidFill>
              </a:rPr>
              <a:t>Al</a:t>
            </a:r>
            <a:pPr algn="ctr" indent="0" marL="0">
              <a:buNone/>
            </a:pPr>
            <a:r>
              <a:rPr lang="en-US" sz="2400" b="1" baseline="30000" dirty="0">
                <a:solidFill>
                  <a:schemeClr val="bg1"/>
                </a:solidFill>
              </a:rPr>
              <a:t>3+</a:t>
            </a:r>
            <a:endParaRPr lang="en-US" sz="2400" dirty="0"/>
          </a:p>
        </p:txBody>
      </p:sp>
      <p:sp>
        <p:nvSpPr>
          <p:cNvPr id="5" name="Text 3"/>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6" name="Text 4"/>
          <p:cNvSpPr/>
          <p:nvPr/>
        </p:nvSpPr>
        <p:spPr>
          <a:xfrm>
            <a:off x="224028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7" name="Text 5"/>
          <p:cNvSpPr txBox="1"/>
          <p:nvPr/>
        </p:nvSpPr>
        <p:spPr>
          <a:xfrm>
            <a:off x="32004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4 of 9</a:t>
            </a:r>
            <a:endParaRPr lang="en-US" sz="1200" dirty="0"/>
          </a:p>
        </p:txBody>
      </p:sp>
      <p:sp>
        <p:nvSpPr>
          <p:cNvPr id="8"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Sort by ion charge</a:t>
            </a:r>
            <a:endParaRPr lang="en-US" sz="2800" dirty="0"/>
          </a:p>
        </p:txBody>
      </p:sp>
      <p:sp>
        <p:nvSpPr>
          <p:cNvPr id="9" name="Text 7"/>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Drag each element to the charge of the ion it forms, or tap an element and then tap a box.</a:t>
            </a:r>
            <a:endParaRPr lang="en-US" sz="1300" dirty="0"/>
          </a:p>
        </p:txBody>
      </p:sp>
      <p:sp>
        <p:nvSpPr>
          <p:cNvPr id="10" name="1+"/>
          <p:cNvSpPr/>
          <p:nvPr/>
        </p:nvSpPr>
        <p:spPr>
          <a:xfrm>
            <a:off x="457200" y="1691640"/>
            <a:ext cx="2651760" cy="1325880"/>
          </a:xfrm>
          <a:prstGeom prst="roundRect">
            <a:avLst>
              <a:gd name="adj" fmla="val 6897"/>
            </a:avLst>
          </a:prstGeom>
          <a:solidFill>
            <a:schemeClr val="tx2"/>
          </a:solidFill>
          <a:ln w="9525">
            <a:solidFill>
              <a:schemeClr val="bg2">
                <a:alpha val="30000"/>
              </a:schemeClr>
            </a:solidFill>
            <a:prstDash val="solid"/>
          </a:ln>
        </p:spPr>
      </p:sp>
      <p:sp>
        <p:nvSpPr>
          <p:cNvPr id="11" name="Text 9"/>
          <p:cNvSpPr txBox="1"/>
          <p:nvPr/>
        </p:nvSpPr>
        <p:spPr>
          <a:xfrm>
            <a:off x="594360" y="1764792"/>
            <a:ext cx="914400" cy="320040"/>
          </a:xfrm>
          <a:prstGeom prst="rect">
            <a:avLst/>
          </a:prstGeom>
          <a:noFill/>
          <a:ln/>
        </p:spPr>
        <p:txBody>
          <a:bodyPr wrap="square" lIns="0" tIns="0" rIns="0" bIns="0" rtlCol="0" anchor="t"/>
          <a:lstStyle/>
          <a:p>
            <a:pPr indent="0" marL="0">
              <a:buNone/>
            </a:pPr>
            <a:r>
              <a:rPr lang="en-US" sz="1600" b="1" dirty="0">
                <a:solidFill>
                  <a:schemeClr val="accent3"/>
                </a:solidFill>
              </a:rPr>
              <a:t>1+</a:t>
            </a:r>
            <a:endParaRPr lang="en-US" sz="1600" dirty="0"/>
          </a:p>
        </p:txBody>
      </p:sp>
      <p:sp>
        <p:nvSpPr>
          <p:cNvPr id="12" name="Tile Li"/>
          <p:cNvSpPr/>
          <p:nvPr/>
        </p:nvSpPr>
        <p:spPr>
          <a:xfrm>
            <a:off x="1280160" y="1965960"/>
            <a:ext cx="685800" cy="731520"/>
          </a:xfrm>
          <a:prstGeom prst="roundRect">
            <a:avLst>
              <a:gd name="adj" fmla="val 12000"/>
            </a:avLst>
          </a:prstGeom>
          <a:solidFill>
            <a:srgbClr val="FF8F5E">
              <a:alpha val="30000"/>
            </a:srgbClr>
          </a:solidFill>
          <a:ln w="19050">
            <a:solidFill>
              <a:srgbClr val="FF8F5E"/>
            </a:solidFill>
            <a:prstDash val="solid"/>
          </a:ln>
        </p:spPr>
      </p:sp>
      <p:sp>
        <p:nvSpPr>
          <p:cNvPr id="13" name="Text 11"/>
          <p:cNvSpPr txBox="1"/>
          <p:nvPr/>
        </p:nvSpPr>
        <p:spPr>
          <a:xfrm>
            <a:off x="1335024" y="2002536"/>
            <a:ext cx="411480" cy="175565"/>
          </a:xfrm>
          <a:prstGeom prst="rect">
            <a:avLst/>
          </a:prstGeom>
          <a:noFill/>
          <a:ln/>
        </p:spPr>
        <p:txBody>
          <a:bodyPr wrap="square" lIns="0" tIns="0" rIns="0" bIns="0" rtlCol="0" anchor="t"/>
          <a:lstStyle/>
          <a:p>
            <a:pPr indent="0" marL="0">
              <a:buNone/>
            </a:pPr>
            <a:r>
              <a:rPr lang="en-US" sz="1000" dirty="0">
                <a:solidFill>
                  <a:schemeClr val="bg2"/>
                </a:solidFill>
              </a:rPr>
              <a:t>3</a:t>
            </a:r>
            <a:endParaRPr lang="en-US" sz="1000" dirty="0"/>
          </a:p>
        </p:txBody>
      </p:sp>
      <p:sp>
        <p:nvSpPr>
          <p:cNvPr id="14" name="Text 12"/>
          <p:cNvSpPr txBox="1"/>
          <p:nvPr/>
        </p:nvSpPr>
        <p:spPr>
          <a:xfrm>
            <a:off x="1280160" y="2083003"/>
            <a:ext cx="685800" cy="585216"/>
          </a:xfrm>
          <a:prstGeom prst="rect">
            <a:avLst/>
          </a:prstGeom>
          <a:noFill/>
          <a:ln/>
        </p:spPr>
        <p:txBody>
          <a:bodyPr wrap="square" lIns="0" tIns="0" rIns="0" bIns="0" rtlCol="0" anchor="ctr"/>
          <a:lstStyle/>
          <a:p>
            <a:pPr algn="ctr" indent="0" marL="0">
              <a:buNone/>
            </a:pPr>
            <a:r>
              <a:rPr lang="en-US" sz="2700" b="1" dirty="0">
                <a:solidFill>
                  <a:schemeClr val="bg1"/>
                </a:solidFill>
              </a:rPr>
              <a:t>Li</a:t>
            </a:r>
            <a:endParaRPr lang="en-US" sz="2700" dirty="0"/>
          </a:p>
        </p:txBody>
      </p:sp>
      <p:sp>
        <p:nvSpPr>
          <p:cNvPr id="15" name="Tile K"/>
          <p:cNvSpPr/>
          <p:nvPr/>
        </p:nvSpPr>
        <p:spPr>
          <a:xfrm>
            <a:off x="2057400" y="1965960"/>
            <a:ext cx="685800" cy="731520"/>
          </a:xfrm>
          <a:prstGeom prst="roundRect">
            <a:avLst>
              <a:gd name="adj" fmla="val 12000"/>
            </a:avLst>
          </a:prstGeom>
          <a:solidFill>
            <a:srgbClr val="FF8F5E">
              <a:alpha val="30000"/>
            </a:srgbClr>
          </a:solidFill>
          <a:ln w="19050">
            <a:solidFill>
              <a:srgbClr val="FF8F5E"/>
            </a:solidFill>
            <a:prstDash val="solid"/>
          </a:ln>
        </p:spPr>
      </p:sp>
      <p:sp>
        <p:nvSpPr>
          <p:cNvPr id="16" name="Text 14"/>
          <p:cNvSpPr txBox="1"/>
          <p:nvPr/>
        </p:nvSpPr>
        <p:spPr>
          <a:xfrm>
            <a:off x="2112264" y="2002536"/>
            <a:ext cx="411480" cy="175565"/>
          </a:xfrm>
          <a:prstGeom prst="rect">
            <a:avLst/>
          </a:prstGeom>
          <a:noFill/>
          <a:ln/>
        </p:spPr>
        <p:txBody>
          <a:bodyPr wrap="square" lIns="0" tIns="0" rIns="0" bIns="0" rtlCol="0" anchor="t"/>
          <a:lstStyle/>
          <a:p>
            <a:pPr indent="0" marL="0">
              <a:buNone/>
            </a:pPr>
            <a:r>
              <a:rPr lang="en-US" sz="1000" dirty="0">
                <a:solidFill>
                  <a:schemeClr val="bg2"/>
                </a:solidFill>
              </a:rPr>
              <a:t>19</a:t>
            </a:r>
            <a:endParaRPr lang="en-US" sz="1000" dirty="0"/>
          </a:p>
        </p:txBody>
      </p:sp>
      <p:sp>
        <p:nvSpPr>
          <p:cNvPr id="17" name="Text 15"/>
          <p:cNvSpPr txBox="1"/>
          <p:nvPr/>
        </p:nvSpPr>
        <p:spPr>
          <a:xfrm>
            <a:off x="2057400" y="2083003"/>
            <a:ext cx="685800" cy="585216"/>
          </a:xfrm>
          <a:prstGeom prst="rect">
            <a:avLst/>
          </a:prstGeom>
          <a:noFill/>
          <a:ln/>
        </p:spPr>
        <p:txBody>
          <a:bodyPr wrap="square" lIns="0" tIns="0" rIns="0" bIns="0" rtlCol="0" anchor="ctr"/>
          <a:lstStyle/>
          <a:p>
            <a:pPr algn="ctr" indent="0" marL="0">
              <a:buNone/>
            </a:pPr>
            <a:r>
              <a:rPr lang="en-US" sz="2700" b="1" dirty="0">
                <a:solidFill>
                  <a:schemeClr val="bg1"/>
                </a:solidFill>
              </a:rPr>
              <a:t>K</a:t>
            </a:r>
            <a:endParaRPr lang="en-US" sz="2700" dirty="0"/>
          </a:p>
        </p:txBody>
      </p:sp>
      <p:sp>
        <p:nvSpPr>
          <p:cNvPr id="18" name="2+"/>
          <p:cNvSpPr/>
          <p:nvPr/>
        </p:nvSpPr>
        <p:spPr>
          <a:xfrm>
            <a:off x="3246120" y="1691640"/>
            <a:ext cx="2651760" cy="1325880"/>
          </a:xfrm>
          <a:prstGeom prst="roundRect">
            <a:avLst>
              <a:gd name="adj" fmla="val 6897"/>
            </a:avLst>
          </a:prstGeom>
          <a:solidFill>
            <a:schemeClr val="tx2"/>
          </a:solidFill>
          <a:ln w="9525">
            <a:solidFill>
              <a:schemeClr val="bg2">
                <a:alpha val="30000"/>
              </a:schemeClr>
            </a:solidFill>
            <a:prstDash val="solid"/>
          </a:ln>
        </p:spPr>
      </p:sp>
      <p:sp>
        <p:nvSpPr>
          <p:cNvPr id="19" name="Text 17"/>
          <p:cNvSpPr txBox="1"/>
          <p:nvPr/>
        </p:nvSpPr>
        <p:spPr>
          <a:xfrm>
            <a:off x="3383280" y="1764792"/>
            <a:ext cx="914400" cy="320040"/>
          </a:xfrm>
          <a:prstGeom prst="rect">
            <a:avLst/>
          </a:prstGeom>
          <a:noFill/>
          <a:ln/>
        </p:spPr>
        <p:txBody>
          <a:bodyPr wrap="square" lIns="0" tIns="0" rIns="0" bIns="0" rtlCol="0" anchor="t"/>
          <a:lstStyle/>
          <a:p>
            <a:pPr indent="0" marL="0">
              <a:buNone/>
            </a:pPr>
            <a:r>
              <a:rPr lang="en-US" sz="1600" b="1" dirty="0">
                <a:solidFill>
                  <a:schemeClr val="accent3"/>
                </a:solidFill>
              </a:rPr>
              <a:t>2+</a:t>
            </a:r>
            <a:endParaRPr lang="en-US" sz="1600" dirty="0"/>
          </a:p>
        </p:txBody>
      </p:sp>
      <p:sp>
        <p:nvSpPr>
          <p:cNvPr id="20" name="Tile Be"/>
          <p:cNvSpPr/>
          <p:nvPr/>
        </p:nvSpPr>
        <p:spPr>
          <a:xfrm>
            <a:off x="4069080" y="1965960"/>
            <a:ext cx="685800" cy="731520"/>
          </a:xfrm>
          <a:prstGeom prst="roundRect">
            <a:avLst>
              <a:gd name="adj" fmla="val 12000"/>
            </a:avLst>
          </a:prstGeom>
          <a:solidFill>
            <a:srgbClr val="FFCB5C">
              <a:alpha val="30000"/>
            </a:srgbClr>
          </a:solidFill>
          <a:ln w="19050">
            <a:solidFill>
              <a:srgbClr val="FFCB5C"/>
            </a:solidFill>
            <a:prstDash val="solid"/>
          </a:ln>
        </p:spPr>
      </p:sp>
      <p:sp>
        <p:nvSpPr>
          <p:cNvPr id="21" name="Text 19"/>
          <p:cNvSpPr txBox="1"/>
          <p:nvPr/>
        </p:nvSpPr>
        <p:spPr>
          <a:xfrm>
            <a:off x="4123944" y="2002536"/>
            <a:ext cx="411480" cy="175565"/>
          </a:xfrm>
          <a:prstGeom prst="rect">
            <a:avLst/>
          </a:prstGeom>
          <a:noFill/>
          <a:ln/>
        </p:spPr>
        <p:txBody>
          <a:bodyPr wrap="square" lIns="0" tIns="0" rIns="0" bIns="0" rtlCol="0" anchor="t"/>
          <a:lstStyle/>
          <a:p>
            <a:pPr indent="0" marL="0">
              <a:buNone/>
            </a:pPr>
            <a:r>
              <a:rPr lang="en-US" sz="1000" dirty="0">
                <a:solidFill>
                  <a:schemeClr val="bg2"/>
                </a:solidFill>
              </a:rPr>
              <a:t>4</a:t>
            </a:r>
            <a:endParaRPr lang="en-US" sz="1000" dirty="0"/>
          </a:p>
        </p:txBody>
      </p:sp>
      <p:sp>
        <p:nvSpPr>
          <p:cNvPr id="22" name="Text 20"/>
          <p:cNvSpPr txBox="1"/>
          <p:nvPr/>
        </p:nvSpPr>
        <p:spPr>
          <a:xfrm>
            <a:off x="4069080" y="2083003"/>
            <a:ext cx="685800" cy="585216"/>
          </a:xfrm>
          <a:prstGeom prst="rect">
            <a:avLst/>
          </a:prstGeom>
          <a:noFill/>
          <a:ln/>
        </p:spPr>
        <p:txBody>
          <a:bodyPr wrap="square" lIns="0" tIns="0" rIns="0" bIns="0" rtlCol="0" anchor="ctr"/>
          <a:lstStyle/>
          <a:p>
            <a:pPr algn="ctr" indent="0" marL="0">
              <a:buNone/>
            </a:pPr>
            <a:r>
              <a:rPr lang="en-US" sz="2700" b="1" dirty="0">
                <a:solidFill>
                  <a:schemeClr val="bg1"/>
                </a:solidFill>
              </a:rPr>
              <a:t>Be</a:t>
            </a:r>
            <a:endParaRPr lang="en-US" sz="2700" dirty="0"/>
          </a:p>
        </p:txBody>
      </p:sp>
      <p:sp>
        <p:nvSpPr>
          <p:cNvPr id="23" name="Tile Ca"/>
          <p:cNvSpPr/>
          <p:nvPr/>
        </p:nvSpPr>
        <p:spPr>
          <a:xfrm>
            <a:off x="4846320" y="1965960"/>
            <a:ext cx="685800" cy="731520"/>
          </a:xfrm>
          <a:prstGeom prst="roundRect">
            <a:avLst>
              <a:gd name="adj" fmla="val 12000"/>
            </a:avLst>
          </a:prstGeom>
          <a:solidFill>
            <a:srgbClr val="FFCB5C">
              <a:alpha val="30000"/>
            </a:srgbClr>
          </a:solidFill>
          <a:ln w="19050">
            <a:solidFill>
              <a:srgbClr val="FFCB5C"/>
            </a:solidFill>
            <a:prstDash val="solid"/>
          </a:ln>
        </p:spPr>
      </p:sp>
      <p:sp>
        <p:nvSpPr>
          <p:cNvPr id="24" name="Text 22"/>
          <p:cNvSpPr txBox="1"/>
          <p:nvPr/>
        </p:nvSpPr>
        <p:spPr>
          <a:xfrm>
            <a:off x="4901184" y="2002536"/>
            <a:ext cx="411480" cy="175565"/>
          </a:xfrm>
          <a:prstGeom prst="rect">
            <a:avLst/>
          </a:prstGeom>
          <a:noFill/>
          <a:ln/>
        </p:spPr>
        <p:txBody>
          <a:bodyPr wrap="square" lIns="0" tIns="0" rIns="0" bIns="0" rtlCol="0" anchor="t"/>
          <a:lstStyle/>
          <a:p>
            <a:pPr indent="0" marL="0">
              <a:buNone/>
            </a:pPr>
            <a:r>
              <a:rPr lang="en-US" sz="1000" dirty="0">
                <a:solidFill>
                  <a:schemeClr val="bg2"/>
                </a:solidFill>
              </a:rPr>
              <a:t>20</a:t>
            </a:r>
            <a:endParaRPr lang="en-US" sz="1000" dirty="0"/>
          </a:p>
        </p:txBody>
      </p:sp>
      <p:sp>
        <p:nvSpPr>
          <p:cNvPr id="25" name="Text 23"/>
          <p:cNvSpPr txBox="1"/>
          <p:nvPr/>
        </p:nvSpPr>
        <p:spPr>
          <a:xfrm>
            <a:off x="4846320" y="2083003"/>
            <a:ext cx="685800" cy="585216"/>
          </a:xfrm>
          <a:prstGeom prst="rect">
            <a:avLst/>
          </a:prstGeom>
          <a:noFill/>
          <a:ln/>
        </p:spPr>
        <p:txBody>
          <a:bodyPr wrap="square" lIns="0" tIns="0" rIns="0" bIns="0" rtlCol="0" anchor="ctr"/>
          <a:lstStyle/>
          <a:p>
            <a:pPr algn="ctr" indent="0" marL="0">
              <a:buNone/>
            </a:pPr>
            <a:r>
              <a:rPr lang="en-US" sz="2700" b="1" dirty="0">
                <a:solidFill>
                  <a:schemeClr val="bg1"/>
                </a:solidFill>
              </a:rPr>
              <a:t>Ca</a:t>
            </a:r>
            <a:endParaRPr lang="en-US" sz="2700" dirty="0"/>
          </a:p>
        </p:txBody>
      </p:sp>
      <p:sp>
        <p:nvSpPr>
          <p:cNvPr id="26" name="3+"/>
          <p:cNvSpPr/>
          <p:nvPr/>
        </p:nvSpPr>
        <p:spPr>
          <a:xfrm>
            <a:off x="6035040" y="1691640"/>
            <a:ext cx="2651760" cy="1325880"/>
          </a:xfrm>
          <a:prstGeom prst="roundRect">
            <a:avLst>
              <a:gd name="adj" fmla="val 6897"/>
            </a:avLst>
          </a:prstGeom>
          <a:solidFill>
            <a:schemeClr val="tx2"/>
          </a:solidFill>
          <a:ln w="9525">
            <a:solidFill>
              <a:schemeClr val="bg2">
                <a:alpha val="30000"/>
              </a:schemeClr>
            </a:solidFill>
            <a:prstDash val="solid"/>
          </a:ln>
        </p:spPr>
      </p:sp>
      <p:sp>
        <p:nvSpPr>
          <p:cNvPr id="27" name="Text 25"/>
          <p:cNvSpPr txBox="1"/>
          <p:nvPr/>
        </p:nvSpPr>
        <p:spPr>
          <a:xfrm>
            <a:off x="6172200" y="1764792"/>
            <a:ext cx="914400" cy="320040"/>
          </a:xfrm>
          <a:prstGeom prst="rect">
            <a:avLst/>
          </a:prstGeom>
          <a:noFill/>
          <a:ln/>
        </p:spPr>
        <p:txBody>
          <a:bodyPr wrap="square" lIns="0" tIns="0" rIns="0" bIns="0" rtlCol="0" anchor="t"/>
          <a:lstStyle/>
          <a:p>
            <a:pPr indent="0" marL="0">
              <a:buNone/>
            </a:pPr>
            <a:r>
              <a:rPr lang="en-US" sz="1600" b="1" dirty="0">
                <a:solidFill>
                  <a:schemeClr val="accent3"/>
                </a:solidFill>
              </a:rPr>
              <a:t>3+</a:t>
            </a:r>
            <a:endParaRPr lang="en-US" sz="1600" dirty="0"/>
          </a:p>
        </p:txBody>
      </p:sp>
      <p:sp>
        <p:nvSpPr>
          <p:cNvPr id="28" name="Tile Al"/>
          <p:cNvSpPr/>
          <p:nvPr/>
        </p:nvSpPr>
        <p:spPr>
          <a:xfrm>
            <a:off x="6858000" y="1965960"/>
            <a:ext cx="685800" cy="731520"/>
          </a:xfrm>
          <a:prstGeom prst="roundRect">
            <a:avLst>
              <a:gd name="adj" fmla="val 12000"/>
            </a:avLst>
          </a:prstGeom>
          <a:solidFill>
            <a:srgbClr val="8EA8CC">
              <a:alpha val="30000"/>
            </a:srgbClr>
          </a:solidFill>
          <a:ln w="19050">
            <a:solidFill>
              <a:srgbClr val="8EA8CC"/>
            </a:solidFill>
            <a:prstDash val="solid"/>
          </a:ln>
        </p:spPr>
      </p:sp>
      <p:sp>
        <p:nvSpPr>
          <p:cNvPr id="29" name="Text 27"/>
          <p:cNvSpPr txBox="1"/>
          <p:nvPr/>
        </p:nvSpPr>
        <p:spPr>
          <a:xfrm>
            <a:off x="6912864" y="2002536"/>
            <a:ext cx="411480" cy="175565"/>
          </a:xfrm>
          <a:prstGeom prst="rect">
            <a:avLst/>
          </a:prstGeom>
          <a:noFill/>
          <a:ln/>
        </p:spPr>
        <p:txBody>
          <a:bodyPr wrap="square" lIns="0" tIns="0" rIns="0" bIns="0" rtlCol="0" anchor="t"/>
          <a:lstStyle/>
          <a:p>
            <a:pPr indent="0" marL="0">
              <a:buNone/>
            </a:pPr>
            <a:r>
              <a:rPr lang="en-US" sz="1000" dirty="0">
                <a:solidFill>
                  <a:schemeClr val="bg2"/>
                </a:solidFill>
              </a:rPr>
              <a:t>13</a:t>
            </a:r>
            <a:endParaRPr lang="en-US" sz="1000" dirty="0"/>
          </a:p>
        </p:txBody>
      </p:sp>
      <p:sp>
        <p:nvSpPr>
          <p:cNvPr id="30" name="Text 28"/>
          <p:cNvSpPr txBox="1"/>
          <p:nvPr/>
        </p:nvSpPr>
        <p:spPr>
          <a:xfrm>
            <a:off x="6858000" y="2083003"/>
            <a:ext cx="685800" cy="585216"/>
          </a:xfrm>
          <a:prstGeom prst="rect">
            <a:avLst/>
          </a:prstGeom>
          <a:noFill/>
          <a:ln/>
        </p:spPr>
        <p:txBody>
          <a:bodyPr wrap="square" lIns="0" tIns="0" rIns="0" bIns="0" rtlCol="0" anchor="ctr"/>
          <a:lstStyle/>
          <a:p>
            <a:pPr algn="ctr" indent="0" marL="0">
              <a:buNone/>
            </a:pPr>
            <a:r>
              <a:rPr lang="en-US" sz="2700" b="1" dirty="0">
                <a:solidFill>
                  <a:schemeClr val="bg1"/>
                </a:solidFill>
              </a:rPr>
              <a:t>Al</a:t>
            </a:r>
            <a:endParaRPr lang="en-US" sz="2700" dirty="0"/>
          </a:p>
        </p:txBody>
      </p:sp>
      <p:sp>
        <p:nvSpPr>
          <p:cNvPr id="31" name="1−"/>
          <p:cNvSpPr/>
          <p:nvPr/>
        </p:nvSpPr>
        <p:spPr>
          <a:xfrm>
            <a:off x="457200" y="3154680"/>
            <a:ext cx="2651760" cy="1325880"/>
          </a:xfrm>
          <a:prstGeom prst="roundRect">
            <a:avLst>
              <a:gd name="adj" fmla="val 6897"/>
            </a:avLst>
          </a:prstGeom>
          <a:solidFill>
            <a:schemeClr val="tx2"/>
          </a:solidFill>
          <a:ln w="9525">
            <a:solidFill>
              <a:schemeClr val="bg2">
                <a:alpha val="30000"/>
              </a:schemeClr>
            </a:solidFill>
            <a:prstDash val="solid"/>
          </a:ln>
        </p:spPr>
      </p:sp>
      <p:sp>
        <p:nvSpPr>
          <p:cNvPr id="32" name="Text 30"/>
          <p:cNvSpPr txBox="1"/>
          <p:nvPr/>
        </p:nvSpPr>
        <p:spPr>
          <a:xfrm>
            <a:off x="594360" y="3227832"/>
            <a:ext cx="914400" cy="320040"/>
          </a:xfrm>
          <a:prstGeom prst="rect">
            <a:avLst/>
          </a:prstGeom>
          <a:noFill/>
          <a:ln/>
        </p:spPr>
        <p:txBody>
          <a:bodyPr wrap="square" lIns="0" tIns="0" rIns="0" bIns="0" rtlCol="0" anchor="t"/>
          <a:lstStyle/>
          <a:p>
            <a:pPr indent="0" marL="0">
              <a:buNone/>
            </a:pPr>
            <a:r>
              <a:rPr lang="en-US" sz="1600" b="1" dirty="0">
                <a:solidFill>
                  <a:schemeClr val="accent1"/>
                </a:solidFill>
              </a:rPr>
              <a:t>1−</a:t>
            </a:r>
            <a:endParaRPr lang="en-US" sz="1600" dirty="0"/>
          </a:p>
        </p:txBody>
      </p:sp>
      <p:sp>
        <p:nvSpPr>
          <p:cNvPr id="33" name="Tile F"/>
          <p:cNvSpPr/>
          <p:nvPr/>
        </p:nvSpPr>
        <p:spPr>
          <a:xfrm>
            <a:off x="1280160" y="3429000"/>
            <a:ext cx="685800" cy="731520"/>
          </a:xfrm>
          <a:prstGeom prst="roundRect">
            <a:avLst>
              <a:gd name="adj" fmla="val 12000"/>
            </a:avLst>
          </a:prstGeom>
          <a:solidFill>
            <a:srgbClr val="F477B8">
              <a:alpha val="30000"/>
            </a:srgbClr>
          </a:solidFill>
          <a:ln w="19050">
            <a:solidFill>
              <a:srgbClr val="F477B8"/>
            </a:solidFill>
            <a:prstDash val="solid"/>
          </a:ln>
        </p:spPr>
      </p:sp>
      <p:sp>
        <p:nvSpPr>
          <p:cNvPr id="34" name="Text 32"/>
          <p:cNvSpPr txBox="1"/>
          <p:nvPr/>
        </p:nvSpPr>
        <p:spPr>
          <a:xfrm>
            <a:off x="1335024" y="3465576"/>
            <a:ext cx="411480" cy="175565"/>
          </a:xfrm>
          <a:prstGeom prst="rect">
            <a:avLst/>
          </a:prstGeom>
          <a:noFill/>
          <a:ln/>
        </p:spPr>
        <p:txBody>
          <a:bodyPr wrap="square" lIns="0" tIns="0" rIns="0" bIns="0" rtlCol="0" anchor="t"/>
          <a:lstStyle/>
          <a:p>
            <a:pPr indent="0" marL="0">
              <a:buNone/>
            </a:pPr>
            <a:r>
              <a:rPr lang="en-US" sz="1000" dirty="0">
                <a:solidFill>
                  <a:schemeClr val="bg2"/>
                </a:solidFill>
              </a:rPr>
              <a:t>9</a:t>
            </a:r>
            <a:endParaRPr lang="en-US" sz="1000" dirty="0"/>
          </a:p>
        </p:txBody>
      </p:sp>
      <p:sp>
        <p:nvSpPr>
          <p:cNvPr id="35" name="Text 33"/>
          <p:cNvSpPr txBox="1"/>
          <p:nvPr/>
        </p:nvSpPr>
        <p:spPr>
          <a:xfrm>
            <a:off x="1280160" y="3546043"/>
            <a:ext cx="685800" cy="585216"/>
          </a:xfrm>
          <a:prstGeom prst="rect">
            <a:avLst/>
          </a:prstGeom>
          <a:noFill/>
          <a:ln/>
        </p:spPr>
        <p:txBody>
          <a:bodyPr wrap="square" lIns="0" tIns="0" rIns="0" bIns="0" rtlCol="0" anchor="ctr"/>
          <a:lstStyle/>
          <a:p>
            <a:pPr algn="ctr" indent="0" marL="0">
              <a:buNone/>
            </a:pPr>
            <a:r>
              <a:rPr lang="en-US" sz="2700" b="1" dirty="0">
                <a:solidFill>
                  <a:schemeClr val="bg1"/>
                </a:solidFill>
              </a:rPr>
              <a:t>F</a:t>
            </a:r>
            <a:endParaRPr lang="en-US" sz="2700" dirty="0"/>
          </a:p>
        </p:txBody>
      </p:sp>
      <p:sp>
        <p:nvSpPr>
          <p:cNvPr id="36" name="Tile Cl"/>
          <p:cNvSpPr/>
          <p:nvPr/>
        </p:nvSpPr>
        <p:spPr>
          <a:xfrm>
            <a:off x="2057400" y="3429000"/>
            <a:ext cx="685800" cy="731520"/>
          </a:xfrm>
          <a:prstGeom prst="roundRect">
            <a:avLst>
              <a:gd name="adj" fmla="val 12000"/>
            </a:avLst>
          </a:prstGeom>
          <a:solidFill>
            <a:srgbClr val="F477B8">
              <a:alpha val="30000"/>
            </a:srgbClr>
          </a:solidFill>
          <a:ln w="19050">
            <a:solidFill>
              <a:srgbClr val="F477B8"/>
            </a:solidFill>
            <a:prstDash val="solid"/>
          </a:ln>
        </p:spPr>
      </p:sp>
      <p:sp>
        <p:nvSpPr>
          <p:cNvPr id="37" name="Text 35"/>
          <p:cNvSpPr txBox="1"/>
          <p:nvPr/>
        </p:nvSpPr>
        <p:spPr>
          <a:xfrm>
            <a:off x="2112264" y="3465576"/>
            <a:ext cx="411480" cy="175565"/>
          </a:xfrm>
          <a:prstGeom prst="rect">
            <a:avLst/>
          </a:prstGeom>
          <a:noFill/>
          <a:ln/>
        </p:spPr>
        <p:txBody>
          <a:bodyPr wrap="square" lIns="0" tIns="0" rIns="0" bIns="0" rtlCol="0" anchor="t"/>
          <a:lstStyle/>
          <a:p>
            <a:pPr indent="0" marL="0">
              <a:buNone/>
            </a:pPr>
            <a:r>
              <a:rPr lang="en-US" sz="1000" dirty="0">
                <a:solidFill>
                  <a:schemeClr val="bg2"/>
                </a:solidFill>
              </a:rPr>
              <a:t>17</a:t>
            </a:r>
            <a:endParaRPr lang="en-US" sz="1000" dirty="0"/>
          </a:p>
        </p:txBody>
      </p:sp>
      <p:sp>
        <p:nvSpPr>
          <p:cNvPr id="38" name="Text 36"/>
          <p:cNvSpPr txBox="1"/>
          <p:nvPr/>
        </p:nvSpPr>
        <p:spPr>
          <a:xfrm>
            <a:off x="2057400" y="3546043"/>
            <a:ext cx="685800" cy="585216"/>
          </a:xfrm>
          <a:prstGeom prst="rect">
            <a:avLst/>
          </a:prstGeom>
          <a:noFill/>
          <a:ln/>
        </p:spPr>
        <p:txBody>
          <a:bodyPr wrap="square" lIns="0" tIns="0" rIns="0" bIns="0" rtlCol="0" anchor="ctr"/>
          <a:lstStyle/>
          <a:p>
            <a:pPr algn="ctr" indent="0" marL="0">
              <a:buNone/>
            </a:pPr>
            <a:r>
              <a:rPr lang="en-US" sz="2700" b="1" dirty="0">
                <a:solidFill>
                  <a:schemeClr val="bg1"/>
                </a:solidFill>
              </a:rPr>
              <a:t>Cl</a:t>
            </a:r>
            <a:endParaRPr lang="en-US" sz="2700" dirty="0"/>
          </a:p>
        </p:txBody>
      </p:sp>
      <p:sp>
        <p:nvSpPr>
          <p:cNvPr id="39" name="2−"/>
          <p:cNvSpPr/>
          <p:nvPr/>
        </p:nvSpPr>
        <p:spPr>
          <a:xfrm>
            <a:off x="3246120" y="3154680"/>
            <a:ext cx="2651760" cy="1325880"/>
          </a:xfrm>
          <a:prstGeom prst="roundRect">
            <a:avLst>
              <a:gd name="adj" fmla="val 6897"/>
            </a:avLst>
          </a:prstGeom>
          <a:solidFill>
            <a:schemeClr val="tx2"/>
          </a:solidFill>
          <a:ln w="9525">
            <a:solidFill>
              <a:schemeClr val="bg2">
                <a:alpha val="30000"/>
              </a:schemeClr>
            </a:solidFill>
            <a:prstDash val="solid"/>
          </a:ln>
        </p:spPr>
      </p:sp>
      <p:sp>
        <p:nvSpPr>
          <p:cNvPr id="40" name="Text 38"/>
          <p:cNvSpPr txBox="1"/>
          <p:nvPr/>
        </p:nvSpPr>
        <p:spPr>
          <a:xfrm>
            <a:off x="3383280" y="3227832"/>
            <a:ext cx="914400" cy="320040"/>
          </a:xfrm>
          <a:prstGeom prst="rect">
            <a:avLst/>
          </a:prstGeom>
          <a:noFill/>
          <a:ln/>
        </p:spPr>
        <p:txBody>
          <a:bodyPr wrap="square" lIns="0" tIns="0" rIns="0" bIns="0" rtlCol="0" anchor="t"/>
          <a:lstStyle/>
          <a:p>
            <a:pPr indent="0" marL="0">
              <a:buNone/>
            </a:pPr>
            <a:r>
              <a:rPr lang="en-US" sz="1600" b="1" dirty="0">
                <a:solidFill>
                  <a:schemeClr val="accent1"/>
                </a:solidFill>
              </a:rPr>
              <a:t>2−</a:t>
            </a:r>
            <a:endParaRPr lang="en-US" sz="1600" dirty="0"/>
          </a:p>
        </p:txBody>
      </p:sp>
      <p:sp>
        <p:nvSpPr>
          <p:cNvPr id="41" name="Tile O"/>
          <p:cNvSpPr/>
          <p:nvPr/>
        </p:nvSpPr>
        <p:spPr>
          <a:xfrm>
            <a:off x="4069080" y="3429000"/>
            <a:ext cx="685800" cy="731520"/>
          </a:xfrm>
          <a:prstGeom prst="roundRect">
            <a:avLst>
              <a:gd name="adj" fmla="val 12000"/>
            </a:avLst>
          </a:prstGeom>
          <a:solidFill>
            <a:srgbClr val="45C08F">
              <a:alpha val="30000"/>
            </a:srgbClr>
          </a:solidFill>
          <a:ln w="19050">
            <a:solidFill>
              <a:srgbClr val="45C08F"/>
            </a:solidFill>
            <a:prstDash val="solid"/>
          </a:ln>
        </p:spPr>
      </p:sp>
      <p:sp>
        <p:nvSpPr>
          <p:cNvPr id="42" name="Text 40"/>
          <p:cNvSpPr txBox="1"/>
          <p:nvPr/>
        </p:nvSpPr>
        <p:spPr>
          <a:xfrm>
            <a:off x="4123944" y="3465576"/>
            <a:ext cx="411480" cy="175565"/>
          </a:xfrm>
          <a:prstGeom prst="rect">
            <a:avLst/>
          </a:prstGeom>
          <a:noFill/>
          <a:ln/>
        </p:spPr>
        <p:txBody>
          <a:bodyPr wrap="square" lIns="0" tIns="0" rIns="0" bIns="0" rtlCol="0" anchor="t"/>
          <a:lstStyle/>
          <a:p>
            <a:pPr indent="0" marL="0">
              <a:buNone/>
            </a:pPr>
            <a:r>
              <a:rPr lang="en-US" sz="1000" dirty="0">
                <a:solidFill>
                  <a:schemeClr val="bg2"/>
                </a:solidFill>
              </a:rPr>
              <a:t>8</a:t>
            </a:r>
            <a:endParaRPr lang="en-US" sz="1000" dirty="0"/>
          </a:p>
        </p:txBody>
      </p:sp>
      <p:sp>
        <p:nvSpPr>
          <p:cNvPr id="43" name="Text 41"/>
          <p:cNvSpPr txBox="1"/>
          <p:nvPr/>
        </p:nvSpPr>
        <p:spPr>
          <a:xfrm>
            <a:off x="4069080" y="3546043"/>
            <a:ext cx="685800" cy="585216"/>
          </a:xfrm>
          <a:prstGeom prst="rect">
            <a:avLst/>
          </a:prstGeom>
          <a:noFill/>
          <a:ln/>
        </p:spPr>
        <p:txBody>
          <a:bodyPr wrap="square" lIns="0" tIns="0" rIns="0" bIns="0" rtlCol="0" anchor="ctr"/>
          <a:lstStyle/>
          <a:p>
            <a:pPr algn="ctr" indent="0" marL="0">
              <a:buNone/>
            </a:pPr>
            <a:r>
              <a:rPr lang="en-US" sz="2700" b="1" dirty="0">
                <a:solidFill>
                  <a:schemeClr val="bg1"/>
                </a:solidFill>
              </a:rPr>
              <a:t>O</a:t>
            </a:r>
            <a:endParaRPr lang="en-US" sz="2700" dirty="0"/>
          </a:p>
        </p:txBody>
      </p:sp>
      <p:sp>
        <p:nvSpPr>
          <p:cNvPr id="44" name="Tile S"/>
          <p:cNvSpPr/>
          <p:nvPr/>
        </p:nvSpPr>
        <p:spPr>
          <a:xfrm>
            <a:off x="4846320" y="3429000"/>
            <a:ext cx="685800" cy="731520"/>
          </a:xfrm>
          <a:prstGeom prst="roundRect">
            <a:avLst>
              <a:gd name="adj" fmla="val 12000"/>
            </a:avLst>
          </a:prstGeom>
          <a:solidFill>
            <a:srgbClr val="45C08F">
              <a:alpha val="30000"/>
            </a:srgbClr>
          </a:solidFill>
          <a:ln w="19050">
            <a:solidFill>
              <a:srgbClr val="45C08F"/>
            </a:solidFill>
            <a:prstDash val="solid"/>
          </a:ln>
        </p:spPr>
      </p:sp>
      <p:sp>
        <p:nvSpPr>
          <p:cNvPr id="45" name="Text 43"/>
          <p:cNvSpPr txBox="1"/>
          <p:nvPr/>
        </p:nvSpPr>
        <p:spPr>
          <a:xfrm>
            <a:off x="4901184" y="3465576"/>
            <a:ext cx="411480" cy="175565"/>
          </a:xfrm>
          <a:prstGeom prst="rect">
            <a:avLst/>
          </a:prstGeom>
          <a:noFill/>
          <a:ln/>
        </p:spPr>
        <p:txBody>
          <a:bodyPr wrap="square" lIns="0" tIns="0" rIns="0" bIns="0" rtlCol="0" anchor="t"/>
          <a:lstStyle/>
          <a:p>
            <a:pPr indent="0" marL="0">
              <a:buNone/>
            </a:pPr>
            <a:r>
              <a:rPr lang="en-US" sz="1000" dirty="0">
                <a:solidFill>
                  <a:schemeClr val="bg2"/>
                </a:solidFill>
              </a:rPr>
              <a:t>16</a:t>
            </a:r>
            <a:endParaRPr lang="en-US" sz="1000" dirty="0"/>
          </a:p>
        </p:txBody>
      </p:sp>
      <p:sp>
        <p:nvSpPr>
          <p:cNvPr id="46" name="Text 44"/>
          <p:cNvSpPr txBox="1"/>
          <p:nvPr/>
        </p:nvSpPr>
        <p:spPr>
          <a:xfrm>
            <a:off x="4846320" y="3546043"/>
            <a:ext cx="685800" cy="585216"/>
          </a:xfrm>
          <a:prstGeom prst="rect">
            <a:avLst/>
          </a:prstGeom>
          <a:noFill/>
          <a:ln/>
        </p:spPr>
        <p:txBody>
          <a:bodyPr wrap="square" lIns="0" tIns="0" rIns="0" bIns="0" rtlCol="0" anchor="ctr"/>
          <a:lstStyle/>
          <a:p>
            <a:pPr algn="ctr" indent="0" marL="0">
              <a:buNone/>
            </a:pPr>
            <a:r>
              <a:rPr lang="en-US" sz="2700" b="1" dirty="0">
                <a:solidFill>
                  <a:schemeClr val="bg1"/>
                </a:solidFill>
              </a:rPr>
              <a:t>S</a:t>
            </a:r>
            <a:endParaRPr lang="en-US" sz="2700" dirty="0"/>
          </a:p>
        </p:txBody>
      </p:sp>
      <p:sp>
        <p:nvSpPr>
          <p:cNvPr id="47" name="3−"/>
          <p:cNvSpPr/>
          <p:nvPr/>
        </p:nvSpPr>
        <p:spPr>
          <a:xfrm>
            <a:off x="6035040" y="3154680"/>
            <a:ext cx="2651760" cy="1325880"/>
          </a:xfrm>
          <a:prstGeom prst="roundRect">
            <a:avLst>
              <a:gd name="adj" fmla="val 6897"/>
            </a:avLst>
          </a:prstGeom>
          <a:solidFill>
            <a:schemeClr val="tx2"/>
          </a:solidFill>
          <a:ln w="9525">
            <a:solidFill>
              <a:schemeClr val="bg2">
                <a:alpha val="30000"/>
              </a:schemeClr>
            </a:solidFill>
            <a:prstDash val="solid"/>
          </a:ln>
        </p:spPr>
      </p:sp>
      <p:sp>
        <p:nvSpPr>
          <p:cNvPr id="48" name="Text 46"/>
          <p:cNvSpPr txBox="1"/>
          <p:nvPr/>
        </p:nvSpPr>
        <p:spPr>
          <a:xfrm>
            <a:off x="6172200" y="3227832"/>
            <a:ext cx="914400" cy="320040"/>
          </a:xfrm>
          <a:prstGeom prst="rect">
            <a:avLst/>
          </a:prstGeom>
          <a:noFill/>
          <a:ln/>
        </p:spPr>
        <p:txBody>
          <a:bodyPr wrap="square" lIns="0" tIns="0" rIns="0" bIns="0" rtlCol="0" anchor="t"/>
          <a:lstStyle/>
          <a:p>
            <a:pPr indent="0" marL="0">
              <a:buNone/>
            </a:pPr>
            <a:r>
              <a:rPr lang="en-US" sz="1600" b="1" dirty="0">
                <a:solidFill>
                  <a:schemeClr val="accent1"/>
                </a:solidFill>
              </a:rPr>
              <a:t>3−</a:t>
            </a:r>
            <a:endParaRPr lang="en-US" sz="1600" dirty="0"/>
          </a:p>
        </p:txBody>
      </p:sp>
      <p:sp>
        <p:nvSpPr>
          <p:cNvPr id="49" name="Tile N"/>
          <p:cNvSpPr/>
          <p:nvPr/>
        </p:nvSpPr>
        <p:spPr>
          <a:xfrm>
            <a:off x="6858000" y="3429000"/>
            <a:ext cx="685800" cy="731520"/>
          </a:xfrm>
          <a:prstGeom prst="roundRect">
            <a:avLst>
              <a:gd name="adj" fmla="val 12000"/>
            </a:avLst>
          </a:prstGeom>
          <a:solidFill>
            <a:srgbClr val="45C08F">
              <a:alpha val="30000"/>
            </a:srgbClr>
          </a:solidFill>
          <a:ln w="19050">
            <a:solidFill>
              <a:srgbClr val="45C08F"/>
            </a:solidFill>
            <a:prstDash val="solid"/>
          </a:ln>
        </p:spPr>
      </p:sp>
      <p:sp>
        <p:nvSpPr>
          <p:cNvPr id="50" name="Text 48"/>
          <p:cNvSpPr txBox="1"/>
          <p:nvPr/>
        </p:nvSpPr>
        <p:spPr>
          <a:xfrm>
            <a:off x="6912864" y="3465576"/>
            <a:ext cx="411480" cy="175565"/>
          </a:xfrm>
          <a:prstGeom prst="rect">
            <a:avLst/>
          </a:prstGeom>
          <a:noFill/>
          <a:ln/>
        </p:spPr>
        <p:txBody>
          <a:bodyPr wrap="square" lIns="0" tIns="0" rIns="0" bIns="0" rtlCol="0" anchor="t"/>
          <a:lstStyle/>
          <a:p>
            <a:pPr indent="0" marL="0">
              <a:buNone/>
            </a:pPr>
            <a:r>
              <a:rPr lang="en-US" sz="1000" dirty="0">
                <a:solidFill>
                  <a:schemeClr val="bg2"/>
                </a:solidFill>
              </a:rPr>
              <a:t>7</a:t>
            </a:r>
            <a:endParaRPr lang="en-US" sz="1000" dirty="0"/>
          </a:p>
        </p:txBody>
      </p:sp>
      <p:sp>
        <p:nvSpPr>
          <p:cNvPr id="51" name="Text 49"/>
          <p:cNvSpPr txBox="1"/>
          <p:nvPr/>
        </p:nvSpPr>
        <p:spPr>
          <a:xfrm>
            <a:off x="6858000" y="3546043"/>
            <a:ext cx="685800" cy="585216"/>
          </a:xfrm>
          <a:prstGeom prst="rect">
            <a:avLst/>
          </a:prstGeom>
          <a:noFill/>
          <a:ln/>
        </p:spPr>
        <p:txBody>
          <a:bodyPr wrap="square" lIns="0" tIns="0" rIns="0" bIns="0" rtlCol="0" anchor="ctr"/>
          <a:lstStyle/>
          <a:p>
            <a:pPr algn="ctr" indent="0" marL="0">
              <a:buNone/>
            </a:pPr>
            <a:r>
              <a:rPr lang="en-US" sz="2700" b="1" dirty="0">
                <a:solidFill>
                  <a:schemeClr val="bg1"/>
                </a:solidFill>
              </a:rPr>
              <a:t>N</a:t>
            </a:r>
            <a:endParaRPr lang="en-US" sz="2700" dirty="0"/>
          </a:p>
        </p:txBody>
      </p:sp>
      <p:sp>
        <p:nvSpPr>
          <p:cNvPr id="52" name="Tile P"/>
          <p:cNvSpPr/>
          <p:nvPr/>
        </p:nvSpPr>
        <p:spPr>
          <a:xfrm>
            <a:off x="7635240" y="3429000"/>
            <a:ext cx="685800" cy="731520"/>
          </a:xfrm>
          <a:prstGeom prst="roundRect">
            <a:avLst>
              <a:gd name="adj" fmla="val 12000"/>
            </a:avLst>
          </a:prstGeom>
          <a:solidFill>
            <a:srgbClr val="45C08F">
              <a:alpha val="30000"/>
            </a:srgbClr>
          </a:solidFill>
          <a:ln w="19050">
            <a:solidFill>
              <a:srgbClr val="45C08F"/>
            </a:solidFill>
            <a:prstDash val="solid"/>
          </a:ln>
        </p:spPr>
      </p:sp>
      <p:sp>
        <p:nvSpPr>
          <p:cNvPr id="53" name="Text 51"/>
          <p:cNvSpPr txBox="1"/>
          <p:nvPr/>
        </p:nvSpPr>
        <p:spPr>
          <a:xfrm>
            <a:off x="7690104" y="3465576"/>
            <a:ext cx="411480" cy="175565"/>
          </a:xfrm>
          <a:prstGeom prst="rect">
            <a:avLst/>
          </a:prstGeom>
          <a:noFill/>
          <a:ln/>
        </p:spPr>
        <p:txBody>
          <a:bodyPr wrap="square" lIns="0" tIns="0" rIns="0" bIns="0" rtlCol="0" anchor="t"/>
          <a:lstStyle/>
          <a:p>
            <a:pPr indent="0" marL="0">
              <a:buNone/>
            </a:pPr>
            <a:r>
              <a:rPr lang="en-US" sz="1000" dirty="0">
                <a:solidFill>
                  <a:schemeClr val="bg2"/>
                </a:solidFill>
              </a:rPr>
              <a:t>15</a:t>
            </a:r>
            <a:endParaRPr lang="en-US" sz="1000" dirty="0"/>
          </a:p>
        </p:txBody>
      </p:sp>
      <p:sp>
        <p:nvSpPr>
          <p:cNvPr id="54" name="Text 52"/>
          <p:cNvSpPr txBox="1"/>
          <p:nvPr/>
        </p:nvSpPr>
        <p:spPr>
          <a:xfrm>
            <a:off x="7635240" y="3546043"/>
            <a:ext cx="685800" cy="585216"/>
          </a:xfrm>
          <a:prstGeom prst="rect">
            <a:avLst/>
          </a:prstGeom>
          <a:noFill/>
          <a:ln/>
        </p:spPr>
        <p:txBody>
          <a:bodyPr wrap="square" lIns="0" tIns="0" rIns="0" bIns="0" rtlCol="0" anchor="ctr"/>
          <a:lstStyle/>
          <a:p>
            <a:pPr algn="ctr" indent="0" marL="0">
              <a:buNone/>
            </a:pPr>
            <a:r>
              <a:rPr lang="en-US" sz="2700" b="1" dirty="0">
                <a:solidFill>
                  <a:schemeClr val="bg1"/>
                </a:solidFill>
              </a:rPr>
              <a:t>P</a:t>
            </a:r>
            <a:endParaRPr lang="en-US" sz="27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ection tile 4"/>
          <p:cNvSpPr/>
          <p:nvPr/>
        </p:nvSpPr>
        <p:spPr>
          <a:xfrm>
            <a:off x="457200" y="301752"/>
            <a:ext cx="749808" cy="841248"/>
          </a:xfrm>
          <a:prstGeom prst="roundRect">
            <a:avLst>
              <a:gd name="adj" fmla="val 12000"/>
            </a:avLst>
          </a:prstGeom>
          <a:solidFill>
            <a:srgbClr val="60A5FA">
              <a:alpha val="28000"/>
            </a:srgbClr>
          </a:solidFill>
          <a:ln w="19050">
            <a:solidFill>
              <a:srgbClr val="60A5FA"/>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4</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2400" b="1" dirty="0">
                <a:solidFill>
                  <a:schemeClr val="bg1"/>
                </a:solidFill>
              </a:rPr>
              <a:t>Al</a:t>
            </a:r>
            <a:pPr algn="ctr" indent="0" marL="0">
              <a:buNone/>
            </a:pPr>
            <a:r>
              <a:rPr lang="en-US" sz="2400" b="1" baseline="30000" dirty="0">
                <a:solidFill>
                  <a:schemeClr val="bg1"/>
                </a:solidFill>
              </a:rPr>
              <a:t>3+</a:t>
            </a:r>
            <a:endParaRPr lang="en-US" sz="2400" dirty="0"/>
          </a:p>
        </p:txBody>
      </p:sp>
      <p:sp>
        <p:nvSpPr>
          <p:cNvPr id="5" name="Text 3"/>
          <p:cNvSpPr/>
          <p:nvPr/>
        </p:nvSpPr>
        <p:spPr>
          <a:xfrm>
            <a:off x="1417320" y="31089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6" name="Text 4"/>
          <p:cNvSpPr txBox="1"/>
          <p:nvPr/>
        </p:nvSpPr>
        <p:spPr>
          <a:xfrm>
            <a:off x="260604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4 of 9</a:t>
            </a:r>
            <a:endParaRPr lang="en-US" sz="1200" dirty="0"/>
          </a:p>
        </p:txBody>
      </p:sp>
      <p:sp>
        <p:nvSpPr>
          <p:cNvPr id="7" name="Text 0"/>
          <p:cNvSpPr/>
          <p:nvPr>
            <p:ph idx="100" type="title" hasCustomPrompt="1"/>
          </p:nvPr>
        </p:nvSpPr>
        <p:spPr>
          <a:xfrm>
            <a:off x="1417320" y="658368"/>
            <a:ext cx="7269480" cy="841248"/>
          </a:xfrm>
          <a:prstGeom prst="rect">
            <a:avLst/>
          </a:prstGeom>
          <a:noFill/>
          <a:ln/>
        </p:spPr>
        <p:txBody>
          <a:bodyPr wrap="square" lIns="0" tIns="0" rIns="0" bIns="0" rtlCol="0" anchor="t"/>
          <a:lstStyle/>
          <a:p>
            <a:pPr algn="l" indent="0" marL="0">
              <a:buNone/>
            </a:pPr>
            <a:r>
              <a:rPr lang="en-US" sz="2000" b="1" dirty="0">
                <a:solidFill>
                  <a:schemeClr val="bg1"/>
                </a:solidFill>
              </a:rPr>
              <a:t>Which element forms an ion with a 2− charge?</a:t>
            </a:r>
            <a:endParaRPr lang="en-US" sz="2000" dirty="0"/>
          </a:p>
        </p:txBody>
      </p:sp>
      <p:sp>
        <p:nvSpPr>
          <p:cNvPr id="8" name="Option A"/>
          <p:cNvSpPr/>
          <p:nvPr/>
        </p:nvSpPr>
        <p:spPr>
          <a:xfrm>
            <a:off x="457200" y="1645920"/>
            <a:ext cx="8229600" cy="457200"/>
          </a:xfrm>
          <a:prstGeom prst="roundRect">
            <a:avLst>
              <a:gd name="adj" fmla="val 18000"/>
            </a:avLst>
          </a:prstGeom>
          <a:solidFill>
            <a:schemeClr val="tx2"/>
          </a:solidFill>
          <a:ln w="9525">
            <a:solidFill>
              <a:schemeClr val="bg2">
                <a:alpha val="35000"/>
              </a:schemeClr>
            </a:solidFill>
            <a:prstDash val="solid"/>
          </a:ln>
        </p:spPr>
      </p:sp>
      <p:sp>
        <p:nvSpPr>
          <p:cNvPr id="9" name="Text 7"/>
          <p:cNvSpPr/>
          <p:nvPr/>
        </p:nvSpPr>
        <p:spPr>
          <a:xfrm>
            <a:off x="548640" y="1719072"/>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10" name="Text 8"/>
          <p:cNvSpPr txBox="1"/>
          <p:nvPr/>
        </p:nvSpPr>
        <p:spPr>
          <a:xfrm>
            <a:off x="969264" y="1645920"/>
            <a:ext cx="7626096" cy="457200"/>
          </a:xfrm>
          <a:prstGeom prst="rect">
            <a:avLst/>
          </a:prstGeom>
          <a:noFill/>
          <a:ln/>
        </p:spPr>
        <p:txBody>
          <a:bodyPr wrap="square" lIns="0" tIns="0" rIns="0" bIns="0" rtlCol="0" anchor="ctr"/>
          <a:lstStyle/>
          <a:p>
            <a:pPr indent="0" marL="0">
              <a:buNone/>
            </a:pPr>
            <a:r>
              <a:rPr lang="en-US" sz="1600" dirty="0">
                <a:solidFill>
                  <a:schemeClr val="bg1"/>
                </a:solidFill>
              </a:rPr>
              <a:t>Calcium</a:t>
            </a:r>
            <a:endParaRPr lang="en-US" sz="1600" dirty="0"/>
          </a:p>
        </p:txBody>
      </p:sp>
      <p:sp>
        <p:nvSpPr>
          <p:cNvPr id="11" name="Option B"/>
          <p:cNvSpPr/>
          <p:nvPr/>
        </p:nvSpPr>
        <p:spPr>
          <a:xfrm>
            <a:off x="457200" y="2231136"/>
            <a:ext cx="8229600" cy="457200"/>
          </a:xfrm>
          <a:prstGeom prst="roundRect">
            <a:avLst>
              <a:gd name="adj" fmla="val 18000"/>
            </a:avLst>
          </a:prstGeom>
          <a:solidFill>
            <a:schemeClr val="tx2"/>
          </a:solidFill>
          <a:ln w="9525">
            <a:solidFill>
              <a:schemeClr val="bg2">
                <a:alpha val="35000"/>
              </a:schemeClr>
            </a:solidFill>
            <a:prstDash val="solid"/>
          </a:ln>
        </p:spPr>
      </p:sp>
      <p:sp>
        <p:nvSpPr>
          <p:cNvPr id="12" name="Text 10"/>
          <p:cNvSpPr/>
          <p:nvPr/>
        </p:nvSpPr>
        <p:spPr>
          <a:xfrm>
            <a:off x="548640" y="2304288"/>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13" name="Text 11"/>
          <p:cNvSpPr txBox="1"/>
          <p:nvPr/>
        </p:nvSpPr>
        <p:spPr>
          <a:xfrm>
            <a:off x="969264" y="2231136"/>
            <a:ext cx="7626096" cy="457200"/>
          </a:xfrm>
          <a:prstGeom prst="rect">
            <a:avLst/>
          </a:prstGeom>
          <a:noFill/>
          <a:ln/>
        </p:spPr>
        <p:txBody>
          <a:bodyPr wrap="square" lIns="0" tIns="0" rIns="0" bIns="0" rtlCol="0" anchor="ctr"/>
          <a:lstStyle/>
          <a:p>
            <a:pPr indent="0" marL="0">
              <a:buNone/>
            </a:pPr>
            <a:r>
              <a:rPr lang="en-US" sz="1600" dirty="0">
                <a:solidFill>
                  <a:schemeClr val="bg1"/>
                </a:solidFill>
              </a:rPr>
              <a:t>Sulfur</a:t>
            </a:r>
            <a:endParaRPr lang="en-US" sz="1600" dirty="0"/>
          </a:p>
        </p:txBody>
      </p:sp>
      <p:sp>
        <p:nvSpPr>
          <p:cNvPr id="14" name="Option C"/>
          <p:cNvSpPr/>
          <p:nvPr/>
        </p:nvSpPr>
        <p:spPr>
          <a:xfrm>
            <a:off x="457200" y="2816352"/>
            <a:ext cx="8229600" cy="457200"/>
          </a:xfrm>
          <a:prstGeom prst="roundRect">
            <a:avLst>
              <a:gd name="adj" fmla="val 18000"/>
            </a:avLst>
          </a:prstGeom>
          <a:solidFill>
            <a:schemeClr val="tx2"/>
          </a:solidFill>
          <a:ln w="9525">
            <a:solidFill>
              <a:schemeClr val="bg2">
                <a:alpha val="35000"/>
              </a:schemeClr>
            </a:solidFill>
            <a:prstDash val="solid"/>
          </a:ln>
        </p:spPr>
      </p:sp>
      <p:sp>
        <p:nvSpPr>
          <p:cNvPr id="15" name="Text 13"/>
          <p:cNvSpPr/>
          <p:nvPr/>
        </p:nvSpPr>
        <p:spPr>
          <a:xfrm>
            <a:off x="548640" y="2889504"/>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6" name="Text 14"/>
          <p:cNvSpPr txBox="1"/>
          <p:nvPr/>
        </p:nvSpPr>
        <p:spPr>
          <a:xfrm>
            <a:off x="969264" y="2816352"/>
            <a:ext cx="7626096" cy="457200"/>
          </a:xfrm>
          <a:prstGeom prst="rect">
            <a:avLst/>
          </a:prstGeom>
          <a:noFill/>
          <a:ln/>
        </p:spPr>
        <p:txBody>
          <a:bodyPr wrap="square" lIns="0" tIns="0" rIns="0" bIns="0" rtlCol="0" anchor="ctr"/>
          <a:lstStyle/>
          <a:p>
            <a:pPr indent="0" marL="0">
              <a:buNone/>
            </a:pPr>
            <a:r>
              <a:rPr lang="en-US" sz="1600" dirty="0">
                <a:solidFill>
                  <a:schemeClr val="bg1"/>
                </a:solidFill>
              </a:rPr>
              <a:t>Aluminum</a:t>
            </a:r>
            <a:endParaRPr lang="en-US" sz="1600" dirty="0"/>
          </a:p>
        </p:txBody>
      </p:sp>
      <p:sp>
        <p:nvSpPr>
          <p:cNvPr id="17" name="Option D"/>
          <p:cNvSpPr/>
          <p:nvPr/>
        </p:nvSpPr>
        <p:spPr>
          <a:xfrm>
            <a:off x="457200" y="3401568"/>
            <a:ext cx="8229600" cy="457200"/>
          </a:xfrm>
          <a:prstGeom prst="roundRect">
            <a:avLst>
              <a:gd name="adj" fmla="val 18000"/>
            </a:avLst>
          </a:prstGeom>
          <a:solidFill>
            <a:schemeClr val="tx2"/>
          </a:solidFill>
          <a:ln w="9525">
            <a:solidFill>
              <a:schemeClr val="bg2">
                <a:alpha val="35000"/>
              </a:schemeClr>
            </a:solidFill>
            <a:prstDash val="solid"/>
          </a:ln>
        </p:spPr>
      </p:sp>
      <p:sp>
        <p:nvSpPr>
          <p:cNvPr id="18" name="Text 16"/>
          <p:cNvSpPr/>
          <p:nvPr/>
        </p:nvSpPr>
        <p:spPr>
          <a:xfrm>
            <a:off x="548640" y="3474720"/>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19" name="Text 17"/>
          <p:cNvSpPr txBox="1"/>
          <p:nvPr/>
        </p:nvSpPr>
        <p:spPr>
          <a:xfrm>
            <a:off x="969264" y="3401568"/>
            <a:ext cx="7626096" cy="457200"/>
          </a:xfrm>
          <a:prstGeom prst="rect">
            <a:avLst/>
          </a:prstGeom>
          <a:noFill/>
          <a:ln/>
        </p:spPr>
        <p:txBody>
          <a:bodyPr wrap="square" lIns="0" tIns="0" rIns="0" bIns="0" rtlCol="0" anchor="ctr"/>
          <a:lstStyle/>
          <a:p>
            <a:pPr indent="0" marL="0">
              <a:buNone/>
            </a:pPr>
            <a:r>
              <a:rPr lang="en-US" sz="1600" dirty="0">
                <a:solidFill>
                  <a:schemeClr val="bg1"/>
                </a:solidFill>
              </a:rPr>
              <a:t>Chlorine</a:t>
            </a:r>
            <a:endParaRPr lang="en-US" sz="16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ection tile 4"/>
          <p:cNvSpPr/>
          <p:nvPr/>
        </p:nvSpPr>
        <p:spPr>
          <a:xfrm>
            <a:off x="457200" y="301752"/>
            <a:ext cx="749808" cy="841248"/>
          </a:xfrm>
          <a:prstGeom prst="roundRect">
            <a:avLst>
              <a:gd name="adj" fmla="val 12000"/>
            </a:avLst>
          </a:prstGeom>
          <a:solidFill>
            <a:srgbClr val="60A5FA">
              <a:alpha val="28000"/>
            </a:srgbClr>
          </a:solidFill>
          <a:ln w="19050">
            <a:solidFill>
              <a:srgbClr val="60A5FA"/>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4</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2400" b="1" dirty="0">
                <a:solidFill>
                  <a:schemeClr val="bg1"/>
                </a:solidFill>
              </a:rPr>
              <a:t>Al</a:t>
            </a:r>
            <a:pPr algn="ctr" indent="0" marL="0">
              <a:buNone/>
            </a:pPr>
            <a:r>
              <a:rPr lang="en-US" sz="2400" b="1" baseline="30000" dirty="0">
                <a:solidFill>
                  <a:schemeClr val="bg1"/>
                </a:solidFill>
              </a:rPr>
              <a:t>3+</a:t>
            </a:r>
            <a:endParaRPr lang="en-US" sz="2400" dirty="0"/>
          </a:p>
        </p:txBody>
      </p:sp>
      <p:sp>
        <p:nvSpPr>
          <p:cNvPr id="5" name="Text 3"/>
          <p:cNvSpPr/>
          <p:nvPr/>
        </p:nvSpPr>
        <p:spPr>
          <a:xfrm>
            <a:off x="1417320" y="31089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6" name="Text 4"/>
          <p:cNvSpPr/>
          <p:nvPr/>
        </p:nvSpPr>
        <p:spPr>
          <a:xfrm>
            <a:off x="256032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7" name="Text 5"/>
          <p:cNvSpPr txBox="1"/>
          <p:nvPr/>
        </p:nvSpPr>
        <p:spPr>
          <a:xfrm>
            <a:off x="352044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4 of 9</a:t>
            </a:r>
            <a:endParaRPr lang="en-US" sz="1200" dirty="0"/>
          </a:p>
        </p:txBody>
      </p:sp>
      <p:sp>
        <p:nvSpPr>
          <p:cNvPr id="8" name="Text 0"/>
          <p:cNvSpPr/>
          <p:nvPr>
            <p:ph idx="100" type="title" hasCustomPrompt="1"/>
          </p:nvPr>
        </p:nvSpPr>
        <p:spPr>
          <a:xfrm>
            <a:off x="1417320" y="658368"/>
            <a:ext cx="7269480" cy="841248"/>
          </a:xfrm>
          <a:prstGeom prst="rect">
            <a:avLst/>
          </a:prstGeom>
          <a:noFill/>
          <a:ln/>
        </p:spPr>
        <p:txBody>
          <a:bodyPr wrap="square" lIns="0" tIns="0" rIns="0" bIns="0" rtlCol="0" anchor="t"/>
          <a:lstStyle/>
          <a:p>
            <a:pPr algn="l" indent="0" marL="0">
              <a:buNone/>
            </a:pPr>
            <a:r>
              <a:rPr lang="en-US" sz="2000" b="1" dirty="0">
                <a:solidFill>
                  <a:schemeClr val="bg1"/>
                </a:solidFill>
              </a:rPr>
              <a:t>Which element forms an ion with a 2− charge?</a:t>
            </a:r>
            <a:endParaRPr lang="en-US" sz="2000" dirty="0"/>
          </a:p>
        </p:txBody>
      </p:sp>
      <p:sp>
        <p:nvSpPr>
          <p:cNvPr id="9" name="Option A"/>
          <p:cNvSpPr/>
          <p:nvPr/>
        </p:nvSpPr>
        <p:spPr>
          <a:xfrm>
            <a:off x="457200" y="1645920"/>
            <a:ext cx="8229600" cy="457200"/>
          </a:xfrm>
          <a:prstGeom prst="roundRect">
            <a:avLst>
              <a:gd name="adj" fmla="val 18000"/>
            </a:avLst>
          </a:prstGeom>
          <a:solidFill>
            <a:schemeClr val="tx2"/>
          </a:solidFill>
          <a:ln w="9525">
            <a:solidFill>
              <a:schemeClr val="bg2">
                <a:alpha val="35000"/>
              </a:schemeClr>
            </a:solidFill>
            <a:prstDash val="solid"/>
          </a:ln>
        </p:spPr>
      </p:sp>
      <p:sp>
        <p:nvSpPr>
          <p:cNvPr id="10" name="Text 8"/>
          <p:cNvSpPr/>
          <p:nvPr/>
        </p:nvSpPr>
        <p:spPr>
          <a:xfrm>
            <a:off x="548640" y="1719072"/>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11" name="Text 9"/>
          <p:cNvSpPr txBox="1"/>
          <p:nvPr/>
        </p:nvSpPr>
        <p:spPr>
          <a:xfrm>
            <a:off x="969264" y="1645920"/>
            <a:ext cx="7626096" cy="457200"/>
          </a:xfrm>
          <a:prstGeom prst="rect">
            <a:avLst/>
          </a:prstGeom>
          <a:noFill/>
          <a:ln/>
        </p:spPr>
        <p:txBody>
          <a:bodyPr wrap="square" lIns="0" tIns="0" rIns="0" bIns="0" rtlCol="0" anchor="ctr"/>
          <a:lstStyle/>
          <a:p>
            <a:pPr indent="0" marL="0">
              <a:buNone/>
            </a:pPr>
            <a:r>
              <a:rPr lang="en-US" sz="1600" dirty="0">
                <a:solidFill>
                  <a:schemeClr val="bg2"/>
                </a:solidFill>
              </a:rPr>
              <a:t>Calcium</a:t>
            </a:r>
            <a:endParaRPr lang="en-US" sz="1600" dirty="0"/>
          </a:p>
        </p:txBody>
      </p:sp>
      <p:sp>
        <p:nvSpPr>
          <p:cNvPr id="12" name="Option B"/>
          <p:cNvSpPr/>
          <p:nvPr/>
        </p:nvSpPr>
        <p:spPr>
          <a:xfrm>
            <a:off x="457200" y="2231136"/>
            <a:ext cx="8229600" cy="457200"/>
          </a:xfrm>
          <a:prstGeom prst="roundRect">
            <a:avLst>
              <a:gd name="adj" fmla="val 18000"/>
            </a:avLst>
          </a:prstGeom>
          <a:solidFill>
            <a:schemeClr val="accent4">
              <a:alpha val="20000"/>
            </a:schemeClr>
          </a:solidFill>
          <a:ln w="25400">
            <a:solidFill>
              <a:schemeClr val="accent4"/>
            </a:solidFill>
            <a:prstDash val="solid"/>
          </a:ln>
        </p:spPr>
      </p:sp>
      <p:sp>
        <p:nvSpPr>
          <p:cNvPr id="13" name="Text 11"/>
          <p:cNvSpPr/>
          <p:nvPr/>
        </p:nvSpPr>
        <p:spPr>
          <a:xfrm>
            <a:off x="548640" y="2304288"/>
            <a:ext cx="310896" cy="310896"/>
          </a:xfrm>
          <a:prstGeom prst="roundRect">
            <a:avLst>
              <a:gd name="adj" fmla="val 20588"/>
            </a:avLst>
          </a:prstGeom>
          <a:solidFill>
            <a:schemeClr val="accent4"/>
          </a:solidFill>
          <a:ln w="6350">
            <a:solidFill>
              <a:schemeClr val="accent4"/>
            </a:solidFill>
          </a:ln>
        </p:spPr>
        <p:txBody>
          <a:bodyPr wrap="square" lIns="0" tIns="0" rIns="0" bIns="0" rtlCol="0" anchor="ctr"/>
          <a:lstStyle/>
          <a:p>
            <a:pPr algn="ctr" indent="0" marL="0">
              <a:buNone/>
            </a:pPr>
            <a:r>
              <a:rPr lang="en-US" sz="1300" b="1" dirty="0">
                <a:solidFill>
                  <a:schemeClr val="tx1"/>
                </a:solidFill>
              </a:rPr>
              <a:t>B</a:t>
            </a:r>
            <a:endParaRPr lang="en-US" sz="1300" dirty="0"/>
          </a:p>
        </p:txBody>
      </p:sp>
      <p:sp>
        <p:nvSpPr>
          <p:cNvPr id="14" name="Text 12"/>
          <p:cNvSpPr txBox="1"/>
          <p:nvPr/>
        </p:nvSpPr>
        <p:spPr>
          <a:xfrm>
            <a:off x="969264" y="2231136"/>
            <a:ext cx="7626096" cy="457200"/>
          </a:xfrm>
          <a:prstGeom prst="rect">
            <a:avLst/>
          </a:prstGeom>
          <a:noFill/>
          <a:ln/>
        </p:spPr>
        <p:txBody>
          <a:bodyPr wrap="square" lIns="0" tIns="0" rIns="0" bIns="0" rtlCol="0" anchor="ctr"/>
          <a:lstStyle/>
          <a:p>
            <a:pPr indent="0" marL="0">
              <a:buNone/>
            </a:pPr>
            <a:r>
              <a:rPr lang="en-US" sz="1600" b="1" dirty="0">
                <a:solidFill>
                  <a:schemeClr val="bg1"/>
                </a:solidFill>
              </a:rPr>
              <a:t>Sulfur</a:t>
            </a:r>
            <a:endParaRPr lang="en-US" sz="1600" dirty="0"/>
          </a:p>
        </p:txBody>
      </p:sp>
      <p:sp>
        <p:nvSpPr>
          <p:cNvPr id="15" name="Option C"/>
          <p:cNvSpPr/>
          <p:nvPr/>
        </p:nvSpPr>
        <p:spPr>
          <a:xfrm>
            <a:off x="457200" y="2816352"/>
            <a:ext cx="8229600" cy="457200"/>
          </a:xfrm>
          <a:prstGeom prst="roundRect">
            <a:avLst>
              <a:gd name="adj" fmla="val 18000"/>
            </a:avLst>
          </a:prstGeom>
          <a:solidFill>
            <a:schemeClr val="tx2"/>
          </a:solidFill>
          <a:ln w="9525">
            <a:solidFill>
              <a:schemeClr val="bg2">
                <a:alpha val="35000"/>
              </a:schemeClr>
            </a:solidFill>
            <a:prstDash val="solid"/>
          </a:ln>
        </p:spPr>
      </p:sp>
      <p:sp>
        <p:nvSpPr>
          <p:cNvPr id="16" name="Text 14"/>
          <p:cNvSpPr/>
          <p:nvPr/>
        </p:nvSpPr>
        <p:spPr>
          <a:xfrm>
            <a:off x="548640" y="2889504"/>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7" name="Text 15"/>
          <p:cNvSpPr txBox="1"/>
          <p:nvPr/>
        </p:nvSpPr>
        <p:spPr>
          <a:xfrm>
            <a:off x="969264" y="2816352"/>
            <a:ext cx="7626096" cy="457200"/>
          </a:xfrm>
          <a:prstGeom prst="rect">
            <a:avLst/>
          </a:prstGeom>
          <a:noFill/>
          <a:ln/>
        </p:spPr>
        <p:txBody>
          <a:bodyPr wrap="square" lIns="0" tIns="0" rIns="0" bIns="0" rtlCol="0" anchor="ctr"/>
          <a:lstStyle/>
          <a:p>
            <a:pPr indent="0" marL="0">
              <a:buNone/>
            </a:pPr>
            <a:r>
              <a:rPr lang="en-US" sz="1600" dirty="0">
                <a:solidFill>
                  <a:schemeClr val="bg2"/>
                </a:solidFill>
              </a:rPr>
              <a:t>Aluminum</a:t>
            </a:r>
            <a:endParaRPr lang="en-US" sz="1600" dirty="0"/>
          </a:p>
        </p:txBody>
      </p:sp>
      <p:sp>
        <p:nvSpPr>
          <p:cNvPr id="18" name="Option D"/>
          <p:cNvSpPr/>
          <p:nvPr/>
        </p:nvSpPr>
        <p:spPr>
          <a:xfrm>
            <a:off x="457200" y="3401568"/>
            <a:ext cx="8229600" cy="457200"/>
          </a:xfrm>
          <a:prstGeom prst="roundRect">
            <a:avLst>
              <a:gd name="adj" fmla="val 18000"/>
            </a:avLst>
          </a:prstGeom>
          <a:solidFill>
            <a:schemeClr val="tx2"/>
          </a:solidFill>
          <a:ln w="9525">
            <a:solidFill>
              <a:schemeClr val="bg2">
                <a:alpha val="35000"/>
              </a:schemeClr>
            </a:solidFill>
            <a:prstDash val="solid"/>
          </a:ln>
        </p:spPr>
      </p:sp>
      <p:sp>
        <p:nvSpPr>
          <p:cNvPr id="19" name="Text 17"/>
          <p:cNvSpPr/>
          <p:nvPr/>
        </p:nvSpPr>
        <p:spPr>
          <a:xfrm>
            <a:off x="548640" y="3474720"/>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20" name="Text 18"/>
          <p:cNvSpPr txBox="1"/>
          <p:nvPr/>
        </p:nvSpPr>
        <p:spPr>
          <a:xfrm>
            <a:off x="969264" y="3401568"/>
            <a:ext cx="7626096" cy="457200"/>
          </a:xfrm>
          <a:prstGeom prst="rect">
            <a:avLst/>
          </a:prstGeom>
          <a:noFill/>
          <a:ln/>
        </p:spPr>
        <p:txBody>
          <a:bodyPr wrap="square" lIns="0" tIns="0" rIns="0" bIns="0" rtlCol="0" anchor="ctr"/>
          <a:lstStyle/>
          <a:p>
            <a:pPr indent="0" marL="0">
              <a:buNone/>
            </a:pPr>
            <a:r>
              <a:rPr lang="en-US" sz="1600" dirty="0">
                <a:solidFill>
                  <a:schemeClr val="bg2"/>
                </a:solidFill>
              </a:rPr>
              <a:t>Chlorine</a:t>
            </a:r>
            <a:endParaRPr lang="en-US" sz="1600" dirty="0"/>
          </a:p>
        </p:txBody>
      </p:sp>
      <p:sp>
        <p:nvSpPr>
          <p:cNvPr id="21" name="Why box"/>
          <p:cNvSpPr/>
          <p:nvPr/>
        </p:nvSpPr>
        <p:spPr>
          <a:xfrm>
            <a:off x="457200" y="4114800"/>
            <a:ext cx="8229600" cy="621792"/>
          </a:xfrm>
          <a:prstGeom prst="roundRect">
            <a:avLst>
              <a:gd name="adj" fmla="val 14706"/>
            </a:avLst>
          </a:prstGeom>
          <a:solidFill>
            <a:schemeClr val="accent4">
              <a:alpha val="12000"/>
            </a:schemeClr>
          </a:solidFill>
          <a:ln w="9525">
            <a:solidFill>
              <a:schemeClr val="accent4">
                <a:alpha val="60000"/>
              </a:schemeClr>
            </a:solidFill>
            <a:prstDash val="solid"/>
          </a:ln>
        </p:spPr>
      </p:sp>
      <p:sp>
        <p:nvSpPr>
          <p:cNvPr id="22" name="Text 20"/>
          <p:cNvSpPr txBox="1"/>
          <p:nvPr/>
        </p:nvSpPr>
        <p:spPr>
          <a:xfrm>
            <a:off x="640080" y="4114800"/>
            <a:ext cx="7863840" cy="621792"/>
          </a:xfrm>
          <a:prstGeom prst="rect">
            <a:avLst/>
          </a:prstGeom>
          <a:noFill/>
          <a:ln/>
        </p:spPr>
        <p:txBody>
          <a:bodyPr wrap="square" lIns="0" tIns="0" rIns="0" bIns="0" rtlCol="0" anchor="ctr"/>
          <a:lstStyle/>
          <a:p>
            <a:pPr indent="0" marL="0">
              <a:buNone/>
            </a:pPr>
            <a:r>
              <a:rPr lang="en-US" sz="1400" b="1" dirty="0">
                <a:solidFill>
                  <a:schemeClr val="accent4"/>
                </a:solidFill>
              </a:rPr>
              <a:t>Why: </a:t>
            </a:r>
            <a:pPr indent="0" marL="0">
              <a:buNone/>
            </a:pPr>
            <a:r>
              <a:rPr lang="en-US" sz="1400" dirty="0">
                <a:solidFill>
                  <a:schemeClr val="bg1"/>
                </a:solidFill>
              </a:rPr>
              <a:t>Sulfur is in group 16 with 6 valence electrons. It gains 2 to reach 8, so its ion is S²⁻.</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ection tile 5"/>
          <p:cNvSpPr/>
          <p:nvPr/>
        </p:nvSpPr>
        <p:spPr>
          <a:xfrm>
            <a:off x="457200" y="301752"/>
            <a:ext cx="749808" cy="841248"/>
          </a:xfrm>
          <a:prstGeom prst="roundRect">
            <a:avLst>
              <a:gd name="adj" fmla="val 12000"/>
            </a:avLst>
          </a:prstGeom>
          <a:solidFill>
            <a:srgbClr val="F472B6">
              <a:alpha val="28000"/>
            </a:srgbClr>
          </a:solidFill>
          <a:ln w="19050">
            <a:solidFill>
              <a:srgbClr val="F472B6"/>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5</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2400" b="1" dirty="0">
                <a:solidFill>
                  <a:schemeClr val="bg1"/>
                </a:solidFill>
              </a:rPr>
              <a:t>O</a:t>
            </a:r>
            <a:pPr algn="ctr" indent="0" marL="0">
              <a:buNone/>
            </a:pPr>
            <a:r>
              <a:rPr lang="en-US" sz="2400" b="1" baseline="30000" dirty="0">
                <a:solidFill>
                  <a:schemeClr val="bg1"/>
                </a:solidFill>
              </a:rPr>
              <a:t>2−</a:t>
            </a:r>
            <a:endParaRPr lang="en-US" sz="2400" dirty="0"/>
          </a:p>
        </p:txBody>
      </p:sp>
      <p:sp>
        <p:nvSpPr>
          <p:cNvPr id="5" name="Text 0"/>
          <p:cNvSpPr/>
          <p:nvPr>
            <p:ph idx="100" type="body" hasCustomPrompt="1"/>
          </p:nvPr>
        </p:nvSpPr>
        <p:spPr>
          <a:xfrm>
            <a:off x="1417320" y="329184"/>
            <a:ext cx="7223760" cy="256032"/>
          </a:xfrm>
          <a:prstGeom prst="rect">
            <a:avLst/>
          </a:prstGeom>
          <a:noFill/>
          <a:ln/>
        </p:spPr>
        <p:txBody>
          <a:bodyPr wrap="square" lIns="0" tIns="0" rIns="0" bIns="0" rtlCol="0" anchor="ctr"/>
          <a:lstStyle/>
          <a:p>
            <a:pPr algn="l" indent="0" marL="0">
              <a:buNone/>
            </a:pPr>
            <a:r>
              <a:rPr lang="en-US" sz="1200" dirty="0">
                <a:solidFill>
                  <a:schemeClr val="bg2"/>
                </a:solidFill>
              </a:rPr>
              <a:t>Section 5 of 9 · about 6 min</a:t>
            </a:r>
            <a:endParaRPr lang="en-US" sz="1200" dirty="0"/>
          </a:p>
        </p:txBody>
      </p:sp>
      <p:sp>
        <p:nvSpPr>
          <p:cNvPr id="6" name="Text 0"/>
          <p:cNvSpPr/>
          <p:nvPr>
            <p:ph idx="101" type="title" hasCustomPrompt="1"/>
          </p:nvPr>
        </p:nvSpPr>
        <p:spPr>
          <a:xfrm>
            <a:off x="1417320" y="603504"/>
            <a:ext cx="7223760" cy="530352"/>
          </a:xfrm>
          <a:prstGeom prst="rect">
            <a:avLst/>
          </a:prstGeom>
          <a:noFill/>
          <a:ln/>
        </p:spPr>
        <p:txBody>
          <a:bodyPr wrap="square" lIns="0" tIns="0" rIns="0" bIns="0" rtlCol="0" anchor="ctr"/>
          <a:lstStyle/>
          <a:p>
            <a:pPr algn="l" indent="0" marL="0">
              <a:buNone/>
            </a:pPr>
            <a:r>
              <a:rPr lang="en-US" sz="3000" b="1" dirty="0">
                <a:solidFill>
                  <a:schemeClr val="bg1"/>
                </a:solidFill>
              </a:rPr>
              <a:t>Write and name ions</a:t>
            </a:r>
            <a:endParaRPr lang="en-US" sz="3000" dirty="0"/>
          </a:p>
        </p:txBody>
      </p:sp>
      <p:sp>
        <p:nvSpPr>
          <p:cNvPr id="7" name="In this section"/>
          <p:cNvSpPr/>
          <p:nvPr/>
        </p:nvSpPr>
        <p:spPr>
          <a:xfrm>
            <a:off x="45720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8" name="Text 6"/>
          <p:cNvSpPr txBox="1"/>
          <p:nvPr/>
        </p:nvSpPr>
        <p:spPr>
          <a:xfrm>
            <a:off x="685800" y="1536192"/>
            <a:ext cx="3566160" cy="292608"/>
          </a:xfrm>
          <a:prstGeom prst="rect">
            <a:avLst/>
          </a:prstGeom>
          <a:noFill/>
          <a:ln/>
        </p:spPr>
        <p:txBody>
          <a:bodyPr wrap="square" lIns="0" tIns="0" rIns="0" bIns="0" rtlCol="0" anchor="t"/>
          <a:lstStyle/>
          <a:p>
            <a:pPr indent="0" marL="0">
              <a:buNone/>
            </a:pPr>
            <a:r>
              <a:rPr lang="en-US" sz="1500" b="1" dirty="0">
                <a:solidFill>
                  <a:schemeClr val="accent1"/>
                </a:solidFill>
              </a:rPr>
              <a:t>In this section</a:t>
            </a:r>
            <a:endParaRPr lang="en-US" sz="1500" dirty="0"/>
          </a:p>
        </p:txBody>
      </p:sp>
      <p:sp>
        <p:nvSpPr>
          <p:cNvPr id="9" name="Text 7"/>
          <p:cNvSpPr/>
          <p:nvPr/>
        </p:nvSpPr>
        <p:spPr>
          <a:xfrm>
            <a:off x="685800" y="2039112"/>
            <a:ext cx="73152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Read</a:t>
            </a:r>
            <a:endParaRPr lang="en-US" sz="1100" dirty="0"/>
          </a:p>
        </p:txBody>
      </p:sp>
      <p:sp>
        <p:nvSpPr>
          <p:cNvPr id="10" name="Text 8"/>
          <p:cNvSpPr txBox="1"/>
          <p:nvPr/>
        </p:nvSpPr>
        <p:spPr>
          <a:xfrm>
            <a:off x="1554480" y="1947672"/>
            <a:ext cx="2697480" cy="457200"/>
          </a:xfrm>
          <a:prstGeom prst="rect">
            <a:avLst/>
          </a:prstGeom>
          <a:noFill/>
          <a:ln/>
        </p:spPr>
        <p:txBody>
          <a:bodyPr wrap="square" lIns="0" tIns="0" rIns="0" bIns="0" rtlCol="0" anchor="ctr"/>
          <a:lstStyle/>
          <a:p>
            <a:pPr indent="0" marL="0">
              <a:buNone/>
            </a:pPr>
            <a:r>
              <a:rPr lang="en-US" sz="1400" dirty="0">
                <a:solidFill>
                  <a:schemeClr val="bg1"/>
                </a:solidFill>
              </a:rPr>
              <a:t>Ion symbols and names</a:t>
            </a:r>
            <a:endParaRPr lang="en-US" sz="1400" dirty="0"/>
          </a:p>
        </p:txBody>
      </p:sp>
      <p:sp>
        <p:nvSpPr>
          <p:cNvPr id="11" name="Text 9"/>
          <p:cNvSpPr/>
          <p:nvPr/>
        </p:nvSpPr>
        <p:spPr>
          <a:xfrm>
            <a:off x="685800" y="2624328"/>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12" name="Text 10"/>
          <p:cNvSpPr txBox="1"/>
          <p:nvPr/>
        </p:nvSpPr>
        <p:spPr>
          <a:xfrm>
            <a:off x="1554480" y="2532888"/>
            <a:ext cx="2697480" cy="457200"/>
          </a:xfrm>
          <a:prstGeom prst="rect">
            <a:avLst/>
          </a:prstGeom>
          <a:noFill/>
          <a:ln/>
        </p:spPr>
        <p:txBody>
          <a:bodyPr wrap="square" lIns="0" tIns="0" rIns="0" bIns="0" rtlCol="0" anchor="ctr"/>
          <a:lstStyle/>
          <a:p>
            <a:pPr indent="0" marL="0">
              <a:buNone/>
            </a:pPr>
            <a:r>
              <a:rPr lang="en-US" sz="1400" dirty="0">
                <a:solidFill>
                  <a:schemeClr val="bg1"/>
                </a:solidFill>
              </a:rPr>
              <a:t>Symbol builder</a:t>
            </a:r>
            <a:endParaRPr lang="en-US" sz="1400" dirty="0"/>
          </a:p>
        </p:txBody>
      </p:sp>
      <p:sp>
        <p:nvSpPr>
          <p:cNvPr id="13" name="Text 11"/>
          <p:cNvSpPr/>
          <p:nvPr/>
        </p:nvSpPr>
        <p:spPr>
          <a:xfrm>
            <a:off x="685800" y="3209544"/>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14" name="Text 12"/>
          <p:cNvSpPr txBox="1"/>
          <p:nvPr/>
        </p:nvSpPr>
        <p:spPr>
          <a:xfrm>
            <a:off x="1554480" y="3118104"/>
            <a:ext cx="2697480" cy="457200"/>
          </a:xfrm>
          <a:prstGeom prst="rect">
            <a:avLst/>
          </a:prstGeom>
          <a:noFill/>
          <a:ln/>
        </p:spPr>
        <p:txBody>
          <a:bodyPr wrap="square" lIns="0" tIns="0" rIns="0" bIns="0" rtlCol="0" anchor="ctr"/>
          <a:lstStyle/>
          <a:p>
            <a:pPr indent="0" marL="0">
              <a:buNone/>
            </a:pPr>
            <a:r>
              <a:rPr lang="en-US" sz="1400" dirty="0">
                <a:solidFill>
                  <a:schemeClr val="bg1"/>
                </a:solidFill>
              </a:rPr>
              <a:t>Match the names</a:t>
            </a:r>
            <a:endParaRPr lang="en-US" sz="1400" dirty="0"/>
          </a:p>
        </p:txBody>
      </p:sp>
      <p:sp>
        <p:nvSpPr>
          <p:cNvPr id="15" name="Text 13"/>
          <p:cNvSpPr/>
          <p:nvPr/>
        </p:nvSpPr>
        <p:spPr>
          <a:xfrm>
            <a:off x="685800" y="3794760"/>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16" name="Text 14"/>
          <p:cNvSpPr txBox="1"/>
          <p:nvPr/>
        </p:nvSpPr>
        <p:spPr>
          <a:xfrm>
            <a:off x="1874520" y="3703320"/>
            <a:ext cx="2377440" cy="457200"/>
          </a:xfrm>
          <a:prstGeom prst="rect">
            <a:avLst/>
          </a:prstGeom>
          <a:noFill/>
          <a:ln/>
        </p:spPr>
        <p:txBody>
          <a:bodyPr wrap="square" lIns="0" tIns="0" rIns="0" bIns="0" rtlCol="0" anchor="ctr"/>
          <a:lstStyle/>
          <a:p>
            <a:pPr indent="0" marL="0">
              <a:buNone/>
            </a:pPr>
            <a:r>
              <a:rPr lang="en-US" sz="1400" dirty="0">
                <a:solidFill>
                  <a:schemeClr val="bg1"/>
                </a:solidFill>
              </a:rPr>
              <a:t>Name of F⁻</a:t>
            </a:r>
            <a:endParaRPr lang="en-US" sz="1400" dirty="0"/>
          </a:p>
        </p:txBody>
      </p:sp>
      <p:sp>
        <p:nvSpPr>
          <p:cNvPr id="17" name="To unlock the next section"/>
          <p:cNvSpPr/>
          <p:nvPr/>
        </p:nvSpPr>
        <p:spPr>
          <a:xfrm>
            <a:off x="466344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18" name="Text 16"/>
          <p:cNvSpPr txBox="1"/>
          <p:nvPr/>
        </p:nvSpPr>
        <p:spPr>
          <a:xfrm>
            <a:off x="4892040" y="1536192"/>
            <a:ext cx="3566160" cy="292608"/>
          </a:xfrm>
          <a:prstGeom prst="rect">
            <a:avLst/>
          </a:prstGeom>
          <a:noFill/>
          <a:ln/>
        </p:spPr>
        <p:txBody>
          <a:bodyPr wrap="square" lIns="0" tIns="0" rIns="0" bIns="0" rtlCol="0" anchor="t"/>
          <a:lstStyle/>
          <a:p>
            <a:pPr indent="0" marL="0">
              <a:buNone/>
            </a:pPr>
            <a:r>
              <a:rPr lang="en-US" sz="1500" b="1" dirty="0">
                <a:solidFill>
                  <a:schemeClr val="accent4"/>
                </a:solidFill>
              </a:rPr>
              <a:t>To unlock the next section</a:t>
            </a:r>
            <a:endParaRPr lang="en-US" sz="1500" dirty="0"/>
          </a:p>
        </p:txBody>
      </p:sp>
      <p:sp>
        <p:nvSpPr>
          <p:cNvPr id="19" name="Text 17"/>
          <p:cNvSpPr/>
          <p:nvPr/>
        </p:nvSpPr>
        <p:spPr>
          <a:xfrm>
            <a:off x="4892040" y="2066544"/>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0" name="Text 18"/>
          <p:cNvSpPr txBox="1"/>
          <p:nvPr/>
        </p:nvSpPr>
        <p:spPr>
          <a:xfrm>
            <a:off x="5303520" y="1993392"/>
            <a:ext cx="3200400" cy="457200"/>
          </a:xfrm>
          <a:prstGeom prst="rect">
            <a:avLst/>
          </a:prstGeom>
          <a:noFill/>
          <a:ln/>
        </p:spPr>
        <p:txBody>
          <a:bodyPr wrap="square" lIns="0" tIns="0" rIns="0" bIns="0" rtlCol="0" anchor="ctr"/>
          <a:lstStyle/>
          <a:p>
            <a:pPr indent="0" marL="0">
              <a:buNone/>
            </a:pPr>
            <a:r>
              <a:rPr lang="en-US" sz="1400" dirty="0">
                <a:solidFill>
                  <a:schemeClr val="bg1"/>
                </a:solidFill>
              </a:rPr>
              <a:t>Build 5 ion symbols correctly</a:t>
            </a:r>
            <a:endParaRPr lang="en-US" sz="1400" dirty="0"/>
          </a:p>
        </p:txBody>
      </p:sp>
      <p:sp>
        <p:nvSpPr>
          <p:cNvPr id="21" name="Text 19"/>
          <p:cNvSpPr/>
          <p:nvPr/>
        </p:nvSpPr>
        <p:spPr>
          <a:xfrm>
            <a:off x="4892040" y="2633472"/>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2" name="Text 20"/>
          <p:cNvSpPr txBox="1"/>
          <p:nvPr/>
        </p:nvSpPr>
        <p:spPr>
          <a:xfrm>
            <a:off x="5303520" y="2560320"/>
            <a:ext cx="3200400" cy="457200"/>
          </a:xfrm>
          <a:prstGeom prst="rect">
            <a:avLst/>
          </a:prstGeom>
          <a:noFill/>
          <a:ln/>
        </p:spPr>
        <p:txBody>
          <a:bodyPr wrap="square" lIns="0" tIns="0" rIns="0" bIns="0" rtlCol="0" anchor="ctr"/>
          <a:lstStyle/>
          <a:p>
            <a:pPr indent="0" marL="0">
              <a:buNone/>
            </a:pPr>
            <a:r>
              <a:rPr lang="en-US" sz="1400" dirty="0">
                <a:solidFill>
                  <a:schemeClr val="bg1"/>
                </a:solidFill>
              </a:rPr>
              <a:t>Match each ion to its name</a:t>
            </a:r>
            <a:endParaRPr lang="en-US" sz="1400" dirty="0"/>
          </a:p>
        </p:txBody>
      </p:sp>
      <p:sp>
        <p:nvSpPr>
          <p:cNvPr id="23" name="Text 21"/>
          <p:cNvSpPr/>
          <p:nvPr/>
        </p:nvSpPr>
        <p:spPr>
          <a:xfrm>
            <a:off x="4892040" y="3200400"/>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4" name="Text 22"/>
          <p:cNvSpPr txBox="1"/>
          <p:nvPr/>
        </p:nvSpPr>
        <p:spPr>
          <a:xfrm>
            <a:off x="5303520" y="3127248"/>
            <a:ext cx="3200400" cy="457200"/>
          </a:xfrm>
          <a:prstGeom prst="rect">
            <a:avLst/>
          </a:prstGeom>
          <a:noFill/>
          <a:ln/>
        </p:spPr>
        <p:txBody>
          <a:bodyPr wrap="square" lIns="0" tIns="0" rIns="0" bIns="0" rtlCol="0" anchor="ctr"/>
          <a:lstStyle/>
          <a:p>
            <a:pPr indent="0" marL="0">
              <a:buNone/>
            </a:pPr>
            <a:r>
              <a:rPr lang="en-US" sz="1400" dirty="0">
                <a:solidFill>
                  <a:schemeClr val="bg1"/>
                </a:solidFill>
              </a:rPr>
              <a:t>Answer the quick check correctly</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ection tile 5"/>
          <p:cNvSpPr/>
          <p:nvPr/>
        </p:nvSpPr>
        <p:spPr>
          <a:xfrm>
            <a:off x="457200" y="301752"/>
            <a:ext cx="749808" cy="841248"/>
          </a:xfrm>
          <a:prstGeom prst="roundRect">
            <a:avLst>
              <a:gd name="adj" fmla="val 12000"/>
            </a:avLst>
          </a:prstGeom>
          <a:solidFill>
            <a:srgbClr val="F472B6">
              <a:alpha val="28000"/>
            </a:srgbClr>
          </a:solidFill>
          <a:ln w="19050">
            <a:solidFill>
              <a:srgbClr val="F472B6"/>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5</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2400" b="1" dirty="0">
                <a:solidFill>
                  <a:schemeClr val="bg1"/>
                </a:solidFill>
              </a:rPr>
              <a:t>O</a:t>
            </a:r>
            <a:pPr algn="ctr" indent="0" marL="0">
              <a:buNone/>
            </a:pPr>
            <a:r>
              <a:rPr lang="en-US" sz="2400" b="1" baseline="30000" dirty="0">
                <a:solidFill>
                  <a:schemeClr val="bg1"/>
                </a:solidFill>
              </a:rPr>
              <a:t>2−</a:t>
            </a:r>
            <a:endParaRPr lang="en-US" sz="2400" dirty="0"/>
          </a:p>
        </p:txBody>
      </p:sp>
      <p:sp>
        <p:nvSpPr>
          <p:cNvPr id="5" name="Text 3"/>
          <p:cNvSpPr/>
          <p:nvPr/>
        </p:nvSpPr>
        <p:spPr>
          <a:xfrm>
            <a:off x="1417320" y="310896"/>
            <a:ext cx="73152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Read</a:t>
            </a:r>
            <a:endParaRPr lang="en-US" sz="1100" dirty="0"/>
          </a:p>
        </p:txBody>
      </p:sp>
      <p:sp>
        <p:nvSpPr>
          <p:cNvPr id="6" name="Text 4"/>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5 of 9</a:t>
            </a:r>
            <a:endParaRPr lang="en-US" sz="1200" dirty="0"/>
          </a:p>
        </p:txBody>
      </p:sp>
      <p:sp>
        <p:nvSpPr>
          <p:cNvPr id="7"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Ion symbols and names</a:t>
            </a:r>
            <a:endParaRPr lang="en-US" sz="2800" dirty="0"/>
          </a:p>
        </p:txBody>
      </p:sp>
      <p:sp>
        <p:nvSpPr>
          <p:cNvPr id="8" name="Text 6"/>
          <p:cNvSpPr txBox="1"/>
          <p:nvPr/>
        </p:nvSpPr>
        <p:spPr>
          <a:xfrm>
            <a:off x="457200" y="1325880"/>
            <a:ext cx="4663440" cy="3108960"/>
          </a:xfrm>
          <a:prstGeom prst="rect">
            <a:avLst/>
          </a:prstGeom>
          <a:noFill/>
          <a:ln/>
        </p:spPr>
        <p:txBody>
          <a:bodyPr wrap="square" lIns="0" tIns="0" rIns="0" bIns="0" rtlCol="0" anchor="t"/>
          <a:lstStyle/>
          <a:p>
            <a:pPr indent="0" marL="0">
              <a:spcAft>
                <a:spcPts val="1000"/>
              </a:spcAft>
              <a:buNone/>
            </a:pPr>
            <a:r>
              <a:rPr lang="en-US" sz="1500" b="1" dirty="0">
                <a:solidFill>
                  <a:schemeClr val="bg1"/>
                </a:solidFill>
              </a:rPr>
              <a:t>Symbols. </a:t>
            </a:r>
            <a:pPr indent="0" marL="0">
              <a:spcAft>
                <a:spcPts val="1000"/>
              </a:spcAft>
              <a:buNone/>
            </a:pPr>
            <a:r>
              <a:rPr lang="en-US" sz="1500" dirty="0">
                <a:solidFill>
                  <a:schemeClr val="bg1"/>
                </a:solidFill>
              </a:rPr>
              <a:t>Write the element's symbol with the charge at the top right: the number first, then the sign. </a:t>
            </a:r>
            <a:pPr indent="0" marL="0">
              <a:spcAft>
                <a:spcPts val="1000"/>
              </a:spcAft>
              <a:buNone/>
            </a:pPr>
            <a:r>
              <a:rPr lang="en-US" sz="1500" b="1" dirty="0">
                <a:solidFill>
                  <a:schemeClr val="bg1"/>
                </a:solidFill>
              </a:rPr>
              <a:t>Mg</a:t>
            </a:r>
            <a:pPr indent="0" marL="0">
              <a:spcAft>
                <a:spcPts val="1000"/>
              </a:spcAft>
              <a:buNone/>
            </a:pPr>
            <a:r>
              <a:rPr lang="en-US" sz="1500" b="1" baseline="30000" dirty="0">
                <a:solidFill>
                  <a:schemeClr val="bg1"/>
                </a:solidFill>
              </a:rPr>
              <a:t>2+</a:t>
            </a:r>
            <a:pPr indent="0" marL="0">
              <a:spcAft>
                <a:spcPts val="1000"/>
              </a:spcAft>
              <a:buNone/>
            </a:pPr>
            <a:r>
              <a:rPr lang="en-US" sz="1500" dirty="0">
                <a:solidFill>
                  <a:schemeClr val="bg1"/>
                </a:solidFill>
              </a:rPr>
              <a:t> and </a:t>
            </a:r>
            <a:pPr indent="0" marL="0">
              <a:spcAft>
                <a:spcPts val="1000"/>
              </a:spcAft>
              <a:buNone/>
            </a:pPr>
            <a:r>
              <a:rPr lang="en-US" sz="1500" b="1" dirty="0">
                <a:solidFill>
                  <a:schemeClr val="bg1"/>
                </a:solidFill>
              </a:rPr>
              <a:t>O</a:t>
            </a:r>
            <a:pPr indent="0" marL="0">
              <a:spcAft>
                <a:spcPts val="1000"/>
              </a:spcAft>
              <a:buNone/>
            </a:pPr>
            <a:r>
              <a:rPr lang="en-US" sz="1500" b="1" baseline="30000" dirty="0">
                <a:solidFill>
                  <a:schemeClr val="bg1"/>
                </a:solidFill>
              </a:rPr>
              <a:t>2−</a:t>
            </a:r>
            <a:pPr indent="0" marL="0">
              <a:spcAft>
                <a:spcPts val="1000"/>
              </a:spcAft>
              <a:buNone/>
            </a:pPr>
            <a:r>
              <a:rPr lang="en-US" sz="1500" dirty="0">
                <a:solidFill>
                  <a:schemeClr val="bg1"/>
                </a:solidFill>
              </a:rPr>
              <a:t>. If the charge is 1, just write the sign: </a:t>
            </a:r>
            <a:pPr indent="0" marL="0">
              <a:spcAft>
                <a:spcPts val="1000"/>
              </a:spcAft>
              <a:buNone/>
            </a:pPr>
            <a:r>
              <a:rPr lang="en-US" sz="1500" b="1" dirty="0">
                <a:solidFill>
                  <a:schemeClr val="bg1"/>
                </a:solidFill>
              </a:rPr>
              <a:t>Na</a:t>
            </a:r>
            <a:pPr indent="0" marL="0">
              <a:spcAft>
                <a:spcPts val="1000"/>
              </a:spcAft>
              <a:buNone/>
            </a:pPr>
            <a:r>
              <a:rPr lang="en-US" sz="1500" b="1" baseline="30000" dirty="0">
                <a:solidFill>
                  <a:schemeClr val="bg1"/>
                </a:solidFill>
              </a:rPr>
              <a:t>+</a:t>
            </a:r>
            <a:pPr indent="0" marL="0">
              <a:spcAft>
                <a:spcPts val="1000"/>
              </a:spcAft>
              <a:buNone/>
            </a:pPr>
            <a:r>
              <a:rPr lang="en-US" sz="1500" dirty="0">
                <a:solidFill>
                  <a:schemeClr val="bg1"/>
                </a:solidFill>
              </a:rPr>
              <a:t> and </a:t>
            </a:r>
            <a:pPr indent="0" marL="0">
              <a:spcAft>
                <a:spcPts val="1000"/>
              </a:spcAft>
              <a:buNone/>
            </a:pPr>
            <a:r>
              <a:rPr lang="en-US" sz="1500" b="1" dirty="0">
                <a:solidFill>
                  <a:schemeClr val="bg1"/>
                </a:solidFill>
              </a:rPr>
              <a:t>Cl</a:t>
            </a:r>
            <a:pPr indent="0" marL="0">
              <a:spcAft>
                <a:spcPts val="1000"/>
              </a:spcAft>
              <a:buNone/>
            </a:pPr>
            <a:r>
              <a:rPr lang="en-US" sz="1500" b="1" baseline="30000" dirty="0">
                <a:solidFill>
                  <a:schemeClr val="bg1"/>
                </a:solidFill>
              </a:rPr>
              <a:t>−</a:t>
            </a:r>
            <a:pPr indent="0" marL="0">
              <a:spcAft>
                <a:spcPts val="1000"/>
              </a:spcAft>
              <a:buNone/>
            </a:pPr>
            <a:r>
              <a:rPr lang="en-US" sz="1500" dirty="0">
                <a:solidFill>
                  <a:schemeClr val="bg1"/>
                </a:solidFill>
              </a:rPr>
              <a:t>.</a:t>
            </a:r>
            <a:endParaRPr lang="en-US" sz="1500" dirty="0"/>
          </a:p>
          <a:p>
            <a:pPr indent="0" marL="0">
              <a:spcAft>
                <a:spcPts val="1000"/>
              </a:spcAft>
              <a:buNone/>
            </a:pPr>
            <a:r>
              <a:rPr lang="en-US" sz="1500" b="1" dirty="0">
                <a:solidFill>
                  <a:schemeClr val="bg1"/>
                </a:solidFill>
              </a:rPr>
              <a:t>Names. </a:t>
            </a:r>
            <a:pPr indent="0" marL="0">
              <a:spcAft>
                <a:spcPts val="1000"/>
              </a:spcAft>
              <a:buNone/>
            </a:pPr>
            <a:r>
              <a:rPr lang="en-US" sz="1500" dirty="0">
                <a:solidFill>
                  <a:schemeClr val="bg1"/>
                </a:solidFill>
              </a:rPr>
              <a:t>Positive ions keep the element's name: </a:t>
            </a:r>
            <a:pPr indent="0" marL="0">
              <a:spcAft>
                <a:spcPts val="1000"/>
              </a:spcAft>
              <a:buNone/>
            </a:pPr>
            <a:r>
              <a:rPr lang="en-US" sz="1500" b="1" dirty="0">
                <a:solidFill>
                  <a:schemeClr val="bg1"/>
                </a:solidFill>
              </a:rPr>
              <a:t>Na</a:t>
            </a:r>
            <a:pPr indent="0" marL="0">
              <a:spcAft>
                <a:spcPts val="1000"/>
              </a:spcAft>
              <a:buNone/>
            </a:pPr>
            <a:r>
              <a:rPr lang="en-US" sz="1500" b="1" baseline="30000" dirty="0">
                <a:solidFill>
                  <a:schemeClr val="bg1"/>
                </a:solidFill>
              </a:rPr>
              <a:t>+</a:t>
            </a:r>
            <a:pPr indent="0" marL="0">
              <a:spcAft>
                <a:spcPts val="1000"/>
              </a:spcAft>
              <a:buNone/>
            </a:pPr>
            <a:r>
              <a:rPr lang="en-US" sz="1500" dirty="0">
                <a:solidFill>
                  <a:schemeClr val="bg1"/>
                </a:solidFill>
              </a:rPr>
              <a:t> is the sodium ion. Negative ions change the ending to </a:t>
            </a:r>
            <a:pPr indent="0" marL="0">
              <a:spcAft>
                <a:spcPts val="1000"/>
              </a:spcAft>
              <a:buNone/>
            </a:pPr>
            <a:r>
              <a:rPr lang="en-US" sz="1500" b="1" dirty="0">
                <a:solidFill>
                  <a:schemeClr val="accent1"/>
                </a:solidFill>
              </a:rPr>
              <a:t>-ide</a:t>
            </a:r>
            <a:pPr indent="0" marL="0">
              <a:spcAft>
                <a:spcPts val="1000"/>
              </a:spcAft>
              <a:buNone/>
            </a:pPr>
            <a:r>
              <a:rPr lang="en-US" sz="1500" dirty="0">
                <a:solidFill>
                  <a:schemeClr val="bg1"/>
                </a:solidFill>
              </a:rPr>
              <a:t>: </a:t>
            </a:r>
            <a:pPr indent="0" marL="0">
              <a:spcAft>
                <a:spcPts val="1000"/>
              </a:spcAft>
              <a:buNone/>
            </a:pPr>
            <a:r>
              <a:rPr lang="en-US" sz="1500" b="1" dirty="0">
                <a:solidFill>
                  <a:schemeClr val="bg1"/>
                </a:solidFill>
              </a:rPr>
              <a:t>Cl</a:t>
            </a:r>
            <a:pPr indent="0" marL="0">
              <a:spcAft>
                <a:spcPts val="1000"/>
              </a:spcAft>
              <a:buNone/>
            </a:pPr>
            <a:r>
              <a:rPr lang="en-US" sz="1500" b="1" baseline="30000" dirty="0">
                <a:solidFill>
                  <a:schemeClr val="bg1"/>
                </a:solidFill>
              </a:rPr>
              <a:t>−</a:t>
            </a:r>
            <a:pPr indent="0" marL="0">
              <a:spcAft>
                <a:spcPts val="1000"/>
              </a:spcAft>
              <a:buNone/>
            </a:pPr>
            <a:r>
              <a:rPr lang="en-US" sz="1500" dirty="0">
                <a:solidFill>
                  <a:schemeClr val="bg1"/>
                </a:solidFill>
              </a:rPr>
              <a:t> is chloride and </a:t>
            </a:r>
            <a:pPr indent="0" marL="0">
              <a:spcAft>
                <a:spcPts val="1000"/>
              </a:spcAft>
              <a:buNone/>
            </a:pPr>
            <a:r>
              <a:rPr lang="en-US" sz="1500" b="1" dirty="0">
                <a:solidFill>
                  <a:schemeClr val="bg1"/>
                </a:solidFill>
              </a:rPr>
              <a:t>O</a:t>
            </a:r>
            <a:pPr indent="0" marL="0">
              <a:spcAft>
                <a:spcPts val="1000"/>
              </a:spcAft>
              <a:buNone/>
            </a:pPr>
            <a:r>
              <a:rPr lang="en-US" sz="1500" b="1" baseline="30000" dirty="0">
                <a:solidFill>
                  <a:schemeClr val="bg1"/>
                </a:solidFill>
              </a:rPr>
              <a:t>2−</a:t>
            </a:r>
            <a:pPr indent="0" marL="0">
              <a:spcAft>
                <a:spcPts val="1000"/>
              </a:spcAft>
              <a:buNone/>
            </a:pPr>
            <a:r>
              <a:rPr lang="en-US" sz="1500" dirty="0">
                <a:solidFill>
                  <a:schemeClr val="bg1"/>
                </a:solidFill>
              </a:rPr>
              <a:t> is oxide.</a:t>
            </a:r>
            <a:endParaRPr lang="en-US" sz="15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394960" y="1325880"/>
          <a:ext cx="3291840" cy="914400"/>
        </p:xfrm>
        <a:graphic>
          <a:graphicData uri="http://schemas.openxmlformats.org/drawingml/2006/table">
            <a:tbl>
              <a:tblPr/>
              <a:tblGrid>
                <a:gridCol w="1234440"/>
                <a:gridCol w="822960"/>
                <a:gridCol w="1234440"/>
              </a:tblGrid>
              <a:tr h="384048">
                <a:tc>
                  <a:txBody>
                    <a:bodyPr/>
                    <a:lstStyle/>
                    <a:p>
                      <a:pPr indent="0" marL="0">
                        <a:buNone/>
                      </a:pPr>
                      <a:r>
                        <a:rPr lang="en-US" sz="1400" b="1" dirty="0">
                          <a:solidFill>
                            <a:schemeClr val="bg2"/>
                          </a:solidFill>
                        </a:rPr>
                        <a:t>Element</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c>
                  <a:txBody>
                    <a:bodyPr/>
                    <a:lstStyle/>
                    <a:p>
                      <a:pPr indent="0" marL="0">
                        <a:buNone/>
                      </a:pPr>
                      <a:r>
                        <a:rPr lang="en-US" sz="1400" b="1" dirty="0">
                          <a:solidFill>
                            <a:schemeClr val="bg2"/>
                          </a:solidFill>
                        </a:rPr>
                        <a:t>Ion</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c>
                  <a:txBody>
                    <a:bodyPr/>
                    <a:lstStyle/>
                    <a:p>
                      <a:pPr indent="0" marL="0">
                        <a:buNone/>
                      </a:pPr>
                      <a:r>
                        <a:rPr lang="en-US" sz="1400" b="1" dirty="0">
                          <a:solidFill>
                            <a:schemeClr val="bg2"/>
                          </a:solidFill>
                        </a:rPr>
                        <a:t>Name</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r>
              <a:tr h="384048">
                <a:tc>
                  <a:txBody>
                    <a:bodyPr/>
                    <a:lstStyle/>
                    <a:p>
                      <a:pPr indent="0" marL="0">
                        <a:buNone/>
                      </a:pPr>
                      <a:r>
                        <a:rPr lang="en-US" sz="1400" dirty="0">
                          <a:solidFill>
                            <a:schemeClr val="bg1"/>
                          </a:solidFill>
                        </a:rPr>
                        <a:t>Fluorine</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F</a:t>
                      </a:r>
                      <a:pPr indent="0" marL="0">
                        <a:buNone/>
                      </a:pPr>
                      <a:r>
                        <a:rPr lang="en-US" sz="1400" baseline="30000" dirty="0">
                          <a:solidFill>
                            <a:schemeClr val="bg1"/>
                          </a:solidFill>
                        </a:rPr>
                        <a:t>−</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b="1" dirty="0">
                          <a:solidFill>
                            <a:schemeClr val="accent1"/>
                          </a:solidFill>
                        </a:rPr>
                        <a:t>fluoride</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r>
              <a:tr h="384048">
                <a:tc>
                  <a:txBody>
                    <a:bodyPr/>
                    <a:lstStyle/>
                    <a:p>
                      <a:pPr indent="0" marL="0">
                        <a:buNone/>
                      </a:pPr>
                      <a:r>
                        <a:rPr lang="en-US" sz="1400" dirty="0">
                          <a:solidFill>
                            <a:schemeClr val="bg1"/>
                          </a:solidFill>
                        </a:rPr>
                        <a:t>Chlorine</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Cl</a:t>
                      </a:r>
                      <a:pPr indent="0" marL="0">
                        <a:buNone/>
                      </a:pPr>
                      <a:r>
                        <a:rPr lang="en-US" sz="1400" baseline="30000" dirty="0">
                          <a:solidFill>
                            <a:schemeClr val="bg1"/>
                          </a:solidFill>
                        </a:rPr>
                        <a:t>−</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b="1" dirty="0">
                          <a:solidFill>
                            <a:schemeClr val="accent1"/>
                          </a:solidFill>
                        </a:rPr>
                        <a:t>chloride</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r>
              <a:tr h="384048">
                <a:tc>
                  <a:txBody>
                    <a:bodyPr/>
                    <a:lstStyle/>
                    <a:p>
                      <a:pPr indent="0" marL="0">
                        <a:buNone/>
                      </a:pPr>
                      <a:r>
                        <a:rPr lang="en-US" sz="1400" dirty="0">
                          <a:solidFill>
                            <a:schemeClr val="bg1"/>
                          </a:solidFill>
                        </a:rPr>
                        <a:t>Oxygen</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O</a:t>
                      </a:r>
                      <a:pPr indent="0" marL="0">
                        <a:buNone/>
                      </a:pPr>
                      <a:r>
                        <a:rPr lang="en-US" sz="1400" baseline="30000" dirty="0">
                          <a:solidFill>
                            <a:schemeClr val="bg1"/>
                          </a:solidFill>
                        </a:rPr>
                        <a:t>2−</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b="1" dirty="0">
                          <a:solidFill>
                            <a:schemeClr val="accent1"/>
                          </a:solidFill>
                        </a:rPr>
                        <a:t>oxide</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r>
              <a:tr h="384048">
                <a:tc>
                  <a:txBody>
                    <a:bodyPr/>
                    <a:lstStyle/>
                    <a:p>
                      <a:pPr indent="0" marL="0">
                        <a:buNone/>
                      </a:pPr>
                      <a:r>
                        <a:rPr lang="en-US" sz="1400" dirty="0">
                          <a:solidFill>
                            <a:schemeClr val="bg1"/>
                          </a:solidFill>
                        </a:rPr>
                        <a:t>Sulfur</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S</a:t>
                      </a:r>
                      <a:pPr indent="0" marL="0">
                        <a:buNone/>
                      </a:pPr>
                      <a:r>
                        <a:rPr lang="en-US" sz="1400" baseline="30000" dirty="0">
                          <a:solidFill>
                            <a:schemeClr val="bg1"/>
                          </a:solidFill>
                        </a:rPr>
                        <a:t>2−</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b="1" dirty="0">
                          <a:solidFill>
                            <a:schemeClr val="accent1"/>
                          </a:solidFill>
                        </a:rPr>
                        <a:t>sulfide</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r>
              <a:tr h="384048">
                <a:tc>
                  <a:txBody>
                    <a:bodyPr/>
                    <a:lstStyle/>
                    <a:p>
                      <a:pPr indent="0" marL="0">
                        <a:buNone/>
                      </a:pPr>
                      <a:r>
                        <a:rPr lang="en-US" sz="1400" dirty="0">
                          <a:solidFill>
                            <a:schemeClr val="bg1"/>
                          </a:solidFill>
                        </a:rPr>
                        <a:t>Nitrogen</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N</a:t>
                      </a:r>
                      <a:pPr indent="0" marL="0">
                        <a:buNone/>
                      </a:pPr>
                      <a:r>
                        <a:rPr lang="en-US" sz="1400" baseline="30000" dirty="0">
                          <a:solidFill>
                            <a:schemeClr val="bg1"/>
                          </a:solidFill>
                        </a:rPr>
                        <a:t>3−</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b="1" dirty="0">
                          <a:solidFill>
                            <a:schemeClr val="accent1"/>
                          </a:solidFill>
                        </a:rPr>
                        <a:t>nitride</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r>
              <a:tr h="384048">
                <a:tc>
                  <a:txBody>
                    <a:bodyPr/>
                    <a:lstStyle/>
                    <a:p>
                      <a:pPr indent="0" marL="0">
                        <a:buNone/>
                      </a:pPr>
                      <a:r>
                        <a:rPr lang="en-US" sz="1400" dirty="0">
                          <a:solidFill>
                            <a:schemeClr val="bg1"/>
                          </a:solidFill>
                        </a:rPr>
                        <a:t>Phosphorus</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P</a:t>
                      </a:r>
                      <a:pPr indent="0" marL="0">
                        <a:buNone/>
                      </a:pPr>
                      <a:r>
                        <a:rPr lang="en-US" sz="1400" baseline="30000" dirty="0">
                          <a:solidFill>
                            <a:schemeClr val="bg1"/>
                          </a:solidFill>
                        </a:rPr>
                        <a:t>3−</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b="1" dirty="0">
                          <a:solidFill>
                            <a:schemeClr val="accent1"/>
                          </a:solidFill>
                        </a:rPr>
                        <a:t>phosphide</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r>
            </a:tbl>
          </a:graphicData>
        </a:graphic>
      </p:graphicFrame>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ection tile 5"/>
          <p:cNvSpPr/>
          <p:nvPr/>
        </p:nvSpPr>
        <p:spPr>
          <a:xfrm>
            <a:off x="457200" y="301752"/>
            <a:ext cx="749808" cy="841248"/>
          </a:xfrm>
          <a:prstGeom prst="roundRect">
            <a:avLst>
              <a:gd name="adj" fmla="val 12000"/>
            </a:avLst>
          </a:prstGeom>
          <a:solidFill>
            <a:srgbClr val="F472B6">
              <a:alpha val="28000"/>
            </a:srgbClr>
          </a:solidFill>
          <a:ln w="19050">
            <a:solidFill>
              <a:srgbClr val="F472B6"/>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5</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2400" b="1" dirty="0">
                <a:solidFill>
                  <a:schemeClr val="bg1"/>
                </a:solidFill>
              </a:rPr>
              <a:t>O</a:t>
            </a:r>
            <a:pPr algn="ctr" indent="0" marL="0">
              <a:buNone/>
            </a:pPr>
            <a:r>
              <a:rPr lang="en-US" sz="2400" b="1" baseline="30000" dirty="0">
                <a:solidFill>
                  <a:schemeClr val="bg1"/>
                </a:solidFill>
              </a:rPr>
              <a:t>2−</a:t>
            </a:r>
            <a:endParaRPr lang="en-US" sz="2400" dirty="0"/>
          </a:p>
        </p:txBody>
      </p:sp>
      <p:sp>
        <p:nvSpPr>
          <p:cNvPr id="5" name="Text 3"/>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6" name="Text 4"/>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5 of 9</a:t>
            </a:r>
            <a:endParaRPr lang="en-US" sz="1200" dirty="0"/>
          </a:p>
        </p:txBody>
      </p:sp>
      <p:sp>
        <p:nvSpPr>
          <p:cNvPr id="7"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Symbol builder</a:t>
            </a:r>
            <a:endParaRPr lang="en-US" sz="2800" dirty="0"/>
          </a:p>
        </p:txBody>
      </p:sp>
      <p:sp>
        <p:nvSpPr>
          <p:cNvPr id="8" name="Text 6"/>
          <p:cNvSpPr txBox="1"/>
          <p:nvPr/>
        </p:nvSpPr>
        <p:spPr>
          <a:xfrm>
            <a:off x="457200" y="1280160"/>
            <a:ext cx="8229600" cy="411480"/>
          </a:xfrm>
          <a:prstGeom prst="rect">
            <a:avLst/>
          </a:prstGeom>
          <a:noFill/>
          <a:ln/>
        </p:spPr>
        <p:txBody>
          <a:bodyPr wrap="square" lIns="0" tIns="0" rIns="0" bIns="0" rtlCol="0" anchor="t"/>
          <a:lstStyle/>
          <a:p>
            <a:pPr indent="0" marL="0">
              <a:buNone/>
            </a:pPr>
            <a:r>
              <a:rPr lang="en-US" sz="1300" dirty="0">
                <a:solidFill>
                  <a:schemeClr val="bg2"/>
                </a:solidFill>
              </a:rPr>
              <a:t>Build the symbol for the ion each element forms. (The lesson picks random elements; here are five to try together.)</a:t>
            </a:r>
            <a:endParaRPr lang="en-US" sz="1300" dirty="0"/>
          </a:p>
        </p:txBody>
      </p:sp>
      <p:sp>
        <p:nvSpPr>
          <p:cNvPr id="9" name="Calcium"/>
          <p:cNvSpPr/>
          <p:nvPr/>
        </p:nvSpPr>
        <p:spPr>
          <a:xfrm>
            <a:off x="457200" y="1783080"/>
            <a:ext cx="1554480" cy="2788920"/>
          </a:xfrm>
          <a:prstGeom prst="roundRect">
            <a:avLst>
              <a:gd name="adj" fmla="val 5882"/>
            </a:avLst>
          </a:prstGeom>
          <a:solidFill>
            <a:schemeClr val="tx2"/>
          </a:solidFill>
          <a:ln w="9525">
            <a:solidFill>
              <a:schemeClr val="bg2">
                <a:alpha val="30000"/>
              </a:schemeClr>
            </a:solidFill>
            <a:prstDash val="solid"/>
          </a:ln>
        </p:spPr>
      </p:sp>
      <p:sp>
        <p:nvSpPr>
          <p:cNvPr id="10" name="Tile Ca"/>
          <p:cNvSpPr/>
          <p:nvPr/>
        </p:nvSpPr>
        <p:spPr>
          <a:xfrm>
            <a:off x="566928" y="1911096"/>
            <a:ext cx="502920" cy="548640"/>
          </a:xfrm>
          <a:prstGeom prst="roundRect">
            <a:avLst>
              <a:gd name="adj" fmla="val 12000"/>
            </a:avLst>
          </a:prstGeom>
          <a:solidFill>
            <a:srgbClr val="FFCB5C">
              <a:alpha val="30000"/>
            </a:srgbClr>
          </a:solidFill>
          <a:ln w="19050">
            <a:solidFill>
              <a:srgbClr val="FFCB5C"/>
            </a:solidFill>
            <a:prstDash val="solid"/>
          </a:ln>
        </p:spPr>
      </p:sp>
      <p:sp>
        <p:nvSpPr>
          <p:cNvPr id="11" name="Text 9"/>
          <p:cNvSpPr txBox="1"/>
          <p:nvPr/>
        </p:nvSpPr>
        <p:spPr>
          <a:xfrm>
            <a:off x="607162" y="1938528"/>
            <a:ext cx="301752" cy="131674"/>
          </a:xfrm>
          <a:prstGeom prst="rect">
            <a:avLst/>
          </a:prstGeom>
          <a:noFill/>
          <a:ln/>
        </p:spPr>
        <p:txBody>
          <a:bodyPr wrap="square" lIns="0" tIns="0" rIns="0" bIns="0" rtlCol="0" anchor="t"/>
          <a:lstStyle/>
          <a:p>
            <a:pPr indent="0" marL="0">
              <a:buNone/>
            </a:pPr>
            <a:r>
              <a:rPr lang="en-US" sz="800" dirty="0">
                <a:solidFill>
                  <a:schemeClr val="bg2"/>
                </a:solidFill>
              </a:rPr>
              <a:t>20</a:t>
            </a:r>
            <a:endParaRPr lang="en-US" sz="800" dirty="0"/>
          </a:p>
        </p:txBody>
      </p:sp>
      <p:sp>
        <p:nvSpPr>
          <p:cNvPr id="12" name="Text 10"/>
          <p:cNvSpPr txBox="1"/>
          <p:nvPr/>
        </p:nvSpPr>
        <p:spPr>
          <a:xfrm>
            <a:off x="566928" y="1998878"/>
            <a:ext cx="502920" cy="438912"/>
          </a:xfrm>
          <a:prstGeom prst="rect">
            <a:avLst/>
          </a:prstGeom>
          <a:noFill/>
          <a:ln/>
        </p:spPr>
        <p:txBody>
          <a:bodyPr wrap="square" lIns="0" tIns="0" rIns="0" bIns="0" rtlCol="0" anchor="ctr"/>
          <a:lstStyle/>
          <a:p>
            <a:pPr algn="ctr" indent="0" marL="0">
              <a:buNone/>
            </a:pPr>
            <a:r>
              <a:rPr lang="en-US" sz="2000" b="1" dirty="0">
                <a:solidFill>
                  <a:schemeClr val="bg1"/>
                </a:solidFill>
              </a:rPr>
              <a:t>Ca</a:t>
            </a:r>
            <a:endParaRPr lang="en-US" sz="2000" dirty="0"/>
          </a:p>
        </p:txBody>
      </p:sp>
      <p:sp>
        <p:nvSpPr>
          <p:cNvPr id="13" name="Text 11"/>
          <p:cNvSpPr txBox="1"/>
          <p:nvPr/>
        </p:nvSpPr>
        <p:spPr>
          <a:xfrm>
            <a:off x="1133856" y="1911096"/>
            <a:ext cx="868680" cy="274320"/>
          </a:xfrm>
          <a:prstGeom prst="rect">
            <a:avLst/>
          </a:prstGeom>
          <a:noFill/>
          <a:ln/>
        </p:spPr>
        <p:txBody>
          <a:bodyPr wrap="square" lIns="0" tIns="0" rIns="0" bIns="0" rtlCol="0" anchor="t"/>
          <a:lstStyle/>
          <a:p>
            <a:pPr indent="0" marL="0">
              <a:buNone/>
            </a:pPr>
            <a:r>
              <a:rPr lang="en-US" sz="1200" b="1" dirty="0">
                <a:solidFill>
                  <a:schemeClr val="bg1"/>
                </a:solidFill>
              </a:rPr>
              <a:t>Calcium</a:t>
            </a:r>
            <a:endParaRPr lang="en-US" sz="1200" dirty="0"/>
          </a:p>
        </p:txBody>
      </p:sp>
      <p:sp>
        <p:nvSpPr>
          <p:cNvPr id="14" name="Text 12"/>
          <p:cNvSpPr txBox="1"/>
          <p:nvPr/>
        </p:nvSpPr>
        <p:spPr>
          <a:xfrm>
            <a:off x="1133856" y="2185416"/>
            <a:ext cx="868680" cy="237744"/>
          </a:xfrm>
          <a:prstGeom prst="rect">
            <a:avLst/>
          </a:prstGeom>
          <a:noFill/>
          <a:ln/>
        </p:spPr>
        <p:txBody>
          <a:bodyPr wrap="square" lIns="0" tIns="0" rIns="0" bIns="0" rtlCol="0" anchor="t"/>
          <a:lstStyle/>
          <a:p>
            <a:pPr indent="0" marL="0">
              <a:buNone/>
            </a:pPr>
            <a:r>
              <a:rPr lang="en-US" sz="1100" dirty="0">
                <a:solidFill>
                  <a:schemeClr val="bg2"/>
                </a:solidFill>
              </a:rPr>
              <a:t>Group 2</a:t>
            </a:r>
            <a:endParaRPr lang="en-US" sz="1100" dirty="0"/>
          </a:p>
        </p:txBody>
      </p:sp>
      <p:sp>
        <p:nvSpPr>
          <p:cNvPr id="15" name="Text 13"/>
          <p:cNvSpPr txBox="1"/>
          <p:nvPr/>
        </p:nvSpPr>
        <p:spPr>
          <a:xfrm>
            <a:off x="457200" y="2697480"/>
            <a:ext cx="1554480" cy="1005840"/>
          </a:xfrm>
          <a:prstGeom prst="rect">
            <a:avLst/>
          </a:prstGeom>
          <a:noFill/>
          <a:ln/>
        </p:spPr>
        <p:txBody>
          <a:bodyPr wrap="square" lIns="0" tIns="0" rIns="0" bIns="0" rtlCol="0" anchor="ctr"/>
          <a:lstStyle/>
          <a:p>
            <a:pPr algn="ctr" indent="0" marL="0">
              <a:buNone/>
            </a:pPr>
            <a:r>
              <a:rPr lang="en-US" sz="4400" b="1" dirty="0">
                <a:solidFill>
                  <a:schemeClr val="bg1"/>
                </a:solidFill>
              </a:rPr>
              <a:t>Ca</a:t>
            </a:r>
            <a:pPr algn="ctr" indent="0" marL="0">
              <a:buNone/>
            </a:pPr>
            <a:r>
              <a:rPr lang="en-US" sz="4400" b="1" baseline="30000" dirty="0">
                <a:solidFill>
                  <a:schemeClr val="bg1"/>
                </a:solidFill>
              </a:rPr>
              <a:t>?</a:t>
            </a:r>
            <a:endParaRPr lang="en-US" sz="4400" dirty="0"/>
          </a:p>
        </p:txBody>
      </p:sp>
      <p:sp>
        <p:nvSpPr>
          <p:cNvPr id="16" name="Text 14"/>
          <p:cNvSpPr txBox="1"/>
          <p:nvPr/>
        </p:nvSpPr>
        <p:spPr>
          <a:xfrm>
            <a:off x="457200" y="3886200"/>
            <a:ext cx="1554480" cy="320040"/>
          </a:xfrm>
          <a:prstGeom prst="rect">
            <a:avLst/>
          </a:prstGeom>
          <a:noFill/>
          <a:ln/>
        </p:spPr>
        <p:txBody>
          <a:bodyPr wrap="square" lIns="0" tIns="0" rIns="0" bIns="0" rtlCol="0" anchor="t"/>
          <a:lstStyle/>
          <a:p>
            <a:pPr algn="ctr" indent="0" marL="0">
              <a:buNone/>
            </a:pPr>
            <a:r>
              <a:rPr lang="en-US" sz="1200" dirty="0">
                <a:solidFill>
                  <a:schemeClr val="bg2"/>
                </a:solidFill>
              </a:rPr>
              <a:t>Number? Sign?</a:t>
            </a:r>
            <a:endParaRPr lang="en-US" sz="1200" dirty="0"/>
          </a:p>
        </p:txBody>
      </p:sp>
      <p:sp>
        <p:nvSpPr>
          <p:cNvPr id="17" name="Nitrogen"/>
          <p:cNvSpPr/>
          <p:nvPr/>
        </p:nvSpPr>
        <p:spPr>
          <a:xfrm>
            <a:off x="2121408" y="1783080"/>
            <a:ext cx="1554480" cy="2788920"/>
          </a:xfrm>
          <a:prstGeom prst="roundRect">
            <a:avLst>
              <a:gd name="adj" fmla="val 5882"/>
            </a:avLst>
          </a:prstGeom>
          <a:solidFill>
            <a:schemeClr val="tx2"/>
          </a:solidFill>
          <a:ln w="9525">
            <a:solidFill>
              <a:schemeClr val="bg2">
                <a:alpha val="30000"/>
              </a:schemeClr>
            </a:solidFill>
            <a:prstDash val="solid"/>
          </a:ln>
        </p:spPr>
      </p:sp>
      <p:sp>
        <p:nvSpPr>
          <p:cNvPr id="18" name="Tile N"/>
          <p:cNvSpPr/>
          <p:nvPr/>
        </p:nvSpPr>
        <p:spPr>
          <a:xfrm>
            <a:off x="2231136" y="1911096"/>
            <a:ext cx="502920" cy="548640"/>
          </a:xfrm>
          <a:prstGeom prst="roundRect">
            <a:avLst>
              <a:gd name="adj" fmla="val 12000"/>
            </a:avLst>
          </a:prstGeom>
          <a:solidFill>
            <a:srgbClr val="45C08F">
              <a:alpha val="30000"/>
            </a:srgbClr>
          </a:solidFill>
          <a:ln w="19050">
            <a:solidFill>
              <a:srgbClr val="45C08F"/>
            </a:solidFill>
            <a:prstDash val="solid"/>
          </a:ln>
        </p:spPr>
      </p:sp>
      <p:sp>
        <p:nvSpPr>
          <p:cNvPr id="19" name="Text 17"/>
          <p:cNvSpPr txBox="1"/>
          <p:nvPr/>
        </p:nvSpPr>
        <p:spPr>
          <a:xfrm>
            <a:off x="2271370" y="1938528"/>
            <a:ext cx="301752" cy="131674"/>
          </a:xfrm>
          <a:prstGeom prst="rect">
            <a:avLst/>
          </a:prstGeom>
          <a:noFill/>
          <a:ln/>
        </p:spPr>
        <p:txBody>
          <a:bodyPr wrap="square" lIns="0" tIns="0" rIns="0" bIns="0" rtlCol="0" anchor="t"/>
          <a:lstStyle/>
          <a:p>
            <a:pPr indent="0" marL="0">
              <a:buNone/>
            </a:pPr>
            <a:r>
              <a:rPr lang="en-US" sz="800" dirty="0">
                <a:solidFill>
                  <a:schemeClr val="bg2"/>
                </a:solidFill>
              </a:rPr>
              <a:t>7</a:t>
            </a:r>
            <a:endParaRPr lang="en-US" sz="800" dirty="0"/>
          </a:p>
        </p:txBody>
      </p:sp>
      <p:sp>
        <p:nvSpPr>
          <p:cNvPr id="20" name="Text 18"/>
          <p:cNvSpPr txBox="1"/>
          <p:nvPr/>
        </p:nvSpPr>
        <p:spPr>
          <a:xfrm>
            <a:off x="2231136" y="1998878"/>
            <a:ext cx="502920" cy="438912"/>
          </a:xfrm>
          <a:prstGeom prst="rect">
            <a:avLst/>
          </a:prstGeom>
          <a:noFill/>
          <a:ln/>
        </p:spPr>
        <p:txBody>
          <a:bodyPr wrap="square" lIns="0" tIns="0" rIns="0" bIns="0" rtlCol="0" anchor="ctr"/>
          <a:lstStyle/>
          <a:p>
            <a:pPr algn="ctr" indent="0" marL="0">
              <a:buNone/>
            </a:pPr>
            <a:r>
              <a:rPr lang="en-US" sz="2000" b="1" dirty="0">
                <a:solidFill>
                  <a:schemeClr val="bg1"/>
                </a:solidFill>
              </a:rPr>
              <a:t>N</a:t>
            </a:r>
            <a:endParaRPr lang="en-US" sz="2000" dirty="0"/>
          </a:p>
        </p:txBody>
      </p:sp>
      <p:sp>
        <p:nvSpPr>
          <p:cNvPr id="21" name="Text 19"/>
          <p:cNvSpPr txBox="1"/>
          <p:nvPr/>
        </p:nvSpPr>
        <p:spPr>
          <a:xfrm>
            <a:off x="2798064" y="1911096"/>
            <a:ext cx="868680" cy="274320"/>
          </a:xfrm>
          <a:prstGeom prst="rect">
            <a:avLst/>
          </a:prstGeom>
          <a:noFill/>
          <a:ln/>
        </p:spPr>
        <p:txBody>
          <a:bodyPr wrap="square" lIns="0" tIns="0" rIns="0" bIns="0" rtlCol="0" anchor="t"/>
          <a:lstStyle/>
          <a:p>
            <a:pPr indent="0" marL="0">
              <a:buNone/>
            </a:pPr>
            <a:r>
              <a:rPr lang="en-US" sz="1200" b="1" dirty="0">
                <a:solidFill>
                  <a:schemeClr val="bg1"/>
                </a:solidFill>
              </a:rPr>
              <a:t>Nitrogen</a:t>
            </a:r>
            <a:endParaRPr lang="en-US" sz="1200" dirty="0"/>
          </a:p>
        </p:txBody>
      </p:sp>
      <p:sp>
        <p:nvSpPr>
          <p:cNvPr id="22" name="Text 20"/>
          <p:cNvSpPr txBox="1"/>
          <p:nvPr/>
        </p:nvSpPr>
        <p:spPr>
          <a:xfrm>
            <a:off x="2798064" y="2185416"/>
            <a:ext cx="868680" cy="237744"/>
          </a:xfrm>
          <a:prstGeom prst="rect">
            <a:avLst/>
          </a:prstGeom>
          <a:noFill/>
          <a:ln/>
        </p:spPr>
        <p:txBody>
          <a:bodyPr wrap="square" lIns="0" tIns="0" rIns="0" bIns="0" rtlCol="0" anchor="t"/>
          <a:lstStyle/>
          <a:p>
            <a:pPr indent="0" marL="0">
              <a:buNone/>
            </a:pPr>
            <a:r>
              <a:rPr lang="en-US" sz="1100" dirty="0">
                <a:solidFill>
                  <a:schemeClr val="bg2"/>
                </a:solidFill>
              </a:rPr>
              <a:t>Group 15</a:t>
            </a:r>
            <a:endParaRPr lang="en-US" sz="1100" dirty="0"/>
          </a:p>
        </p:txBody>
      </p:sp>
      <p:sp>
        <p:nvSpPr>
          <p:cNvPr id="23" name="Text 21"/>
          <p:cNvSpPr txBox="1"/>
          <p:nvPr/>
        </p:nvSpPr>
        <p:spPr>
          <a:xfrm>
            <a:off x="2121408" y="2697480"/>
            <a:ext cx="1554480" cy="1005840"/>
          </a:xfrm>
          <a:prstGeom prst="rect">
            <a:avLst/>
          </a:prstGeom>
          <a:noFill/>
          <a:ln/>
        </p:spPr>
        <p:txBody>
          <a:bodyPr wrap="square" lIns="0" tIns="0" rIns="0" bIns="0" rtlCol="0" anchor="ctr"/>
          <a:lstStyle/>
          <a:p>
            <a:pPr algn="ctr" indent="0" marL="0">
              <a:buNone/>
            </a:pPr>
            <a:r>
              <a:rPr lang="en-US" sz="4400" b="1" dirty="0">
                <a:solidFill>
                  <a:schemeClr val="bg1"/>
                </a:solidFill>
              </a:rPr>
              <a:t>N</a:t>
            </a:r>
            <a:pPr algn="ctr" indent="0" marL="0">
              <a:buNone/>
            </a:pPr>
            <a:r>
              <a:rPr lang="en-US" sz="4400" b="1" baseline="30000" dirty="0">
                <a:solidFill>
                  <a:schemeClr val="bg1"/>
                </a:solidFill>
              </a:rPr>
              <a:t>?</a:t>
            </a:r>
            <a:endParaRPr lang="en-US" sz="4400" dirty="0"/>
          </a:p>
        </p:txBody>
      </p:sp>
      <p:sp>
        <p:nvSpPr>
          <p:cNvPr id="24" name="Text 22"/>
          <p:cNvSpPr txBox="1"/>
          <p:nvPr/>
        </p:nvSpPr>
        <p:spPr>
          <a:xfrm>
            <a:off x="2121408" y="3886200"/>
            <a:ext cx="1554480" cy="320040"/>
          </a:xfrm>
          <a:prstGeom prst="rect">
            <a:avLst/>
          </a:prstGeom>
          <a:noFill/>
          <a:ln/>
        </p:spPr>
        <p:txBody>
          <a:bodyPr wrap="square" lIns="0" tIns="0" rIns="0" bIns="0" rtlCol="0" anchor="t"/>
          <a:lstStyle/>
          <a:p>
            <a:pPr algn="ctr" indent="0" marL="0">
              <a:buNone/>
            </a:pPr>
            <a:r>
              <a:rPr lang="en-US" sz="1200" dirty="0">
                <a:solidFill>
                  <a:schemeClr val="bg2"/>
                </a:solidFill>
              </a:rPr>
              <a:t>Number? Sign?</a:t>
            </a:r>
            <a:endParaRPr lang="en-US" sz="1200" dirty="0"/>
          </a:p>
        </p:txBody>
      </p:sp>
      <p:sp>
        <p:nvSpPr>
          <p:cNvPr id="25" name="Potassium"/>
          <p:cNvSpPr/>
          <p:nvPr/>
        </p:nvSpPr>
        <p:spPr>
          <a:xfrm>
            <a:off x="3785616" y="1783080"/>
            <a:ext cx="1554480" cy="2788920"/>
          </a:xfrm>
          <a:prstGeom prst="roundRect">
            <a:avLst>
              <a:gd name="adj" fmla="val 5882"/>
            </a:avLst>
          </a:prstGeom>
          <a:solidFill>
            <a:schemeClr val="tx2"/>
          </a:solidFill>
          <a:ln w="9525">
            <a:solidFill>
              <a:schemeClr val="bg2">
                <a:alpha val="30000"/>
              </a:schemeClr>
            </a:solidFill>
            <a:prstDash val="solid"/>
          </a:ln>
        </p:spPr>
      </p:sp>
      <p:sp>
        <p:nvSpPr>
          <p:cNvPr id="26" name="Tile K"/>
          <p:cNvSpPr/>
          <p:nvPr/>
        </p:nvSpPr>
        <p:spPr>
          <a:xfrm>
            <a:off x="3895344" y="1911096"/>
            <a:ext cx="502920" cy="548640"/>
          </a:xfrm>
          <a:prstGeom prst="roundRect">
            <a:avLst>
              <a:gd name="adj" fmla="val 12000"/>
            </a:avLst>
          </a:prstGeom>
          <a:solidFill>
            <a:srgbClr val="FF8F5E">
              <a:alpha val="30000"/>
            </a:srgbClr>
          </a:solidFill>
          <a:ln w="19050">
            <a:solidFill>
              <a:srgbClr val="FF8F5E"/>
            </a:solidFill>
            <a:prstDash val="solid"/>
          </a:ln>
        </p:spPr>
      </p:sp>
      <p:sp>
        <p:nvSpPr>
          <p:cNvPr id="27" name="Text 25"/>
          <p:cNvSpPr txBox="1"/>
          <p:nvPr/>
        </p:nvSpPr>
        <p:spPr>
          <a:xfrm>
            <a:off x="3935578" y="1938528"/>
            <a:ext cx="301752" cy="131674"/>
          </a:xfrm>
          <a:prstGeom prst="rect">
            <a:avLst/>
          </a:prstGeom>
          <a:noFill/>
          <a:ln/>
        </p:spPr>
        <p:txBody>
          <a:bodyPr wrap="square" lIns="0" tIns="0" rIns="0" bIns="0" rtlCol="0" anchor="t"/>
          <a:lstStyle/>
          <a:p>
            <a:pPr indent="0" marL="0">
              <a:buNone/>
            </a:pPr>
            <a:r>
              <a:rPr lang="en-US" sz="800" dirty="0">
                <a:solidFill>
                  <a:schemeClr val="bg2"/>
                </a:solidFill>
              </a:rPr>
              <a:t>19</a:t>
            </a:r>
            <a:endParaRPr lang="en-US" sz="800" dirty="0"/>
          </a:p>
        </p:txBody>
      </p:sp>
      <p:sp>
        <p:nvSpPr>
          <p:cNvPr id="28" name="Text 26"/>
          <p:cNvSpPr txBox="1"/>
          <p:nvPr/>
        </p:nvSpPr>
        <p:spPr>
          <a:xfrm>
            <a:off x="3895344" y="1998878"/>
            <a:ext cx="502920" cy="438912"/>
          </a:xfrm>
          <a:prstGeom prst="rect">
            <a:avLst/>
          </a:prstGeom>
          <a:noFill/>
          <a:ln/>
        </p:spPr>
        <p:txBody>
          <a:bodyPr wrap="square" lIns="0" tIns="0" rIns="0" bIns="0" rtlCol="0" anchor="ctr"/>
          <a:lstStyle/>
          <a:p>
            <a:pPr algn="ctr" indent="0" marL="0">
              <a:buNone/>
            </a:pPr>
            <a:r>
              <a:rPr lang="en-US" sz="2000" b="1" dirty="0">
                <a:solidFill>
                  <a:schemeClr val="bg1"/>
                </a:solidFill>
              </a:rPr>
              <a:t>K</a:t>
            </a:r>
            <a:endParaRPr lang="en-US" sz="2000" dirty="0"/>
          </a:p>
        </p:txBody>
      </p:sp>
      <p:sp>
        <p:nvSpPr>
          <p:cNvPr id="29" name="Text 27"/>
          <p:cNvSpPr txBox="1"/>
          <p:nvPr/>
        </p:nvSpPr>
        <p:spPr>
          <a:xfrm>
            <a:off x="4462272" y="1911096"/>
            <a:ext cx="868680" cy="274320"/>
          </a:xfrm>
          <a:prstGeom prst="rect">
            <a:avLst/>
          </a:prstGeom>
          <a:noFill/>
          <a:ln/>
        </p:spPr>
        <p:txBody>
          <a:bodyPr wrap="square" lIns="0" tIns="0" rIns="0" bIns="0" rtlCol="0" anchor="t"/>
          <a:lstStyle/>
          <a:p>
            <a:pPr indent="0" marL="0">
              <a:buNone/>
            </a:pPr>
            <a:r>
              <a:rPr lang="en-US" sz="1200" b="1" dirty="0">
                <a:solidFill>
                  <a:schemeClr val="bg1"/>
                </a:solidFill>
              </a:rPr>
              <a:t>Potassium</a:t>
            </a:r>
            <a:endParaRPr lang="en-US" sz="1200" dirty="0"/>
          </a:p>
        </p:txBody>
      </p:sp>
      <p:sp>
        <p:nvSpPr>
          <p:cNvPr id="30" name="Text 28"/>
          <p:cNvSpPr txBox="1"/>
          <p:nvPr/>
        </p:nvSpPr>
        <p:spPr>
          <a:xfrm>
            <a:off x="4462272" y="2185416"/>
            <a:ext cx="868680" cy="237744"/>
          </a:xfrm>
          <a:prstGeom prst="rect">
            <a:avLst/>
          </a:prstGeom>
          <a:noFill/>
          <a:ln/>
        </p:spPr>
        <p:txBody>
          <a:bodyPr wrap="square" lIns="0" tIns="0" rIns="0" bIns="0" rtlCol="0" anchor="t"/>
          <a:lstStyle/>
          <a:p>
            <a:pPr indent="0" marL="0">
              <a:buNone/>
            </a:pPr>
            <a:r>
              <a:rPr lang="en-US" sz="1100" dirty="0">
                <a:solidFill>
                  <a:schemeClr val="bg2"/>
                </a:solidFill>
              </a:rPr>
              <a:t>Group 1</a:t>
            </a:r>
            <a:endParaRPr lang="en-US" sz="1100" dirty="0"/>
          </a:p>
        </p:txBody>
      </p:sp>
      <p:sp>
        <p:nvSpPr>
          <p:cNvPr id="31" name="Text 29"/>
          <p:cNvSpPr txBox="1"/>
          <p:nvPr/>
        </p:nvSpPr>
        <p:spPr>
          <a:xfrm>
            <a:off x="3785616" y="2697480"/>
            <a:ext cx="1554480" cy="1005840"/>
          </a:xfrm>
          <a:prstGeom prst="rect">
            <a:avLst/>
          </a:prstGeom>
          <a:noFill/>
          <a:ln/>
        </p:spPr>
        <p:txBody>
          <a:bodyPr wrap="square" lIns="0" tIns="0" rIns="0" bIns="0" rtlCol="0" anchor="ctr"/>
          <a:lstStyle/>
          <a:p>
            <a:pPr algn="ctr" indent="0" marL="0">
              <a:buNone/>
            </a:pPr>
            <a:r>
              <a:rPr lang="en-US" sz="4400" b="1" dirty="0">
                <a:solidFill>
                  <a:schemeClr val="bg1"/>
                </a:solidFill>
              </a:rPr>
              <a:t>K</a:t>
            </a:r>
            <a:pPr algn="ctr" indent="0" marL="0">
              <a:buNone/>
            </a:pPr>
            <a:r>
              <a:rPr lang="en-US" sz="4400" b="1" baseline="30000" dirty="0">
                <a:solidFill>
                  <a:schemeClr val="bg1"/>
                </a:solidFill>
              </a:rPr>
              <a:t>?</a:t>
            </a:r>
            <a:endParaRPr lang="en-US" sz="4400" dirty="0"/>
          </a:p>
        </p:txBody>
      </p:sp>
      <p:sp>
        <p:nvSpPr>
          <p:cNvPr id="32" name="Text 30"/>
          <p:cNvSpPr txBox="1"/>
          <p:nvPr/>
        </p:nvSpPr>
        <p:spPr>
          <a:xfrm>
            <a:off x="3785616" y="3886200"/>
            <a:ext cx="1554480" cy="320040"/>
          </a:xfrm>
          <a:prstGeom prst="rect">
            <a:avLst/>
          </a:prstGeom>
          <a:noFill/>
          <a:ln/>
        </p:spPr>
        <p:txBody>
          <a:bodyPr wrap="square" lIns="0" tIns="0" rIns="0" bIns="0" rtlCol="0" anchor="t"/>
          <a:lstStyle/>
          <a:p>
            <a:pPr algn="ctr" indent="0" marL="0">
              <a:buNone/>
            </a:pPr>
            <a:r>
              <a:rPr lang="en-US" sz="1200" dirty="0">
                <a:solidFill>
                  <a:schemeClr val="bg2"/>
                </a:solidFill>
              </a:rPr>
              <a:t>Number? Sign?</a:t>
            </a:r>
            <a:endParaRPr lang="en-US" sz="1200" dirty="0"/>
          </a:p>
        </p:txBody>
      </p:sp>
      <p:sp>
        <p:nvSpPr>
          <p:cNvPr id="33" name="Sulfur"/>
          <p:cNvSpPr/>
          <p:nvPr/>
        </p:nvSpPr>
        <p:spPr>
          <a:xfrm>
            <a:off x="5449824" y="1783080"/>
            <a:ext cx="1554480" cy="2788920"/>
          </a:xfrm>
          <a:prstGeom prst="roundRect">
            <a:avLst>
              <a:gd name="adj" fmla="val 5882"/>
            </a:avLst>
          </a:prstGeom>
          <a:solidFill>
            <a:schemeClr val="tx2"/>
          </a:solidFill>
          <a:ln w="9525">
            <a:solidFill>
              <a:schemeClr val="bg2">
                <a:alpha val="30000"/>
              </a:schemeClr>
            </a:solidFill>
            <a:prstDash val="solid"/>
          </a:ln>
        </p:spPr>
      </p:sp>
      <p:sp>
        <p:nvSpPr>
          <p:cNvPr id="34" name="Tile S"/>
          <p:cNvSpPr/>
          <p:nvPr/>
        </p:nvSpPr>
        <p:spPr>
          <a:xfrm>
            <a:off x="5559552" y="1911096"/>
            <a:ext cx="502920" cy="548640"/>
          </a:xfrm>
          <a:prstGeom prst="roundRect">
            <a:avLst>
              <a:gd name="adj" fmla="val 12000"/>
            </a:avLst>
          </a:prstGeom>
          <a:solidFill>
            <a:srgbClr val="45C08F">
              <a:alpha val="30000"/>
            </a:srgbClr>
          </a:solidFill>
          <a:ln w="19050">
            <a:solidFill>
              <a:srgbClr val="45C08F"/>
            </a:solidFill>
            <a:prstDash val="solid"/>
          </a:ln>
        </p:spPr>
      </p:sp>
      <p:sp>
        <p:nvSpPr>
          <p:cNvPr id="35" name="Text 33"/>
          <p:cNvSpPr txBox="1"/>
          <p:nvPr/>
        </p:nvSpPr>
        <p:spPr>
          <a:xfrm>
            <a:off x="5599786" y="1938528"/>
            <a:ext cx="301752" cy="131674"/>
          </a:xfrm>
          <a:prstGeom prst="rect">
            <a:avLst/>
          </a:prstGeom>
          <a:noFill/>
          <a:ln/>
        </p:spPr>
        <p:txBody>
          <a:bodyPr wrap="square" lIns="0" tIns="0" rIns="0" bIns="0" rtlCol="0" anchor="t"/>
          <a:lstStyle/>
          <a:p>
            <a:pPr indent="0" marL="0">
              <a:buNone/>
            </a:pPr>
            <a:r>
              <a:rPr lang="en-US" sz="800" dirty="0">
                <a:solidFill>
                  <a:schemeClr val="bg2"/>
                </a:solidFill>
              </a:rPr>
              <a:t>16</a:t>
            </a:r>
            <a:endParaRPr lang="en-US" sz="800" dirty="0"/>
          </a:p>
        </p:txBody>
      </p:sp>
      <p:sp>
        <p:nvSpPr>
          <p:cNvPr id="36" name="Text 34"/>
          <p:cNvSpPr txBox="1"/>
          <p:nvPr/>
        </p:nvSpPr>
        <p:spPr>
          <a:xfrm>
            <a:off x="5559552" y="1998878"/>
            <a:ext cx="502920" cy="438912"/>
          </a:xfrm>
          <a:prstGeom prst="rect">
            <a:avLst/>
          </a:prstGeom>
          <a:noFill/>
          <a:ln/>
        </p:spPr>
        <p:txBody>
          <a:bodyPr wrap="square" lIns="0" tIns="0" rIns="0" bIns="0" rtlCol="0" anchor="ctr"/>
          <a:lstStyle/>
          <a:p>
            <a:pPr algn="ctr" indent="0" marL="0">
              <a:buNone/>
            </a:pPr>
            <a:r>
              <a:rPr lang="en-US" sz="2000" b="1" dirty="0">
                <a:solidFill>
                  <a:schemeClr val="bg1"/>
                </a:solidFill>
              </a:rPr>
              <a:t>S</a:t>
            </a:r>
            <a:endParaRPr lang="en-US" sz="2000" dirty="0"/>
          </a:p>
        </p:txBody>
      </p:sp>
      <p:sp>
        <p:nvSpPr>
          <p:cNvPr id="37" name="Text 35"/>
          <p:cNvSpPr txBox="1"/>
          <p:nvPr/>
        </p:nvSpPr>
        <p:spPr>
          <a:xfrm>
            <a:off x="6126480" y="1911096"/>
            <a:ext cx="868680" cy="274320"/>
          </a:xfrm>
          <a:prstGeom prst="rect">
            <a:avLst/>
          </a:prstGeom>
          <a:noFill/>
          <a:ln/>
        </p:spPr>
        <p:txBody>
          <a:bodyPr wrap="square" lIns="0" tIns="0" rIns="0" bIns="0" rtlCol="0" anchor="t"/>
          <a:lstStyle/>
          <a:p>
            <a:pPr indent="0" marL="0">
              <a:buNone/>
            </a:pPr>
            <a:r>
              <a:rPr lang="en-US" sz="1200" b="1" dirty="0">
                <a:solidFill>
                  <a:schemeClr val="bg1"/>
                </a:solidFill>
              </a:rPr>
              <a:t>Sulfur</a:t>
            </a:r>
            <a:endParaRPr lang="en-US" sz="1200" dirty="0"/>
          </a:p>
        </p:txBody>
      </p:sp>
      <p:sp>
        <p:nvSpPr>
          <p:cNvPr id="38" name="Text 36"/>
          <p:cNvSpPr txBox="1"/>
          <p:nvPr/>
        </p:nvSpPr>
        <p:spPr>
          <a:xfrm>
            <a:off x="6126480" y="2185416"/>
            <a:ext cx="868680" cy="237744"/>
          </a:xfrm>
          <a:prstGeom prst="rect">
            <a:avLst/>
          </a:prstGeom>
          <a:noFill/>
          <a:ln/>
        </p:spPr>
        <p:txBody>
          <a:bodyPr wrap="square" lIns="0" tIns="0" rIns="0" bIns="0" rtlCol="0" anchor="t"/>
          <a:lstStyle/>
          <a:p>
            <a:pPr indent="0" marL="0">
              <a:buNone/>
            </a:pPr>
            <a:r>
              <a:rPr lang="en-US" sz="1100" dirty="0">
                <a:solidFill>
                  <a:schemeClr val="bg2"/>
                </a:solidFill>
              </a:rPr>
              <a:t>Group 16</a:t>
            </a:r>
            <a:endParaRPr lang="en-US" sz="1100" dirty="0"/>
          </a:p>
        </p:txBody>
      </p:sp>
      <p:sp>
        <p:nvSpPr>
          <p:cNvPr id="39" name="Text 37"/>
          <p:cNvSpPr txBox="1"/>
          <p:nvPr/>
        </p:nvSpPr>
        <p:spPr>
          <a:xfrm>
            <a:off x="5449824" y="2697480"/>
            <a:ext cx="1554480" cy="1005840"/>
          </a:xfrm>
          <a:prstGeom prst="rect">
            <a:avLst/>
          </a:prstGeom>
          <a:noFill/>
          <a:ln/>
        </p:spPr>
        <p:txBody>
          <a:bodyPr wrap="square" lIns="0" tIns="0" rIns="0" bIns="0" rtlCol="0" anchor="ctr"/>
          <a:lstStyle/>
          <a:p>
            <a:pPr algn="ctr" indent="0" marL="0">
              <a:buNone/>
            </a:pPr>
            <a:r>
              <a:rPr lang="en-US" sz="4400" b="1" dirty="0">
                <a:solidFill>
                  <a:schemeClr val="bg1"/>
                </a:solidFill>
              </a:rPr>
              <a:t>S</a:t>
            </a:r>
            <a:pPr algn="ctr" indent="0" marL="0">
              <a:buNone/>
            </a:pPr>
            <a:r>
              <a:rPr lang="en-US" sz="4400" b="1" baseline="30000" dirty="0">
                <a:solidFill>
                  <a:schemeClr val="bg1"/>
                </a:solidFill>
              </a:rPr>
              <a:t>?</a:t>
            </a:r>
            <a:endParaRPr lang="en-US" sz="4400" dirty="0"/>
          </a:p>
        </p:txBody>
      </p:sp>
      <p:sp>
        <p:nvSpPr>
          <p:cNvPr id="40" name="Text 38"/>
          <p:cNvSpPr txBox="1"/>
          <p:nvPr/>
        </p:nvSpPr>
        <p:spPr>
          <a:xfrm>
            <a:off x="5449824" y="3886200"/>
            <a:ext cx="1554480" cy="320040"/>
          </a:xfrm>
          <a:prstGeom prst="rect">
            <a:avLst/>
          </a:prstGeom>
          <a:noFill/>
          <a:ln/>
        </p:spPr>
        <p:txBody>
          <a:bodyPr wrap="square" lIns="0" tIns="0" rIns="0" bIns="0" rtlCol="0" anchor="t"/>
          <a:lstStyle/>
          <a:p>
            <a:pPr algn="ctr" indent="0" marL="0">
              <a:buNone/>
            </a:pPr>
            <a:r>
              <a:rPr lang="en-US" sz="1200" dirty="0">
                <a:solidFill>
                  <a:schemeClr val="bg2"/>
                </a:solidFill>
              </a:rPr>
              <a:t>Number? Sign?</a:t>
            </a:r>
            <a:endParaRPr lang="en-US" sz="1200" dirty="0"/>
          </a:p>
        </p:txBody>
      </p:sp>
      <p:sp>
        <p:nvSpPr>
          <p:cNvPr id="41" name="Aluminum"/>
          <p:cNvSpPr/>
          <p:nvPr/>
        </p:nvSpPr>
        <p:spPr>
          <a:xfrm>
            <a:off x="7114032" y="1783080"/>
            <a:ext cx="1554480" cy="2788920"/>
          </a:xfrm>
          <a:prstGeom prst="roundRect">
            <a:avLst>
              <a:gd name="adj" fmla="val 5882"/>
            </a:avLst>
          </a:prstGeom>
          <a:solidFill>
            <a:schemeClr val="tx2"/>
          </a:solidFill>
          <a:ln w="9525">
            <a:solidFill>
              <a:schemeClr val="bg2">
                <a:alpha val="30000"/>
              </a:schemeClr>
            </a:solidFill>
            <a:prstDash val="solid"/>
          </a:ln>
        </p:spPr>
      </p:sp>
      <p:sp>
        <p:nvSpPr>
          <p:cNvPr id="42" name="Tile Al"/>
          <p:cNvSpPr/>
          <p:nvPr/>
        </p:nvSpPr>
        <p:spPr>
          <a:xfrm>
            <a:off x="7223760" y="1911096"/>
            <a:ext cx="502920" cy="548640"/>
          </a:xfrm>
          <a:prstGeom prst="roundRect">
            <a:avLst>
              <a:gd name="adj" fmla="val 12000"/>
            </a:avLst>
          </a:prstGeom>
          <a:solidFill>
            <a:srgbClr val="8EA8CC">
              <a:alpha val="30000"/>
            </a:srgbClr>
          </a:solidFill>
          <a:ln w="19050">
            <a:solidFill>
              <a:srgbClr val="8EA8CC"/>
            </a:solidFill>
            <a:prstDash val="solid"/>
          </a:ln>
        </p:spPr>
      </p:sp>
      <p:sp>
        <p:nvSpPr>
          <p:cNvPr id="43" name="Text 41"/>
          <p:cNvSpPr txBox="1"/>
          <p:nvPr/>
        </p:nvSpPr>
        <p:spPr>
          <a:xfrm>
            <a:off x="7263994" y="1938528"/>
            <a:ext cx="301752" cy="131674"/>
          </a:xfrm>
          <a:prstGeom prst="rect">
            <a:avLst/>
          </a:prstGeom>
          <a:noFill/>
          <a:ln/>
        </p:spPr>
        <p:txBody>
          <a:bodyPr wrap="square" lIns="0" tIns="0" rIns="0" bIns="0" rtlCol="0" anchor="t"/>
          <a:lstStyle/>
          <a:p>
            <a:pPr indent="0" marL="0">
              <a:buNone/>
            </a:pPr>
            <a:r>
              <a:rPr lang="en-US" sz="800" dirty="0">
                <a:solidFill>
                  <a:schemeClr val="bg2"/>
                </a:solidFill>
              </a:rPr>
              <a:t>13</a:t>
            </a:r>
            <a:endParaRPr lang="en-US" sz="800" dirty="0"/>
          </a:p>
        </p:txBody>
      </p:sp>
      <p:sp>
        <p:nvSpPr>
          <p:cNvPr id="44" name="Text 42"/>
          <p:cNvSpPr txBox="1"/>
          <p:nvPr/>
        </p:nvSpPr>
        <p:spPr>
          <a:xfrm>
            <a:off x="7223760" y="1998878"/>
            <a:ext cx="502920" cy="438912"/>
          </a:xfrm>
          <a:prstGeom prst="rect">
            <a:avLst/>
          </a:prstGeom>
          <a:noFill/>
          <a:ln/>
        </p:spPr>
        <p:txBody>
          <a:bodyPr wrap="square" lIns="0" tIns="0" rIns="0" bIns="0" rtlCol="0" anchor="ctr"/>
          <a:lstStyle/>
          <a:p>
            <a:pPr algn="ctr" indent="0" marL="0">
              <a:buNone/>
            </a:pPr>
            <a:r>
              <a:rPr lang="en-US" sz="2000" b="1" dirty="0">
                <a:solidFill>
                  <a:schemeClr val="bg1"/>
                </a:solidFill>
              </a:rPr>
              <a:t>Al</a:t>
            </a:r>
            <a:endParaRPr lang="en-US" sz="2000" dirty="0"/>
          </a:p>
        </p:txBody>
      </p:sp>
      <p:sp>
        <p:nvSpPr>
          <p:cNvPr id="45" name="Text 43"/>
          <p:cNvSpPr txBox="1"/>
          <p:nvPr/>
        </p:nvSpPr>
        <p:spPr>
          <a:xfrm>
            <a:off x="7790688" y="1911096"/>
            <a:ext cx="868680" cy="274320"/>
          </a:xfrm>
          <a:prstGeom prst="rect">
            <a:avLst/>
          </a:prstGeom>
          <a:noFill/>
          <a:ln/>
        </p:spPr>
        <p:txBody>
          <a:bodyPr wrap="square" lIns="0" tIns="0" rIns="0" bIns="0" rtlCol="0" anchor="t"/>
          <a:lstStyle/>
          <a:p>
            <a:pPr indent="0" marL="0">
              <a:buNone/>
            </a:pPr>
            <a:r>
              <a:rPr lang="en-US" sz="1200" b="1" dirty="0">
                <a:solidFill>
                  <a:schemeClr val="bg1"/>
                </a:solidFill>
              </a:rPr>
              <a:t>Aluminum</a:t>
            </a:r>
            <a:endParaRPr lang="en-US" sz="1200" dirty="0"/>
          </a:p>
        </p:txBody>
      </p:sp>
      <p:sp>
        <p:nvSpPr>
          <p:cNvPr id="46" name="Text 44"/>
          <p:cNvSpPr txBox="1"/>
          <p:nvPr/>
        </p:nvSpPr>
        <p:spPr>
          <a:xfrm>
            <a:off x="7790688" y="2185416"/>
            <a:ext cx="868680" cy="237744"/>
          </a:xfrm>
          <a:prstGeom prst="rect">
            <a:avLst/>
          </a:prstGeom>
          <a:noFill/>
          <a:ln/>
        </p:spPr>
        <p:txBody>
          <a:bodyPr wrap="square" lIns="0" tIns="0" rIns="0" bIns="0" rtlCol="0" anchor="t"/>
          <a:lstStyle/>
          <a:p>
            <a:pPr indent="0" marL="0">
              <a:buNone/>
            </a:pPr>
            <a:r>
              <a:rPr lang="en-US" sz="1100" dirty="0">
                <a:solidFill>
                  <a:schemeClr val="bg2"/>
                </a:solidFill>
              </a:rPr>
              <a:t>Group 13</a:t>
            </a:r>
            <a:endParaRPr lang="en-US" sz="1100" dirty="0"/>
          </a:p>
        </p:txBody>
      </p:sp>
      <p:sp>
        <p:nvSpPr>
          <p:cNvPr id="47" name="Text 45"/>
          <p:cNvSpPr txBox="1"/>
          <p:nvPr/>
        </p:nvSpPr>
        <p:spPr>
          <a:xfrm>
            <a:off x="7114032" y="2697480"/>
            <a:ext cx="1554480" cy="1005840"/>
          </a:xfrm>
          <a:prstGeom prst="rect">
            <a:avLst/>
          </a:prstGeom>
          <a:noFill/>
          <a:ln/>
        </p:spPr>
        <p:txBody>
          <a:bodyPr wrap="square" lIns="0" tIns="0" rIns="0" bIns="0" rtlCol="0" anchor="ctr"/>
          <a:lstStyle/>
          <a:p>
            <a:pPr algn="ctr" indent="0" marL="0">
              <a:buNone/>
            </a:pPr>
            <a:r>
              <a:rPr lang="en-US" sz="4400" b="1" dirty="0">
                <a:solidFill>
                  <a:schemeClr val="bg1"/>
                </a:solidFill>
              </a:rPr>
              <a:t>Al</a:t>
            </a:r>
            <a:pPr algn="ctr" indent="0" marL="0">
              <a:buNone/>
            </a:pPr>
            <a:r>
              <a:rPr lang="en-US" sz="4400" b="1" baseline="30000" dirty="0">
                <a:solidFill>
                  <a:schemeClr val="bg1"/>
                </a:solidFill>
              </a:rPr>
              <a:t>?</a:t>
            </a:r>
            <a:endParaRPr lang="en-US" sz="4400" dirty="0"/>
          </a:p>
        </p:txBody>
      </p:sp>
      <p:sp>
        <p:nvSpPr>
          <p:cNvPr id="48" name="Text 46"/>
          <p:cNvSpPr txBox="1"/>
          <p:nvPr/>
        </p:nvSpPr>
        <p:spPr>
          <a:xfrm>
            <a:off x="7114032" y="3886200"/>
            <a:ext cx="1554480" cy="320040"/>
          </a:xfrm>
          <a:prstGeom prst="rect">
            <a:avLst/>
          </a:prstGeom>
          <a:noFill/>
          <a:ln/>
        </p:spPr>
        <p:txBody>
          <a:bodyPr wrap="square" lIns="0" tIns="0" rIns="0" bIns="0" rtlCol="0" anchor="t"/>
          <a:lstStyle/>
          <a:p>
            <a:pPr algn="ctr" indent="0" marL="0">
              <a:buNone/>
            </a:pPr>
            <a:r>
              <a:rPr lang="en-US" sz="1200" dirty="0">
                <a:solidFill>
                  <a:schemeClr val="bg2"/>
                </a:solidFill>
              </a:rPr>
              <a:t>Number? Sign?</a:t>
            </a:r>
            <a:endParaRPr lang="en-US" sz="12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ection tile 5"/>
          <p:cNvSpPr/>
          <p:nvPr/>
        </p:nvSpPr>
        <p:spPr>
          <a:xfrm>
            <a:off x="457200" y="301752"/>
            <a:ext cx="749808" cy="841248"/>
          </a:xfrm>
          <a:prstGeom prst="roundRect">
            <a:avLst>
              <a:gd name="adj" fmla="val 12000"/>
            </a:avLst>
          </a:prstGeom>
          <a:solidFill>
            <a:srgbClr val="F472B6">
              <a:alpha val="28000"/>
            </a:srgbClr>
          </a:solidFill>
          <a:ln w="19050">
            <a:solidFill>
              <a:srgbClr val="F472B6"/>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5</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2400" b="1" dirty="0">
                <a:solidFill>
                  <a:schemeClr val="bg1"/>
                </a:solidFill>
              </a:rPr>
              <a:t>O</a:t>
            </a:r>
            <a:pPr algn="ctr" indent="0" marL="0">
              <a:buNone/>
            </a:pPr>
            <a:r>
              <a:rPr lang="en-US" sz="2400" b="1" baseline="30000" dirty="0">
                <a:solidFill>
                  <a:schemeClr val="bg1"/>
                </a:solidFill>
              </a:rPr>
              <a:t>2−</a:t>
            </a:r>
            <a:endParaRPr lang="en-US" sz="2400" dirty="0"/>
          </a:p>
        </p:txBody>
      </p:sp>
      <p:sp>
        <p:nvSpPr>
          <p:cNvPr id="5" name="Text 3"/>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6" name="Text 4"/>
          <p:cNvSpPr/>
          <p:nvPr/>
        </p:nvSpPr>
        <p:spPr>
          <a:xfrm>
            <a:off x="224028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7" name="Text 5"/>
          <p:cNvSpPr txBox="1"/>
          <p:nvPr/>
        </p:nvSpPr>
        <p:spPr>
          <a:xfrm>
            <a:off x="32004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5 of 9</a:t>
            </a:r>
            <a:endParaRPr lang="en-US" sz="1200" dirty="0"/>
          </a:p>
        </p:txBody>
      </p:sp>
      <p:sp>
        <p:nvSpPr>
          <p:cNvPr id="8"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Symbol builder</a:t>
            </a:r>
            <a:endParaRPr lang="en-US" sz="2800" dirty="0"/>
          </a:p>
        </p:txBody>
      </p:sp>
      <p:sp>
        <p:nvSpPr>
          <p:cNvPr id="9" name="Text 7"/>
          <p:cNvSpPr txBox="1"/>
          <p:nvPr/>
        </p:nvSpPr>
        <p:spPr>
          <a:xfrm>
            <a:off x="457200" y="1280160"/>
            <a:ext cx="8229600" cy="411480"/>
          </a:xfrm>
          <a:prstGeom prst="rect">
            <a:avLst/>
          </a:prstGeom>
          <a:noFill/>
          <a:ln/>
        </p:spPr>
        <p:txBody>
          <a:bodyPr wrap="square" lIns="0" tIns="0" rIns="0" bIns="0" rtlCol="0" anchor="t"/>
          <a:lstStyle/>
          <a:p>
            <a:pPr indent="0" marL="0">
              <a:buNone/>
            </a:pPr>
            <a:r>
              <a:rPr lang="en-US" sz="1300" dirty="0">
                <a:solidFill>
                  <a:schemeClr val="bg2"/>
                </a:solidFill>
              </a:rPr>
              <a:t>Build the symbol for the ion each element forms. (The lesson picks random elements; here are five to try together.)</a:t>
            </a:r>
            <a:endParaRPr lang="en-US" sz="1300" dirty="0"/>
          </a:p>
        </p:txBody>
      </p:sp>
      <p:sp>
        <p:nvSpPr>
          <p:cNvPr id="10" name="Calcium"/>
          <p:cNvSpPr/>
          <p:nvPr/>
        </p:nvSpPr>
        <p:spPr>
          <a:xfrm>
            <a:off x="457200" y="1783080"/>
            <a:ext cx="1554480" cy="2788920"/>
          </a:xfrm>
          <a:prstGeom prst="roundRect">
            <a:avLst>
              <a:gd name="adj" fmla="val 5882"/>
            </a:avLst>
          </a:prstGeom>
          <a:solidFill>
            <a:schemeClr val="tx2"/>
          </a:solidFill>
          <a:ln w="9525">
            <a:solidFill>
              <a:schemeClr val="bg2">
                <a:alpha val="30000"/>
              </a:schemeClr>
            </a:solidFill>
            <a:prstDash val="solid"/>
          </a:ln>
        </p:spPr>
      </p:sp>
      <p:sp>
        <p:nvSpPr>
          <p:cNvPr id="11" name="Tile Ca"/>
          <p:cNvSpPr/>
          <p:nvPr/>
        </p:nvSpPr>
        <p:spPr>
          <a:xfrm>
            <a:off x="566928" y="1911096"/>
            <a:ext cx="502920" cy="548640"/>
          </a:xfrm>
          <a:prstGeom prst="roundRect">
            <a:avLst>
              <a:gd name="adj" fmla="val 12000"/>
            </a:avLst>
          </a:prstGeom>
          <a:solidFill>
            <a:srgbClr val="FFCB5C">
              <a:alpha val="30000"/>
            </a:srgbClr>
          </a:solidFill>
          <a:ln w="19050">
            <a:solidFill>
              <a:srgbClr val="FFCB5C"/>
            </a:solidFill>
            <a:prstDash val="solid"/>
          </a:ln>
        </p:spPr>
      </p:sp>
      <p:sp>
        <p:nvSpPr>
          <p:cNvPr id="12" name="Text 10"/>
          <p:cNvSpPr txBox="1"/>
          <p:nvPr/>
        </p:nvSpPr>
        <p:spPr>
          <a:xfrm>
            <a:off x="607162" y="1938528"/>
            <a:ext cx="301752" cy="131674"/>
          </a:xfrm>
          <a:prstGeom prst="rect">
            <a:avLst/>
          </a:prstGeom>
          <a:noFill/>
          <a:ln/>
        </p:spPr>
        <p:txBody>
          <a:bodyPr wrap="square" lIns="0" tIns="0" rIns="0" bIns="0" rtlCol="0" anchor="t"/>
          <a:lstStyle/>
          <a:p>
            <a:pPr indent="0" marL="0">
              <a:buNone/>
            </a:pPr>
            <a:r>
              <a:rPr lang="en-US" sz="800" dirty="0">
                <a:solidFill>
                  <a:schemeClr val="bg2"/>
                </a:solidFill>
              </a:rPr>
              <a:t>20</a:t>
            </a:r>
            <a:endParaRPr lang="en-US" sz="800" dirty="0"/>
          </a:p>
        </p:txBody>
      </p:sp>
      <p:sp>
        <p:nvSpPr>
          <p:cNvPr id="13" name="Text 11"/>
          <p:cNvSpPr txBox="1"/>
          <p:nvPr/>
        </p:nvSpPr>
        <p:spPr>
          <a:xfrm>
            <a:off x="566928" y="1998878"/>
            <a:ext cx="502920" cy="438912"/>
          </a:xfrm>
          <a:prstGeom prst="rect">
            <a:avLst/>
          </a:prstGeom>
          <a:noFill/>
          <a:ln/>
        </p:spPr>
        <p:txBody>
          <a:bodyPr wrap="square" lIns="0" tIns="0" rIns="0" bIns="0" rtlCol="0" anchor="ctr"/>
          <a:lstStyle/>
          <a:p>
            <a:pPr algn="ctr" indent="0" marL="0">
              <a:buNone/>
            </a:pPr>
            <a:r>
              <a:rPr lang="en-US" sz="2000" b="1" dirty="0">
                <a:solidFill>
                  <a:schemeClr val="bg1"/>
                </a:solidFill>
              </a:rPr>
              <a:t>Ca</a:t>
            </a:r>
            <a:endParaRPr lang="en-US" sz="2000" dirty="0"/>
          </a:p>
        </p:txBody>
      </p:sp>
      <p:sp>
        <p:nvSpPr>
          <p:cNvPr id="14" name="Text 12"/>
          <p:cNvSpPr txBox="1"/>
          <p:nvPr/>
        </p:nvSpPr>
        <p:spPr>
          <a:xfrm>
            <a:off x="1133856" y="1911096"/>
            <a:ext cx="868680" cy="274320"/>
          </a:xfrm>
          <a:prstGeom prst="rect">
            <a:avLst/>
          </a:prstGeom>
          <a:noFill/>
          <a:ln/>
        </p:spPr>
        <p:txBody>
          <a:bodyPr wrap="square" lIns="0" tIns="0" rIns="0" bIns="0" rtlCol="0" anchor="t"/>
          <a:lstStyle/>
          <a:p>
            <a:pPr indent="0" marL="0">
              <a:buNone/>
            </a:pPr>
            <a:r>
              <a:rPr lang="en-US" sz="1200" b="1" dirty="0">
                <a:solidFill>
                  <a:schemeClr val="bg1"/>
                </a:solidFill>
              </a:rPr>
              <a:t>Calcium</a:t>
            </a:r>
            <a:endParaRPr lang="en-US" sz="1200" dirty="0"/>
          </a:p>
        </p:txBody>
      </p:sp>
      <p:sp>
        <p:nvSpPr>
          <p:cNvPr id="15" name="Text 13"/>
          <p:cNvSpPr txBox="1"/>
          <p:nvPr/>
        </p:nvSpPr>
        <p:spPr>
          <a:xfrm>
            <a:off x="1133856" y="2185416"/>
            <a:ext cx="868680" cy="237744"/>
          </a:xfrm>
          <a:prstGeom prst="rect">
            <a:avLst/>
          </a:prstGeom>
          <a:noFill/>
          <a:ln/>
        </p:spPr>
        <p:txBody>
          <a:bodyPr wrap="square" lIns="0" tIns="0" rIns="0" bIns="0" rtlCol="0" anchor="t"/>
          <a:lstStyle/>
          <a:p>
            <a:pPr indent="0" marL="0">
              <a:buNone/>
            </a:pPr>
            <a:r>
              <a:rPr lang="en-US" sz="1100" dirty="0">
                <a:solidFill>
                  <a:schemeClr val="bg2"/>
                </a:solidFill>
              </a:rPr>
              <a:t>Group 2</a:t>
            </a:r>
            <a:endParaRPr lang="en-US" sz="1100" dirty="0"/>
          </a:p>
        </p:txBody>
      </p:sp>
      <p:sp>
        <p:nvSpPr>
          <p:cNvPr id="16" name="Text 14"/>
          <p:cNvSpPr txBox="1"/>
          <p:nvPr/>
        </p:nvSpPr>
        <p:spPr>
          <a:xfrm>
            <a:off x="457200" y="2697480"/>
            <a:ext cx="1554480" cy="1005840"/>
          </a:xfrm>
          <a:prstGeom prst="rect">
            <a:avLst/>
          </a:prstGeom>
          <a:noFill/>
          <a:ln/>
        </p:spPr>
        <p:txBody>
          <a:bodyPr wrap="square" lIns="0" tIns="0" rIns="0" bIns="0" rtlCol="0" anchor="ctr"/>
          <a:lstStyle/>
          <a:p>
            <a:pPr algn="ctr" indent="0" marL="0">
              <a:buNone/>
            </a:pPr>
            <a:r>
              <a:rPr lang="en-US" sz="4400" b="1" dirty="0">
                <a:solidFill>
                  <a:schemeClr val="accent4"/>
                </a:solidFill>
              </a:rPr>
              <a:t>Ca</a:t>
            </a:r>
            <a:pPr algn="ctr" indent="0" marL="0">
              <a:buNone/>
            </a:pPr>
            <a:r>
              <a:rPr lang="en-US" sz="4400" b="1" baseline="30000" dirty="0">
                <a:solidFill>
                  <a:schemeClr val="accent4"/>
                </a:solidFill>
              </a:rPr>
              <a:t>2+</a:t>
            </a:r>
            <a:endParaRPr lang="en-US" sz="4400" dirty="0"/>
          </a:p>
        </p:txBody>
      </p:sp>
      <p:sp>
        <p:nvSpPr>
          <p:cNvPr id="17" name="Text 15"/>
          <p:cNvSpPr txBox="1"/>
          <p:nvPr/>
        </p:nvSpPr>
        <p:spPr>
          <a:xfrm>
            <a:off x="457200" y="3886200"/>
            <a:ext cx="1554480" cy="320040"/>
          </a:xfrm>
          <a:prstGeom prst="rect">
            <a:avLst/>
          </a:prstGeom>
          <a:noFill/>
          <a:ln/>
        </p:spPr>
        <p:txBody>
          <a:bodyPr wrap="square" lIns="0" tIns="0" rIns="0" bIns="0" rtlCol="0" anchor="t"/>
          <a:lstStyle/>
          <a:p>
            <a:pPr algn="ctr" indent="0" marL="0">
              <a:buNone/>
            </a:pPr>
            <a:r>
              <a:rPr lang="en-US" sz="1200" dirty="0">
                <a:solidFill>
                  <a:schemeClr val="bg2"/>
                </a:solidFill>
              </a:rPr>
              <a:t>loses 2</a:t>
            </a:r>
            <a:endParaRPr lang="en-US" sz="1200" dirty="0"/>
          </a:p>
        </p:txBody>
      </p:sp>
      <p:sp>
        <p:nvSpPr>
          <p:cNvPr id="18" name="Nitrogen"/>
          <p:cNvSpPr/>
          <p:nvPr/>
        </p:nvSpPr>
        <p:spPr>
          <a:xfrm>
            <a:off x="2121408" y="1783080"/>
            <a:ext cx="1554480" cy="2788920"/>
          </a:xfrm>
          <a:prstGeom prst="roundRect">
            <a:avLst>
              <a:gd name="adj" fmla="val 5882"/>
            </a:avLst>
          </a:prstGeom>
          <a:solidFill>
            <a:schemeClr val="tx2"/>
          </a:solidFill>
          <a:ln w="9525">
            <a:solidFill>
              <a:schemeClr val="bg2">
                <a:alpha val="30000"/>
              </a:schemeClr>
            </a:solidFill>
            <a:prstDash val="solid"/>
          </a:ln>
        </p:spPr>
      </p:sp>
      <p:sp>
        <p:nvSpPr>
          <p:cNvPr id="19" name="Tile N"/>
          <p:cNvSpPr/>
          <p:nvPr/>
        </p:nvSpPr>
        <p:spPr>
          <a:xfrm>
            <a:off x="2231136" y="1911096"/>
            <a:ext cx="502920" cy="548640"/>
          </a:xfrm>
          <a:prstGeom prst="roundRect">
            <a:avLst>
              <a:gd name="adj" fmla="val 12000"/>
            </a:avLst>
          </a:prstGeom>
          <a:solidFill>
            <a:srgbClr val="45C08F">
              <a:alpha val="30000"/>
            </a:srgbClr>
          </a:solidFill>
          <a:ln w="19050">
            <a:solidFill>
              <a:srgbClr val="45C08F"/>
            </a:solidFill>
            <a:prstDash val="solid"/>
          </a:ln>
        </p:spPr>
      </p:sp>
      <p:sp>
        <p:nvSpPr>
          <p:cNvPr id="20" name="Text 18"/>
          <p:cNvSpPr txBox="1"/>
          <p:nvPr/>
        </p:nvSpPr>
        <p:spPr>
          <a:xfrm>
            <a:off x="2271370" y="1938528"/>
            <a:ext cx="301752" cy="131674"/>
          </a:xfrm>
          <a:prstGeom prst="rect">
            <a:avLst/>
          </a:prstGeom>
          <a:noFill/>
          <a:ln/>
        </p:spPr>
        <p:txBody>
          <a:bodyPr wrap="square" lIns="0" tIns="0" rIns="0" bIns="0" rtlCol="0" anchor="t"/>
          <a:lstStyle/>
          <a:p>
            <a:pPr indent="0" marL="0">
              <a:buNone/>
            </a:pPr>
            <a:r>
              <a:rPr lang="en-US" sz="800" dirty="0">
                <a:solidFill>
                  <a:schemeClr val="bg2"/>
                </a:solidFill>
              </a:rPr>
              <a:t>7</a:t>
            </a:r>
            <a:endParaRPr lang="en-US" sz="800" dirty="0"/>
          </a:p>
        </p:txBody>
      </p:sp>
      <p:sp>
        <p:nvSpPr>
          <p:cNvPr id="21" name="Text 19"/>
          <p:cNvSpPr txBox="1"/>
          <p:nvPr/>
        </p:nvSpPr>
        <p:spPr>
          <a:xfrm>
            <a:off x="2231136" y="1998878"/>
            <a:ext cx="502920" cy="438912"/>
          </a:xfrm>
          <a:prstGeom prst="rect">
            <a:avLst/>
          </a:prstGeom>
          <a:noFill/>
          <a:ln/>
        </p:spPr>
        <p:txBody>
          <a:bodyPr wrap="square" lIns="0" tIns="0" rIns="0" bIns="0" rtlCol="0" anchor="ctr"/>
          <a:lstStyle/>
          <a:p>
            <a:pPr algn="ctr" indent="0" marL="0">
              <a:buNone/>
            </a:pPr>
            <a:r>
              <a:rPr lang="en-US" sz="2000" b="1" dirty="0">
                <a:solidFill>
                  <a:schemeClr val="bg1"/>
                </a:solidFill>
              </a:rPr>
              <a:t>N</a:t>
            </a:r>
            <a:endParaRPr lang="en-US" sz="2000" dirty="0"/>
          </a:p>
        </p:txBody>
      </p:sp>
      <p:sp>
        <p:nvSpPr>
          <p:cNvPr id="22" name="Text 20"/>
          <p:cNvSpPr txBox="1"/>
          <p:nvPr/>
        </p:nvSpPr>
        <p:spPr>
          <a:xfrm>
            <a:off x="2798064" y="1911096"/>
            <a:ext cx="868680" cy="274320"/>
          </a:xfrm>
          <a:prstGeom prst="rect">
            <a:avLst/>
          </a:prstGeom>
          <a:noFill/>
          <a:ln/>
        </p:spPr>
        <p:txBody>
          <a:bodyPr wrap="square" lIns="0" tIns="0" rIns="0" bIns="0" rtlCol="0" anchor="t"/>
          <a:lstStyle/>
          <a:p>
            <a:pPr indent="0" marL="0">
              <a:buNone/>
            </a:pPr>
            <a:r>
              <a:rPr lang="en-US" sz="1200" b="1" dirty="0">
                <a:solidFill>
                  <a:schemeClr val="bg1"/>
                </a:solidFill>
              </a:rPr>
              <a:t>Nitrogen</a:t>
            </a:r>
            <a:endParaRPr lang="en-US" sz="1200" dirty="0"/>
          </a:p>
        </p:txBody>
      </p:sp>
      <p:sp>
        <p:nvSpPr>
          <p:cNvPr id="23" name="Text 21"/>
          <p:cNvSpPr txBox="1"/>
          <p:nvPr/>
        </p:nvSpPr>
        <p:spPr>
          <a:xfrm>
            <a:off x="2798064" y="2185416"/>
            <a:ext cx="868680" cy="237744"/>
          </a:xfrm>
          <a:prstGeom prst="rect">
            <a:avLst/>
          </a:prstGeom>
          <a:noFill/>
          <a:ln/>
        </p:spPr>
        <p:txBody>
          <a:bodyPr wrap="square" lIns="0" tIns="0" rIns="0" bIns="0" rtlCol="0" anchor="t"/>
          <a:lstStyle/>
          <a:p>
            <a:pPr indent="0" marL="0">
              <a:buNone/>
            </a:pPr>
            <a:r>
              <a:rPr lang="en-US" sz="1100" dirty="0">
                <a:solidFill>
                  <a:schemeClr val="bg2"/>
                </a:solidFill>
              </a:rPr>
              <a:t>Group 15</a:t>
            </a:r>
            <a:endParaRPr lang="en-US" sz="1100" dirty="0"/>
          </a:p>
        </p:txBody>
      </p:sp>
      <p:sp>
        <p:nvSpPr>
          <p:cNvPr id="24" name="Text 22"/>
          <p:cNvSpPr txBox="1"/>
          <p:nvPr/>
        </p:nvSpPr>
        <p:spPr>
          <a:xfrm>
            <a:off x="2121408" y="2697480"/>
            <a:ext cx="1554480" cy="1005840"/>
          </a:xfrm>
          <a:prstGeom prst="rect">
            <a:avLst/>
          </a:prstGeom>
          <a:noFill/>
          <a:ln/>
        </p:spPr>
        <p:txBody>
          <a:bodyPr wrap="square" lIns="0" tIns="0" rIns="0" bIns="0" rtlCol="0" anchor="ctr"/>
          <a:lstStyle/>
          <a:p>
            <a:pPr algn="ctr" indent="0" marL="0">
              <a:buNone/>
            </a:pPr>
            <a:r>
              <a:rPr lang="en-US" sz="4400" b="1" dirty="0">
                <a:solidFill>
                  <a:schemeClr val="accent4"/>
                </a:solidFill>
              </a:rPr>
              <a:t>N</a:t>
            </a:r>
            <a:pPr algn="ctr" indent="0" marL="0">
              <a:buNone/>
            </a:pPr>
            <a:r>
              <a:rPr lang="en-US" sz="4400" b="1" baseline="30000" dirty="0">
                <a:solidFill>
                  <a:schemeClr val="accent4"/>
                </a:solidFill>
              </a:rPr>
              <a:t>3−</a:t>
            </a:r>
            <a:endParaRPr lang="en-US" sz="4400" dirty="0"/>
          </a:p>
        </p:txBody>
      </p:sp>
      <p:sp>
        <p:nvSpPr>
          <p:cNvPr id="25" name="Text 23"/>
          <p:cNvSpPr txBox="1"/>
          <p:nvPr/>
        </p:nvSpPr>
        <p:spPr>
          <a:xfrm>
            <a:off x="2121408" y="3886200"/>
            <a:ext cx="1554480" cy="320040"/>
          </a:xfrm>
          <a:prstGeom prst="rect">
            <a:avLst/>
          </a:prstGeom>
          <a:noFill/>
          <a:ln/>
        </p:spPr>
        <p:txBody>
          <a:bodyPr wrap="square" lIns="0" tIns="0" rIns="0" bIns="0" rtlCol="0" anchor="t"/>
          <a:lstStyle/>
          <a:p>
            <a:pPr algn="ctr" indent="0" marL="0">
              <a:buNone/>
            </a:pPr>
            <a:r>
              <a:rPr lang="en-US" sz="1200" dirty="0">
                <a:solidFill>
                  <a:schemeClr val="bg2"/>
                </a:solidFill>
              </a:rPr>
              <a:t>gains 3</a:t>
            </a:r>
            <a:endParaRPr lang="en-US" sz="1200" dirty="0"/>
          </a:p>
        </p:txBody>
      </p:sp>
      <p:sp>
        <p:nvSpPr>
          <p:cNvPr id="26" name="Potassium"/>
          <p:cNvSpPr/>
          <p:nvPr/>
        </p:nvSpPr>
        <p:spPr>
          <a:xfrm>
            <a:off x="3785616" y="1783080"/>
            <a:ext cx="1554480" cy="2788920"/>
          </a:xfrm>
          <a:prstGeom prst="roundRect">
            <a:avLst>
              <a:gd name="adj" fmla="val 5882"/>
            </a:avLst>
          </a:prstGeom>
          <a:solidFill>
            <a:schemeClr val="tx2"/>
          </a:solidFill>
          <a:ln w="9525">
            <a:solidFill>
              <a:schemeClr val="bg2">
                <a:alpha val="30000"/>
              </a:schemeClr>
            </a:solidFill>
            <a:prstDash val="solid"/>
          </a:ln>
        </p:spPr>
      </p:sp>
      <p:sp>
        <p:nvSpPr>
          <p:cNvPr id="27" name="Tile K"/>
          <p:cNvSpPr/>
          <p:nvPr/>
        </p:nvSpPr>
        <p:spPr>
          <a:xfrm>
            <a:off x="3895344" y="1911096"/>
            <a:ext cx="502920" cy="548640"/>
          </a:xfrm>
          <a:prstGeom prst="roundRect">
            <a:avLst>
              <a:gd name="adj" fmla="val 12000"/>
            </a:avLst>
          </a:prstGeom>
          <a:solidFill>
            <a:srgbClr val="FF8F5E">
              <a:alpha val="30000"/>
            </a:srgbClr>
          </a:solidFill>
          <a:ln w="19050">
            <a:solidFill>
              <a:srgbClr val="FF8F5E"/>
            </a:solidFill>
            <a:prstDash val="solid"/>
          </a:ln>
        </p:spPr>
      </p:sp>
      <p:sp>
        <p:nvSpPr>
          <p:cNvPr id="28" name="Text 26"/>
          <p:cNvSpPr txBox="1"/>
          <p:nvPr/>
        </p:nvSpPr>
        <p:spPr>
          <a:xfrm>
            <a:off x="3935578" y="1938528"/>
            <a:ext cx="301752" cy="131674"/>
          </a:xfrm>
          <a:prstGeom prst="rect">
            <a:avLst/>
          </a:prstGeom>
          <a:noFill/>
          <a:ln/>
        </p:spPr>
        <p:txBody>
          <a:bodyPr wrap="square" lIns="0" tIns="0" rIns="0" bIns="0" rtlCol="0" anchor="t"/>
          <a:lstStyle/>
          <a:p>
            <a:pPr indent="0" marL="0">
              <a:buNone/>
            </a:pPr>
            <a:r>
              <a:rPr lang="en-US" sz="800" dirty="0">
                <a:solidFill>
                  <a:schemeClr val="bg2"/>
                </a:solidFill>
              </a:rPr>
              <a:t>19</a:t>
            </a:r>
            <a:endParaRPr lang="en-US" sz="800" dirty="0"/>
          </a:p>
        </p:txBody>
      </p:sp>
      <p:sp>
        <p:nvSpPr>
          <p:cNvPr id="29" name="Text 27"/>
          <p:cNvSpPr txBox="1"/>
          <p:nvPr/>
        </p:nvSpPr>
        <p:spPr>
          <a:xfrm>
            <a:off x="3895344" y="1998878"/>
            <a:ext cx="502920" cy="438912"/>
          </a:xfrm>
          <a:prstGeom prst="rect">
            <a:avLst/>
          </a:prstGeom>
          <a:noFill/>
          <a:ln/>
        </p:spPr>
        <p:txBody>
          <a:bodyPr wrap="square" lIns="0" tIns="0" rIns="0" bIns="0" rtlCol="0" anchor="ctr"/>
          <a:lstStyle/>
          <a:p>
            <a:pPr algn="ctr" indent="0" marL="0">
              <a:buNone/>
            </a:pPr>
            <a:r>
              <a:rPr lang="en-US" sz="2000" b="1" dirty="0">
                <a:solidFill>
                  <a:schemeClr val="bg1"/>
                </a:solidFill>
              </a:rPr>
              <a:t>K</a:t>
            </a:r>
            <a:endParaRPr lang="en-US" sz="2000" dirty="0"/>
          </a:p>
        </p:txBody>
      </p:sp>
      <p:sp>
        <p:nvSpPr>
          <p:cNvPr id="30" name="Text 28"/>
          <p:cNvSpPr txBox="1"/>
          <p:nvPr/>
        </p:nvSpPr>
        <p:spPr>
          <a:xfrm>
            <a:off x="4462272" y="1911096"/>
            <a:ext cx="868680" cy="274320"/>
          </a:xfrm>
          <a:prstGeom prst="rect">
            <a:avLst/>
          </a:prstGeom>
          <a:noFill/>
          <a:ln/>
        </p:spPr>
        <p:txBody>
          <a:bodyPr wrap="square" lIns="0" tIns="0" rIns="0" bIns="0" rtlCol="0" anchor="t"/>
          <a:lstStyle/>
          <a:p>
            <a:pPr indent="0" marL="0">
              <a:buNone/>
            </a:pPr>
            <a:r>
              <a:rPr lang="en-US" sz="1200" b="1" dirty="0">
                <a:solidFill>
                  <a:schemeClr val="bg1"/>
                </a:solidFill>
              </a:rPr>
              <a:t>Potassium</a:t>
            </a:r>
            <a:endParaRPr lang="en-US" sz="1200" dirty="0"/>
          </a:p>
        </p:txBody>
      </p:sp>
      <p:sp>
        <p:nvSpPr>
          <p:cNvPr id="31" name="Text 29"/>
          <p:cNvSpPr txBox="1"/>
          <p:nvPr/>
        </p:nvSpPr>
        <p:spPr>
          <a:xfrm>
            <a:off x="4462272" y="2185416"/>
            <a:ext cx="868680" cy="237744"/>
          </a:xfrm>
          <a:prstGeom prst="rect">
            <a:avLst/>
          </a:prstGeom>
          <a:noFill/>
          <a:ln/>
        </p:spPr>
        <p:txBody>
          <a:bodyPr wrap="square" lIns="0" tIns="0" rIns="0" bIns="0" rtlCol="0" anchor="t"/>
          <a:lstStyle/>
          <a:p>
            <a:pPr indent="0" marL="0">
              <a:buNone/>
            </a:pPr>
            <a:r>
              <a:rPr lang="en-US" sz="1100" dirty="0">
                <a:solidFill>
                  <a:schemeClr val="bg2"/>
                </a:solidFill>
              </a:rPr>
              <a:t>Group 1</a:t>
            </a:r>
            <a:endParaRPr lang="en-US" sz="1100" dirty="0"/>
          </a:p>
        </p:txBody>
      </p:sp>
      <p:sp>
        <p:nvSpPr>
          <p:cNvPr id="32" name="Text 30"/>
          <p:cNvSpPr txBox="1"/>
          <p:nvPr/>
        </p:nvSpPr>
        <p:spPr>
          <a:xfrm>
            <a:off x="3785616" y="2697480"/>
            <a:ext cx="1554480" cy="1005840"/>
          </a:xfrm>
          <a:prstGeom prst="rect">
            <a:avLst/>
          </a:prstGeom>
          <a:noFill/>
          <a:ln/>
        </p:spPr>
        <p:txBody>
          <a:bodyPr wrap="square" lIns="0" tIns="0" rIns="0" bIns="0" rtlCol="0" anchor="ctr"/>
          <a:lstStyle/>
          <a:p>
            <a:pPr algn="ctr" indent="0" marL="0">
              <a:buNone/>
            </a:pPr>
            <a:r>
              <a:rPr lang="en-US" sz="4400" b="1" dirty="0">
                <a:solidFill>
                  <a:schemeClr val="accent4"/>
                </a:solidFill>
              </a:rPr>
              <a:t>K</a:t>
            </a:r>
            <a:pPr algn="ctr" indent="0" marL="0">
              <a:buNone/>
            </a:pPr>
            <a:r>
              <a:rPr lang="en-US" sz="4400" b="1" baseline="30000" dirty="0">
                <a:solidFill>
                  <a:schemeClr val="accent4"/>
                </a:solidFill>
              </a:rPr>
              <a:t>+</a:t>
            </a:r>
            <a:endParaRPr lang="en-US" sz="4400" dirty="0"/>
          </a:p>
        </p:txBody>
      </p:sp>
      <p:sp>
        <p:nvSpPr>
          <p:cNvPr id="33" name="Text 31"/>
          <p:cNvSpPr txBox="1"/>
          <p:nvPr/>
        </p:nvSpPr>
        <p:spPr>
          <a:xfrm>
            <a:off x="3785616" y="3886200"/>
            <a:ext cx="1554480" cy="320040"/>
          </a:xfrm>
          <a:prstGeom prst="rect">
            <a:avLst/>
          </a:prstGeom>
          <a:noFill/>
          <a:ln/>
        </p:spPr>
        <p:txBody>
          <a:bodyPr wrap="square" lIns="0" tIns="0" rIns="0" bIns="0" rtlCol="0" anchor="t"/>
          <a:lstStyle/>
          <a:p>
            <a:pPr algn="ctr" indent="0" marL="0">
              <a:buNone/>
            </a:pPr>
            <a:r>
              <a:rPr lang="en-US" sz="1200" dirty="0">
                <a:solidFill>
                  <a:schemeClr val="bg2"/>
                </a:solidFill>
              </a:rPr>
              <a:t>loses 1</a:t>
            </a:r>
            <a:endParaRPr lang="en-US" sz="1200" dirty="0"/>
          </a:p>
        </p:txBody>
      </p:sp>
      <p:sp>
        <p:nvSpPr>
          <p:cNvPr id="34" name="Sulfur"/>
          <p:cNvSpPr/>
          <p:nvPr/>
        </p:nvSpPr>
        <p:spPr>
          <a:xfrm>
            <a:off x="5449824" y="1783080"/>
            <a:ext cx="1554480" cy="2788920"/>
          </a:xfrm>
          <a:prstGeom prst="roundRect">
            <a:avLst>
              <a:gd name="adj" fmla="val 5882"/>
            </a:avLst>
          </a:prstGeom>
          <a:solidFill>
            <a:schemeClr val="tx2"/>
          </a:solidFill>
          <a:ln w="9525">
            <a:solidFill>
              <a:schemeClr val="bg2">
                <a:alpha val="30000"/>
              </a:schemeClr>
            </a:solidFill>
            <a:prstDash val="solid"/>
          </a:ln>
        </p:spPr>
      </p:sp>
      <p:sp>
        <p:nvSpPr>
          <p:cNvPr id="35" name="Tile S"/>
          <p:cNvSpPr/>
          <p:nvPr/>
        </p:nvSpPr>
        <p:spPr>
          <a:xfrm>
            <a:off x="5559552" y="1911096"/>
            <a:ext cx="502920" cy="548640"/>
          </a:xfrm>
          <a:prstGeom prst="roundRect">
            <a:avLst>
              <a:gd name="adj" fmla="val 12000"/>
            </a:avLst>
          </a:prstGeom>
          <a:solidFill>
            <a:srgbClr val="45C08F">
              <a:alpha val="30000"/>
            </a:srgbClr>
          </a:solidFill>
          <a:ln w="19050">
            <a:solidFill>
              <a:srgbClr val="45C08F"/>
            </a:solidFill>
            <a:prstDash val="solid"/>
          </a:ln>
        </p:spPr>
      </p:sp>
      <p:sp>
        <p:nvSpPr>
          <p:cNvPr id="36" name="Text 34"/>
          <p:cNvSpPr txBox="1"/>
          <p:nvPr/>
        </p:nvSpPr>
        <p:spPr>
          <a:xfrm>
            <a:off x="5599786" y="1938528"/>
            <a:ext cx="301752" cy="131674"/>
          </a:xfrm>
          <a:prstGeom prst="rect">
            <a:avLst/>
          </a:prstGeom>
          <a:noFill/>
          <a:ln/>
        </p:spPr>
        <p:txBody>
          <a:bodyPr wrap="square" lIns="0" tIns="0" rIns="0" bIns="0" rtlCol="0" anchor="t"/>
          <a:lstStyle/>
          <a:p>
            <a:pPr indent="0" marL="0">
              <a:buNone/>
            </a:pPr>
            <a:r>
              <a:rPr lang="en-US" sz="800" dirty="0">
                <a:solidFill>
                  <a:schemeClr val="bg2"/>
                </a:solidFill>
              </a:rPr>
              <a:t>16</a:t>
            </a:r>
            <a:endParaRPr lang="en-US" sz="800" dirty="0"/>
          </a:p>
        </p:txBody>
      </p:sp>
      <p:sp>
        <p:nvSpPr>
          <p:cNvPr id="37" name="Text 35"/>
          <p:cNvSpPr txBox="1"/>
          <p:nvPr/>
        </p:nvSpPr>
        <p:spPr>
          <a:xfrm>
            <a:off x="5559552" y="1998878"/>
            <a:ext cx="502920" cy="438912"/>
          </a:xfrm>
          <a:prstGeom prst="rect">
            <a:avLst/>
          </a:prstGeom>
          <a:noFill/>
          <a:ln/>
        </p:spPr>
        <p:txBody>
          <a:bodyPr wrap="square" lIns="0" tIns="0" rIns="0" bIns="0" rtlCol="0" anchor="ctr"/>
          <a:lstStyle/>
          <a:p>
            <a:pPr algn="ctr" indent="0" marL="0">
              <a:buNone/>
            </a:pPr>
            <a:r>
              <a:rPr lang="en-US" sz="2000" b="1" dirty="0">
                <a:solidFill>
                  <a:schemeClr val="bg1"/>
                </a:solidFill>
              </a:rPr>
              <a:t>S</a:t>
            </a:r>
            <a:endParaRPr lang="en-US" sz="2000" dirty="0"/>
          </a:p>
        </p:txBody>
      </p:sp>
      <p:sp>
        <p:nvSpPr>
          <p:cNvPr id="38" name="Text 36"/>
          <p:cNvSpPr txBox="1"/>
          <p:nvPr/>
        </p:nvSpPr>
        <p:spPr>
          <a:xfrm>
            <a:off x="6126480" y="1911096"/>
            <a:ext cx="868680" cy="274320"/>
          </a:xfrm>
          <a:prstGeom prst="rect">
            <a:avLst/>
          </a:prstGeom>
          <a:noFill/>
          <a:ln/>
        </p:spPr>
        <p:txBody>
          <a:bodyPr wrap="square" lIns="0" tIns="0" rIns="0" bIns="0" rtlCol="0" anchor="t"/>
          <a:lstStyle/>
          <a:p>
            <a:pPr indent="0" marL="0">
              <a:buNone/>
            </a:pPr>
            <a:r>
              <a:rPr lang="en-US" sz="1200" b="1" dirty="0">
                <a:solidFill>
                  <a:schemeClr val="bg1"/>
                </a:solidFill>
              </a:rPr>
              <a:t>Sulfur</a:t>
            </a:r>
            <a:endParaRPr lang="en-US" sz="1200" dirty="0"/>
          </a:p>
        </p:txBody>
      </p:sp>
      <p:sp>
        <p:nvSpPr>
          <p:cNvPr id="39" name="Text 37"/>
          <p:cNvSpPr txBox="1"/>
          <p:nvPr/>
        </p:nvSpPr>
        <p:spPr>
          <a:xfrm>
            <a:off x="6126480" y="2185416"/>
            <a:ext cx="868680" cy="237744"/>
          </a:xfrm>
          <a:prstGeom prst="rect">
            <a:avLst/>
          </a:prstGeom>
          <a:noFill/>
          <a:ln/>
        </p:spPr>
        <p:txBody>
          <a:bodyPr wrap="square" lIns="0" tIns="0" rIns="0" bIns="0" rtlCol="0" anchor="t"/>
          <a:lstStyle/>
          <a:p>
            <a:pPr indent="0" marL="0">
              <a:buNone/>
            </a:pPr>
            <a:r>
              <a:rPr lang="en-US" sz="1100" dirty="0">
                <a:solidFill>
                  <a:schemeClr val="bg2"/>
                </a:solidFill>
              </a:rPr>
              <a:t>Group 16</a:t>
            </a:r>
            <a:endParaRPr lang="en-US" sz="1100" dirty="0"/>
          </a:p>
        </p:txBody>
      </p:sp>
      <p:sp>
        <p:nvSpPr>
          <p:cNvPr id="40" name="Text 38"/>
          <p:cNvSpPr txBox="1"/>
          <p:nvPr/>
        </p:nvSpPr>
        <p:spPr>
          <a:xfrm>
            <a:off x="5449824" y="2697480"/>
            <a:ext cx="1554480" cy="1005840"/>
          </a:xfrm>
          <a:prstGeom prst="rect">
            <a:avLst/>
          </a:prstGeom>
          <a:noFill/>
          <a:ln/>
        </p:spPr>
        <p:txBody>
          <a:bodyPr wrap="square" lIns="0" tIns="0" rIns="0" bIns="0" rtlCol="0" anchor="ctr"/>
          <a:lstStyle/>
          <a:p>
            <a:pPr algn="ctr" indent="0" marL="0">
              <a:buNone/>
            </a:pPr>
            <a:r>
              <a:rPr lang="en-US" sz="4400" b="1" dirty="0">
                <a:solidFill>
                  <a:schemeClr val="accent4"/>
                </a:solidFill>
              </a:rPr>
              <a:t>S</a:t>
            </a:r>
            <a:pPr algn="ctr" indent="0" marL="0">
              <a:buNone/>
            </a:pPr>
            <a:r>
              <a:rPr lang="en-US" sz="4400" b="1" baseline="30000" dirty="0">
                <a:solidFill>
                  <a:schemeClr val="accent4"/>
                </a:solidFill>
              </a:rPr>
              <a:t>2−</a:t>
            </a:r>
            <a:endParaRPr lang="en-US" sz="4400" dirty="0"/>
          </a:p>
        </p:txBody>
      </p:sp>
      <p:sp>
        <p:nvSpPr>
          <p:cNvPr id="41" name="Text 39"/>
          <p:cNvSpPr txBox="1"/>
          <p:nvPr/>
        </p:nvSpPr>
        <p:spPr>
          <a:xfrm>
            <a:off x="5449824" y="3886200"/>
            <a:ext cx="1554480" cy="320040"/>
          </a:xfrm>
          <a:prstGeom prst="rect">
            <a:avLst/>
          </a:prstGeom>
          <a:noFill/>
          <a:ln/>
        </p:spPr>
        <p:txBody>
          <a:bodyPr wrap="square" lIns="0" tIns="0" rIns="0" bIns="0" rtlCol="0" anchor="t"/>
          <a:lstStyle/>
          <a:p>
            <a:pPr algn="ctr" indent="0" marL="0">
              <a:buNone/>
            </a:pPr>
            <a:r>
              <a:rPr lang="en-US" sz="1200" dirty="0">
                <a:solidFill>
                  <a:schemeClr val="bg2"/>
                </a:solidFill>
              </a:rPr>
              <a:t>gains 2</a:t>
            </a:r>
            <a:endParaRPr lang="en-US" sz="1200" dirty="0"/>
          </a:p>
        </p:txBody>
      </p:sp>
      <p:sp>
        <p:nvSpPr>
          <p:cNvPr id="42" name="Aluminum"/>
          <p:cNvSpPr/>
          <p:nvPr/>
        </p:nvSpPr>
        <p:spPr>
          <a:xfrm>
            <a:off x="7114032" y="1783080"/>
            <a:ext cx="1554480" cy="2788920"/>
          </a:xfrm>
          <a:prstGeom prst="roundRect">
            <a:avLst>
              <a:gd name="adj" fmla="val 5882"/>
            </a:avLst>
          </a:prstGeom>
          <a:solidFill>
            <a:schemeClr val="tx2"/>
          </a:solidFill>
          <a:ln w="9525">
            <a:solidFill>
              <a:schemeClr val="bg2">
                <a:alpha val="30000"/>
              </a:schemeClr>
            </a:solidFill>
            <a:prstDash val="solid"/>
          </a:ln>
        </p:spPr>
      </p:sp>
      <p:sp>
        <p:nvSpPr>
          <p:cNvPr id="43" name="Tile Al"/>
          <p:cNvSpPr/>
          <p:nvPr/>
        </p:nvSpPr>
        <p:spPr>
          <a:xfrm>
            <a:off x="7223760" y="1911096"/>
            <a:ext cx="502920" cy="548640"/>
          </a:xfrm>
          <a:prstGeom prst="roundRect">
            <a:avLst>
              <a:gd name="adj" fmla="val 12000"/>
            </a:avLst>
          </a:prstGeom>
          <a:solidFill>
            <a:srgbClr val="8EA8CC">
              <a:alpha val="30000"/>
            </a:srgbClr>
          </a:solidFill>
          <a:ln w="19050">
            <a:solidFill>
              <a:srgbClr val="8EA8CC"/>
            </a:solidFill>
            <a:prstDash val="solid"/>
          </a:ln>
        </p:spPr>
      </p:sp>
      <p:sp>
        <p:nvSpPr>
          <p:cNvPr id="44" name="Text 42"/>
          <p:cNvSpPr txBox="1"/>
          <p:nvPr/>
        </p:nvSpPr>
        <p:spPr>
          <a:xfrm>
            <a:off x="7263994" y="1938528"/>
            <a:ext cx="301752" cy="131674"/>
          </a:xfrm>
          <a:prstGeom prst="rect">
            <a:avLst/>
          </a:prstGeom>
          <a:noFill/>
          <a:ln/>
        </p:spPr>
        <p:txBody>
          <a:bodyPr wrap="square" lIns="0" tIns="0" rIns="0" bIns="0" rtlCol="0" anchor="t"/>
          <a:lstStyle/>
          <a:p>
            <a:pPr indent="0" marL="0">
              <a:buNone/>
            </a:pPr>
            <a:r>
              <a:rPr lang="en-US" sz="800" dirty="0">
                <a:solidFill>
                  <a:schemeClr val="bg2"/>
                </a:solidFill>
              </a:rPr>
              <a:t>13</a:t>
            </a:r>
            <a:endParaRPr lang="en-US" sz="800" dirty="0"/>
          </a:p>
        </p:txBody>
      </p:sp>
      <p:sp>
        <p:nvSpPr>
          <p:cNvPr id="45" name="Text 43"/>
          <p:cNvSpPr txBox="1"/>
          <p:nvPr/>
        </p:nvSpPr>
        <p:spPr>
          <a:xfrm>
            <a:off x="7223760" y="1998878"/>
            <a:ext cx="502920" cy="438912"/>
          </a:xfrm>
          <a:prstGeom prst="rect">
            <a:avLst/>
          </a:prstGeom>
          <a:noFill/>
          <a:ln/>
        </p:spPr>
        <p:txBody>
          <a:bodyPr wrap="square" lIns="0" tIns="0" rIns="0" bIns="0" rtlCol="0" anchor="ctr"/>
          <a:lstStyle/>
          <a:p>
            <a:pPr algn="ctr" indent="0" marL="0">
              <a:buNone/>
            </a:pPr>
            <a:r>
              <a:rPr lang="en-US" sz="2000" b="1" dirty="0">
                <a:solidFill>
                  <a:schemeClr val="bg1"/>
                </a:solidFill>
              </a:rPr>
              <a:t>Al</a:t>
            </a:r>
            <a:endParaRPr lang="en-US" sz="2000" dirty="0"/>
          </a:p>
        </p:txBody>
      </p:sp>
      <p:sp>
        <p:nvSpPr>
          <p:cNvPr id="46" name="Text 44"/>
          <p:cNvSpPr txBox="1"/>
          <p:nvPr/>
        </p:nvSpPr>
        <p:spPr>
          <a:xfrm>
            <a:off x="7790688" y="1911096"/>
            <a:ext cx="868680" cy="274320"/>
          </a:xfrm>
          <a:prstGeom prst="rect">
            <a:avLst/>
          </a:prstGeom>
          <a:noFill/>
          <a:ln/>
        </p:spPr>
        <p:txBody>
          <a:bodyPr wrap="square" lIns="0" tIns="0" rIns="0" bIns="0" rtlCol="0" anchor="t"/>
          <a:lstStyle/>
          <a:p>
            <a:pPr indent="0" marL="0">
              <a:buNone/>
            </a:pPr>
            <a:r>
              <a:rPr lang="en-US" sz="1200" b="1" dirty="0">
                <a:solidFill>
                  <a:schemeClr val="bg1"/>
                </a:solidFill>
              </a:rPr>
              <a:t>Aluminum</a:t>
            </a:r>
            <a:endParaRPr lang="en-US" sz="1200" dirty="0"/>
          </a:p>
        </p:txBody>
      </p:sp>
      <p:sp>
        <p:nvSpPr>
          <p:cNvPr id="47" name="Text 45"/>
          <p:cNvSpPr txBox="1"/>
          <p:nvPr/>
        </p:nvSpPr>
        <p:spPr>
          <a:xfrm>
            <a:off x="7790688" y="2185416"/>
            <a:ext cx="868680" cy="237744"/>
          </a:xfrm>
          <a:prstGeom prst="rect">
            <a:avLst/>
          </a:prstGeom>
          <a:noFill/>
          <a:ln/>
        </p:spPr>
        <p:txBody>
          <a:bodyPr wrap="square" lIns="0" tIns="0" rIns="0" bIns="0" rtlCol="0" anchor="t"/>
          <a:lstStyle/>
          <a:p>
            <a:pPr indent="0" marL="0">
              <a:buNone/>
            </a:pPr>
            <a:r>
              <a:rPr lang="en-US" sz="1100" dirty="0">
                <a:solidFill>
                  <a:schemeClr val="bg2"/>
                </a:solidFill>
              </a:rPr>
              <a:t>Group 13</a:t>
            </a:r>
            <a:endParaRPr lang="en-US" sz="1100" dirty="0"/>
          </a:p>
        </p:txBody>
      </p:sp>
      <p:sp>
        <p:nvSpPr>
          <p:cNvPr id="48" name="Text 46"/>
          <p:cNvSpPr txBox="1"/>
          <p:nvPr/>
        </p:nvSpPr>
        <p:spPr>
          <a:xfrm>
            <a:off x="7114032" y="2697480"/>
            <a:ext cx="1554480" cy="1005840"/>
          </a:xfrm>
          <a:prstGeom prst="rect">
            <a:avLst/>
          </a:prstGeom>
          <a:noFill/>
          <a:ln/>
        </p:spPr>
        <p:txBody>
          <a:bodyPr wrap="square" lIns="0" tIns="0" rIns="0" bIns="0" rtlCol="0" anchor="ctr"/>
          <a:lstStyle/>
          <a:p>
            <a:pPr algn="ctr" indent="0" marL="0">
              <a:buNone/>
            </a:pPr>
            <a:r>
              <a:rPr lang="en-US" sz="4400" b="1" dirty="0">
                <a:solidFill>
                  <a:schemeClr val="accent4"/>
                </a:solidFill>
              </a:rPr>
              <a:t>Al</a:t>
            </a:r>
            <a:pPr algn="ctr" indent="0" marL="0">
              <a:buNone/>
            </a:pPr>
            <a:r>
              <a:rPr lang="en-US" sz="4400" b="1" baseline="30000" dirty="0">
                <a:solidFill>
                  <a:schemeClr val="accent4"/>
                </a:solidFill>
              </a:rPr>
              <a:t>3+</a:t>
            </a:r>
            <a:endParaRPr lang="en-US" sz="4400" dirty="0"/>
          </a:p>
        </p:txBody>
      </p:sp>
      <p:sp>
        <p:nvSpPr>
          <p:cNvPr id="49" name="Text 47"/>
          <p:cNvSpPr txBox="1"/>
          <p:nvPr/>
        </p:nvSpPr>
        <p:spPr>
          <a:xfrm>
            <a:off x="7114032" y="3886200"/>
            <a:ext cx="1554480" cy="320040"/>
          </a:xfrm>
          <a:prstGeom prst="rect">
            <a:avLst/>
          </a:prstGeom>
          <a:noFill/>
          <a:ln/>
        </p:spPr>
        <p:txBody>
          <a:bodyPr wrap="square" lIns="0" tIns="0" rIns="0" bIns="0" rtlCol="0" anchor="t"/>
          <a:lstStyle/>
          <a:p>
            <a:pPr algn="ctr" indent="0" marL="0">
              <a:buNone/>
            </a:pPr>
            <a:r>
              <a:rPr lang="en-US" sz="1200" dirty="0">
                <a:solidFill>
                  <a:schemeClr val="bg2"/>
                </a:solidFill>
              </a:rPr>
              <a:t>loses 3</a:t>
            </a:r>
            <a:endParaRPr lang="en-US" sz="12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ection tile 5"/>
          <p:cNvSpPr/>
          <p:nvPr/>
        </p:nvSpPr>
        <p:spPr>
          <a:xfrm>
            <a:off x="457200" y="301752"/>
            <a:ext cx="749808" cy="841248"/>
          </a:xfrm>
          <a:prstGeom prst="roundRect">
            <a:avLst>
              <a:gd name="adj" fmla="val 12000"/>
            </a:avLst>
          </a:prstGeom>
          <a:solidFill>
            <a:srgbClr val="F472B6">
              <a:alpha val="28000"/>
            </a:srgbClr>
          </a:solidFill>
          <a:ln w="19050">
            <a:solidFill>
              <a:srgbClr val="F472B6"/>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5</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2400" b="1" dirty="0">
                <a:solidFill>
                  <a:schemeClr val="bg1"/>
                </a:solidFill>
              </a:rPr>
              <a:t>O</a:t>
            </a:r>
            <a:pPr algn="ctr" indent="0" marL="0">
              <a:buNone/>
            </a:pPr>
            <a:r>
              <a:rPr lang="en-US" sz="2400" b="1" baseline="30000" dirty="0">
                <a:solidFill>
                  <a:schemeClr val="bg1"/>
                </a:solidFill>
              </a:rPr>
              <a:t>2−</a:t>
            </a:r>
            <a:endParaRPr lang="en-US" sz="2400" dirty="0"/>
          </a:p>
        </p:txBody>
      </p:sp>
      <p:sp>
        <p:nvSpPr>
          <p:cNvPr id="5" name="Text 3"/>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6" name="Text 4"/>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5 of 9</a:t>
            </a:r>
            <a:endParaRPr lang="en-US" sz="1200" dirty="0"/>
          </a:p>
        </p:txBody>
      </p:sp>
      <p:sp>
        <p:nvSpPr>
          <p:cNvPr id="7"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Match the names</a:t>
            </a:r>
            <a:endParaRPr lang="en-US" sz="2800" dirty="0"/>
          </a:p>
        </p:txBody>
      </p:sp>
      <p:sp>
        <p:nvSpPr>
          <p:cNvPr id="8" name="Text 6"/>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Drag each ion to its name, or tap an ion and then tap a name.</a:t>
            </a:r>
            <a:endParaRPr lang="en-US" sz="1300" dirty="0"/>
          </a:p>
        </p:txBody>
      </p:sp>
      <p:sp>
        <p:nvSpPr>
          <p:cNvPr id="9" name="Text 7"/>
          <p:cNvSpPr/>
          <p:nvPr/>
        </p:nvSpPr>
        <p:spPr>
          <a:xfrm>
            <a:off x="457200" y="1691640"/>
            <a:ext cx="1261872" cy="548640"/>
          </a:xfrm>
          <a:prstGeom prst="roundRect">
            <a:avLst>
              <a:gd name="adj" fmla="val 13333"/>
            </a:avLst>
          </a:prstGeom>
          <a:solidFill>
            <a:schemeClr val="tx2"/>
          </a:solidFill>
          <a:ln w="9525">
            <a:solidFill>
              <a:schemeClr val="bg2">
                <a:alpha val="60000"/>
              </a:schemeClr>
            </a:solidFill>
          </a:ln>
        </p:spPr>
        <p:txBody>
          <a:bodyPr wrap="square" lIns="0" tIns="0" rIns="0" bIns="0" rtlCol="0" anchor="ctr"/>
          <a:lstStyle/>
          <a:p>
            <a:pPr algn="ctr" indent="0" marL="0">
              <a:buNone/>
            </a:pPr>
            <a:r>
              <a:rPr lang="en-US" sz="2200" b="1" dirty="0">
                <a:solidFill>
                  <a:schemeClr val="bg1"/>
                </a:solidFill>
              </a:rPr>
              <a:t>S</a:t>
            </a:r>
            <a:pPr algn="ctr" indent="0" marL="0">
              <a:buNone/>
            </a:pPr>
            <a:r>
              <a:rPr lang="en-US" sz="2200" b="1" baseline="30000" dirty="0">
                <a:solidFill>
                  <a:schemeClr val="bg1"/>
                </a:solidFill>
              </a:rPr>
              <a:t>2−</a:t>
            </a:r>
            <a:endParaRPr lang="en-US" sz="2200" dirty="0"/>
          </a:p>
        </p:txBody>
      </p:sp>
      <p:sp>
        <p:nvSpPr>
          <p:cNvPr id="10" name="Text 8"/>
          <p:cNvSpPr/>
          <p:nvPr/>
        </p:nvSpPr>
        <p:spPr>
          <a:xfrm>
            <a:off x="1856232" y="1691640"/>
            <a:ext cx="1261872" cy="548640"/>
          </a:xfrm>
          <a:prstGeom prst="roundRect">
            <a:avLst>
              <a:gd name="adj" fmla="val 13333"/>
            </a:avLst>
          </a:prstGeom>
          <a:solidFill>
            <a:schemeClr val="tx2"/>
          </a:solidFill>
          <a:ln w="9525">
            <a:solidFill>
              <a:schemeClr val="bg2">
                <a:alpha val="60000"/>
              </a:schemeClr>
            </a:solidFill>
          </a:ln>
        </p:spPr>
        <p:txBody>
          <a:bodyPr wrap="square" lIns="0" tIns="0" rIns="0" bIns="0" rtlCol="0" anchor="ctr"/>
          <a:lstStyle/>
          <a:p>
            <a:pPr algn="ctr" indent="0" marL="0">
              <a:buNone/>
            </a:pPr>
            <a:r>
              <a:rPr lang="en-US" sz="2200" b="1" dirty="0">
                <a:solidFill>
                  <a:schemeClr val="bg1"/>
                </a:solidFill>
              </a:rPr>
              <a:t>Mg</a:t>
            </a:r>
            <a:pPr algn="ctr" indent="0" marL="0">
              <a:buNone/>
            </a:pPr>
            <a:r>
              <a:rPr lang="en-US" sz="2200" b="1" baseline="30000" dirty="0">
                <a:solidFill>
                  <a:schemeClr val="bg1"/>
                </a:solidFill>
              </a:rPr>
              <a:t>2+</a:t>
            </a:r>
            <a:endParaRPr lang="en-US" sz="2200" dirty="0"/>
          </a:p>
        </p:txBody>
      </p:sp>
      <p:sp>
        <p:nvSpPr>
          <p:cNvPr id="11" name="Text 9"/>
          <p:cNvSpPr/>
          <p:nvPr/>
        </p:nvSpPr>
        <p:spPr>
          <a:xfrm>
            <a:off x="3255264" y="1691640"/>
            <a:ext cx="1261872" cy="548640"/>
          </a:xfrm>
          <a:prstGeom prst="roundRect">
            <a:avLst>
              <a:gd name="adj" fmla="val 13333"/>
            </a:avLst>
          </a:prstGeom>
          <a:solidFill>
            <a:schemeClr val="tx2"/>
          </a:solidFill>
          <a:ln w="9525">
            <a:solidFill>
              <a:schemeClr val="bg2">
                <a:alpha val="60000"/>
              </a:schemeClr>
            </a:solidFill>
          </a:ln>
        </p:spPr>
        <p:txBody>
          <a:bodyPr wrap="square" lIns="0" tIns="0" rIns="0" bIns="0" rtlCol="0" anchor="ctr"/>
          <a:lstStyle/>
          <a:p>
            <a:pPr algn="ctr" indent="0" marL="0">
              <a:buNone/>
            </a:pPr>
            <a:r>
              <a:rPr lang="en-US" sz="2200" b="1" dirty="0">
                <a:solidFill>
                  <a:schemeClr val="bg1"/>
                </a:solidFill>
              </a:rPr>
              <a:t>Cl</a:t>
            </a:r>
            <a:pPr algn="ctr" indent="0" marL="0">
              <a:buNone/>
            </a:pPr>
            <a:r>
              <a:rPr lang="en-US" sz="2200" b="1" baseline="30000" dirty="0">
                <a:solidFill>
                  <a:schemeClr val="bg1"/>
                </a:solidFill>
              </a:rPr>
              <a:t>−</a:t>
            </a:r>
            <a:endParaRPr lang="en-US" sz="2200" dirty="0"/>
          </a:p>
        </p:txBody>
      </p:sp>
      <p:sp>
        <p:nvSpPr>
          <p:cNvPr id="12" name="Text 10"/>
          <p:cNvSpPr/>
          <p:nvPr/>
        </p:nvSpPr>
        <p:spPr>
          <a:xfrm>
            <a:off x="4654296" y="1691640"/>
            <a:ext cx="1261872" cy="548640"/>
          </a:xfrm>
          <a:prstGeom prst="roundRect">
            <a:avLst>
              <a:gd name="adj" fmla="val 13333"/>
            </a:avLst>
          </a:prstGeom>
          <a:solidFill>
            <a:schemeClr val="tx2"/>
          </a:solidFill>
          <a:ln w="9525">
            <a:solidFill>
              <a:schemeClr val="bg2">
                <a:alpha val="60000"/>
              </a:schemeClr>
            </a:solidFill>
          </a:ln>
        </p:spPr>
        <p:txBody>
          <a:bodyPr wrap="square" lIns="0" tIns="0" rIns="0" bIns="0" rtlCol="0" anchor="ctr"/>
          <a:lstStyle/>
          <a:p>
            <a:pPr algn="ctr" indent="0" marL="0">
              <a:buNone/>
            </a:pPr>
            <a:r>
              <a:rPr lang="en-US" sz="2200" b="1" dirty="0">
                <a:solidFill>
                  <a:schemeClr val="bg1"/>
                </a:solidFill>
              </a:rPr>
              <a:t>N</a:t>
            </a:r>
            <a:pPr algn="ctr" indent="0" marL="0">
              <a:buNone/>
            </a:pPr>
            <a:r>
              <a:rPr lang="en-US" sz="2200" b="1" baseline="30000" dirty="0">
                <a:solidFill>
                  <a:schemeClr val="bg1"/>
                </a:solidFill>
              </a:rPr>
              <a:t>3−</a:t>
            </a:r>
            <a:endParaRPr lang="en-US" sz="2200" dirty="0"/>
          </a:p>
        </p:txBody>
      </p:sp>
      <p:sp>
        <p:nvSpPr>
          <p:cNvPr id="13" name="Text 11"/>
          <p:cNvSpPr/>
          <p:nvPr/>
        </p:nvSpPr>
        <p:spPr>
          <a:xfrm>
            <a:off x="6053328" y="1691640"/>
            <a:ext cx="1261872" cy="548640"/>
          </a:xfrm>
          <a:prstGeom prst="roundRect">
            <a:avLst>
              <a:gd name="adj" fmla="val 13333"/>
            </a:avLst>
          </a:prstGeom>
          <a:solidFill>
            <a:schemeClr val="tx2"/>
          </a:solidFill>
          <a:ln w="9525">
            <a:solidFill>
              <a:schemeClr val="bg2">
                <a:alpha val="60000"/>
              </a:schemeClr>
            </a:solidFill>
          </a:ln>
        </p:spPr>
        <p:txBody>
          <a:bodyPr wrap="square" lIns="0" tIns="0" rIns="0" bIns="0" rtlCol="0" anchor="ctr"/>
          <a:lstStyle/>
          <a:p>
            <a:pPr algn="ctr" indent="0" marL="0">
              <a:buNone/>
            </a:pPr>
            <a:r>
              <a:rPr lang="en-US" sz="2200" b="1" dirty="0">
                <a:solidFill>
                  <a:schemeClr val="bg1"/>
                </a:solidFill>
              </a:rPr>
              <a:t>Na</a:t>
            </a:r>
            <a:pPr algn="ctr" indent="0" marL="0">
              <a:buNone/>
            </a:pPr>
            <a:r>
              <a:rPr lang="en-US" sz="2200" b="1" baseline="30000" dirty="0">
                <a:solidFill>
                  <a:schemeClr val="bg1"/>
                </a:solidFill>
              </a:rPr>
              <a:t>+</a:t>
            </a:r>
            <a:endParaRPr lang="en-US" sz="2200" dirty="0"/>
          </a:p>
        </p:txBody>
      </p:sp>
      <p:sp>
        <p:nvSpPr>
          <p:cNvPr id="14" name="Text 12"/>
          <p:cNvSpPr/>
          <p:nvPr/>
        </p:nvSpPr>
        <p:spPr>
          <a:xfrm>
            <a:off x="7452360" y="1691640"/>
            <a:ext cx="1261872" cy="548640"/>
          </a:xfrm>
          <a:prstGeom prst="roundRect">
            <a:avLst>
              <a:gd name="adj" fmla="val 13333"/>
            </a:avLst>
          </a:prstGeom>
          <a:solidFill>
            <a:schemeClr val="tx2"/>
          </a:solidFill>
          <a:ln w="9525">
            <a:solidFill>
              <a:schemeClr val="bg2">
                <a:alpha val="60000"/>
              </a:schemeClr>
            </a:solidFill>
          </a:ln>
        </p:spPr>
        <p:txBody>
          <a:bodyPr wrap="square" lIns="0" tIns="0" rIns="0" bIns="0" rtlCol="0" anchor="ctr"/>
          <a:lstStyle/>
          <a:p>
            <a:pPr algn="ctr" indent="0" marL="0">
              <a:buNone/>
            </a:pPr>
            <a:r>
              <a:rPr lang="en-US" sz="2200" b="1" dirty="0">
                <a:solidFill>
                  <a:schemeClr val="bg1"/>
                </a:solidFill>
              </a:rPr>
              <a:t>O</a:t>
            </a:r>
            <a:pPr algn="ctr" indent="0" marL="0">
              <a:buNone/>
            </a:pPr>
            <a:r>
              <a:rPr lang="en-US" sz="2200" b="1" baseline="30000" dirty="0">
                <a:solidFill>
                  <a:schemeClr val="bg1"/>
                </a:solidFill>
              </a:rPr>
              <a:t>2−</a:t>
            </a:r>
            <a:endParaRPr lang="en-US" sz="2200" dirty="0"/>
          </a:p>
        </p:txBody>
      </p:sp>
      <p:sp>
        <p:nvSpPr>
          <p:cNvPr id="15" name="sodium ion"/>
          <p:cNvSpPr/>
          <p:nvPr/>
        </p:nvSpPr>
        <p:spPr>
          <a:xfrm>
            <a:off x="457200" y="2514600"/>
            <a:ext cx="2651760" cy="960120"/>
          </a:xfrm>
          <a:prstGeom prst="roundRect">
            <a:avLst>
              <a:gd name="adj" fmla="val 9524"/>
            </a:avLst>
          </a:prstGeom>
          <a:solidFill>
            <a:schemeClr val="tx2"/>
          </a:solidFill>
          <a:ln w="9525">
            <a:solidFill>
              <a:schemeClr val="bg2">
                <a:alpha val="30000"/>
              </a:schemeClr>
            </a:solidFill>
            <a:prstDash val="solid"/>
          </a:ln>
        </p:spPr>
      </p:sp>
      <p:sp>
        <p:nvSpPr>
          <p:cNvPr id="16" name="Text 14"/>
          <p:cNvSpPr txBox="1"/>
          <p:nvPr/>
        </p:nvSpPr>
        <p:spPr>
          <a:xfrm>
            <a:off x="621792" y="2606040"/>
            <a:ext cx="2377440" cy="292608"/>
          </a:xfrm>
          <a:prstGeom prst="rect">
            <a:avLst/>
          </a:prstGeom>
          <a:noFill/>
          <a:ln/>
        </p:spPr>
        <p:txBody>
          <a:bodyPr wrap="square" lIns="0" tIns="0" rIns="0" bIns="0" rtlCol="0" anchor="t"/>
          <a:lstStyle/>
          <a:p>
            <a:pPr indent="0" marL="0">
              <a:buNone/>
            </a:pPr>
            <a:r>
              <a:rPr lang="en-US" sz="1500" b="1" dirty="0">
                <a:solidFill>
                  <a:schemeClr val="bg2"/>
                </a:solidFill>
              </a:rPr>
              <a:t>sodium ion</a:t>
            </a:r>
            <a:endParaRPr lang="en-US" sz="1500" dirty="0"/>
          </a:p>
        </p:txBody>
      </p:sp>
      <p:sp>
        <p:nvSpPr>
          <p:cNvPr id="17" name="chloride"/>
          <p:cNvSpPr/>
          <p:nvPr/>
        </p:nvSpPr>
        <p:spPr>
          <a:xfrm>
            <a:off x="3246120" y="2514600"/>
            <a:ext cx="2651760" cy="960120"/>
          </a:xfrm>
          <a:prstGeom prst="roundRect">
            <a:avLst>
              <a:gd name="adj" fmla="val 9524"/>
            </a:avLst>
          </a:prstGeom>
          <a:solidFill>
            <a:schemeClr val="tx2"/>
          </a:solidFill>
          <a:ln w="9525">
            <a:solidFill>
              <a:schemeClr val="bg2">
                <a:alpha val="30000"/>
              </a:schemeClr>
            </a:solidFill>
            <a:prstDash val="solid"/>
          </a:ln>
        </p:spPr>
      </p:sp>
      <p:sp>
        <p:nvSpPr>
          <p:cNvPr id="18" name="Text 16"/>
          <p:cNvSpPr txBox="1"/>
          <p:nvPr/>
        </p:nvSpPr>
        <p:spPr>
          <a:xfrm>
            <a:off x="3410712" y="2606040"/>
            <a:ext cx="2377440" cy="292608"/>
          </a:xfrm>
          <a:prstGeom prst="rect">
            <a:avLst/>
          </a:prstGeom>
          <a:noFill/>
          <a:ln/>
        </p:spPr>
        <p:txBody>
          <a:bodyPr wrap="square" lIns="0" tIns="0" rIns="0" bIns="0" rtlCol="0" anchor="t"/>
          <a:lstStyle/>
          <a:p>
            <a:pPr indent="0" marL="0">
              <a:buNone/>
            </a:pPr>
            <a:r>
              <a:rPr lang="en-US" sz="1500" b="1" dirty="0">
                <a:solidFill>
                  <a:schemeClr val="bg2"/>
                </a:solidFill>
              </a:rPr>
              <a:t>chloride</a:t>
            </a:r>
            <a:endParaRPr lang="en-US" sz="1500" dirty="0"/>
          </a:p>
        </p:txBody>
      </p:sp>
      <p:sp>
        <p:nvSpPr>
          <p:cNvPr id="19" name="oxide"/>
          <p:cNvSpPr/>
          <p:nvPr/>
        </p:nvSpPr>
        <p:spPr>
          <a:xfrm>
            <a:off x="6035040" y="2514600"/>
            <a:ext cx="2651760" cy="960120"/>
          </a:xfrm>
          <a:prstGeom prst="roundRect">
            <a:avLst>
              <a:gd name="adj" fmla="val 9524"/>
            </a:avLst>
          </a:prstGeom>
          <a:solidFill>
            <a:schemeClr val="tx2"/>
          </a:solidFill>
          <a:ln w="9525">
            <a:solidFill>
              <a:schemeClr val="bg2">
                <a:alpha val="30000"/>
              </a:schemeClr>
            </a:solidFill>
            <a:prstDash val="solid"/>
          </a:ln>
        </p:spPr>
      </p:sp>
      <p:sp>
        <p:nvSpPr>
          <p:cNvPr id="20" name="Text 18"/>
          <p:cNvSpPr txBox="1"/>
          <p:nvPr/>
        </p:nvSpPr>
        <p:spPr>
          <a:xfrm>
            <a:off x="6199632" y="2606040"/>
            <a:ext cx="2377440" cy="292608"/>
          </a:xfrm>
          <a:prstGeom prst="rect">
            <a:avLst/>
          </a:prstGeom>
          <a:noFill/>
          <a:ln/>
        </p:spPr>
        <p:txBody>
          <a:bodyPr wrap="square" lIns="0" tIns="0" rIns="0" bIns="0" rtlCol="0" anchor="t"/>
          <a:lstStyle/>
          <a:p>
            <a:pPr indent="0" marL="0">
              <a:buNone/>
            </a:pPr>
            <a:r>
              <a:rPr lang="en-US" sz="1500" b="1" dirty="0">
                <a:solidFill>
                  <a:schemeClr val="bg2"/>
                </a:solidFill>
              </a:rPr>
              <a:t>oxide</a:t>
            </a:r>
            <a:endParaRPr lang="en-US" sz="1500" dirty="0"/>
          </a:p>
        </p:txBody>
      </p:sp>
      <p:sp>
        <p:nvSpPr>
          <p:cNvPr id="21" name="magnesium ion"/>
          <p:cNvSpPr/>
          <p:nvPr/>
        </p:nvSpPr>
        <p:spPr>
          <a:xfrm>
            <a:off x="457200" y="3611880"/>
            <a:ext cx="2651760" cy="960120"/>
          </a:xfrm>
          <a:prstGeom prst="roundRect">
            <a:avLst>
              <a:gd name="adj" fmla="val 9524"/>
            </a:avLst>
          </a:prstGeom>
          <a:solidFill>
            <a:schemeClr val="tx2"/>
          </a:solidFill>
          <a:ln w="9525">
            <a:solidFill>
              <a:schemeClr val="bg2">
                <a:alpha val="30000"/>
              </a:schemeClr>
            </a:solidFill>
            <a:prstDash val="solid"/>
          </a:ln>
        </p:spPr>
      </p:sp>
      <p:sp>
        <p:nvSpPr>
          <p:cNvPr id="22" name="Text 20"/>
          <p:cNvSpPr txBox="1"/>
          <p:nvPr/>
        </p:nvSpPr>
        <p:spPr>
          <a:xfrm>
            <a:off x="621792" y="3703320"/>
            <a:ext cx="2377440" cy="292608"/>
          </a:xfrm>
          <a:prstGeom prst="rect">
            <a:avLst/>
          </a:prstGeom>
          <a:noFill/>
          <a:ln/>
        </p:spPr>
        <p:txBody>
          <a:bodyPr wrap="square" lIns="0" tIns="0" rIns="0" bIns="0" rtlCol="0" anchor="t"/>
          <a:lstStyle/>
          <a:p>
            <a:pPr indent="0" marL="0">
              <a:buNone/>
            </a:pPr>
            <a:r>
              <a:rPr lang="en-US" sz="1500" b="1" dirty="0">
                <a:solidFill>
                  <a:schemeClr val="bg2"/>
                </a:solidFill>
              </a:rPr>
              <a:t>magnesium ion</a:t>
            </a:r>
            <a:endParaRPr lang="en-US" sz="1500" dirty="0"/>
          </a:p>
        </p:txBody>
      </p:sp>
      <p:sp>
        <p:nvSpPr>
          <p:cNvPr id="23" name="nitride"/>
          <p:cNvSpPr/>
          <p:nvPr/>
        </p:nvSpPr>
        <p:spPr>
          <a:xfrm>
            <a:off x="3246120" y="3611880"/>
            <a:ext cx="2651760" cy="960120"/>
          </a:xfrm>
          <a:prstGeom prst="roundRect">
            <a:avLst>
              <a:gd name="adj" fmla="val 9524"/>
            </a:avLst>
          </a:prstGeom>
          <a:solidFill>
            <a:schemeClr val="tx2"/>
          </a:solidFill>
          <a:ln w="9525">
            <a:solidFill>
              <a:schemeClr val="bg2">
                <a:alpha val="30000"/>
              </a:schemeClr>
            </a:solidFill>
            <a:prstDash val="solid"/>
          </a:ln>
        </p:spPr>
      </p:sp>
      <p:sp>
        <p:nvSpPr>
          <p:cNvPr id="24" name="Text 22"/>
          <p:cNvSpPr txBox="1"/>
          <p:nvPr/>
        </p:nvSpPr>
        <p:spPr>
          <a:xfrm>
            <a:off x="3410712" y="3703320"/>
            <a:ext cx="2377440" cy="292608"/>
          </a:xfrm>
          <a:prstGeom prst="rect">
            <a:avLst/>
          </a:prstGeom>
          <a:noFill/>
          <a:ln/>
        </p:spPr>
        <p:txBody>
          <a:bodyPr wrap="square" lIns="0" tIns="0" rIns="0" bIns="0" rtlCol="0" anchor="t"/>
          <a:lstStyle/>
          <a:p>
            <a:pPr indent="0" marL="0">
              <a:buNone/>
            </a:pPr>
            <a:r>
              <a:rPr lang="en-US" sz="1500" b="1" dirty="0">
                <a:solidFill>
                  <a:schemeClr val="bg2"/>
                </a:solidFill>
              </a:rPr>
              <a:t>nitride</a:t>
            </a:r>
            <a:endParaRPr lang="en-US" sz="1500" dirty="0"/>
          </a:p>
        </p:txBody>
      </p:sp>
      <p:sp>
        <p:nvSpPr>
          <p:cNvPr id="25" name="sulfide"/>
          <p:cNvSpPr/>
          <p:nvPr/>
        </p:nvSpPr>
        <p:spPr>
          <a:xfrm>
            <a:off x="6035040" y="3611880"/>
            <a:ext cx="2651760" cy="960120"/>
          </a:xfrm>
          <a:prstGeom prst="roundRect">
            <a:avLst>
              <a:gd name="adj" fmla="val 9524"/>
            </a:avLst>
          </a:prstGeom>
          <a:solidFill>
            <a:schemeClr val="tx2"/>
          </a:solidFill>
          <a:ln w="9525">
            <a:solidFill>
              <a:schemeClr val="bg2">
                <a:alpha val="30000"/>
              </a:schemeClr>
            </a:solidFill>
            <a:prstDash val="solid"/>
          </a:ln>
        </p:spPr>
      </p:sp>
      <p:sp>
        <p:nvSpPr>
          <p:cNvPr id="26" name="Text 24"/>
          <p:cNvSpPr txBox="1"/>
          <p:nvPr/>
        </p:nvSpPr>
        <p:spPr>
          <a:xfrm>
            <a:off x="6199632" y="3703320"/>
            <a:ext cx="2377440" cy="292608"/>
          </a:xfrm>
          <a:prstGeom prst="rect">
            <a:avLst/>
          </a:prstGeom>
          <a:noFill/>
          <a:ln/>
        </p:spPr>
        <p:txBody>
          <a:bodyPr wrap="square" lIns="0" tIns="0" rIns="0" bIns="0" rtlCol="0" anchor="t"/>
          <a:lstStyle/>
          <a:p>
            <a:pPr indent="0" marL="0">
              <a:buNone/>
            </a:pPr>
            <a:r>
              <a:rPr lang="en-US" sz="1500" b="1" dirty="0">
                <a:solidFill>
                  <a:schemeClr val="bg2"/>
                </a:solidFill>
              </a:rPr>
              <a:t>sulfide</a:t>
            </a:r>
            <a:endParaRPr lang="en-US" sz="15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ection tile 5"/>
          <p:cNvSpPr/>
          <p:nvPr/>
        </p:nvSpPr>
        <p:spPr>
          <a:xfrm>
            <a:off x="457200" y="301752"/>
            <a:ext cx="749808" cy="841248"/>
          </a:xfrm>
          <a:prstGeom prst="roundRect">
            <a:avLst>
              <a:gd name="adj" fmla="val 12000"/>
            </a:avLst>
          </a:prstGeom>
          <a:solidFill>
            <a:srgbClr val="F472B6">
              <a:alpha val="28000"/>
            </a:srgbClr>
          </a:solidFill>
          <a:ln w="19050">
            <a:solidFill>
              <a:srgbClr val="F472B6"/>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5</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2400" b="1" dirty="0">
                <a:solidFill>
                  <a:schemeClr val="bg1"/>
                </a:solidFill>
              </a:rPr>
              <a:t>O</a:t>
            </a:r>
            <a:pPr algn="ctr" indent="0" marL="0">
              <a:buNone/>
            </a:pPr>
            <a:r>
              <a:rPr lang="en-US" sz="2400" b="1" baseline="30000" dirty="0">
                <a:solidFill>
                  <a:schemeClr val="bg1"/>
                </a:solidFill>
              </a:rPr>
              <a:t>2−</a:t>
            </a:r>
            <a:endParaRPr lang="en-US" sz="2400" dirty="0"/>
          </a:p>
        </p:txBody>
      </p:sp>
      <p:sp>
        <p:nvSpPr>
          <p:cNvPr id="5" name="Text 3"/>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6" name="Text 4"/>
          <p:cNvSpPr/>
          <p:nvPr/>
        </p:nvSpPr>
        <p:spPr>
          <a:xfrm>
            <a:off x="224028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7" name="Text 5"/>
          <p:cNvSpPr txBox="1"/>
          <p:nvPr/>
        </p:nvSpPr>
        <p:spPr>
          <a:xfrm>
            <a:off x="32004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5 of 9</a:t>
            </a:r>
            <a:endParaRPr lang="en-US" sz="1200" dirty="0"/>
          </a:p>
        </p:txBody>
      </p:sp>
      <p:sp>
        <p:nvSpPr>
          <p:cNvPr id="8"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Match the names</a:t>
            </a:r>
            <a:endParaRPr lang="en-US" sz="2800" dirty="0"/>
          </a:p>
        </p:txBody>
      </p:sp>
      <p:sp>
        <p:nvSpPr>
          <p:cNvPr id="9" name="Text 7"/>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Drag each ion to its name, or tap an ion and then tap a name.</a:t>
            </a:r>
            <a:endParaRPr lang="en-US" sz="1300" dirty="0"/>
          </a:p>
        </p:txBody>
      </p:sp>
      <p:sp>
        <p:nvSpPr>
          <p:cNvPr id="10" name="sodium ion"/>
          <p:cNvSpPr/>
          <p:nvPr/>
        </p:nvSpPr>
        <p:spPr>
          <a:xfrm>
            <a:off x="457200" y="2514600"/>
            <a:ext cx="2651760" cy="960120"/>
          </a:xfrm>
          <a:prstGeom prst="roundRect">
            <a:avLst>
              <a:gd name="adj" fmla="val 9524"/>
            </a:avLst>
          </a:prstGeom>
          <a:solidFill>
            <a:schemeClr val="tx2"/>
          </a:solidFill>
          <a:ln w="9525">
            <a:solidFill>
              <a:schemeClr val="bg2">
                <a:alpha val="30000"/>
              </a:schemeClr>
            </a:solidFill>
            <a:prstDash val="solid"/>
          </a:ln>
        </p:spPr>
      </p:sp>
      <p:sp>
        <p:nvSpPr>
          <p:cNvPr id="11" name="Text 9"/>
          <p:cNvSpPr txBox="1"/>
          <p:nvPr/>
        </p:nvSpPr>
        <p:spPr>
          <a:xfrm>
            <a:off x="621792" y="2606040"/>
            <a:ext cx="2377440" cy="292608"/>
          </a:xfrm>
          <a:prstGeom prst="rect">
            <a:avLst/>
          </a:prstGeom>
          <a:noFill/>
          <a:ln/>
        </p:spPr>
        <p:txBody>
          <a:bodyPr wrap="square" lIns="0" tIns="0" rIns="0" bIns="0" rtlCol="0" anchor="t"/>
          <a:lstStyle/>
          <a:p>
            <a:pPr indent="0" marL="0">
              <a:buNone/>
            </a:pPr>
            <a:r>
              <a:rPr lang="en-US" sz="1500" b="1" dirty="0">
                <a:solidFill>
                  <a:schemeClr val="bg2"/>
                </a:solidFill>
              </a:rPr>
              <a:t>sodium ion</a:t>
            </a:r>
            <a:endParaRPr lang="en-US" sz="1500" dirty="0"/>
          </a:p>
        </p:txBody>
      </p:sp>
      <p:sp>
        <p:nvSpPr>
          <p:cNvPr id="12" name="Text 10"/>
          <p:cNvSpPr txBox="1"/>
          <p:nvPr/>
        </p:nvSpPr>
        <p:spPr>
          <a:xfrm>
            <a:off x="621792" y="2926080"/>
            <a:ext cx="2286000" cy="457200"/>
          </a:xfrm>
          <a:prstGeom prst="rect">
            <a:avLst/>
          </a:prstGeom>
          <a:noFill/>
          <a:ln/>
        </p:spPr>
        <p:txBody>
          <a:bodyPr wrap="square" lIns="0" tIns="0" rIns="0" bIns="0" rtlCol="0" anchor="ctr"/>
          <a:lstStyle/>
          <a:p>
            <a:pPr indent="0" marL="0">
              <a:buNone/>
            </a:pPr>
            <a:r>
              <a:rPr lang="en-US" sz="2200" b="1" dirty="0">
                <a:solidFill>
                  <a:schemeClr val="accent4"/>
                </a:solidFill>
              </a:rPr>
              <a:t>Na</a:t>
            </a:r>
            <a:pPr indent="0" marL="0">
              <a:buNone/>
            </a:pPr>
            <a:r>
              <a:rPr lang="en-US" sz="2200" b="1" baseline="30000" dirty="0">
                <a:solidFill>
                  <a:schemeClr val="accent4"/>
                </a:solidFill>
              </a:rPr>
              <a:t>+</a:t>
            </a:r>
            <a:endParaRPr lang="en-US" sz="2200" dirty="0"/>
          </a:p>
        </p:txBody>
      </p:sp>
      <p:sp>
        <p:nvSpPr>
          <p:cNvPr id="13" name="chloride"/>
          <p:cNvSpPr/>
          <p:nvPr/>
        </p:nvSpPr>
        <p:spPr>
          <a:xfrm>
            <a:off x="3246120" y="2514600"/>
            <a:ext cx="2651760" cy="960120"/>
          </a:xfrm>
          <a:prstGeom prst="roundRect">
            <a:avLst>
              <a:gd name="adj" fmla="val 9524"/>
            </a:avLst>
          </a:prstGeom>
          <a:solidFill>
            <a:schemeClr val="tx2"/>
          </a:solidFill>
          <a:ln w="9525">
            <a:solidFill>
              <a:schemeClr val="bg2">
                <a:alpha val="30000"/>
              </a:schemeClr>
            </a:solidFill>
            <a:prstDash val="solid"/>
          </a:ln>
        </p:spPr>
      </p:sp>
      <p:sp>
        <p:nvSpPr>
          <p:cNvPr id="14" name="Text 12"/>
          <p:cNvSpPr txBox="1"/>
          <p:nvPr/>
        </p:nvSpPr>
        <p:spPr>
          <a:xfrm>
            <a:off x="3410712" y="2606040"/>
            <a:ext cx="2377440" cy="292608"/>
          </a:xfrm>
          <a:prstGeom prst="rect">
            <a:avLst/>
          </a:prstGeom>
          <a:noFill/>
          <a:ln/>
        </p:spPr>
        <p:txBody>
          <a:bodyPr wrap="square" lIns="0" tIns="0" rIns="0" bIns="0" rtlCol="0" anchor="t"/>
          <a:lstStyle/>
          <a:p>
            <a:pPr indent="0" marL="0">
              <a:buNone/>
            </a:pPr>
            <a:r>
              <a:rPr lang="en-US" sz="1500" b="1" dirty="0">
                <a:solidFill>
                  <a:schemeClr val="bg2"/>
                </a:solidFill>
              </a:rPr>
              <a:t>chloride</a:t>
            </a:r>
            <a:endParaRPr lang="en-US" sz="1500" dirty="0"/>
          </a:p>
        </p:txBody>
      </p:sp>
      <p:sp>
        <p:nvSpPr>
          <p:cNvPr id="15" name="Text 13"/>
          <p:cNvSpPr txBox="1"/>
          <p:nvPr/>
        </p:nvSpPr>
        <p:spPr>
          <a:xfrm>
            <a:off x="3410712" y="2926080"/>
            <a:ext cx="2286000" cy="457200"/>
          </a:xfrm>
          <a:prstGeom prst="rect">
            <a:avLst/>
          </a:prstGeom>
          <a:noFill/>
          <a:ln/>
        </p:spPr>
        <p:txBody>
          <a:bodyPr wrap="square" lIns="0" tIns="0" rIns="0" bIns="0" rtlCol="0" anchor="ctr"/>
          <a:lstStyle/>
          <a:p>
            <a:pPr indent="0" marL="0">
              <a:buNone/>
            </a:pPr>
            <a:r>
              <a:rPr lang="en-US" sz="2200" b="1" dirty="0">
                <a:solidFill>
                  <a:schemeClr val="accent4"/>
                </a:solidFill>
              </a:rPr>
              <a:t>Cl</a:t>
            </a:r>
            <a:pPr indent="0" marL="0">
              <a:buNone/>
            </a:pPr>
            <a:r>
              <a:rPr lang="en-US" sz="2200" b="1" baseline="30000" dirty="0">
                <a:solidFill>
                  <a:schemeClr val="accent4"/>
                </a:solidFill>
              </a:rPr>
              <a:t>−</a:t>
            </a:r>
            <a:endParaRPr lang="en-US" sz="2200" dirty="0"/>
          </a:p>
        </p:txBody>
      </p:sp>
      <p:sp>
        <p:nvSpPr>
          <p:cNvPr id="16" name="oxide"/>
          <p:cNvSpPr/>
          <p:nvPr/>
        </p:nvSpPr>
        <p:spPr>
          <a:xfrm>
            <a:off x="6035040" y="2514600"/>
            <a:ext cx="2651760" cy="960120"/>
          </a:xfrm>
          <a:prstGeom prst="roundRect">
            <a:avLst>
              <a:gd name="adj" fmla="val 9524"/>
            </a:avLst>
          </a:prstGeom>
          <a:solidFill>
            <a:schemeClr val="tx2"/>
          </a:solidFill>
          <a:ln w="9525">
            <a:solidFill>
              <a:schemeClr val="bg2">
                <a:alpha val="30000"/>
              </a:schemeClr>
            </a:solidFill>
            <a:prstDash val="solid"/>
          </a:ln>
        </p:spPr>
      </p:sp>
      <p:sp>
        <p:nvSpPr>
          <p:cNvPr id="17" name="Text 15"/>
          <p:cNvSpPr txBox="1"/>
          <p:nvPr/>
        </p:nvSpPr>
        <p:spPr>
          <a:xfrm>
            <a:off x="6199632" y="2606040"/>
            <a:ext cx="2377440" cy="292608"/>
          </a:xfrm>
          <a:prstGeom prst="rect">
            <a:avLst/>
          </a:prstGeom>
          <a:noFill/>
          <a:ln/>
        </p:spPr>
        <p:txBody>
          <a:bodyPr wrap="square" lIns="0" tIns="0" rIns="0" bIns="0" rtlCol="0" anchor="t"/>
          <a:lstStyle/>
          <a:p>
            <a:pPr indent="0" marL="0">
              <a:buNone/>
            </a:pPr>
            <a:r>
              <a:rPr lang="en-US" sz="1500" b="1" dirty="0">
                <a:solidFill>
                  <a:schemeClr val="bg2"/>
                </a:solidFill>
              </a:rPr>
              <a:t>oxide</a:t>
            </a:r>
            <a:endParaRPr lang="en-US" sz="1500" dirty="0"/>
          </a:p>
        </p:txBody>
      </p:sp>
      <p:sp>
        <p:nvSpPr>
          <p:cNvPr id="18" name="Text 16"/>
          <p:cNvSpPr txBox="1"/>
          <p:nvPr/>
        </p:nvSpPr>
        <p:spPr>
          <a:xfrm>
            <a:off x="6199632" y="2926080"/>
            <a:ext cx="2286000" cy="457200"/>
          </a:xfrm>
          <a:prstGeom prst="rect">
            <a:avLst/>
          </a:prstGeom>
          <a:noFill/>
          <a:ln/>
        </p:spPr>
        <p:txBody>
          <a:bodyPr wrap="square" lIns="0" tIns="0" rIns="0" bIns="0" rtlCol="0" anchor="ctr"/>
          <a:lstStyle/>
          <a:p>
            <a:pPr indent="0" marL="0">
              <a:buNone/>
            </a:pPr>
            <a:r>
              <a:rPr lang="en-US" sz="2200" b="1" dirty="0">
                <a:solidFill>
                  <a:schemeClr val="accent4"/>
                </a:solidFill>
              </a:rPr>
              <a:t>O</a:t>
            </a:r>
            <a:pPr indent="0" marL="0">
              <a:buNone/>
            </a:pPr>
            <a:r>
              <a:rPr lang="en-US" sz="2200" b="1" baseline="30000" dirty="0">
                <a:solidFill>
                  <a:schemeClr val="accent4"/>
                </a:solidFill>
              </a:rPr>
              <a:t>2−</a:t>
            </a:r>
            <a:endParaRPr lang="en-US" sz="2200" dirty="0"/>
          </a:p>
        </p:txBody>
      </p:sp>
      <p:sp>
        <p:nvSpPr>
          <p:cNvPr id="19" name="magnesium ion"/>
          <p:cNvSpPr/>
          <p:nvPr/>
        </p:nvSpPr>
        <p:spPr>
          <a:xfrm>
            <a:off x="457200" y="3611880"/>
            <a:ext cx="2651760" cy="960120"/>
          </a:xfrm>
          <a:prstGeom prst="roundRect">
            <a:avLst>
              <a:gd name="adj" fmla="val 9524"/>
            </a:avLst>
          </a:prstGeom>
          <a:solidFill>
            <a:schemeClr val="tx2"/>
          </a:solidFill>
          <a:ln w="9525">
            <a:solidFill>
              <a:schemeClr val="bg2">
                <a:alpha val="30000"/>
              </a:schemeClr>
            </a:solidFill>
            <a:prstDash val="solid"/>
          </a:ln>
        </p:spPr>
      </p:sp>
      <p:sp>
        <p:nvSpPr>
          <p:cNvPr id="20" name="Text 18"/>
          <p:cNvSpPr txBox="1"/>
          <p:nvPr/>
        </p:nvSpPr>
        <p:spPr>
          <a:xfrm>
            <a:off x="621792" y="3703320"/>
            <a:ext cx="2377440" cy="292608"/>
          </a:xfrm>
          <a:prstGeom prst="rect">
            <a:avLst/>
          </a:prstGeom>
          <a:noFill/>
          <a:ln/>
        </p:spPr>
        <p:txBody>
          <a:bodyPr wrap="square" lIns="0" tIns="0" rIns="0" bIns="0" rtlCol="0" anchor="t"/>
          <a:lstStyle/>
          <a:p>
            <a:pPr indent="0" marL="0">
              <a:buNone/>
            </a:pPr>
            <a:r>
              <a:rPr lang="en-US" sz="1500" b="1" dirty="0">
                <a:solidFill>
                  <a:schemeClr val="bg2"/>
                </a:solidFill>
              </a:rPr>
              <a:t>magnesium ion</a:t>
            </a:r>
            <a:endParaRPr lang="en-US" sz="1500" dirty="0"/>
          </a:p>
        </p:txBody>
      </p:sp>
      <p:sp>
        <p:nvSpPr>
          <p:cNvPr id="21" name="Text 19"/>
          <p:cNvSpPr txBox="1"/>
          <p:nvPr/>
        </p:nvSpPr>
        <p:spPr>
          <a:xfrm>
            <a:off x="621792" y="4023360"/>
            <a:ext cx="2286000" cy="457200"/>
          </a:xfrm>
          <a:prstGeom prst="rect">
            <a:avLst/>
          </a:prstGeom>
          <a:noFill/>
          <a:ln/>
        </p:spPr>
        <p:txBody>
          <a:bodyPr wrap="square" lIns="0" tIns="0" rIns="0" bIns="0" rtlCol="0" anchor="ctr"/>
          <a:lstStyle/>
          <a:p>
            <a:pPr indent="0" marL="0">
              <a:buNone/>
            </a:pPr>
            <a:r>
              <a:rPr lang="en-US" sz="2200" b="1" dirty="0">
                <a:solidFill>
                  <a:schemeClr val="accent4"/>
                </a:solidFill>
              </a:rPr>
              <a:t>Mg</a:t>
            </a:r>
            <a:pPr indent="0" marL="0">
              <a:buNone/>
            </a:pPr>
            <a:r>
              <a:rPr lang="en-US" sz="2200" b="1" baseline="30000" dirty="0">
                <a:solidFill>
                  <a:schemeClr val="accent4"/>
                </a:solidFill>
              </a:rPr>
              <a:t>2+</a:t>
            </a:r>
            <a:endParaRPr lang="en-US" sz="2200" dirty="0"/>
          </a:p>
        </p:txBody>
      </p:sp>
      <p:sp>
        <p:nvSpPr>
          <p:cNvPr id="22" name="nitride"/>
          <p:cNvSpPr/>
          <p:nvPr/>
        </p:nvSpPr>
        <p:spPr>
          <a:xfrm>
            <a:off x="3246120" y="3611880"/>
            <a:ext cx="2651760" cy="960120"/>
          </a:xfrm>
          <a:prstGeom prst="roundRect">
            <a:avLst>
              <a:gd name="adj" fmla="val 9524"/>
            </a:avLst>
          </a:prstGeom>
          <a:solidFill>
            <a:schemeClr val="tx2"/>
          </a:solidFill>
          <a:ln w="9525">
            <a:solidFill>
              <a:schemeClr val="bg2">
                <a:alpha val="30000"/>
              </a:schemeClr>
            </a:solidFill>
            <a:prstDash val="solid"/>
          </a:ln>
        </p:spPr>
      </p:sp>
      <p:sp>
        <p:nvSpPr>
          <p:cNvPr id="23" name="Text 21"/>
          <p:cNvSpPr txBox="1"/>
          <p:nvPr/>
        </p:nvSpPr>
        <p:spPr>
          <a:xfrm>
            <a:off x="3410712" y="3703320"/>
            <a:ext cx="2377440" cy="292608"/>
          </a:xfrm>
          <a:prstGeom prst="rect">
            <a:avLst/>
          </a:prstGeom>
          <a:noFill/>
          <a:ln/>
        </p:spPr>
        <p:txBody>
          <a:bodyPr wrap="square" lIns="0" tIns="0" rIns="0" bIns="0" rtlCol="0" anchor="t"/>
          <a:lstStyle/>
          <a:p>
            <a:pPr indent="0" marL="0">
              <a:buNone/>
            </a:pPr>
            <a:r>
              <a:rPr lang="en-US" sz="1500" b="1" dirty="0">
                <a:solidFill>
                  <a:schemeClr val="bg2"/>
                </a:solidFill>
              </a:rPr>
              <a:t>nitride</a:t>
            </a:r>
            <a:endParaRPr lang="en-US" sz="1500" dirty="0"/>
          </a:p>
        </p:txBody>
      </p:sp>
      <p:sp>
        <p:nvSpPr>
          <p:cNvPr id="24" name="Text 22"/>
          <p:cNvSpPr txBox="1"/>
          <p:nvPr/>
        </p:nvSpPr>
        <p:spPr>
          <a:xfrm>
            <a:off x="3410712" y="4023360"/>
            <a:ext cx="2286000" cy="457200"/>
          </a:xfrm>
          <a:prstGeom prst="rect">
            <a:avLst/>
          </a:prstGeom>
          <a:noFill/>
          <a:ln/>
        </p:spPr>
        <p:txBody>
          <a:bodyPr wrap="square" lIns="0" tIns="0" rIns="0" bIns="0" rtlCol="0" anchor="ctr"/>
          <a:lstStyle/>
          <a:p>
            <a:pPr indent="0" marL="0">
              <a:buNone/>
            </a:pPr>
            <a:r>
              <a:rPr lang="en-US" sz="2200" b="1" dirty="0">
                <a:solidFill>
                  <a:schemeClr val="accent4"/>
                </a:solidFill>
              </a:rPr>
              <a:t>N</a:t>
            </a:r>
            <a:pPr indent="0" marL="0">
              <a:buNone/>
            </a:pPr>
            <a:r>
              <a:rPr lang="en-US" sz="2200" b="1" baseline="30000" dirty="0">
                <a:solidFill>
                  <a:schemeClr val="accent4"/>
                </a:solidFill>
              </a:rPr>
              <a:t>3−</a:t>
            </a:r>
            <a:endParaRPr lang="en-US" sz="2200" dirty="0"/>
          </a:p>
        </p:txBody>
      </p:sp>
      <p:sp>
        <p:nvSpPr>
          <p:cNvPr id="25" name="sulfide"/>
          <p:cNvSpPr/>
          <p:nvPr/>
        </p:nvSpPr>
        <p:spPr>
          <a:xfrm>
            <a:off x="6035040" y="3611880"/>
            <a:ext cx="2651760" cy="960120"/>
          </a:xfrm>
          <a:prstGeom prst="roundRect">
            <a:avLst>
              <a:gd name="adj" fmla="val 9524"/>
            </a:avLst>
          </a:prstGeom>
          <a:solidFill>
            <a:schemeClr val="tx2"/>
          </a:solidFill>
          <a:ln w="9525">
            <a:solidFill>
              <a:schemeClr val="bg2">
                <a:alpha val="30000"/>
              </a:schemeClr>
            </a:solidFill>
            <a:prstDash val="solid"/>
          </a:ln>
        </p:spPr>
      </p:sp>
      <p:sp>
        <p:nvSpPr>
          <p:cNvPr id="26" name="Text 24"/>
          <p:cNvSpPr txBox="1"/>
          <p:nvPr/>
        </p:nvSpPr>
        <p:spPr>
          <a:xfrm>
            <a:off x="6199632" y="3703320"/>
            <a:ext cx="2377440" cy="292608"/>
          </a:xfrm>
          <a:prstGeom prst="rect">
            <a:avLst/>
          </a:prstGeom>
          <a:noFill/>
          <a:ln/>
        </p:spPr>
        <p:txBody>
          <a:bodyPr wrap="square" lIns="0" tIns="0" rIns="0" bIns="0" rtlCol="0" anchor="t"/>
          <a:lstStyle/>
          <a:p>
            <a:pPr indent="0" marL="0">
              <a:buNone/>
            </a:pPr>
            <a:r>
              <a:rPr lang="en-US" sz="1500" b="1" dirty="0">
                <a:solidFill>
                  <a:schemeClr val="bg2"/>
                </a:solidFill>
              </a:rPr>
              <a:t>sulfide</a:t>
            </a:r>
            <a:endParaRPr lang="en-US" sz="1500" dirty="0"/>
          </a:p>
        </p:txBody>
      </p:sp>
      <p:sp>
        <p:nvSpPr>
          <p:cNvPr id="27" name="Text 25"/>
          <p:cNvSpPr txBox="1"/>
          <p:nvPr/>
        </p:nvSpPr>
        <p:spPr>
          <a:xfrm>
            <a:off x="6199632" y="4023360"/>
            <a:ext cx="2286000" cy="457200"/>
          </a:xfrm>
          <a:prstGeom prst="rect">
            <a:avLst/>
          </a:prstGeom>
          <a:noFill/>
          <a:ln/>
        </p:spPr>
        <p:txBody>
          <a:bodyPr wrap="square" lIns="0" tIns="0" rIns="0" bIns="0" rtlCol="0" anchor="ctr"/>
          <a:lstStyle/>
          <a:p>
            <a:pPr indent="0" marL="0">
              <a:buNone/>
            </a:pPr>
            <a:r>
              <a:rPr lang="en-US" sz="2200" b="1" dirty="0">
                <a:solidFill>
                  <a:schemeClr val="accent4"/>
                </a:solidFill>
              </a:rPr>
              <a:t>S</a:t>
            </a:r>
            <a:pPr indent="0" marL="0">
              <a:buNone/>
            </a:pPr>
            <a:r>
              <a:rPr lang="en-US" sz="2200" b="1" baseline="30000" dirty="0">
                <a:solidFill>
                  <a:schemeClr val="accent4"/>
                </a:solidFill>
              </a:rPr>
              <a:t>2−</a:t>
            </a:r>
            <a:endParaRPr lang="en-US" sz="22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ection tile 5"/>
          <p:cNvSpPr/>
          <p:nvPr/>
        </p:nvSpPr>
        <p:spPr>
          <a:xfrm>
            <a:off x="457200" y="301752"/>
            <a:ext cx="749808" cy="841248"/>
          </a:xfrm>
          <a:prstGeom prst="roundRect">
            <a:avLst>
              <a:gd name="adj" fmla="val 12000"/>
            </a:avLst>
          </a:prstGeom>
          <a:solidFill>
            <a:srgbClr val="F472B6">
              <a:alpha val="28000"/>
            </a:srgbClr>
          </a:solidFill>
          <a:ln w="19050">
            <a:solidFill>
              <a:srgbClr val="F472B6"/>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5</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2400" b="1" dirty="0">
                <a:solidFill>
                  <a:schemeClr val="bg1"/>
                </a:solidFill>
              </a:rPr>
              <a:t>O</a:t>
            </a:r>
            <a:pPr algn="ctr" indent="0" marL="0">
              <a:buNone/>
            </a:pPr>
            <a:r>
              <a:rPr lang="en-US" sz="2400" b="1" baseline="30000" dirty="0">
                <a:solidFill>
                  <a:schemeClr val="bg1"/>
                </a:solidFill>
              </a:rPr>
              <a:t>2−</a:t>
            </a:r>
            <a:endParaRPr lang="en-US" sz="2400" dirty="0"/>
          </a:p>
        </p:txBody>
      </p:sp>
      <p:sp>
        <p:nvSpPr>
          <p:cNvPr id="5" name="Text 3"/>
          <p:cNvSpPr/>
          <p:nvPr/>
        </p:nvSpPr>
        <p:spPr>
          <a:xfrm>
            <a:off x="1417320" y="31089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6" name="Text 4"/>
          <p:cNvSpPr txBox="1"/>
          <p:nvPr/>
        </p:nvSpPr>
        <p:spPr>
          <a:xfrm>
            <a:off x="260604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5 of 9</a:t>
            </a:r>
            <a:endParaRPr lang="en-US" sz="1200" dirty="0"/>
          </a:p>
        </p:txBody>
      </p:sp>
      <p:sp>
        <p:nvSpPr>
          <p:cNvPr id="7" name="Text 0"/>
          <p:cNvSpPr/>
          <p:nvPr>
            <p:ph idx="100" type="title" hasCustomPrompt="1"/>
          </p:nvPr>
        </p:nvSpPr>
        <p:spPr>
          <a:xfrm>
            <a:off x="1417320" y="658368"/>
            <a:ext cx="7269480" cy="841248"/>
          </a:xfrm>
          <a:prstGeom prst="rect">
            <a:avLst/>
          </a:prstGeom>
          <a:noFill/>
          <a:ln/>
        </p:spPr>
        <p:txBody>
          <a:bodyPr wrap="square" lIns="0" tIns="0" rIns="0" bIns="0" rtlCol="0" anchor="t"/>
          <a:lstStyle/>
          <a:p>
            <a:pPr algn="l" indent="0" marL="0">
              <a:buNone/>
            </a:pPr>
            <a:r>
              <a:rPr lang="en-US" sz="2000" b="1" dirty="0">
                <a:solidFill>
                  <a:schemeClr val="bg1"/>
                </a:solidFill>
              </a:rPr>
              <a:t>What is the name of the ion </a:t>
            </a:r>
            <a:pPr algn="l" indent="0" marL="0">
              <a:buNone/>
            </a:pPr>
            <a:r>
              <a:rPr lang="en-US" sz="2000" b="1" dirty="0">
                <a:solidFill>
                  <a:schemeClr val="bg1"/>
                </a:solidFill>
              </a:rPr>
              <a:t>F</a:t>
            </a:r>
            <a:pPr algn="l" indent="0" marL="0">
              <a:buNone/>
            </a:pPr>
            <a:r>
              <a:rPr lang="en-US" sz="2000" b="1" baseline="30000" dirty="0">
                <a:solidFill>
                  <a:schemeClr val="bg1"/>
                </a:solidFill>
              </a:rPr>
              <a:t>−</a:t>
            </a:r>
            <a:pPr algn="l" indent="0" marL="0">
              <a:buNone/>
            </a:pPr>
            <a:r>
              <a:rPr lang="en-US" sz="2000" b="1" dirty="0">
                <a:solidFill>
                  <a:schemeClr val="bg1"/>
                </a:solidFill>
              </a:rPr>
              <a:t>?</a:t>
            </a:r>
            <a:endParaRPr lang="en-US" sz="2000" dirty="0"/>
          </a:p>
        </p:txBody>
      </p:sp>
      <p:sp>
        <p:nvSpPr>
          <p:cNvPr id="8" name="Option A"/>
          <p:cNvSpPr/>
          <p:nvPr/>
        </p:nvSpPr>
        <p:spPr>
          <a:xfrm>
            <a:off x="457200" y="1645920"/>
            <a:ext cx="8229600" cy="457200"/>
          </a:xfrm>
          <a:prstGeom prst="roundRect">
            <a:avLst>
              <a:gd name="adj" fmla="val 18000"/>
            </a:avLst>
          </a:prstGeom>
          <a:solidFill>
            <a:schemeClr val="tx2"/>
          </a:solidFill>
          <a:ln w="9525">
            <a:solidFill>
              <a:schemeClr val="bg2">
                <a:alpha val="35000"/>
              </a:schemeClr>
            </a:solidFill>
            <a:prstDash val="solid"/>
          </a:ln>
        </p:spPr>
      </p:sp>
      <p:sp>
        <p:nvSpPr>
          <p:cNvPr id="9" name="Text 7"/>
          <p:cNvSpPr/>
          <p:nvPr/>
        </p:nvSpPr>
        <p:spPr>
          <a:xfrm>
            <a:off x="548640" y="1719072"/>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10" name="Text 8"/>
          <p:cNvSpPr txBox="1"/>
          <p:nvPr/>
        </p:nvSpPr>
        <p:spPr>
          <a:xfrm>
            <a:off x="969264" y="1645920"/>
            <a:ext cx="7626096" cy="457200"/>
          </a:xfrm>
          <a:prstGeom prst="rect">
            <a:avLst/>
          </a:prstGeom>
          <a:noFill/>
          <a:ln/>
        </p:spPr>
        <p:txBody>
          <a:bodyPr wrap="square" lIns="0" tIns="0" rIns="0" bIns="0" rtlCol="0" anchor="ctr"/>
          <a:lstStyle/>
          <a:p>
            <a:pPr indent="0" marL="0">
              <a:buNone/>
            </a:pPr>
            <a:r>
              <a:rPr lang="en-US" sz="1600" dirty="0">
                <a:solidFill>
                  <a:schemeClr val="bg1"/>
                </a:solidFill>
              </a:rPr>
              <a:t>fluorine</a:t>
            </a:r>
            <a:endParaRPr lang="en-US" sz="1600" dirty="0"/>
          </a:p>
        </p:txBody>
      </p:sp>
      <p:sp>
        <p:nvSpPr>
          <p:cNvPr id="11" name="Option B"/>
          <p:cNvSpPr/>
          <p:nvPr/>
        </p:nvSpPr>
        <p:spPr>
          <a:xfrm>
            <a:off x="457200" y="2231136"/>
            <a:ext cx="8229600" cy="457200"/>
          </a:xfrm>
          <a:prstGeom prst="roundRect">
            <a:avLst>
              <a:gd name="adj" fmla="val 18000"/>
            </a:avLst>
          </a:prstGeom>
          <a:solidFill>
            <a:schemeClr val="tx2"/>
          </a:solidFill>
          <a:ln w="9525">
            <a:solidFill>
              <a:schemeClr val="bg2">
                <a:alpha val="35000"/>
              </a:schemeClr>
            </a:solidFill>
            <a:prstDash val="solid"/>
          </a:ln>
        </p:spPr>
      </p:sp>
      <p:sp>
        <p:nvSpPr>
          <p:cNvPr id="12" name="Text 10"/>
          <p:cNvSpPr/>
          <p:nvPr/>
        </p:nvSpPr>
        <p:spPr>
          <a:xfrm>
            <a:off x="548640" y="2304288"/>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13" name="Text 11"/>
          <p:cNvSpPr txBox="1"/>
          <p:nvPr/>
        </p:nvSpPr>
        <p:spPr>
          <a:xfrm>
            <a:off x="969264" y="2231136"/>
            <a:ext cx="7626096" cy="457200"/>
          </a:xfrm>
          <a:prstGeom prst="rect">
            <a:avLst/>
          </a:prstGeom>
          <a:noFill/>
          <a:ln/>
        </p:spPr>
        <p:txBody>
          <a:bodyPr wrap="square" lIns="0" tIns="0" rIns="0" bIns="0" rtlCol="0" anchor="ctr"/>
          <a:lstStyle/>
          <a:p>
            <a:pPr indent="0" marL="0">
              <a:buNone/>
            </a:pPr>
            <a:r>
              <a:rPr lang="en-US" sz="1600" dirty="0">
                <a:solidFill>
                  <a:schemeClr val="bg1"/>
                </a:solidFill>
              </a:rPr>
              <a:t>fluoride</a:t>
            </a:r>
            <a:endParaRPr lang="en-US" sz="1600" dirty="0"/>
          </a:p>
        </p:txBody>
      </p:sp>
      <p:sp>
        <p:nvSpPr>
          <p:cNvPr id="14" name="Option C"/>
          <p:cNvSpPr/>
          <p:nvPr/>
        </p:nvSpPr>
        <p:spPr>
          <a:xfrm>
            <a:off x="457200" y="2816352"/>
            <a:ext cx="8229600" cy="457200"/>
          </a:xfrm>
          <a:prstGeom prst="roundRect">
            <a:avLst>
              <a:gd name="adj" fmla="val 18000"/>
            </a:avLst>
          </a:prstGeom>
          <a:solidFill>
            <a:schemeClr val="tx2"/>
          </a:solidFill>
          <a:ln w="9525">
            <a:solidFill>
              <a:schemeClr val="bg2">
                <a:alpha val="35000"/>
              </a:schemeClr>
            </a:solidFill>
            <a:prstDash val="solid"/>
          </a:ln>
        </p:spPr>
      </p:sp>
      <p:sp>
        <p:nvSpPr>
          <p:cNvPr id="15" name="Text 13"/>
          <p:cNvSpPr/>
          <p:nvPr/>
        </p:nvSpPr>
        <p:spPr>
          <a:xfrm>
            <a:off x="548640" y="2889504"/>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6" name="Text 14"/>
          <p:cNvSpPr txBox="1"/>
          <p:nvPr/>
        </p:nvSpPr>
        <p:spPr>
          <a:xfrm>
            <a:off x="969264" y="2816352"/>
            <a:ext cx="7626096" cy="457200"/>
          </a:xfrm>
          <a:prstGeom prst="rect">
            <a:avLst/>
          </a:prstGeom>
          <a:noFill/>
          <a:ln/>
        </p:spPr>
        <p:txBody>
          <a:bodyPr wrap="square" lIns="0" tIns="0" rIns="0" bIns="0" rtlCol="0" anchor="ctr"/>
          <a:lstStyle/>
          <a:p>
            <a:pPr indent="0" marL="0">
              <a:buNone/>
            </a:pPr>
            <a:r>
              <a:rPr lang="en-US" sz="1600" dirty="0">
                <a:solidFill>
                  <a:schemeClr val="bg1"/>
                </a:solidFill>
              </a:rPr>
              <a:t>fluorine ion</a:t>
            </a:r>
            <a:endParaRPr lang="en-US" sz="1600" dirty="0"/>
          </a:p>
        </p:txBody>
      </p:sp>
      <p:sp>
        <p:nvSpPr>
          <p:cNvPr id="17" name="Option D"/>
          <p:cNvSpPr/>
          <p:nvPr/>
        </p:nvSpPr>
        <p:spPr>
          <a:xfrm>
            <a:off x="457200" y="3401568"/>
            <a:ext cx="8229600" cy="457200"/>
          </a:xfrm>
          <a:prstGeom prst="roundRect">
            <a:avLst>
              <a:gd name="adj" fmla="val 18000"/>
            </a:avLst>
          </a:prstGeom>
          <a:solidFill>
            <a:schemeClr val="tx2"/>
          </a:solidFill>
          <a:ln w="9525">
            <a:solidFill>
              <a:schemeClr val="bg2">
                <a:alpha val="35000"/>
              </a:schemeClr>
            </a:solidFill>
            <a:prstDash val="solid"/>
          </a:ln>
        </p:spPr>
      </p:sp>
      <p:sp>
        <p:nvSpPr>
          <p:cNvPr id="18" name="Text 16"/>
          <p:cNvSpPr/>
          <p:nvPr/>
        </p:nvSpPr>
        <p:spPr>
          <a:xfrm>
            <a:off x="548640" y="3474720"/>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19" name="Text 17"/>
          <p:cNvSpPr txBox="1"/>
          <p:nvPr/>
        </p:nvSpPr>
        <p:spPr>
          <a:xfrm>
            <a:off x="969264" y="3401568"/>
            <a:ext cx="7626096" cy="457200"/>
          </a:xfrm>
          <a:prstGeom prst="rect">
            <a:avLst/>
          </a:prstGeom>
          <a:noFill/>
          <a:ln/>
        </p:spPr>
        <p:txBody>
          <a:bodyPr wrap="square" lIns="0" tIns="0" rIns="0" bIns="0" rtlCol="0" anchor="ctr"/>
          <a:lstStyle/>
          <a:p>
            <a:pPr indent="0" marL="0">
              <a:buNone/>
            </a:pPr>
            <a:r>
              <a:rPr lang="en-US" sz="1600" dirty="0">
                <a:solidFill>
                  <a:schemeClr val="bg1"/>
                </a:solidFill>
              </a:rPr>
              <a:t>fluorate</a:t>
            </a:r>
            <a:endParaRPr lang="en-US" sz="16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ection tile 5"/>
          <p:cNvSpPr/>
          <p:nvPr/>
        </p:nvSpPr>
        <p:spPr>
          <a:xfrm>
            <a:off x="457200" y="301752"/>
            <a:ext cx="749808" cy="841248"/>
          </a:xfrm>
          <a:prstGeom prst="roundRect">
            <a:avLst>
              <a:gd name="adj" fmla="val 12000"/>
            </a:avLst>
          </a:prstGeom>
          <a:solidFill>
            <a:srgbClr val="F472B6">
              <a:alpha val="28000"/>
            </a:srgbClr>
          </a:solidFill>
          <a:ln w="19050">
            <a:solidFill>
              <a:srgbClr val="F472B6"/>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5</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2400" b="1" dirty="0">
                <a:solidFill>
                  <a:schemeClr val="bg1"/>
                </a:solidFill>
              </a:rPr>
              <a:t>O</a:t>
            </a:r>
            <a:pPr algn="ctr" indent="0" marL="0">
              <a:buNone/>
            </a:pPr>
            <a:r>
              <a:rPr lang="en-US" sz="2400" b="1" baseline="30000" dirty="0">
                <a:solidFill>
                  <a:schemeClr val="bg1"/>
                </a:solidFill>
              </a:rPr>
              <a:t>2−</a:t>
            </a:r>
            <a:endParaRPr lang="en-US" sz="2400" dirty="0"/>
          </a:p>
        </p:txBody>
      </p:sp>
      <p:sp>
        <p:nvSpPr>
          <p:cNvPr id="5" name="Text 3"/>
          <p:cNvSpPr/>
          <p:nvPr/>
        </p:nvSpPr>
        <p:spPr>
          <a:xfrm>
            <a:off x="1417320" y="31089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6" name="Text 4"/>
          <p:cNvSpPr/>
          <p:nvPr/>
        </p:nvSpPr>
        <p:spPr>
          <a:xfrm>
            <a:off x="256032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7" name="Text 5"/>
          <p:cNvSpPr txBox="1"/>
          <p:nvPr/>
        </p:nvSpPr>
        <p:spPr>
          <a:xfrm>
            <a:off x="352044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5 of 9</a:t>
            </a:r>
            <a:endParaRPr lang="en-US" sz="1200" dirty="0"/>
          </a:p>
        </p:txBody>
      </p:sp>
      <p:sp>
        <p:nvSpPr>
          <p:cNvPr id="8" name="Text 0"/>
          <p:cNvSpPr/>
          <p:nvPr>
            <p:ph idx="100" type="title" hasCustomPrompt="1"/>
          </p:nvPr>
        </p:nvSpPr>
        <p:spPr>
          <a:xfrm>
            <a:off x="1417320" y="658368"/>
            <a:ext cx="7269480" cy="841248"/>
          </a:xfrm>
          <a:prstGeom prst="rect">
            <a:avLst/>
          </a:prstGeom>
          <a:noFill/>
          <a:ln/>
        </p:spPr>
        <p:txBody>
          <a:bodyPr wrap="square" lIns="0" tIns="0" rIns="0" bIns="0" rtlCol="0" anchor="t"/>
          <a:lstStyle/>
          <a:p>
            <a:pPr algn="l" indent="0" marL="0">
              <a:buNone/>
            </a:pPr>
            <a:r>
              <a:rPr lang="en-US" sz="2000" b="1" dirty="0">
                <a:solidFill>
                  <a:schemeClr val="bg1"/>
                </a:solidFill>
              </a:rPr>
              <a:t>What is the name of the ion </a:t>
            </a:r>
            <a:pPr algn="l" indent="0" marL="0">
              <a:buNone/>
            </a:pPr>
            <a:r>
              <a:rPr lang="en-US" sz="2000" b="1" dirty="0">
                <a:solidFill>
                  <a:schemeClr val="bg1"/>
                </a:solidFill>
              </a:rPr>
              <a:t>F</a:t>
            </a:r>
            <a:pPr algn="l" indent="0" marL="0">
              <a:buNone/>
            </a:pPr>
            <a:r>
              <a:rPr lang="en-US" sz="2000" b="1" baseline="30000" dirty="0">
                <a:solidFill>
                  <a:schemeClr val="bg1"/>
                </a:solidFill>
              </a:rPr>
              <a:t>−</a:t>
            </a:r>
            <a:pPr algn="l" indent="0" marL="0">
              <a:buNone/>
            </a:pPr>
            <a:r>
              <a:rPr lang="en-US" sz="2000" b="1" dirty="0">
                <a:solidFill>
                  <a:schemeClr val="bg1"/>
                </a:solidFill>
              </a:rPr>
              <a:t>?</a:t>
            </a:r>
            <a:endParaRPr lang="en-US" sz="2000" dirty="0"/>
          </a:p>
        </p:txBody>
      </p:sp>
      <p:sp>
        <p:nvSpPr>
          <p:cNvPr id="9" name="Option A"/>
          <p:cNvSpPr/>
          <p:nvPr/>
        </p:nvSpPr>
        <p:spPr>
          <a:xfrm>
            <a:off x="457200" y="1645920"/>
            <a:ext cx="8229600" cy="457200"/>
          </a:xfrm>
          <a:prstGeom prst="roundRect">
            <a:avLst>
              <a:gd name="adj" fmla="val 18000"/>
            </a:avLst>
          </a:prstGeom>
          <a:solidFill>
            <a:schemeClr val="tx2"/>
          </a:solidFill>
          <a:ln w="9525">
            <a:solidFill>
              <a:schemeClr val="bg2">
                <a:alpha val="35000"/>
              </a:schemeClr>
            </a:solidFill>
            <a:prstDash val="solid"/>
          </a:ln>
        </p:spPr>
      </p:sp>
      <p:sp>
        <p:nvSpPr>
          <p:cNvPr id="10" name="Text 8"/>
          <p:cNvSpPr/>
          <p:nvPr/>
        </p:nvSpPr>
        <p:spPr>
          <a:xfrm>
            <a:off x="548640" y="1719072"/>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11" name="Text 9"/>
          <p:cNvSpPr txBox="1"/>
          <p:nvPr/>
        </p:nvSpPr>
        <p:spPr>
          <a:xfrm>
            <a:off x="969264" y="1645920"/>
            <a:ext cx="7626096" cy="457200"/>
          </a:xfrm>
          <a:prstGeom prst="rect">
            <a:avLst/>
          </a:prstGeom>
          <a:noFill/>
          <a:ln/>
        </p:spPr>
        <p:txBody>
          <a:bodyPr wrap="square" lIns="0" tIns="0" rIns="0" bIns="0" rtlCol="0" anchor="ctr"/>
          <a:lstStyle/>
          <a:p>
            <a:pPr indent="0" marL="0">
              <a:buNone/>
            </a:pPr>
            <a:r>
              <a:rPr lang="en-US" sz="1600" dirty="0">
                <a:solidFill>
                  <a:schemeClr val="bg2"/>
                </a:solidFill>
              </a:rPr>
              <a:t>fluorine</a:t>
            </a:r>
            <a:endParaRPr lang="en-US" sz="1600" dirty="0"/>
          </a:p>
        </p:txBody>
      </p:sp>
      <p:sp>
        <p:nvSpPr>
          <p:cNvPr id="12" name="Option B"/>
          <p:cNvSpPr/>
          <p:nvPr/>
        </p:nvSpPr>
        <p:spPr>
          <a:xfrm>
            <a:off x="457200" y="2231136"/>
            <a:ext cx="8229600" cy="457200"/>
          </a:xfrm>
          <a:prstGeom prst="roundRect">
            <a:avLst>
              <a:gd name="adj" fmla="val 18000"/>
            </a:avLst>
          </a:prstGeom>
          <a:solidFill>
            <a:schemeClr val="accent4">
              <a:alpha val="20000"/>
            </a:schemeClr>
          </a:solidFill>
          <a:ln w="25400">
            <a:solidFill>
              <a:schemeClr val="accent4"/>
            </a:solidFill>
            <a:prstDash val="solid"/>
          </a:ln>
        </p:spPr>
      </p:sp>
      <p:sp>
        <p:nvSpPr>
          <p:cNvPr id="13" name="Text 11"/>
          <p:cNvSpPr/>
          <p:nvPr/>
        </p:nvSpPr>
        <p:spPr>
          <a:xfrm>
            <a:off x="548640" y="2304288"/>
            <a:ext cx="310896" cy="310896"/>
          </a:xfrm>
          <a:prstGeom prst="roundRect">
            <a:avLst>
              <a:gd name="adj" fmla="val 20588"/>
            </a:avLst>
          </a:prstGeom>
          <a:solidFill>
            <a:schemeClr val="accent4"/>
          </a:solidFill>
          <a:ln w="6350">
            <a:solidFill>
              <a:schemeClr val="accent4"/>
            </a:solidFill>
          </a:ln>
        </p:spPr>
        <p:txBody>
          <a:bodyPr wrap="square" lIns="0" tIns="0" rIns="0" bIns="0" rtlCol="0" anchor="ctr"/>
          <a:lstStyle/>
          <a:p>
            <a:pPr algn="ctr" indent="0" marL="0">
              <a:buNone/>
            </a:pPr>
            <a:r>
              <a:rPr lang="en-US" sz="1300" b="1" dirty="0">
                <a:solidFill>
                  <a:schemeClr val="tx1"/>
                </a:solidFill>
              </a:rPr>
              <a:t>B</a:t>
            </a:r>
            <a:endParaRPr lang="en-US" sz="1300" dirty="0"/>
          </a:p>
        </p:txBody>
      </p:sp>
      <p:sp>
        <p:nvSpPr>
          <p:cNvPr id="14" name="Text 12"/>
          <p:cNvSpPr txBox="1"/>
          <p:nvPr/>
        </p:nvSpPr>
        <p:spPr>
          <a:xfrm>
            <a:off x="969264" y="2231136"/>
            <a:ext cx="7626096" cy="457200"/>
          </a:xfrm>
          <a:prstGeom prst="rect">
            <a:avLst/>
          </a:prstGeom>
          <a:noFill/>
          <a:ln/>
        </p:spPr>
        <p:txBody>
          <a:bodyPr wrap="square" lIns="0" tIns="0" rIns="0" bIns="0" rtlCol="0" anchor="ctr"/>
          <a:lstStyle/>
          <a:p>
            <a:pPr indent="0" marL="0">
              <a:buNone/>
            </a:pPr>
            <a:r>
              <a:rPr lang="en-US" sz="1600" b="1" dirty="0">
                <a:solidFill>
                  <a:schemeClr val="bg1"/>
                </a:solidFill>
              </a:rPr>
              <a:t>fluoride</a:t>
            </a:r>
            <a:endParaRPr lang="en-US" sz="1600" dirty="0"/>
          </a:p>
        </p:txBody>
      </p:sp>
      <p:sp>
        <p:nvSpPr>
          <p:cNvPr id="15" name="Option C"/>
          <p:cNvSpPr/>
          <p:nvPr/>
        </p:nvSpPr>
        <p:spPr>
          <a:xfrm>
            <a:off x="457200" y="2816352"/>
            <a:ext cx="8229600" cy="457200"/>
          </a:xfrm>
          <a:prstGeom prst="roundRect">
            <a:avLst>
              <a:gd name="adj" fmla="val 18000"/>
            </a:avLst>
          </a:prstGeom>
          <a:solidFill>
            <a:schemeClr val="tx2"/>
          </a:solidFill>
          <a:ln w="9525">
            <a:solidFill>
              <a:schemeClr val="bg2">
                <a:alpha val="35000"/>
              </a:schemeClr>
            </a:solidFill>
            <a:prstDash val="solid"/>
          </a:ln>
        </p:spPr>
      </p:sp>
      <p:sp>
        <p:nvSpPr>
          <p:cNvPr id="16" name="Text 14"/>
          <p:cNvSpPr/>
          <p:nvPr/>
        </p:nvSpPr>
        <p:spPr>
          <a:xfrm>
            <a:off x="548640" y="2889504"/>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7" name="Text 15"/>
          <p:cNvSpPr txBox="1"/>
          <p:nvPr/>
        </p:nvSpPr>
        <p:spPr>
          <a:xfrm>
            <a:off x="969264" y="2816352"/>
            <a:ext cx="7626096" cy="457200"/>
          </a:xfrm>
          <a:prstGeom prst="rect">
            <a:avLst/>
          </a:prstGeom>
          <a:noFill/>
          <a:ln/>
        </p:spPr>
        <p:txBody>
          <a:bodyPr wrap="square" lIns="0" tIns="0" rIns="0" bIns="0" rtlCol="0" anchor="ctr"/>
          <a:lstStyle/>
          <a:p>
            <a:pPr indent="0" marL="0">
              <a:buNone/>
            </a:pPr>
            <a:r>
              <a:rPr lang="en-US" sz="1600" dirty="0">
                <a:solidFill>
                  <a:schemeClr val="bg2"/>
                </a:solidFill>
              </a:rPr>
              <a:t>fluorine ion</a:t>
            </a:r>
            <a:endParaRPr lang="en-US" sz="1600" dirty="0"/>
          </a:p>
        </p:txBody>
      </p:sp>
      <p:sp>
        <p:nvSpPr>
          <p:cNvPr id="18" name="Option D"/>
          <p:cNvSpPr/>
          <p:nvPr/>
        </p:nvSpPr>
        <p:spPr>
          <a:xfrm>
            <a:off x="457200" y="3401568"/>
            <a:ext cx="8229600" cy="457200"/>
          </a:xfrm>
          <a:prstGeom prst="roundRect">
            <a:avLst>
              <a:gd name="adj" fmla="val 18000"/>
            </a:avLst>
          </a:prstGeom>
          <a:solidFill>
            <a:schemeClr val="tx2"/>
          </a:solidFill>
          <a:ln w="9525">
            <a:solidFill>
              <a:schemeClr val="bg2">
                <a:alpha val="35000"/>
              </a:schemeClr>
            </a:solidFill>
            <a:prstDash val="solid"/>
          </a:ln>
        </p:spPr>
      </p:sp>
      <p:sp>
        <p:nvSpPr>
          <p:cNvPr id="19" name="Text 17"/>
          <p:cNvSpPr/>
          <p:nvPr/>
        </p:nvSpPr>
        <p:spPr>
          <a:xfrm>
            <a:off x="548640" y="3474720"/>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20" name="Text 18"/>
          <p:cNvSpPr txBox="1"/>
          <p:nvPr/>
        </p:nvSpPr>
        <p:spPr>
          <a:xfrm>
            <a:off x="969264" y="3401568"/>
            <a:ext cx="7626096" cy="457200"/>
          </a:xfrm>
          <a:prstGeom prst="rect">
            <a:avLst/>
          </a:prstGeom>
          <a:noFill/>
          <a:ln/>
        </p:spPr>
        <p:txBody>
          <a:bodyPr wrap="square" lIns="0" tIns="0" rIns="0" bIns="0" rtlCol="0" anchor="ctr"/>
          <a:lstStyle/>
          <a:p>
            <a:pPr indent="0" marL="0">
              <a:buNone/>
            </a:pPr>
            <a:r>
              <a:rPr lang="en-US" sz="1600" dirty="0">
                <a:solidFill>
                  <a:schemeClr val="bg2"/>
                </a:solidFill>
              </a:rPr>
              <a:t>fluorate</a:t>
            </a:r>
            <a:endParaRPr lang="en-US" sz="1600" dirty="0"/>
          </a:p>
        </p:txBody>
      </p:sp>
      <p:sp>
        <p:nvSpPr>
          <p:cNvPr id="21" name="Why box"/>
          <p:cNvSpPr/>
          <p:nvPr/>
        </p:nvSpPr>
        <p:spPr>
          <a:xfrm>
            <a:off x="457200" y="4114800"/>
            <a:ext cx="8229600" cy="621792"/>
          </a:xfrm>
          <a:prstGeom prst="roundRect">
            <a:avLst>
              <a:gd name="adj" fmla="val 14706"/>
            </a:avLst>
          </a:prstGeom>
          <a:solidFill>
            <a:schemeClr val="accent4">
              <a:alpha val="12000"/>
            </a:schemeClr>
          </a:solidFill>
          <a:ln w="9525">
            <a:solidFill>
              <a:schemeClr val="accent4">
                <a:alpha val="60000"/>
              </a:schemeClr>
            </a:solidFill>
            <a:prstDash val="solid"/>
          </a:ln>
        </p:spPr>
      </p:sp>
      <p:sp>
        <p:nvSpPr>
          <p:cNvPr id="22" name="Text 20"/>
          <p:cNvSpPr txBox="1"/>
          <p:nvPr/>
        </p:nvSpPr>
        <p:spPr>
          <a:xfrm>
            <a:off x="640080" y="4114800"/>
            <a:ext cx="7863840" cy="621792"/>
          </a:xfrm>
          <a:prstGeom prst="rect">
            <a:avLst/>
          </a:prstGeom>
          <a:noFill/>
          <a:ln/>
        </p:spPr>
        <p:txBody>
          <a:bodyPr wrap="square" lIns="0" tIns="0" rIns="0" bIns="0" rtlCol="0" anchor="ctr"/>
          <a:lstStyle/>
          <a:p>
            <a:pPr indent="0" marL="0">
              <a:buNone/>
            </a:pPr>
            <a:r>
              <a:rPr lang="en-US" sz="1400" b="1" dirty="0">
                <a:solidFill>
                  <a:schemeClr val="accent4"/>
                </a:solidFill>
              </a:rPr>
              <a:t>Why: </a:t>
            </a:r>
            <a:pPr indent="0" marL="0">
              <a:buNone/>
            </a:pPr>
            <a:r>
              <a:rPr lang="en-US" sz="1400" dirty="0">
                <a:solidFill>
                  <a:schemeClr val="bg1"/>
                </a:solidFill>
              </a:rPr>
              <a:t>F⁻ is a negative ion, so the ending changes to -ide: fluoride.</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ection tile 6"/>
          <p:cNvSpPr/>
          <p:nvPr/>
        </p:nvSpPr>
        <p:spPr>
          <a:xfrm>
            <a:off x="457200" y="301752"/>
            <a:ext cx="749808" cy="841248"/>
          </a:xfrm>
          <a:prstGeom prst="roundRect">
            <a:avLst>
              <a:gd name="adj" fmla="val 12000"/>
            </a:avLst>
          </a:prstGeom>
          <a:solidFill>
            <a:srgbClr val="F472B6">
              <a:alpha val="28000"/>
            </a:srgbClr>
          </a:solidFill>
          <a:ln w="19050">
            <a:solidFill>
              <a:srgbClr val="F472B6"/>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6</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2400" b="1" dirty="0">
                <a:solidFill>
                  <a:schemeClr val="bg1"/>
                </a:solidFill>
              </a:rPr>
              <a:t>S</a:t>
            </a:r>
            <a:pPr algn="ctr" indent="0" marL="0">
              <a:buNone/>
            </a:pPr>
            <a:r>
              <a:rPr lang="en-US" sz="2400" b="1" baseline="30000" dirty="0">
                <a:solidFill>
                  <a:schemeClr val="bg1"/>
                </a:solidFill>
              </a:rPr>
              <a:t>2−</a:t>
            </a:r>
            <a:endParaRPr lang="en-US" sz="2400" dirty="0"/>
          </a:p>
        </p:txBody>
      </p:sp>
      <p:sp>
        <p:nvSpPr>
          <p:cNvPr id="5" name="Text 0"/>
          <p:cNvSpPr/>
          <p:nvPr>
            <p:ph idx="100" type="body" hasCustomPrompt="1"/>
          </p:nvPr>
        </p:nvSpPr>
        <p:spPr>
          <a:xfrm>
            <a:off x="1417320" y="329184"/>
            <a:ext cx="7223760" cy="256032"/>
          </a:xfrm>
          <a:prstGeom prst="rect">
            <a:avLst/>
          </a:prstGeom>
          <a:noFill/>
          <a:ln/>
        </p:spPr>
        <p:txBody>
          <a:bodyPr wrap="square" lIns="0" tIns="0" rIns="0" bIns="0" rtlCol="0" anchor="ctr"/>
          <a:lstStyle/>
          <a:p>
            <a:pPr algn="l" indent="0" marL="0">
              <a:buNone/>
            </a:pPr>
            <a:r>
              <a:rPr lang="en-US" sz="1200" dirty="0">
                <a:solidFill>
                  <a:schemeClr val="bg2"/>
                </a:solidFill>
              </a:rPr>
              <a:t>Section 6 of 9 · about 12 min</a:t>
            </a:r>
            <a:endParaRPr lang="en-US" sz="1200" dirty="0"/>
          </a:p>
        </p:txBody>
      </p:sp>
      <p:sp>
        <p:nvSpPr>
          <p:cNvPr id="6" name="Text 0"/>
          <p:cNvSpPr/>
          <p:nvPr>
            <p:ph idx="101" type="title" hasCustomPrompt="1"/>
          </p:nvPr>
        </p:nvSpPr>
        <p:spPr>
          <a:xfrm>
            <a:off x="1417320" y="603504"/>
            <a:ext cx="7223760" cy="530352"/>
          </a:xfrm>
          <a:prstGeom prst="rect">
            <a:avLst/>
          </a:prstGeom>
          <a:noFill/>
          <a:ln/>
        </p:spPr>
        <p:txBody>
          <a:bodyPr wrap="square" lIns="0" tIns="0" rIns="0" bIns="0" rtlCol="0" anchor="ctr"/>
          <a:lstStyle/>
          <a:p>
            <a:pPr algn="l" indent="0" marL="0">
              <a:buNone/>
            </a:pPr>
            <a:r>
              <a:rPr lang="en-US" sz="3000" b="1" dirty="0">
                <a:solidFill>
                  <a:schemeClr val="bg1"/>
                </a:solidFill>
              </a:rPr>
              <a:t>Draw Bohr models of ions</a:t>
            </a:r>
            <a:endParaRPr lang="en-US" sz="3000" dirty="0"/>
          </a:p>
        </p:txBody>
      </p:sp>
      <p:sp>
        <p:nvSpPr>
          <p:cNvPr id="7" name="In this section"/>
          <p:cNvSpPr/>
          <p:nvPr/>
        </p:nvSpPr>
        <p:spPr>
          <a:xfrm>
            <a:off x="45720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8" name="Text 6"/>
          <p:cNvSpPr txBox="1"/>
          <p:nvPr/>
        </p:nvSpPr>
        <p:spPr>
          <a:xfrm>
            <a:off x="685800" y="1536192"/>
            <a:ext cx="3566160" cy="292608"/>
          </a:xfrm>
          <a:prstGeom prst="rect">
            <a:avLst/>
          </a:prstGeom>
          <a:noFill/>
          <a:ln/>
        </p:spPr>
        <p:txBody>
          <a:bodyPr wrap="square" lIns="0" tIns="0" rIns="0" bIns="0" rtlCol="0" anchor="t"/>
          <a:lstStyle/>
          <a:p>
            <a:pPr indent="0" marL="0">
              <a:buNone/>
            </a:pPr>
            <a:r>
              <a:rPr lang="en-US" sz="1500" b="1" dirty="0">
                <a:solidFill>
                  <a:schemeClr val="accent1"/>
                </a:solidFill>
              </a:rPr>
              <a:t>In this section</a:t>
            </a:r>
            <a:endParaRPr lang="en-US" sz="1500" dirty="0"/>
          </a:p>
        </p:txBody>
      </p:sp>
      <p:sp>
        <p:nvSpPr>
          <p:cNvPr id="9" name="Text 7"/>
          <p:cNvSpPr/>
          <p:nvPr/>
        </p:nvSpPr>
        <p:spPr>
          <a:xfrm>
            <a:off x="685800" y="2039112"/>
            <a:ext cx="73152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Read</a:t>
            </a:r>
            <a:endParaRPr lang="en-US" sz="1100" dirty="0"/>
          </a:p>
        </p:txBody>
      </p:sp>
      <p:sp>
        <p:nvSpPr>
          <p:cNvPr id="10" name="Text 8"/>
          <p:cNvSpPr txBox="1"/>
          <p:nvPr/>
        </p:nvSpPr>
        <p:spPr>
          <a:xfrm>
            <a:off x="1554480" y="1947672"/>
            <a:ext cx="2697480" cy="457200"/>
          </a:xfrm>
          <a:prstGeom prst="rect">
            <a:avLst/>
          </a:prstGeom>
          <a:noFill/>
          <a:ln/>
        </p:spPr>
        <p:txBody>
          <a:bodyPr wrap="square" lIns="0" tIns="0" rIns="0" bIns="0" rtlCol="0" anchor="ctr"/>
          <a:lstStyle/>
          <a:p>
            <a:pPr indent="0" marL="0">
              <a:buNone/>
            </a:pPr>
            <a:r>
              <a:rPr lang="en-US" sz="1400" dirty="0">
                <a:solidFill>
                  <a:schemeClr val="bg1"/>
                </a:solidFill>
              </a:rPr>
              <a:t>Same nucleus, new electrons</a:t>
            </a:r>
            <a:endParaRPr lang="en-US" sz="1400" dirty="0"/>
          </a:p>
        </p:txBody>
      </p:sp>
      <p:sp>
        <p:nvSpPr>
          <p:cNvPr id="11" name="Text 9"/>
          <p:cNvSpPr/>
          <p:nvPr/>
        </p:nvSpPr>
        <p:spPr>
          <a:xfrm>
            <a:off x="685800" y="2752344"/>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12" name="Text 10"/>
          <p:cNvSpPr txBox="1"/>
          <p:nvPr/>
        </p:nvSpPr>
        <p:spPr>
          <a:xfrm>
            <a:off x="1554480" y="2660904"/>
            <a:ext cx="2697480" cy="457200"/>
          </a:xfrm>
          <a:prstGeom prst="rect">
            <a:avLst/>
          </a:prstGeom>
          <a:noFill/>
          <a:ln/>
        </p:spPr>
        <p:txBody>
          <a:bodyPr wrap="square" lIns="0" tIns="0" rIns="0" bIns="0" rtlCol="0" anchor="ctr"/>
          <a:lstStyle/>
          <a:p>
            <a:pPr indent="0" marL="0">
              <a:buNone/>
            </a:pPr>
            <a:r>
              <a:rPr lang="en-US" sz="1400" dirty="0">
                <a:solidFill>
                  <a:schemeClr val="bg1"/>
                </a:solidFill>
              </a:rPr>
              <a:t>Ion model builder</a:t>
            </a:r>
            <a:endParaRPr lang="en-US" sz="1400" dirty="0"/>
          </a:p>
        </p:txBody>
      </p:sp>
      <p:sp>
        <p:nvSpPr>
          <p:cNvPr id="13" name="Text 11"/>
          <p:cNvSpPr/>
          <p:nvPr/>
        </p:nvSpPr>
        <p:spPr>
          <a:xfrm>
            <a:off x="685800" y="346557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14" name="Text 12"/>
          <p:cNvSpPr txBox="1"/>
          <p:nvPr/>
        </p:nvSpPr>
        <p:spPr>
          <a:xfrm>
            <a:off x="1874520" y="3374136"/>
            <a:ext cx="2377440" cy="457200"/>
          </a:xfrm>
          <a:prstGeom prst="rect">
            <a:avLst/>
          </a:prstGeom>
          <a:noFill/>
          <a:ln/>
        </p:spPr>
        <p:txBody>
          <a:bodyPr wrap="square" lIns="0" tIns="0" rIns="0" bIns="0" rtlCol="0" anchor="ctr"/>
          <a:lstStyle/>
          <a:p>
            <a:pPr indent="0" marL="0">
              <a:buNone/>
            </a:pPr>
            <a:r>
              <a:rPr lang="en-US" sz="1400" dirty="0">
                <a:solidFill>
                  <a:schemeClr val="bg1"/>
                </a:solidFill>
              </a:rPr>
              <a:t>Shells in Mg²⁺</a:t>
            </a:r>
            <a:endParaRPr lang="en-US" sz="1400" dirty="0"/>
          </a:p>
        </p:txBody>
      </p:sp>
      <p:sp>
        <p:nvSpPr>
          <p:cNvPr id="15" name="To unlock the next section"/>
          <p:cNvSpPr/>
          <p:nvPr/>
        </p:nvSpPr>
        <p:spPr>
          <a:xfrm>
            <a:off x="466344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16" name="Text 14"/>
          <p:cNvSpPr txBox="1"/>
          <p:nvPr/>
        </p:nvSpPr>
        <p:spPr>
          <a:xfrm>
            <a:off x="4892040" y="1536192"/>
            <a:ext cx="3566160" cy="292608"/>
          </a:xfrm>
          <a:prstGeom prst="rect">
            <a:avLst/>
          </a:prstGeom>
          <a:noFill/>
          <a:ln/>
        </p:spPr>
        <p:txBody>
          <a:bodyPr wrap="square" lIns="0" tIns="0" rIns="0" bIns="0" rtlCol="0" anchor="t"/>
          <a:lstStyle/>
          <a:p>
            <a:pPr indent="0" marL="0">
              <a:buNone/>
            </a:pPr>
            <a:r>
              <a:rPr lang="en-US" sz="1500" b="1" dirty="0">
                <a:solidFill>
                  <a:schemeClr val="accent4"/>
                </a:solidFill>
              </a:rPr>
              <a:t>To unlock the next section</a:t>
            </a:r>
            <a:endParaRPr lang="en-US" sz="1500" dirty="0"/>
          </a:p>
        </p:txBody>
      </p:sp>
      <p:sp>
        <p:nvSpPr>
          <p:cNvPr id="17" name="Text 15"/>
          <p:cNvSpPr/>
          <p:nvPr/>
        </p:nvSpPr>
        <p:spPr>
          <a:xfrm>
            <a:off x="4892040" y="2066544"/>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18" name="Text 16"/>
          <p:cNvSpPr txBox="1"/>
          <p:nvPr/>
        </p:nvSpPr>
        <p:spPr>
          <a:xfrm>
            <a:off x="5303520" y="1993392"/>
            <a:ext cx="3200400" cy="457200"/>
          </a:xfrm>
          <a:prstGeom prst="rect">
            <a:avLst/>
          </a:prstGeom>
          <a:noFill/>
          <a:ln/>
        </p:spPr>
        <p:txBody>
          <a:bodyPr wrap="square" lIns="0" tIns="0" rIns="0" bIns="0" rtlCol="0" anchor="ctr"/>
          <a:lstStyle/>
          <a:p>
            <a:pPr indent="0" marL="0">
              <a:buNone/>
            </a:pPr>
            <a:r>
              <a:rPr lang="en-US" sz="1400" dirty="0">
                <a:solidFill>
                  <a:schemeClr val="bg1"/>
                </a:solidFill>
              </a:rPr>
              <a:t>Build the sodium ion</a:t>
            </a:r>
            <a:endParaRPr lang="en-US" sz="1400" dirty="0"/>
          </a:p>
        </p:txBody>
      </p:sp>
      <p:sp>
        <p:nvSpPr>
          <p:cNvPr id="19" name="Text 17"/>
          <p:cNvSpPr/>
          <p:nvPr/>
        </p:nvSpPr>
        <p:spPr>
          <a:xfrm>
            <a:off x="4892040" y="2468880"/>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0" name="Text 18"/>
          <p:cNvSpPr txBox="1"/>
          <p:nvPr/>
        </p:nvSpPr>
        <p:spPr>
          <a:xfrm>
            <a:off x="5303520" y="2395728"/>
            <a:ext cx="3200400" cy="457200"/>
          </a:xfrm>
          <a:prstGeom prst="rect">
            <a:avLst/>
          </a:prstGeom>
          <a:noFill/>
          <a:ln/>
        </p:spPr>
        <p:txBody>
          <a:bodyPr wrap="square" lIns="0" tIns="0" rIns="0" bIns="0" rtlCol="0" anchor="ctr"/>
          <a:lstStyle/>
          <a:p>
            <a:pPr indent="0" marL="0">
              <a:buNone/>
            </a:pPr>
            <a:r>
              <a:rPr lang="en-US" sz="1400" dirty="0">
                <a:solidFill>
                  <a:schemeClr val="bg1"/>
                </a:solidFill>
              </a:rPr>
              <a:t>Build the sulfide ion</a:t>
            </a:r>
            <a:endParaRPr lang="en-US" sz="1400" dirty="0"/>
          </a:p>
        </p:txBody>
      </p:sp>
      <p:sp>
        <p:nvSpPr>
          <p:cNvPr id="21" name="Text 19"/>
          <p:cNvSpPr/>
          <p:nvPr/>
        </p:nvSpPr>
        <p:spPr>
          <a:xfrm>
            <a:off x="4892040" y="2871216"/>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2" name="Text 20"/>
          <p:cNvSpPr txBox="1"/>
          <p:nvPr/>
        </p:nvSpPr>
        <p:spPr>
          <a:xfrm>
            <a:off x="5303520" y="2798064"/>
            <a:ext cx="3200400" cy="457200"/>
          </a:xfrm>
          <a:prstGeom prst="rect">
            <a:avLst/>
          </a:prstGeom>
          <a:noFill/>
          <a:ln/>
        </p:spPr>
        <p:txBody>
          <a:bodyPr wrap="square" lIns="0" tIns="0" rIns="0" bIns="0" rtlCol="0" anchor="ctr"/>
          <a:lstStyle/>
          <a:p>
            <a:pPr indent="0" marL="0">
              <a:buNone/>
            </a:pPr>
            <a:r>
              <a:rPr lang="en-US" sz="1400" dirty="0">
                <a:solidFill>
                  <a:schemeClr val="bg1"/>
                </a:solidFill>
              </a:rPr>
              <a:t>Build the calcium ion</a:t>
            </a:r>
            <a:endParaRPr lang="en-US" sz="1400" dirty="0"/>
          </a:p>
        </p:txBody>
      </p:sp>
      <p:sp>
        <p:nvSpPr>
          <p:cNvPr id="23" name="Text 21"/>
          <p:cNvSpPr/>
          <p:nvPr/>
        </p:nvSpPr>
        <p:spPr>
          <a:xfrm>
            <a:off x="4892040" y="3273552"/>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4" name="Text 22"/>
          <p:cNvSpPr txBox="1"/>
          <p:nvPr/>
        </p:nvSpPr>
        <p:spPr>
          <a:xfrm>
            <a:off x="5303520" y="3200400"/>
            <a:ext cx="3200400" cy="457200"/>
          </a:xfrm>
          <a:prstGeom prst="rect">
            <a:avLst/>
          </a:prstGeom>
          <a:noFill/>
          <a:ln/>
        </p:spPr>
        <p:txBody>
          <a:bodyPr wrap="square" lIns="0" tIns="0" rIns="0" bIns="0" rtlCol="0" anchor="ctr"/>
          <a:lstStyle/>
          <a:p>
            <a:pPr indent="0" marL="0">
              <a:buNone/>
            </a:pPr>
            <a:r>
              <a:rPr lang="en-US" sz="1400" dirty="0">
                <a:solidFill>
                  <a:schemeClr val="bg1"/>
                </a:solidFill>
              </a:rPr>
              <a:t>Build the nitride ion</a:t>
            </a:r>
            <a:endParaRPr lang="en-US" sz="1400" dirty="0"/>
          </a:p>
        </p:txBody>
      </p:sp>
      <p:sp>
        <p:nvSpPr>
          <p:cNvPr id="25" name="Text 23"/>
          <p:cNvSpPr/>
          <p:nvPr/>
        </p:nvSpPr>
        <p:spPr>
          <a:xfrm>
            <a:off x="4892040" y="3675888"/>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6" name="Text 24"/>
          <p:cNvSpPr txBox="1"/>
          <p:nvPr/>
        </p:nvSpPr>
        <p:spPr>
          <a:xfrm>
            <a:off x="5303520" y="3602736"/>
            <a:ext cx="3200400" cy="457200"/>
          </a:xfrm>
          <a:prstGeom prst="rect">
            <a:avLst/>
          </a:prstGeom>
          <a:noFill/>
          <a:ln/>
        </p:spPr>
        <p:txBody>
          <a:bodyPr wrap="square" lIns="0" tIns="0" rIns="0" bIns="0" rtlCol="0" anchor="ctr"/>
          <a:lstStyle/>
          <a:p>
            <a:pPr indent="0" marL="0">
              <a:buNone/>
            </a:pPr>
            <a:r>
              <a:rPr lang="en-US" sz="1400" dirty="0">
                <a:solidFill>
                  <a:schemeClr val="bg1"/>
                </a:solidFill>
              </a:rPr>
              <a:t>Build the lithium ion</a:t>
            </a:r>
            <a:endParaRPr lang="en-US" sz="1400" dirty="0"/>
          </a:p>
        </p:txBody>
      </p:sp>
      <p:sp>
        <p:nvSpPr>
          <p:cNvPr id="27" name="Text 25"/>
          <p:cNvSpPr/>
          <p:nvPr/>
        </p:nvSpPr>
        <p:spPr>
          <a:xfrm>
            <a:off x="4892040" y="4078224"/>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8" name="Text 26"/>
          <p:cNvSpPr txBox="1"/>
          <p:nvPr/>
        </p:nvSpPr>
        <p:spPr>
          <a:xfrm>
            <a:off x="5303520" y="4005072"/>
            <a:ext cx="3200400" cy="457200"/>
          </a:xfrm>
          <a:prstGeom prst="rect">
            <a:avLst/>
          </a:prstGeom>
          <a:noFill/>
          <a:ln/>
        </p:spPr>
        <p:txBody>
          <a:bodyPr wrap="square" lIns="0" tIns="0" rIns="0" bIns="0" rtlCol="0" anchor="ctr"/>
          <a:lstStyle/>
          <a:p>
            <a:pPr indent="0" marL="0">
              <a:buNone/>
            </a:pPr>
            <a:r>
              <a:rPr lang="en-US" sz="1400" dirty="0">
                <a:solidFill>
                  <a:schemeClr val="bg1"/>
                </a:solidFill>
              </a:rPr>
              <a:t>Answer the quick check correctly</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ection tile 6"/>
          <p:cNvSpPr/>
          <p:nvPr/>
        </p:nvSpPr>
        <p:spPr>
          <a:xfrm>
            <a:off x="457200" y="301752"/>
            <a:ext cx="749808" cy="841248"/>
          </a:xfrm>
          <a:prstGeom prst="roundRect">
            <a:avLst>
              <a:gd name="adj" fmla="val 12000"/>
            </a:avLst>
          </a:prstGeom>
          <a:solidFill>
            <a:srgbClr val="F472B6">
              <a:alpha val="28000"/>
            </a:srgbClr>
          </a:solidFill>
          <a:ln w="19050">
            <a:solidFill>
              <a:srgbClr val="F472B6"/>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6</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2400" b="1" dirty="0">
                <a:solidFill>
                  <a:schemeClr val="bg1"/>
                </a:solidFill>
              </a:rPr>
              <a:t>S</a:t>
            </a:r>
            <a:pPr algn="ctr" indent="0" marL="0">
              <a:buNone/>
            </a:pPr>
            <a:r>
              <a:rPr lang="en-US" sz="2400" b="1" baseline="30000" dirty="0">
                <a:solidFill>
                  <a:schemeClr val="bg1"/>
                </a:solidFill>
              </a:rPr>
              <a:t>2−</a:t>
            </a:r>
            <a:endParaRPr lang="en-US" sz="2400" dirty="0"/>
          </a:p>
        </p:txBody>
      </p:sp>
      <p:sp>
        <p:nvSpPr>
          <p:cNvPr id="5" name="Text 3"/>
          <p:cNvSpPr/>
          <p:nvPr/>
        </p:nvSpPr>
        <p:spPr>
          <a:xfrm>
            <a:off x="1417320" y="310896"/>
            <a:ext cx="73152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Read</a:t>
            </a:r>
            <a:endParaRPr lang="en-US" sz="1100" dirty="0"/>
          </a:p>
        </p:txBody>
      </p:sp>
      <p:sp>
        <p:nvSpPr>
          <p:cNvPr id="6" name="Text 4"/>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6 of 9</a:t>
            </a:r>
            <a:endParaRPr lang="en-US" sz="1200" dirty="0"/>
          </a:p>
        </p:txBody>
      </p:sp>
      <p:sp>
        <p:nvSpPr>
          <p:cNvPr id="7"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Same nucleus, new electrons</a:t>
            </a:r>
            <a:endParaRPr lang="en-US" sz="2800" dirty="0"/>
          </a:p>
        </p:txBody>
      </p:sp>
      <p:sp>
        <p:nvSpPr>
          <p:cNvPr id="8" name="Text 6"/>
          <p:cNvSpPr txBox="1"/>
          <p:nvPr/>
        </p:nvSpPr>
        <p:spPr>
          <a:xfrm>
            <a:off x="457200" y="1325880"/>
            <a:ext cx="4572000" cy="731520"/>
          </a:xfrm>
          <a:prstGeom prst="rect">
            <a:avLst/>
          </a:prstGeom>
          <a:noFill/>
          <a:ln/>
        </p:spPr>
        <p:txBody>
          <a:bodyPr wrap="square" lIns="0" tIns="0" rIns="0" bIns="0" rtlCol="0" anchor="t"/>
          <a:lstStyle/>
          <a:p>
            <a:pPr indent="0" marL="0">
              <a:spcAft>
                <a:spcPts val="800"/>
              </a:spcAft>
              <a:buNone/>
            </a:pPr>
            <a:r>
              <a:rPr lang="en-US" sz="1500" dirty="0">
                <a:solidFill>
                  <a:schemeClr val="bg1"/>
                </a:solidFill>
              </a:rPr>
              <a:t>An ion's Bohr model has the same nucleus as the atom: same protons, same neutrons. Only the electrons change.</a:t>
            </a:r>
            <a:endParaRPr lang="en-US" sz="1500" dirty="0"/>
          </a:p>
        </p:txBody>
      </p:sp>
      <p:sp>
        <p:nvSpPr>
          <p:cNvPr id="9" name="Text 7"/>
          <p:cNvSpPr/>
          <p:nvPr/>
        </p:nvSpPr>
        <p:spPr>
          <a:xfrm>
            <a:off x="457200" y="2139696"/>
            <a:ext cx="365760" cy="365760"/>
          </a:xfrm>
          <a:prstGeom prst="ellipse">
            <a:avLst/>
          </a:prstGeom>
          <a:solidFill>
            <a:schemeClr val="accent4"/>
          </a:solidFill>
          <a:ln w="6350">
            <a:solidFill>
              <a:schemeClr val="accent4"/>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0" name="Text 8"/>
          <p:cNvSpPr txBox="1"/>
          <p:nvPr/>
        </p:nvSpPr>
        <p:spPr>
          <a:xfrm>
            <a:off x="987552" y="2103120"/>
            <a:ext cx="4023360" cy="640080"/>
          </a:xfrm>
          <a:prstGeom prst="rect">
            <a:avLst/>
          </a:prstGeom>
          <a:noFill/>
          <a:ln/>
        </p:spPr>
        <p:txBody>
          <a:bodyPr wrap="square" lIns="0" tIns="0" rIns="0" bIns="0" rtlCol="0" anchor="t"/>
          <a:lstStyle/>
          <a:p>
            <a:pPr indent="0" marL="0">
              <a:buNone/>
            </a:pPr>
            <a:r>
              <a:rPr lang="en-US" sz="1400" b="1" dirty="0">
                <a:solidFill>
                  <a:schemeClr val="bg1"/>
                </a:solidFill>
              </a:rPr>
              <a:t>Positive ion: </a:t>
            </a:r>
            <a:pPr indent="0" marL="0">
              <a:buNone/>
            </a:pPr>
            <a:r>
              <a:rPr lang="en-US" sz="1400" dirty="0">
                <a:solidFill>
                  <a:schemeClr val="bg1"/>
                </a:solidFill>
              </a:rPr>
              <a:t>remove the outer shell's electrons. That shell is empty, so don't draw it.</a:t>
            </a:r>
            <a:endParaRPr lang="en-US" sz="1400" dirty="0"/>
          </a:p>
        </p:txBody>
      </p:sp>
      <p:sp>
        <p:nvSpPr>
          <p:cNvPr id="11" name="Text 9"/>
          <p:cNvSpPr/>
          <p:nvPr/>
        </p:nvSpPr>
        <p:spPr>
          <a:xfrm>
            <a:off x="457200" y="2852928"/>
            <a:ext cx="365760" cy="365760"/>
          </a:xfrm>
          <a:prstGeom prst="ellipse">
            <a:avLst/>
          </a:prstGeom>
          <a:solidFill>
            <a:schemeClr val="accent4"/>
          </a:solidFill>
          <a:ln w="6350">
            <a:solidFill>
              <a:schemeClr val="accent4"/>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2" name="Text 10"/>
          <p:cNvSpPr txBox="1"/>
          <p:nvPr/>
        </p:nvSpPr>
        <p:spPr>
          <a:xfrm>
            <a:off x="987552" y="2816352"/>
            <a:ext cx="4023360" cy="640080"/>
          </a:xfrm>
          <a:prstGeom prst="rect">
            <a:avLst/>
          </a:prstGeom>
          <a:noFill/>
          <a:ln/>
        </p:spPr>
        <p:txBody>
          <a:bodyPr wrap="square" lIns="0" tIns="0" rIns="0" bIns="0" rtlCol="0" anchor="t"/>
          <a:lstStyle/>
          <a:p>
            <a:pPr indent="0" marL="0">
              <a:buNone/>
            </a:pPr>
            <a:r>
              <a:rPr lang="en-US" sz="1400" b="1" dirty="0">
                <a:solidFill>
                  <a:schemeClr val="bg1"/>
                </a:solidFill>
              </a:rPr>
              <a:t>Negative ion: </a:t>
            </a:r>
            <a:pPr indent="0" marL="0">
              <a:buNone/>
            </a:pPr>
            <a:r>
              <a:rPr lang="en-US" sz="1400" dirty="0">
                <a:solidFill>
                  <a:schemeClr val="bg1"/>
                </a:solidFill>
              </a:rPr>
              <a:t>add electrons to fill the outer shell to 8, using the class order.</a:t>
            </a:r>
            <a:endParaRPr lang="en-US" sz="1400" dirty="0"/>
          </a:p>
        </p:txBody>
      </p:sp>
      <p:sp>
        <p:nvSpPr>
          <p:cNvPr id="13" name="Text 11"/>
          <p:cNvSpPr/>
          <p:nvPr/>
        </p:nvSpPr>
        <p:spPr>
          <a:xfrm>
            <a:off x="457200" y="3566160"/>
            <a:ext cx="365760" cy="365760"/>
          </a:xfrm>
          <a:prstGeom prst="ellipse">
            <a:avLst/>
          </a:prstGeom>
          <a:solidFill>
            <a:schemeClr val="accent4"/>
          </a:solidFill>
          <a:ln w="6350">
            <a:solidFill>
              <a:schemeClr val="accent4"/>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4" name="Text 12"/>
          <p:cNvSpPr txBox="1"/>
          <p:nvPr/>
        </p:nvSpPr>
        <p:spPr>
          <a:xfrm>
            <a:off x="987552" y="3529584"/>
            <a:ext cx="4023360" cy="640080"/>
          </a:xfrm>
          <a:prstGeom prst="rect">
            <a:avLst/>
          </a:prstGeom>
          <a:noFill/>
          <a:ln/>
        </p:spPr>
        <p:txBody>
          <a:bodyPr wrap="square" lIns="0" tIns="0" rIns="0" bIns="0" rtlCol="0" anchor="t"/>
          <a:lstStyle/>
          <a:p>
            <a:pPr indent="0" marL="0">
              <a:buNone/>
            </a:pPr>
            <a:r>
              <a:rPr lang="en-US" sz="1400" b="1" dirty="0">
                <a:solidFill>
                  <a:schemeClr val="bg1"/>
                </a:solidFill>
              </a:rPr>
              <a:t>Put brackets </a:t>
            </a:r>
            <a:pPr indent="0" marL="0">
              <a:buNone/>
            </a:pPr>
            <a:r>
              <a:rPr lang="en-US" sz="1400" dirty="0">
                <a:solidFill>
                  <a:schemeClr val="bg1"/>
                </a:solidFill>
              </a:rPr>
              <a:t>around the model and write the charge at the top right.</a:t>
            </a:r>
            <a:endParaRPr lang="en-US" sz="1400" dirty="0"/>
          </a:p>
        </p:txBody>
      </p:sp>
      <p:sp>
        <p:nvSpPr>
          <p:cNvPr id="15" name="magnesium ion: shell 1"/>
          <p:cNvSpPr/>
          <p:nvPr/>
        </p:nvSpPr>
        <p:spPr>
          <a:xfrm>
            <a:off x="5605975" y="2085535"/>
            <a:ext cx="675249" cy="675249"/>
          </a:xfrm>
          <a:prstGeom prst="ellipse">
            <a:avLst/>
          </a:prstGeom>
          <a:solidFill>
            <a:schemeClr val="bg1">
              <a:alpha val="0"/>
            </a:schemeClr>
          </a:solidFill>
          <a:ln w="15875">
            <a:solidFill>
              <a:schemeClr val="bg2">
                <a:alpha val="55000"/>
              </a:schemeClr>
            </a:solidFill>
            <a:prstDash val="solid"/>
          </a:ln>
        </p:spPr>
      </p:sp>
      <p:sp>
        <p:nvSpPr>
          <p:cNvPr id="16" name="magnesium ion: shell 2"/>
          <p:cNvSpPr/>
          <p:nvPr/>
        </p:nvSpPr>
        <p:spPr>
          <a:xfrm>
            <a:off x="5394960" y="1874520"/>
            <a:ext cx="1097280" cy="1097280"/>
          </a:xfrm>
          <a:prstGeom prst="ellipse">
            <a:avLst/>
          </a:prstGeom>
          <a:solidFill>
            <a:schemeClr val="bg1">
              <a:alpha val="0"/>
            </a:schemeClr>
          </a:solidFill>
          <a:ln w="15875">
            <a:solidFill>
              <a:schemeClr val="bg2">
                <a:alpha val="55000"/>
              </a:schemeClr>
            </a:solidFill>
            <a:prstDash val="solid"/>
          </a:ln>
        </p:spPr>
      </p:sp>
      <p:sp>
        <p:nvSpPr>
          <p:cNvPr id="17" name="magnesium ion: nucleus"/>
          <p:cNvSpPr/>
          <p:nvPr/>
        </p:nvSpPr>
        <p:spPr>
          <a:xfrm>
            <a:off x="5725551" y="2205111"/>
            <a:ext cx="436098" cy="436098"/>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800" b="1" dirty="0">
                <a:solidFill>
                  <a:schemeClr val="bg1"/>
                </a:solidFill>
              </a:rPr>
              <a:t>12 p</a:t>
            </a:r>
            <a:pPr algn="ctr" indent="0" marL="0">
              <a:buNone/>
            </a:pPr>
            <a:r>
              <a:rPr lang="en-US" sz="800" b="1" baseline="30000" dirty="0">
                <a:solidFill>
                  <a:schemeClr val="bg1"/>
                </a:solidFill>
              </a:rPr>
              <a:t>+</a:t>
            </a:r>
            <a:endParaRPr lang="en-US" sz="800" dirty="0"/>
          </a:p>
          <a:p>
            <a:pPr algn="ctr" indent="0" marL="0">
              <a:buNone/>
            </a:pPr>
            <a:r>
              <a:rPr lang="en-US" sz="800" b="1" dirty="0">
                <a:solidFill>
                  <a:schemeClr val="bg1"/>
                </a:solidFill>
              </a:rPr>
              <a:t>12 n</a:t>
            </a:r>
            <a:pPr algn="ctr" indent="0" marL="0">
              <a:buNone/>
            </a:pPr>
            <a:r>
              <a:rPr lang="en-US" sz="800" b="1" baseline="30000" dirty="0">
                <a:solidFill>
                  <a:schemeClr val="bg1"/>
                </a:solidFill>
              </a:rPr>
              <a:t>0</a:t>
            </a:r>
            <a:endParaRPr lang="en-US" sz="800" dirty="0"/>
          </a:p>
        </p:txBody>
      </p:sp>
      <p:sp>
        <p:nvSpPr>
          <p:cNvPr id="18" name="magnesium ion: electron, shell 1"/>
          <p:cNvSpPr/>
          <p:nvPr/>
        </p:nvSpPr>
        <p:spPr>
          <a:xfrm>
            <a:off x="5890846" y="2032782"/>
            <a:ext cx="105508" cy="105508"/>
          </a:xfrm>
          <a:prstGeom prst="ellipse">
            <a:avLst/>
          </a:prstGeom>
          <a:solidFill>
            <a:schemeClr val="accent1"/>
          </a:solidFill>
          <a:ln w="3175">
            <a:solidFill>
              <a:schemeClr val="accent1"/>
            </a:solidFill>
            <a:prstDash val="solid"/>
          </a:ln>
        </p:spPr>
      </p:sp>
      <p:sp>
        <p:nvSpPr>
          <p:cNvPr id="19" name="magnesium ion: electron, shell 1"/>
          <p:cNvSpPr/>
          <p:nvPr/>
        </p:nvSpPr>
        <p:spPr>
          <a:xfrm>
            <a:off x="6228471" y="2370406"/>
            <a:ext cx="105508" cy="105508"/>
          </a:xfrm>
          <a:prstGeom prst="ellipse">
            <a:avLst/>
          </a:prstGeom>
          <a:solidFill>
            <a:schemeClr val="accent1"/>
          </a:solidFill>
          <a:ln w="3175">
            <a:solidFill>
              <a:schemeClr val="accent1"/>
            </a:solidFill>
            <a:prstDash val="solid"/>
          </a:ln>
        </p:spPr>
      </p:sp>
      <p:sp>
        <p:nvSpPr>
          <p:cNvPr id="20" name="magnesium ion: electron, shell 2"/>
          <p:cNvSpPr/>
          <p:nvPr/>
        </p:nvSpPr>
        <p:spPr>
          <a:xfrm>
            <a:off x="5820003" y="1826359"/>
            <a:ext cx="105508" cy="105508"/>
          </a:xfrm>
          <a:prstGeom prst="ellipse">
            <a:avLst/>
          </a:prstGeom>
          <a:solidFill>
            <a:schemeClr val="accent1"/>
          </a:solidFill>
          <a:ln w="3175">
            <a:solidFill>
              <a:schemeClr val="accent1"/>
            </a:solidFill>
            <a:prstDash val="solid"/>
          </a:ln>
        </p:spPr>
      </p:sp>
      <p:sp>
        <p:nvSpPr>
          <p:cNvPr id="21" name="magnesium ion: electron, shell 2"/>
          <p:cNvSpPr/>
          <p:nvPr/>
        </p:nvSpPr>
        <p:spPr>
          <a:xfrm>
            <a:off x="5961690" y="1826359"/>
            <a:ext cx="105508" cy="105508"/>
          </a:xfrm>
          <a:prstGeom prst="ellipse">
            <a:avLst/>
          </a:prstGeom>
          <a:solidFill>
            <a:schemeClr val="accent1"/>
          </a:solidFill>
          <a:ln w="3175">
            <a:solidFill>
              <a:schemeClr val="accent1"/>
            </a:solidFill>
            <a:prstDash val="solid"/>
          </a:ln>
        </p:spPr>
      </p:sp>
      <p:sp>
        <p:nvSpPr>
          <p:cNvPr id="22" name="magnesium ion: electron, shell 2"/>
          <p:cNvSpPr/>
          <p:nvPr/>
        </p:nvSpPr>
        <p:spPr>
          <a:xfrm>
            <a:off x="6434893" y="2299563"/>
            <a:ext cx="105508" cy="105508"/>
          </a:xfrm>
          <a:prstGeom prst="ellipse">
            <a:avLst/>
          </a:prstGeom>
          <a:solidFill>
            <a:schemeClr val="accent1"/>
          </a:solidFill>
          <a:ln w="3175">
            <a:solidFill>
              <a:schemeClr val="accent1"/>
            </a:solidFill>
            <a:prstDash val="solid"/>
          </a:ln>
        </p:spPr>
      </p:sp>
      <p:sp>
        <p:nvSpPr>
          <p:cNvPr id="23" name="magnesium ion: electron, shell 2"/>
          <p:cNvSpPr/>
          <p:nvPr/>
        </p:nvSpPr>
        <p:spPr>
          <a:xfrm>
            <a:off x="6434893" y="2441250"/>
            <a:ext cx="105508" cy="105508"/>
          </a:xfrm>
          <a:prstGeom prst="ellipse">
            <a:avLst/>
          </a:prstGeom>
          <a:solidFill>
            <a:schemeClr val="accent1"/>
          </a:solidFill>
          <a:ln w="3175">
            <a:solidFill>
              <a:schemeClr val="accent1"/>
            </a:solidFill>
            <a:prstDash val="solid"/>
          </a:ln>
        </p:spPr>
      </p:sp>
      <p:sp>
        <p:nvSpPr>
          <p:cNvPr id="24" name="magnesium ion: electron, shell 2"/>
          <p:cNvSpPr/>
          <p:nvPr/>
        </p:nvSpPr>
        <p:spPr>
          <a:xfrm>
            <a:off x="5961690" y="2914453"/>
            <a:ext cx="105508" cy="105508"/>
          </a:xfrm>
          <a:prstGeom prst="ellipse">
            <a:avLst/>
          </a:prstGeom>
          <a:solidFill>
            <a:schemeClr val="accent1"/>
          </a:solidFill>
          <a:ln w="3175">
            <a:solidFill>
              <a:schemeClr val="accent1"/>
            </a:solidFill>
            <a:prstDash val="solid"/>
          </a:ln>
        </p:spPr>
      </p:sp>
      <p:sp>
        <p:nvSpPr>
          <p:cNvPr id="25" name="magnesium ion: electron, shell 2"/>
          <p:cNvSpPr/>
          <p:nvPr/>
        </p:nvSpPr>
        <p:spPr>
          <a:xfrm>
            <a:off x="5820003" y="2914453"/>
            <a:ext cx="105508" cy="105508"/>
          </a:xfrm>
          <a:prstGeom prst="ellipse">
            <a:avLst/>
          </a:prstGeom>
          <a:solidFill>
            <a:schemeClr val="accent1"/>
          </a:solidFill>
          <a:ln w="3175">
            <a:solidFill>
              <a:schemeClr val="accent1"/>
            </a:solidFill>
            <a:prstDash val="solid"/>
          </a:ln>
        </p:spPr>
      </p:sp>
      <p:sp>
        <p:nvSpPr>
          <p:cNvPr id="26" name="magnesium ion: electron, shell 2"/>
          <p:cNvSpPr/>
          <p:nvPr/>
        </p:nvSpPr>
        <p:spPr>
          <a:xfrm>
            <a:off x="5346799" y="2441250"/>
            <a:ext cx="105508" cy="105508"/>
          </a:xfrm>
          <a:prstGeom prst="ellipse">
            <a:avLst/>
          </a:prstGeom>
          <a:solidFill>
            <a:schemeClr val="accent1"/>
          </a:solidFill>
          <a:ln w="3175">
            <a:solidFill>
              <a:schemeClr val="accent1"/>
            </a:solidFill>
            <a:prstDash val="solid"/>
          </a:ln>
        </p:spPr>
      </p:sp>
      <p:sp>
        <p:nvSpPr>
          <p:cNvPr id="27" name="magnesium ion: electron, shell 2"/>
          <p:cNvSpPr/>
          <p:nvPr/>
        </p:nvSpPr>
        <p:spPr>
          <a:xfrm>
            <a:off x="5346799" y="2299563"/>
            <a:ext cx="105508" cy="105508"/>
          </a:xfrm>
          <a:prstGeom prst="ellipse">
            <a:avLst/>
          </a:prstGeom>
          <a:solidFill>
            <a:schemeClr val="accent1"/>
          </a:solidFill>
          <a:ln w="3175">
            <a:solidFill>
              <a:schemeClr val="accent1"/>
            </a:solidFill>
            <a:prstDash val="solid"/>
          </a:ln>
        </p:spPr>
      </p:sp>
      <p:sp>
        <p:nvSpPr>
          <p:cNvPr id="28" name="magnesium ion: left bracket"/>
          <p:cNvSpPr/>
          <p:nvPr/>
        </p:nvSpPr>
        <p:spPr>
          <a:xfrm>
            <a:off x="5282418" y="1761978"/>
            <a:ext cx="98474" cy="1322363"/>
          </a:xfrm>
          <a:prstGeom prst="leftBracket">
            <a:avLst/>
          </a:prstGeom>
          <a:noFill/>
          <a:ln w="28575">
            <a:solidFill>
              <a:schemeClr val="bg1"/>
            </a:solidFill>
            <a:prstDash val="solid"/>
          </a:ln>
        </p:spPr>
      </p:sp>
      <p:sp>
        <p:nvSpPr>
          <p:cNvPr id="29" name="magnesium ion: right bracket"/>
          <p:cNvSpPr/>
          <p:nvPr/>
        </p:nvSpPr>
        <p:spPr>
          <a:xfrm>
            <a:off x="6506308" y="1761978"/>
            <a:ext cx="98474" cy="1322363"/>
          </a:xfrm>
          <a:prstGeom prst="rightBracket">
            <a:avLst/>
          </a:prstGeom>
          <a:noFill/>
          <a:ln w="28575">
            <a:solidFill>
              <a:schemeClr val="bg1"/>
            </a:solidFill>
            <a:prstDash val="solid"/>
          </a:ln>
        </p:spPr>
      </p:sp>
      <p:sp>
        <p:nvSpPr>
          <p:cNvPr id="30" name="magnesium ion: charge"/>
          <p:cNvSpPr txBox="1"/>
          <p:nvPr/>
        </p:nvSpPr>
        <p:spPr>
          <a:xfrm>
            <a:off x="6623070" y="1657203"/>
            <a:ext cx="304800" cy="228600"/>
          </a:xfrm>
          <a:prstGeom prst="rect">
            <a:avLst/>
          </a:prstGeom>
          <a:noFill/>
          <a:ln/>
        </p:spPr>
        <p:txBody>
          <a:bodyPr wrap="square" lIns="0" tIns="0" rIns="0" bIns="0" rtlCol="0" anchor="t"/>
          <a:lstStyle/>
          <a:p>
            <a:pPr indent="0" marL="0">
              <a:buNone/>
            </a:pPr>
            <a:r>
              <a:rPr lang="en-US" sz="1500" b="1" dirty="0">
                <a:solidFill>
                  <a:schemeClr val="bg1"/>
                </a:solidFill>
              </a:rPr>
              <a:t>2+</a:t>
            </a:r>
            <a:endParaRPr lang="en-US" sz="1500" dirty="0"/>
          </a:p>
        </p:txBody>
      </p:sp>
      <p:sp>
        <p:nvSpPr>
          <p:cNvPr id="31" name="oxide: shell 1"/>
          <p:cNvSpPr/>
          <p:nvPr/>
        </p:nvSpPr>
        <p:spPr>
          <a:xfrm>
            <a:off x="7617655" y="2085535"/>
            <a:ext cx="675249" cy="675249"/>
          </a:xfrm>
          <a:prstGeom prst="ellipse">
            <a:avLst/>
          </a:prstGeom>
          <a:solidFill>
            <a:schemeClr val="bg1">
              <a:alpha val="0"/>
            </a:schemeClr>
          </a:solidFill>
          <a:ln w="15875">
            <a:solidFill>
              <a:schemeClr val="bg2">
                <a:alpha val="55000"/>
              </a:schemeClr>
            </a:solidFill>
            <a:prstDash val="solid"/>
          </a:ln>
        </p:spPr>
      </p:sp>
      <p:sp>
        <p:nvSpPr>
          <p:cNvPr id="32" name="oxide: shell 2"/>
          <p:cNvSpPr/>
          <p:nvPr/>
        </p:nvSpPr>
        <p:spPr>
          <a:xfrm>
            <a:off x="7406640" y="1874520"/>
            <a:ext cx="1097280" cy="1097280"/>
          </a:xfrm>
          <a:prstGeom prst="ellipse">
            <a:avLst/>
          </a:prstGeom>
          <a:solidFill>
            <a:schemeClr val="bg1">
              <a:alpha val="0"/>
            </a:schemeClr>
          </a:solidFill>
          <a:ln w="15875">
            <a:solidFill>
              <a:schemeClr val="bg2">
                <a:alpha val="55000"/>
              </a:schemeClr>
            </a:solidFill>
            <a:prstDash val="solid"/>
          </a:ln>
        </p:spPr>
      </p:sp>
      <p:sp>
        <p:nvSpPr>
          <p:cNvPr id="33" name="oxide: nucleus"/>
          <p:cNvSpPr/>
          <p:nvPr/>
        </p:nvSpPr>
        <p:spPr>
          <a:xfrm>
            <a:off x="7737231" y="2205111"/>
            <a:ext cx="436098" cy="436098"/>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800" b="1" dirty="0">
                <a:solidFill>
                  <a:schemeClr val="bg1"/>
                </a:solidFill>
              </a:rPr>
              <a:t>8 p</a:t>
            </a:r>
            <a:pPr algn="ctr" indent="0" marL="0">
              <a:buNone/>
            </a:pPr>
            <a:r>
              <a:rPr lang="en-US" sz="800" b="1" baseline="30000" dirty="0">
                <a:solidFill>
                  <a:schemeClr val="bg1"/>
                </a:solidFill>
              </a:rPr>
              <a:t>+</a:t>
            </a:r>
            <a:endParaRPr lang="en-US" sz="800" dirty="0"/>
          </a:p>
          <a:p>
            <a:pPr algn="ctr" indent="0" marL="0">
              <a:buNone/>
            </a:pPr>
            <a:r>
              <a:rPr lang="en-US" sz="800" b="1" dirty="0">
                <a:solidFill>
                  <a:schemeClr val="bg1"/>
                </a:solidFill>
              </a:rPr>
              <a:t>8 n</a:t>
            </a:r>
            <a:pPr algn="ctr" indent="0" marL="0">
              <a:buNone/>
            </a:pPr>
            <a:r>
              <a:rPr lang="en-US" sz="800" b="1" baseline="30000" dirty="0">
                <a:solidFill>
                  <a:schemeClr val="bg1"/>
                </a:solidFill>
              </a:rPr>
              <a:t>0</a:t>
            </a:r>
            <a:endParaRPr lang="en-US" sz="800" dirty="0"/>
          </a:p>
        </p:txBody>
      </p:sp>
      <p:sp>
        <p:nvSpPr>
          <p:cNvPr id="34" name="oxide: electron, shell 1"/>
          <p:cNvSpPr/>
          <p:nvPr/>
        </p:nvSpPr>
        <p:spPr>
          <a:xfrm>
            <a:off x="7902526" y="2032782"/>
            <a:ext cx="105508" cy="105508"/>
          </a:xfrm>
          <a:prstGeom prst="ellipse">
            <a:avLst/>
          </a:prstGeom>
          <a:solidFill>
            <a:schemeClr val="accent1"/>
          </a:solidFill>
          <a:ln w="3175">
            <a:solidFill>
              <a:schemeClr val="accent1"/>
            </a:solidFill>
            <a:prstDash val="solid"/>
          </a:ln>
        </p:spPr>
      </p:sp>
      <p:sp>
        <p:nvSpPr>
          <p:cNvPr id="35" name="oxide: electron, shell 1"/>
          <p:cNvSpPr/>
          <p:nvPr/>
        </p:nvSpPr>
        <p:spPr>
          <a:xfrm>
            <a:off x="8240151" y="2370406"/>
            <a:ext cx="105508" cy="105508"/>
          </a:xfrm>
          <a:prstGeom prst="ellipse">
            <a:avLst/>
          </a:prstGeom>
          <a:solidFill>
            <a:schemeClr val="accent1"/>
          </a:solidFill>
          <a:ln w="3175">
            <a:solidFill>
              <a:schemeClr val="accent1"/>
            </a:solidFill>
            <a:prstDash val="solid"/>
          </a:ln>
        </p:spPr>
      </p:sp>
      <p:sp>
        <p:nvSpPr>
          <p:cNvPr id="36" name="oxide: electron, shell 2"/>
          <p:cNvSpPr/>
          <p:nvPr/>
        </p:nvSpPr>
        <p:spPr>
          <a:xfrm>
            <a:off x="7831683" y="1826359"/>
            <a:ext cx="105508" cy="105508"/>
          </a:xfrm>
          <a:prstGeom prst="ellipse">
            <a:avLst/>
          </a:prstGeom>
          <a:solidFill>
            <a:schemeClr val="accent1"/>
          </a:solidFill>
          <a:ln w="3175">
            <a:solidFill>
              <a:schemeClr val="accent1"/>
            </a:solidFill>
            <a:prstDash val="solid"/>
          </a:ln>
        </p:spPr>
      </p:sp>
      <p:sp>
        <p:nvSpPr>
          <p:cNvPr id="37" name="oxide: electron, shell 2"/>
          <p:cNvSpPr/>
          <p:nvPr/>
        </p:nvSpPr>
        <p:spPr>
          <a:xfrm>
            <a:off x="7973370" y="1826359"/>
            <a:ext cx="105508" cy="105508"/>
          </a:xfrm>
          <a:prstGeom prst="ellipse">
            <a:avLst/>
          </a:prstGeom>
          <a:solidFill>
            <a:schemeClr val="accent1"/>
          </a:solidFill>
          <a:ln w="3175">
            <a:solidFill>
              <a:schemeClr val="accent1"/>
            </a:solidFill>
            <a:prstDash val="solid"/>
          </a:ln>
        </p:spPr>
      </p:sp>
      <p:sp>
        <p:nvSpPr>
          <p:cNvPr id="38" name="oxide: electron, shell 2"/>
          <p:cNvSpPr/>
          <p:nvPr/>
        </p:nvSpPr>
        <p:spPr>
          <a:xfrm>
            <a:off x="8446573" y="2299563"/>
            <a:ext cx="105508" cy="105508"/>
          </a:xfrm>
          <a:prstGeom prst="ellipse">
            <a:avLst/>
          </a:prstGeom>
          <a:solidFill>
            <a:schemeClr val="accent1"/>
          </a:solidFill>
          <a:ln w="3175">
            <a:solidFill>
              <a:schemeClr val="accent1"/>
            </a:solidFill>
            <a:prstDash val="solid"/>
          </a:ln>
        </p:spPr>
      </p:sp>
      <p:sp>
        <p:nvSpPr>
          <p:cNvPr id="39" name="oxide: electron, shell 2"/>
          <p:cNvSpPr/>
          <p:nvPr/>
        </p:nvSpPr>
        <p:spPr>
          <a:xfrm>
            <a:off x="8446573" y="2441250"/>
            <a:ext cx="105508" cy="105508"/>
          </a:xfrm>
          <a:prstGeom prst="ellipse">
            <a:avLst/>
          </a:prstGeom>
          <a:solidFill>
            <a:schemeClr val="accent1"/>
          </a:solidFill>
          <a:ln w="3175">
            <a:solidFill>
              <a:schemeClr val="accent1"/>
            </a:solidFill>
            <a:prstDash val="solid"/>
          </a:ln>
        </p:spPr>
      </p:sp>
      <p:sp>
        <p:nvSpPr>
          <p:cNvPr id="40" name="oxide: electron, shell 2"/>
          <p:cNvSpPr/>
          <p:nvPr/>
        </p:nvSpPr>
        <p:spPr>
          <a:xfrm>
            <a:off x="7973370" y="2914453"/>
            <a:ext cx="105508" cy="105508"/>
          </a:xfrm>
          <a:prstGeom prst="ellipse">
            <a:avLst/>
          </a:prstGeom>
          <a:solidFill>
            <a:schemeClr val="accent1"/>
          </a:solidFill>
          <a:ln w="3175">
            <a:solidFill>
              <a:schemeClr val="accent1"/>
            </a:solidFill>
            <a:prstDash val="solid"/>
          </a:ln>
        </p:spPr>
      </p:sp>
      <p:sp>
        <p:nvSpPr>
          <p:cNvPr id="41" name="oxide: gained electron, shell 2"/>
          <p:cNvSpPr/>
          <p:nvPr/>
        </p:nvSpPr>
        <p:spPr>
          <a:xfrm>
            <a:off x="7831683" y="2914453"/>
            <a:ext cx="105508" cy="105508"/>
          </a:xfrm>
          <a:prstGeom prst="ellipse">
            <a:avLst/>
          </a:prstGeom>
          <a:solidFill>
            <a:schemeClr val="accent6"/>
          </a:solidFill>
          <a:ln w="3175">
            <a:solidFill>
              <a:schemeClr val="accent6"/>
            </a:solidFill>
            <a:prstDash val="solid"/>
          </a:ln>
        </p:spPr>
      </p:sp>
      <p:sp>
        <p:nvSpPr>
          <p:cNvPr id="42" name="oxide: electron, shell 2"/>
          <p:cNvSpPr/>
          <p:nvPr/>
        </p:nvSpPr>
        <p:spPr>
          <a:xfrm>
            <a:off x="7358479" y="2441250"/>
            <a:ext cx="105508" cy="105508"/>
          </a:xfrm>
          <a:prstGeom prst="ellipse">
            <a:avLst/>
          </a:prstGeom>
          <a:solidFill>
            <a:schemeClr val="accent1"/>
          </a:solidFill>
          <a:ln w="3175">
            <a:solidFill>
              <a:schemeClr val="accent1"/>
            </a:solidFill>
            <a:prstDash val="solid"/>
          </a:ln>
        </p:spPr>
      </p:sp>
      <p:sp>
        <p:nvSpPr>
          <p:cNvPr id="43" name="oxide: gained electron, shell 2"/>
          <p:cNvSpPr/>
          <p:nvPr/>
        </p:nvSpPr>
        <p:spPr>
          <a:xfrm>
            <a:off x="7358479" y="2299563"/>
            <a:ext cx="105508" cy="105508"/>
          </a:xfrm>
          <a:prstGeom prst="ellipse">
            <a:avLst/>
          </a:prstGeom>
          <a:solidFill>
            <a:schemeClr val="accent6"/>
          </a:solidFill>
          <a:ln w="3175">
            <a:solidFill>
              <a:schemeClr val="accent6"/>
            </a:solidFill>
            <a:prstDash val="solid"/>
          </a:ln>
        </p:spPr>
      </p:sp>
      <p:sp>
        <p:nvSpPr>
          <p:cNvPr id="44" name="oxide: left bracket"/>
          <p:cNvSpPr/>
          <p:nvPr/>
        </p:nvSpPr>
        <p:spPr>
          <a:xfrm>
            <a:off x="7294098" y="1761978"/>
            <a:ext cx="98474" cy="1322363"/>
          </a:xfrm>
          <a:prstGeom prst="leftBracket">
            <a:avLst/>
          </a:prstGeom>
          <a:noFill/>
          <a:ln w="28575">
            <a:solidFill>
              <a:schemeClr val="bg1"/>
            </a:solidFill>
            <a:prstDash val="solid"/>
          </a:ln>
        </p:spPr>
      </p:sp>
      <p:sp>
        <p:nvSpPr>
          <p:cNvPr id="45" name="oxide: right bracket"/>
          <p:cNvSpPr/>
          <p:nvPr/>
        </p:nvSpPr>
        <p:spPr>
          <a:xfrm>
            <a:off x="8517988" y="1761978"/>
            <a:ext cx="98474" cy="1322363"/>
          </a:xfrm>
          <a:prstGeom prst="rightBracket">
            <a:avLst/>
          </a:prstGeom>
          <a:noFill/>
          <a:ln w="28575">
            <a:solidFill>
              <a:schemeClr val="bg1"/>
            </a:solidFill>
            <a:prstDash val="solid"/>
          </a:ln>
        </p:spPr>
      </p:sp>
      <p:sp>
        <p:nvSpPr>
          <p:cNvPr id="46" name="oxide: charge"/>
          <p:cNvSpPr txBox="1"/>
          <p:nvPr/>
        </p:nvSpPr>
        <p:spPr>
          <a:xfrm>
            <a:off x="8634750" y="1657203"/>
            <a:ext cx="304800" cy="228600"/>
          </a:xfrm>
          <a:prstGeom prst="rect">
            <a:avLst/>
          </a:prstGeom>
          <a:noFill/>
          <a:ln/>
        </p:spPr>
        <p:txBody>
          <a:bodyPr wrap="square" lIns="0" tIns="0" rIns="0" bIns="0" rtlCol="0" anchor="t"/>
          <a:lstStyle/>
          <a:p>
            <a:pPr indent="0" marL="0">
              <a:buNone/>
            </a:pPr>
            <a:r>
              <a:rPr lang="en-US" sz="1500" b="1" dirty="0">
                <a:solidFill>
                  <a:schemeClr val="bg1"/>
                </a:solidFill>
              </a:rPr>
              <a:t>2−</a:t>
            </a:r>
            <a:endParaRPr lang="en-US" sz="1500" dirty="0"/>
          </a:p>
        </p:txBody>
      </p:sp>
      <p:sp>
        <p:nvSpPr>
          <p:cNvPr id="47" name="Text 45"/>
          <p:cNvSpPr txBox="1"/>
          <p:nvPr/>
        </p:nvSpPr>
        <p:spPr>
          <a:xfrm>
            <a:off x="5212080" y="3337560"/>
            <a:ext cx="1737360" cy="274320"/>
          </a:xfrm>
          <a:prstGeom prst="rect">
            <a:avLst/>
          </a:prstGeom>
          <a:noFill/>
          <a:ln/>
        </p:spPr>
        <p:txBody>
          <a:bodyPr wrap="square" lIns="0" tIns="0" rIns="0" bIns="0" rtlCol="0" anchor="ctr"/>
          <a:lstStyle/>
          <a:p>
            <a:pPr algn="ctr" indent="0" marL="0">
              <a:buNone/>
            </a:pPr>
            <a:r>
              <a:rPr lang="en-US" sz="1200" b="1" dirty="0">
                <a:solidFill>
                  <a:schemeClr val="bg2"/>
                </a:solidFill>
              </a:rPr>
              <a:t>Mg</a:t>
            </a:r>
            <a:pPr algn="ctr" indent="0" marL="0">
              <a:buNone/>
            </a:pPr>
            <a:r>
              <a:rPr lang="en-US" sz="1200" b="1" baseline="30000" dirty="0">
                <a:solidFill>
                  <a:schemeClr val="bg2"/>
                </a:solidFill>
              </a:rPr>
              <a:t>2+</a:t>
            </a:r>
            <a:pPr algn="ctr" indent="0" marL="0">
              <a:buNone/>
            </a:pPr>
            <a:r>
              <a:rPr lang="en-US" sz="1200" dirty="0">
                <a:solidFill>
                  <a:schemeClr val="bg2"/>
                </a:solidFill>
              </a:rPr>
              <a:t>  2, 8</a:t>
            </a:r>
            <a:endParaRPr lang="en-US" sz="1200" dirty="0"/>
          </a:p>
        </p:txBody>
      </p:sp>
      <p:sp>
        <p:nvSpPr>
          <p:cNvPr id="48" name="Text 46"/>
          <p:cNvSpPr txBox="1"/>
          <p:nvPr/>
        </p:nvSpPr>
        <p:spPr>
          <a:xfrm>
            <a:off x="7040880" y="3337560"/>
            <a:ext cx="1737360" cy="274320"/>
          </a:xfrm>
          <a:prstGeom prst="rect">
            <a:avLst/>
          </a:prstGeom>
          <a:noFill/>
          <a:ln/>
        </p:spPr>
        <p:txBody>
          <a:bodyPr wrap="square" lIns="0" tIns="0" rIns="0" bIns="0" rtlCol="0" anchor="ctr"/>
          <a:lstStyle/>
          <a:p>
            <a:pPr algn="ctr" indent="0" marL="0">
              <a:buNone/>
            </a:pPr>
            <a:r>
              <a:rPr lang="en-US" sz="1200" b="1" dirty="0">
                <a:solidFill>
                  <a:schemeClr val="bg2"/>
                </a:solidFill>
              </a:rPr>
              <a:t>O</a:t>
            </a:r>
            <a:pPr algn="ctr" indent="0" marL="0">
              <a:buNone/>
            </a:pPr>
            <a:r>
              <a:rPr lang="en-US" sz="1200" b="1" baseline="30000" dirty="0">
                <a:solidFill>
                  <a:schemeClr val="bg2"/>
                </a:solidFill>
              </a:rPr>
              <a:t>2−</a:t>
            </a:r>
            <a:pPr algn="ctr" indent="0" marL="0">
              <a:buNone/>
            </a:pPr>
            <a:r>
              <a:rPr lang="en-US" sz="1200" dirty="0">
                <a:solidFill>
                  <a:schemeClr val="bg2"/>
                </a:solidFill>
              </a:rPr>
              <a:t>  2, 8</a:t>
            </a:r>
            <a:endParaRPr lang="en-US" sz="1200" dirty="0"/>
          </a:p>
        </p:txBody>
      </p:sp>
      <p:sp>
        <p:nvSpPr>
          <p:cNvPr id="49" name="Legend dot"/>
          <p:cNvSpPr/>
          <p:nvPr/>
        </p:nvSpPr>
        <p:spPr>
          <a:xfrm>
            <a:off x="5623560" y="3895344"/>
            <a:ext cx="128016" cy="128016"/>
          </a:xfrm>
          <a:prstGeom prst="ellipse">
            <a:avLst/>
          </a:prstGeom>
          <a:solidFill>
            <a:schemeClr val="accent1"/>
          </a:solidFill>
          <a:ln w="6350">
            <a:solidFill>
              <a:schemeClr val="accent1"/>
            </a:solidFill>
            <a:prstDash val="solid"/>
          </a:ln>
        </p:spPr>
      </p:sp>
      <p:sp>
        <p:nvSpPr>
          <p:cNvPr id="50" name="Text 48"/>
          <p:cNvSpPr txBox="1"/>
          <p:nvPr/>
        </p:nvSpPr>
        <p:spPr>
          <a:xfrm>
            <a:off x="5824728" y="3840480"/>
            <a:ext cx="1188720" cy="237744"/>
          </a:xfrm>
          <a:prstGeom prst="rect">
            <a:avLst/>
          </a:prstGeom>
          <a:noFill/>
          <a:ln/>
        </p:spPr>
        <p:txBody>
          <a:bodyPr wrap="square" lIns="0" tIns="0" rIns="0" bIns="0" rtlCol="0" anchor="ctr"/>
          <a:lstStyle/>
          <a:p>
            <a:pPr indent="0" marL="0">
              <a:buNone/>
            </a:pPr>
            <a:r>
              <a:rPr lang="en-US" sz="1100" dirty="0">
                <a:solidFill>
                  <a:schemeClr val="bg2"/>
                </a:solidFill>
              </a:rPr>
              <a:t>electron</a:t>
            </a:r>
            <a:endParaRPr lang="en-US" sz="1100" dirty="0"/>
          </a:p>
        </p:txBody>
      </p:sp>
      <p:sp>
        <p:nvSpPr>
          <p:cNvPr id="51" name="Legend dot"/>
          <p:cNvSpPr/>
          <p:nvPr/>
        </p:nvSpPr>
        <p:spPr>
          <a:xfrm>
            <a:off x="7040880" y="3895344"/>
            <a:ext cx="128016" cy="128016"/>
          </a:xfrm>
          <a:prstGeom prst="ellipse">
            <a:avLst/>
          </a:prstGeom>
          <a:solidFill>
            <a:schemeClr val="accent6"/>
          </a:solidFill>
          <a:ln w="6350">
            <a:solidFill>
              <a:schemeClr val="accent6"/>
            </a:solidFill>
            <a:prstDash val="solid"/>
          </a:ln>
        </p:spPr>
      </p:sp>
      <p:sp>
        <p:nvSpPr>
          <p:cNvPr id="52" name="Text 50"/>
          <p:cNvSpPr txBox="1"/>
          <p:nvPr/>
        </p:nvSpPr>
        <p:spPr>
          <a:xfrm>
            <a:off x="7242048" y="3840480"/>
            <a:ext cx="1188720" cy="237744"/>
          </a:xfrm>
          <a:prstGeom prst="rect">
            <a:avLst/>
          </a:prstGeom>
          <a:noFill/>
          <a:ln/>
        </p:spPr>
        <p:txBody>
          <a:bodyPr wrap="square" lIns="0" tIns="0" rIns="0" bIns="0" rtlCol="0" anchor="ctr"/>
          <a:lstStyle/>
          <a:p>
            <a:pPr indent="0" marL="0">
              <a:buNone/>
            </a:pPr>
            <a:r>
              <a:rPr lang="en-US" sz="1100" dirty="0">
                <a:solidFill>
                  <a:schemeClr val="bg2"/>
                </a:solidFill>
              </a:rPr>
              <a:t>electron gained</a:t>
            </a:r>
            <a:endParaRPr lang="en-US" sz="11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ection tile 6"/>
          <p:cNvSpPr/>
          <p:nvPr/>
        </p:nvSpPr>
        <p:spPr>
          <a:xfrm>
            <a:off x="457200" y="301752"/>
            <a:ext cx="749808" cy="841248"/>
          </a:xfrm>
          <a:prstGeom prst="roundRect">
            <a:avLst>
              <a:gd name="adj" fmla="val 12000"/>
            </a:avLst>
          </a:prstGeom>
          <a:solidFill>
            <a:srgbClr val="F472B6">
              <a:alpha val="28000"/>
            </a:srgbClr>
          </a:solidFill>
          <a:ln w="19050">
            <a:solidFill>
              <a:srgbClr val="F472B6"/>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6</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2400" b="1" dirty="0">
                <a:solidFill>
                  <a:schemeClr val="bg1"/>
                </a:solidFill>
              </a:rPr>
              <a:t>S</a:t>
            </a:r>
            <a:pPr algn="ctr" indent="0" marL="0">
              <a:buNone/>
            </a:pPr>
            <a:r>
              <a:rPr lang="en-US" sz="2400" b="1" baseline="30000" dirty="0">
                <a:solidFill>
                  <a:schemeClr val="bg1"/>
                </a:solidFill>
              </a:rPr>
              <a:t>2−</a:t>
            </a:r>
            <a:endParaRPr lang="en-US" sz="2400" dirty="0"/>
          </a:p>
        </p:txBody>
      </p:sp>
      <p:sp>
        <p:nvSpPr>
          <p:cNvPr id="5" name="Text 3"/>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6" name="Text 4"/>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6 of 9</a:t>
            </a:r>
            <a:endParaRPr lang="en-US" sz="1200" dirty="0"/>
          </a:p>
        </p:txBody>
      </p:sp>
      <p:sp>
        <p:nvSpPr>
          <p:cNvPr id="7"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Ion model builder</a:t>
            </a:r>
            <a:endParaRPr lang="en-US" sz="2800" dirty="0"/>
          </a:p>
        </p:txBody>
      </p:sp>
      <p:sp>
        <p:nvSpPr>
          <p:cNvPr id="8" name="Text 6"/>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Build each ion. Use the tile for the nucleus, then set the shells, electrons, and charge.</a:t>
            </a:r>
            <a:endParaRPr lang="en-US" sz="1300" dirty="0"/>
          </a:p>
        </p:txBody>
      </p:sp>
      <p:sp>
        <p:nvSpPr>
          <p:cNvPr id="9" name="sodium ion"/>
          <p:cNvSpPr/>
          <p:nvPr/>
        </p:nvSpPr>
        <p:spPr>
          <a:xfrm>
            <a:off x="457200" y="1691640"/>
            <a:ext cx="1554480" cy="2926080"/>
          </a:xfrm>
          <a:prstGeom prst="roundRect">
            <a:avLst>
              <a:gd name="adj" fmla="val 5882"/>
            </a:avLst>
          </a:prstGeom>
          <a:solidFill>
            <a:schemeClr val="tx2"/>
          </a:solidFill>
          <a:ln w="9525">
            <a:solidFill>
              <a:schemeClr val="bg2">
                <a:alpha val="30000"/>
              </a:schemeClr>
            </a:solidFill>
            <a:prstDash val="solid"/>
          </a:ln>
        </p:spPr>
      </p:sp>
      <p:sp>
        <p:nvSpPr>
          <p:cNvPr id="10" name="Tile Na"/>
          <p:cNvSpPr/>
          <p:nvPr/>
        </p:nvSpPr>
        <p:spPr>
          <a:xfrm>
            <a:off x="566928" y="1819656"/>
            <a:ext cx="502920" cy="548640"/>
          </a:xfrm>
          <a:prstGeom prst="roundRect">
            <a:avLst>
              <a:gd name="adj" fmla="val 12000"/>
            </a:avLst>
          </a:prstGeom>
          <a:solidFill>
            <a:srgbClr val="FF8F5E">
              <a:alpha val="30000"/>
            </a:srgbClr>
          </a:solidFill>
          <a:ln w="19050">
            <a:solidFill>
              <a:srgbClr val="FF8F5E"/>
            </a:solidFill>
            <a:prstDash val="solid"/>
          </a:ln>
        </p:spPr>
      </p:sp>
      <p:sp>
        <p:nvSpPr>
          <p:cNvPr id="11" name="Text 9"/>
          <p:cNvSpPr txBox="1"/>
          <p:nvPr/>
        </p:nvSpPr>
        <p:spPr>
          <a:xfrm>
            <a:off x="607162" y="1847088"/>
            <a:ext cx="301752" cy="131674"/>
          </a:xfrm>
          <a:prstGeom prst="rect">
            <a:avLst/>
          </a:prstGeom>
          <a:noFill/>
          <a:ln/>
        </p:spPr>
        <p:txBody>
          <a:bodyPr wrap="square" lIns="0" tIns="0" rIns="0" bIns="0" rtlCol="0" anchor="t"/>
          <a:lstStyle/>
          <a:p>
            <a:pPr indent="0" marL="0">
              <a:buNone/>
            </a:pPr>
            <a:r>
              <a:rPr lang="en-US" sz="800" dirty="0">
                <a:solidFill>
                  <a:schemeClr val="bg2"/>
                </a:solidFill>
              </a:rPr>
              <a:t>11</a:t>
            </a:r>
            <a:endParaRPr lang="en-US" sz="800" dirty="0"/>
          </a:p>
        </p:txBody>
      </p:sp>
      <p:sp>
        <p:nvSpPr>
          <p:cNvPr id="12" name="Text 10"/>
          <p:cNvSpPr txBox="1"/>
          <p:nvPr/>
        </p:nvSpPr>
        <p:spPr>
          <a:xfrm>
            <a:off x="566928" y="1907438"/>
            <a:ext cx="502920" cy="438912"/>
          </a:xfrm>
          <a:prstGeom prst="rect">
            <a:avLst/>
          </a:prstGeom>
          <a:noFill/>
          <a:ln/>
        </p:spPr>
        <p:txBody>
          <a:bodyPr wrap="square" lIns="0" tIns="0" rIns="0" bIns="0" rtlCol="0" anchor="ctr"/>
          <a:lstStyle/>
          <a:p>
            <a:pPr algn="ctr" indent="0" marL="0">
              <a:buNone/>
            </a:pPr>
            <a:r>
              <a:rPr lang="en-US" sz="2000" b="1" dirty="0">
                <a:solidFill>
                  <a:schemeClr val="bg1"/>
                </a:solidFill>
              </a:rPr>
              <a:t>Na</a:t>
            </a:r>
            <a:endParaRPr lang="en-US" sz="2000" dirty="0"/>
          </a:p>
        </p:txBody>
      </p:sp>
      <p:sp>
        <p:nvSpPr>
          <p:cNvPr id="13" name="Text 11"/>
          <p:cNvSpPr txBox="1"/>
          <p:nvPr/>
        </p:nvSpPr>
        <p:spPr>
          <a:xfrm>
            <a:off x="1133856" y="1801368"/>
            <a:ext cx="822960" cy="329184"/>
          </a:xfrm>
          <a:prstGeom prst="rect">
            <a:avLst/>
          </a:prstGeom>
          <a:noFill/>
          <a:ln/>
        </p:spPr>
        <p:txBody>
          <a:bodyPr wrap="square" lIns="0" tIns="0" rIns="0" bIns="0" rtlCol="0" anchor="ctr"/>
          <a:lstStyle/>
          <a:p>
            <a:pPr indent="0" marL="0">
              <a:buNone/>
            </a:pPr>
            <a:r>
              <a:rPr lang="en-US" sz="1800" b="1" dirty="0">
                <a:solidFill>
                  <a:schemeClr val="bg1"/>
                </a:solidFill>
              </a:rPr>
              <a:t>Na</a:t>
            </a:r>
            <a:pPr indent="0" marL="0">
              <a:buNone/>
            </a:pPr>
            <a:r>
              <a:rPr lang="en-US" sz="1800" b="1" baseline="30000" dirty="0">
                <a:solidFill>
                  <a:schemeClr val="bg1"/>
                </a:solidFill>
              </a:rPr>
              <a:t>+</a:t>
            </a:r>
            <a:endParaRPr lang="en-US" sz="1800" dirty="0"/>
          </a:p>
        </p:txBody>
      </p:sp>
      <p:sp>
        <p:nvSpPr>
          <p:cNvPr id="14" name="Text 12"/>
          <p:cNvSpPr txBox="1"/>
          <p:nvPr/>
        </p:nvSpPr>
        <p:spPr>
          <a:xfrm>
            <a:off x="1133856" y="2130552"/>
            <a:ext cx="868680" cy="237744"/>
          </a:xfrm>
          <a:prstGeom prst="rect">
            <a:avLst/>
          </a:prstGeom>
          <a:noFill/>
          <a:ln/>
        </p:spPr>
        <p:txBody>
          <a:bodyPr wrap="square" lIns="0" tIns="0" rIns="0" bIns="0" rtlCol="0" anchor="t"/>
          <a:lstStyle/>
          <a:p>
            <a:pPr indent="0" marL="0">
              <a:buNone/>
            </a:pPr>
            <a:r>
              <a:rPr lang="en-US" sz="1000" dirty="0">
                <a:solidFill>
                  <a:schemeClr val="bg2"/>
                </a:solidFill>
              </a:rPr>
              <a:t>sodium ion</a:t>
            </a:r>
            <a:endParaRPr lang="en-US" sz="1000" dirty="0"/>
          </a:p>
        </p:txBody>
      </p:sp>
      <p:sp>
        <p:nvSpPr>
          <p:cNvPr id="15" name="Text 13"/>
          <p:cNvSpPr txBox="1"/>
          <p:nvPr/>
        </p:nvSpPr>
        <p:spPr>
          <a:xfrm>
            <a:off x="457200" y="2606040"/>
            <a:ext cx="1554480" cy="1280160"/>
          </a:xfrm>
          <a:prstGeom prst="rect">
            <a:avLst/>
          </a:prstGeom>
          <a:noFill/>
          <a:ln/>
        </p:spPr>
        <p:txBody>
          <a:bodyPr wrap="square" lIns="0" tIns="0" rIns="0" bIns="0" rtlCol="0" anchor="ctr"/>
          <a:lstStyle/>
          <a:p>
            <a:pPr algn="ctr" indent="0" marL="0">
              <a:buNone/>
            </a:pPr>
            <a:r>
              <a:rPr lang="en-US" sz="5400" b="1" dirty="0">
                <a:solidFill>
                  <a:schemeClr val="bg2"/>
                </a:solidFill>
              </a:rPr>
              <a:t>?</a:t>
            </a:r>
            <a:endParaRPr lang="en-US" sz="5400" dirty="0"/>
          </a:p>
        </p:txBody>
      </p:sp>
      <p:sp>
        <p:nvSpPr>
          <p:cNvPr id="16" name="sulfide"/>
          <p:cNvSpPr/>
          <p:nvPr/>
        </p:nvSpPr>
        <p:spPr>
          <a:xfrm>
            <a:off x="2121408" y="1691640"/>
            <a:ext cx="1554480" cy="2926080"/>
          </a:xfrm>
          <a:prstGeom prst="roundRect">
            <a:avLst>
              <a:gd name="adj" fmla="val 5882"/>
            </a:avLst>
          </a:prstGeom>
          <a:solidFill>
            <a:schemeClr val="tx2"/>
          </a:solidFill>
          <a:ln w="9525">
            <a:solidFill>
              <a:schemeClr val="bg2">
                <a:alpha val="30000"/>
              </a:schemeClr>
            </a:solidFill>
            <a:prstDash val="solid"/>
          </a:ln>
        </p:spPr>
      </p:sp>
      <p:sp>
        <p:nvSpPr>
          <p:cNvPr id="17" name="Tile S"/>
          <p:cNvSpPr/>
          <p:nvPr/>
        </p:nvSpPr>
        <p:spPr>
          <a:xfrm>
            <a:off x="2231136" y="1819656"/>
            <a:ext cx="502920" cy="548640"/>
          </a:xfrm>
          <a:prstGeom prst="roundRect">
            <a:avLst>
              <a:gd name="adj" fmla="val 12000"/>
            </a:avLst>
          </a:prstGeom>
          <a:solidFill>
            <a:srgbClr val="45C08F">
              <a:alpha val="30000"/>
            </a:srgbClr>
          </a:solidFill>
          <a:ln w="19050">
            <a:solidFill>
              <a:srgbClr val="45C08F"/>
            </a:solidFill>
            <a:prstDash val="solid"/>
          </a:ln>
        </p:spPr>
      </p:sp>
      <p:sp>
        <p:nvSpPr>
          <p:cNvPr id="18" name="Text 16"/>
          <p:cNvSpPr txBox="1"/>
          <p:nvPr/>
        </p:nvSpPr>
        <p:spPr>
          <a:xfrm>
            <a:off x="2271370" y="1847088"/>
            <a:ext cx="301752" cy="131674"/>
          </a:xfrm>
          <a:prstGeom prst="rect">
            <a:avLst/>
          </a:prstGeom>
          <a:noFill/>
          <a:ln/>
        </p:spPr>
        <p:txBody>
          <a:bodyPr wrap="square" lIns="0" tIns="0" rIns="0" bIns="0" rtlCol="0" anchor="t"/>
          <a:lstStyle/>
          <a:p>
            <a:pPr indent="0" marL="0">
              <a:buNone/>
            </a:pPr>
            <a:r>
              <a:rPr lang="en-US" sz="800" dirty="0">
                <a:solidFill>
                  <a:schemeClr val="bg2"/>
                </a:solidFill>
              </a:rPr>
              <a:t>16</a:t>
            </a:r>
            <a:endParaRPr lang="en-US" sz="800" dirty="0"/>
          </a:p>
        </p:txBody>
      </p:sp>
      <p:sp>
        <p:nvSpPr>
          <p:cNvPr id="19" name="Text 17"/>
          <p:cNvSpPr txBox="1"/>
          <p:nvPr/>
        </p:nvSpPr>
        <p:spPr>
          <a:xfrm>
            <a:off x="2231136" y="1907438"/>
            <a:ext cx="502920" cy="438912"/>
          </a:xfrm>
          <a:prstGeom prst="rect">
            <a:avLst/>
          </a:prstGeom>
          <a:noFill/>
          <a:ln/>
        </p:spPr>
        <p:txBody>
          <a:bodyPr wrap="square" lIns="0" tIns="0" rIns="0" bIns="0" rtlCol="0" anchor="ctr"/>
          <a:lstStyle/>
          <a:p>
            <a:pPr algn="ctr" indent="0" marL="0">
              <a:buNone/>
            </a:pPr>
            <a:r>
              <a:rPr lang="en-US" sz="2000" b="1" dirty="0">
                <a:solidFill>
                  <a:schemeClr val="bg1"/>
                </a:solidFill>
              </a:rPr>
              <a:t>S</a:t>
            </a:r>
            <a:endParaRPr lang="en-US" sz="2000" dirty="0"/>
          </a:p>
        </p:txBody>
      </p:sp>
      <p:sp>
        <p:nvSpPr>
          <p:cNvPr id="20" name="Text 18"/>
          <p:cNvSpPr txBox="1"/>
          <p:nvPr/>
        </p:nvSpPr>
        <p:spPr>
          <a:xfrm>
            <a:off x="2798064" y="1801368"/>
            <a:ext cx="822960" cy="329184"/>
          </a:xfrm>
          <a:prstGeom prst="rect">
            <a:avLst/>
          </a:prstGeom>
          <a:noFill/>
          <a:ln/>
        </p:spPr>
        <p:txBody>
          <a:bodyPr wrap="square" lIns="0" tIns="0" rIns="0" bIns="0" rtlCol="0" anchor="ctr"/>
          <a:lstStyle/>
          <a:p>
            <a:pPr indent="0" marL="0">
              <a:buNone/>
            </a:pPr>
            <a:r>
              <a:rPr lang="en-US" sz="1800" b="1" dirty="0">
                <a:solidFill>
                  <a:schemeClr val="bg1"/>
                </a:solidFill>
              </a:rPr>
              <a:t>S</a:t>
            </a:r>
            <a:pPr indent="0" marL="0">
              <a:buNone/>
            </a:pPr>
            <a:r>
              <a:rPr lang="en-US" sz="1800" b="1" baseline="30000" dirty="0">
                <a:solidFill>
                  <a:schemeClr val="bg1"/>
                </a:solidFill>
              </a:rPr>
              <a:t>2−</a:t>
            </a:r>
            <a:endParaRPr lang="en-US" sz="1800" dirty="0"/>
          </a:p>
        </p:txBody>
      </p:sp>
      <p:sp>
        <p:nvSpPr>
          <p:cNvPr id="21" name="Text 19"/>
          <p:cNvSpPr txBox="1"/>
          <p:nvPr/>
        </p:nvSpPr>
        <p:spPr>
          <a:xfrm>
            <a:off x="2798064" y="2130552"/>
            <a:ext cx="868680" cy="237744"/>
          </a:xfrm>
          <a:prstGeom prst="rect">
            <a:avLst/>
          </a:prstGeom>
          <a:noFill/>
          <a:ln/>
        </p:spPr>
        <p:txBody>
          <a:bodyPr wrap="square" lIns="0" tIns="0" rIns="0" bIns="0" rtlCol="0" anchor="t"/>
          <a:lstStyle/>
          <a:p>
            <a:pPr indent="0" marL="0">
              <a:buNone/>
            </a:pPr>
            <a:r>
              <a:rPr lang="en-US" sz="1000" dirty="0">
                <a:solidFill>
                  <a:schemeClr val="bg2"/>
                </a:solidFill>
              </a:rPr>
              <a:t>sulfide</a:t>
            </a:r>
            <a:endParaRPr lang="en-US" sz="1000" dirty="0"/>
          </a:p>
        </p:txBody>
      </p:sp>
      <p:sp>
        <p:nvSpPr>
          <p:cNvPr id="22" name="Text 20"/>
          <p:cNvSpPr txBox="1"/>
          <p:nvPr/>
        </p:nvSpPr>
        <p:spPr>
          <a:xfrm>
            <a:off x="2121408" y="2606040"/>
            <a:ext cx="1554480" cy="1280160"/>
          </a:xfrm>
          <a:prstGeom prst="rect">
            <a:avLst/>
          </a:prstGeom>
          <a:noFill/>
          <a:ln/>
        </p:spPr>
        <p:txBody>
          <a:bodyPr wrap="square" lIns="0" tIns="0" rIns="0" bIns="0" rtlCol="0" anchor="ctr"/>
          <a:lstStyle/>
          <a:p>
            <a:pPr algn="ctr" indent="0" marL="0">
              <a:buNone/>
            </a:pPr>
            <a:r>
              <a:rPr lang="en-US" sz="5400" b="1" dirty="0">
                <a:solidFill>
                  <a:schemeClr val="bg2"/>
                </a:solidFill>
              </a:rPr>
              <a:t>?</a:t>
            </a:r>
            <a:endParaRPr lang="en-US" sz="5400" dirty="0"/>
          </a:p>
        </p:txBody>
      </p:sp>
      <p:sp>
        <p:nvSpPr>
          <p:cNvPr id="23" name="calcium ion"/>
          <p:cNvSpPr/>
          <p:nvPr/>
        </p:nvSpPr>
        <p:spPr>
          <a:xfrm>
            <a:off x="3785616" y="1691640"/>
            <a:ext cx="1554480" cy="2926080"/>
          </a:xfrm>
          <a:prstGeom prst="roundRect">
            <a:avLst>
              <a:gd name="adj" fmla="val 5882"/>
            </a:avLst>
          </a:prstGeom>
          <a:solidFill>
            <a:schemeClr val="tx2"/>
          </a:solidFill>
          <a:ln w="9525">
            <a:solidFill>
              <a:schemeClr val="bg2">
                <a:alpha val="30000"/>
              </a:schemeClr>
            </a:solidFill>
            <a:prstDash val="solid"/>
          </a:ln>
        </p:spPr>
      </p:sp>
      <p:sp>
        <p:nvSpPr>
          <p:cNvPr id="24" name="Tile Ca"/>
          <p:cNvSpPr/>
          <p:nvPr/>
        </p:nvSpPr>
        <p:spPr>
          <a:xfrm>
            <a:off x="3895344" y="1819656"/>
            <a:ext cx="502920" cy="548640"/>
          </a:xfrm>
          <a:prstGeom prst="roundRect">
            <a:avLst>
              <a:gd name="adj" fmla="val 12000"/>
            </a:avLst>
          </a:prstGeom>
          <a:solidFill>
            <a:srgbClr val="FFCB5C">
              <a:alpha val="30000"/>
            </a:srgbClr>
          </a:solidFill>
          <a:ln w="19050">
            <a:solidFill>
              <a:srgbClr val="FFCB5C"/>
            </a:solidFill>
            <a:prstDash val="solid"/>
          </a:ln>
        </p:spPr>
      </p:sp>
      <p:sp>
        <p:nvSpPr>
          <p:cNvPr id="25" name="Text 23"/>
          <p:cNvSpPr txBox="1"/>
          <p:nvPr/>
        </p:nvSpPr>
        <p:spPr>
          <a:xfrm>
            <a:off x="3935578" y="1847088"/>
            <a:ext cx="301752" cy="131674"/>
          </a:xfrm>
          <a:prstGeom prst="rect">
            <a:avLst/>
          </a:prstGeom>
          <a:noFill/>
          <a:ln/>
        </p:spPr>
        <p:txBody>
          <a:bodyPr wrap="square" lIns="0" tIns="0" rIns="0" bIns="0" rtlCol="0" anchor="t"/>
          <a:lstStyle/>
          <a:p>
            <a:pPr indent="0" marL="0">
              <a:buNone/>
            </a:pPr>
            <a:r>
              <a:rPr lang="en-US" sz="800" dirty="0">
                <a:solidFill>
                  <a:schemeClr val="bg2"/>
                </a:solidFill>
              </a:rPr>
              <a:t>20</a:t>
            </a:r>
            <a:endParaRPr lang="en-US" sz="800" dirty="0"/>
          </a:p>
        </p:txBody>
      </p:sp>
      <p:sp>
        <p:nvSpPr>
          <p:cNvPr id="26" name="Text 24"/>
          <p:cNvSpPr txBox="1"/>
          <p:nvPr/>
        </p:nvSpPr>
        <p:spPr>
          <a:xfrm>
            <a:off x="3895344" y="1907438"/>
            <a:ext cx="502920" cy="438912"/>
          </a:xfrm>
          <a:prstGeom prst="rect">
            <a:avLst/>
          </a:prstGeom>
          <a:noFill/>
          <a:ln/>
        </p:spPr>
        <p:txBody>
          <a:bodyPr wrap="square" lIns="0" tIns="0" rIns="0" bIns="0" rtlCol="0" anchor="ctr"/>
          <a:lstStyle/>
          <a:p>
            <a:pPr algn="ctr" indent="0" marL="0">
              <a:buNone/>
            </a:pPr>
            <a:r>
              <a:rPr lang="en-US" sz="2000" b="1" dirty="0">
                <a:solidFill>
                  <a:schemeClr val="bg1"/>
                </a:solidFill>
              </a:rPr>
              <a:t>Ca</a:t>
            </a:r>
            <a:endParaRPr lang="en-US" sz="2000" dirty="0"/>
          </a:p>
        </p:txBody>
      </p:sp>
      <p:sp>
        <p:nvSpPr>
          <p:cNvPr id="27" name="Text 25"/>
          <p:cNvSpPr txBox="1"/>
          <p:nvPr/>
        </p:nvSpPr>
        <p:spPr>
          <a:xfrm>
            <a:off x="4462272" y="1801368"/>
            <a:ext cx="822960" cy="329184"/>
          </a:xfrm>
          <a:prstGeom prst="rect">
            <a:avLst/>
          </a:prstGeom>
          <a:noFill/>
          <a:ln/>
        </p:spPr>
        <p:txBody>
          <a:bodyPr wrap="square" lIns="0" tIns="0" rIns="0" bIns="0" rtlCol="0" anchor="ctr"/>
          <a:lstStyle/>
          <a:p>
            <a:pPr indent="0" marL="0">
              <a:buNone/>
            </a:pPr>
            <a:r>
              <a:rPr lang="en-US" sz="1800" b="1" dirty="0">
                <a:solidFill>
                  <a:schemeClr val="bg1"/>
                </a:solidFill>
              </a:rPr>
              <a:t>Ca</a:t>
            </a:r>
            <a:pPr indent="0" marL="0">
              <a:buNone/>
            </a:pPr>
            <a:r>
              <a:rPr lang="en-US" sz="1800" b="1" baseline="30000" dirty="0">
                <a:solidFill>
                  <a:schemeClr val="bg1"/>
                </a:solidFill>
              </a:rPr>
              <a:t>2+</a:t>
            </a:r>
            <a:endParaRPr lang="en-US" sz="1800" dirty="0"/>
          </a:p>
        </p:txBody>
      </p:sp>
      <p:sp>
        <p:nvSpPr>
          <p:cNvPr id="28" name="Text 26"/>
          <p:cNvSpPr txBox="1"/>
          <p:nvPr/>
        </p:nvSpPr>
        <p:spPr>
          <a:xfrm>
            <a:off x="4462272" y="2130552"/>
            <a:ext cx="868680" cy="237744"/>
          </a:xfrm>
          <a:prstGeom prst="rect">
            <a:avLst/>
          </a:prstGeom>
          <a:noFill/>
          <a:ln/>
        </p:spPr>
        <p:txBody>
          <a:bodyPr wrap="square" lIns="0" tIns="0" rIns="0" bIns="0" rtlCol="0" anchor="t"/>
          <a:lstStyle/>
          <a:p>
            <a:pPr indent="0" marL="0">
              <a:buNone/>
            </a:pPr>
            <a:r>
              <a:rPr lang="en-US" sz="1000" dirty="0">
                <a:solidFill>
                  <a:schemeClr val="bg2"/>
                </a:solidFill>
              </a:rPr>
              <a:t>calcium ion</a:t>
            </a:r>
            <a:endParaRPr lang="en-US" sz="1000" dirty="0"/>
          </a:p>
        </p:txBody>
      </p:sp>
      <p:sp>
        <p:nvSpPr>
          <p:cNvPr id="29" name="Text 27"/>
          <p:cNvSpPr txBox="1"/>
          <p:nvPr/>
        </p:nvSpPr>
        <p:spPr>
          <a:xfrm>
            <a:off x="3785616" y="2606040"/>
            <a:ext cx="1554480" cy="1280160"/>
          </a:xfrm>
          <a:prstGeom prst="rect">
            <a:avLst/>
          </a:prstGeom>
          <a:noFill/>
          <a:ln/>
        </p:spPr>
        <p:txBody>
          <a:bodyPr wrap="square" lIns="0" tIns="0" rIns="0" bIns="0" rtlCol="0" anchor="ctr"/>
          <a:lstStyle/>
          <a:p>
            <a:pPr algn="ctr" indent="0" marL="0">
              <a:buNone/>
            </a:pPr>
            <a:r>
              <a:rPr lang="en-US" sz="5400" b="1" dirty="0">
                <a:solidFill>
                  <a:schemeClr val="bg2"/>
                </a:solidFill>
              </a:rPr>
              <a:t>?</a:t>
            </a:r>
            <a:endParaRPr lang="en-US" sz="5400" dirty="0"/>
          </a:p>
        </p:txBody>
      </p:sp>
      <p:sp>
        <p:nvSpPr>
          <p:cNvPr id="30" name="nitride"/>
          <p:cNvSpPr/>
          <p:nvPr/>
        </p:nvSpPr>
        <p:spPr>
          <a:xfrm>
            <a:off x="5449824" y="1691640"/>
            <a:ext cx="1554480" cy="2926080"/>
          </a:xfrm>
          <a:prstGeom prst="roundRect">
            <a:avLst>
              <a:gd name="adj" fmla="val 5882"/>
            </a:avLst>
          </a:prstGeom>
          <a:solidFill>
            <a:schemeClr val="tx2"/>
          </a:solidFill>
          <a:ln w="9525">
            <a:solidFill>
              <a:schemeClr val="bg2">
                <a:alpha val="30000"/>
              </a:schemeClr>
            </a:solidFill>
            <a:prstDash val="solid"/>
          </a:ln>
        </p:spPr>
      </p:sp>
      <p:sp>
        <p:nvSpPr>
          <p:cNvPr id="31" name="Tile N"/>
          <p:cNvSpPr/>
          <p:nvPr/>
        </p:nvSpPr>
        <p:spPr>
          <a:xfrm>
            <a:off x="5559552" y="1819656"/>
            <a:ext cx="502920" cy="548640"/>
          </a:xfrm>
          <a:prstGeom prst="roundRect">
            <a:avLst>
              <a:gd name="adj" fmla="val 12000"/>
            </a:avLst>
          </a:prstGeom>
          <a:solidFill>
            <a:srgbClr val="45C08F">
              <a:alpha val="30000"/>
            </a:srgbClr>
          </a:solidFill>
          <a:ln w="19050">
            <a:solidFill>
              <a:srgbClr val="45C08F"/>
            </a:solidFill>
            <a:prstDash val="solid"/>
          </a:ln>
        </p:spPr>
      </p:sp>
      <p:sp>
        <p:nvSpPr>
          <p:cNvPr id="32" name="Text 30"/>
          <p:cNvSpPr txBox="1"/>
          <p:nvPr/>
        </p:nvSpPr>
        <p:spPr>
          <a:xfrm>
            <a:off x="5599786" y="1847088"/>
            <a:ext cx="301752" cy="131674"/>
          </a:xfrm>
          <a:prstGeom prst="rect">
            <a:avLst/>
          </a:prstGeom>
          <a:noFill/>
          <a:ln/>
        </p:spPr>
        <p:txBody>
          <a:bodyPr wrap="square" lIns="0" tIns="0" rIns="0" bIns="0" rtlCol="0" anchor="t"/>
          <a:lstStyle/>
          <a:p>
            <a:pPr indent="0" marL="0">
              <a:buNone/>
            </a:pPr>
            <a:r>
              <a:rPr lang="en-US" sz="800" dirty="0">
                <a:solidFill>
                  <a:schemeClr val="bg2"/>
                </a:solidFill>
              </a:rPr>
              <a:t>7</a:t>
            </a:r>
            <a:endParaRPr lang="en-US" sz="800" dirty="0"/>
          </a:p>
        </p:txBody>
      </p:sp>
      <p:sp>
        <p:nvSpPr>
          <p:cNvPr id="33" name="Text 31"/>
          <p:cNvSpPr txBox="1"/>
          <p:nvPr/>
        </p:nvSpPr>
        <p:spPr>
          <a:xfrm>
            <a:off x="5559552" y="1907438"/>
            <a:ext cx="502920" cy="438912"/>
          </a:xfrm>
          <a:prstGeom prst="rect">
            <a:avLst/>
          </a:prstGeom>
          <a:noFill/>
          <a:ln/>
        </p:spPr>
        <p:txBody>
          <a:bodyPr wrap="square" lIns="0" tIns="0" rIns="0" bIns="0" rtlCol="0" anchor="ctr"/>
          <a:lstStyle/>
          <a:p>
            <a:pPr algn="ctr" indent="0" marL="0">
              <a:buNone/>
            </a:pPr>
            <a:r>
              <a:rPr lang="en-US" sz="2000" b="1" dirty="0">
                <a:solidFill>
                  <a:schemeClr val="bg1"/>
                </a:solidFill>
              </a:rPr>
              <a:t>N</a:t>
            </a:r>
            <a:endParaRPr lang="en-US" sz="2000" dirty="0"/>
          </a:p>
        </p:txBody>
      </p:sp>
      <p:sp>
        <p:nvSpPr>
          <p:cNvPr id="34" name="Text 32"/>
          <p:cNvSpPr txBox="1"/>
          <p:nvPr/>
        </p:nvSpPr>
        <p:spPr>
          <a:xfrm>
            <a:off x="6126480" y="1801368"/>
            <a:ext cx="822960" cy="329184"/>
          </a:xfrm>
          <a:prstGeom prst="rect">
            <a:avLst/>
          </a:prstGeom>
          <a:noFill/>
          <a:ln/>
        </p:spPr>
        <p:txBody>
          <a:bodyPr wrap="square" lIns="0" tIns="0" rIns="0" bIns="0" rtlCol="0" anchor="ctr"/>
          <a:lstStyle/>
          <a:p>
            <a:pPr indent="0" marL="0">
              <a:buNone/>
            </a:pPr>
            <a:r>
              <a:rPr lang="en-US" sz="1800" b="1" dirty="0">
                <a:solidFill>
                  <a:schemeClr val="bg1"/>
                </a:solidFill>
              </a:rPr>
              <a:t>N</a:t>
            </a:r>
            <a:pPr indent="0" marL="0">
              <a:buNone/>
            </a:pPr>
            <a:r>
              <a:rPr lang="en-US" sz="1800" b="1" baseline="30000" dirty="0">
                <a:solidFill>
                  <a:schemeClr val="bg1"/>
                </a:solidFill>
              </a:rPr>
              <a:t>3−</a:t>
            </a:r>
            <a:endParaRPr lang="en-US" sz="1800" dirty="0"/>
          </a:p>
        </p:txBody>
      </p:sp>
      <p:sp>
        <p:nvSpPr>
          <p:cNvPr id="35" name="Text 33"/>
          <p:cNvSpPr txBox="1"/>
          <p:nvPr/>
        </p:nvSpPr>
        <p:spPr>
          <a:xfrm>
            <a:off x="6126480" y="2130552"/>
            <a:ext cx="868680" cy="237744"/>
          </a:xfrm>
          <a:prstGeom prst="rect">
            <a:avLst/>
          </a:prstGeom>
          <a:noFill/>
          <a:ln/>
        </p:spPr>
        <p:txBody>
          <a:bodyPr wrap="square" lIns="0" tIns="0" rIns="0" bIns="0" rtlCol="0" anchor="t"/>
          <a:lstStyle/>
          <a:p>
            <a:pPr indent="0" marL="0">
              <a:buNone/>
            </a:pPr>
            <a:r>
              <a:rPr lang="en-US" sz="1000" dirty="0">
                <a:solidFill>
                  <a:schemeClr val="bg2"/>
                </a:solidFill>
              </a:rPr>
              <a:t>nitride</a:t>
            </a:r>
            <a:endParaRPr lang="en-US" sz="1000" dirty="0"/>
          </a:p>
        </p:txBody>
      </p:sp>
      <p:sp>
        <p:nvSpPr>
          <p:cNvPr id="36" name="Text 34"/>
          <p:cNvSpPr txBox="1"/>
          <p:nvPr/>
        </p:nvSpPr>
        <p:spPr>
          <a:xfrm>
            <a:off x="5449824" y="2606040"/>
            <a:ext cx="1554480" cy="1280160"/>
          </a:xfrm>
          <a:prstGeom prst="rect">
            <a:avLst/>
          </a:prstGeom>
          <a:noFill/>
          <a:ln/>
        </p:spPr>
        <p:txBody>
          <a:bodyPr wrap="square" lIns="0" tIns="0" rIns="0" bIns="0" rtlCol="0" anchor="ctr"/>
          <a:lstStyle/>
          <a:p>
            <a:pPr algn="ctr" indent="0" marL="0">
              <a:buNone/>
            </a:pPr>
            <a:r>
              <a:rPr lang="en-US" sz="5400" b="1" dirty="0">
                <a:solidFill>
                  <a:schemeClr val="bg2"/>
                </a:solidFill>
              </a:rPr>
              <a:t>?</a:t>
            </a:r>
            <a:endParaRPr lang="en-US" sz="5400" dirty="0"/>
          </a:p>
        </p:txBody>
      </p:sp>
      <p:sp>
        <p:nvSpPr>
          <p:cNvPr id="37" name="lithium ion"/>
          <p:cNvSpPr/>
          <p:nvPr/>
        </p:nvSpPr>
        <p:spPr>
          <a:xfrm>
            <a:off x="7114032" y="1691640"/>
            <a:ext cx="1554480" cy="2926080"/>
          </a:xfrm>
          <a:prstGeom prst="roundRect">
            <a:avLst>
              <a:gd name="adj" fmla="val 5882"/>
            </a:avLst>
          </a:prstGeom>
          <a:solidFill>
            <a:schemeClr val="tx2"/>
          </a:solidFill>
          <a:ln w="9525">
            <a:solidFill>
              <a:schemeClr val="bg2">
                <a:alpha val="30000"/>
              </a:schemeClr>
            </a:solidFill>
            <a:prstDash val="solid"/>
          </a:ln>
        </p:spPr>
      </p:sp>
      <p:sp>
        <p:nvSpPr>
          <p:cNvPr id="38" name="Tile Li"/>
          <p:cNvSpPr/>
          <p:nvPr/>
        </p:nvSpPr>
        <p:spPr>
          <a:xfrm>
            <a:off x="7223760" y="1819656"/>
            <a:ext cx="502920" cy="548640"/>
          </a:xfrm>
          <a:prstGeom prst="roundRect">
            <a:avLst>
              <a:gd name="adj" fmla="val 12000"/>
            </a:avLst>
          </a:prstGeom>
          <a:solidFill>
            <a:srgbClr val="FF8F5E">
              <a:alpha val="30000"/>
            </a:srgbClr>
          </a:solidFill>
          <a:ln w="19050">
            <a:solidFill>
              <a:srgbClr val="FF8F5E"/>
            </a:solidFill>
            <a:prstDash val="solid"/>
          </a:ln>
        </p:spPr>
      </p:sp>
      <p:sp>
        <p:nvSpPr>
          <p:cNvPr id="39" name="Text 37"/>
          <p:cNvSpPr txBox="1"/>
          <p:nvPr/>
        </p:nvSpPr>
        <p:spPr>
          <a:xfrm>
            <a:off x="7263994" y="1847088"/>
            <a:ext cx="301752" cy="131674"/>
          </a:xfrm>
          <a:prstGeom prst="rect">
            <a:avLst/>
          </a:prstGeom>
          <a:noFill/>
          <a:ln/>
        </p:spPr>
        <p:txBody>
          <a:bodyPr wrap="square" lIns="0" tIns="0" rIns="0" bIns="0" rtlCol="0" anchor="t"/>
          <a:lstStyle/>
          <a:p>
            <a:pPr indent="0" marL="0">
              <a:buNone/>
            </a:pPr>
            <a:r>
              <a:rPr lang="en-US" sz="800" dirty="0">
                <a:solidFill>
                  <a:schemeClr val="bg2"/>
                </a:solidFill>
              </a:rPr>
              <a:t>3</a:t>
            </a:r>
            <a:endParaRPr lang="en-US" sz="800" dirty="0"/>
          </a:p>
        </p:txBody>
      </p:sp>
      <p:sp>
        <p:nvSpPr>
          <p:cNvPr id="40" name="Text 38"/>
          <p:cNvSpPr txBox="1"/>
          <p:nvPr/>
        </p:nvSpPr>
        <p:spPr>
          <a:xfrm>
            <a:off x="7223760" y="1907438"/>
            <a:ext cx="502920" cy="438912"/>
          </a:xfrm>
          <a:prstGeom prst="rect">
            <a:avLst/>
          </a:prstGeom>
          <a:noFill/>
          <a:ln/>
        </p:spPr>
        <p:txBody>
          <a:bodyPr wrap="square" lIns="0" tIns="0" rIns="0" bIns="0" rtlCol="0" anchor="ctr"/>
          <a:lstStyle/>
          <a:p>
            <a:pPr algn="ctr" indent="0" marL="0">
              <a:buNone/>
            </a:pPr>
            <a:r>
              <a:rPr lang="en-US" sz="2000" b="1" dirty="0">
                <a:solidFill>
                  <a:schemeClr val="bg1"/>
                </a:solidFill>
              </a:rPr>
              <a:t>Li</a:t>
            </a:r>
            <a:endParaRPr lang="en-US" sz="2000" dirty="0"/>
          </a:p>
        </p:txBody>
      </p:sp>
      <p:sp>
        <p:nvSpPr>
          <p:cNvPr id="41" name="Text 39"/>
          <p:cNvSpPr txBox="1"/>
          <p:nvPr/>
        </p:nvSpPr>
        <p:spPr>
          <a:xfrm>
            <a:off x="7790688" y="1801368"/>
            <a:ext cx="822960" cy="329184"/>
          </a:xfrm>
          <a:prstGeom prst="rect">
            <a:avLst/>
          </a:prstGeom>
          <a:noFill/>
          <a:ln/>
        </p:spPr>
        <p:txBody>
          <a:bodyPr wrap="square" lIns="0" tIns="0" rIns="0" bIns="0" rtlCol="0" anchor="ctr"/>
          <a:lstStyle/>
          <a:p>
            <a:pPr indent="0" marL="0">
              <a:buNone/>
            </a:pPr>
            <a:r>
              <a:rPr lang="en-US" sz="1800" b="1" dirty="0">
                <a:solidFill>
                  <a:schemeClr val="bg1"/>
                </a:solidFill>
              </a:rPr>
              <a:t>Li</a:t>
            </a:r>
            <a:pPr indent="0" marL="0">
              <a:buNone/>
            </a:pPr>
            <a:r>
              <a:rPr lang="en-US" sz="1800" b="1" baseline="30000" dirty="0">
                <a:solidFill>
                  <a:schemeClr val="bg1"/>
                </a:solidFill>
              </a:rPr>
              <a:t>+</a:t>
            </a:r>
            <a:endParaRPr lang="en-US" sz="1800" dirty="0"/>
          </a:p>
        </p:txBody>
      </p:sp>
      <p:sp>
        <p:nvSpPr>
          <p:cNvPr id="42" name="Text 40"/>
          <p:cNvSpPr txBox="1"/>
          <p:nvPr/>
        </p:nvSpPr>
        <p:spPr>
          <a:xfrm>
            <a:off x="7790688" y="2130552"/>
            <a:ext cx="868680" cy="237744"/>
          </a:xfrm>
          <a:prstGeom prst="rect">
            <a:avLst/>
          </a:prstGeom>
          <a:noFill/>
          <a:ln/>
        </p:spPr>
        <p:txBody>
          <a:bodyPr wrap="square" lIns="0" tIns="0" rIns="0" bIns="0" rtlCol="0" anchor="t"/>
          <a:lstStyle/>
          <a:p>
            <a:pPr indent="0" marL="0">
              <a:buNone/>
            </a:pPr>
            <a:r>
              <a:rPr lang="en-US" sz="1000" dirty="0">
                <a:solidFill>
                  <a:schemeClr val="bg2"/>
                </a:solidFill>
              </a:rPr>
              <a:t>lithium ion</a:t>
            </a:r>
            <a:endParaRPr lang="en-US" sz="1000" dirty="0"/>
          </a:p>
        </p:txBody>
      </p:sp>
      <p:sp>
        <p:nvSpPr>
          <p:cNvPr id="43" name="Text 41"/>
          <p:cNvSpPr txBox="1"/>
          <p:nvPr/>
        </p:nvSpPr>
        <p:spPr>
          <a:xfrm>
            <a:off x="7114032" y="2606040"/>
            <a:ext cx="1554480" cy="1280160"/>
          </a:xfrm>
          <a:prstGeom prst="rect">
            <a:avLst/>
          </a:prstGeom>
          <a:noFill/>
          <a:ln/>
        </p:spPr>
        <p:txBody>
          <a:bodyPr wrap="square" lIns="0" tIns="0" rIns="0" bIns="0" rtlCol="0" anchor="ctr"/>
          <a:lstStyle/>
          <a:p>
            <a:pPr algn="ctr" indent="0" marL="0">
              <a:buNone/>
            </a:pPr>
            <a:r>
              <a:rPr lang="en-US" sz="5400" b="1" dirty="0">
                <a:solidFill>
                  <a:schemeClr val="bg2"/>
                </a:solidFill>
              </a:rPr>
              <a:t>?</a:t>
            </a:r>
            <a:endParaRPr lang="en-US" sz="5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ection tile 6"/>
          <p:cNvSpPr/>
          <p:nvPr/>
        </p:nvSpPr>
        <p:spPr>
          <a:xfrm>
            <a:off x="457200" y="301752"/>
            <a:ext cx="749808" cy="841248"/>
          </a:xfrm>
          <a:prstGeom prst="roundRect">
            <a:avLst>
              <a:gd name="adj" fmla="val 12000"/>
            </a:avLst>
          </a:prstGeom>
          <a:solidFill>
            <a:srgbClr val="F472B6">
              <a:alpha val="28000"/>
            </a:srgbClr>
          </a:solidFill>
          <a:ln w="19050">
            <a:solidFill>
              <a:srgbClr val="F472B6"/>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6</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2400" b="1" dirty="0">
                <a:solidFill>
                  <a:schemeClr val="bg1"/>
                </a:solidFill>
              </a:rPr>
              <a:t>S</a:t>
            </a:r>
            <a:pPr algn="ctr" indent="0" marL="0">
              <a:buNone/>
            </a:pPr>
            <a:r>
              <a:rPr lang="en-US" sz="2400" b="1" baseline="30000" dirty="0">
                <a:solidFill>
                  <a:schemeClr val="bg1"/>
                </a:solidFill>
              </a:rPr>
              <a:t>2−</a:t>
            </a:r>
            <a:endParaRPr lang="en-US" sz="2400" dirty="0"/>
          </a:p>
        </p:txBody>
      </p:sp>
      <p:sp>
        <p:nvSpPr>
          <p:cNvPr id="5" name="Text 3"/>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6" name="Text 4"/>
          <p:cNvSpPr/>
          <p:nvPr/>
        </p:nvSpPr>
        <p:spPr>
          <a:xfrm>
            <a:off x="224028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7" name="Text 5"/>
          <p:cNvSpPr txBox="1"/>
          <p:nvPr/>
        </p:nvSpPr>
        <p:spPr>
          <a:xfrm>
            <a:off x="32004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6 of 9</a:t>
            </a:r>
            <a:endParaRPr lang="en-US" sz="1200" dirty="0"/>
          </a:p>
        </p:txBody>
      </p:sp>
      <p:sp>
        <p:nvSpPr>
          <p:cNvPr id="8"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Ion model builder</a:t>
            </a:r>
            <a:endParaRPr lang="en-US" sz="2800" dirty="0"/>
          </a:p>
        </p:txBody>
      </p:sp>
      <p:sp>
        <p:nvSpPr>
          <p:cNvPr id="9" name="Text 7"/>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Build each ion. Use the tile for the nucleus, then set the shells, electrons, and charge.</a:t>
            </a:r>
            <a:endParaRPr lang="en-US" sz="1300" dirty="0"/>
          </a:p>
        </p:txBody>
      </p:sp>
      <p:sp>
        <p:nvSpPr>
          <p:cNvPr id="10" name="sodium ion"/>
          <p:cNvSpPr/>
          <p:nvPr/>
        </p:nvSpPr>
        <p:spPr>
          <a:xfrm>
            <a:off x="457200" y="1691640"/>
            <a:ext cx="1554480" cy="2926080"/>
          </a:xfrm>
          <a:prstGeom prst="roundRect">
            <a:avLst>
              <a:gd name="adj" fmla="val 5882"/>
            </a:avLst>
          </a:prstGeom>
          <a:solidFill>
            <a:schemeClr val="tx2"/>
          </a:solidFill>
          <a:ln w="9525">
            <a:solidFill>
              <a:schemeClr val="bg2">
                <a:alpha val="30000"/>
              </a:schemeClr>
            </a:solidFill>
            <a:prstDash val="solid"/>
          </a:ln>
        </p:spPr>
      </p:sp>
      <p:sp>
        <p:nvSpPr>
          <p:cNvPr id="11" name="Tile Na"/>
          <p:cNvSpPr/>
          <p:nvPr/>
        </p:nvSpPr>
        <p:spPr>
          <a:xfrm>
            <a:off x="566928" y="1819656"/>
            <a:ext cx="502920" cy="548640"/>
          </a:xfrm>
          <a:prstGeom prst="roundRect">
            <a:avLst>
              <a:gd name="adj" fmla="val 12000"/>
            </a:avLst>
          </a:prstGeom>
          <a:solidFill>
            <a:srgbClr val="FF8F5E">
              <a:alpha val="30000"/>
            </a:srgbClr>
          </a:solidFill>
          <a:ln w="19050">
            <a:solidFill>
              <a:srgbClr val="FF8F5E"/>
            </a:solidFill>
            <a:prstDash val="solid"/>
          </a:ln>
        </p:spPr>
      </p:sp>
      <p:sp>
        <p:nvSpPr>
          <p:cNvPr id="12" name="Text 10"/>
          <p:cNvSpPr txBox="1"/>
          <p:nvPr/>
        </p:nvSpPr>
        <p:spPr>
          <a:xfrm>
            <a:off x="607162" y="1847088"/>
            <a:ext cx="301752" cy="131674"/>
          </a:xfrm>
          <a:prstGeom prst="rect">
            <a:avLst/>
          </a:prstGeom>
          <a:noFill/>
          <a:ln/>
        </p:spPr>
        <p:txBody>
          <a:bodyPr wrap="square" lIns="0" tIns="0" rIns="0" bIns="0" rtlCol="0" anchor="t"/>
          <a:lstStyle/>
          <a:p>
            <a:pPr indent="0" marL="0">
              <a:buNone/>
            </a:pPr>
            <a:r>
              <a:rPr lang="en-US" sz="800" dirty="0">
                <a:solidFill>
                  <a:schemeClr val="bg2"/>
                </a:solidFill>
              </a:rPr>
              <a:t>11</a:t>
            </a:r>
            <a:endParaRPr lang="en-US" sz="800" dirty="0"/>
          </a:p>
        </p:txBody>
      </p:sp>
      <p:sp>
        <p:nvSpPr>
          <p:cNvPr id="13" name="Text 11"/>
          <p:cNvSpPr txBox="1"/>
          <p:nvPr/>
        </p:nvSpPr>
        <p:spPr>
          <a:xfrm>
            <a:off x="566928" y="1907438"/>
            <a:ext cx="502920" cy="438912"/>
          </a:xfrm>
          <a:prstGeom prst="rect">
            <a:avLst/>
          </a:prstGeom>
          <a:noFill/>
          <a:ln/>
        </p:spPr>
        <p:txBody>
          <a:bodyPr wrap="square" lIns="0" tIns="0" rIns="0" bIns="0" rtlCol="0" anchor="ctr"/>
          <a:lstStyle/>
          <a:p>
            <a:pPr algn="ctr" indent="0" marL="0">
              <a:buNone/>
            </a:pPr>
            <a:r>
              <a:rPr lang="en-US" sz="2000" b="1" dirty="0">
                <a:solidFill>
                  <a:schemeClr val="bg1"/>
                </a:solidFill>
              </a:rPr>
              <a:t>Na</a:t>
            </a:r>
            <a:endParaRPr lang="en-US" sz="2000" dirty="0"/>
          </a:p>
        </p:txBody>
      </p:sp>
      <p:sp>
        <p:nvSpPr>
          <p:cNvPr id="14" name="Text 12"/>
          <p:cNvSpPr txBox="1"/>
          <p:nvPr/>
        </p:nvSpPr>
        <p:spPr>
          <a:xfrm>
            <a:off x="1133856" y="1801368"/>
            <a:ext cx="822960" cy="329184"/>
          </a:xfrm>
          <a:prstGeom prst="rect">
            <a:avLst/>
          </a:prstGeom>
          <a:noFill/>
          <a:ln/>
        </p:spPr>
        <p:txBody>
          <a:bodyPr wrap="square" lIns="0" tIns="0" rIns="0" bIns="0" rtlCol="0" anchor="ctr"/>
          <a:lstStyle/>
          <a:p>
            <a:pPr indent="0" marL="0">
              <a:buNone/>
            </a:pPr>
            <a:r>
              <a:rPr lang="en-US" sz="1800" b="1" dirty="0">
                <a:solidFill>
                  <a:schemeClr val="bg1"/>
                </a:solidFill>
              </a:rPr>
              <a:t>Na</a:t>
            </a:r>
            <a:pPr indent="0" marL="0">
              <a:buNone/>
            </a:pPr>
            <a:r>
              <a:rPr lang="en-US" sz="1800" b="1" baseline="30000" dirty="0">
                <a:solidFill>
                  <a:schemeClr val="bg1"/>
                </a:solidFill>
              </a:rPr>
              <a:t>+</a:t>
            </a:r>
            <a:endParaRPr lang="en-US" sz="1800" dirty="0"/>
          </a:p>
        </p:txBody>
      </p:sp>
      <p:sp>
        <p:nvSpPr>
          <p:cNvPr id="15" name="Text 13"/>
          <p:cNvSpPr txBox="1"/>
          <p:nvPr/>
        </p:nvSpPr>
        <p:spPr>
          <a:xfrm>
            <a:off x="1133856" y="2130552"/>
            <a:ext cx="868680" cy="237744"/>
          </a:xfrm>
          <a:prstGeom prst="rect">
            <a:avLst/>
          </a:prstGeom>
          <a:noFill/>
          <a:ln/>
        </p:spPr>
        <p:txBody>
          <a:bodyPr wrap="square" lIns="0" tIns="0" rIns="0" bIns="0" rtlCol="0" anchor="t"/>
          <a:lstStyle/>
          <a:p>
            <a:pPr indent="0" marL="0">
              <a:buNone/>
            </a:pPr>
            <a:r>
              <a:rPr lang="en-US" sz="1000" dirty="0">
                <a:solidFill>
                  <a:schemeClr val="bg2"/>
                </a:solidFill>
              </a:rPr>
              <a:t>sodium ion</a:t>
            </a:r>
            <a:endParaRPr lang="en-US" sz="1000" dirty="0"/>
          </a:p>
        </p:txBody>
      </p:sp>
      <p:sp>
        <p:nvSpPr>
          <p:cNvPr id="16" name="sodium ion: shell 1"/>
          <p:cNvSpPr/>
          <p:nvPr/>
        </p:nvSpPr>
        <p:spPr>
          <a:xfrm>
            <a:off x="956462" y="2894990"/>
            <a:ext cx="555955" cy="555955"/>
          </a:xfrm>
          <a:prstGeom prst="ellipse">
            <a:avLst/>
          </a:prstGeom>
          <a:solidFill>
            <a:schemeClr val="bg1">
              <a:alpha val="0"/>
            </a:schemeClr>
          </a:solidFill>
          <a:ln w="15875">
            <a:solidFill>
              <a:schemeClr val="bg2">
                <a:alpha val="55000"/>
              </a:schemeClr>
            </a:solidFill>
            <a:prstDash val="solid"/>
          </a:ln>
        </p:spPr>
      </p:sp>
      <p:sp>
        <p:nvSpPr>
          <p:cNvPr id="17" name="sodium ion: shell 2"/>
          <p:cNvSpPr/>
          <p:nvPr/>
        </p:nvSpPr>
        <p:spPr>
          <a:xfrm>
            <a:off x="782726" y="2721254"/>
            <a:ext cx="903427" cy="903427"/>
          </a:xfrm>
          <a:prstGeom prst="ellipse">
            <a:avLst/>
          </a:prstGeom>
          <a:solidFill>
            <a:schemeClr val="bg1">
              <a:alpha val="0"/>
            </a:schemeClr>
          </a:solidFill>
          <a:ln w="15875">
            <a:solidFill>
              <a:schemeClr val="bg2">
                <a:alpha val="55000"/>
              </a:schemeClr>
            </a:solidFill>
            <a:prstDash val="solid"/>
          </a:ln>
        </p:spPr>
      </p:sp>
      <p:sp>
        <p:nvSpPr>
          <p:cNvPr id="18" name="sodium ion: nucleus"/>
          <p:cNvSpPr/>
          <p:nvPr/>
        </p:nvSpPr>
        <p:spPr>
          <a:xfrm>
            <a:off x="1054913" y="2993441"/>
            <a:ext cx="359054" cy="359054"/>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600" b="1" dirty="0">
                <a:solidFill>
                  <a:schemeClr val="bg1"/>
                </a:solidFill>
              </a:rPr>
              <a:t>11 p</a:t>
            </a:r>
            <a:pPr algn="ctr" indent="0" marL="0">
              <a:buNone/>
            </a:pPr>
            <a:r>
              <a:rPr lang="en-US" sz="600" b="1" baseline="30000" dirty="0">
                <a:solidFill>
                  <a:schemeClr val="bg1"/>
                </a:solidFill>
              </a:rPr>
              <a:t>+</a:t>
            </a:r>
            <a:endParaRPr lang="en-US" sz="600" dirty="0"/>
          </a:p>
          <a:p>
            <a:pPr algn="ctr" indent="0" marL="0">
              <a:buNone/>
            </a:pPr>
            <a:r>
              <a:rPr lang="en-US" sz="600" b="1" dirty="0">
                <a:solidFill>
                  <a:schemeClr val="bg1"/>
                </a:solidFill>
              </a:rPr>
              <a:t>12 n</a:t>
            </a:r>
            <a:pPr algn="ctr" indent="0" marL="0">
              <a:buNone/>
            </a:pPr>
            <a:r>
              <a:rPr lang="en-US" sz="600" b="1" baseline="30000" dirty="0">
                <a:solidFill>
                  <a:schemeClr val="bg1"/>
                </a:solidFill>
              </a:rPr>
              <a:t>0</a:t>
            </a:r>
            <a:endParaRPr lang="en-US" sz="600" dirty="0"/>
          </a:p>
        </p:txBody>
      </p:sp>
      <p:sp>
        <p:nvSpPr>
          <p:cNvPr id="19" name="sodium ion: electron, shell 1"/>
          <p:cNvSpPr/>
          <p:nvPr/>
        </p:nvSpPr>
        <p:spPr>
          <a:xfrm>
            <a:off x="1191006" y="2851556"/>
            <a:ext cx="86868" cy="86868"/>
          </a:xfrm>
          <a:prstGeom prst="ellipse">
            <a:avLst/>
          </a:prstGeom>
          <a:solidFill>
            <a:schemeClr val="accent1"/>
          </a:solidFill>
          <a:ln w="3175">
            <a:solidFill>
              <a:schemeClr val="accent1"/>
            </a:solidFill>
            <a:prstDash val="solid"/>
          </a:ln>
        </p:spPr>
      </p:sp>
      <p:sp>
        <p:nvSpPr>
          <p:cNvPr id="20" name="sodium ion: electron, shell 1"/>
          <p:cNvSpPr/>
          <p:nvPr/>
        </p:nvSpPr>
        <p:spPr>
          <a:xfrm>
            <a:off x="1468984" y="3129534"/>
            <a:ext cx="86868" cy="86868"/>
          </a:xfrm>
          <a:prstGeom prst="ellipse">
            <a:avLst/>
          </a:prstGeom>
          <a:solidFill>
            <a:schemeClr val="accent1"/>
          </a:solidFill>
          <a:ln w="3175">
            <a:solidFill>
              <a:schemeClr val="accent1"/>
            </a:solidFill>
            <a:prstDash val="solid"/>
          </a:ln>
        </p:spPr>
      </p:sp>
      <p:sp>
        <p:nvSpPr>
          <p:cNvPr id="21" name="sodium ion: electron, shell 2"/>
          <p:cNvSpPr/>
          <p:nvPr/>
        </p:nvSpPr>
        <p:spPr>
          <a:xfrm>
            <a:off x="1132678" y="2681602"/>
            <a:ext cx="86868" cy="86868"/>
          </a:xfrm>
          <a:prstGeom prst="ellipse">
            <a:avLst/>
          </a:prstGeom>
          <a:solidFill>
            <a:schemeClr val="accent1"/>
          </a:solidFill>
          <a:ln w="3175">
            <a:solidFill>
              <a:schemeClr val="accent1"/>
            </a:solidFill>
            <a:prstDash val="solid"/>
          </a:ln>
        </p:spPr>
      </p:sp>
      <p:sp>
        <p:nvSpPr>
          <p:cNvPr id="22" name="sodium ion: electron, shell 2"/>
          <p:cNvSpPr/>
          <p:nvPr/>
        </p:nvSpPr>
        <p:spPr>
          <a:xfrm>
            <a:off x="1249334" y="2681602"/>
            <a:ext cx="86868" cy="86868"/>
          </a:xfrm>
          <a:prstGeom prst="ellipse">
            <a:avLst/>
          </a:prstGeom>
          <a:solidFill>
            <a:schemeClr val="accent1"/>
          </a:solidFill>
          <a:ln w="3175">
            <a:solidFill>
              <a:schemeClr val="accent1"/>
            </a:solidFill>
            <a:prstDash val="solid"/>
          </a:ln>
        </p:spPr>
      </p:sp>
      <p:sp>
        <p:nvSpPr>
          <p:cNvPr id="23" name="sodium ion: electron, shell 2"/>
          <p:cNvSpPr/>
          <p:nvPr/>
        </p:nvSpPr>
        <p:spPr>
          <a:xfrm>
            <a:off x="1638938" y="3071206"/>
            <a:ext cx="86868" cy="86868"/>
          </a:xfrm>
          <a:prstGeom prst="ellipse">
            <a:avLst/>
          </a:prstGeom>
          <a:solidFill>
            <a:schemeClr val="accent1"/>
          </a:solidFill>
          <a:ln w="3175">
            <a:solidFill>
              <a:schemeClr val="accent1"/>
            </a:solidFill>
            <a:prstDash val="solid"/>
          </a:ln>
        </p:spPr>
      </p:sp>
      <p:sp>
        <p:nvSpPr>
          <p:cNvPr id="24" name="sodium ion: electron, shell 2"/>
          <p:cNvSpPr/>
          <p:nvPr/>
        </p:nvSpPr>
        <p:spPr>
          <a:xfrm>
            <a:off x="1638938" y="3187862"/>
            <a:ext cx="86868" cy="86868"/>
          </a:xfrm>
          <a:prstGeom prst="ellipse">
            <a:avLst/>
          </a:prstGeom>
          <a:solidFill>
            <a:schemeClr val="accent1"/>
          </a:solidFill>
          <a:ln w="3175">
            <a:solidFill>
              <a:schemeClr val="accent1"/>
            </a:solidFill>
            <a:prstDash val="solid"/>
          </a:ln>
        </p:spPr>
      </p:sp>
      <p:sp>
        <p:nvSpPr>
          <p:cNvPr id="25" name="sodium ion: electron, shell 2"/>
          <p:cNvSpPr/>
          <p:nvPr/>
        </p:nvSpPr>
        <p:spPr>
          <a:xfrm>
            <a:off x="1249334" y="3577466"/>
            <a:ext cx="86868" cy="86868"/>
          </a:xfrm>
          <a:prstGeom prst="ellipse">
            <a:avLst/>
          </a:prstGeom>
          <a:solidFill>
            <a:schemeClr val="accent1"/>
          </a:solidFill>
          <a:ln w="3175">
            <a:solidFill>
              <a:schemeClr val="accent1"/>
            </a:solidFill>
            <a:prstDash val="solid"/>
          </a:ln>
        </p:spPr>
      </p:sp>
      <p:sp>
        <p:nvSpPr>
          <p:cNvPr id="26" name="sodium ion: electron, shell 2"/>
          <p:cNvSpPr/>
          <p:nvPr/>
        </p:nvSpPr>
        <p:spPr>
          <a:xfrm>
            <a:off x="1132678" y="3577466"/>
            <a:ext cx="86868" cy="86868"/>
          </a:xfrm>
          <a:prstGeom prst="ellipse">
            <a:avLst/>
          </a:prstGeom>
          <a:solidFill>
            <a:schemeClr val="accent1"/>
          </a:solidFill>
          <a:ln w="3175">
            <a:solidFill>
              <a:schemeClr val="accent1"/>
            </a:solidFill>
            <a:prstDash val="solid"/>
          </a:ln>
        </p:spPr>
      </p:sp>
      <p:sp>
        <p:nvSpPr>
          <p:cNvPr id="27" name="sodium ion: electron, shell 2"/>
          <p:cNvSpPr/>
          <p:nvPr/>
        </p:nvSpPr>
        <p:spPr>
          <a:xfrm>
            <a:off x="743074" y="3187862"/>
            <a:ext cx="86868" cy="86868"/>
          </a:xfrm>
          <a:prstGeom prst="ellipse">
            <a:avLst/>
          </a:prstGeom>
          <a:solidFill>
            <a:schemeClr val="accent1"/>
          </a:solidFill>
          <a:ln w="3175">
            <a:solidFill>
              <a:schemeClr val="accent1"/>
            </a:solidFill>
            <a:prstDash val="solid"/>
          </a:ln>
        </p:spPr>
      </p:sp>
      <p:sp>
        <p:nvSpPr>
          <p:cNvPr id="28" name="sodium ion: electron, shell 2"/>
          <p:cNvSpPr/>
          <p:nvPr/>
        </p:nvSpPr>
        <p:spPr>
          <a:xfrm>
            <a:off x="743074" y="3071206"/>
            <a:ext cx="86868" cy="86868"/>
          </a:xfrm>
          <a:prstGeom prst="ellipse">
            <a:avLst/>
          </a:prstGeom>
          <a:solidFill>
            <a:schemeClr val="accent1"/>
          </a:solidFill>
          <a:ln w="3175">
            <a:solidFill>
              <a:schemeClr val="accent1"/>
            </a:solidFill>
            <a:prstDash val="solid"/>
          </a:ln>
        </p:spPr>
      </p:sp>
      <p:sp>
        <p:nvSpPr>
          <p:cNvPr id="29" name="sodium ion: left bracket"/>
          <p:cNvSpPr/>
          <p:nvPr/>
        </p:nvSpPr>
        <p:spPr>
          <a:xfrm>
            <a:off x="690067" y="2628595"/>
            <a:ext cx="81077" cy="1088746"/>
          </a:xfrm>
          <a:prstGeom prst="leftBracket">
            <a:avLst/>
          </a:prstGeom>
          <a:noFill/>
          <a:ln w="15875">
            <a:solidFill>
              <a:schemeClr val="bg1"/>
            </a:solidFill>
            <a:prstDash val="solid"/>
          </a:ln>
        </p:spPr>
      </p:sp>
      <p:sp>
        <p:nvSpPr>
          <p:cNvPr id="30" name="sodium ion: right bracket"/>
          <p:cNvSpPr/>
          <p:nvPr/>
        </p:nvSpPr>
        <p:spPr>
          <a:xfrm>
            <a:off x="1697736" y="2628595"/>
            <a:ext cx="81077" cy="1088746"/>
          </a:xfrm>
          <a:prstGeom prst="rightBracket">
            <a:avLst/>
          </a:prstGeom>
          <a:noFill/>
          <a:ln w="15875">
            <a:solidFill>
              <a:schemeClr val="bg1"/>
            </a:solidFill>
            <a:prstDash val="solid"/>
          </a:ln>
        </p:spPr>
      </p:sp>
      <p:sp>
        <p:nvSpPr>
          <p:cNvPr id="31" name="sodium ion: charge"/>
          <p:cNvSpPr txBox="1"/>
          <p:nvPr/>
        </p:nvSpPr>
        <p:spPr>
          <a:xfrm>
            <a:off x="1797101" y="2551760"/>
            <a:ext cx="223520" cy="167640"/>
          </a:xfrm>
          <a:prstGeom prst="rect">
            <a:avLst/>
          </a:prstGeom>
          <a:noFill/>
          <a:ln/>
        </p:spPr>
        <p:txBody>
          <a:bodyPr wrap="square" lIns="0" tIns="0" rIns="0" bIns="0" rtlCol="0" anchor="t"/>
          <a:lstStyle/>
          <a:p>
            <a:pPr indent="0" marL="0">
              <a:buNone/>
            </a:pPr>
            <a:r>
              <a:rPr lang="en-US" sz="1100" b="1" dirty="0">
                <a:solidFill>
                  <a:schemeClr val="bg1"/>
                </a:solidFill>
              </a:rPr>
              <a:t>+</a:t>
            </a:r>
            <a:endParaRPr lang="en-US" sz="1100" dirty="0"/>
          </a:p>
        </p:txBody>
      </p:sp>
      <p:sp>
        <p:nvSpPr>
          <p:cNvPr id="32" name="Text 30"/>
          <p:cNvSpPr txBox="1"/>
          <p:nvPr/>
        </p:nvSpPr>
        <p:spPr>
          <a:xfrm>
            <a:off x="502920" y="3931920"/>
            <a:ext cx="1463040" cy="548640"/>
          </a:xfrm>
          <a:prstGeom prst="rect">
            <a:avLst/>
          </a:prstGeom>
          <a:noFill/>
          <a:ln/>
        </p:spPr>
        <p:txBody>
          <a:bodyPr wrap="square" lIns="0" tIns="0" rIns="0" bIns="0" rtlCol="0" anchor="ctr"/>
          <a:lstStyle/>
          <a:p>
            <a:pPr algn="ctr" indent="0" marL="0">
              <a:buNone/>
            </a:pPr>
            <a:r>
              <a:rPr lang="en-US" sz="1100" b="1" dirty="0">
                <a:solidFill>
                  <a:schemeClr val="bg1"/>
                </a:solidFill>
              </a:rPr>
              <a:t>11 p</a:t>
            </a:r>
            <a:pPr algn="ctr" indent="0" marL="0">
              <a:buNone/>
            </a:pPr>
            <a:r>
              <a:rPr lang="en-US" sz="1100" b="1" baseline="30000" dirty="0">
                <a:solidFill>
                  <a:schemeClr val="bg1"/>
                </a:solidFill>
              </a:rPr>
              <a:t>+</a:t>
            </a:r>
            <a:pPr algn="ctr" indent="0" marL="0">
              <a:buNone/>
            </a:pPr>
            <a:r>
              <a:rPr lang="en-US" sz="1100" b="1" dirty="0">
                <a:solidFill>
                  <a:schemeClr val="bg1"/>
                </a:solidFill>
              </a:rPr>
              <a:t>   12 n</a:t>
            </a:r>
            <a:pPr algn="ctr" indent="0" marL="0">
              <a:buNone/>
            </a:pPr>
            <a:r>
              <a:rPr lang="en-US" sz="1100" b="1" baseline="30000" dirty="0">
                <a:solidFill>
                  <a:schemeClr val="bg1"/>
                </a:solidFill>
              </a:rPr>
              <a:t>0</a:t>
            </a:r>
            <a:pPr algn="ctr" indent="0" marL="0">
              <a:buNone/>
            </a:pPr>
            <a:endParaRPr lang="en-US" sz="1100" dirty="0"/>
          </a:p>
          <a:p>
            <a:pPr algn="ctr" indent="0" marL="0">
              <a:buNone/>
            </a:pPr>
            <a:r>
              <a:rPr lang="en-US" sz="1100" b="1" dirty="0">
                <a:solidFill>
                  <a:schemeClr val="accent1"/>
                </a:solidFill>
              </a:rPr>
              <a:t>2, 8</a:t>
            </a:r>
            <a:endParaRPr lang="en-US" sz="1100" dirty="0"/>
          </a:p>
        </p:txBody>
      </p:sp>
      <p:sp>
        <p:nvSpPr>
          <p:cNvPr id="33" name="sulfide"/>
          <p:cNvSpPr/>
          <p:nvPr/>
        </p:nvSpPr>
        <p:spPr>
          <a:xfrm>
            <a:off x="2121408" y="1691640"/>
            <a:ext cx="1554480" cy="2926080"/>
          </a:xfrm>
          <a:prstGeom prst="roundRect">
            <a:avLst>
              <a:gd name="adj" fmla="val 5882"/>
            </a:avLst>
          </a:prstGeom>
          <a:solidFill>
            <a:schemeClr val="tx2"/>
          </a:solidFill>
          <a:ln w="9525">
            <a:solidFill>
              <a:schemeClr val="bg2">
                <a:alpha val="30000"/>
              </a:schemeClr>
            </a:solidFill>
            <a:prstDash val="solid"/>
          </a:ln>
        </p:spPr>
      </p:sp>
      <p:sp>
        <p:nvSpPr>
          <p:cNvPr id="34" name="Tile S"/>
          <p:cNvSpPr/>
          <p:nvPr/>
        </p:nvSpPr>
        <p:spPr>
          <a:xfrm>
            <a:off x="2231136" y="1819656"/>
            <a:ext cx="502920" cy="548640"/>
          </a:xfrm>
          <a:prstGeom prst="roundRect">
            <a:avLst>
              <a:gd name="adj" fmla="val 12000"/>
            </a:avLst>
          </a:prstGeom>
          <a:solidFill>
            <a:srgbClr val="45C08F">
              <a:alpha val="30000"/>
            </a:srgbClr>
          </a:solidFill>
          <a:ln w="19050">
            <a:solidFill>
              <a:srgbClr val="45C08F"/>
            </a:solidFill>
            <a:prstDash val="solid"/>
          </a:ln>
        </p:spPr>
      </p:sp>
      <p:sp>
        <p:nvSpPr>
          <p:cNvPr id="35" name="Text 33"/>
          <p:cNvSpPr txBox="1"/>
          <p:nvPr/>
        </p:nvSpPr>
        <p:spPr>
          <a:xfrm>
            <a:off x="2271370" y="1847088"/>
            <a:ext cx="301752" cy="131674"/>
          </a:xfrm>
          <a:prstGeom prst="rect">
            <a:avLst/>
          </a:prstGeom>
          <a:noFill/>
          <a:ln/>
        </p:spPr>
        <p:txBody>
          <a:bodyPr wrap="square" lIns="0" tIns="0" rIns="0" bIns="0" rtlCol="0" anchor="t"/>
          <a:lstStyle/>
          <a:p>
            <a:pPr indent="0" marL="0">
              <a:buNone/>
            </a:pPr>
            <a:r>
              <a:rPr lang="en-US" sz="800" dirty="0">
                <a:solidFill>
                  <a:schemeClr val="bg2"/>
                </a:solidFill>
              </a:rPr>
              <a:t>16</a:t>
            </a:r>
            <a:endParaRPr lang="en-US" sz="800" dirty="0"/>
          </a:p>
        </p:txBody>
      </p:sp>
      <p:sp>
        <p:nvSpPr>
          <p:cNvPr id="36" name="Text 34"/>
          <p:cNvSpPr txBox="1"/>
          <p:nvPr/>
        </p:nvSpPr>
        <p:spPr>
          <a:xfrm>
            <a:off x="2231136" y="1907438"/>
            <a:ext cx="502920" cy="438912"/>
          </a:xfrm>
          <a:prstGeom prst="rect">
            <a:avLst/>
          </a:prstGeom>
          <a:noFill/>
          <a:ln/>
        </p:spPr>
        <p:txBody>
          <a:bodyPr wrap="square" lIns="0" tIns="0" rIns="0" bIns="0" rtlCol="0" anchor="ctr"/>
          <a:lstStyle/>
          <a:p>
            <a:pPr algn="ctr" indent="0" marL="0">
              <a:buNone/>
            </a:pPr>
            <a:r>
              <a:rPr lang="en-US" sz="2000" b="1" dirty="0">
                <a:solidFill>
                  <a:schemeClr val="bg1"/>
                </a:solidFill>
              </a:rPr>
              <a:t>S</a:t>
            </a:r>
            <a:endParaRPr lang="en-US" sz="2000" dirty="0"/>
          </a:p>
        </p:txBody>
      </p:sp>
      <p:sp>
        <p:nvSpPr>
          <p:cNvPr id="37" name="Text 35"/>
          <p:cNvSpPr txBox="1"/>
          <p:nvPr/>
        </p:nvSpPr>
        <p:spPr>
          <a:xfrm>
            <a:off x="2798064" y="1801368"/>
            <a:ext cx="822960" cy="329184"/>
          </a:xfrm>
          <a:prstGeom prst="rect">
            <a:avLst/>
          </a:prstGeom>
          <a:noFill/>
          <a:ln/>
        </p:spPr>
        <p:txBody>
          <a:bodyPr wrap="square" lIns="0" tIns="0" rIns="0" bIns="0" rtlCol="0" anchor="ctr"/>
          <a:lstStyle/>
          <a:p>
            <a:pPr indent="0" marL="0">
              <a:buNone/>
            </a:pPr>
            <a:r>
              <a:rPr lang="en-US" sz="1800" b="1" dirty="0">
                <a:solidFill>
                  <a:schemeClr val="bg1"/>
                </a:solidFill>
              </a:rPr>
              <a:t>S</a:t>
            </a:r>
            <a:pPr indent="0" marL="0">
              <a:buNone/>
            </a:pPr>
            <a:r>
              <a:rPr lang="en-US" sz="1800" b="1" baseline="30000" dirty="0">
                <a:solidFill>
                  <a:schemeClr val="bg1"/>
                </a:solidFill>
              </a:rPr>
              <a:t>2−</a:t>
            </a:r>
            <a:endParaRPr lang="en-US" sz="1800" dirty="0"/>
          </a:p>
        </p:txBody>
      </p:sp>
      <p:sp>
        <p:nvSpPr>
          <p:cNvPr id="38" name="Text 36"/>
          <p:cNvSpPr txBox="1"/>
          <p:nvPr/>
        </p:nvSpPr>
        <p:spPr>
          <a:xfrm>
            <a:off x="2798064" y="2130552"/>
            <a:ext cx="868680" cy="237744"/>
          </a:xfrm>
          <a:prstGeom prst="rect">
            <a:avLst/>
          </a:prstGeom>
          <a:noFill/>
          <a:ln/>
        </p:spPr>
        <p:txBody>
          <a:bodyPr wrap="square" lIns="0" tIns="0" rIns="0" bIns="0" rtlCol="0" anchor="t"/>
          <a:lstStyle/>
          <a:p>
            <a:pPr indent="0" marL="0">
              <a:buNone/>
            </a:pPr>
            <a:r>
              <a:rPr lang="en-US" sz="1000" dirty="0">
                <a:solidFill>
                  <a:schemeClr val="bg2"/>
                </a:solidFill>
              </a:rPr>
              <a:t>sulfide</a:t>
            </a:r>
            <a:endParaRPr lang="en-US" sz="1000" dirty="0"/>
          </a:p>
        </p:txBody>
      </p:sp>
      <p:sp>
        <p:nvSpPr>
          <p:cNvPr id="39" name="sulfide: shell 1"/>
          <p:cNvSpPr/>
          <p:nvPr/>
        </p:nvSpPr>
        <p:spPr>
          <a:xfrm>
            <a:off x="2691614" y="2965934"/>
            <a:ext cx="414068" cy="414068"/>
          </a:xfrm>
          <a:prstGeom prst="ellipse">
            <a:avLst/>
          </a:prstGeom>
          <a:solidFill>
            <a:schemeClr val="bg1">
              <a:alpha val="0"/>
            </a:schemeClr>
          </a:solidFill>
          <a:ln w="15875">
            <a:solidFill>
              <a:schemeClr val="bg2">
                <a:alpha val="55000"/>
              </a:schemeClr>
            </a:solidFill>
            <a:prstDash val="solid"/>
          </a:ln>
        </p:spPr>
      </p:sp>
      <p:sp>
        <p:nvSpPr>
          <p:cNvPr id="40" name="sulfide: shell 2"/>
          <p:cNvSpPr/>
          <p:nvPr/>
        </p:nvSpPr>
        <p:spPr>
          <a:xfrm>
            <a:off x="2562218" y="2836538"/>
            <a:ext cx="672860" cy="672860"/>
          </a:xfrm>
          <a:prstGeom prst="ellipse">
            <a:avLst/>
          </a:prstGeom>
          <a:solidFill>
            <a:schemeClr val="bg1">
              <a:alpha val="0"/>
            </a:schemeClr>
          </a:solidFill>
          <a:ln w="15875">
            <a:solidFill>
              <a:schemeClr val="bg2">
                <a:alpha val="55000"/>
              </a:schemeClr>
            </a:solidFill>
            <a:prstDash val="solid"/>
          </a:ln>
        </p:spPr>
      </p:sp>
      <p:sp>
        <p:nvSpPr>
          <p:cNvPr id="41" name="sulfide: shell 3"/>
          <p:cNvSpPr/>
          <p:nvPr/>
        </p:nvSpPr>
        <p:spPr>
          <a:xfrm>
            <a:off x="2441448" y="2715768"/>
            <a:ext cx="914400" cy="914400"/>
          </a:xfrm>
          <a:prstGeom prst="ellipse">
            <a:avLst/>
          </a:prstGeom>
          <a:solidFill>
            <a:schemeClr val="bg1">
              <a:alpha val="0"/>
            </a:schemeClr>
          </a:solidFill>
          <a:ln w="15875">
            <a:solidFill>
              <a:schemeClr val="bg2">
                <a:alpha val="55000"/>
              </a:schemeClr>
            </a:solidFill>
            <a:prstDash val="solid"/>
          </a:ln>
        </p:spPr>
      </p:sp>
      <p:sp>
        <p:nvSpPr>
          <p:cNvPr id="42" name="sulfide: nucleus"/>
          <p:cNvSpPr/>
          <p:nvPr/>
        </p:nvSpPr>
        <p:spPr>
          <a:xfrm>
            <a:off x="2764939" y="3039259"/>
            <a:ext cx="267419" cy="267419"/>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600" b="1" dirty="0">
                <a:solidFill>
                  <a:schemeClr val="bg1"/>
                </a:solidFill>
              </a:rPr>
              <a:t>16 p</a:t>
            </a:r>
            <a:pPr algn="ctr" indent="0" marL="0">
              <a:buNone/>
            </a:pPr>
            <a:r>
              <a:rPr lang="en-US" sz="600" b="1" baseline="30000" dirty="0">
                <a:solidFill>
                  <a:schemeClr val="bg1"/>
                </a:solidFill>
              </a:rPr>
              <a:t>+</a:t>
            </a:r>
            <a:endParaRPr lang="en-US" sz="600" dirty="0"/>
          </a:p>
          <a:p>
            <a:pPr algn="ctr" indent="0" marL="0">
              <a:buNone/>
            </a:pPr>
            <a:r>
              <a:rPr lang="en-US" sz="600" b="1" dirty="0">
                <a:solidFill>
                  <a:schemeClr val="bg1"/>
                </a:solidFill>
              </a:rPr>
              <a:t>16 n</a:t>
            </a:r>
            <a:pPr algn="ctr" indent="0" marL="0">
              <a:buNone/>
            </a:pPr>
            <a:r>
              <a:rPr lang="en-US" sz="600" b="1" baseline="30000" dirty="0">
                <a:solidFill>
                  <a:schemeClr val="bg1"/>
                </a:solidFill>
              </a:rPr>
              <a:t>0</a:t>
            </a:r>
            <a:endParaRPr lang="en-US" sz="600" dirty="0"/>
          </a:p>
        </p:txBody>
      </p:sp>
      <p:sp>
        <p:nvSpPr>
          <p:cNvPr id="43" name="sulfide: electron, shell 1"/>
          <p:cNvSpPr/>
          <p:nvPr/>
        </p:nvSpPr>
        <p:spPr>
          <a:xfrm>
            <a:off x="2866299" y="2933585"/>
            <a:ext cx="64698" cy="64698"/>
          </a:xfrm>
          <a:prstGeom prst="ellipse">
            <a:avLst/>
          </a:prstGeom>
          <a:solidFill>
            <a:schemeClr val="accent1"/>
          </a:solidFill>
          <a:ln w="3175">
            <a:solidFill>
              <a:schemeClr val="accent1"/>
            </a:solidFill>
            <a:prstDash val="solid"/>
          </a:ln>
        </p:spPr>
      </p:sp>
      <p:sp>
        <p:nvSpPr>
          <p:cNvPr id="44" name="sulfide: electron, shell 1"/>
          <p:cNvSpPr/>
          <p:nvPr/>
        </p:nvSpPr>
        <p:spPr>
          <a:xfrm>
            <a:off x="3073333" y="3140619"/>
            <a:ext cx="64698" cy="64698"/>
          </a:xfrm>
          <a:prstGeom prst="ellipse">
            <a:avLst/>
          </a:prstGeom>
          <a:solidFill>
            <a:schemeClr val="accent1"/>
          </a:solidFill>
          <a:ln w="3175">
            <a:solidFill>
              <a:schemeClr val="accent1"/>
            </a:solidFill>
            <a:prstDash val="solid"/>
          </a:ln>
        </p:spPr>
      </p:sp>
      <p:sp>
        <p:nvSpPr>
          <p:cNvPr id="45" name="sulfide: electron, shell 2"/>
          <p:cNvSpPr/>
          <p:nvPr/>
        </p:nvSpPr>
        <p:spPr>
          <a:xfrm>
            <a:off x="2822857" y="2807005"/>
            <a:ext cx="64698" cy="64698"/>
          </a:xfrm>
          <a:prstGeom prst="ellipse">
            <a:avLst/>
          </a:prstGeom>
          <a:solidFill>
            <a:schemeClr val="accent1"/>
          </a:solidFill>
          <a:ln w="3175">
            <a:solidFill>
              <a:schemeClr val="accent1"/>
            </a:solidFill>
            <a:prstDash val="solid"/>
          </a:ln>
        </p:spPr>
      </p:sp>
      <p:sp>
        <p:nvSpPr>
          <p:cNvPr id="46" name="sulfide: electron, shell 2"/>
          <p:cNvSpPr/>
          <p:nvPr/>
        </p:nvSpPr>
        <p:spPr>
          <a:xfrm>
            <a:off x="2909741" y="2807005"/>
            <a:ext cx="64698" cy="64698"/>
          </a:xfrm>
          <a:prstGeom prst="ellipse">
            <a:avLst/>
          </a:prstGeom>
          <a:solidFill>
            <a:schemeClr val="accent1"/>
          </a:solidFill>
          <a:ln w="3175">
            <a:solidFill>
              <a:schemeClr val="accent1"/>
            </a:solidFill>
            <a:prstDash val="solid"/>
          </a:ln>
        </p:spPr>
      </p:sp>
      <p:sp>
        <p:nvSpPr>
          <p:cNvPr id="47" name="sulfide: electron, shell 2"/>
          <p:cNvSpPr/>
          <p:nvPr/>
        </p:nvSpPr>
        <p:spPr>
          <a:xfrm>
            <a:off x="3199913" y="3097177"/>
            <a:ext cx="64698" cy="64698"/>
          </a:xfrm>
          <a:prstGeom prst="ellipse">
            <a:avLst/>
          </a:prstGeom>
          <a:solidFill>
            <a:schemeClr val="accent1"/>
          </a:solidFill>
          <a:ln w="3175">
            <a:solidFill>
              <a:schemeClr val="accent1"/>
            </a:solidFill>
            <a:prstDash val="solid"/>
          </a:ln>
        </p:spPr>
      </p:sp>
      <p:sp>
        <p:nvSpPr>
          <p:cNvPr id="48" name="sulfide: electron, shell 2"/>
          <p:cNvSpPr/>
          <p:nvPr/>
        </p:nvSpPr>
        <p:spPr>
          <a:xfrm>
            <a:off x="3199913" y="3184061"/>
            <a:ext cx="64698" cy="64698"/>
          </a:xfrm>
          <a:prstGeom prst="ellipse">
            <a:avLst/>
          </a:prstGeom>
          <a:solidFill>
            <a:schemeClr val="accent1"/>
          </a:solidFill>
          <a:ln w="3175">
            <a:solidFill>
              <a:schemeClr val="accent1"/>
            </a:solidFill>
            <a:prstDash val="solid"/>
          </a:ln>
        </p:spPr>
      </p:sp>
      <p:sp>
        <p:nvSpPr>
          <p:cNvPr id="49" name="sulfide: electron, shell 2"/>
          <p:cNvSpPr/>
          <p:nvPr/>
        </p:nvSpPr>
        <p:spPr>
          <a:xfrm>
            <a:off x="2909741" y="3474233"/>
            <a:ext cx="64698" cy="64698"/>
          </a:xfrm>
          <a:prstGeom prst="ellipse">
            <a:avLst/>
          </a:prstGeom>
          <a:solidFill>
            <a:schemeClr val="accent1"/>
          </a:solidFill>
          <a:ln w="3175">
            <a:solidFill>
              <a:schemeClr val="accent1"/>
            </a:solidFill>
            <a:prstDash val="solid"/>
          </a:ln>
        </p:spPr>
      </p:sp>
      <p:sp>
        <p:nvSpPr>
          <p:cNvPr id="50" name="sulfide: electron, shell 2"/>
          <p:cNvSpPr/>
          <p:nvPr/>
        </p:nvSpPr>
        <p:spPr>
          <a:xfrm>
            <a:off x="2822857" y="3474233"/>
            <a:ext cx="64698" cy="64698"/>
          </a:xfrm>
          <a:prstGeom prst="ellipse">
            <a:avLst/>
          </a:prstGeom>
          <a:solidFill>
            <a:schemeClr val="accent1"/>
          </a:solidFill>
          <a:ln w="3175">
            <a:solidFill>
              <a:schemeClr val="accent1"/>
            </a:solidFill>
            <a:prstDash val="solid"/>
          </a:ln>
        </p:spPr>
      </p:sp>
      <p:sp>
        <p:nvSpPr>
          <p:cNvPr id="51" name="sulfide: electron, shell 2"/>
          <p:cNvSpPr/>
          <p:nvPr/>
        </p:nvSpPr>
        <p:spPr>
          <a:xfrm>
            <a:off x="2532685" y="3184061"/>
            <a:ext cx="64698" cy="64698"/>
          </a:xfrm>
          <a:prstGeom prst="ellipse">
            <a:avLst/>
          </a:prstGeom>
          <a:solidFill>
            <a:schemeClr val="accent1"/>
          </a:solidFill>
          <a:ln w="3175">
            <a:solidFill>
              <a:schemeClr val="accent1"/>
            </a:solidFill>
            <a:prstDash val="solid"/>
          </a:ln>
        </p:spPr>
      </p:sp>
      <p:sp>
        <p:nvSpPr>
          <p:cNvPr id="52" name="sulfide: electron, shell 2"/>
          <p:cNvSpPr/>
          <p:nvPr/>
        </p:nvSpPr>
        <p:spPr>
          <a:xfrm>
            <a:off x="2532685" y="3097177"/>
            <a:ext cx="64698" cy="64698"/>
          </a:xfrm>
          <a:prstGeom prst="ellipse">
            <a:avLst/>
          </a:prstGeom>
          <a:solidFill>
            <a:schemeClr val="accent1"/>
          </a:solidFill>
          <a:ln w="3175">
            <a:solidFill>
              <a:schemeClr val="accent1"/>
            </a:solidFill>
            <a:prstDash val="solid"/>
          </a:ln>
        </p:spPr>
      </p:sp>
      <p:sp>
        <p:nvSpPr>
          <p:cNvPr id="53" name="sulfide: electron, shell 3"/>
          <p:cNvSpPr/>
          <p:nvPr/>
        </p:nvSpPr>
        <p:spPr>
          <a:xfrm>
            <a:off x="2822801" y="2685493"/>
            <a:ext cx="64698" cy="64698"/>
          </a:xfrm>
          <a:prstGeom prst="ellipse">
            <a:avLst/>
          </a:prstGeom>
          <a:solidFill>
            <a:schemeClr val="accent1"/>
          </a:solidFill>
          <a:ln w="3175">
            <a:solidFill>
              <a:schemeClr val="accent1"/>
            </a:solidFill>
            <a:prstDash val="solid"/>
          </a:ln>
        </p:spPr>
      </p:sp>
      <p:sp>
        <p:nvSpPr>
          <p:cNvPr id="54" name="sulfide: electron, shell 3"/>
          <p:cNvSpPr/>
          <p:nvPr/>
        </p:nvSpPr>
        <p:spPr>
          <a:xfrm>
            <a:off x="2909796" y="2685493"/>
            <a:ext cx="64698" cy="64698"/>
          </a:xfrm>
          <a:prstGeom prst="ellipse">
            <a:avLst/>
          </a:prstGeom>
          <a:solidFill>
            <a:schemeClr val="accent1"/>
          </a:solidFill>
          <a:ln w="3175">
            <a:solidFill>
              <a:schemeClr val="accent1"/>
            </a:solidFill>
            <a:prstDash val="solid"/>
          </a:ln>
        </p:spPr>
      </p:sp>
      <p:sp>
        <p:nvSpPr>
          <p:cNvPr id="55" name="sulfide: electron, shell 3"/>
          <p:cNvSpPr/>
          <p:nvPr/>
        </p:nvSpPr>
        <p:spPr>
          <a:xfrm>
            <a:off x="3321425" y="3097121"/>
            <a:ext cx="64698" cy="64698"/>
          </a:xfrm>
          <a:prstGeom prst="ellipse">
            <a:avLst/>
          </a:prstGeom>
          <a:solidFill>
            <a:schemeClr val="accent1"/>
          </a:solidFill>
          <a:ln w="3175">
            <a:solidFill>
              <a:schemeClr val="accent1"/>
            </a:solidFill>
            <a:prstDash val="solid"/>
          </a:ln>
        </p:spPr>
      </p:sp>
      <p:sp>
        <p:nvSpPr>
          <p:cNvPr id="56" name="sulfide: electron, shell 3"/>
          <p:cNvSpPr/>
          <p:nvPr/>
        </p:nvSpPr>
        <p:spPr>
          <a:xfrm>
            <a:off x="3321425" y="3184116"/>
            <a:ext cx="64698" cy="64698"/>
          </a:xfrm>
          <a:prstGeom prst="ellipse">
            <a:avLst/>
          </a:prstGeom>
          <a:solidFill>
            <a:schemeClr val="accent1"/>
          </a:solidFill>
          <a:ln w="3175">
            <a:solidFill>
              <a:schemeClr val="accent1"/>
            </a:solidFill>
            <a:prstDash val="solid"/>
          </a:ln>
        </p:spPr>
      </p:sp>
      <p:sp>
        <p:nvSpPr>
          <p:cNvPr id="57" name="sulfide: electron, shell 3"/>
          <p:cNvSpPr/>
          <p:nvPr/>
        </p:nvSpPr>
        <p:spPr>
          <a:xfrm>
            <a:off x="2909796" y="3595745"/>
            <a:ext cx="64698" cy="64698"/>
          </a:xfrm>
          <a:prstGeom prst="ellipse">
            <a:avLst/>
          </a:prstGeom>
          <a:solidFill>
            <a:schemeClr val="accent1"/>
          </a:solidFill>
          <a:ln w="3175">
            <a:solidFill>
              <a:schemeClr val="accent1"/>
            </a:solidFill>
            <a:prstDash val="solid"/>
          </a:ln>
        </p:spPr>
      </p:sp>
      <p:sp>
        <p:nvSpPr>
          <p:cNvPr id="58" name="sulfide: gained electron, shell 3"/>
          <p:cNvSpPr/>
          <p:nvPr/>
        </p:nvSpPr>
        <p:spPr>
          <a:xfrm>
            <a:off x="2822801" y="3595745"/>
            <a:ext cx="64698" cy="64698"/>
          </a:xfrm>
          <a:prstGeom prst="ellipse">
            <a:avLst/>
          </a:prstGeom>
          <a:solidFill>
            <a:schemeClr val="accent6"/>
          </a:solidFill>
          <a:ln w="3175">
            <a:solidFill>
              <a:schemeClr val="accent6"/>
            </a:solidFill>
            <a:prstDash val="solid"/>
          </a:ln>
        </p:spPr>
      </p:sp>
      <p:sp>
        <p:nvSpPr>
          <p:cNvPr id="59" name="sulfide: electron, shell 3"/>
          <p:cNvSpPr/>
          <p:nvPr/>
        </p:nvSpPr>
        <p:spPr>
          <a:xfrm>
            <a:off x="2411173" y="3184116"/>
            <a:ext cx="64698" cy="64698"/>
          </a:xfrm>
          <a:prstGeom prst="ellipse">
            <a:avLst/>
          </a:prstGeom>
          <a:solidFill>
            <a:schemeClr val="accent1"/>
          </a:solidFill>
          <a:ln w="3175">
            <a:solidFill>
              <a:schemeClr val="accent1"/>
            </a:solidFill>
            <a:prstDash val="solid"/>
          </a:ln>
        </p:spPr>
      </p:sp>
      <p:sp>
        <p:nvSpPr>
          <p:cNvPr id="60" name="sulfide: gained electron, shell 3"/>
          <p:cNvSpPr/>
          <p:nvPr/>
        </p:nvSpPr>
        <p:spPr>
          <a:xfrm>
            <a:off x="2411173" y="3097121"/>
            <a:ext cx="64698" cy="64698"/>
          </a:xfrm>
          <a:prstGeom prst="ellipse">
            <a:avLst/>
          </a:prstGeom>
          <a:solidFill>
            <a:schemeClr val="accent6"/>
          </a:solidFill>
          <a:ln w="3175">
            <a:solidFill>
              <a:schemeClr val="accent6"/>
            </a:solidFill>
            <a:prstDash val="solid"/>
          </a:ln>
        </p:spPr>
      </p:sp>
      <p:sp>
        <p:nvSpPr>
          <p:cNvPr id="61" name="sulfide: left bracket"/>
          <p:cNvSpPr/>
          <p:nvPr/>
        </p:nvSpPr>
        <p:spPr>
          <a:xfrm>
            <a:off x="2372437" y="2646757"/>
            <a:ext cx="73152" cy="1052423"/>
          </a:xfrm>
          <a:prstGeom prst="leftBracket">
            <a:avLst/>
          </a:prstGeom>
          <a:noFill/>
          <a:ln w="15875">
            <a:solidFill>
              <a:schemeClr val="bg1"/>
            </a:solidFill>
            <a:prstDash val="solid"/>
          </a:ln>
        </p:spPr>
      </p:sp>
      <p:sp>
        <p:nvSpPr>
          <p:cNvPr id="62" name="sulfide: right bracket"/>
          <p:cNvSpPr/>
          <p:nvPr/>
        </p:nvSpPr>
        <p:spPr>
          <a:xfrm>
            <a:off x="3351707" y="2646757"/>
            <a:ext cx="73152" cy="1052423"/>
          </a:xfrm>
          <a:prstGeom prst="rightBracket">
            <a:avLst/>
          </a:prstGeom>
          <a:noFill/>
          <a:ln w="15875">
            <a:solidFill>
              <a:schemeClr val="bg1"/>
            </a:solidFill>
            <a:prstDash val="solid"/>
          </a:ln>
        </p:spPr>
      </p:sp>
      <p:sp>
        <p:nvSpPr>
          <p:cNvPr id="63" name="sulfide: charge"/>
          <p:cNvSpPr txBox="1"/>
          <p:nvPr/>
        </p:nvSpPr>
        <p:spPr>
          <a:xfrm>
            <a:off x="3443147" y="2569922"/>
            <a:ext cx="223520" cy="167640"/>
          </a:xfrm>
          <a:prstGeom prst="rect">
            <a:avLst/>
          </a:prstGeom>
          <a:noFill/>
          <a:ln/>
        </p:spPr>
        <p:txBody>
          <a:bodyPr wrap="square" lIns="0" tIns="0" rIns="0" bIns="0" rtlCol="0" anchor="t"/>
          <a:lstStyle/>
          <a:p>
            <a:pPr indent="0" marL="0">
              <a:buNone/>
            </a:pPr>
            <a:r>
              <a:rPr lang="en-US" sz="1100" b="1" dirty="0">
                <a:solidFill>
                  <a:schemeClr val="bg1"/>
                </a:solidFill>
              </a:rPr>
              <a:t>2−</a:t>
            </a:r>
            <a:endParaRPr lang="en-US" sz="1100" dirty="0"/>
          </a:p>
        </p:txBody>
      </p:sp>
      <p:sp>
        <p:nvSpPr>
          <p:cNvPr id="64" name="Text 62"/>
          <p:cNvSpPr txBox="1"/>
          <p:nvPr/>
        </p:nvSpPr>
        <p:spPr>
          <a:xfrm>
            <a:off x="2167128" y="3931920"/>
            <a:ext cx="1463040" cy="548640"/>
          </a:xfrm>
          <a:prstGeom prst="rect">
            <a:avLst/>
          </a:prstGeom>
          <a:noFill/>
          <a:ln/>
        </p:spPr>
        <p:txBody>
          <a:bodyPr wrap="square" lIns="0" tIns="0" rIns="0" bIns="0" rtlCol="0" anchor="ctr"/>
          <a:lstStyle/>
          <a:p>
            <a:pPr algn="ctr" indent="0" marL="0">
              <a:buNone/>
            </a:pPr>
            <a:r>
              <a:rPr lang="en-US" sz="1100" b="1" dirty="0">
                <a:solidFill>
                  <a:schemeClr val="bg1"/>
                </a:solidFill>
              </a:rPr>
              <a:t>16 p</a:t>
            </a:r>
            <a:pPr algn="ctr" indent="0" marL="0">
              <a:buNone/>
            </a:pPr>
            <a:r>
              <a:rPr lang="en-US" sz="1100" b="1" baseline="30000" dirty="0">
                <a:solidFill>
                  <a:schemeClr val="bg1"/>
                </a:solidFill>
              </a:rPr>
              <a:t>+</a:t>
            </a:r>
            <a:pPr algn="ctr" indent="0" marL="0">
              <a:buNone/>
            </a:pPr>
            <a:r>
              <a:rPr lang="en-US" sz="1100" b="1" dirty="0">
                <a:solidFill>
                  <a:schemeClr val="bg1"/>
                </a:solidFill>
              </a:rPr>
              <a:t>   16 n</a:t>
            </a:r>
            <a:pPr algn="ctr" indent="0" marL="0">
              <a:buNone/>
            </a:pPr>
            <a:r>
              <a:rPr lang="en-US" sz="1100" b="1" baseline="30000" dirty="0">
                <a:solidFill>
                  <a:schemeClr val="bg1"/>
                </a:solidFill>
              </a:rPr>
              <a:t>0</a:t>
            </a:r>
            <a:pPr algn="ctr" indent="0" marL="0">
              <a:buNone/>
            </a:pPr>
            <a:endParaRPr lang="en-US" sz="1100" dirty="0"/>
          </a:p>
          <a:p>
            <a:pPr algn="ctr" indent="0" marL="0">
              <a:buNone/>
            </a:pPr>
            <a:r>
              <a:rPr lang="en-US" sz="1100" b="1" dirty="0">
                <a:solidFill>
                  <a:schemeClr val="accent1"/>
                </a:solidFill>
              </a:rPr>
              <a:t>2, 8, 8</a:t>
            </a:r>
            <a:endParaRPr lang="en-US" sz="1100" dirty="0"/>
          </a:p>
        </p:txBody>
      </p:sp>
      <p:sp>
        <p:nvSpPr>
          <p:cNvPr id="65" name="calcium ion"/>
          <p:cNvSpPr/>
          <p:nvPr/>
        </p:nvSpPr>
        <p:spPr>
          <a:xfrm>
            <a:off x="3785616" y="1691640"/>
            <a:ext cx="1554480" cy="2926080"/>
          </a:xfrm>
          <a:prstGeom prst="roundRect">
            <a:avLst>
              <a:gd name="adj" fmla="val 5882"/>
            </a:avLst>
          </a:prstGeom>
          <a:solidFill>
            <a:schemeClr val="tx2"/>
          </a:solidFill>
          <a:ln w="9525">
            <a:solidFill>
              <a:schemeClr val="bg2">
                <a:alpha val="30000"/>
              </a:schemeClr>
            </a:solidFill>
            <a:prstDash val="solid"/>
          </a:ln>
        </p:spPr>
      </p:sp>
      <p:sp>
        <p:nvSpPr>
          <p:cNvPr id="66" name="Tile Ca"/>
          <p:cNvSpPr/>
          <p:nvPr/>
        </p:nvSpPr>
        <p:spPr>
          <a:xfrm>
            <a:off x="3895344" y="1819656"/>
            <a:ext cx="502920" cy="548640"/>
          </a:xfrm>
          <a:prstGeom prst="roundRect">
            <a:avLst>
              <a:gd name="adj" fmla="val 12000"/>
            </a:avLst>
          </a:prstGeom>
          <a:solidFill>
            <a:srgbClr val="FFCB5C">
              <a:alpha val="30000"/>
            </a:srgbClr>
          </a:solidFill>
          <a:ln w="19050">
            <a:solidFill>
              <a:srgbClr val="FFCB5C"/>
            </a:solidFill>
            <a:prstDash val="solid"/>
          </a:ln>
        </p:spPr>
      </p:sp>
      <p:sp>
        <p:nvSpPr>
          <p:cNvPr id="67" name="Text 65"/>
          <p:cNvSpPr txBox="1"/>
          <p:nvPr/>
        </p:nvSpPr>
        <p:spPr>
          <a:xfrm>
            <a:off x="3935578" y="1847088"/>
            <a:ext cx="301752" cy="131674"/>
          </a:xfrm>
          <a:prstGeom prst="rect">
            <a:avLst/>
          </a:prstGeom>
          <a:noFill/>
          <a:ln/>
        </p:spPr>
        <p:txBody>
          <a:bodyPr wrap="square" lIns="0" tIns="0" rIns="0" bIns="0" rtlCol="0" anchor="t"/>
          <a:lstStyle/>
          <a:p>
            <a:pPr indent="0" marL="0">
              <a:buNone/>
            </a:pPr>
            <a:r>
              <a:rPr lang="en-US" sz="800" dirty="0">
                <a:solidFill>
                  <a:schemeClr val="bg2"/>
                </a:solidFill>
              </a:rPr>
              <a:t>20</a:t>
            </a:r>
            <a:endParaRPr lang="en-US" sz="800" dirty="0"/>
          </a:p>
        </p:txBody>
      </p:sp>
      <p:sp>
        <p:nvSpPr>
          <p:cNvPr id="68" name="Text 66"/>
          <p:cNvSpPr txBox="1"/>
          <p:nvPr/>
        </p:nvSpPr>
        <p:spPr>
          <a:xfrm>
            <a:off x="3895344" y="1907438"/>
            <a:ext cx="502920" cy="438912"/>
          </a:xfrm>
          <a:prstGeom prst="rect">
            <a:avLst/>
          </a:prstGeom>
          <a:noFill/>
          <a:ln/>
        </p:spPr>
        <p:txBody>
          <a:bodyPr wrap="square" lIns="0" tIns="0" rIns="0" bIns="0" rtlCol="0" anchor="ctr"/>
          <a:lstStyle/>
          <a:p>
            <a:pPr algn="ctr" indent="0" marL="0">
              <a:buNone/>
            </a:pPr>
            <a:r>
              <a:rPr lang="en-US" sz="2000" b="1" dirty="0">
                <a:solidFill>
                  <a:schemeClr val="bg1"/>
                </a:solidFill>
              </a:rPr>
              <a:t>Ca</a:t>
            </a:r>
            <a:endParaRPr lang="en-US" sz="2000" dirty="0"/>
          </a:p>
        </p:txBody>
      </p:sp>
      <p:sp>
        <p:nvSpPr>
          <p:cNvPr id="69" name="Text 67"/>
          <p:cNvSpPr txBox="1"/>
          <p:nvPr/>
        </p:nvSpPr>
        <p:spPr>
          <a:xfrm>
            <a:off x="4462272" y="1801368"/>
            <a:ext cx="822960" cy="329184"/>
          </a:xfrm>
          <a:prstGeom prst="rect">
            <a:avLst/>
          </a:prstGeom>
          <a:noFill/>
          <a:ln/>
        </p:spPr>
        <p:txBody>
          <a:bodyPr wrap="square" lIns="0" tIns="0" rIns="0" bIns="0" rtlCol="0" anchor="ctr"/>
          <a:lstStyle/>
          <a:p>
            <a:pPr indent="0" marL="0">
              <a:buNone/>
            </a:pPr>
            <a:r>
              <a:rPr lang="en-US" sz="1800" b="1" dirty="0">
                <a:solidFill>
                  <a:schemeClr val="bg1"/>
                </a:solidFill>
              </a:rPr>
              <a:t>Ca</a:t>
            </a:r>
            <a:pPr indent="0" marL="0">
              <a:buNone/>
            </a:pPr>
            <a:r>
              <a:rPr lang="en-US" sz="1800" b="1" baseline="30000" dirty="0">
                <a:solidFill>
                  <a:schemeClr val="bg1"/>
                </a:solidFill>
              </a:rPr>
              <a:t>2+</a:t>
            </a:r>
            <a:endParaRPr lang="en-US" sz="1800" dirty="0"/>
          </a:p>
        </p:txBody>
      </p:sp>
      <p:sp>
        <p:nvSpPr>
          <p:cNvPr id="70" name="Text 68"/>
          <p:cNvSpPr txBox="1"/>
          <p:nvPr/>
        </p:nvSpPr>
        <p:spPr>
          <a:xfrm>
            <a:off x="4462272" y="2130552"/>
            <a:ext cx="868680" cy="237744"/>
          </a:xfrm>
          <a:prstGeom prst="rect">
            <a:avLst/>
          </a:prstGeom>
          <a:noFill/>
          <a:ln/>
        </p:spPr>
        <p:txBody>
          <a:bodyPr wrap="square" lIns="0" tIns="0" rIns="0" bIns="0" rtlCol="0" anchor="t"/>
          <a:lstStyle/>
          <a:p>
            <a:pPr indent="0" marL="0">
              <a:buNone/>
            </a:pPr>
            <a:r>
              <a:rPr lang="en-US" sz="1000" dirty="0">
                <a:solidFill>
                  <a:schemeClr val="bg2"/>
                </a:solidFill>
              </a:rPr>
              <a:t>calcium ion</a:t>
            </a:r>
            <a:endParaRPr lang="en-US" sz="1000" dirty="0"/>
          </a:p>
        </p:txBody>
      </p:sp>
      <p:sp>
        <p:nvSpPr>
          <p:cNvPr id="71" name="calcium ion: shell 1"/>
          <p:cNvSpPr/>
          <p:nvPr/>
        </p:nvSpPr>
        <p:spPr>
          <a:xfrm>
            <a:off x="4355822" y="2965934"/>
            <a:ext cx="414068" cy="414068"/>
          </a:xfrm>
          <a:prstGeom prst="ellipse">
            <a:avLst/>
          </a:prstGeom>
          <a:solidFill>
            <a:schemeClr val="bg1">
              <a:alpha val="0"/>
            </a:schemeClr>
          </a:solidFill>
          <a:ln w="15875">
            <a:solidFill>
              <a:schemeClr val="bg2">
                <a:alpha val="55000"/>
              </a:schemeClr>
            </a:solidFill>
            <a:prstDash val="solid"/>
          </a:ln>
        </p:spPr>
      </p:sp>
      <p:sp>
        <p:nvSpPr>
          <p:cNvPr id="72" name="calcium ion: shell 2"/>
          <p:cNvSpPr/>
          <p:nvPr/>
        </p:nvSpPr>
        <p:spPr>
          <a:xfrm>
            <a:off x="4226426" y="2836538"/>
            <a:ext cx="672860" cy="672860"/>
          </a:xfrm>
          <a:prstGeom prst="ellipse">
            <a:avLst/>
          </a:prstGeom>
          <a:solidFill>
            <a:schemeClr val="bg1">
              <a:alpha val="0"/>
            </a:schemeClr>
          </a:solidFill>
          <a:ln w="15875">
            <a:solidFill>
              <a:schemeClr val="bg2">
                <a:alpha val="55000"/>
              </a:schemeClr>
            </a:solidFill>
            <a:prstDash val="solid"/>
          </a:ln>
        </p:spPr>
      </p:sp>
      <p:sp>
        <p:nvSpPr>
          <p:cNvPr id="73" name="calcium ion: shell 3"/>
          <p:cNvSpPr/>
          <p:nvPr/>
        </p:nvSpPr>
        <p:spPr>
          <a:xfrm>
            <a:off x="4105656" y="2715768"/>
            <a:ext cx="914400" cy="914400"/>
          </a:xfrm>
          <a:prstGeom prst="ellipse">
            <a:avLst/>
          </a:prstGeom>
          <a:solidFill>
            <a:schemeClr val="bg1">
              <a:alpha val="0"/>
            </a:schemeClr>
          </a:solidFill>
          <a:ln w="15875">
            <a:solidFill>
              <a:schemeClr val="bg2">
                <a:alpha val="55000"/>
              </a:schemeClr>
            </a:solidFill>
            <a:prstDash val="solid"/>
          </a:ln>
        </p:spPr>
      </p:sp>
      <p:sp>
        <p:nvSpPr>
          <p:cNvPr id="74" name="calcium ion: nucleus"/>
          <p:cNvSpPr/>
          <p:nvPr/>
        </p:nvSpPr>
        <p:spPr>
          <a:xfrm>
            <a:off x="4429147" y="3039259"/>
            <a:ext cx="267419" cy="267419"/>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600" b="1" dirty="0">
                <a:solidFill>
                  <a:schemeClr val="bg1"/>
                </a:solidFill>
              </a:rPr>
              <a:t>20 p</a:t>
            </a:r>
            <a:pPr algn="ctr" indent="0" marL="0">
              <a:buNone/>
            </a:pPr>
            <a:r>
              <a:rPr lang="en-US" sz="600" b="1" baseline="30000" dirty="0">
                <a:solidFill>
                  <a:schemeClr val="bg1"/>
                </a:solidFill>
              </a:rPr>
              <a:t>+</a:t>
            </a:r>
            <a:endParaRPr lang="en-US" sz="600" dirty="0"/>
          </a:p>
          <a:p>
            <a:pPr algn="ctr" indent="0" marL="0">
              <a:buNone/>
            </a:pPr>
            <a:r>
              <a:rPr lang="en-US" sz="600" b="1" dirty="0">
                <a:solidFill>
                  <a:schemeClr val="bg1"/>
                </a:solidFill>
              </a:rPr>
              <a:t>20 n</a:t>
            </a:r>
            <a:pPr algn="ctr" indent="0" marL="0">
              <a:buNone/>
            </a:pPr>
            <a:r>
              <a:rPr lang="en-US" sz="600" b="1" baseline="30000" dirty="0">
                <a:solidFill>
                  <a:schemeClr val="bg1"/>
                </a:solidFill>
              </a:rPr>
              <a:t>0</a:t>
            </a:r>
            <a:endParaRPr lang="en-US" sz="600" dirty="0"/>
          </a:p>
        </p:txBody>
      </p:sp>
      <p:sp>
        <p:nvSpPr>
          <p:cNvPr id="75" name="calcium ion: electron, shell 1"/>
          <p:cNvSpPr/>
          <p:nvPr/>
        </p:nvSpPr>
        <p:spPr>
          <a:xfrm>
            <a:off x="4530507" y="2933585"/>
            <a:ext cx="64698" cy="64698"/>
          </a:xfrm>
          <a:prstGeom prst="ellipse">
            <a:avLst/>
          </a:prstGeom>
          <a:solidFill>
            <a:schemeClr val="accent1"/>
          </a:solidFill>
          <a:ln w="3175">
            <a:solidFill>
              <a:schemeClr val="accent1"/>
            </a:solidFill>
            <a:prstDash val="solid"/>
          </a:ln>
        </p:spPr>
      </p:sp>
      <p:sp>
        <p:nvSpPr>
          <p:cNvPr id="76" name="calcium ion: electron, shell 1"/>
          <p:cNvSpPr/>
          <p:nvPr/>
        </p:nvSpPr>
        <p:spPr>
          <a:xfrm>
            <a:off x="4737541" y="3140619"/>
            <a:ext cx="64698" cy="64698"/>
          </a:xfrm>
          <a:prstGeom prst="ellipse">
            <a:avLst/>
          </a:prstGeom>
          <a:solidFill>
            <a:schemeClr val="accent1"/>
          </a:solidFill>
          <a:ln w="3175">
            <a:solidFill>
              <a:schemeClr val="accent1"/>
            </a:solidFill>
            <a:prstDash val="solid"/>
          </a:ln>
        </p:spPr>
      </p:sp>
      <p:sp>
        <p:nvSpPr>
          <p:cNvPr id="77" name="calcium ion: electron, shell 2"/>
          <p:cNvSpPr/>
          <p:nvPr/>
        </p:nvSpPr>
        <p:spPr>
          <a:xfrm>
            <a:off x="4487065" y="2807005"/>
            <a:ext cx="64698" cy="64698"/>
          </a:xfrm>
          <a:prstGeom prst="ellipse">
            <a:avLst/>
          </a:prstGeom>
          <a:solidFill>
            <a:schemeClr val="accent1"/>
          </a:solidFill>
          <a:ln w="3175">
            <a:solidFill>
              <a:schemeClr val="accent1"/>
            </a:solidFill>
            <a:prstDash val="solid"/>
          </a:ln>
        </p:spPr>
      </p:sp>
      <p:sp>
        <p:nvSpPr>
          <p:cNvPr id="78" name="calcium ion: electron, shell 2"/>
          <p:cNvSpPr/>
          <p:nvPr/>
        </p:nvSpPr>
        <p:spPr>
          <a:xfrm>
            <a:off x="4573949" y="2807005"/>
            <a:ext cx="64698" cy="64698"/>
          </a:xfrm>
          <a:prstGeom prst="ellipse">
            <a:avLst/>
          </a:prstGeom>
          <a:solidFill>
            <a:schemeClr val="accent1"/>
          </a:solidFill>
          <a:ln w="3175">
            <a:solidFill>
              <a:schemeClr val="accent1"/>
            </a:solidFill>
            <a:prstDash val="solid"/>
          </a:ln>
        </p:spPr>
      </p:sp>
      <p:sp>
        <p:nvSpPr>
          <p:cNvPr id="79" name="calcium ion: electron, shell 2"/>
          <p:cNvSpPr/>
          <p:nvPr/>
        </p:nvSpPr>
        <p:spPr>
          <a:xfrm>
            <a:off x="4864121" y="3097177"/>
            <a:ext cx="64698" cy="64698"/>
          </a:xfrm>
          <a:prstGeom prst="ellipse">
            <a:avLst/>
          </a:prstGeom>
          <a:solidFill>
            <a:schemeClr val="accent1"/>
          </a:solidFill>
          <a:ln w="3175">
            <a:solidFill>
              <a:schemeClr val="accent1"/>
            </a:solidFill>
            <a:prstDash val="solid"/>
          </a:ln>
        </p:spPr>
      </p:sp>
      <p:sp>
        <p:nvSpPr>
          <p:cNvPr id="80" name="calcium ion: electron, shell 2"/>
          <p:cNvSpPr/>
          <p:nvPr/>
        </p:nvSpPr>
        <p:spPr>
          <a:xfrm>
            <a:off x="4864121" y="3184061"/>
            <a:ext cx="64698" cy="64698"/>
          </a:xfrm>
          <a:prstGeom prst="ellipse">
            <a:avLst/>
          </a:prstGeom>
          <a:solidFill>
            <a:schemeClr val="accent1"/>
          </a:solidFill>
          <a:ln w="3175">
            <a:solidFill>
              <a:schemeClr val="accent1"/>
            </a:solidFill>
            <a:prstDash val="solid"/>
          </a:ln>
        </p:spPr>
      </p:sp>
      <p:sp>
        <p:nvSpPr>
          <p:cNvPr id="81" name="calcium ion: electron, shell 2"/>
          <p:cNvSpPr/>
          <p:nvPr/>
        </p:nvSpPr>
        <p:spPr>
          <a:xfrm>
            <a:off x="4573949" y="3474233"/>
            <a:ext cx="64698" cy="64698"/>
          </a:xfrm>
          <a:prstGeom prst="ellipse">
            <a:avLst/>
          </a:prstGeom>
          <a:solidFill>
            <a:schemeClr val="accent1"/>
          </a:solidFill>
          <a:ln w="3175">
            <a:solidFill>
              <a:schemeClr val="accent1"/>
            </a:solidFill>
            <a:prstDash val="solid"/>
          </a:ln>
        </p:spPr>
      </p:sp>
      <p:sp>
        <p:nvSpPr>
          <p:cNvPr id="82" name="calcium ion: electron, shell 2"/>
          <p:cNvSpPr/>
          <p:nvPr/>
        </p:nvSpPr>
        <p:spPr>
          <a:xfrm>
            <a:off x="4487065" y="3474233"/>
            <a:ext cx="64698" cy="64698"/>
          </a:xfrm>
          <a:prstGeom prst="ellipse">
            <a:avLst/>
          </a:prstGeom>
          <a:solidFill>
            <a:schemeClr val="accent1"/>
          </a:solidFill>
          <a:ln w="3175">
            <a:solidFill>
              <a:schemeClr val="accent1"/>
            </a:solidFill>
            <a:prstDash val="solid"/>
          </a:ln>
        </p:spPr>
      </p:sp>
      <p:sp>
        <p:nvSpPr>
          <p:cNvPr id="83" name="calcium ion: electron, shell 2"/>
          <p:cNvSpPr/>
          <p:nvPr/>
        </p:nvSpPr>
        <p:spPr>
          <a:xfrm>
            <a:off x="4196893" y="3184061"/>
            <a:ext cx="64698" cy="64698"/>
          </a:xfrm>
          <a:prstGeom prst="ellipse">
            <a:avLst/>
          </a:prstGeom>
          <a:solidFill>
            <a:schemeClr val="accent1"/>
          </a:solidFill>
          <a:ln w="3175">
            <a:solidFill>
              <a:schemeClr val="accent1"/>
            </a:solidFill>
            <a:prstDash val="solid"/>
          </a:ln>
        </p:spPr>
      </p:sp>
      <p:sp>
        <p:nvSpPr>
          <p:cNvPr id="84" name="calcium ion: electron, shell 2"/>
          <p:cNvSpPr/>
          <p:nvPr/>
        </p:nvSpPr>
        <p:spPr>
          <a:xfrm>
            <a:off x="4196893" y="3097177"/>
            <a:ext cx="64698" cy="64698"/>
          </a:xfrm>
          <a:prstGeom prst="ellipse">
            <a:avLst/>
          </a:prstGeom>
          <a:solidFill>
            <a:schemeClr val="accent1"/>
          </a:solidFill>
          <a:ln w="3175">
            <a:solidFill>
              <a:schemeClr val="accent1"/>
            </a:solidFill>
            <a:prstDash val="solid"/>
          </a:ln>
        </p:spPr>
      </p:sp>
      <p:sp>
        <p:nvSpPr>
          <p:cNvPr id="85" name="calcium ion: electron, shell 3"/>
          <p:cNvSpPr/>
          <p:nvPr/>
        </p:nvSpPr>
        <p:spPr>
          <a:xfrm>
            <a:off x="4487009" y="2685493"/>
            <a:ext cx="64698" cy="64698"/>
          </a:xfrm>
          <a:prstGeom prst="ellipse">
            <a:avLst/>
          </a:prstGeom>
          <a:solidFill>
            <a:schemeClr val="accent1"/>
          </a:solidFill>
          <a:ln w="3175">
            <a:solidFill>
              <a:schemeClr val="accent1"/>
            </a:solidFill>
            <a:prstDash val="solid"/>
          </a:ln>
        </p:spPr>
      </p:sp>
      <p:sp>
        <p:nvSpPr>
          <p:cNvPr id="86" name="calcium ion: electron, shell 3"/>
          <p:cNvSpPr/>
          <p:nvPr/>
        </p:nvSpPr>
        <p:spPr>
          <a:xfrm>
            <a:off x="4574004" y="2685493"/>
            <a:ext cx="64698" cy="64698"/>
          </a:xfrm>
          <a:prstGeom prst="ellipse">
            <a:avLst/>
          </a:prstGeom>
          <a:solidFill>
            <a:schemeClr val="accent1"/>
          </a:solidFill>
          <a:ln w="3175">
            <a:solidFill>
              <a:schemeClr val="accent1"/>
            </a:solidFill>
            <a:prstDash val="solid"/>
          </a:ln>
        </p:spPr>
      </p:sp>
      <p:sp>
        <p:nvSpPr>
          <p:cNvPr id="87" name="calcium ion: electron, shell 3"/>
          <p:cNvSpPr/>
          <p:nvPr/>
        </p:nvSpPr>
        <p:spPr>
          <a:xfrm>
            <a:off x="4985633" y="3097121"/>
            <a:ext cx="64698" cy="64698"/>
          </a:xfrm>
          <a:prstGeom prst="ellipse">
            <a:avLst/>
          </a:prstGeom>
          <a:solidFill>
            <a:schemeClr val="accent1"/>
          </a:solidFill>
          <a:ln w="3175">
            <a:solidFill>
              <a:schemeClr val="accent1"/>
            </a:solidFill>
            <a:prstDash val="solid"/>
          </a:ln>
        </p:spPr>
      </p:sp>
      <p:sp>
        <p:nvSpPr>
          <p:cNvPr id="88" name="calcium ion: electron, shell 3"/>
          <p:cNvSpPr/>
          <p:nvPr/>
        </p:nvSpPr>
        <p:spPr>
          <a:xfrm>
            <a:off x="4985633" y="3184116"/>
            <a:ext cx="64698" cy="64698"/>
          </a:xfrm>
          <a:prstGeom prst="ellipse">
            <a:avLst/>
          </a:prstGeom>
          <a:solidFill>
            <a:schemeClr val="accent1"/>
          </a:solidFill>
          <a:ln w="3175">
            <a:solidFill>
              <a:schemeClr val="accent1"/>
            </a:solidFill>
            <a:prstDash val="solid"/>
          </a:ln>
        </p:spPr>
      </p:sp>
      <p:sp>
        <p:nvSpPr>
          <p:cNvPr id="89" name="calcium ion: electron, shell 3"/>
          <p:cNvSpPr/>
          <p:nvPr/>
        </p:nvSpPr>
        <p:spPr>
          <a:xfrm>
            <a:off x="4574004" y="3595745"/>
            <a:ext cx="64698" cy="64698"/>
          </a:xfrm>
          <a:prstGeom prst="ellipse">
            <a:avLst/>
          </a:prstGeom>
          <a:solidFill>
            <a:schemeClr val="accent1"/>
          </a:solidFill>
          <a:ln w="3175">
            <a:solidFill>
              <a:schemeClr val="accent1"/>
            </a:solidFill>
            <a:prstDash val="solid"/>
          </a:ln>
        </p:spPr>
      </p:sp>
      <p:sp>
        <p:nvSpPr>
          <p:cNvPr id="90" name="calcium ion: electron, shell 3"/>
          <p:cNvSpPr/>
          <p:nvPr/>
        </p:nvSpPr>
        <p:spPr>
          <a:xfrm>
            <a:off x="4487009" y="3595745"/>
            <a:ext cx="64698" cy="64698"/>
          </a:xfrm>
          <a:prstGeom prst="ellipse">
            <a:avLst/>
          </a:prstGeom>
          <a:solidFill>
            <a:schemeClr val="accent1"/>
          </a:solidFill>
          <a:ln w="3175">
            <a:solidFill>
              <a:schemeClr val="accent1"/>
            </a:solidFill>
            <a:prstDash val="solid"/>
          </a:ln>
        </p:spPr>
      </p:sp>
      <p:sp>
        <p:nvSpPr>
          <p:cNvPr id="91" name="calcium ion: electron, shell 3"/>
          <p:cNvSpPr/>
          <p:nvPr/>
        </p:nvSpPr>
        <p:spPr>
          <a:xfrm>
            <a:off x="4075381" y="3184116"/>
            <a:ext cx="64698" cy="64698"/>
          </a:xfrm>
          <a:prstGeom prst="ellipse">
            <a:avLst/>
          </a:prstGeom>
          <a:solidFill>
            <a:schemeClr val="accent1"/>
          </a:solidFill>
          <a:ln w="3175">
            <a:solidFill>
              <a:schemeClr val="accent1"/>
            </a:solidFill>
            <a:prstDash val="solid"/>
          </a:ln>
        </p:spPr>
      </p:sp>
      <p:sp>
        <p:nvSpPr>
          <p:cNvPr id="92" name="calcium ion: electron, shell 3"/>
          <p:cNvSpPr/>
          <p:nvPr/>
        </p:nvSpPr>
        <p:spPr>
          <a:xfrm>
            <a:off x="4075381" y="3097121"/>
            <a:ext cx="64698" cy="64698"/>
          </a:xfrm>
          <a:prstGeom prst="ellipse">
            <a:avLst/>
          </a:prstGeom>
          <a:solidFill>
            <a:schemeClr val="accent1"/>
          </a:solidFill>
          <a:ln w="3175">
            <a:solidFill>
              <a:schemeClr val="accent1"/>
            </a:solidFill>
            <a:prstDash val="solid"/>
          </a:ln>
        </p:spPr>
      </p:sp>
      <p:sp>
        <p:nvSpPr>
          <p:cNvPr id="93" name="calcium ion: left bracket"/>
          <p:cNvSpPr/>
          <p:nvPr/>
        </p:nvSpPr>
        <p:spPr>
          <a:xfrm>
            <a:off x="4036645" y="2646757"/>
            <a:ext cx="73152" cy="1052423"/>
          </a:xfrm>
          <a:prstGeom prst="leftBracket">
            <a:avLst/>
          </a:prstGeom>
          <a:noFill/>
          <a:ln w="15875">
            <a:solidFill>
              <a:schemeClr val="bg1"/>
            </a:solidFill>
            <a:prstDash val="solid"/>
          </a:ln>
        </p:spPr>
      </p:sp>
      <p:sp>
        <p:nvSpPr>
          <p:cNvPr id="94" name="calcium ion: right bracket"/>
          <p:cNvSpPr/>
          <p:nvPr/>
        </p:nvSpPr>
        <p:spPr>
          <a:xfrm>
            <a:off x="5015915" y="2646757"/>
            <a:ext cx="73152" cy="1052423"/>
          </a:xfrm>
          <a:prstGeom prst="rightBracket">
            <a:avLst/>
          </a:prstGeom>
          <a:noFill/>
          <a:ln w="15875">
            <a:solidFill>
              <a:schemeClr val="bg1"/>
            </a:solidFill>
            <a:prstDash val="solid"/>
          </a:ln>
        </p:spPr>
      </p:sp>
      <p:sp>
        <p:nvSpPr>
          <p:cNvPr id="95" name="calcium ion: charge"/>
          <p:cNvSpPr txBox="1"/>
          <p:nvPr/>
        </p:nvSpPr>
        <p:spPr>
          <a:xfrm>
            <a:off x="5107355" y="2569922"/>
            <a:ext cx="223520" cy="167640"/>
          </a:xfrm>
          <a:prstGeom prst="rect">
            <a:avLst/>
          </a:prstGeom>
          <a:noFill/>
          <a:ln/>
        </p:spPr>
        <p:txBody>
          <a:bodyPr wrap="square" lIns="0" tIns="0" rIns="0" bIns="0" rtlCol="0" anchor="t"/>
          <a:lstStyle/>
          <a:p>
            <a:pPr indent="0" marL="0">
              <a:buNone/>
            </a:pPr>
            <a:r>
              <a:rPr lang="en-US" sz="1100" b="1" dirty="0">
                <a:solidFill>
                  <a:schemeClr val="bg1"/>
                </a:solidFill>
              </a:rPr>
              <a:t>2+</a:t>
            </a:r>
            <a:endParaRPr lang="en-US" sz="1100" dirty="0"/>
          </a:p>
        </p:txBody>
      </p:sp>
      <p:sp>
        <p:nvSpPr>
          <p:cNvPr id="96" name="Text 94"/>
          <p:cNvSpPr txBox="1"/>
          <p:nvPr/>
        </p:nvSpPr>
        <p:spPr>
          <a:xfrm>
            <a:off x="3831336" y="3931920"/>
            <a:ext cx="1463040" cy="548640"/>
          </a:xfrm>
          <a:prstGeom prst="rect">
            <a:avLst/>
          </a:prstGeom>
          <a:noFill/>
          <a:ln/>
        </p:spPr>
        <p:txBody>
          <a:bodyPr wrap="square" lIns="0" tIns="0" rIns="0" bIns="0" rtlCol="0" anchor="ctr"/>
          <a:lstStyle/>
          <a:p>
            <a:pPr algn="ctr" indent="0" marL="0">
              <a:buNone/>
            </a:pPr>
            <a:r>
              <a:rPr lang="en-US" sz="1100" b="1" dirty="0">
                <a:solidFill>
                  <a:schemeClr val="bg1"/>
                </a:solidFill>
              </a:rPr>
              <a:t>20 p</a:t>
            </a:r>
            <a:pPr algn="ctr" indent="0" marL="0">
              <a:buNone/>
            </a:pPr>
            <a:r>
              <a:rPr lang="en-US" sz="1100" b="1" baseline="30000" dirty="0">
                <a:solidFill>
                  <a:schemeClr val="bg1"/>
                </a:solidFill>
              </a:rPr>
              <a:t>+</a:t>
            </a:r>
            <a:pPr algn="ctr" indent="0" marL="0">
              <a:buNone/>
            </a:pPr>
            <a:r>
              <a:rPr lang="en-US" sz="1100" b="1" dirty="0">
                <a:solidFill>
                  <a:schemeClr val="bg1"/>
                </a:solidFill>
              </a:rPr>
              <a:t>   20 n</a:t>
            </a:r>
            <a:pPr algn="ctr" indent="0" marL="0">
              <a:buNone/>
            </a:pPr>
            <a:r>
              <a:rPr lang="en-US" sz="1100" b="1" baseline="30000" dirty="0">
                <a:solidFill>
                  <a:schemeClr val="bg1"/>
                </a:solidFill>
              </a:rPr>
              <a:t>0</a:t>
            </a:r>
            <a:pPr algn="ctr" indent="0" marL="0">
              <a:buNone/>
            </a:pPr>
            <a:endParaRPr lang="en-US" sz="1100" dirty="0"/>
          </a:p>
          <a:p>
            <a:pPr algn="ctr" indent="0" marL="0">
              <a:buNone/>
            </a:pPr>
            <a:r>
              <a:rPr lang="en-US" sz="1100" b="1" dirty="0">
                <a:solidFill>
                  <a:schemeClr val="accent1"/>
                </a:solidFill>
              </a:rPr>
              <a:t>2, 8, 8</a:t>
            </a:r>
            <a:endParaRPr lang="en-US" sz="1100" dirty="0"/>
          </a:p>
        </p:txBody>
      </p:sp>
      <p:sp>
        <p:nvSpPr>
          <p:cNvPr id="97" name="nitride"/>
          <p:cNvSpPr/>
          <p:nvPr/>
        </p:nvSpPr>
        <p:spPr>
          <a:xfrm>
            <a:off x="5449824" y="1691640"/>
            <a:ext cx="1554480" cy="2926080"/>
          </a:xfrm>
          <a:prstGeom prst="roundRect">
            <a:avLst>
              <a:gd name="adj" fmla="val 5882"/>
            </a:avLst>
          </a:prstGeom>
          <a:solidFill>
            <a:schemeClr val="tx2"/>
          </a:solidFill>
          <a:ln w="9525">
            <a:solidFill>
              <a:schemeClr val="bg2">
                <a:alpha val="30000"/>
              </a:schemeClr>
            </a:solidFill>
            <a:prstDash val="solid"/>
          </a:ln>
        </p:spPr>
      </p:sp>
      <p:sp>
        <p:nvSpPr>
          <p:cNvPr id="98" name="Tile N"/>
          <p:cNvSpPr/>
          <p:nvPr/>
        </p:nvSpPr>
        <p:spPr>
          <a:xfrm>
            <a:off x="5559552" y="1819656"/>
            <a:ext cx="502920" cy="548640"/>
          </a:xfrm>
          <a:prstGeom prst="roundRect">
            <a:avLst>
              <a:gd name="adj" fmla="val 12000"/>
            </a:avLst>
          </a:prstGeom>
          <a:solidFill>
            <a:srgbClr val="45C08F">
              <a:alpha val="30000"/>
            </a:srgbClr>
          </a:solidFill>
          <a:ln w="19050">
            <a:solidFill>
              <a:srgbClr val="45C08F"/>
            </a:solidFill>
            <a:prstDash val="solid"/>
          </a:ln>
        </p:spPr>
      </p:sp>
      <p:sp>
        <p:nvSpPr>
          <p:cNvPr id="99" name="Text 97"/>
          <p:cNvSpPr txBox="1"/>
          <p:nvPr/>
        </p:nvSpPr>
        <p:spPr>
          <a:xfrm>
            <a:off x="5599786" y="1847088"/>
            <a:ext cx="301752" cy="131674"/>
          </a:xfrm>
          <a:prstGeom prst="rect">
            <a:avLst/>
          </a:prstGeom>
          <a:noFill/>
          <a:ln/>
        </p:spPr>
        <p:txBody>
          <a:bodyPr wrap="square" lIns="0" tIns="0" rIns="0" bIns="0" rtlCol="0" anchor="t"/>
          <a:lstStyle/>
          <a:p>
            <a:pPr indent="0" marL="0">
              <a:buNone/>
            </a:pPr>
            <a:r>
              <a:rPr lang="en-US" sz="800" dirty="0">
                <a:solidFill>
                  <a:schemeClr val="bg2"/>
                </a:solidFill>
              </a:rPr>
              <a:t>7</a:t>
            </a:r>
            <a:endParaRPr lang="en-US" sz="800" dirty="0"/>
          </a:p>
        </p:txBody>
      </p:sp>
      <p:sp>
        <p:nvSpPr>
          <p:cNvPr id="100" name="Text 98"/>
          <p:cNvSpPr txBox="1"/>
          <p:nvPr/>
        </p:nvSpPr>
        <p:spPr>
          <a:xfrm>
            <a:off x="5559552" y="1907438"/>
            <a:ext cx="502920" cy="438912"/>
          </a:xfrm>
          <a:prstGeom prst="rect">
            <a:avLst/>
          </a:prstGeom>
          <a:noFill/>
          <a:ln/>
        </p:spPr>
        <p:txBody>
          <a:bodyPr wrap="square" lIns="0" tIns="0" rIns="0" bIns="0" rtlCol="0" anchor="ctr"/>
          <a:lstStyle/>
          <a:p>
            <a:pPr algn="ctr" indent="0" marL="0">
              <a:buNone/>
            </a:pPr>
            <a:r>
              <a:rPr lang="en-US" sz="2000" b="1" dirty="0">
                <a:solidFill>
                  <a:schemeClr val="bg1"/>
                </a:solidFill>
              </a:rPr>
              <a:t>N</a:t>
            </a:r>
            <a:endParaRPr lang="en-US" sz="2000" dirty="0"/>
          </a:p>
        </p:txBody>
      </p:sp>
      <p:sp>
        <p:nvSpPr>
          <p:cNvPr id="101" name="Text 99"/>
          <p:cNvSpPr txBox="1"/>
          <p:nvPr/>
        </p:nvSpPr>
        <p:spPr>
          <a:xfrm>
            <a:off x="6126480" y="1801368"/>
            <a:ext cx="822960" cy="329184"/>
          </a:xfrm>
          <a:prstGeom prst="rect">
            <a:avLst/>
          </a:prstGeom>
          <a:noFill/>
          <a:ln/>
        </p:spPr>
        <p:txBody>
          <a:bodyPr wrap="square" lIns="0" tIns="0" rIns="0" bIns="0" rtlCol="0" anchor="ctr"/>
          <a:lstStyle/>
          <a:p>
            <a:pPr indent="0" marL="0">
              <a:buNone/>
            </a:pPr>
            <a:r>
              <a:rPr lang="en-US" sz="1800" b="1" dirty="0">
                <a:solidFill>
                  <a:schemeClr val="bg1"/>
                </a:solidFill>
              </a:rPr>
              <a:t>N</a:t>
            </a:r>
            <a:pPr indent="0" marL="0">
              <a:buNone/>
            </a:pPr>
            <a:r>
              <a:rPr lang="en-US" sz="1800" b="1" baseline="30000" dirty="0">
                <a:solidFill>
                  <a:schemeClr val="bg1"/>
                </a:solidFill>
              </a:rPr>
              <a:t>3−</a:t>
            </a:r>
            <a:endParaRPr lang="en-US" sz="1800" dirty="0"/>
          </a:p>
        </p:txBody>
      </p:sp>
      <p:sp>
        <p:nvSpPr>
          <p:cNvPr id="102" name="Text 100"/>
          <p:cNvSpPr txBox="1"/>
          <p:nvPr/>
        </p:nvSpPr>
        <p:spPr>
          <a:xfrm>
            <a:off x="6126480" y="2130552"/>
            <a:ext cx="868680" cy="237744"/>
          </a:xfrm>
          <a:prstGeom prst="rect">
            <a:avLst/>
          </a:prstGeom>
          <a:noFill/>
          <a:ln/>
        </p:spPr>
        <p:txBody>
          <a:bodyPr wrap="square" lIns="0" tIns="0" rIns="0" bIns="0" rtlCol="0" anchor="t"/>
          <a:lstStyle/>
          <a:p>
            <a:pPr indent="0" marL="0">
              <a:buNone/>
            </a:pPr>
            <a:r>
              <a:rPr lang="en-US" sz="1000" dirty="0">
                <a:solidFill>
                  <a:schemeClr val="bg2"/>
                </a:solidFill>
              </a:rPr>
              <a:t>nitride</a:t>
            </a:r>
            <a:endParaRPr lang="en-US" sz="1000" dirty="0"/>
          </a:p>
        </p:txBody>
      </p:sp>
      <p:sp>
        <p:nvSpPr>
          <p:cNvPr id="103" name="nitride: shell 1"/>
          <p:cNvSpPr/>
          <p:nvPr/>
        </p:nvSpPr>
        <p:spPr>
          <a:xfrm>
            <a:off x="5949086" y="2894990"/>
            <a:ext cx="555955" cy="555955"/>
          </a:xfrm>
          <a:prstGeom prst="ellipse">
            <a:avLst/>
          </a:prstGeom>
          <a:solidFill>
            <a:schemeClr val="bg1">
              <a:alpha val="0"/>
            </a:schemeClr>
          </a:solidFill>
          <a:ln w="15875">
            <a:solidFill>
              <a:schemeClr val="bg2">
                <a:alpha val="55000"/>
              </a:schemeClr>
            </a:solidFill>
            <a:prstDash val="solid"/>
          </a:ln>
        </p:spPr>
      </p:sp>
      <p:sp>
        <p:nvSpPr>
          <p:cNvPr id="104" name="nitride: shell 2"/>
          <p:cNvSpPr/>
          <p:nvPr/>
        </p:nvSpPr>
        <p:spPr>
          <a:xfrm>
            <a:off x="5775350" y="2721254"/>
            <a:ext cx="903427" cy="903427"/>
          </a:xfrm>
          <a:prstGeom prst="ellipse">
            <a:avLst/>
          </a:prstGeom>
          <a:solidFill>
            <a:schemeClr val="bg1">
              <a:alpha val="0"/>
            </a:schemeClr>
          </a:solidFill>
          <a:ln w="15875">
            <a:solidFill>
              <a:schemeClr val="bg2">
                <a:alpha val="55000"/>
              </a:schemeClr>
            </a:solidFill>
            <a:prstDash val="solid"/>
          </a:ln>
        </p:spPr>
      </p:sp>
      <p:sp>
        <p:nvSpPr>
          <p:cNvPr id="105" name="nitride: nucleus"/>
          <p:cNvSpPr/>
          <p:nvPr/>
        </p:nvSpPr>
        <p:spPr>
          <a:xfrm>
            <a:off x="6047537" y="2993441"/>
            <a:ext cx="359054" cy="359054"/>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600" b="1" dirty="0">
                <a:solidFill>
                  <a:schemeClr val="bg1"/>
                </a:solidFill>
              </a:rPr>
              <a:t>7 p</a:t>
            </a:r>
            <a:pPr algn="ctr" indent="0" marL="0">
              <a:buNone/>
            </a:pPr>
            <a:r>
              <a:rPr lang="en-US" sz="600" b="1" baseline="30000" dirty="0">
                <a:solidFill>
                  <a:schemeClr val="bg1"/>
                </a:solidFill>
              </a:rPr>
              <a:t>+</a:t>
            </a:r>
            <a:endParaRPr lang="en-US" sz="600" dirty="0"/>
          </a:p>
          <a:p>
            <a:pPr algn="ctr" indent="0" marL="0">
              <a:buNone/>
            </a:pPr>
            <a:r>
              <a:rPr lang="en-US" sz="600" b="1" dirty="0">
                <a:solidFill>
                  <a:schemeClr val="bg1"/>
                </a:solidFill>
              </a:rPr>
              <a:t>7 n</a:t>
            </a:r>
            <a:pPr algn="ctr" indent="0" marL="0">
              <a:buNone/>
            </a:pPr>
            <a:r>
              <a:rPr lang="en-US" sz="600" b="1" baseline="30000" dirty="0">
                <a:solidFill>
                  <a:schemeClr val="bg1"/>
                </a:solidFill>
              </a:rPr>
              <a:t>0</a:t>
            </a:r>
            <a:endParaRPr lang="en-US" sz="600" dirty="0"/>
          </a:p>
        </p:txBody>
      </p:sp>
      <p:sp>
        <p:nvSpPr>
          <p:cNvPr id="106" name="nitride: electron, shell 1"/>
          <p:cNvSpPr/>
          <p:nvPr/>
        </p:nvSpPr>
        <p:spPr>
          <a:xfrm>
            <a:off x="6183630" y="2851556"/>
            <a:ext cx="86868" cy="86868"/>
          </a:xfrm>
          <a:prstGeom prst="ellipse">
            <a:avLst/>
          </a:prstGeom>
          <a:solidFill>
            <a:schemeClr val="accent1"/>
          </a:solidFill>
          <a:ln w="3175">
            <a:solidFill>
              <a:schemeClr val="accent1"/>
            </a:solidFill>
            <a:prstDash val="solid"/>
          </a:ln>
        </p:spPr>
      </p:sp>
      <p:sp>
        <p:nvSpPr>
          <p:cNvPr id="107" name="nitride: electron, shell 1"/>
          <p:cNvSpPr/>
          <p:nvPr/>
        </p:nvSpPr>
        <p:spPr>
          <a:xfrm>
            <a:off x="6461608" y="3129534"/>
            <a:ext cx="86868" cy="86868"/>
          </a:xfrm>
          <a:prstGeom prst="ellipse">
            <a:avLst/>
          </a:prstGeom>
          <a:solidFill>
            <a:schemeClr val="accent1"/>
          </a:solidFill>
          <a:ln w="3175">
            <a:solidFill>
              <a:schemeClr val="accent1"/>
            </a:solidFill>
            <a:prstDash val="solid"/>
          </a:ln>
        </p:spPr>
      </p:sp>
      <p:sp>
        <p:nvSpPr>
          <p:cNvPr id="108" name="nitride: electron, shell 2"/>
          <p:cNvSpPr/>
          <p:nvPr/>
        </p:nvSpPr>
        <p:spPr>
          <a:xfrm>
            <a:off x="6125302" y="2681602"/>
            <a:ext cx="86868" cy="86868"/>
          </a:xfrm>
          <a:prstGeom prst="ellipse">
            <a:avLst/>
          </a:prstGeom>
          <a:solidFill>
            <a:schemeClr val="accent1"/>
          </a:solidFill>
          <a:ln w="3175">
            <a:solidFill>
              <a:schemeClr val="accent1"/>
            </a:solidFill>
            <a:prstDash val="solid"/>
          </a:ln>
        </p:spPr>
      </p:sp>
      <p:sp>
        <p:nvSpPr>
          <p:cNvPr id="109" name="nitride: electron, shell 2"/>
          <p:cNvSpPr/>
          <p:nvPr/>
        </p:nvSpPr>
        <p:spPr>
          <a:xfrm>
            <a:off x="6241958" y="2681602"/>
            <a:ext cx="86868" cy="86868"/>
          </a:xfrm>
          <a:prstGeom prst="ellipse">
            <a:avLst/>
          </a:prstGeom>
          <a:solidFill>
            <a:schemeClr val="accent1"/>
          </a:solidFill>
          <a:ln w="3175">
            <a:solidFill>
              <a:schemeClr val="accent1"/>
            </a:solidFill>
            <a:prstDash val="solid"/>
          </a:ln>
        </p:spPr>
      </p:sp>
      <p:sp>
        <p:nvSpPr>
          <p:cNvPr id="110" name="nitride: electron, shell 2"/>
          <p:cNvSpPr/>
          <p:nvPr/>
        </p:nvSpPr>
        <p:spPr>
          <a:xfrm>
            <a:off x="6631562" y="3071206"/>
            <a:ext cx="86868" cy="86868"/>
          </a:xfrm>
          <a:prstGeom prst="ellipse">
            <a:avLst/>
          </a:prstGeom>
          <a:solidFill>
            <a:schemeClr val="accent1"/>
          </a:solidFill>
          <a:ln w="3175">
            <a:solidFill>
              <a:schemeClr val="accent1"/>
            </a:solidFill>
            <a:prstDash val="solid"/>
          </a:ln>
        </p:spPr>
      </p:sp>
      <p:sp>
        <p:nvSpPr>
          <p:cNvPr id="111" name="nitride: gained electron, shell 2"/>
          <p:cNvSpPr/>
          <p:nvPr/>
        </p:nvSpPr>
        <p:spPr>
          <a:xfrm>
            <a:off x="6631562" y="3187862"/>
            <a:ext cx="86868" cy="86868"/>
          </a:xfrm>
          <a:prstGeom prst="ellipse">
            <a:avLst/>
          </a:prstGeom>
          <a:solidFill>
            <a:schemeClr val="accent6"/>
          </a:solidFill>
          <a:ln w="3175">
            <a:solidFill>
              <a:schemeClr val="accent6"/>
            </a:solidFill>
            <a:prstDash val="solid"/>
          </a:ln>
        </p:spPr>
      </p:sp>
      <p:sp>
        <p:nvSpPr>
          <p:cNvPr id="112" name="nitride: electron, shell 2"/>
          <p:cNvSpPr/>
          <p:nvPr/>
        </p:nvSpPr>
        <p:spPr>
          <a:xfrm>
            <a:off x="6241958" y="3577466"/>
            <a:ext cx="86868" cy="86868"/>
          </a:xfrm>
          <a:prstGeom prst="ellipse">
            <a:avLst/>
          </a:prstGeom>
          <a:solidFill>
            <a:schemeClr val="accent1"/>
          </a:solidFill>
          <a:ln w="3175">
            <a:solidFill>
              <a:schemeClr val="accent1"/>
            </a:solidFill>
            <a:prstDash val="solid"/>
          </a:ln>
        </p:spPr>
      </p:sp>
      <p:sp>
        <p:nvSpPr>
          <p:cNvPr id="113" name="nitride: gained electron, shell 2"/>
          <p:cNvSpPr/>
          <p:nvPr/>
        </p:nvSpPr>
        <p:spPr>
          <a:xfrm>
            <a:off x="6125302" y="3577466"/>
            <a:ext cx="86868" cy="86868"/>
          </a:xfrm>
          <a:prstGeom prst="ellipse">
            <a:avLst/>
          </a:prstGeom>
          <a:solidFill>
            <a:schemeClr val="accent6"/>
          </a:solidFill>
          <a:ln w="3175">
            <a:solidFill>
              <a:schemeClr val="accent6"/>
            </a:solidFill>
            <a:prstDash val="solid"/>
          </a:ln>
        </p:spPr>
      </p:sp>
      <p:sp>
        <p:nvSpPr>
          <p:cNvPr id="114" name="nitride: electron, shell 2"/>
          <p:cNvSpPr/>
          <p:nvPr/>
        </p:nvSpPr>
        <p:spPr>
          <a:xfrm>
            <a:off x="5735698" y="3187862"/>
            <a:ext cx="86868" cy="86868"/>
          </a:xfrm>
          <a:prstGeom prst="ellipse">
            <a:avLst/>
          </a:prstGeom>
          <a:solidFill>
            <a:schemeClr val="accent1"/>
          </a:solidFill>
          <a:ln w="3175">
            <a:solidFill>
              <a:schemeClr val="accent1"/>
            </a:solidFill>
            <a:prstDash val="solid"/>
          </a:ln>
        </p:spPr>
      </p:sp>
      <p:sp>
        <p:nvSpPr>
          <p:cNvPr id="115" name="nitride: gained electron, shell 2"/>
          <p:cNvSpPr/>
          <p:nvPr/>
        </p:nvSpPr>
        <p:spPr>
          <a:xfrm>
            <a:off x="5735698" y="3071206"/>
            <a:ext cx="86868" cy="86868"/>
          </a:xfrm>
          <a:prstGeom prst="ellipse">
            <a:avLst/>
          </a:prstGeom>
          <a:solidFill>
            <a:schemeClr val="accent6"/>
          </a:solidFill>
          <a:ln w="3175">
            <a:solidFill>
              <a:schemeClr val="accent6"/>
            </a:solidFill>
            <a:prstDash val="solid"/>
          </a:ln>
        </p:spPr>
      </p:sp>
      <p:sp>
        <p:nvSpPr>
          <p:cNvPr id="116" name="nitride: left bracket"/>
          <p:cNvSpPr/>
          <p:nvPr/>
        </p:nvSpPr>
        <p:spPr>
          <a:xfrm>
            <a:off x="5682691" y="2628595"/>
            <a:ext cx="81077" cy="1088746"/>
          </a:xfrm>
          <a:prstGeom prst="leftBracket">
            <a:avLst/>
          </a:prstGeom>
          <a:noFill/>
          <a:ln w="15875">
            <a:solidFill>
              <a:schemeClr val="bg1"/>
            </a:solidFill>
            <a:prstDash val="solid"/>
          </a:ln>
        </p:spPr>
      </p:sp>
      <p:sp>
        <p:nvSpPr>
          <p:cNvPr id="117" name="nitride: right bracket"/>
          <p:cNvSpPr/>
          <p:nvPr/>
        </p:nvSpPr>
        <p:spPr>
          <a:xfrm>
            <a:off x="6690360" y="2628595"/>
            <a:ext cx="81077" cy="1088746"/>
          </a:xfrm>
          <a:prstGeom prst="rightBracket">
            <a:avLst/>
          </a:prstGeom>
          <a:noFill/>
          <a:ln w="15875">
            <a:solidFill>
              <a:schemeClr val="bg1"/>
            </a:solidFill>
            <a:prstDash val="solid"/>
          </a:ln>
        </p:spPr>
      </p:sp>
      <p:sp>
        <p:nvSpPr>
          <p:cNvPr id="118" name="nitride: charge"/>
          <p:cNvSpPr txBox="1"/>
          <p:nvPr/>
        </p:nvSpPr>
        <p:spPr>
          <a:xfrm>
            <a:off x="6789725" y="2551760"/>
            <a:ext cx="223520" cy="167640"/>
          </a:xfrm>
          <a:prstGeom prst="rect">
            <a:avLst/>
          </a:prstGeom>
          <a:noFill/>
          <a:ln/>
        </p:spPr>
        <p:txBody>
          <a:bodyPr wrap="square" lIns="0" tIns="0" rIns="0" bIns="0" rtlCol="0" anchor="t"/>
          <a:lstStyle/>
          <a:p>
            <a:pPr indent="0" marL="0">
              <a:buNone/>
            </a:pPr>
            <a:r>
              <a:rPr lang="en-US" sz="1100" b="1" dirty="0">
                <a:solidFill>
                  <a:schemeClr val="bg1"/>
                </a:solidFill>
              </a:rPr>
              <a:t>3−</a:t>
            </a:r>
            <a:endParaRPr lang="en-US" sz="1100" dirty="0"/>
          </a:p>
        </p:txBody>
      </p:sp>
      <p:sp>
        <p:nvSpPr>
          <p:cNvPr id="119" name="Text 117"/>
          <p:cNvSpPr txBox="1"/>
          <p:nvPr/>
        </p:nvSpPr>
        <p:spPr>
          <a:xfrm>
            <a:off x="5495544" y="3931920"/>
            <a:ext cx="1463040" cy="548640"/>
          </a:xfrm>
          <a:prstGeom prst="rect">
            <a:avLst/>
          </a:prstGeom>
          <a:noFill/>
          <a:ln/>
        </p:spPr>
        <p:txBody>
          <a:bodyPr wrap="square" lIns="0" tIns="0" rIns="0" bIns="0" rtlCol="0" anchor="ctr"/>
          <a:lstStyle/>
          <a:p>
            <a:pPr algn="ctr" indent="0" marL="0">
              <a:buNone/>
            </a:pPr>
            <a:r>
              <a:rPr lang="en-US" sz="1100" b="1" dirty="0">
                <a:solidFill>
                  <a:schemeClr val="bg1"/>
                </a:solidFill>
              </a:rPr>
              <a:t>7 p</a:t>
            </a:r>
            <a:pPr algn="ctr" indent="0" marL="0">
              <a:buNone/>
            </a:pPr>
            <a:r>
              <a:rPr lang="en-US" sz="1100" b="1" baseline="30000" dirty="0">
                <a:solidFill>
                  <a:schemeClr val="bg1"/>
                </a:solidFill>
              </a:rPr>
              <a:t>+</a:t>
            </a:r>
            <a:pPr algn="ctr" indent="0" marL="0">
              <a:buNone/>
            </a:pPr>
            <a:r>
              <a:rPr lang="en-US" sz="1100" b="1" dirty="0">
                <a:solidFill>
                  <a:schemeClr val="bg1"/>
                </a:solidFill>
              </a:rPr>
              <a:t>   7 n</a:t>
            </a:r>
            <a:pPr algn="ctr" indent="0" marL="0">
              <a:buNone/>
            </a:pPr>
            <a:r>
              <a:rPr lang="en-US" sz="1100" b="1" baseline="30000" dirty="0">
                <a:solidFill>
                  <a:schemeClr val="bg1"/>
                </a:solidFill>
              </a:rPr>
              <a:t>0</a:t>
            </a:r>
            <a:pPr algn="ctr" indent="0" marL="0">
              <a:buNone/>
            </a:pPr>
            <a:endParaRPr lang="en-US" sz="1100" dirty="0"/>
          </a:p>
          <a:p>
            <a:pPr algn="ctr" indent="0" marL="0">
              <a:buNone/>
            </a:pPr>
            <a:r>
              <a:rPr lang="en-US" sz="1100" b="1" dirty="0">
                <a:solidFill>
                  <a:schemeClr val="accent1"/>
                </a:solidFill>
              </a:rPr>
              <a:t>2, 8</a:t>
            </a:r>
            <a:endParaRPr lang="en-US" sz="1100" dirty="0"/>
          </a:p>
        </p:txBody>
      </p:sp>
      <p:sp>
        <p:nvSpPr>
          <p:cNvPr id="120" name="lithium ion"/>
          <p:cNvSpPr/>
          <p:nvPr/>
        </p:nvSpPr>
        <p:spPr>
          <a:xfrm>
            <a:off x="7114032" y="1691640"/>
            <a:ext cx="1554480" cy="2926080"/>
          </a:xfrm>
          <a:prstGeom prst="roundRect">
            <a:avLst>
              <a:gd name="adj" fmla="val 5882"/>
            </a:avLst>
          </a:prstGeom>
          <a:solidFill>
            <a:schemeClr val="tx2"/>
          </a:solidFill>
          <a:ln w="9525">
            <a:solidFill>
              <a:schemeClr val="bg2">
                <a:alpha val="30000"/>
              </a:schemeClr>
            </a:solidFill>
            <a:prstDash val="solid"/>
          </a:ln>
        </p:spPr>
      </p:sp>
      <p:sp>
        <p:nvSpPr>
          <p:cNvPr id="121" name="Tile Li"/>
          <p:cNvSpPr/>
          <p:nvPr/>
        </p:nvSpPr>
        <p:spPr>
          <a:xfrm>
            <a:off x="7223760" y="1819656"/>
            <a:ext cx="502920" cy="548640"/>
          </a:xfrm>
          <a:prstGeom prst="roundRect">
            <a:avLst>
              <a:gd name="adj" fmla="val 12000"/>
            </a:avLst>
          </a:prstGeom>
          <a:solidFill>
            <a:srgbClr val="FF8F5E">
              <a:alpha val="30000"/>
            </a:srgbClr>
          </a:solidFill>
          <a:ln w="19050">
            <a:solidFill>
              <a:srgbClr val="FF8F5E"/>
            </a:solidFill>
            <a:prstDash val="solid"/>
          </a:ln>
        </p:spPr>
      </p:sp>
      <p:sp>
        <p:nvSpPr>
          <p:cNvPr id="122" name="Text 120"/>
          <p:cNvSpPr txBox="1"/>
          <p:nvPr/>
        </p:nvSpPr>
        <p:spPr>
          <a:xfrm>
            <a:off x="7263994" y="1847088"/>
            <a:ext cx="301752" cy="131674"/>
          </a:xfrm>
          <a:prstGeom prst="rect">
            <a:avLst/>
          </a:prstGeom>
          <a:noFill/>
          <a:ln/>
        </p:spPr>
        <p:txBody>
          <a:bodyPr wrap="square" lIns="0" tIns="0" rIns="0" bIns="0" rtlCol="0" anchor="t"/>
          <a:lstStyle/>
          <a:p>
            <a:pPr indent="0" marL="0">
              <a:buNone/>
            </a:pPr>
            <a:r>
              <a:rPr lang="en-US" sz="800" dirty="0">
                <a:solidFill>
                  <a:schemeClr val="bg2"/>
                </a:solidFill>
              </a:rPr>
              <a:t>3</a:t>
            </a:r>
            <a:endParaRPr lang="en-US" sz="800" dirty="0"/>
          </a:p>
        </p:txBody>
      </p:sp>
      <p:sp>
        <p:nvSpPr>
          <p:cNvPr id="123" name="Text 121"/>
          <p:cNvSpPr txBox="1"/>
          <p:nvPr/>
        </p:nvSpPr>
        <p:spPr>
          <a:xfrm>
            <a:off x="7223760" y="1907438"/>
            <a:ext cx="502920" cy="438912"/>
          </a:xfrm>
          <a:prstGeom prst="rect">
            <a:avLst/>
          </a:prstGeom>
          <a:noFill/>
          <a:ln/>
        </p:spPr>
        <p:txBody>
          <a:bodyPr wrap="square" lIns="0" tIns="0" rIns="0" bIns="0" rtlCol="0" anchor="ctr"/>
          <a:lstStyle/>
          <a:p>
            <a:pPr algn="ctr" indent="0" marL="0">
              <a:buNone/>
            </a:pPr>
            <a:r>
              <a:rPr lang="en-US" sz="2000" b="1" dirty="0">
                <a:solidFill>
                  <a:schemeClr val="bg1"/>
                </a:solidFill>
              </a:rPr>
              <a:t>Li</a:t>
            </a:r>
            <a:endParaRPr lang="en-US" sz="2000" dirty="0"/>
          </a:p>
        </p:txBody>
      </p:sp>
      <p:sp>
        <p:nvSpPr>
          <p:cNvPr id="124" name="Text 122"/>
          <p:cNvSpPr txBox="1"/>
          <p:nvPr/>
        </p:nvSpPr>
        <p:spPr>
          <a:xfrm>
            <a:off x="7790688" y="1801368"/>
            <a:ext cx="822960" cy="329184"/>
          </a:xfrm>
          <a:prstGeom prst="rect">
            <a:avLst/>
          </a:prstGeom>
          <a:noFill/>
          <a:ln/>
        </p:spPr>
        <p:txBody>
          <a:bodyPr wrap="square" lIns="0" tIns="0" rIns="0" bIns="0" rtlCol="0" anchor="ctr"/>
          <a:lstStyle/>
          <a:p>
            <a:pPr indent="0" marL="0">
              <a:buNone/>
            </a:pPr>
            <a:r>
              <a:rPr lang="en-US" sz="1800" b="1" dirty="0">
                <a:solidFill>
                  <a:schemeClr val="bg1"/>
                </a:solidFill>
              </a:rPr>
              <a:t>Li</a:t>
            </a:r>
            <a:pPr indent="0" marL="0">
              <a:buNone/>
            </a:pPr>
            <a:r>
              <a:rPr lang="en-US" sz="1800" b="1" baseline="30000" dirty="0">
                <a:solidFill>
                  <a:schemeClr val="bg1"/>
                </a:solidFill>
              </a:rPr>
              <a:t>+</a:t>
            </a:r>
            <a:endParaRPr lang="en-US" sz="1800" dirty="0"/>
          </a:p>
        </p:txBody>
      </p:sp>
      <p:sp>
        <p:nvSpPr>
          <p:cNvPr id="125" name="Text 123"/>
          <p:cNvSpPr txBox="1"/>
          <p:nvPr/>
        </p:nvSpPr>
        <p:spPr>
          <a:xfrm>
            <a:off x="7790688" y="2130552"/>
            <a:ext cx="868680" cy="237744"/>
          </a:xfrm>
          <a:prstGeom prst="rect">
            <a:avLst/>
          </a:prstGeom>
          <a:noFill/>
          <a:ln/>
        </p:spPr>
        <p:txBody>
          <a:bodyPr wrap="square" lIns="0" tIns="0" rIns="0" bIns="0" rtlCol="0" anchor="t"/>
          <a:lstStyle/>
          <a:p>
            <a:pPr indent="0" marL="0">
              <a:buNone/>
            </a:pPr>
            <a:r>
              <a:rPr lang="en-US" sz="1000" dirty="0">
                <a:solidFill>
                  <a:schemeClr val="bg2"/>
                </a:solidFill>
              </a:rPr>
              <a:t>lithium ion</a:t>
            </a:r>
            <a:endParaRPr lang="en-US" sz="1000" dirty="0"/>
          </a:p>
        </p:txBody>
      </p:sp>
      <p:sp>
        <p:nvSpPr>
          <p:cNvPr id="126" name="lithium ion: shell 1"/>
          <p:cNvSpPr/>
          <p:nvPr/>
        </p:nvSpPr>
        <p:spPr>
          <a:xfrm>
            <a:off x="7613294" y="2894990"/>
            <a:ext cx="555955" cy="555955"/>
          </a:xfrm>
          <a:prstGeom prst="ellipse">
            <a:avLst/>
          </a:prstGeom>
          <a:solidFill>
            <a:schemeClr val="bg1">
              <a:alpha val="0"/>
            </a:schemeClr>
          </a:solidFill>
          <a:ln w="15875">
            <a:solidFill>
              <a:schemeClr val="bg2">
                <a:alpha val="55000"/>
              </a:schemeClr>
            </a:solidFill>
            <a:prstDash val="solid"/>
          </a:ln>
        </p:spPr>
      </p:sp>
      <p:sp>
        <p:nvSpPr>
          <p:cNvPr id="127" name="lithium ion: nucleus"/>
          <p:cNvSpPr/>
          <p:nvPr/>
        </p:nvSpPr>
        <p:spPr>
          <a:xfrm>
            <a:off x="7711745" y="2993441"/>
            <a:ext cx="359054" cy="359054"/>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600" b="1" dirty="0">
                <a:solidFill>
                  <a:schemeClr val="bg1"/>
                </a:solidFill>
              </a:rPr>
              <a:t>3 p</a:t>
            </a:r>
            <a:pPr algn="ctr" indent="0" marL="0">
              <a:buNone/>
            </a:pPr>
            <a:r>
              <a:rPr lang="en-US" sz="600" b="1" baseline="30000" dirty="0">
                <a:solidFill>
                  <a:schemeClr val="bg1"/>
                </a:solidFill>
              </a:rPr>
              <a:t>+</a:t>
            </a:r>
            <a:endParaRPr lang="en-US" sz="600" dirty="0"/>
          </a:p>
          <a:p>
            <a:pPr algn="ctr" indent="0" marL="0">
              <a:buNone/>
            </a:pPr>
            <a:r>
              <a:rPr lang="en-US" sz="600" b="1" dirty="0">
                <a:solidFill>
                  <a:schemeClr val="bg1"/>
                </a:solidFill>
              </a:rPr>
              <a:t>4 n</a:t>
            </a:r>
            <a:pPr algn="ctr" indent="0" marL="0">
              <a:buNone/>
            </a:pPr>
            <a:r>
              <a:rPr lang="en-US" sz="600" b="1" baseline="30000" dirty="0">
                <a:solidFill>
                  <a:schemeClr val="bg1"/>
                </a:solidFill>
              </a:rPr>
              <a:t>0</a:t>
            </a:r>
            <a:endParaRPr lang="en-US" sz="600" dirty="0"/>
          </a:p>
        </p:txBody>
      </p:sp>
      <p:sp>
        <p:nvSpPr>
          <p:cNvPr id="128" name="lithium ion: electron, shell 1"/>
          <p:cNvSpPr/>
          <p:nvPr/>
        </p:nvSpPr>
        <p:spPr>
          <a:xfrm>
            <a:off x="7847838" y="2851556"/>
            <a:ext cx="86868" cy="86868"/>
          </a:xfrm>
          <a:prstGeom prst="ellipse">
            <a:avLst/>
          </a:prstGeom>
          <a:solidFill>
            <a:schemeClr val="accent1"/>
          </a:solidFill>
          <a:ln w="3175">
            <a:solidFill>
              <a:schemeClr val="accent1"/>
            </a:solidFill>
            <a:prstDash val="solid"/>
          </a:ln>
        </p:spPr>
      </p:sp>
      <p:sp>
        <p:nvSpPr>
          <p:cNvPr id="129" name="lithium ion: electron, shell 1"/>
          <p:cNvSpPr/>
          <p:nvPr/>
        </p:nvSpPr>
        <p:spPr>
          <a:xfrm>
            <a:off x="8125816" y="3129534"/>
            <a:ext cx="86868" cy="86868"/>
          </a:xfrm>
          <a:prstGeom prst="ellipse">
            <a:avLst/>
          </a:prstGeom>
          <a:solidFill>
            <a:schemeClr val="accent1"/>
          </a:solidFill>
          <a:ln w="3175">
            <a:solidFill>
              <a:schemeClr val="accent1"/>
            </a:solidFill>
            <a:prstDash val="solid"/>
          </a:ln>
        </p:spPr>
      </p:sp>
      <p:sp>
        <p:nvSpPr>
          <p:cNvPr id="130" name="lithium ion: left bracket"/>
          <p:cNvSpPr/>
          <p:nvPr/>
        </p:nvSpPr>
        <p:spPr>
          <a:xfrm>
            <a:off x="7520635" y="2802331"/>
            <a:ext cx="81077" cy="741274"/>
          </a:xfrm>
          <a:prstGeom prst="leftBracket">
            <a:avLst/>
          </a:prstGeom>
          <a:noFill/>
          <a:ln w="15875">
            <a:solidFill>
              <a:schemeClr val="bg1"/>
            </a:solidFill>
            <a:prstDash val="solid"/>
          </a:ln>
        </p:spPr>
      </p:sp>
      <p:sp>
        <p:nvSpPr>
          <p:cNvPr id="131" name="lithium ion: right bracket"/>
          <p:cNvSpPr/>
          <p:nvPr/>
        </p:nvSpPr>
        <p:spPr>
          <a:xfrm>
            <a:off x="8180832" y="2802331"/>
            <a:ext cx="81077" cy="741274"/>
          </a:xfrm>
          <a:prstGeom prst="rightBracket">
            <a:avLst/>
          </a:prstGeom>
          <a:noFill/>
          <a:ln w="15875">
            <a:solidFill>
              <a:schemeClr val="bg1"/>
            </a:solidFill>
            <a:prstDash val="solid"/>
          </a:ln>
        </p:spPr>
      </p:sp>
      <p:sp>
        <p:nvSpPr>
          <p:cNvPr id="132" name="lithium ion: charge"/>
          <p:cNvSpPr txBox="1"/>
          <p:nvPr/>
        </p:nvSpPr>
        <p:spPr>
          <a:xfrm>
            <a:off x="8280197" y="2725496"/>
            <a:ext cx="223520" cy="167640"/>
          </a:xfrm>
          <a:prstGeom prst="rect">
            <a:avLst/>
          </a:prstGeom>
          <a:noFill/>
          <a:ln/>
        </p:spPr>
        <p:txBody>
          <a:bodyPr wrap="square" lIns="0" tIns="0" rIns="0" bIns="0" rtlCol="0" anchor="t"/>
          <a:lstStyle/>
          <a:p>
            <a:pPr indent="0" marL="0">
              <a:buNone/>
            </a:pPr>
            <a:r>
              <a:rPr lang="en-US" sz="1100" b="1" dirty="0">
                <a:solidFill>
                  <a:schemeClr val="bg1"/>
                </a:solidFill>
              </a:rPr>
              <a:t>+</a:t>
            </a:r>
            <a:endParaRPr lang="en-US" sz="1100" dirty="0"/>
          </a:p>
        </p:txBody>
      </p:sp>
      <p:sp>
        <p:nvSpPr>
          <p:cNvPr id="133" name="Text 131"/>
          <p:cNvSpPr txBox="1"/>
          <p:nvPr/>
        </p:nvSpPr>
        <p:spPr>
          <a:xfrm>
            <a:off x="7159752" y="3931920"/>
            <a:ext cx="1463040" cy="548640"/>
          </a:xfrm>
          <a:prstGeom prst="rect">
            <a:avLst/>
          </a:prstGeom>
          <a:noFill/>
          <a:ln/>
        </p:spPr>
        <p:txBody>
          <a:bodyPr wrap="square" lIns="0" tIns="0" rIns="0" bIns="0" rtlCol="0" anchor="ctr"/>
          <a:lstStyle/>
          <a:p>
            <a:pPr algn="ctr" indent="0" marL="0">
              <a:buNone/>
            </a:pPr>
            <a:r>
              <a:rPr lang="en-US" sz="1100" b="1" dirty="0">
                <a:solidFill>
                  <a:schemeClr val="bg1"/>
                </a:solidFill>
              </a:rPr>
              <a:t>3 p</a:t>
            </a:r>
            <a:pPr algn="ctr" indent="0" marL="0">
              <a:buNone/>
            </a:pPr>
            <a:r>
              <a:rPr lang="en-US" sz="1100" b="1" baseline="30000" dirty="0">
                <a:solidFill>
                  <a:schemeClr val="bg1"/>
                </a:solidFill>
              </a:rPr>
              <a:t>+</a:t>
            </a:r>
            <a:pPr algn="ctr" indent="0" marL="0">
              <a:buNone/>
            </a:pPr>
            <a:r>
              <a:rPr lang="en-US" sz="1100" b="1" dirty="0">
                <a:solidFill>
                  <a:schemeClr val="bg1"/>
                </a:solidFill>
              </a:rPr>
              <a:t>   4 n</a:t>
            </a:r>
            <a:pPr algn="ctr" indent="0" marL="0">
              <a:buNone/>
            </a:pPr>
            <a:r>
              <a:rPr lang="en-US" sz="1100" b="1" baseline="30000" dirty="0">
                <a:solidFill>
                  <a:schemeClr val="bg1"/>
                </a:solidFill>
              </a:rPr>
              <a:t>0</a:t>
            </a:r>
            <a:pPr algn="ctr" indent="0" marL="0">
              <a:buNone/>
            </a:pPr>
            <a:endParaRPr lang="en-US" sz="1100" dirty="0"/>
          </a:p>
          <a:p>
            <a:pPr algn="ctr" indent="0" marL="0">
              <a:buNone/>
            </a:pPr>
            <a:r>
              <a:rPr lang="en-US" sz="1100" b="1" dirty="0">
                <a:solidFill>
                  <a:schemeClr val="accent1"/>
                </a:solidFill>
              </a:rPr>
              <a:t>2</a:t>
            </a:r>
            <a:endParaRPr lang="en-US" sz="11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ection tile 6"/>
          <p:cNvSpPr/>
          <p:nvPr/>
        </p:nvSpPr>
        <p:spPr>
          <a:xfrm>
            <a:off x="457200" y="301752"/>
            <a:ext cx="749808" cy="841248"/>
          </a:xfrm>
          <a:prstGeom prst="roundRect">
            <a:avLst>
              <a:gd name="adj" fmla="val 12000"/>
            </a:avLst>
          </a:prstGeom>
          <a:solidFill>
            <a:srgbClr val="F472B6">
              <a:alpha val="28000"/>
            </a:srgbClr>
          </a:solidFill>
          <a:ln w="19050">
            <a:solidFill>
              <a:srgbClr val="F472B6"/>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6</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2400" b="1" dirty="0">
                <a:solidFill>
                  <a:schemeClr val="bg1"/>
                </a:solidFill>
              </a:rPr>
              <a:t>S</a:t>
            </a:r>
            <a:pPr algn="ctr" indent="0" marL="0">
              <a:buNone/>
            </a:pPr>
            <a:r>
              <a:rPr lang="en-US" sz="2400" b="1" baseline="30000" dirty="0">
                <a:solidFill>
                  <a:schemeClr val="bg1"/>
                </a:solidFill>
              </a:rPr>
              <a:t>2−</a:t>
            </a:r>
            <a:endParaRPr lang="en-US" sz="2400" dirty="0"/>
          </a:p>
        </p:txBody>
      </p:sp>
      <p:sp>
        <p:nvSpPr>
          <p:cNvPr id="5" name="Text 3"/>
          <p:cNvSpPr/>
          <p:nvPr/>
        </p:nvSpPr>
        <p:spPr>
          <a:xfrm>
            <a:off x="1417320" y="31089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6" name="Text 4"/>
          <p:cNvSpPr txBox="1"/>
          <p:nvPr/>
        </p:nvSpPr>
        <p:spPr>
          <a:xfrm>
            <a:off x="260604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6 of 9</a:t>
            </a:r>
            <a:endParaRPr lang="en-US" sz="1200" dirty="0"/>
          </a:p>
        </p:txBody>
      </p:sp>
      <p:sp>
        <p:nvSpPr>
          <p:cNvPr id="7" name="Text 0"/>
          <p:cNvSpPr/>
          <p:nvPr>
            <p:ph idx="100" type="title" hasCustomPrompt="1"/>
          </p:nvPr>
        </p:nvSpPr>
        <p:spPr>
          <a:xfrm>
            <a:off x="1417320" y="658368"/>
            <a:ext cx="7269480" cy="841248"/>
          </a:xfrm>
          <a:prstGeom prst="rect">
            <a:avLst/>
          </a:prstGeom>
          <a:noFill/>
          <a:ln/>
        </p:spPr>
        <p:txBody>
          <a:bodyPr wrap="square" lIns="0" tIns="0" rIns="0" bIns="0" rtlCol="0" anchor="t"/>
          <a:lstStyle/>
          <a:p>
            <a:pPr algn="l" indent="0" marL="0">
              <a:buNone/>
            </a:pPr>
            <a:r>
              <a:rPr lang="en-US" sz="2000" b="1" dirty="0">
                <a:solidFill>
                  <a:schemeClr val="bg1"/>
                </a:solidFill>
              </a:rPr>
              <a:t>How many shells does the Bohr model of </a:t>
            </a:r>
            <a:pPr algn="l" indent="0" marL="0">
              <a:buNone/>
            </a:pPr>
            <a:r>
              <a:rPr lang="en-US" sz="2000" b="1" dirty="0">
                <a:solidFill>
                  <a:schemeClr val="bg1"/>
                </a:solidFill>
              </a:rPr>
              <a:t>Mg</a:t>
            </a:r>
            <a:pPr algn="l" indent="0" marL="0">
              <a:buNone/>
            </a:pPr>
            <a:r>
              <a:rPr lang="en-US" sz="2000" b="1" baseline="30000" dirty="0">
                <a:solidFill>
                  <a:schemeClr val="bg1"/>
                </a:solidFill>
              </a:rPr>
              <a:t>2+</a:t>
            </a:r>
            <a:pPr algn="l" indent="0" marL="0">
              <a:buNone/>
            </a:pPr>
            <a:r>
              <a:rPr lang="en-US" sz="2000" b="1" dirty="0">
                <a:solidFill>
                  <a:schemeClr val="bg1"/>
                </a:solidFill>
              </a:rPr>
              <a:t> have?</a:t>
            </a:r>
            <a:endParaRPr lang="en-US" sz="2000" dirty="0"/>
          </a:p>
        </p:txBody>
      </p:sp>
      <p:sp>
        <p:nvSpPr>
          <p:cNvPr id="8" name="Option A"/>
          <p:cNvSpPr/>
          <p:nvPr/>
        </p:nvSpPr>
        <p:spPr>
          <a:xfrm>
            <a:off x="457200" y="1645920"/>
            <a:ext cx="8229600" cy="457200"/>
          </a:xfrm>
          <a:prstGeom prst="roundRect">
            <a:avLst>
              <a:gd name="adj" fmla="val 18000"/>
            </a:avLst>
          </a:prstGeom>
          <a:solidFill>
            <a:schemeClr val="tx2"/>
          </a:solidFill>
          <a:ln w="9525">
            <a:solidFill>
              <a:schemeClr val="bg2">
                <a:alpha val="35000"/>
              </a:schemeClr>
            </a:solidFill>
            <a:prstDash val="solid"/>
          </a:ln>
        </p:spPr>
      </p:sp>
      <p:sp>
        <p:nvSpPr>
          <p:cNvPr id="9" name="Text 7"/>
          <p:cNvSpPr/>
          <p:nvPr/>
        </p:nvSpPr>
        <p:spPr>
          <a:xfrm>
            <a:off x="548640" y="1719072"/>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10" name="Text 8"/>
          <p:cNvSpPr txBox="1"/>
          <p:nvPr/>
        </p:nvSpPr>
        <p:spPr>
          <a:xfrm>
            <a:off x="969264" y="1645920"/>
            <a:ext cx="7626096" cy="457200"/>
          </a:xfrm>
          <a:prstGeom prst="rect">
            <a:avLst/>
          </a:prstGeom>
          <a:noFill/>
          <a:ln/>
        </p:spPr>
        <p:txBody>
          <a:bodyPr wrap="square" lIns="0" tIns="0" rIns="0" bIns="0" rtlCol="0" anchor="ctr"/>
          <a:lstStyle/>
          <a:p>
            <a:pPr indent="0" marL="0">
              <a:buNone/>
            </a:pPr>
            <a:r>
              <a:rPr lang="en-US" sz="1600" dirty="0">
                <a:solidFill>
                  <a:schemeClr val="bg1"/>
                </a:solidFill>
              </a:rPr>
              <a:t>1</a:t>
            </a:r>
            <a:endParaRPr lang="en-US" sz="1600" dirty="0"/>
          </a:p>
        </p:txBody>
      </p:sp>
      <p:sp>
        <p:nvSpPr>
          <p:cNvPr id="11" name="Option B"/>
          <p:cNvSpPr/>
          <p:nvPr/>
        </p:nvSpPr>
        <p:spPr>
          <a:xfrm>
            <a:off x="457200" y="2231136"/>
            <a:ext cx="8229600" cy="457200"/>
          </a:xfrm>
          <a:prstGeom prst="roundRect">
            <a:avLst>
              <a:gd name="adj" fmla="val 18000"/>
            </a:avLst>
          </a:prstGeom>
          <a:solidFill>
            <a:schemeClr val="tx2"/>
          </a:solidFill>
          <a:ln w="9525">
            <a:solidFill>
              <a:schemeClr val="bg2">
                <a:alpha val="35000"/>
              </a:schemeClr>
            </a:solidFill>
            <a:prstDash val="solid"/>
          </a:ln>
        </p:spPr>
      </p:sp>
      <p:sp>
        <p:nvSpPr>
          <p:cNvPr id="12" name="Text 10"/>
          <p:cNvSpPr/>
          <p:nvPr/>
        </p:nvSpPr>
        <p:spPr>
          <a:xfrm>
            <a:off x="548640" y="2304288"/>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13" name="Text 11"/>
          <p:cNvSpPr txBox="1"/>
          <p:nvPr/>
        </p:nvSpPr>
        <p:spPr>
          <a:xfrm>
            <a:off x="969264" y="2231136"/>
            <a:ext cx="7626096" cy="457200"/>
          </a:xfrm>
          <a:prstGeom prst="rect">
            <a:avLst/>
          </a:prstGeom>
          <a:noFill/>
          <a:ln/>
        </p:spPr>
        <p:txBody>
          <a:bodyPr wrap="square" lIns="0" tIns="0" rIns="0" bIns="0" rtlCol="0" anchor="ctr"/>
          <a:lstStyle/>
          <a:p>
            <a:pPr indent="0" marL="0">
              <a:buNone/>
            </a:pPr>
            <a:r>
              <a:rPr lang="en-US" sz="1600" dirty="0">
                <a:solidFill>
                  <a:schemeClr val="bg1"/>
                </a:solidFill>
              </a:rPr>
              <a:t>2</a:t>
            </a:r>
            <a:endParaRPr lang="en-US" sz="1600" dirty="0"/>
          </a:p>
        </p:txBody>
      </p:sp>
      <p:sp>
        <p:nvSpPr>
          <p:cNvPr id="14" name="Option C"/>
          <p:cNvSpPr/>
          <p:nvPr/>
        </p:nvSpPr>
        <p:spPr>
          <a:xfrm>
            <a:off x="457200" y="2816352"/>
            <a:ext cx="8229600" cy="457200"/>
          </a:xfrm>
          <a:prstGeom prst="roundRect">
            <a:avLst>
              <a:gd name="adj" fmla="val 18000"/>
            </a:avLst>
          </a:prstGeom>
          <a:solidFill>
            <a:schemeClr val="tx2"/>
          </a:solidFill>
          <a:ln w="9525">
            <a:solidFill>
              <a:schemeClr val="bg2">
                <a:alpha val="35000"/>
              </a:schemeClr>
            </a:solidFill>
            <a:prstDash val="solid"/>
          </a:ln>
        </p:spPr>
      </p:sp>
      <p:sp>
        <p:nvSpPr>
          <p:cNvPr id="15" name="Text 13"/>
          <p:cNvSpPr/>
          <p:nvPr/>
        </p:nvSpPr>
        <p:spPr>
          <a:xfrm>
            <a:off x="548640" y="2889504"/>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6" name="Text 14"/>
          <p:cNvSpPr txBox="1"/>
          <p:nvPr/>
        </p:nvSpPr>
        <p:spPr>
          <a:xfrm>
            <a:off x="969264" y="2816352"/>
            <a:ext cx="7626096" cy="457200"/>
          </a:xfrm>
          <a:prstGeom prst="rect">
            <a:avLst/>
          </a:prstGeom>
          <a:noFill/>
          <a:ln/>
        </p:spPr>
        <p:txBody>
          <a:bodyPr wrap="square" lIns="0" tIns="0" rIns="0" bIns="0" rtlCol="0" anchor="ctr"/>
          <a:lstStyle/>
          <a:p>
            <a:pPr indent="0" marL="0">
              <a:buNone/>
            </a:pPr>
            <a:r>
              <a:rPr lang="en-US" sz="1600" dirty="0">
                <a:solidFill>
                  <a:schemeClr val="bg1"/>
                </a:solidFill>
              </a:rPr>
              <a:t>3</a:t>
            </a:r>
            <a:endParaRPr lang="en-US" sz="1600" dirty="0"/>
          </a:p>
        </p:txBody>
      </p:sp>
      <p:sp>
        <p:nvSpPr>
          <p:cNvPr id="17" name="Option D"/>
          <p:cNvSpPr/>
          <p:nvPr/>
        </p:nvSpPr>
        <p:spPr>
          <a:xfrm>
            <a:off x="457200" y="3401568"/>
            <a:ext cx="8229600" cy="457200"/>
          </a:xfrm>
          <a:prstGeom prst="roundRect">
            <a:avLst>
              <a:gd name="adj" fmla="val 18000"/>
            </a:avLst>
          </a:prstGeom>
          <a:solidFill>
            <a:schemeClr val="tx2"/>
          </a:solidFill>
          <a:ln w="9525">
            <a:solidFill>
              <a:schemeClr val="bg2">
                <a:alpha val="35000"/>
              </a:schemeClr>
            </a:solidFill>
            <a:prstDash val="solid"/>
          </a:ln>
        </p:spPr>
      </p:sp>
      <p:sp>
        <p:nvSpPr>
          <p:cNvPr id="18" name="Text 16"/>
          <p:cNvSpPr/>
          <p:nvPr/>
        </p:nvSpPr>
        <p:spPr>
          <a:xfrm>
            <a:off x="548640" y="3474720"/>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19" name="Text 17"/>
          <p:cNvSpPr txBox="1"/>
          <p:nvPr/>
        </p:nvSpPr>
        <p:spPr>
          <a:xfrm>
            <a:off x="969264" y="3401568"/>
            <a:ext cx="7626096" cy="457200"/>
          </a:xfrm>
          <a:prstGeom prst="rect">
            <a:avLst/>
          </a:prstGeom>
          <a:noFill/>
          <a:ln/>
        </p:spPr>
        <p:txBody>
          <a:bodyPr wrap="square" lIns="0" tIns="0" rIns="0" bIns="0" rtlCol="0" anchor="ctr"/>
          <a:lstStyle/>
          <a:p>
            <a:pPr indent="0" marL="0">
              <a:buNone/>
            </a:pPr>
            <a:r>
              <a:rPr lang="en-US" sz="1600" dirty="0">
                <a:solidFill>
                  <a:schemeClr val="bg1"/>
                </a:solidFill>
              </a:rPr>
              <a:t>4</a:t>
            </a:r>
            <a:endParaRPr lang="en-US" sz="16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ection tile 6"/>
          <p:cNvSpPr/>
          <p:nvPr/>
        </p:nvSpPr>
        <p:spPr>
          <a:xfrm>
            <a:off x="457200" y="301752"/>
            <a:ext cx="749808" cy="841248"/>
          </a:xfrm>
          <a:prstGeom prst="roundRect">
            <a:avLst>
              <a:gd name="adj" fmla="val 12000"/>
            </a:avLst>
          </a:prstGeom>
          <a:solidFill>
            <a:srgbClr val="F472B6">
              <a:alpha val="28000"/>
            </a:srgbClr>
          </a:solidFill>
          <a:ln w="19050">
            <a:solidFill>
              <a:srgbClr val="F472B6"/>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6</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2400" b="1" dirty="0">
                <a:solidFill>
                  <a:schemeClr val="bg1"/>
                </a:solidFill>
              </a:rPr>
              <a:t>S</a:t>
            </a:r>
            <a:pPr algn="ctr" indent="0" marL="0">
              <a:buNone/>
            </a:pPr>
            <a:r>
              <a:rPr lang="en-US" sz="2400" b="1" baseline="30000" dirty="0">
                <a:solidFill>
                  <a:schemeClr val="bg1"/>
                </a:solidFill>
              </a:rPr>
              <a:t>2−</a:t>
            </a:r>
            <a:endParaRPr lang="en-US" sz="2400" dirty="0"/>
          </a:p>
        </p:txBody>
      </p:sp>
      <p:sp>
        <p:nvSpPr>
          <p:cNvPr id="5" name="Text 3"/>
          <p:cNvSpPr/>
          <p:nvPr/>
        </p:nvSpPr>
        <p:spPr>
          <a:xfrm>
            <a:off x="1417320" y="31089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6" name="Text 4"/>
          <p:cNvSpPr/>
          <p:nvPr/>
        </p:nvSpPr>
        <p:spPr>
          <a:xfrm>
            <a:off x="256032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7" name="Text 5"/>
          <p:cNvSpPr txBox="1"/>
          <p:nvPr/>
        </p:nvSpPr>
        <p:spPr>
          <a:xfrm>
            <a:off x="352044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6 of 9</a:t>
            </a:r>
            <a:endParaRPr lang="en-US" sz="1200" dirty="0"/>
          </a:p>
        </p:txBody>
      </p:sp>
      <p:sp>
        <p:nvSpPr>
          <p:cNvPr id="8" name="Text 0"/>
          <p:cNvSpPr/>
          <p:nvPr>
            <p:ph idx="100" type="title" hasCustomPrompt="1"/>
          </p:nvPr>
        </p:nvSpPr>
        <p:spPr>
          <a:xfrm>
            <a:off x="1417320" y="658368"/>
            <a:ext cx="7269480" cy="841248"/>
          </a:xfrm>
          <a:prstGeom prst="rect">
            <a:avLst/>
          </a:prstGeom>
          <a:noFill/>
          <a:ln/>
        </p:spPr>
        <p:txBody>
          <a:bodyPr wrap="square" lIns="0" tIns="0" rIns="0" bIns="0" rtlCol="0" anchor="t"/>
          <a:lstStyle/>
          <a:p>
            <a:pPr algn="l" indent="0" marL="0">
              <a:buNone/>
            </a:pPr>
            <a:r>
              <a:rPr lang="en-US" sz="2000" b="1" dirty="0">
                <a:solidFill>
                  <a:schemeClr val="bg1"/>
                </a:solidFill>
              </a:rPr>
              <a:t>How many shells does the Bohr model of </a:t>
            </a:r>
            <a:pPr algn="l" indent="0" marL="0">
              <a:buNone/>
            </a:pPr>
            <a:r>
              <a:rPr lang="en-US" sz="2000" b="1" dirty="0">
                <a:solidFill>
                  <a:schemeClr val="bg1"/>
                </a:solidFill>
              </a:rPr>
              <a:t>Mg</a:t>
            </a:r>
            <a:pPr algn="l" indent="0" marL="0">
              <a:buNone/>
            </a:pPr>
            <a:r>
              <a:rPr lang="en-US" sz="2000" b="1" baseline="30000" dirty="0">
                <a:solidFill>
                  <a:schemeClr val="bg1"/>
                </a:solidFill>
              </a:rPr>
              <a:t>2+</a:t>
            </a:r>
            <a:pPr algn="l" indent="0" marL="0">
              <a:buNone/>
            </a:pPr>
            <a:r>
              <a:rPr lang="en-US" sz="2000" b="1" dirty="0">
                <a:solidFill>
                  <a:schemeClr val="bg1"/>
                </a:solidFill>
              </a:rPr>
              <a:t> have?</a:t>
            </a:r>
            <a:endParaRPr lang="en-US" sz="2000" dirty="0"/>
          </a:p>
        </p:txBody>
      </p:sp>
      <p:sp>
        <p:nvSpPr>
          <p:cNvPr id="9" name="Option A"/>
          <p:cNvSpPr/>
          <p:nvPr/>
        </p:nvSpPr>
        <p:spPr>
          <a:xfrm>
            <a:off x="457200" y="1645920"/>
            <a:ext cx="8229600" cy="457200"/>
          </a:xfrm>
          <a:prstGeom prst="roundRect">
            <a:avLst>
              <a:gd name="adj" fmla="val 18000"/>
            </a:avLst>
          </a:prstGeom>
          <a:solidFill>
            <a:schemeClr val="tx2"/>
          </a:solidFill>
          <a:ln w="9525">
            <a:solidFill>
              <a:schemeClr val="bg2">
                <a:alpha val="35000"/>
              </a:schemeClr>
            </a:solidFill>
            <a:prstDash val="solid"/>
          </a:ln>
        </p:spPr>
      </p:sp>
      <p:sp>
        <p:nvSpPr>
          <p:cNvPr id="10" name="Text 8"/>
          <p:cNvSpPr/>
          <p:nvPr/>
        </p:nvSpPr>
        <p:spPr>
          <a:xfrm>
            <a:off x="548640" y="1719072"/>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11" name="Text 9"/>
          <p:cNvSpPr txBox="1"/>
          <p:nvPr/>
        </p:nvSpPr>
        <p:spPr>
          <a:xfrm>
            <a:off x="969264" y="1645920"/>
            <a:ext cx="7626096" cy="457200"/>
          </a:xfrm>
          <a:prstGeom prst="rect">
            <a:avLst/>
          </a:prstGeom>
          <a:noFill/>
          <a:ln/>
        </p:spPr>
        <p:txBody>
          <a:bodyPr wrap="square" lIns="0" tIns="0" rIns="0" bIns="0" rtlCol="0" anchor="ctr"/>
          <a:lstStyle/>
          <a:p>
            <a:pPr indent="0" marL="0">
              <a:buNone/>
            </a:pPr>
            <a:r>
              <a:rPr lang="en-US" sz="1600" dirty="0">
                <a:solidFill>
                  <a:schemeClr val="bg2"/>
                </a:solidFill>
              </a:rPr>
              <a:t>1</a:t>
            </a:r>
            <a:endParaRPr lang="en-US" sz="1600" dirty="0"/>
          </a:p>
        </p:txBody>
      </p:sp>
      <p:sp>
        <p:nvSpPr>
          <p:cNvPr id="12" name="Option B"/>
          <p:cNvSpPr/>
          <p:nvPr/>
        </p:nvSpPr>
        <p:spPr>
          <a:xfrm>
            <a:off x="457200" y="2231136"/>
            <a:ext cx="8229600" cy="457200"/>
          </a:xfrm>
          <a:prstGeom prst="roundRect">
            <a:avLst>
              <a:gd name="adj" fmla="val 18000"/>
            </a:avLst>
          </a:prstGeom>
          <a:solidFill>
            <a:schemeClr val="accent4">
              <a:alpha val="20000"/>
            </a:schemeClr>
          </a:solidFill>
          <a:ln w="25400">
            <a:solidFill>
              <a:schemeClr val="accent4"/>
            </a:solidFill>
            <a:prstDash val="solid"/>
          </a:ln>
        </p:spPr>
      </p:sp>
      <p:sp>
        <p:nvSpPr>
          <p:cNvPr id="13" name="Text 11"/>
          <p:cNvSpPr/>
          <p:nvPr/>
        </p:nvSpPr>
        <p:spPr>
          <a:xfrm>
            <a:off x="548640" y="2304288"/>
            <a:ext cx="310896" cy="310896"/>
          </a:xfrm>
          <a:prstGeom prst="roundRect">
            <a:avLst>
              <a:gd name="adj" fmla="val 20588"/>
            </a:avLst>
          </a:prstGeom>
          <a:solidFill>
            <a:schemeClr val="accent4"/>
          </a:solidFill>
          <a:ln w="6350">
            <a:solidFill>
              <a:schemeClr val="accent4"/>
            </a:solidFill>
          </a:ln>
        </p:spPr>
        <p:txBody>
          <a:bodyPr wrap="square" lIns="0" tIns="0" rIns="0" bIns="0" rtlCol="0" anchor="ctr"/>
          <a:lstStyle/>
          <a:p>
            <a:pPr algn="ctr" indent="0" marL="0">
              <a:buNone/>
            </a:pPr>
            <a:r>
              <a:rPr lang="en-US" sz="1300" b="1" dirty="0">
                <a:solidFill>
                  <a:schemeClr val="tx1"/>
                </a:solidFill>
              </a:rPr>
              <a:t>B</a:t>
            </a:r>
            <a:endParaRPr lang="en-US" sz="1300" dirty="0"/>
          </a:p>
        </p:txBody>
      </p:sp>
      <p:sp>
        <p:nvSpPr>
          <p:cNvPr id="14" name="Text 12"/>
          <p:cNvSpPr txBox="1"/>
          <p:nvPr/>
        </p:nvSpPr>
        <p:spPr>
          <a:xfrm>
            <a:off x="969264" y="2231136"/>
            <a:ext cx="7626096" cy="457200"/>
          </a:xfrm>
          <a:prstGeom prst="rect">
            <a:avLst/>
          </a:prstGeom>
          <a:noFill/>
          <a:ln/>
        </p:spPr>
        <p:txBody>
          <a:bodyPr wrap="square" lIns="0" tIns="0" rIns="0" bIns="0" rtlCol="0" anchor="ctr"/>
          <a:lstStyle/>
          <a:p>
            <a:pPr indent="0" marL="0">
              <a:buNone/>
            </a:pPr>
            <a:r>
              <a:rPr lang="en-US" sz="1600" b="1" dirty="0">
                <a:solidFill>
                  <a:schemeClr val="bg1"/>
                </a:solidFill>
              </a:rPr>
              <a:t>2</a:t>
            </a:r>
            <a:endParaRPr lang="en-US" sz="1600" dirty="0"/>
          </a:p>
        </p:txBody>
      </p:sp>
      <p:sp>
        <p:nvSpPr>
          <p:cNvPr id="15" name="Option C"/>
          <p:cNvSpPr/>
          <p:nvPr/>
        </p:nvSpPr>
        <p:spPr>
          <a:xfrm>
            <a:off x="457200" y="2816352"/>
            <a:ext cx="8229600" cy="457200"/>
          </a:xfrm>
          <a:prstGeom prst="roundRect">
            <a:avLst>
              <a:gd name="adj" fmla="val 18000"/>
            </a:avLst>
          </a:prstGeom>
          <a:solidFill>
            <a:schemeClr val="tx2"/>
          </a:solidFill>
          <a:ln w="9525">
            <a:solidFill>
              <a:schemeClr val="bg2">
                <a:alpha val="35000"/>
              </a:schemeClr>
            </a:solidFill>
            <a:prstDash val="solid"/>
          </a:ln>
        </p:spPr>
      </p:sp>
      <p:sp>
        <p:nvSpPr>
          <p:cNvPr id="16" name="Text 14"/>
          <p:cNvSpPr/>
          <p:nvPr/>
        </p:nvSpPr>
        <p:spPr>
          <a:xfrm>
            <a:off x="548640" y="2889504"/>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7" name="Text 15"/>
          <p:cNvSpPr txBox="1"/>
          <p:nvPr/>
        </p:nvSpPr>
        <p:spPr>
          <a:xfrm>
            <a:off x="969264" y="2816352"/>
            <a:ext cx="7626096" cy="457200"/>
          </a:xfrm>
          <a:prstGeom prst="rect">
            <a:avLst/>
          </a:prstGeom>
          <a:noFill/>
          <a:ln/>
        </p:spPr>
        <p:txBody>
          <a:bodyPr wrap="square" lIns="0" tIns="0" rIns="0" bIns="0" rtlCol="0" anchor="ctr"/>
          <a:lstStyle/>
          <a:p>
            <a:pPr indent="0" marL="0">
              <a:buNone/>
            </a:pPr>
            <a:r>
              <a:rPr lang="en-US" sz="1600" dirty="0">
                <a:solidFill>
                  <a:schemeClr val="bg2"/>
                </a:solidFill>
              </a:rPr>
              <a:t>3</a:t>
            </a:r>
            <a:endParaRPr lang="en-US" sz="1600" dirty="0"/>
          </a:p>
        </p:txBody>
      </p:sp>
      <p:sp>
        <p:nvSpPr>
          <p:cNvPr id="18" name="Option D"/>
          <p:cNvSpPr/>
          <p:nvPr/>
        </p:nvSpPr>
        <p:spPr>
          <a:xfrm>
            <a:off x="457200" y="3401568"/>
            <a:ext cx="8229600" cy="457200"/>
          </a:xfrm>
          <a:prstGeom prst="roundRect">
            <a:avLst>
              <a:gd name="adj" fmla="val 18000"/>
            </a:avLst>
          </a:prstGeom>
          <a:solidFill>
            <a:schemeClr val="tx2"/>
          </a:solidFill>
          <a:ln w="9525">
            <a:solidFill>
              <a:schemeClr val="bg2">
                <a:alpha val="35000"/>
              </a:schemeClr>
            </a:solidFill>
            <a:prstDash val="solid"/>
          </a:ln>
        </p:spPr>
      </p:sp>
      <p:sp>
        <p:nvSpPr>
          <p:cNvPr id="19" name="Text 17"/>
          <p:cNvSpPr/>
          <p:nvPr/>
        </p:nvSpPr>
        <p:spPr>
          <a:xfrm>
            <a:off x="548640" y="3474720"/>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20" name="Text 18"/>
          <p:cNvSpPr txBox="1"/>
          <p:nvPr/>
        </p:nvSpPr>
        <p:spPr>
          <a:xfrm>
            <a:off x="969264" y="3401568"/>
            <a:ext cx="7626096" cy="457200"/>
          </a:xfrm>
          <a:prstGeom prst="rect">
            <a:avLst/>
          </a:prstGeom>
          <a:noFill/>
          <a:ln/>
        </p:spPr>
        <p:txBody>
          <a:bodyPr wrap="square" lIns="0" tIns="0" rIns="0" bIns="0" rtlCol="0" anchor="ctr"/>
          <a:lstStyle/>
          <a:p>
            <a:pPr indent="0" marL="0">
              <a:buNone/>
            </a:pPr>
            <a:r>
              <a:rPr lang="en-US" sz="1600" dirty="0">
                <a:solidFill>
                  <a:schemeClr val="bg2"/>
                </a:solidFill>
              </a:rPr>
              <a:t>4</a:t>
            </a:r>
            <a:endParaRPr lang="en-US" sz="1600" dirty="0"/>
          </a:p>
        </p:txBody>
      </p:sp>
      <p:sp>
        <p:nvSpPr>
          <p:cNvPr id="21" name="Why box"/>
          <p:cNvSpPr/>
          <p:nvPr/>
        </p:nvSpPr>
        <p:spPr>
          <a:xfrm>
            <a:off x="457200" y="4114800"/>
            <a:ext cx="8229600" cy="621792"/>
          </a:xfrm>
          <a:prstGeom prst="roundRect">
            <a:avLst>
              <a:gd name="adj" fmla="val 14706"/>
            </a:avLst>
          </a:prstGeom>
          <a:solidFill>
            <a:schemeClr val="accent4">
              <a:alpha val="12000"/>
            </a:schemeClr>
          </a:solidFill>
          <a:ln w="9525">
            <a:solidFill>
              <a:schemeClr val="accent4">
                <a:alpha val="60000"/>
              </a:schemeClr>
            </a:solidFill>
            <a:prstDash val="solid"/>
          </a:ln>
        </p:spPr>
      </p:sp>
      <p:sp>
        <p:nvSpPr>
          <p:cNvPr id="22" name="Text 20"/>
          <p:cNvSpPr txBox="1"/>
          <p:nvPr/>
        </p:nvSpPr>
        <p:spPr>
          <a:xfrm>
            <a:off x="640080" y="4114800"/>
            <a:ext cx="7863840" cy="621792"/>
          </a:xfrm>
          <a:prstGeom prst="rect">
            <a:avLst/>
          </a:prstGeom>
          <a:noFill/>
          <a:ln/>
        </p:spPr>
        <p:txBody>
          <a:bodyPr wrap="square" lIns="0" tIns="0" rIns="0" bIns="0" rtlCol="0" anchor="ctr"/>
          <a:lstStyle/>
          <a:p>
            <a:pPr indent="0" marL="0">
              <a:buNone/>
            </a:pPr>
            <a:r>
              <a:rPr lang="en-US" sz="1400" b="1" dirty="0">
                <a:solidFill>
                  <a:schemeClr val="accent4"/>
                </a:solidFill>
              </a:rPr>
              <a:t>Why: </a:t>
            </a:r>
            <a:pPr indent="0" marL="0">
              <a:buNone/>
            </a:pPr>
            <a:r>
              <a:rPr lang="en-US" sz="1400" dirty="0">
                <a:solidFill>
                  <a:schemeClr val="bg1"/>
                </a:solidFill>
              </a:rPr>
              <a:t>Magnesium (2, 8, 2) loses its 2 outer electrons. The empty third shell isn't drawn, so Mg²⁺ has 2 shells: 2, 8.</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ection tile 7"/>
          <p:cNvSpPr/>
          <p:nvPr/>
        </p:nvSpPr>
        <p:spPr>
          <a:xfrm>
            <a:off x="457200" y="301752"/>
            <a:ext cx="749808" cy="841248"/>
          </a:xfrm>
          <a:prstGeom prst="roundRect">
            <a:avLst>
              <a:gd name="adj" fmla="val 12000"/>
            </a:avLst>
          </a:prstGeom>
          <a:solidFill>
            <a:srgbClr val="60A5FA">
              <a:alpha val="28000"/>
            </a:srgbClr>
          </a:solidFill>
          <a:ln w="19050">
            <a:solidFill>
              <a:srgbClr val="60A5FA"/>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7</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2400" b="1" dirty="0">
                <a:solidFill>
                  <a:schemeClr val="bg1"/>
                </a:solidFill>
              </a:rPr>
              <a:t>K</a:t>
            </a:r>
            <a:pPr algn="ctr" indent="0" marL="0">
              <a:buNone/>
            </a:pPr>
            <a:r>
              <a:rPr lang="en-US" sz="2400" b="1" baseline="30000" dirty="0">
                <a:solidFill>
                  <a:schemeClr val="bg1"/>
                </a:solidFill>
              </a:rPr>
              <a:t>+</a:t>
            </a:r>
            <a:endParaRPr lang="en-US" sz="2400" dirty="0"/>
          </a:p>
        </p:txBody>
      </p:sp>
      <p:sp>
        <p:nvSpPr>
          <p:cNvPr id="5" name="Text 0"/>
          <p:cNvSpPr/>
          <p:nvPr>
            <p:ph idx="100" type="body" hasCustomPrompt="1"/>
          </p:nvPr>
        </p:nvSpPr>
        <p:spPr>
          <a:xfrm>
            <a:off x="1417320" y="329184"/>
            <a:ext cx="7223760" cy="256032"/>
          </a:xfrm>
          <a:prstGeom prst="rect">
            <a:avLst/>
          </a:prstGeom>
          <a:noFill/>
          <a:ln/>
        </p:spPr>
        <p:txBody>
          <a:bodyPr wrap="square" lIns="0" tIns="0" rIns="0" bIns="0" rtlCol="0" anchor="ctr"/>
          <a:lstStyle/>
          <a:p>
            <a:pPr algn="l" indent="0" marL="0">
              <a:buNone/>
            </a:pPr>
            <a:r>
              <a:rPr lang="en-US" sz="1200" dirty="0">
                <a:solidFill>
                  <a:schemeClr val="bg2"/>
                </a:solidFill>
              </a:rPr>
              <a:t>Section 7 of 9 · about 7 min</a:t>
            </a:r>
            <a:endParaRPr lang="en-US" sz="1200" dirty="0"/>
          </a:p>
        </p:txBody>
      </p:sp>
      <p:sp>
        <p:nvSpPr>
          <p:cNvPr id="6" name="Text 0"/>
          <p:cNvSpPr/>
          <p:nvPr>
            <p:ph idx="101" type="title" hasCustomPrompt="1"/>
          </p:nvPr>
        </p:nvSpPr>
        <p:spPr>
          <a:xfrm>
            <a:off x="1417320" y="603504"/>
            <a:ext cx="7223760" cy="530352"/>
          </a:xfrm>
          <a:prstGeom prst="rect">
            <a:avLst/>
          </a:prstGeom>
          <a:noFill/>
          <a:ln/>
        </p:spPr>
        <p:txBody>
          <a:bodyPr wrap="square" lIns="0" tIns="0" rIns="0" bIns="0" rtlCol="0" anchor="ctr"/>
          <a:lstStyle/>
          <a:p>
            <a:pPr algn="l" indent="0" marL="0">
              <a:buNone/>
            </a:pPr>
            <a:r>
              <a:rPr lang="en-US" sz="3000" b="1" dirty="0">
                <a:solidFill>
                  <a:schemeClr val="bg1"/>
                </a:solidFill>
              </a:rPr>
              <a:t>Practice: ions and noble gases</a:t>
            </a:r>
            <a:endParaRPr lang="en-US" sz="3000" dirty="0"/>
          </a:p>
        </p:txBody>
      </p:sp>
      <p:sp>
        <p:nvSpPr>
          <p:cNvPr id="7" name="In this section"/>
          <p:cNvSpPr/>
          <p:nvPr/>
        </p:nvSpPr>
        <p:spPr>
          <a:xfrm>
            <a:off x="45720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8" name="Text 6"/>
          <p:cNvSpPr txBox="1"/>
          <p:nvPr/>
        </p:nvSpPr>
        <p:spPr>
          <a:xfrm>
            <a:off x="685800" y="1536192"/>
            <a:ext cx="3566160" cy="292608"/>
          </a:xfrm>
          <a:prstGeom prst="rect">
            <a:avLst/>
          </a:prstGeom>
          <a:noFill/>
          <a:ln/>
        </p:spPr>
        <p:txBody>
          <a:bodyPr wrap="square" lIns="0" tIns="0" rIns="0" bIns="0" rtlCol="0" anchor="t"/>
          <a:lstStyle/>
          <a:p>
            <a:pPr indent="0" marL="0">
              <a:buNone/>
            </a:pPr>
            <a:r>
              <a:rPr lang="en-US" sz="1500" b="1" dirty="0">
                <a:solidFill>
                  <a:schemeClr val="accent1"/>
                </a:solidFill>
              </a:rPr>
              <a:t>In this section</a:t>
            </a:r>
            <a:endParaRPr lang="en-US" sz="1500" dirty="0"/>
          </a:p>
        </p:txBody>
      </p:sp>
      <p:sp>
        <p:nvSpPr>
          <p:cNvPr id="9" name="Text 7"/>
          <p:cNvSpPr/>
          <p:nvPr/>
        </p:nvSpPr>
        <p:spPr>
          <a:xfrm>
            <a:off x="685800" y="2039112"/>
            <a:ext cx="73152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Read</a:t>
            </a:r>
            <a:endParaRPr lang="en-US" sz="1100" dirty="0"/>
          </a:p>
        </p:txBody>
      </p:sp>
      <p:sp>
        <p:nvSpPr>
          <p:cNvPr id="10" name="Text 8"/>
          <p:cNvSpPr txBox="1"/>
          <p:nvPr/>
        </p:nvSpPr>
        <p:spPr>
          <a:xfrm>
            <a:off x="1554480" y="1947672"/>
            <a:ext cx="2697480" cy="457200"/>
          </a:xfrm>
          <a:prstGeom prst="rect">
            <a:avLst/>
          </a:prstGeom>
          <a:noFill/>
          <a:ln/>
        </p:spPr>
        <p:txBody>
          <a:bodyPr wrap="square" lIns="0" tIns="0" rIns="0" bIns="0" rtlCol="0" anchor="ctr"/>
          <a:lstStyle/>
          <a:p>
            <a:pPr indent="0" marL="0">
              <a:buNone/>
            </a:pPr>
            <a:r>
              <a:rPr lang="en-US" sz="1400" dirty="0">
                <a:solidFill>
                  <a:schemeClr val="bg1"/>
                </a:solidFill>
              </a:rPr>
              <a:t>Ions look like noble gases</a:t>
            </a:r>
            <a:endParaRPr lang="en-US" sz="1400" dirty="0"/>
          </a:p>
        </p:txBody>
      </p:sp>
      <p:sp>
        <p:nvSpPr>
          <p:cNvPr id="11" name="Text 9"/>
          <p:cNvSpPr/>
          <p:nvPr/>
        </p:nvSpPr>
        <p:spPr>
          <a:xfrm>
            <a:off x="685800" y="2624328"/>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12" name="Text 10"/>
          <p:cNvSpPr txBox="1"/>
          <p:nvPr/>
        </p:nvSpPr>
        <p:spPr>
          <a:xfrm>
            <a:off x="1554480" y="2532888"/>
            <a:ext cx="2697480" cy="457200"/>
          </a:xfrm>
          <a:prstGeom prst="rect">
            <a:avLst/>
          </a:prstGeom>
          <a:noFill/>
          <a:ln/>
        </p:spPr>
        <p:txBody>
          <a:bodyPr wrap="square" lIns="0" tIns="0" rIns="0" bIns="0" rtlCol="0" anchor="ctr"/>
          <a:lstStyle/>
          <a:p>
            <a:pPr indent="0" marL="0">
              <a:buNone/>
            </a:pPr>
            <a:r>
              <a:rPr lang="en-US" sz="1400" dirty="0">
                <a:solidFill>
                  <a:schemeClr val="bg1"/>
                </a:solidFill>
              </a:rPr>
              <a:t>Which noble gas?</a:t>
            </a:r>
            <a:endParaRPr lang="en-US" sz="1400" dirty="0"/>
          </a:p>
        </p:txBody>
      </p:sp>
      <p:sp>
        <p:nvSpPr>
          <p:cNvPr id="13" name="Text 11"/>
          <p:cNvSpPr/>
          <p:nvPr/>
        </p:nvSpPr>
        <p:spPr>
          <a:xfrm>
            <a:off x="685800" y="3209544"/>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14" name="Text 12"/>
          <p:cNvSpPr txBox="1"/>
          <p:nvPr/>
        </p:nvSpPr>
        <p:spPr>
          <a:xfrm>
            <a:off x="1554480" y="3118104"/>
            <a:ext cx="2697480" cy="457200"/>
          </a:xfrm>
          <a:prstGeom prst="rect">
            <a:avLst/>
          </a:prstGeom>
          <a:noFill/>
          <a:ln/>
        </p:spPr>
        <p:txBody>
          <a:bodyPr wrap="square" lIns="0" tIns="0" rIns="0" bIns="0" rtlCol="0" anchor="ctr"/>
          <a:lstStyle/>
          <a:p>
            <a:pPr indent="0" marL="0">
              <a:buNone/>
            </a:pPr>
            <a:r>
              <a:rPr lang="en-US" sz="1400" dirty="0">
                <a:solidFill>
                  <a:schemeClr val="bg1"/>
                </a:solidFill>
              </a:rPr>
              <a:t>Spot the mistake</a:t>
            </a:r>
            <a:endParaRPr lang="en-US" sz="1400" dirty="0"/>
          </a:p>
        </p:txBody>
      </p:sp>
      <p:sp>
        <p:nvSpPr>
          <p:cNvPr id="15" name="Text 13"/>
          <p:cNvSpPr/>
          <p:nvPr/>
        </p:nvSpPr>
        <p:spPr>
          <a:xfrm>
            <a:off x="685800" y="3794760"/>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16" name="Text 14"/>
          <p:cNvSpPr txBox="1"/>
          <p:nvPr/>
        </p:nvSpPr>
        <p:spPr>
          <a:xfrm>
            <a:off x="1874520" y="3703320"/>
            <a:ext cx="2377440" cy="457200"/>
          </a:xfrm>
          <a:prstGeom prst="rect">
            <a:avLst/>
          </a:prstGeom>
          <a:noFill/>
          <a:ln/>
        </p:spPr>
        <p:txBody>
          <a:bodyPr wrap="square" lIns="0" tIns="0" rIns="0" bIns="0" rtlCol="0" anchor="ctr"/>
          <a:lstStyle/>
          <a:p>
            <a:pPr indent="0" marL="0">
              <a:buNone/>
            </a:pPr>
            <a:r>
              <a:rPr lang="en-US" sz="1400" dirty="0">
                <a:solidFill>
                  <a:schemeClr val="bg1"/>
                </a:solidFill>
              </a:rPr>
              <a:t>Same as argon?</a:t>
            </a:r>
            <a:endParaRPr lang="en-US" sz="1400" dirty="0"/>
          </a:p>
        </p:txBody>
      </p:sp>
      <p:sp>
        <p:nvSpPr>
          <p:cNvPr id="17" name="To unlock the next section"/>
          <p:cNvSpPr/>
          <p:nvPr/>
        </p:nvSpPr>
        <p:spPr>
          <a:xfrm>
            <a:off x="466344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18" name="Text 16"/>
          <p:cNvSpPr txBox="1"/>
          <p:nvPr/>
        </p:nvSpPr>
        <p:spPr>
          <a:xfrm>
            <a:off x="4892040" y="1536192"/>
            <a:ext cx="3566160" cy="292608"/>
          </a:xfrm>
          <a:prstGeom prst="rect">
            <a:avLst/>
          </a:prstGeom>
          <a:noFill/>
          <a:ln/>
        </p:spPr>
        <p:txBody>
          <a:bodyPr wrap="square" lIns="0" tIns="0" rIns="0" bIns="0" rtlCol="0" anchor="t"/>
          <a:lstStyle/>
          <a:p>
            <a:pPr indent="0" marL="0">
              <a:buNone/>
            </a:pPr>
            <a:r>
              <a:rPr lang="en-US" sz="1500" b="1" dirty="0">
                <a:solidFill>
                  <a:schemeClr val="accent4"/>
                </a:solidFill>
              </a:rPr>
              <a:t>To unlock the next section</a:t>
            </a:r>
            <a:endParaRPr lang="en-US" sz="1500" dirty="0"/>
          </a:p>
        </p:txBody>
      </p:sp>
      <p:sp>
        <p:nvSpPr>
          <p:cNvPr id="19" name="Text 17"/>
          <p:cNvSpPr/>
          <p:nvPr/>
        </p:nvSpPr>
        <p:spPr>
          <a:xfrm>
            <a:off x="4892040" y="2066544"/>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0" name="Text 18"/>
          <p:cNvSpPr txBox="1"/>
          <p:nvPr/>
        </p:nvSpPr>
        <p:spPr>
          <a:xfrm>
            <a:off x="5303520" y="1993392"/>
            <a:ext cx="3200400" cy="457200"/>
          </a:xfrm>
          <a:prstGeom prst="rect">
            <a:avLst/>
          </a:prstGeom>
          <a:noFill/>
          <a:ln/>
        </p:spPr>
        <p:txBody>
          <a:bodyPr wrap="square" lIns="0" tIns="0" rIns="0" bIns="0" rtlCol="0" anchor="ctr"/>
          <a:lstStyle/>
          <a:p>
            <a:pPr indent="0" marL="0">
              <a:buNone/>
            </a:pPr>
            <a:r>
              <a:rPr lang="en-US" sz="1400" dirty="0">
                <a:solidFill>
                  <a:schemeClr val="bg1"/>
                </a:solidFill>
              </a:rPr>
              <a:t>Match each ion to its noble gas</a:t>
            </a:r>
            <a:endParaRPr lang="en-US" sz="1400" dirty="0"/>
          </a:p>
        </p:txBody>
      </p:sp>
      <p:sp>
        <p:nvSpPr>
          <p:cNvPr id="21" name="Text 19"/>
          <p:cNvSpPr/>
          <p:nvPr/>
        </p:nvSpPr>
        <p:spPr>
          <a:xfrm>
            <a:off x="4892040" y="2633472"/>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2" name="Text 20"/>
          <p:cNvSpPr txBox="1"/>
          <p:nvPr/>
        </p:nvSpPr>
        <p:spPr>
          <a:xfrm>
            <a:off x="5303520" y="2560320"/>
            <a:ext cx="3200400" cy="457200"/>
          </a:xfrm>
          <a:prstGeom prst="rect">
            <a:avLst/>
          </a:prstGeom>
          <a:noFill/>
          <a:ln/>
        </p:spPr>
        <p:txBody>
          <a:bodyPr wrap="square" lIns="0" tIns="0" rIns="0" bIns="0" rtlCol="0" anchor="ctr"/>
          <a:lstStyle/>
          <a:p>
            <a:pPr indent="0" marL="0">
              <a:buNone/>
            </a:pPr>
            <a:r>
              <a:rPr lang="en-US" sz="1400" dirty="0">
                <a:solidFill>
                  <a:schemeClr val="bg1"/>
                </a:solidFill>
              </a:rPr>
              <a:t>Find the mistake in all 4 drawings</a:t>
            </a:r>
            <a:endParaRPr lang="en-US" sz="1400" dirty="0"/>
          </a:p>
        </p:txBody>
      </p:sp>
      <p:sp>
        <p:nvSpPr>
          <p:cNvPr id="23" name="Text 21"/>
          <p:cNvSpPr/>
          <p:nvPr/>
        </p:nvSpPr>
        <p:spPr>
          <a:xfrm>
            <a:off x="4892040" y="3200400"/>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4" name="Text 22"/>
          <p:cNvSpPr txBox="1"/>
          <p:nvPr/>
        </p:nvSpPr>
        <p:spPr>
          <a:xfrm>
            <a:off x="5303520" y="3127248"/>
            <a:ext cx="3200400" cy="457200"/>
          </a:xfrm>
          <a:prstGeom prst="rect">
            <a:avLst/>
          </a:prstGeom>
          <a:noFill/>
          <a:ln/>
        </p:spPr>
        <p:txBody>
          <a:bodyPr wrap="square" lIns="0" tIns="0" rIns="0" bIns="0" rtlCol="0" anchor="ctr"/>
          <a:lstStyle/>
          <a:p>
            <a:pPr indent="0" marL="0">
              <a:buNone/>
            </a:pPr>
            <a:r>
              <a:rPr lang="en-US" sz="1400" dirty="0">
                <a:solidFill>
                  <a:schemeClr val="bg1"/>
                </a:solidFill>
              </a:rPr>
              <a:t>Answer the quick check correctly</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ection tile 7"/>
          <p:cNvSpPr/>
          <p:nvPr/>
        </p:nvSpPr>
        <p:spPr>
          <a:xfrm>
            <a:off x="457200" y="301752"/>
            <a:ext cx="749808" cy="841248"/>
          </a:xfrm>
          <a:prstGeom prst="roundRect">
            <a:avLst>
              <a:gd name="adj" fmla="val 12000"/>
            </a:avLst>
          </a:prstGeom>
          <a:solidFill>
            <a:srgbClr val="60A5FA">
              <a:alpha val="28000"/>
            </a:srgbClr>
          </a:solidFill>
          <a:ln w="19050">
            <a:solidFill>
              <a:srgbClr val="60A5FA"/>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7</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2400" b="1" dirty="0">
                <a:solidFill>
                  <a:schemeClr val="bg1"/>
                </a:solidFill>
              </a:rPr>
              <a:t>K</a:t>
            </a:r>
            <a:pPr algn="ctr" indent="0" marL="0">
              <a:buNone/>
            </a:pPr>
            <a:r>
              <a:rPr lang="en-US" sz="2400" b="1" baseline="30000" dirty="0">
                <a:solidFill>
                  <a:schemeClr val="bg1"/>
                </a:solidFill>
              </a:rPr>
              <a:t>+</a:t>
            </a:r>
            <a:endParaRPr lang="en-US" sz="2400" dirty="0"/>
          </a:p>
        </p:txBody>
      </p:sp>
      <p:sp>
        <p:nvSpPr>
          <p:cNvPr id="5" name="Text 3"/>
          <p:cNvSpPr/>
          <p:nvPr/>
        </p:nvSpPr>
        <p:spPr>
          <a:xfrm>
            <a:off x="1417320" y="310896"/>
            <a:ext cx="73152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Read</a:t>
            </a:r>
            <a:endParaRPr lang="en-US" sz="1100" dirty="0"/>
          </a:p>
        </p:txBody>
      </p:sp>
      <p:sp>
        <p:nvSpPr>
          <p:cNvPr id="6" name="Text 4"/>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7 of 9</a:t>
            </a:r>
            <a:endParaRPr lang="en-US" sz="1200" dirty="0"/>
          </a:p>
        </p:txBody>
      </p:sp>
      <p:sp>
        <p:nvSpPr>
          <p:cNvPr id="7"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Ions look like noble gases</a:t>
            </a:r>
            <a:endParaRPr lang="en-US" sz="2800" dirty="0"/>
          </a:p>
        </p:txBody>
      </p:sp>
      <p:sp>
        <p:nvSpPr>
          <p:cNvPr id="8" name="Text 6"/>
          <p:cNvSpPr txBox="1"/>
          <p:nvPr/>
        </p:nvSpPr>
        <p:spPr>
          <a:xfrm>
            <a:off x="457200" y="1325880"/>
            <a:ext cx="8229600" cy="731520"/>
          </a:xfrm>
          <a:prstGeom prst="rect">
            <a:avLst/>
          </a:prstGeom>
          <a:noFill/>
          <a:ln/>
        </p:spPr>
        <p:txBody>
          <a:bodyPr wrap="square" lIns="0" tIns="0" rIns="0" bIns="0" rtlCol="0" anchor="t"/>
          <a:lstStyle/>
          <a:p>
            <a:pPr indent="0" marL="0">
              <a:spcAft>
                <a:spcPts val="800"/>
              </a:spcAft>
              <a:buNone/>
            </a:pPr>
            <a:r>
              <a:rPr lang="en-US" sz="1500" dirty="0">
                <a:solidFill>
                  <a:schemeClr val="bg1"/>
                </a:solidFill>
              </a:rPr>
              <a:t>When atoms form ions, they end up with the same electron arrangement as a noble gas. They're still different from each other and from the noble gas, because each has its own number of protons.</a:t>
            </a:r>
            <a:endParaRPr lang="en-US" sz="1500" dirty="0"/>
          </a:p>
        </p:txBody>
      </p:sp>
      <p:sp>
        <p:nvSpPr>
          <p:cNvPr id="9" name="Like neon: 2, 8"/>
          <p:cNvSpPr/>
          <p:nvPr/>
        </p:nvSpPr>
        <p:spPr>
          <a:xfrm>
            <a:off x="457200" y="2148840"/>
            <a:ext cx="4023360" cy="1051560"/>
          </a:xfrm>
          <a:prstGeom prst="roundRect">
            <a:avLst>
              <a:gd name="adj" fmla="val 8696"/>
            </a:avLst>
          </a:prstGeom>
          <a:solidFill>
            <a:schemeClr val="tx2"/>
          </a:solidFill>
          <a:ln w="9525">
            <a:solidFill>
              <a:schemeClr val="bg2">
                <a:alpha val="30000"/>
              </a:schemeClr>
            </a:solidFill>
            <a:prstDash val="solid"/>
          </a:ln>
        </p:spPr>
      </p:sp>
      <p:sp>
        <p:nvSpPr>
          <p:cNvPr id="10" name="Text 8"/>
          <p:cNvSpPr txBox="1"/>
          <p:nvPr/>
        </p:nvSpPr>
        <p:spPr>
          <a:xfrm>
            <a:off x="640080" y="2240280"/>
            <a:ext cx="3657600" cy="274320"/>
          </a:xfrm>
          <a:prstGeom prst="rect">
            <a:avLst/>
          </a:prstGeom>
          <a:noFill/>
          <a:ln/>
        </p:spPr>
        <p:txBody>
          <a:bodyPr wrap="square" lIns="0" tIns="0" rIns="0" bIns="0" rtlCol="0" anchor="t"/>
          <a:lstStyle/>
          <a:p>
            <a:pPr indent="0" marL="0">
              <a:buNone/>
            </a:pPr>
            <a:r>
              <a:rPr lang="en-US" sz="1400" b="1" dirty="0">
                <a:solidFill>
                  <a:schemeClr val="accent1"/>
                </a:solidFill>
              </a:rPr>
              <a:t>Like neon: 2, 8</a:t>
            </a:r>
            <a:endParaRPr lang="en-US" sz="1400" dirty="0"/>
          </a:p>
        </p:txBody>
      </p:sp>
      <p:sp>
        <p:nvSpPr>
          <p:cNvPr id="11" name="Text 9"/>
          <p:cNvSpPr txBox="1"/>
          <p:nvPr/>
        </p:nvSpPr>
        <p:spPr>
          <a:xfrm>
            <a:off x="640080" y="2606040"/>
            <a:ext cx="3657600" cy="457200"/>
          </a:xfrm>
          <a:prstGeom prst="rect">
            <a:avLst/>
          </a:prstGeom>
          <a:noFill/>
          <a:ln/>
        </p:spPr>
        <p:txBody>
          <a:bodyPr wrap="square" lIns="0" tIns="0" rIns="0" bIns="0" rtlCol="0" anchor="ctr"/>
          <a:lstStyle/>
          <a:p>
            <a:pPr indent="0" marL="0">
              <a:buNone/>
            </a:pPr>
            <a:r>
              <a:rPr lang="en-US" sz="2000" b="1" dirty="0">
                <a:solidFill>
                  <a:schemeClr val="bg1"/>
                </a:solidFill>
              </a:rPr>
              <a:t>Na</a:t>
            </a:r>
            <a:pPr indent="0" marL="0">
              <a:buNone/>
            </a:pPr>
            <a:r>
              <a:rPr lang="en-US" sz="2000" b="1" baseline="30000" dirty="0">
                <a:solidFill>
                  <a:schemeClr val="bg1"/>
                </a:solidFill>
              </a:rPr>
              <a:t>+</a:t>
            </a:r>
            <a:pPr indent="0" marL="0">
              <a:buNone/>
            </a:pPr>
            <a:r>
              <a:rPr lang="en-US" sz="2000" dirty="0">
                <a:solidFill>
                  <a:schemeClr val="bg1"/>
                </a:solidFill>
              </a:rPr>
              <a:t>   </a:t>
            </a:r>
            <a:pPr indent="0" marL="0">
              <a:buNone/>
            </a:pPr>
            <a:r>
              <a:rPr lang="en-US" sz="2000" b="1" dirty="0">
                <a:solidFill>
                  <a:schemeClr val="bg1"/>
                </a:solidFill>
              </a:rPr>
              <a:t>Mg</a:t>
            </a:r>
            <a:pPr indent="0" marL="0">
              <a:buNone/>
            </a:pPr>
            <a:r>
              <a:rPr lang="en-US" sz="2000" b="1" baseline="30000" dirty="0">
                <a:solidFill>
                  <a:schemeClr val="bg1"/>
                </a:solidFill>
              </a:rPr>
              <a:t>2+</a:t>
            </a:r>
            <a:pPr indent="0" marL="0">
              <a:buNone/>
            </a:pPr>
            <a:r>
              <a:rPr lang="en-US" sz="2000" dirty="0">
                <a:solidFill>
                  <a:schemeClr val="bg1"/>
                </a:solidFill>
              </a:rPr>
              <a:t>   </a:t>
            </a:r>
            <a:pPr indent="0" marL="0">
              <a:buNone/>
            </a:pPr>
            <a:r>
              <a:rPr lang="en-US" sz="2000" b="1" dirty="0">
                <a:solidFill>
                  <a:schemeClr val="bg1"/>
                </a:solidFill>
              </a:rPr>
              <a:t>Al</a:t>
            </a:r>
            <a:pPr indent="0" marL="0">
              <a:buNone/>
            </a:pPr>
            <a:r>
              <a:rPr lang="en-US" sz="2000" b="1" baseline="30000" dirty="0">
                <a:solidFill>
                  <a:schemeClr val="bg1"/>
                </a:solidFill>
              </a:rPr>
              <a:t>3+</a:t>
            </a:r>
            <a:pPr indent="0" marL="0">
              <a:buNone/>
            </a:pPr>
            <a:r>
              <a:rPr lang="en-US" sz="2000" dirty="0">
                <a:solidFill>
                  <a:schemeClr val="bg1"/>
                </a:solidFill>
              </a:rPr>
              <a:t>   </a:t>
            </a:r>
            <a:pPr indent="0" marL="0">
              <a:buNone/>
            </a:pPr>
            <a:r>
              <a:rPr lang="en-US" sz="2000" b="1" dirty="0">
                <a:solidFill>
                  <a:schemeClr val="bg1"/>
                </a:solidFill>
              </a:rPr>
              <a:t>F</a:t>
            </a:r>
            <a:pPr indent="0" marL="0">
              <a:buNone/>
            </a:pPr>
            <a:r>
              <a:rPr lang="en-US" sz="2000" b="1" baseline="30000" dirty="0">
                <a:solidFill>
                  <a:schemeClr val="bg1"/>
                </a:solidFill>
              </a:rPr>
              <a:t>−</a:t>
            </a:r>
            <a:pPr indent="0" marL="0">
              <a:buNone/>
            </a:pPr>
            <a:r>
              <a:rPr lang="en-US" sz="2000" dirty="0">
                <a:solidFill>
                  <a:schemeClr val="bg1"/>
                </a:solidFill>
              </a:rPr>
              <a:t>   </a:t>
            </a:r>
            <a:pPr indent="0" marL="0">
              <a:buNone/>
            </a:pPr>
            <a:r>
              <a:rPr lang="en-US" sz="2000" b="1" dirty="0">
                <a:solidFill>
                  <a:schemeClr val="bg1"/>
                </a:solidFill>
              </a:rPr>
              <a:t>O</a:t>
            </a:r>
            <a:pPr indent="0" marL="0">
              <a:buNone/>
            </a:pPr>
            <a:r>
              <a:rPr lang="en-US" sz="2000" b="1" baseline="30000" dirty="0">
                <a:solidFill>
                  <a:schemeClr val="bg1"/>
                </a:solidFill>
              </a:rPr>
              <a:t>2−</a:t>
            </a:r>
            <a:pPr indent="0" marL="0">
              <a:buNone/>
            </a:pPr>
            <a:r>
              <a:rPr lang="en-US" sz="2000" dirty="0">
                <a:solidFill>
                  <a:schemeClr val="bg1"/>
                </a:solidFill>
              </a:rPr>
              <a:t>   </a:t>
            </a:r>
            <a:pPr indent="0" marL="0">
              <a:buNone/>
            </a:pPr>
            <a:r>
              <a:rPr lang="en-US" sz="2000" b="1" dirty="0">
                <a:solidFill>
                  <a:schemeClr val="bg1"/>
                </a:solidFill>
              </a:rPr>
              <a:t>N</a:t>
            </a:r>
            <a:pPr indent="0" marL="0">
              <a:buNone/>
            </a:pPr>
            <a:r>
              <a:rPr lang="en-US" sz="2000" b="1" baseline="30000" dirty="0">
                <a:solidFill>
                  <a:schemeClr val="bg1"/>
                </a:solidFill>
              </a:rPr>
              <a:t>3−</a:t>
            </a:r>
            <a:pPr indent="0" marL="0">
              <a:buNone/>
            </a:pPr>
            <a:endParaRPr lang="en-US" sz="2000" dirty="0"/>
          </a:p>
        </p:txBody>
      </p:sp>
      <p:sp>
        <p:nvSpPr>
          <p:cNvPr id="12" name="Like argon: 2, 8, 8"/>
          <p:cNvSpPr/>
          <p:nvPr/>
        </p:nvSpPr>
        <p:spPr>
          <a:xfrm>
            <a:off x="4663440" y="2148840"/>
            <a:ext cx="4023360" cy="1051560"/>
          </a:xfrm>
          <a:prstGeom prst="roundRect">
            <a:avLst>
              <a:gd name="adj" fmla="val 8696"/>
            </a:avLst>
          </a:prstGeom>
          <a:solidFill>
            <a:schemeClr val="tx2"/>
          </a:solidFill>
          <a:ln w="9525">
            <a:solidFill>
              <a:schemeClr val="bg2">
                <a:alpha val="30000"/>
              </a:schemeClr>
            </a:solidFill>
            <a:prstDash val="solid"/>
          </a:ln>
        </p:spPr>
      </p:sp>
      <p:sp>
        <p:nvSpPr>
          <p:cNvPr id="13" name="Text 11"/>
          <p:cNvSpPr txBox="1"/>
          <p:nvPr/>
        </p:nvSpPr>
        <p:spPr>
          <a:xfrm>
            <a:off x="4846320" y="2240280"/>
            <a:ext cx="3657600" cy="274320"/>
          </a:xfrm>
          <a:prstGeom prst="rect">
            <a:avLst/>
          </a:prstGeom>
          <a:noFill/>
          <a:ln/>
        </p:spPr>
        <p:txBody>
          <a:bodyPr wrap="square" lIns="0" tIns="0" rIns="0" bIns="0" rtlCol="0" anchor="t"/>
          <a:lstStyle/>
          <a:p>
            <a:pPr indent="0" marL="0">
              <a:buNone/>
            </a:pPr>
            <a:r>
              <a:rPr lang="en-US" sz="1400" b="1" dirty="0">
                <a:solidFill>
                  <a:schemeClr val="accent1"/>
                </a:solidFill>
              </a:rPr>
              <a:t>Like argon: 2, 8, 8</a:t>
            </a:r>
            <a:endParaRPr lang="en-US" sz="1400" dirty="0"/>
          </a:p>
        </p:txBody>
      </p:sp>
      <p:sp>
        <p:nvSpPr>
          <p:cNvPr id="14" name="Text 12"/>
          <p:cNvSpPr txBox="1"/>
          <p:nvPr/>
        </p:nvSpPr>
        <p:spPr>
          <a:xfrm>
            <a:off x="4846320" y="2606040"/>
            <a:ext cx="3657600" cy="457200"/>
          </a:xfrm>
          <a:prstGeom prst="rect">
            <a:avLst/>
          </a:prstGeom>
          <a:noFill/>
          <a:ln/>
        </p:spPr>
        <p:txBody>
          <a:bodyPr wrap="square" lIns="0" tIns="0" rIns="0" bIns="0" rtlCol="0" anchor="ctr"/>
          <a:lstStyle/>
          <a:p>
            <a:pPr indent="0" marL="0">
              <a:buNone/>
            </a:pPr>
            <a:r>
              <a:rPr lang="en-US" sz="2000" b="1" dirty="0">
                <a:solidFill>
                  <a:schemeClr val="bg1"/>
                </a:solidFill>
              </a:rPr>
              <a:t>K</a:t>
            </a:r>
            <a:pPr indent="0" marL="0">
              <a:buNone/>
            </a:pPr>
            <a:r>
              <a:rPr lang="en-US" sz="2000" b="1" baseline="30000" dirty="0">
                <a:solidFill>
                  <a:schemeClr val="bg1"/>
                </a:solidFill>
              </a:rPr>
              <a:t>+</a:t>
            </a:r>
            <a:pPr indent="0" marL="0">
              <a:buNone/>
            </a:pPr>
            <a:r>
              <a:rPr lang="en-US" sz="2000" dirty="0">
                <a:solidFill>
                  <a:schemeClr val="bg1"/>
                </a:solidFill>
              </a:rPr>
              <a:t>   </a:t>
            </a:r>
            <a:pPr indent="0" marL="0">
              <a:buNone/>
            </a:pPr>
            <a:r>
              <a:rPr lang="en-US" sz="2000" b="1" dirty="0">
                <a:solidFill>
                  <a:schemeClr val="bg1"/>
                </a:solidFill>
              </a:rPr>
              <a:t>Ca</a:t>
            </a:r>
            <a:pPr indent="0" marL="0">
              <a:buNone/>
            </a:pPr>
            <a:r>
              <a:rPr lang="en-US" sz="2000" b="1" baseline="30000" dirty="0">
                <a:solidFill>
                  <a:schemeClr val="bg1"/>
                </a:solidFill>
              </a:rPr>
              <a:t>2+</a:t>
            </a:r>
            <a:pPr indent="0" marL="0">
              <a:buNone/>
            </a:pPr>
            <a:r>
              <a:rPr lang="en-US" sz="2000" dirty="0">
                <a:solidFill>
                  <a:schemeClr val="bg1"/>
                </a:solidFill>
              </a:rPr>
              <a:t>   </a:t>
            </a:r>
            <a:pPr indent="0" marL="0">
              <a:buNone/>
            </a:pPr>
            <a:r>
              <a:rPr lang="en-US" sz="2000" b="1" dirty="0">
                <a:solidFill>
                  <a:schemeClr val="bg1"/>
                </a:solidFill>
              </a:rPr>
              <a:t>Cl</a:t>
            </a:r>
            <a:pPr indent="0" marL="0">
              <a:buNone/>
            </a:pPr>
            <a:r>
              <a:rPr lang="en-US" sz="2000" b="1" baseline="30000" dirty="0">
                <a:solidFill>
                  <a:schemeClr val="bg1"/>
                </a:solidFill>
              </a:rPr>
              <a:t>−</a:t>
            </a:r>
            <a:pPr indent="0" marL="0">
              <a:buNone/>
            </a:pPr>
            <a:r>
              <a:rPr lang="en-US" sz="2000" dirty="0">
                <a:solidFill>
                  <a:schemeClr val="bg1"/>
                </a:solidFill>
              </a:rPr>
              <a:t>   </a:t>
            </a:r>
            <a:pPr indent="0" marL="0">
              <a:buNone/>
            </a:pPr>
            <a:r>
              <a:rPr lang="en-US" sz="2000" b="1" dirty="0">
                <a:solidFill>
                  <a:schemeClr val="bg1"/>
                </a:solidFill>
              </a:rPr>
              <a:t>S</a:t>
            </a:r>
            <a:pPr indent="0" marL="0">
              <a:buNone/>
            </a:pPr>
            <a:r>
              <a:rPr lang="en-US" sz="2000" b="1" baseline="30000" dirty="0">
                <a:solidFill>
                  <a:schemeClr val="bg1"/>
                </a:solidFill>
              </a:rPr>
              <a:t>2−</a:t>
            </a:r>
            <a:pPr indent="0" marL="0">
              <a:buNone/>
            </a:pPr>
            <a:r>
              <a:rPr lang="en-US" sz="2000" dirty="0">
                <a:solidFill>
                  <a:schemeClr val="bg1"/>
                </a:solidFill>
              </a:rPr>
              <a:t>   </a:t>
            </a:r>
            <a:pPr indent="0" marL="0">
              <a:buNone/>
            </a:pPr>
            <a:r>
              <a:rPr lang="en-US" sz="2000" b="1" dirty="0">
                <a:solidFill>
                  <a:schemeClr val="bg1"/>
                </a:solidFill>
              </a:rPr>
              <a:t>P</a:t>
            </a:r>
            <a:pPr indent="0" marL="0">
              <a:buNone/>
            </a:pPr>
            <a:r>
              <a:rPr lang="en-US" sz="2000" b="1" baseline="30000" dirty="0">
                <a:solidFill>
                  <a:schemeClr val="bg1"/>
                </a:solidFill>
              </a:rPr>
              <a:t>3−</a:t>
            </a:r>
            <a:pPr indent="0" marL="0">
              <a:buNone/>
            </a:pPr>
            <a:endParaRPr lang="en-US" sz="2000" dirty="0"/>
          </a:p>
        </p:txBody>
      </p:sp>
      <p:sp>
        <p:nvSpPr>
          <p:cNvPr id="15" name="Text 13"/>
          <p:cNvSpPr txBox="1"/>
          <p:nvPr/>
        </p:nvSpPr>
        <p:spPr>
          <a:xfrm>
            <a:off x="457200" y="3364992"/>
            <a:ext cx="8229600" cy="274320"/>
          </a:xfrm>
          <a:prstGeom prst="rect">
            <a:avLst/>
          </a:prstGeom>
          <a:noFill/>
          <a:ln/>
        </p:spPr>
        <p:txBody>
          <a:bodyPr wrap="square" lIns="0" tIns="0" rIns="0" bIns="0" rtlCol="0" anchor="t"/>
          <a:lstStyle/>
          <a:p>
            <a:pPr indent="0" marL="0">
              <a:buNone/>
            </a:pPr>
            <a:r>
              <a:rPr lang="en-US" sz="1400" b="1" dirty="0">
                <a:solidFill>
                  <a:schemeClr val="accent2"/>
                </a:solidFill>
              </a:rPr>
              <a:t>Common mistakes</a:t>
            </a:r>
            <a:endParaRPr lang="en-US" sz="1400" dirty="0"/>
          </a:p>
        </p:txBody>
      </p:sp>
      <p:sp>
        <p:nvSpPr>
          <p:cNvPr id="16" name="Text 14"/>
          <p:cNvSpPr txBox="1"/>
          <p:nvPr/>
        </p:nvSpPr>
        <p:spPr>
          <a:xfrm>
            <a:off x="457200" y="3657600"/>
            <a:ext cx="8229600" cy="685800"/>
          </a:xfrm>
          <a:prstGeom prst="rect">
            <a:avLst/>
          </a:prstGeom>
          <a:noFill/>
          <a:ln/>
        </p:spPr>
        <p:txBody>
          <a:bodyPr wrap="square" lIns="0" tIns="0" rIns="0" bIns="0" rtlCol="0" anchor="t"/>
          <a:lstStyle/>
          <a:p>
            <a:pPr indent="0" marL="0">
              <a:buNone/>
            </a:pPr>
            <a:r>
              <a:rPr lang="en-US" sz="1300" dirty="0">
                <a:solidFill>
                  <a:schemeClr val="bg1"/>
                </a:solidFill>
              </a:rPr>
              <a:t>Changing the protons  ·  The wrong sign (losing electrons makes a positive ion)  ·  Drawing the empty shell on a positive ion  ·  Filling past 8  ·  Forgetting brackets and charge</a:t>
            </a:r>
            <a:endParaRPr lang="en-US" sz="13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ection tile 7"/>
          <p:cNvSpPr/>
          <p:nvPr/>
        </p:nvSpPr>
        <p:spPr>
          <a:xfrm>
            <a:off x="457200" y="301752"/>
            <a:ext cx="749808" cy="841248"/>
          </a:xfrm>
          <a:prstGeom prst="roundRect">
            <a:avLst>
              <a:gd name="adj" fmla="val 12000"/>
            </a:avLst>
          </a:prstGeom>
          <a:solidFill>
            <a:srgbClr val="60A5FA">
              <a:alpha val="28000"/>
            </a:srgbClr>
          </a:solidFill>
          <a:ln w="19050">
            <a:solidFill>
              <a:srgbClr val="60A5FA"/>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7</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2400" b="1" dirty="0">
                <a:solidFill>
                  <a:schemeClr val="bg1"/>
                </a:solidFill>
              </a:rPr>
              <a:t>K</a:t>
            </a:r>
            <a:pPr algn="ctr" indent="0" marL="0">
              <a:buNone/>
            </a:pPr>
            <a:r>
              <a:rPr lang="en-US" sz="2400" b="1" baseline="30000" dirty="0">
                <a:solidFill>
                  <a:schemeClr val="bg1"/>
                </a:solidFill>
              </a:rPr>
              <a:t>+</a:t>
            </a:r>
            <a:endParaRPr lang="en-US" sz="2400" dirty="0"/>
          </a:p>
        </p:txBody>
      </p:sp>
      <p:sp>
        <p:nvSpPr>
          <p:cNvPr id="5" name="Text 3"/>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6" name="Text 4"/>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7 of 9</a:t>
            </a:r>
            <a:endParaRPr lang="en-US" sz="1200" dirty="0"/>
          </a:p>
        </p:txBody>
      </p:sp>
      <p:sp>
        <p:nvSpPr>
          <p:cNvPr id="7"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Which noble gas?</a:t>
            </a:r>
            <a:endParaRPr lang="en-US" sz="2800" dirty="0"/>
          </a:p>
        </p:txBody>
      </p:sp>
      <p:sp>
        <p:nvSpPr>
          <p:cNvPr id="8" name="Text 6"/>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Drag each ion to the noble gas it matches, or tap an ion and then tap a box.</a:t>
            </a:r>
            <a:endParaRPr lang="en-US" sz="1300" dirty="0"/>
          </a:p>
        </p:txBody>
      </p:sp>
      <p:sp>
        <p:nvSpPr>
          <p:cNvPr id="9" name="Text 7"/>
          <p:cNvSpPr/>
          <p:nvPr/>
        </p:nvSpPr>
        <p:spPr>
          <a:xfrm>
            <a:off x="457200" y="1691640"/>
            <a:ext cx="822960" cy="530352"/>
          </a:xfrm>
          <a:prstGeom prst="roundRect">
            <a:avLst>
              <a:gd name="adj" fmla="val 13793"/>
            </a:avLst>
          </a:prstGeom>
          <a:solidFill>
            <a:schemeClr val="tx2"/>
          </a:solidFill>
          <a:ln w="9525">
            <a:solidFill>
              <a:schemeClr val="bg2">
                <a:alpha val="60000"/>
              </a:schemeClr>
            </a:solidFill>
          </a:ln>
        </p:spPr>
        <p:txBody>
          <a:bodyPr wrap="square" lIns="0" tIns="0" rIns="0" bIns="0" rtlCol="0" anchor="ctr"/>
          <a:lstStyle/>
          <a:p>
            <a:pPr algn="ctr" indent="0" marL="0">
              <a:buNone/>
            </a:pPr>
            <a:r>
              <a:rPr lang="en-US" sz="1800" b="1" dirty="0">
                <a:solidFill>
                  <a:schemeClr val="bg1"/>
                </a:solidFill>
              </a:rPr>
              <a:t>K</a:t>
            </a:r>
            <a:pPr algn="ctr" indent="0" marL="0">
              <a:buNone/>
            </a:pPr>
            <a:r>
              <a:rPr lang="en-US" sz="1800" b="1" baseline="30000" dirty="0">
                <a:solidFill>
                  <a:schemeClr val="bg1"/>
                </a:solidFill>
              </a:rPr>
              <a:t>+</a:t>
            </a:r>
            <a:endParaRPr lang="en-US" sz="1800" dirty="0"/>
          </a:p>
        </p:txBody>
      </p:sp>
      <p:sp>
        <p:nvSpPr>
          <p:cNvPr id="10" name="Text 8"/>
          <p:cNvSpPr/>
          <p:nvPr/>
        </p:nvSpPr>
        <p:spPr>
          <a:xfrm>
            <a:off x="1371600" y="1691640"/>
            <a:ext cx="822960" cy="530352"/>
          </a:xfrm>
          <a:prstGeom prst="roundRect">
            <a:avLst>
              <a:gd name="adj" fmla="val 13793"/>
            </a:avLst>
          </a:prstGeom>
          <a:solidFill>
            <a:schemeClr val="tx2"/>
          </a:solidFill>
          <a:ln w="9525">
            <a:solidFill>
              <a:schemeClr val="bg2">
                <a:alpha val="60000"/>
              </a:schemeClr>
            </a:solidFill>
          </a:ln>
        </p:spPr>
        <p:txBody>
          <a:bodyPr wrap="square" lIns="0" tIns="0" rIns="0" bIns="0" rtlCol="0" anchor="ctr"/>
          <a:lstStyle/>
          <a:p>
            <a:pPr algn="ctr" indent="0" marL="0">
              <a:buNone/>
            </a:pPr>
            <a:r>
              <a:rPr lang="en-US" sz="1800" b="1" dirty="0">
                <a:solidFill>
                  <a:schemeClr val="bg1"/>
                </a:solidFill>
              </a:rPr>
              <a:t>O</a:t>
            </a:r>
            <a:pPr algn="ctr" indent="0" marL="0">
              <a:buNone/>
            </a:pPr>
            <a:r>
              <a:rPr lang="en-US" sz="1800" b="1" baseline="30000" dirty="0">
                <a:solidFill>
                  <a:schemeClr val="bg1"/>
                </a:solidFill>
              </a:rPr>
              <a:t>2−</a:t>
            </a:r>
            <a:endParaRPr lang="en-US" sz="1800" dirty="0"/>
          </a:p>
        </p:txBody>
      </p:sp>
      <p:sp>
        <p:nvSpPr>
          <p:cNvPr id="11" name="Text 9"/>
          <p:cNvSpPr/>
          <p:nvPr/>
        </p:nvSpPr>
        <p:spPr>
          <a:xfrm>
            <a:off x="2286000" y="1691640"/>
            <a:ext cx="822960" cy="530352"/>
          </a:xfrm>
          <a:prstGeom prst="roundRect">
            <a:avLst>
              <a:gd name="adj" fmla="val 13793"/>
            </a:avLst>
          </a:prstGeom>
          <a:solidFill>
            <a:schemeClr val="tx2"/>
          </a:solidFill>
          <a:ln w="9525">
            <a:solidFill>
              <a:schemeClr val="bg2">
                <a:alpha val="60000"/>
              </a:schemeClr>
            </a:solidFill>
          </a:ln>
        </p:spPr>
        <p:txBody>
          <a:bodyPr wrap="square" lIns="0" tIns="0" rIns="0" bIns="0" rtlCol="0" anchor="ctr"/>
          <a:lstStyle/>
          <a:p>
            <a:pPr algn="ctr" indent="0" marL="0">
              <a:buNone/>
            </a:pPr>
            <a:r>
              <a:rPr lang="en-US" sz="1800" b="1" dirty="0">
                <a:solidFill>
                  <a:schemeClr val="bg1"/>
                </a:solidFill>
              </a:rPr>
              <a:t>Cl</a:t>
            </a:r>
            <a:pPr algn="ctr" indent="0" marL="0">
              <a:buNone/>
            </a:pPr>
            <a:r>
              <a:rPr lang="en-US" sz="1800" b="1" baseline="30000" dirty="0">
                <a:solidFill>
                  <a:schemeClr val="bg1"/>
                </a:solidFill>
              </a:rPr>
              <a:t>−</a:t>
            </a:r>
            <a:endParaRPr lang="en-US" sz="1800" dirty="0"/>
          </a:p>
        </p:txBody>
      </p:sp>
      <p:sp>
        <p:nvSpPr>
          <p:cNvPr id="12" name="Text 10"/>
          <p:cNvSpPr/>
          <p:nvPr/>
        </p:nvSpPr>
        <p:spPr>
          <a:xfrm>
            <a:off x="3200400" y="1691640"/>
            <a:ext cx="822960" cy="530352"/>
          </a:xfrm>
          <a:prstGeom prst="roundRect">
            <a:avLst>
              <a:gd name="adj" fmla="val 13793"/>
            </a:avLst>
          </a:prstGeom>
          <a:solidFill>
            <a:schemeClr val="tx2"/>
          </a:solidFill>
          <a:ln w="9525">
            <a:solidFill>
              <a:schemeClr val="bg2">
                <a:alpha val="60000"/>
              </a:schemeClr>
            </a:solidFill>
          </a:ln>
        </p:spPr>
        <p:txBody>
          <a:bodyPr wrap="square" lIns="0" tIns="0" rIns="0" bIns="0" rtlCol="0" anchor="ctr"/>
          <a:lstStyle/>
          <a:p>
            <a:pPr algn="ctr" indent="0" marL="0">
              <a:buNone/>
            </a:pPr>
            <a:r>
              <a:rPr lang="en-US" sz="1800" b="1" dirty="0">
                <a:solidFill>
                  <a:schemeClr val="bg1"/>
                </a:solidFill>
              </a:rPr>
              <a:t>Na</a:t>
            </a:r>
            <a:pPr algn="ctr" indent="0" marL="0">
              <a:buNone/>
            </a:pPr>
            <a:r>
              <a:rPr lang="en-US" sz="1800" b="1" baseline="30000" dirty="0">
                <a:solidFill>
                  <a:schemeClr val="bg1"/>
                </a:solidFill>
              </a:rPr>
              <a:t>+</a:t>
            </a:r>
            <a:endParaRPr lang="en-US" sz="1800" dirty="0"/>
          </a:p>
        </p:txBody>
      </p:sp>
      <p:sp>
        <p:nvSpPr>
          <p:cNvPr id="13" name="Text 11"/>
          <p:cNvSpPr/>
          <p:nvPr/>
        </p:nvSpPr>
        <p:spPr>
          <a:xfrm>
            <a:off x="4114800" y="1691640"/>
            <a:ext cx="822960" cy="530352"/>
          </a:xfrm>
          <a:prstGeom prst="roundRect">
            <a:avLst>
              <a:gd name="adj" fmla="val 13793"/>
            </a:avLst>
          </a:prstGeom>
          <a:solidFill>
            <a:schemeClr val="tx2"/>
          </a:solidFill>
          <a:ln w="9525">
            <a:solidFill>
              <a:schemeClr val="bg2">
                <a:alpha val="60000"/>
              </a:schemeClr>
            </a:solidFill>
          </a:ln>
        </p:spPr>
        <p:txBody>
          <a:bodyPr wrap="square" lIns="0" tIns="0" rIns="0" bIns="0" rtlCol="0" anchor="ctr"/>
          <a:lstStyle/>
          <a:p>
            <a:pPr algn="ctr" indent="0" marL="0">
              <a:buNone/>
            </a:pPr>
            <a:r>
              <a:rPr lang="en-US" sz="1800" b="1" dirty="0">
                <a:solidFill>
                  <a:schemeClr val="bg1"/>
                </a:solidFill>
              </a:rPr>
              <a:t>S</a:t>
            </a:r>
            <a:pPr algn="ctr" indent="0" marL="0">
              <a:buNone/>
            </a:pPr>
            <a:r>
              <a:rPr lang="en-US" sz="1800" b="1" baseline="30000" dirty="0">
                <a:solidFill>
                  <a:schemeClr val="bg1"/>
                </a:solidFill>
              </a:rPr>
              <a:t>2−</a:t>
            </a:r>
            <a:endParaRPr lang="en-US" sz="1800" dirty="0"/>
          </a:p>
        </p:txBody>
      </p:sp>
      <p:sp>
        <p:nvSpPr>
          <p:cNvPr id="14" name="Text 12"/>
          <p:cNvSpPr/>
          <p:nvPr/>
        </p:nvSpPr>
        <p:spPr>
          <a:xfrm>
            <a:off x="5029200" y="1691640"/>
            <a:ext cx="822960" cy="530352"/>
          </a:xfrm>
          <a:prstGeom prst="roundRect">
            <a:avLst>
              <a:gd name="adj" fmla="val 13793"/>
            </a:avLst>
          </a:prstGeom>
          <a:solidFill>
            <a:schemeClr val="tx2"/>
          </a:solidFill>
          <a:ln w="9525">
            <a:solidFill>
              <a:schemeClr val="bg2">
                <a:alpha val="60000"/>
              </a:schemeClr>
            </a:solidFill>
          </a:ln>
        </p:spPr>
        <p:txBody>
          <a:bodyPr wrap="square" lIns="0" tIns="0" rIns="0" bIns="0" rtlCol="0" anchor="ctr"/>
          <a:lstStyle/>
          <a:p>
            <a:pPr algn="ctr" indent="0" marL="0">
              <a:buNone/>
            </a:pPr>
            <a:r>
              <a:rPr lang="en-US" sz="1800" b="1" dirty="0">
                <a:solidFill>
                  <a:schemeClr val="bg1"/>
                </a:solidFill>
              </a:rPr>
              <a:t>Al</a:t>
            </a:r>
            <a:pPr algn="ctr" indent="0" marL="0">
              <a:buNone/>
            </a:pPr>
            <a:r>
              <a:rPr lang="en-US" sz="1800" b="1" baseline="30000" dirty="0">
                <a:solidFill>
                  <a:schemeClr val="bg1"/>
                </a:solidFill>
              </a:rPr>
              <a:t>3+</a:t>
            </a:r>
            <a:endParaRPr lang="en-US" sz="1800" dirty="0"/>
          </a:p>
        </p:txBody>
      </p:sp>
      <p:sp>
        <p:nvSpPr>
          <p:cNvPr id="15" name="Text 13"/>
          <p:cNvSpPr/>
          <p:nvPr/>
        </p:nvSpPr>
        <p:spPr>
          <a:xfrm>
            <a:off x="5943600" y="1691640"/>
            <a:ext cx="822960" cy="530352"/>
          </a:xfrm>
          <a:prstGeom prst="roundRect">
            <a:avLst>
              <a:gd name="adj" fmla="val 13793"/>
            </a:avLst>
          </a:prstGeom>
          <a:solidFill>
            <a:schemeClr val="tx2"/>
          </a:solidFill>
          <a:ln w="9525">
            <a:solidFill>
              <a:schemeClr val="bg2">
                <a:alpha val="60000"/>
              </a:schemeClr>
            </a:solidFill>
          </a:ln>
        </p:spPr>
        <p:txBody>
          <a:bodyPr wrap="square" lIns="0" tIns="0" rIns="0" bIns="0" rtlCol="0" anchor="ctr"/>
          <a:lstStyle/>
          <a:p>
            <a:pPr algn="ctr" indent="0" marL="0">
              <a:buNone/>
            </a:pPr>
            <a:r>
              <a:rPr lang="en-US" sz="1800" b="1" dirty="0">
                <a:solidFill>
                  <a:schemeClr val="bg1"/>
                </a:solidFill>
              </a:rPr>
              <a:t>Ca</a:t>
            </a:r>
            <a:pPr algn="ctr" indent="0" marL="0">
              <a:buNone/>
            </a:pPr>
            <a:r>
              <a:rPr lang="en-US" sz="1800" b="1" baseline="30000" dirty="0">
                <a:solidFill>
                  <a:schemeClr val="bg1"/>
                </a:solidFill>
              </a:rPr>
              <a:t>2+</a:t>
            </a:r>
            <a:endParaRPr lang="en-US" sz="1800" dirty="0"/>
          </a:p>
        </p:txBody>
      </p:sp>
      <p:sp>
        <p:nvSpPr>
          <p:cNvPr id="16" name="Text 14"/>
          <p:cNvSpPr/>
          <p:nvPr/>
        </p:nvSpPr>
        <p:spPr>
          <a:xfrm>
            <a:off x="6858000" y="1691640"/>
            <a:ext cx="822960" cy="530352"/>
          </a:xfrm>
          <a:prstGeom prst="roundRect">
            <a:avLst>
              <a:gd name="adj" fmla="val 13793"/>
            </a:avLst>
          </a:prstGeom>
          <a:solidFill>
            <a:schemeClr val="tx2"/>
          </a:solidFill>
          <a:ln w="9525">
            <a:solidFill>
              <a:schemeClr val="bg2">
                <a:alpha val="60000"/>
              </a:schemeClr>
            </a:solidFill>
          </a:ln>
        </p:spPr>
        <p:txBody>
          <a:bodyPr wrap="square" lIns="0" tIns="0" rIns="0" bIns="0" rtlCol="0" anchor="ctr"/>
          <a:lstStyle/>
          <a:p>
            <a:pPr algn="ctr" indent="0" marL="0">
              <a:buNone/>
            </a:pPr>
            <a:r>
              <a:rPr lang="en-US" sz="1800" b="1" dirty="0">
                <a:solidFill>
                  <a:schemeClr val="bg1"/>
                </a:solidFill>
              </a:rPr>
              <a:t>F</a:t>
            </a:r>
            <a:pPr algn="ctr" indent="0" marL="0">
              <a:buNone/>
            </a:pPr>
            <a:r>
              <a:rPr lang="en-US" sz="1800" b="1" baseline="30000" dirty="0">
                <a:solidFill>
                  <a:schemeClr val="bg1"/>
                </a:solidFill>
              </a:rPr>
              <a:t>−</a:t>
            </a:r>
            <a:endParaRPr lang="en-US" sz="1800" dirty="0"/>
          </a:p>
        </p:txBody>
      </p:sp>
      <p:sp>
        <p:nvSpPr>
          <p:cNvPr id="17" name="Text 15"/>
          <p:cNvSpPr/>
          <p:nvPr/>
        </p:nvSpPr>
        <p:spPr>
          <a:xfrm>
            <a:off x="7772400" y="1691640"/>
            <a:ext cx="822960" cy="530352"/>
          </a:xfrm>
          <a:prstGeom prst="roundRect">
            <a:avLst>
              <a:gd name="adj" fmla="val 13793"/>
            </a:avLst>
          </a:prstGeom>
          <a:solidFill>
            <a:schemeClr val="tx2"/>
          </a:solidFill>
          <a:ln w="9525">
            <a:solidFill>
              <a:schemeClr val="bg2">
                <a:alpha val="60000"/>
              </a:schemeClr>
            </a:solidFill>
          </a:ln>
        </p:spPr>
        <p:txBody>
          <a:bodyPr wrap="square" lIns="0" tIns="0" rIns="0" bIns="0" rtlCol="0" anchor="ctr"/>
          <a:lstStyle/>
          <a:p>
            <a:pPr algn="ctr" indent="0" marL="0">
              <a:buNone/>
            </a:pPr>
            <a:r>
              <a:rPr lang="en-US" sz="1800" b="1" dirty="0">
                <a:solidFill>
                  <a:schemeClr val="bg1"/>
                </a:solidFill>
              </a:rPr>
              <a:t>Mg</a:t>
            </a:r>
            <a:pPr algn="ctr" indent="0" marL="0">
              <a:buNone/>
            </a:pPr>
            <a:r>
              <a:rPr lang="en-US" sz="1800" b="1" baseline="30000" dirty="0">
                <a:solidFill>
                  <a:schemeClr val="bg1"/>
                </a:solidFill>
              </a:rPr>
              <a:t>2+</a:t>
            </a:r>
            <a:endParaRPr lang="en-US" sz="1800" dirty="0"/>
          </a:p>
        </p:txBody>
      </p:sp>
      <p:sp>
        <p:nvSpPr>
          <p:cNvPr id="18" name="Like neon (2, 8)"/>
          <p:cNvSpPr/>
          <p:nvPr/>
        </p:nvSpPr>
        <p:spPr>
          <a:xfrm>
            <a:off x="457200" y="2468880"/>
            <a:ext cx="4023360" cy="2103120"/>
          </a:xfrm>
          <a:prstGeom prst="roundRect">
            <a:avLst>
              <a:gd name="adj" fmla="val 4348"/>
            </a:avLst>
          </a:prstGeom>
          <a:solidFill>
            <a:schemeClr val="tx2"/>
          </a:solidFill>
          <a:ln w="9525">
            <a:solidFill>
              <a:schemeClr val="bg2">
                <a:alpha val="30000"/>
              </a:schemeClr>
            </a:solidFill>
            <a:prstDash val="solid"/>
          </a:ln>
        </p:spPr>
      </p:sp>
      <p:sp>
        <p:nvSpPr>
          <p:cNvPr id="19" name="Text 17"/>
          <p:cNvSpPr txBox="1"/>
          <p:nvPr/>
        </p:nvSpPr>
        <p:spPr>
          <a:xfrm>
            <a:off x="640080" y="2578608"/>
            <a:ext cx="3657600" cy="274320"/>
          </a:xfrm>
          <a:prstGeom prst="rect">
            <a:avLst/>
          </a:prstGeom>
          <a:noFill/>
          <a:ln/>
        </p:spPr>
        <p:txBody>
          <a:bodyPr wrap="square" lIns="0" tIns="0" rIns="0" bIns="0" rtlCol="0" anchor="t"/>
          <a:lstStyle/>
          <a:p>
            <a:pPr indent="0" marL="0">
              <a:buNone/>
            </a:pPr>
            <a:r>
              <a:rPr lang="en-US" sz="1400" b="1" dirty="0">
                <a:solidFill>
                  <a:schemeClr val="bg2"/>
                </a:solidFill>
              </a:rPr>
              <a:t>Like neon (2, 8)</a:t>
            </a:r>
            <a:endParaRPr lang="en-US" sz="1400" dirty="0"/>
          </a:p>
        </p:txBody>
      </p:sp>
      <p:sp>
        <p:nvSpPr>
          <p:cNvPr id="20" name="Like argon (2, 8, 8)"/>
          <p:cNvSpPr/>
          <p:nvPr/>
        </p:nvSpPr>
        <p:spPr>
          <a:xfrm>
            <a:off x="4663440" y="2468880"/>
            <a:ext cx="4023360" cy="2103120"/>
          </a:xfrm>
          <a:prstGeom prst="roundRect">
            <a:avLst>
              <a:gd name="adj" fmla="val 4348"/>
            </a:avLst>
          </a:prstGeom>
          <a:solidFill>
            <a:schemeClr val="tx2"/>
          </a:solidFill>
          <a:ln w="9525">
            <a:solidFill>
              <a:schemeClr val="bg2">
                <a:alpha val="30000"/>
              </a:schemeClr>
            </a:solidFill>
            <a:prstDash val="solid"/>
          </a:ln>
        </p:spPr>
      </p:sp>
      <p:sp>
        <p:nvSpPr>
          <p:cNvPr id="21" name="Text 19"/>
          <p:cNvSpPr txBox="1"/>
          <p:nvPr/>
        </p:nvSpPr>
        <p:spPr>
          <a:xfrm>
            <a:off x="4846320" y="2578608"/>
            <a:ext cx="3657600" cy="274320"/>
          </a:xfrm>
          <a:prstGeom prst="rect">
            <a:avLst/>
          </a:prstGeom>
          <a:noFill/>
          <a:ln/>
        </p:spPr>
        <p:txBody>
          <a:bodyPr wrap="square" lIns="0" tIns="0" rIns="0" bIns="0" rtlCol="0" anchor="t"/>
          <a:lstStyle/>
          <a:p>
            <a:pPr indent="0" marL="0">
              <a:buNone/>
            </a:pPr>
            <a:r>
              <a:rPr lang="en-US" sz="1400" b="1" dirty="0">
                <a:solidFill>
                  <a:schemeClr val="bg2"/>
                </a:solidFill>
              </a:rPr>
              <a:t>Like argon (2, 8, 8)</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ection tile 7"/>
          <p:cNvSpPr/>
          <p:nvPr/>
        </p:nvSpPr>
        <p:spPr>
          <a:xfrm>
            <a:off x="457200" y="301752"/>
            <a:ext cx="749808" cy="841248"/>
          </a:xfrm>
          <a:prstGeom prst="roundRect">
            <a:avLst>
              <a:gd name="adj" fmla="val 12000"/>
            </a:avLst>
          </a:prstGeom>
          <a:solidFill>
            <a:srgbClr val="60A5FA">
              <a:alpha val="28000"/>
            </a:srgbClr>
          </a:solidFill>
          <a:ln w="19050">
            <a:solidFill>
              <a:srgbClr val="60A5FA"/>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7</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2400" b="1" dirty="0">
                <a:solidFill>
                  <a:schemeClr val="bg1"/>
                </a:solidFill>
              </a:rPr>
              <a:t>K</a:t>
            </a:r>
            <a:pPr algn="ctr" indent="0" marL="0">
              <a:buNone/>
            </a:pPr>
            <a:r>
              <a:rPr lang="en-US" sz="2400" b="1" baseline="30000" dirty="0">
                <a:solidFill>
                  <a:schemeClr val="bg1"/>
                </a:solidFill>
              </a:rPr>
              <a:t>+</a:t>
            </a:r>
            <a:endParaRPr lang="en-US" sz="2400" dirty="0"/>
          </a:p>
        </p:txBody>
      </p:sp>
      <p:sp>
        <p:nvSpPr>
          <p:cNvPr id="5" name="Text 3"/>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6" name="Text 4"/>
          <p:cNvSpPr/>
          <p:nvPr/>
        </p:nvSpPr>
        <p:spPr>
          <a:xfrm>
            <a:off x="224028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7" name="Text 5"/>
          <p:cNvSpPr txBox="1"/>
          <p:nvPr/>
        </p:nvSpPr>
        <p:spPr>
          <a:xfrm>
            <a:off x="32004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7 of 9</a:t>
            </a:r>
            <a:endParaRPr lang="en-US" sz="1200" dirty="0"/>
          </a:p>
        </p:txBody>
      </p:sp>
      <p:sp>
        <p:nvSpPr>
          <p:cNvPr id="8"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Which noble gas?</a:t>
            </a:r>
            <a:endParaRPr lang="en-US" sz="2800" dirty="0"/>
          </a:p>
        </p:txBody>
      </p:sp>
      <p:sp>
        <p:nvSpPr>
          <p:cNvPr id="9" name="Text 7"/>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Drag each ion to the noble gas it matches, or tap an ion and then tap a box.</a:t>
            </a:r>
            <a:endParaRPr lang="en-US" sz="1300" dirty="0"/>
          </a:p>
        </p:txBody>
      </p:sp>
      <p:sp>
        <p:nvSpPr>
          <p:cNvPr id="10" name="Like neon (2, 8)"/>
          <p:cNvSpPr/>
          <p:nvPr/>
        </p:nvSpPr>
        <p:spPr>
          <a:xfrm>
            <a:off x="457200" y="1691640"/>
            <a:ext cx="4023360" cy="2834640"/>
          </a:xfrm>
          <a:prstGeom prst="roundRect">
            <a:avLst>
              <a:gd name="adj" fmla="val 3226"/>
            </a:avLst>
          </a:prstGeom>
          <a:solidFill>
            <a:schemeClr val="tx2"/>
          </a:solidFill>
          <a:ln w="9525">
            <a:solidFill>
              <a:schemeClr val="bg2">
                <a:alpha val="30000"/>
              </a:schemeClr>
            </a:solidFill>
            <a:prstDash val="solid"/>
          </a:ln>
        </p:spPr>
      </p:sp>
      <p:sp>
        <p:nvSpPr>
          <p:cNvPr id="11" name="Text 9"/>
          <p:cNvSpPr txBox="1"/>
          <p:nvPr/>
        </p:nvSpPr>
        <p:spPr>
          <a:xfrm>
            <a:off x="640080" y="1801368"/>
            <a:ext cx="3657600" cy="274320"/>
          </a:xfrm>
          <a:prstGeom prst="rect">
            <a:avLst/>
          </a:prstGeom>
          <a:noFill/>
          <a:ln/>
        </p:spPr>
        <p:txBody>
          <a:bodyPr wrap="square" lIns="0" tIns="0" rIns="0" bIns="0" rtlCol="0" anchor="t"/>
          <a:lstStyle/>
          <a:p>
            <a:pPr indent="0" marL="0">
              <a:buNone/>
            </a:pPr>
            <a:r>
              <a:rPr lang="en-US" sz="1400" b="1" dirty="0">
                <a:solidFill>
                  <a:schemeClr val="bg2"/>
                </a:solidFill>
              </a:rPr>
              <a:t>Like neon (2, 8)</a:t>
            </a:r>
            <a:endParaRPr lang="en-US" sz="1400" dirty="0"/>
          </a:p>
        </p:txBody>
      </p:sp>
      <p:sp>
        <p:nvSpPr>
          <p:cNvPr id="12" name="Text 10"/>
          <p:cNvSpPr/>
          <p:nvPr/>
        </p:nvSpPr>
        <p:spPr>
          <a:xfrm>
            <a:off x="640080" y="2240280"/>
            <a:ext cx="1143000" cy="530352"/>
          </a:xfrm>
          <a:prstGeom prst="roundRect">
            <a:avLst>
              <a:gd name="adj" fmla="val 13793"/>
            </a:avLst>
          </a:prstGeom>
          <a:solidFill>
            <a:schemeClr val="accent4">
              <a:alpha val="18000"/>
            </a:schemeClr>
          </a:solidFill>
          <a:ln w="12700">
            <a:solidFill>
              <a:schemeClr val="accent4"/>
            </a:solidFill>
          </a:ln>
        </p:spPr>
        <p:txBody>
          <a:bodyPr wrap="square" lIns="0" tIns="0" rIns="0" bIns="0" rtlCol="0" anchor="ctr"/>
          <a:lstStyle/>
          <a:p>
            <a:pPr algn="ctr" indent="0" marL="0">
              <a:buNone/>
            </a:pPr>
            <a:r>
              <a:rPr lang="en-US" sz="1800" b="1" dirty="0">
                <a:solidFill>
                  <a:schemeClr val="bg1"/>
                </a:solidFill>
              </a:rPr>
              <a:t>Na</a:t>
            </a:r>
            <a:pPr algn="ctr" indent="0" marL="0">
              <a:buNone/>
            </a:pPr>
            <a:r>
              <a:rPr lang="en-US" sz="1800" b="1" baseline="30000" dirty="0">
                <a:solidFill>
                  <a:schemeClr val="bg1"/>
                </a:solidFill>
              </a:rPr>
              <a:t>+</a:t>
            </a:r>
            <a:endParaRPr lang="en-US" sz="1800" dirty="0"/>
          </a:p>
        </p:txBody>
      </p:sp>
      <p:sp>
        <p:nvSpPr>
          <p:cNvPr id="13" name="Text 11"/>
          <p:cNvSpPr/>
          <p:nvPr/>
        </p:nvSpPr>
        <p:spPr>
          <a:xfrm>
            <a:off x="1901952" y="2240280"/>
            <a:ext cx="1143000" cy="530352"/>
          </a:xfrm>
          <a:prstGeom prst="roundRect">
            <a:avLst>
              <a:gd name="adj" fmla="val 13793"/>
            </a:avLst>
          </a:prstGeom>
          <a:solidFill>
            <a:schemeClr val="accent4">
              <a:alpha val="18000"/>
            </a:schemeClr>
          </a:solidFill>
          <a:ln w="12700">
            <a:solidFill>
              <a:schemeClr val="accent4"/>
            </a:solidFill>
          </a:ln>
        </p:spPr>
        <p:txBody>
          <a:bodyPr wrap="square" lIns="0" tIns="0" rIns="0" bIns="0" rtlCol="0" anchor="ctr"/>
          <a:lstStyle/>
          <a:p>
            <a:pPr algn="ctr" indent="0" marL="0">
              <a:buNone/>
            </a:pPr>
            <a:r>
              <a:rPr lang="en-US" sz="1800" b="1" dirty="0">
                <a:solidFill>
                  <a:schemeClr val="bg1"/>
                </a:solidFill>
              </a:rPr>
              <a:t>Mg</a:t>
            </a:r>
            <a:pPr algn="ctr" indent="0" marL="0">
              <a:buNone/>
            </a:pPr>
            <a:r>
              <a:rPr lang="en-US" sz="1800" b="1" baseline="30000" dirty="0">
                <a:solidFill>
                  <a:schemeClr val="bg1"/>
                </a:solidFill>
              </a:rPr>
              <a:t>2+</a:t>
            </a:r>
            <a:endParaRPr lang="en-US" sz="1800" dirty="0"/>
          </a:p>
        </p:txBody>
      </p:sp>
      <p:sp>
        <p:nvSpPr>
          <p:cNvPr id="14" name="Text 12"/>
          <p:cNvSpPr/>
          <p:nvPr/>
        </p:nvSpPr>
        <p:spPr>
          <a:xfrm>
            <a:off x="3163824" y="2240280"/>
            <a:ext cx="1143000" cy="530352"/>
          </a:xfrm>
          <a:prstGeom prst="roundRect">
            <a:avLst>
              <a:gd name="adj" fmla="val 13793"/>
            </a:avLst>
          </a:prstGeom>
          <a:solidFill>
            <a:schemeClr val="accent4">
              <a:alpha val="18000"/>
            </a:schemeClr>
          </a:solidFill>
          <a:ln w="12700">
            <a:solidFill>
              <a:schemeClr val="accent4"/>
            </a:solidFill>
          </a:ln>
        </p:spPr>
        <p:txBody>
          <a:bodyPr wrap="square" lIns="0" tIns="0" rIns="0" bIns="0" rtlCol="0" anchor="ctr"/>
          <a:lstStyle/>
          <a:p>
            <a:pPr algn="ctr" indent="0" marL="0">
              <a:buNone/>
            </a:pPr>
            <a:r>
              <a:rPr lang="en-US" sz="1800" b="1" dirty="0">
                <a:solidFill>
                  <a:schemeClr val="bg1"/>
                </a:solidFill>
              </a:rPr>
              <a:t>F</a:t>
            </a:r>
            <a:pPr algn="ctr" indent="0" marL="0">
              <a:buNone/>
            </a:pPr>
            <a:r>
              <a:rPr lang="en-US" sz="1800" b="1" baseline="30000" dirty="0">
                <a:solidFill>
                  <a:schemeClr val="bg1"/>
                </a:solidFill>
              </a:rPr>
              <a:t>−</a:t>
            </a:r>
            <a:endParaRPr lang="en-US" sz="1800" dirty="0"/>
          </a:p>
        </p:txBody>
      </p:sp>
      <p:sp>
        <p:nvSpPr>
          <p:cNvPr id="15" name="Text 13"/>
          <p:cNvSpPr/>
          <p:nvPr/>
        </p:nvSpPr>
        <p:spPr>
          <a:xfrm>
            <a:off x="640080" y="2898648"/>
            <a:ext cx="1143000" cy="530352"/>
          </a:xfrm>
          <a:prstGeom prst="roundRect">
            <a:avLst>
              <a:gd name="adj" fmla="val 13793"/>
            </a:avLst>
          </a:prstGeom>
          <a:solidFill>
            <a:schemeClr val="accent4">
              <a:alpha val="18000"/>
            </a:schemeClr>
          </a:solidFill>
          <a:ln w="12700">
            <a:solidFill>
              <a:schemeClr val="accent4"/>
            </a:solidFill>
          </a:ln>
        </p:spPr>
        <p:txBody>
          <a:bodyPr wrap="square" lIns="0" tIns="0" rIns="0" bIns="0" rtlCol="0" anchor="ctr"/>
          <a:lstStyle/>
          <a:p>
            <a:pPr algn="ctr" indent="0" marL="0">
              <a:buNone/>
            </a:pPr>
            <a:r>
              <a:rPr lang="en-US" sz="1800" b="1" dirty="0">
                <a:solidFill>
                  <a:schemeClr val="bg1"/>
                </a:solidFill>
              </a:rPr>
              <a:t>O</a:t>
            </a:r>
            <a:pPr algn="ctr" indent="0" marL="0">
              <a:buNone/>
            </a:pPr>
            <a:r>
              <a:rPr lang="en-US" sz="1800" b="1" baseline="30000" dirty="0">
                <a:solidFill>
                  <a:schemeClr val="bg1"/>
                </a:solidFill>
              </a:rPr>
              <a:t>2−</a:t>
            </a:r>
            <a:endParaRPr lang="en-US" sz="1800" dirty="0"/>
          </a:p>
        </p:txBody>
      </p:sp>
      <p:sp>
        <p:nvSpPr>
          <p:cNvPr id="16" name="Text 14"/>
          <p:cNvSpPr/>
          <p:nvPr/>
        </p:nvSpPr>
        <p:spPr>
          <a:xfrm>
            <a:off x="1901952" y="2898648"/>
            <a:ext cx="1143000" cy="530352"/>
          </a:xfrm>
          <a:prstGeom prst="roundRect">
            <a:avLst>
              <a:gd name="adj" fmla="val 13793"/>
            </a:avLst>
          </a:prstGeom>
          <a:solidFill>
            <a:schemeClr val="accent4">
              <a:alpha val="18000"/>
            </a:schemeClr>
          </a:solidFill>
          <a:ln w="12700">
            <a:solidFill>
              <a:schemeClr val="accent4"/>
            </a:solidFill>
          </a:ln>
        </p:spPr>
        <p:txBody>
          <a:bodyPr wrap="square" lIns="0" tIns="0" rIns="0" bIns="0" rtlCol="0" anchor="ctr"/>
          <a:lstStyle/>
          <a:p>
            <a:pPr algn="ctr" indent="0" marL="0">
              <a:buNone/>
            </a:pPr>
            <a:r>
              <a:rPr lang="en-US" sz="1800" b="1" dirty="0">
                <a:solidFill>
                  <a:schemeClr val="bg1"/>
                </a:solidFill>
              </a:rPr>
              <a:t>Al</a:t>
            </a:r>
            <a:pPr algn="ctr" indent="0" marL="0">
              <a:buNone/>
            </a:pPr>
            <a:r>
              <a:rPr lang="en-US" sz="1800" b="1" baseline="30000" dirty="0">
                <a:solidFill>
                  <a:schemeClr val="bg1"/>
                </a:solidFill>
              </a:rPr>
              <a:t>3+</a:t>
            </a:r>
            <a:endParaRPr lang="en-US" sz="1800" dirty="0"/>
          </a:p>
        </p:txBody>
      </p:sp>
      <p:sp>
        <p:nvSpPr>
          <p:cNvPr id="17" name="Text 15"/>
          <p:cNvSpPr txBox="1"/>
          <p:nvPr/>
        </p:nvSpPr>
        <p:spPr>
          <a:xfrm>
            <a:off x="640080" y="4023360"/>
            <a:ext cx="3657600" cy="274320"/>
          </a:xfrm>
          <a:prstGeom prst="rect">
            <a:avLst/>
          </a:prstGeom>
          <a:noFill/>
          <a:ln/>
        </p:spPr>
        <p:txBody>
          <a:bodyPr wrap="square" lIns="0" tIns="0" rIns="0" bIns="0" rtlCol="0" anchor="t"/>
          <a:lstStyle/>
          <a:p>
            <a:pPr indent="0" marL="0">
              <a:buNone/>
            </a:pPr>
            <a:r>
              <a:rPr lang="en-US" sz="1200" dirty="0">
                <a:solidFill>
                  <a:schemeClr val="bg2"/>
                </a:solidFill>
              </a:rPr>
              <a:t>All have 10 electrons.</a:t>
            </a:r>
            <a:endParaRPr lang="en-US" sz="1200" dirty="0"/>
          </a:p>
        </p:txBody>
      </p:sp>
      <p:sp>
        <p:nvSpPr>
          <p:cNvPr id="18" name="Like argon (2, 8, 8)"/>
          <p:cNvSpPr/>
          <p:nvPr/>
        </p:nvSpPr>
        <p:spPr>
          <a:xfrm>
            <a:off x="4663440" y="1691640"/>
            <a:ext cx="4023360" cy="2834640"/>
          </a:xfrm>
          <a:prstGeom prst="roundRect">
            <a:avLst>
              <a:gd name="adj" fmla="val 3226"/>
            </a:avLst>
          </a:prstGeom>
          <a:solidFill>
            <a:schemeClr val="tx2"/>
          </a:solidFill>
          <a:ln w="9525">
            <a:solidFill>
              <a:schemeClr val="bg2">
                <a:alpha val="30000"/>
              </a:schemeClr>
            </a:solidFill>
            <a:prstDash val="solid"/>
          </a:ln>
        </p:spPr>
      </p:sp>
      <p:sp>
        <p:nvSpPr>
          <p:cNvPr id="19" name="Text 17"/>
          <p:cNvSpPr txBox="1"/>
          <p:nvPr/>
        </p:nvSpPr>
        <p:spPr>
          <a:xfrm>
            <a:off x="4846320" y="1801368"/>
            <a:ext cx="3657600" cy="274320"/>
          </a:xfrm>
          <a:prstGeom prst="rect">
            <a:avLst/>
          </a:prstGeom>
          <a:noFill/>
          <a:ln/>
        </p:spPr>
        <p:txBody>
          <a:bodyPr wrap="square" lIns="0" tIns="0" rIns="0" bIns="0" rtlCol="0" anchor="t"/>
          <a:lstStyle/>
          <a:p>
            <a:pPr indent="0" marL="0">
              <a:buNone/>
            </a:pPr>
            <a:r>
              <a:rPr lang="en-US" sz="1400" b="1" dirty="0">
                <a:solidFill>
                  <a:schemeClr val="bg2"/>
                </a:solidFill>
              </a:rPr>
              <a:t>Like argon (2, 8, 8)</a:t>
            </a:r>
            <a:endParaRPr lang="en-US" sz="1400" dirty="0"/>
          </a:p>
        </p:txBody>
      </p:sp>
      <p:sp>
        <p:nvSpPr>
          <p:cNvPr id="20" name="Text 18"/>
          <p:cNvSpPr/>
          <p:nvPr/>
        </p:nvSpPr>
        <p:spPr>
          <a:xfrm>
            <a:off x="4846320" y="2240280"/>
            <a:ext cx="1143000" cy="530352"/>
          </a:xfrm>
          <a:prstGeom prst="roundRect">
            <a:avLst>
              <a:gd name="adj" fmla="val 13793"/>
            </a:avLst>
          </a:prstGeom>
          <a:solidFill>
            <a:schemeClr val="accent4">
              <a:alpha val="18000"/>
            </a:schemeClr>
          </a:solidFill>
          <a:ln w="12700">
            <a:solidFill>
              <a:schemeClr val="accent4"/>
            </a:solidFill>
          </a:ln>
        </p:spPr>
        <p:txBody>
          <a:bodyPr wrap="square" lIns="0" tIns="0" rIns="0" bIns="0" rtlCol="0" anchor="ctr"/>
          <a:lstStyle/>
          <a:p>
            <a:pPr algn="ctr" indent="0" marL="0">
              <a:buNone/>
            </a:pPr>
            <a:r>
              <a:rPr lang="en-US" sz="1800" b="1" dirty="0">
                <a:solidFill>
                  <a:schemeClr val="bg1"/>
                </a:solidFill>
              </a:rPr>
              <a:t>K</a:t>
            </a:r>
            <a:pPr algn="ctr" indent="0" marL="0">
              <a:buNone/>
            </a:pPr>
            <a:r>
              <a:rPr lang="en-US" sz="1800" b="1" baseline="30000" dirty="0">
                <a:solidFill>
                  <a:schemeClr val="bg1"/>
                </a:solidFill>
              </a:rPr>
              <a:t>+</a:t>
            </a:r>
            <a:endParaRPr lang="en-US" sz="1800" dirty="0"/>
          </a:p>
        </p:txBody>
      </p:sp>
      <p:sp>
        <p:nvSpPr>
          <p:cNvPr id="21" name="Text 19"/>
          <p:cNvSpPr/>
          <p:nvPr/>
        </p:nvSpPr>
        <p:spPr>
          <a:xfrm>
            <a:off x="6108192" y="2240280"/>
            <a:ext cx="1143000" cy="530352"/>
          </a:xfrm>
          <a:prstGeom prst="roundRect">
            <a:avLst>
              <a:gd name="adj" fmla="val 13793"/>
            </a:avLst>
          </a:prstGeom>
          <a:solidFill>
            <a:schemeClr val="accent4">
              <a:alpha val="18000"/>
            </a:schemeClr>
          </a:solidFill>
          <a:ln w="12700">
            <a:solidFill>
              <a:schemeClr val="accent4"/>
            </a:solidFill>
          </a:ln>
        </p:spPr>
        <p:txBody>
          <a:bodyPr wrap="square" lIns="0" tIns="0" rIns="0" bIns="0" rtlCol="0" anchor="ctr"/>
          <a:lstStyle/>
          <a:p>
            <a:pPr algn="ctr" indent="0" marL="0">
              <a:buNone/>
            </a:pPr>
            <a:r>
              <a:rPr lang="en-US" sz="1800" b="1" dirty="0">
                <a:solidFill>
                  <a:schemeClr val="bg1"/>
                </a:solidFill>
              </a:rPr>
              <a:t>Ca</a:t>
            </a:r>
            <a:pPr algn="ctr" indent="0" marL="0">
              <a:buNone/>
            </a:pPr>
            <a:r>
              <a:rPr lang="en-US" sz="1800" b="1" baseline="30000" dirty="0">
                <a:solidFill>
                  <a:schemeClr val="bg1"/>
                </a:solidFill>
              </a:rPr>
              <a:t>2+</a:t>
            </a:r>
            <a:endParaRPr lang="en-US" sz="1800" dirty="0"/>
          </a:p>
        </p:txBody>
      </p:sp>
      <p:sp>
        <p:nvSpPr>
          <p:cNvPr id="22" name="Text 20"/>
          <p:cNvSpPr/>
          <p:nvPr/>
        </p:nvSpPr>
        <p:spPr>
          <a:xfrm>
            <a:off x="7370064" y="2240280"/>
            <a:ext cx="1143000" cy="530352"/>
          </a:xfrm>
          <a:prstGeom prst="roundRect">
            <a:avLst>
              <a:gd name="adj" fmla="val 13793"/>
            </a:avLst>
          </a:prstGeom>
          <a:solidFill>
            <a:schemeClr val="accent4">
              <a:alpha val="18000"/>
            </a:schemeClr>
          </a:solidFill>
          <a:ln w="12700">
            <a:solidFill>
              <a:schemeClr val="accent4"/>
            </a:solidFill>
          </a:ln>
        </p:spPr>
        <p:txBody>
          <a:bodyPr wrap="square" lIns="0" tIns="0" rIns="0" bIns="0" rtlCol="0" anchor="ctr"/>
          <a:lstStyle/>
          <a:p>
            <a:pPr algn="ctr" indent="0" marL="0">
              <a:buNone/>
            </a:pPr>
            <a:r>
              <a:rPr lang="en-US" sz="1800" b="1" dirty="0">
                <a:solidFill>
                  <a:schemeClr val="bg1"/>
                </a:solidFill>
              </a:rPr>
              <a:t>Cl</a:t>
            </a:r>
            <a:pPr algn="ctr" indent="0" marL="0">
              <a:buNone/>
            </a:pPr>
            <a:r>
              <a:rPr lang="en-US" sz="1800" b="1" baseline="30000" dirty="0">
                <a:solidFill>
                  <a:schemeClr val="bg1"/>
                </a:solidFill>
              </a:rPr>
              <a:t>−</a:t>
            </a:r>
            <a:endParaRPr lang="en-US" sz="1800" dirty="0"/>
          </a:p>
        </p:txBody>
      </p:sp>
      <p:sp>
        <p:nvSpPr>
          <p:cNvPr id="23" name="Text 21"/>
          <p:cNvSpPr/>
          <p:nvPr/>
        </p:nvSpPr>
        <p:spPr>
          <a:xfrm>
            <a:off x="4846320" y="2898648"/>
            <a:ext cx="1143000" cy="530352"/>
          </a:xfrm>
          <a:prstGeom prst="roundRect">
            <a:avLst>
              <a:gd name="adj" fmla="val 13793"/>
            </a:avLst>
          </a:prstGeom>
          <a:solidFill>
            <a:schemeClr val="accent4">
              <a:alpha val="18000"/>
            </a:schemeClr>
          </a:solidFill>
          <a:ln w="12700">
            <a:solidFill>
              <a:schemeClr val="accent4"/>
            </a:solidFill>
          </a:ln>
        </p:spPr>
        <p:txBody>
          <a:bodyPr wrap="square" lIns="0" tIns="0" rIns="0" bIns="0" rtlCol="0" anchor="ctr"/>
          <a:lstStyle/>
          <a:p>
            <a:pPr algn="ctr" indent="0" marL="0">
              <a:buNone/>
            </a:pPr>
            <a:r>
              <a:rPr lang="en-US" sz="1800" b="1" dirty="0">
                <a:solidFill>
                  <a:schemeClr val="bg1"/>
                </a:solidFill>
              </a:rPr>
              <a:t>S</a:t>
            </a:r>
            <a:pPr algn="ctr" indent="0" marL="0">
              <a:buNone/>
            </a:pPr>
            <a:r>
              <a:rPr lang="en-US" sz="1800" b="1" baseline="30000" dirty="0">
                <a:solidFill>
                  <a:schemeClr val="bg1"/>
                </a:solidFill>
              </a:rPr>
              <a:t>2−</a:t>
            </a:r>
            <a:endParaRPr lang="en-US" sz="1800" dirty="0"/>
          </a:p>
        </p:txBody>
      </p:sp>
      <p:sp>
        <p:nvSpPr>
          <p:cNvPr id="24" name="Text 22"/>
          <p:cNvSpPr txBox="1"/>
          <p:nvPr/>
        </p:nvSpPr>
        <p:spPr>
          <a:xfrm>
            <a:off x="4846320" y="4023360"/>
            <a:ext cx="3657600" cy="274320"/>
          </a:xfrm>
          <a:prstGeom prst="rect">
            <a:avLst/>
          </a:prstGeom>
          <a:noFill/>
          <a:ln/>
        </p:spPr>
        <p:txBody>
          <a:bodyPr wrap="square" lIns="0" tIns="0" rIns="0" bIns="0" rtlCol="0" anchor="t"/>
          <a:lstStyle/>
          <a:p>
            <a:pPr indent="0" marL="0">
              <a:buNone/>
            </a:pPr>
            <a:r>
              <a:rPr lang="en-US" sz="1200" dirty="0">
                <a:solidFill>
                  <a:schemeClr val="bg2"/>
                </a:solidFill>
              </a:rPr>
              <a:t>All have 18 electrons.</a:t>
            </a:r>
            <a:endParaRPr lang="en-US" sz="12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ection tile 7"/>
          <p:cNvSpPr/>
          <p:nvPr/>
        </p:nvSpPr>
        <p:spPr>
          <a:xfrm>
            <a:off x="457200" y="301752"/>
            <a:ext cx="749808" cy="841248"/>
          </a:xfrm>
          <a:prstGeom prst="roundRect">
            <a:avLst>
              <a:gd name="adj" fmla="val 12000"/>
            </a:avLst>
          </a:prstGeom>
          <a:solidFill>
            <a:srgbClr val="60A5FA">
              <a:alpha val="28000"/>
            </a:srgbClr>
          </a:solidFill>
          <a:ln w="19050">
            <a:solidFill>
              <a:srgbClr val="60A5FA"/>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7</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2400" b="1" dirty="0">
                <a:solidFill>
                  <a:schemeClr val="bg1"/>
                </a:solidFill>
              </a:rPr>
              <a:t>K</a:t>
            </a:r>
            <a:pPr algn="ctr" indent="0" marL="0">
              <a:buNone/>
            </a:pPr>
            <a:r>
              <a:rPr lang="en-US" sz="2400" b="1" baseline="30000" dirty="0">
                <a:solidFill>
                  <a:schemeClr val="bg1"/>
                </a:solidFill>
              </a:rPr>
              <a:t>+</a:t>
            </a:r>
            <a:endParaRPr lang="en-US" sz="2400" dirty="0"/>
          </a:p>
        </p:txBody>
      </p:sp>
      <p:sp>
        <p:nvSpPr>
          <p:cNvPr id="5" name="Text 3"/>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6" name="Text 4"/>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7 of 9</a:t>
            </a:r>
            <a:endParaRPr lang="en-US" sz="1200" dirty="0"/>
          </a:p>
        </p:txBody>
      </p:sp>
      <p:sp>
        <p:nvSpPr>
          <p:cNvPr id="7"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Spot the mistake</a:t>
            </a:r>
            <a:endParaRPr lang="en-US" sz="2800" dirty="0"/>
          </a:p>
        </p:txBody>
      </p:sp>
      <p:sp>
        <p:nvSpPr>
          <p:cNvPr id="8" name="Text 6"/>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Each drawing has one mistake. What's wrong?</a:t>
            </a:r>
            <a:endParaRPr lang="en-US" sz="1300" dirty="0"/>
          </a:p>
        </p:txBody>
      </p:sp>
      <p:sp>
        <p:nvSpPr>
          <p:cNvPr id="9" name="Drawing 1"/>
          <p:cNvSpPr/>
          <p:nvPr/>
        </p:nvSpPr>
        <p:spPr>
          <a:xfrm>
            <a:off x="457200" y="1645920"/>
            <a:ext cx="1956816" cy="3017520"/>
          </a:xfrm>
          <a:prstGeom prst="roundRect">
            <a:avLst>
              <a:gd name="adj" fmla="val 4673"/>
            </a:avLst>
          </a:prstGeom>
          <a:solidFill>
            <a:schemeClr val="tx2"/>
          </a:solidFill>
          <a:ln w="9525">
            <a:solidFill>
              <a:schemeClr val="bg2">
                <a:alpha val="30000"/>
              </a:schemeClr>
            </a:solidFill>
            <a:prstDash val="solid"/>
          </a:ln>
        </p:spPr>
      </p:sp>
      <p:sp>
        <p:nvSpPr>
          <p:cNvPr id="10" name="Drawing 1: shell 1"/>
          <p:cNvSpPr/>
          <p:nvPr/>
        </p:nvSpPr>
        <p:spPr>
          <a:xfrm>
            <a:off x="1020470" y="2227478"/>
            <a:ext cx="702259" cy="702259"/>
          </a:xfrm>
          <a:prstGeom prst="ellipse">
            <a:avLst/>
          </a:prstGeom>
          <a:solidFill>
            <a:schemeClr val="bg1">
              <a:alpha val="0"/>
            </a:schemeClr>
          </a:solidFill>
          <a:ln w="15875">
            <a:solidFill>
              <a:schemeClr val="bg2">
                <a:alpha val="55000"/>
              </a:schemeClr>
            </a:solidFill>
            <a:prstDash val="solid"/>
          </a:ln>
        </p:spPr>
      </p:sp>
      <p:sp>
        <p:nvSpPr>
          <p:cNvPr id="11" name="Drawing 1: shell 2"/>
          <p:cNvSpPr/>
          <p:nvPr/>
        </p:nvSpPr>
        <p:spPr>
          <a:xfrm>
            <a:off x="801014" y="2008022"/>
            <a:ext cx="1141171" cy="1141171"/>
          </a:xfrm>
          <a:prstGeom prst="ellipse">
            <a:avLst/>
          </a:prstGeom>
          <a:solidFill>
            <a:schemeClr val="bg1">
              <a:alpha val="0"/>
            </a:schemeClr>
          </a:solidFill>
          <a:ln w="15875">
            <a:solidFill>
              <a:schemeClr val="bg2">
                <a:alpha val="55000"/>
              </a:schemeClr>
            </a:solidFill>
            <a:prstDash val="solid"/>
          </a:ln>
        </p:spPr>
      </p:sp>
      <p:sp>
        <p:nvSpPr>
          <p:cNvPr id="12" name="Drawing 1: nucleus"/>
          <p:cNvSpPr/>
          <p:nvPr/>
        </p:nvSpPr>
        <p:spPr>
          <a:xfrm>
            <a:off x="1144829" y="2351837"/>
            <a:ext cx="453542" cy="453542"/>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700" b="1" dirty="0">
                <a:solidFill>
                  <a:schemeClr val="bg1"/>
                </a:solidFill>
              </a:rPr>
              <a:t>10 p</a:t>
            </a:r>
            <a:pPr algn="ctr" indent="0" marL="0">
              <a:buNone/>
            </a:pPr>
            <a:r>
              <a:rPr lang="en-US" sz="700" b="1" baseline="30000" dirty="0">
                <a:solidFill>
                  <a:schemeClr val="bg1"/>
                </a:solidFill>
              </a:rPr>
              <a:t>+</a:t>
            </a:r>
            <a:endParaRPr lang="en-US" sz="700" dirty="0"/>
          </a:p>
          <a:p>
            <a:pPr algn="ctr" indent="0" marL="0">
              <a:buNone/>
            </a:pPr>
            <a:r>
              <a:rPr lang="en-US" sz="700" b="1" dirty="0">
                <a:solidFill>
                  <a:schemeClr val="bg1"/>
                </a:solidFill>
              </a:rPr>
              <a:t>12 n</a:t>
            </a:r>
            <a:pPr algn="ctr" indent="0" marL="0">
              <a:buNone/>
            </a:pPr>
            <a:r>
              <a:rPr lang="en-US" sz="700" b="1" baseline="30000" dirty="0">
                <a:solidFill>
                  <a:schemeClr val="bg1"/>
                </a:solidFill>
              </a:rPr>
              <a:t>0</a:t>
            </a:r>
            <a:endParaRPr lang="en-US" sz="700" dirty="0"/>
          </a:p>
        </p:txBody>
      </p:sp>
      <p:sp>
        <p:nvSpPr>
          <p:cNvPr id="13" name="Drawing 1: electron, shell 1"/>
          <p:cNvSpPr/>
          <p:nvPr/>
        </p:nvSpPr>
        <p:spPr>
          <a:xfrm>
            <a:off x="1316736" y="2172614"/>
            <a:ext cx="109728" cy="109728"/>
          </a:xfrm>
          <a:prstGeom prst="ellipse">
            <a:avLst/>
          </a:prstGeom>
          <a:solidFill>
            <a:schemeClr val="accent1"/>
          </a:solidFill>
          <a:ln w="3175">
            <a:solidFill>
              <a:schemeClr val="accent1"/>
            </a:solidFill>
            <a:prstDash val="solid"/>
          </a:ln>
        </p:spPr>
      </p:sp>
      <p:sp>
        <p:nvSpPr>
          <p:cNvPr id="14" name="Drawing 1: electron, shell 1"/>
          <p:cNvSpPr/>
          <p:nvPr/>
        </p:nvSpPr>
        <p:spPr>
          <a:xfrm>
            <a:off x="1667866" y="2523744"/>
            <a:ext cx="109728" cy="109728"/>
          </a:xfrm>
          <a:prstGeom prst="ellipse">
            <a:avLst/>
          </a:prstGeom>
          <a:solidFill>
            <a:schemeClr val="accent1"/>
          </a:solidFill>
          <a:ln w="3175">
            <a:solidFill>
              <a:schemeClr val="accent1"/>
            </a:solidFill>
            <a:prstDash val="solid"/>
          </a:ln>
        </p:spPr>
      </p:sp>
      <p:sp>
        <p:nvSpPr>
          <p:cNvPr id="15" name="Drawing 1: electron, shell 2"/>
          <p:cNvSpPr/>
          <p:nvPr/>
        </p:nvSpPr>
        <p:spPr>
          <a:xfrm>
            <a:off x="1243059" y="1957935"/>
            <a:ext cx="109728" cy="109728"/>
          </a:xfrm>
          <a:prstGeom prst="ellipse">
            <a:avLst/>
          </a:prstGeom>
          <a:solidFill>
            <a:schemeClr val="accent1"/>
          </a:solidFill>
          <a:ln w="3175">
            <a:solidFill>
              <a:schemeClr val="accent1"/>
            </a:solidFill>
            <a:prstDash val="solid"/>
          </a:ln>
        </p:spPr>
      </p:sp>
      <p:sp>
        <p:nvSpPr>
          <p:cNvPr id="16" name="Drawing 1: electron, shell 2"/>
          <p:cNvSpPr/>
          <p:nvPr/>
        </p:nvSpPr>
        <p:spPr>
          <a:xfrm>
            <a:off x="1390413" y="1957935"/>
            <a:ext cx="109728" cy="109728"/>
          </a:xfrm>
          <a:prstGeom prst="ellipse">
            <a:avLst/>
          </a:prstGeom>
          <a:solidFill>
            <a:schemeClr val="accent1"/>
          </a:solidFill>
          <a:ln w="3175">
            <a:solidFill>
              <a:schemeClr val="accent1"/>
            </a:solidFill>
            <a:prstDash val="solid"/>
          </a:ln>
        </p:spPr>
      </p:sp>
      <p:sp>
        <p:nvSpPr>
          <p:cNvPr id="17" name="Drawing 1: electron, shell 2"/>
          <p:cNvSpPr/>
          <p:nvPr/>
        </p:nvSpPr>
        <p:spPr>
          <a:xfrm>
            <a:off x="1882545" y="2450067"/>
            <a:ext cx="109728" cy="109728"/>
          </a:xfrm>
          <a:prstGeom prst="ellipse">
            <a:avLst/>
          </a:prstGeom>
          <a:solidFill>
            <a:schemeClr val="accent1"/>
          </a:solidFill>
          <a:ln w="3175">
            <a:solidFill>
              <a:schemeClr val="accent1"/>
            </a:solidFill>
            <a:prstDash val="solid"/>
          </a:ln>
        </p:spPr>
      </p:sp>
      <p:sp>
        <p:nvSpPr>
          <p:cNvPr id="18" name="Drawing 1: electron, shell 2"/>
          <p:cNvSpPr/>
          <p:nvPr/>
        </p:nvSpPr>
        <p:spPr>
          <a:xfrm>
            <a:off x="1882545" y="2597421"/>
            <a:ext cx="109728" cy="109728"/>
          </a:xfrm>
          <a:prstGeom prst="ellipse">
            <a:avLst/>
          </a:prstGeom>
          <a:solidFill>
            <a:schemeClr val="accent1"/>
          </a:solidFill>
          <a:ln w="3175">
            <a:solidFill>
              <a:schemeClr val="accent1"/>
            </a:solidFill>
            <a:prstDash val="solid"/>
          </a:ln>
        </p:spPr>
      </p:sp>
      <p:sp>
        <p:nvSpPr>
          <p:cNvPr id="19" name="Drawing 1: electron, shell 2"/>
          <p:cNvSpPr/>
          <p:nvPr/>
        </p:nvSpPr>
        <p:spPr>
          <a:xfrm>
            <a:off x="1390413" y="3089553"/>
            <a:ext cx="109728" cy="109728"/>
          </a:xfrm>
          <a:prstGeom prst="ellipse">
            <a:avLst/>
          </a:prstGeom>
          <a:solidFill>
            <a:schemeClr val="accent1"/>
          </a:solidFill>
          <a:ln w="3175">
            <a:solidFill>
              <a:schemeClr val="accent1"/>
            </a:solidFill>
            <a:prstDash val="solid"/>
          </a:ln>
        </p:spPr>
      </p:sp>
      <p:sp>
        <p:nvSpPr>
          <p:cNvPr id="20" name="Drawing 1: electron, shell 2"/>
          <p:cNvSpPr/>
          <p:nvPr/>
        </p:nvSpPr>
        <p:spPr>
          <a:xfrm>
            <a:off x="1243059" y="3089553"/>
            <a:ext cx="109728" cy="109728"/>
          </a:xfrm>
          <a:prstGeom prst="ellipse">
            <a:avLst/>
          </a:prstGeom>
          <a:solidFill>
            <a:schemeClr val="accent1"/>
          </a:solidFill>
          <a:ln w="3175">
            <a:solidFill>
              <a:schemeClr val="accent1"/>
            </a:solidFill>
            <a:prstDash val="solid"/>
          </a:ln>
        </p:spPr>
      </p:sp>
      <p:sp>
        <p:nvSpPr>
          <p:cNvPr id="21" name="Drawing 1: electron, shell 2"/>
          <p:cNvSpPr/>
          <p:nvPr/>
        </p:nvSpPr>
        <p:spPr>
          <a:xfrm>
            <a:off x="750927" y="2597421"/>
            <a:ext cx="109728" cy="109728"/>
          </a:xfrm>
          <a:prstGeom prst="ellipse">
            <a:avLst/>
          </a:prstGeom>
          <a:solidFill>
            <a:schemeClr val="accent1"/>
          </a:solidFill>
          <a:ln w="3175">
            <a:solidFill>
              <a:schemeClr val="accent1"/>
            </a:solidFill>
            <a:prstDash val="solid"/>
          </a:ln>
        </p:spPr>
      </p:sp>
      <p:sp>
        <p:nvSpPr>
          <p:cNvPr id="22" name="Drawing 1: electron, shell 2"/>
          <p:cNvSpPr/>
          <p:nvPr/>
        </p:nvSpPr>
        <p:spPr>
          <a:xfrm>
            <a:off x="750927" y="2450067"/>
            <a:ext cx="109728" cy="109728"/>
          </a:xfrm>
          <a:prstGeom prst="ellipse">
            <a:avLst/>
          </a:prstGeom>
          <a:solidFill>
            <a:schemeClr val="accent1"/>
          </a:solidFill>
          <a:ln w="3175">
            <a:solidFill>
              <a:schemeClr val="accent1"/>
            </a:solidFill>
            <a:prstDash val="solid"/>
          </a:ln>
        </p:spPr>
      </p:sp>
      <p:sp>
        <p:nvSpPr>
          <p:cNvPr id="23" name="Drawing 1: left bracket"/>
          <p:cNvSpPr/>
          <p:nvPr/>
        </p:nvSpPr>
        <p:spPr>
          <a:xfrm>
            <a:off x="683971" y="1890979"/>
            <a:ext cx="102413" cy="1375258"/>
          </a:xfrm>
          <a:prstGeom prst="leftBracket">
            <a:avLst/>
          </a:prstGeom>
          <a:noFill/>
          <a:ln w="19050">
            <a:solidFill>
              <a:schemeClr val="bg1"/>
            </a:solidFill>
            <a:prstDash val="solid"/>
          </a:ln>
        </p:spPr>
      </p:sp>
      <p:sp>
        <p:nvSpPr>
          <p:cNvPr id="24" name="Drawing 1: right bracket"/>
          <p:cNvSpPr/>
          <p:nvPr/>
        </p:nvSpPr>
        <p:spPr>
          <a:xfrm>
            <a:off x="1956816" y="1890979"/>
            <a:ext cx="102413" cy="1375258"/>
          </a:xfrm>
          <a:prstGeom prst="rightBracket">
            <a:avLst/>
          </a:prstGeom>
          <a:noFill/>
          <a:ln w="19050">
            <a:solidFill>
              <a:schemeClr val="bg1"/>
            </a:solidFill>
            <a:prstDash val="solid"/>
          </a:ln>
        </p:spPr>
      </p:sp>
      <p:sp>
        <p:nvSpPr>
          <p:cNvPr id="25" name="Drawing 1: charge"/>
          <p:cNvSpPr txBox="1"/>
          <p:nvPr/>
        </p:nvSpPr>
        <p:spPr>
          <a:xfrm>
            <a:off x="2077517" y="1807159"/>
            <a:ext cx="243840" cy="182880"/>
          </a:xfrm>
          <a:prstGeom prst="rect">
            <a:avLst/>
          </a:prstGeom>
          <a:noFill/>
          <a:ln/>
        </p:spPr>
        <p:txBody>
          <a:bodyPr wrap="square" lIns="0" tIns="0" rIns="0" bIns="0" rtlCol="0" anchor="t"/>
          <a:lstStyle/>
          <a:p>
            <a:pPr indent="0" marL="0">
              <a:buNone/>
            </a:pPr>
            <a:r>
              <a:rPr lang="en-US" sz="1200" b="1" dirty="0">
                <a:solidFill>
                  <a:schemeClr val="bg1"/>
                </a:solidFill>
              </a:rPr>
              <a:t>+</a:t>
            </a:r>
            <a:endParaRPr lang="en-US" sz="1200" dirty="0"/>
          </a:p>
        </p:txBody>
      </p:sp>
      <p:sp>
        <p:nvSpPr>
          <p:cNvPr id="26" name="Text 24"/>
          <p:cNvSpPr txBox="1"/>
          <p:nvPr/>
        </p:nvSpPr>
        <p:spPr>
          <a:xfrm>
            <a:off x="548640" y="3337560"/>
            <a:ext cx="1773936" cy="320040"/>
          </a:xfrm>
          <a:prstGeom prst="rect">
            <a:avLst/>
          </a:prstGeom>
          <a:noFill/>
          <a:ln/>
        </p:spPr>
        <p:txBody>
          <a:bodyPr wrap="square" lIns="0" tIns="0" rIns="0" bIns="0" rtlCol="0" anchor="ctr"/>
          <a:lstStyle/>
          <a:p>
            <a:pPr algn="ctr" indent="0" marL="0">
              <a:buNone/>
            </a:pPr>
            <a:r>
              <a:rPr lang="en-US" sz="1200" dirty="0">
                <a:solidFill>
                  <a:schemeClr val="bg2"/>
                </a:solidFill>
              </a:rPr>
              <a:t>Supposed to be </a:t>
            </a:r>
            <a:pPr algn="ctr" indent="0" marL="0">
              <a:buNone/>
            </a:pPr>
            <a:r>
              <a:rPr lang="en-US" sz="1200" b="1" dirty="0">
                <a:solidFill>
                  <a:schemeClr val="bg2"/>
                </a:solidFill>
              </a:rPr>
              <a:t>Na</a:t>
            </a:r>
            <a:pPr algn="ctr" indent="0" marL="0">
              <a:buNone/>
            </a:pPr>
            <a:r>
              <a:rPr lang="en-US" sz="1200" b="1" baseline="30000" dirty="0">
                <a:solidFill>
                  <a:schemeClr val="bg2"/>
                </a:solidFill>
              </a:rPr>
              <a:t>+</a:t>
            </a:r>
            <a:endParaRPr lang="en-US" sz="1200" dirty="0"/>
          </a:p>
        </p:txBody>
      </p:sp>
      <p:sp>
        <p:nvSpPr>
          <p:cNvPr id="27" name="Text 25"/>
          <p:cNvSpPr txBox="1"/>
          <p:nvPr/>
        </p:nvSpPr>
        <p:spPr>
          <a:xfrm>
            <a:off x="548640" y="3886200"/>
            <a:ext cx="1773936" cy="320040"/>
          </a:xfrm>
          <a:prstGeom prst="rect">
            <a:avLst/>
          </a:prstGeom>
          <a:noFill/>
          <a:ln/>
        </p:spPr>
        <p:txBody>
          <a:bodyPr wrap="square" lIns="0" tIns="0" rIns="0" bIns="0" rtlCol="0" anchor="t"/>
          <a:lstStyle/>
          <a:p>
            <a:pPr algn="ctr" indent="0" marL="0">
              <a:buNone/>
            </a:pPr>
            <a:r>
              <a:rPr lang="en-US" sz="1300" b="1" dirty="0">
                <a:solidFill>
                  <a:schemeClr val="accent2"/>
                </a:solidFill>
              </a:rPr>
              <a:t>What's wrong?</a:t>
            </a:r>
            <a:endParaRPr lang="en-US" sz="1300" dirty="0"/>
          </a:p>
        </p:txBody>
      </p:sp>
      <p:sp>
        <p:nvSpPr>
          <p:cNvPr id="28" name="Drawing 2"/>
          <p:cNvSpPr/>
          <p:nvPr/>
        </p:nvSpPr>
        <p:spPr>
          <a:xfrm>
            <a:off x="2551176" y="1645920"/>
            <a:ext cx="1956816" cy="3017520"/>
          </a:xfrm>
          <a:prstGeom prst="roundRect">
            <a:avLst>
              <a:gd name="adj" fmla="val 4673"/>
            </a:avLst>
          </a:prstGeom>
          <a:solidFill>
            <a:schemeClr val="tx2"/>
          </a:solidFill>
          <a:ln w="9525">
            <a:solidFill>
              <a:schemeClr val="bg2">
                <a:alpha val="30000"/>
              </a:schemeClr>
            </a:solidFill>
            <a:prstDash val="solid"/>
          </a:ln>
        </p:spPr>
      </p:sp>
      <p:sp>
        <p:nvSpPr>
          <p:cNvPr id="29" name="Drawing 2: shell 1"/>
          <p:cNvSpPr/>
          <p:nvPr/>
        </p:nvSpPr>
        <p:spPr>
          <a:xfrm>
            <a:off x="3192291" y="2305323"/>
            <a:ext cx="546570" cy="546570"/>
          </a:xfrm>
          <a:prstGeom prst="ellipse">
            <a:avLst/>
          </a:prstGeom>
          <a:solidFill>
            <a:schemeClr val="bg1">
              <a:alpha val="0"/>
            </a:schemeClr>
          </a:solidFill>
          <a:ln w="15875">
            <a:solidFill>
              <a:schemeClr val="bg2">
                <a:alpha val="55000"/>
              </a:schemeClr>
            </a:solidFill>
            <a:prstDash val="solid"/>
          </a:ln>
        </p:spPr>
      </p:sp>
      <p:sp>
        <p:nvSpPr>
          <p:cNvPr id="30" name="Drawing 2: shell 2"/>
          <p:cNvSpPr/>
          <p:nvPr/>
        </p:nvSpPr>
        <p:spPr>
          <a:xfrm>
            <a:off x="3021488" y="2134520"/>
            <a:ext cx="888176" cy="888176"/>
          </a:xfrm>
          <a:prstGeom prst="ellipse">
            <a:avLst/>
          </a:prstGeom>
          <a:solidFill>
            <a:schemeClr val="bg1">
              <a:alpha val="0"/>
            </a:schemeClr>
          </a:solidFill>
          <a:ln w="15875">
            <a:solidFill>
              <a:schemeClr val="bg2">
                <a:alpha val="55000"/>
              </a:schemeClr>
            </a:solidFill>
            <a:prstDash val="solid"/>
          </a:ln>
        </p:spPr>
      </p:sp>
      <p:sp>
        <p:nvSpPr>
          <p:cNvPr id="31" name="Drawing 2: shell 3"/>
          <p:cNvSpPr/>
          <p:nvPr/>
        </p:nvSpPr>
        <p:spPr>
          <a:xfrm>
            <a:off x="2862072" y="1975104"/>
            <a:ext cx="1207008" cy="1207008"/>
          </a:xfrm>
          <a:prstGeom prst="ellipse">
            <a:avLst/>
          </a:prstGeom>
          <a:solidFill>
            <a:schemeClr val="bg1">
              <a:alpha val="0"/>
            </a:schemeClr>
          </a:solidFill>
          <a:ln w="15875">
            <a:solidFill>
              <a:schemeClr val="bg2">
                <a:alpha val="55000"/>
              </a:schemeClr>
            </a:solidFill>
            <a:prstDash val="solid"/>
          </a:ln>
        </p:spPr>
      </p:sp>
      <p:sp>
        <p:nvSpPr>
          <p:cNvPr id="32" name="Drawing 2: nucleus"/>
          <p:cNvSpPr/>
          <p:nvPr/>
        </p:nvSpPr>
        <p:spPr>
          <a:xfrm>
            <a:off x="3289080" y="2402112"/>
            <a:ext cx="352993" cy="352993"/>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700" b="1" dirty="0">
                <a:solidFill>
                  <a:schemeClr val="bg1"/>
                </a:solidFill>
              </a:rPr>
              <a:t>17 p</a:t>
            </a:r>
            <a:pPr algn="ctr" indent="0" marL="0">
              <a:buNone/>
            </a:pPr>
            <a:r>
              <a:rPr lang="en-US" sz="700" b="1" baseline="30000" dirty="0">
                <a:solidFill>
                  <a:schemeClr val="bg1"/>
                </a:solidFill>
              </a:rPr>
              <a:t>+</a:t>
            </a:r>
            <a:endParaRPr lang="en-US" sz="700" dirty="0"/>
          </a:p>
          <a:p>
            <a:pPr algn="ctr" indent="0" marL="0">
              <a:buNone/>
            </a:pPr>
            <a:r>
              <a:rPr lang="en-US" sz="700" b="1" dirty="0">
                <a:solidFill>
                  <a:schemeClr val="bg1"/>
                </a:solidFill>
              </a:rPr>
              <a:t>18 n</a:t>
            </a:r>
            <a:pPr algn="ctr" indent="0" marL="0">
              <a:buNone/>
            </a:pPr>
            <a:r>
              <a:rPr lang="en-US" sz="700" b="1" baseline="30000" dirty="0">
                <a:solidFill>
                  <a:schemeClr val="bg1"/>
                </a:solidFill>
              </a:rPr>
              <a:t>0</a:t>
            </a:r>
            <a:endParaRPr lang="en-US" sz="700" dirty="0"/>
          </a:p>
        </p:txBody>
      </p:sp>
      <p:sp>
        <p:nvSpPr>
          <p:cNvPr id="33" name="Drawing 2: electron, shell 1"/>
          <p:cNvSpPr/>
          <p:nvPr/>
        </p:nvSpPr>
        <p:spPr>
          <a:xfrm>
            <a:off x="3422875" y="2262622"/>
            <a:ext cx="85402" cy="85402"/>
          </a:xfrm>
          <a:prstGeom prst="ellipse">
            <a:avLst/>
          </a:prstGeom>
          <a:solidFill>
            <a:schemeClr val="accent1"/>
          </a:solidFill>
          <a:ln w="3175">
            <a:solidFill>
              <a:schemeClr val="accent1"/>
            </a:solidFill>
            <a:prstDash val="solid"/>
          </a:ln>
        </p:spPr>
      </p:sp>
      <p:sp>
        <p:nvSpPr>
          <p:cNvPr id="34" name="Drawing 2: electron, shell 1"/>
          <p:cNvSpPr/>
          <p:nvPr/>
        </p:nvSpPr>
        <p:spPr>
          <a:xfrm>
            <a:off x="3696160" y="2535907"/>
            <a:ext cx="85402" cy="85402"/>
          </a:xfrm>
          <a:prstGeom prst="ellipse">
            <a:avLst/>
          </a:prstGeom>
          <a:solidFill>
            <a:schemeClr val="accent1"/>
          </a:solidFill>
          <a:ln w="3175">
            <a:solidFill>
              <a:schemeClr val="accent1"/>
            </a:solidFill>
            <a:prstDash val="solid"/>
          </a:ln>
        </p:spPr>
      </p:sp>
      <p:sp>
        <p:nvSpPr>
          <p:cNvPr id="35" name="Drawing 2: electron, shell 2"/>
          <p:cNvSpPr/>
          <p:nvPr/>
        </p:nvSpPr>
        <p:spPr>
          <a:xfrm>
            <a:off x="3365532" y="2095537"/>
            <a:ext cx="85402" cy="85402"/>
          </a:xfrm>
          <a:prstGeom prst="ellipse">
            <a:avLst/>
          </a:prstGeom>
          <a:solidFill>
            <a:schemeClr val="accent1"/>
          </a:solidFill>
          <a:ln w="3175">
            <a:solidFill>
              <a:schemeClr val="accent1"/>
            </a:solidFill>
            <a:prstDash val="solid"/>
          </a:ln>
        </p:spPr>
      </p:sp>
      <p:sp>
        <p:nvSpPr>
          <p:cNvPr id="36" name="Drawing 2: electron, shell 2"/>
          <p:cNvSpPr/>
          <p:nvPr/>
        </p:nvSpPr>
        <p:spPr>
          <a:xfrm>
            <a:off x="3480218" y="2095537"/>
            <a:ext cx="85402" cy="85402"/>
          </a:xfrm>
          <a:prstGeom prst="ellipse">
            <a:avLst/>
          </a:prstGeom>
          <a:solidFill>
            <a:schemeClr val="accent1"/>
          </a:solidFill>
          <a:ln w="3175">
            <a:solidFill>
              <a:schemeClr val="accent1"/>
            </a:solidFill>
            <a:prstDash val="solid"/>
          </a:ln>
        </p:spPr>
      </p:sp>
      <p:sp>
        <p:nvSpPr>
          <p:cNvPr id="37" name="Drawing 2: electron, shell 2"/>
          <p:cNvSpPr/>
          <p:nvPr/>
        </p:nvSpPr>
        <p:spPr>
          <a:xfrm>
            <a:off x="3863245" y="2478564"/>
            <a:ext cx="85402" cy="85402"/>
          </a:xfrm>
          <a:prstGeom prst="ellipse">
            <a:avLst/>
          </a:prstGeom>
          <a:solidFill>
            <a:schemeClr val="accent1"/>
          </a:solidFill>
          <a:ln w="3175">
            <a:solidFill>
              <a:schemeClr val="accent1"/>
            </a:solidFill>
            <a:prstDash val="solid"/>
          </a:ln>
        </p:spPr>
      </p:sp>
      <p:sp>
        <p:nvSpPr>
          <p:cNvPr id="38" name="Drawing 2: electron, shell 2"/>
          <p:cNvSpPr/>
          <p:nvPr/>
        </p:nvSpPr>
        <p:spPr>
          <a:xfrm>
            <a:off x="3863245" y="2593250"/>
            <a:ext cx="85402" cy="85402"/>
          </a:xfrm>
          <a:prstGeom prst="ellipse">
            <a:avLst/>
          </a:prstGeom>
          <a:solidFill>
            <a:schemeClr val="accent1"/>
          </a:solidFill>
          <a:ln w="3175">
            <a:solidFill>
              <a:schemeClr val="accent1"/>
            </a:solidFill>
            <a:prstDash val="solid"/>
          </a:ln>
        </p:spPr>
      </p:sp>
      <p:sp>
        <p:nvSpPr>
          <p:cNvPr id="39" name="Drawing 2: electron, shell 2"/>
          <p:cNvSpPr/>
          <p:nvPr/>
        </p:nvSpPr>
        <p:spPr>
          <a:xfrm>
            <a:off x="3480218" y="2976277"/>
            <a:ext cx="85402" cy="85402"/>
          </a:xfrm>
          <a:prstGeom prst="ellipse">
            <a:avLst/>
          </a:prstGeom>
          <a:solidFill>
            <a:schemeClr val="accent1"/>
          </a:solidFill>
          <a:ln w="3175">
            <a:solidFill>
              <a:schemeClr val="accent1"/>
            </a:solidFill>
            <a:prstDash val="solid"/>
          </a:ln>
        </p:spPr>
      </p:sp>
      <p:sp>
        <p:nvSpPr>
          <p:cNvPr id="40" name="Drawing 2: electron, shell 2"/>
          <p:cNvSpPr/>
          <p:nvPr/>
        </p:nvSpPr>
        <p:spPr>
          <a:xfrm>
            <a:off x="3365532" y="2976277"/>
            <a:ext cx="85402" cy="85402"/>
          </a:xfrm>
          <a:prstGeom prst="ellipse">
            <a:avLst/>
          </a:prstGeom>
          <a:solidFill>
            <a:schemeClr val="accent1"/>
          </a:solidFill>
          <a:ln w="3175">
            <a:solidFill>
              <a:schemeClr val="accent1"/>
            </a:solidFill>
            <a:prstDash val="solid"/>
          </a:ln>
        </p:spPr>
      </p:sp>
      <p:sp>
        <p:nvSpPr>
          <p:cNvPr id="41" name="Drawing 2: electron, shell 2"/>
          <p:cNvSpPr/>
          <p:nvPr/>
        </p:nvSpPr>
        <p:spPr>
          <a:xfrm>
            <a:off x="2982505" y="2593250"/>
            <a:ext cx="85402" cy="85402"/>
          </a:xfrm>
          <a:prstGeom prst="ellipse">
            <a:avLst/>
          </a:prstGeom>
          <a:solidFill>
            <a:schemeClr val="accent1"/>
          </a:solidFill>
          <a:ln w="3175">
            <a:solidFill>
              <a:schemeClr val="accent1"/>
            </a:solidFill>
            <a:prstDash val="solid"/>
          </a:ln>
        </p:spPr>
      </p:sp>
      <p:sp>
        <p:nvSpPr>
          <p:cNvPr id="42" name="Drawing 2: electron, shell 2"/>
          <p:cNvSpPr/>
          <p:nvPr/>
        </p:nvSpPr>
        <p:spPr>
          <a:xfrm>
            <a:off x="2982505" y="2478564"/>
            <a:ext cx="85402" cy="85402"/>
          </a:xfrm>
          <a:prstGeom prst="ellipse">
            <a:avLst/>
          </a:prstGeom>
          <a:solidFill>
            <a:schemeClr val="accent1"/>
          </a:solidFill>
          <a:ln w="3175">
            <a:solidFill>
              <a:schemeClr val="accent1"/>
            </a:solidFill>
            <a:prstDash val="solid"/>
          </a:ln>
        </p:spPr>
      </p:sp>
      <p:sp>
        <p:nvSpPr>
          <p:cNvPr id="43" name="Drawing 2: electron, shell 3"/>
          <p:cNvSpPr/>
          <p:nvPr/>
        </p:nvSpPr>
        <p:spPr>
          <a:xfrm>
            <a:off x="3365459" y="1935141"/>
            <a:ext cx="85402" cy="85402"/>
          </a:xfrm>
          <a:prstGeom prst="ellipse">
            <a:avLst/>
          </a:prstGeom>
          <a:solidFill>
            <a:schemeClr val="accent1"/>
          </a:solidFill>
          <a:ln w="3175">
            <a:solidFill>
              <a:schemeClr val="accent1"/>
            </a:solidFill>
            <a:prstDash val="solid"/>
          </a:ln>
        </p:spPr>
      </p:sp>
      <p:sp>
        <p:nvSpPr>
          <p:cNvPr id="44" name="Drawing 2: electron, shell 3"/>
          <p:cNvSpPr/>
          <p:nvPr/>
        </p:nvSpPr>
        <p:spPr>
          <a:xfrm>
            <a:off x="3480292" y="1935141"/>
            <a:ext cx="85402" cy="85402"/>
          </a:xfrm>
          <a:prstGeom prst="ellipse">
            <a:avLst/>
          </a:prstGeom>
          <a:solidFill>
            <a:schemeClr val="accent1"/>
          </a:solidFill>
          <a:ln w="3175">
            <a:solidFill>
              <a:schemeClr val="accent1"/>
            </a:solidFill>
            <a:prstDash val="solid"/>
          </a:ln>
        </p:spPr>
      </p:sp>
      <p:sp>
        <p:nvSpPr>
          <p:cNvPr id="45" name="Drawing 2: electron, shell 3"/>
          <p:cNvSpPr/>
          <p:nvPr/>
        </p:nvSpPr>
        <p:spPr>
          <a:xfrm>
            <a:off x="4023642" y="2478491"/>
            <a:ext cx="85402" cy="85402"/>
          </a:xfrm>
          <a:prstGeom prst="ellipse">
            <a:avLst/>
          </a:prstGeom>
          <a:solidFill>
            <a:schemeClr val="accent1"/>
          </a:solidFill>
          <a:ln w="3175">
            <a:solidFill>
              <a:schemeClr val="accent1"/>
            </a:solidFill>
            <a:prstDash val="solid"/>
          </a:ln>
        </p:spPr>
      </p:sp>
      <p:sp>
        <p:nvSpPr>
          <p:cNvPr id="46" name="Drawing 2: electron, shell 3"/>
          <p:cNvSpPr/>
          <p:nvPr/>
        </p:nvSpPr>
        <p:spPr>
          <a:xfrm>
            <a:off x="4023642" y="2593324"/>
            <a:ext cx="85402" cy="85402"/>
          </a:xfrm>
          <a:prstGeom prst="ellipse">
            <a:avLst/>
          </a:prstGeom>
          <a:solidFill>
            <a:schemeClr val="accent1"/>
          </a:solidFill>
          <a:ln w="3175">
            <a:solidFill>
              <a:schemeClr val="accent1"/>
            </a:solidFill>
            <a:prstDash val="solid"/>
          </a:ln>
        </p:spPr>
      </p:sp>
      <p:sp>
        <p:nvSpPr>
          <p:cNvPr id="47" name="Drawing 2: electron, shell 3"/>
          <p:cNvSpPr/>
          <p:nvPr/>
        </p:nvSpPr>
        <p:spPr>
          <a:xfrm>
            <a:off x="3480292" y="3136674"/>
            <a:ext cx="85402" cy="85402"/>
          </a:xfrm>
          <a:prstGeom prst="ellipse">
            <a:avLst/>
          </a:prstGeom>
          <a:solidFill>
            <a:schemeClr val="accent1"/>
          </a:solidFill>
          <a:ln w="3175">
            <a:solidFill>
              <a:schemeClr val="accent1"/>
            </a:solidFill>
            <a:prstDash val="solid"/>
          </a:ln>
        </p:spPr>
      </p:sp>
      <p:sp>
        <p:nvSpPr>
          <p:cNvPr id="48" name="Drawing 2: electron, shell 3"/>
          <p:cNvSpPr/>
          <p:nvPr/>
        </p:nvSpPr>
        <p:spPr>
          <a:xfrm>
            <a:off x="3365459" y="3136674"/>
            <a:ext cx="85402" cy="85402"/>
          </a:xfrm>
          <a:prstGeom prst="ellipse">
            <a:avLst/>
          </a:prstGeom>
          <a:solidFill>
            <a:schemeClr val="accent1"/>
          </a:solidFill>
          <a:ln w="3175">
            <a:solidFill>
              <a:schemeClr val="accent1"/>
            </a:solidFill>
            <a:prstDash val="solid"/>
          </a:ln>
        </p:spPr>
      </p:sp>
      <p:sp>
        <p:nvSpPr>
          <p:cNvPr id="49" name="Drawing 2: electron, shell 3"/>
          <p:cNvSpPr/>
          <p:nvPr/>
        </p:nvSpPr>
        <p:spPr>
          <a:xfrm>
            <a:off x="2822109" y="2593324"/>
            <a:ext cx="85402" cy="85402"/>
          </a:xfrm>
          <a:prstGeom prst="ellipse">
            <a:avLst/>
          </a:prstGeom>
          <a:solidFill>
            <a:schemeClr val="accent1"/>
          </a:solidFill>
          <a:ln w="3175">
            <a:solidFill>
              <a:schemeClr val="accent1"/>
            </a:solidFill>
            <a:prstDash val="solid"/>
          </a:ln>
        </p:spPr>
      </p:sp>
      <p:sp>
        <p:nvSpPr>
          <p:cNvPr id="50" name="Drawing 2: gained electron, shell 3"/>
          <p:cNvSpPr/>
          <p:nvPr/>
        </p:nvSpPr>
        <p:spPr>
          <a:xfrm>
            <a:off x="2822109" y="2478491"/>
            <a:ext cx="85402" cy="85402"/>
          </a:xfrm>
          <a:prstGeom prst="ellipse">
            <a:avLst/>
          </a:prstGeom>
          <a:solidFill>
            <a:schemeClr val="accent6"/>
          </a:solidFill>
          <a:ln w="3175">
            <a:solidFill>
              <a:schemeClr val="accent6"/>
            </a:solidFill>
            <a:prstDash val="solid"/>
          </a:ln>
        </p:spPr>
      </p:sp>
      <p:sp>
        <p:nvSpPr>
          <p:cNvPr id="51" name="Drawing 2: left bracket"/>
          <p:cNvSpPr/>
          <p:nvPr/>
        </p:nvSpPr>
        <p:spPr>
          <a:xfrm>
            <a:off x="2770977" y="1884009"/>
            <a:ext cx="79708" cy="1389198"/>
          </a:xfrm>
          <a:prstGeom prst="leftBracket">
            <a:avLst/>
          </a:prstGeom>
          <a:noFill/>
          <a:ln w="19050">
            <a:solidFill>
              <a:schemeClr val="bg1"/>
            </a:solidFill>
            <a:prstDash val="solid"/>
          </a:ln>
        </p:spPr>
      </p:sp>
      <p:sp>
        <p:nvSpPr>
          <p:cNvPr id="52" name="Drawing 2: right bracket"/>
          <p:cNvSpPr/>
          <p:nvPr/>
        </p:nvSpPr>
        <p:spPr>
          <a:xfrm>
            <a:off x="4080467" y="1884009"/>
            <a:ext cx="79708" cy="1389198"/>
          </a:xfrm>
          <a:prstGeom prst="rightBracket">
            <a:avLst/>
          </a:prstGeom>
          <a:noFill/>
          <a:ln w="19050">
            <a:solidFill>
              <a:schemeClr val="bg1"/>
            </a:solidFill>
            <a:prstDash val="solid"/>
          </a:ln>
        </p:spPr>
      </p:sp>
      <p:sp>
        <p:nvSpPr>
          <p:cNvPr id="53" name="Drawing 2: charge"/>
          <p:cNvSpPr txBox="1"/>
          <p:nvPr/>
        </p:nvSpPr>
        <p:spPr>
          <a:xfrm>
            <a:off x="4178463" y="1800189"/>
            <a:ext cx="243840" cy="182880"/>
          </a:xfrm>
          <a:prstGeom prst="rect">
            <a:avLst/>
          </a:prstGeom>
          <a:noFill/>
          <a:ln/>
        </p:spPr>
        <p:txBody>
          <a:bodyPr wrap="square" lIns="0" tIns="0" rIns="0" bIns="0" rtlCol="0" anchor="t"/>
          <a:lstStyle/>
          <a:p>
            <a:pPr indent="0" marL="0">
              <a:buNone/>
            </a:pPr>
            <a:r>
              <a:rPr lang="en-US" sz="1200" b="1" dirty="0">
                <a:solidFill>
                  <a:schemeClr val="bg1"/>
                </a:solidFill>
              </a:rPr>
              <a:t>+</a:t>
            </a:r>
            <a:endParaRPr lang="en-US" sz="1200" dirty="0"/>
          </a:p>
        </p:txBody>
      </p:sp>
      <p:sp>
        <p:nvSpPr>
          <p:cNvPr id="54" name="Text 52"/>
          <p:cNvSpPr txBox="1"/>
          <p:nvPr/>
        </p:nvSpPr>
        <p:spPr>
          <a:xfrm>
            <a:off x="2642616" y="3337560"/>
            <a:ext cx="1773936" cy="320040"/>
          </a:xfrm>
          <a:prstGeom prst="rect">
            <a:avLst/>
          </a:prstGeom>
          <a:noFill/>
          <a:ln/>
        </p:spPr>
        <p:txBody>
          <a:bodyPr wrap="square" lIns="0" tIns="0" rIns="0" bIns="0" rtlCol="0" anchor="ctr"/>
          <a:lstStyle/>
          <a:p>
            <a:pPr algn="ctr" indent="0" marL="0">
              <a:buNone/>
            </a:pPr>
            <a:r>
              <a:rPr lang="en-US" sz="1200" dirty="0">
                <a:solidFill>
                  <a:schemeClr val="bg2"/>
                </a:solidFill>
              </a:rPr>
              <a:t>Supposed to be </a:t>
            </a:r>
            <a:pPr algn="ctr" indent="0" marL="0">
              <a:buNone/>
            </a:pPr>
            <a:r>
              <a:rPr lang="en-US" sz="1200" b="1" dirty="0">
                <a:solidFill>
                  <a:schemeClr val="bg2"/>
                </a:solidFill>
              </a:rPr>
              <a:t>Cl</a:t>
            </a:r>
            <a:pPr algn="ctr" indent="0" marL="0">
              <a:buNone/>
            </a:pPr>
            <a:r>
              <a:rPr lang="en-US" sz="1200" b="1" baseline="30000" dirty="0">
                <a:solidFill>
                  <a:schemeClr val="bg2"/>
                </a:solidFill>
              </a:rPr>
              <a:t>−</a:t>
            </a:r>
            <a:endParaRPr lang="en-US" sz="1200" dirty="0"/>
          </a:p>
        </p:txBody>
      </p:sp>
      <p:sp>
        <p:nvSpPr>
          <p:cNvPr id="55" name="Text 53"/>
          <p:cNvSpPr txBox="1"/>
          <p:nvPr/>
        </p:nvSpPr>
        <p:spPr>
          <a:xfrm>
            <a:off x="2642616" y="3886200"/>
            <a:ext cx="1773936" cy="320040"/>
          </a:xfrm>
          <a:prstGeom prst="rect">
            <a:avLst/>
          </a:prstGeom>
          <a:noFill/>
          <a:ln/>
        </p:spPr>
        <p:txBody>
          <a:bodyPr wrap="square" lIns="0" tIns="0" rIns="0" bIns="0" rtlCol="0" anchor="t"/>
          <a:lstStyle/>
          <a:p>
            <a:pPr algn="ctr" indent="0" marL="0">
              <a:buNone/>
            </a:pPr>
            <a:r>
              <a:rPr lang="en-US" sz="1300" b="1" dirty="0">
                <a:solidFill>
                  <a:schemeClr val="accent2"/>
                </a:solidFill>
              </a:rPr>
              <a:t>What's wrong?</a:t>
            </a:r>
            <a:endParaRPr lang="en-US" sz="1300" dirty="0"/>
          </a:p>
        </p:txBody>
      </p:sp>
      <p:sp>
        <p:nvSpPr>
          <p:cNvPr id="56" name="Drawing 3"/>
          <p:cNvSpPr/>
          <p:nvPr/>
        </p:nvSpPr>
        <p:spPr>
          <a:xfrm>
            <a:off x="4645152" y="1645920"/>
            <a:ext cx="1956816" cy="3017520"/>
          </a:xfrm>
          <a:prstGeom prst="roundRect">
            <a:avLst>
              <a:gd name="adj" fmla="val 4673"/>
            </a:avLst>
          </a:prstGeom>
          <a:solidFill>
            <a:schemeClr val="tx2"/>
          </a:solidFill>
          <a:ln w="9525">
            <a:solidFill>
              <a:schemeClr val="bg2">
                <a:alpha val="30000"/>
              </a:schemeClr>
            </a:solidFill>
            <a:prstDash val="solid"/>
          </a:ln>
        </p:spPr>
      </p:sp>
      <p:sp>
        <p:nvSpPr>
          <p:cNvPr id="57" name="Drawing 3: shell 1"/>
          <p:cNvSpPr/>
          <p:nvPr/>
        </p:nvSpPr>
        <p:spPr>
          <a:xfrm>
            <a:off x="5286267" y="2305323"/>
            <a:ext cx="546570" cy="546570"/>
          </a:xfrm>
          <a:prstGeom prst="ellipse">
            <a:avLst/>
          </a:prstGeom>
          <a:solidFill>
            <a:schemeClr val="bg1">
              <a:alpha val="0"/>
            </a:schemeClr>
          </a:solidFill>
          <a:ln w="15875">
            <a:solidFill>
              <a:schemeClr val="bg2">
                <a:alpha val="55000"/>
              </a:schemeClr>
            </a:solidFill>
            <a:prstDash val="solid"/>
          </a:ln>
        </p:spPr>
      </p:sp>
      <p:sp>
        <p:nvSpPr>
          <p:cNvPr id="58" name="Drawing 3: shell 2"/>
          <p:cNvSpPr/>
          <p:nvPr/>
        </p:nvSpPr>
        <p:spPr>
          <a:xfrm>
            <a:off x="5115464" y="2134520"/>
            <a:ext cx="888176" cy="888176"/>
          </a:xfrm>
          <a:prstGeom prst="ellipse">
            <a:avLst/>
          </a:prstGeom>
          <a:solidFill>
            <a:schemeClr val="bg1">
              <a:alpha val="0"/>
            </a:schemeClr>
          </a:solidFill>
          <a:ln w="15875">
            <a:solidFill>
              <a:schemeClr val="bg2">
                <a:alpha val="55000"/>
              </a:schemeClr>
            </a:solidFill>
            <a:prstDash val="solid"/>
          </a:ln>
        </p:spPr>
      </p:sp>
      <p:sp>
        <p:nvSpPr>
          <p:cNvPr id="59" name="Drawing 3: shell 3"/>
          <p:cNvSpPr/>
          <p:nvPr/>
        </p:nvSpPr>
        <p:spPr>
          <a:xfrm>
            <a:off x="4956048" y="1975104"/>
            <a:ext cx="1207008" cy="1207008"/>
          </a:xfrm>
          <a:prstGeom prst="ellipse">
            <a:avLst/>
          </a:prstGeom>
          <a:solidFill>
            <a:schemeClr val="bg1">
              <a:alpha val="0"/>
            </a:schemeClr>
          </a:solidFill>
          <a:ln w="15875">
            <a:solidFill>
              <a:schemeClr val="bg2">
                <a:alpha val="55000"/>
              </a:schemeClr>
            </a:solidFill>
            <a:prstDash val="solid"/>
          </a:ln>
        </p:spPr>
      </p:sp>
      <p:sp>
        <p:nvSpPr>
          <p:cNvPr id="60" name="Drawing 3: nucleus"/>
          <p:cNvSpPr/>
          <p:nvPr/>
        </p:nvSpPr>
        <p:spPr>
          <a:xfrm>
            <a:off x="5383056" y="2402112"/>
            <a:ext cx="352993" cy="352993"/>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700" b="1" dirty="0">
                <a:solidFill>
                  <a:schemeClr val="bg1"/>
                </a:solidFill>
              </a:rPr>
              <a:t>12 p</a:t>
            </a:r>
            <a:pPr algn="ctr" indent="0" marL="0">
              <a:buNone/>
            </a:pPr>
            <a:r>
              <a:rPr lang="en-US" sz="700" b="1" baseline="30000" dirty="0">
                <a:solidFill>
                  <a:schemeClr val="bg1"/>
                </a:solidFill>
              </a:rPr>
              <a:t>+</a:t>
            </a:r>
            <a:endParaRPr lang="en-US" sz="700" dirty="0"/>
          </a:p>
          <a:p>
            <a:pPr algn="ctr" indent="0" marL="0">
              <a:buNone/>
            </a:pPr>
            <a:r>
              <a:rPr lang="en-US" sz="700" b="1" dirty="0">
                <a:solidFill>
                  <a:schemeClr val="bg1"/>
                </a:solidFill>
              </a:rPr>
              <a:t>12 n</a:t>
            </a:r>
            <a:pPr algn="ctr" indent="0" marL="0">
              <a:buNone/>
            </a:pPr>
            <a:r>
              <a:rPr lang="en-US" sz="700" b="1" baseline="30000" dirty="0">
                <a:solidFill>
                  <a:schemeClr val="bg1"/>
                </a:solidFill>
              </a:rPr>
              <a:t>0</a:t>
            </a:r>
            <a:endParaRPr lang="en-US" sz="700" dirty="0"/>
          </a:p>
        </p:txBody>
      </p:sp>
      <p:sp>
        <p:nvSpPr>
          <p:cNvPr id="61" name="Drawing 3: electron, shell 1"/>
          <p:cNvSpPr/>
          <p:nvPr/>
        </p:nvSpPr>
        <p:spPr>
          <a:xfrm>
            <a:off x="5516851" y="2262622"/>
            <a:ext cx="85402" cy="85402"/>
          </a:xfrm>
          <a:prstGeom prst="ellipse">
            <a:avLst/>
          </a:prstGeom>
          <a:solidFill>
            <a:schemeClr val="accent1"/>
          </a:solidFill>
          <a:ln w="3175">
            <a:solidFill>
              <a:schemeClr val="accent1"/>
            </a:solidFill>
            <a:prstDash val="solid"/>
          </a:ln>
        </p:spPr>
      </p:sp>
      <p:sp>
        <p:nvSpPr>
          <p:cNvPr id="62" name="Drawing 3: electron, shell 1"/>
          <p:cNvSpPr/>
          <p:nvPr/>
        </p:nvSpPr>
        <p:spPr>
          <a:xfrm>
            <a:off x="5790136" y="2535907"/>
            <a:ext cx="85402" cy="85402"/>
          </a:xfrm>
          <a:prstGeom prst="ellipse">
            <a:avLst/>
          </a:prstGeom>
          <a:solidFill>
            <a:schemeClr val="accent1"/>
          </a:solidFill>
          <a:ln w="3175">
            <a:solidFill>
              <a:schemeClr val="accent1"/>
            </a:solidFill>
            <a:prstDash val="solid"/>
          </a:ln>
        </p:spPr>
      </p:sp>
      <p:sp>
        <p:nvSpPr>
          <p:cNvPr id="63" name="Drawing 3: electron, shell 2"/>
          <p:cNvSpPr/>
          <p:nvPr/>
        </p:nvSpPr>
        <p:spPr>
          <a:xfrm>
            <a:off x="5459508" y="2095537"/>
            <a:ext cx="85402" cy="85402"/>
          </a:xfrm>
          <a:prstGeom prst="ellipse">
            <a:avLst/>
          </a:prstGeom>
          <a:solidFill>
            <a:schemeClr val="accent1"/>
          </a:solidFill>
          <a:ln w="3175">
            <a:solidFill>
              <a:schemeClr val="accent1"/>
            </a:solidFill>
            <a:prstDash val="solid"/>
          </a:ln>
        </p:spPr>
      </p:sp>
      <p:sp>
        <p:nvSpPr>
          <p:cNvPr id="64" name="Drawing 3: electron, shell 2"/>
          <p:cNvSpPr/>
          <p:nvPr/>
        </p:nvSpPr>
        <p:spPr>
          <a:xfrm>
            <a:off x="5574194" y="2095537"/>
            <a:ext cx="85402" cy="85402"/>
          </a:xfrm>
          <a:prstGeom prst="ellipse">
            <a:avLst/>
          </a:prstGeom>
          <a:solidFill>
            <a:schemeClr val="accent1"/>
          </a:solidFill>
          <a:ln w="3175">
            <a:solidFill>
              <a:schemeClr val="accent1"/>
            </a:solidFill>
            <a:prstDash val="solid"/>
          </a:ln>
        </p:spPr>
      </p:sp>
      <p:sp>
        <p:nvSpPr>
          <p:cNvPr id="65" name="Drawing 3: electron, shell 2"/>
          <p:cNvSpPr/>
          <p:nvPr/>
        </p:nvSpPr>
        <p:spPr>
          <a:xfrm>
            <a:off x="5957221" y="2478564"/>
            <a:ext cx="85402" cy="85402"/>
          </a:xfrm>
          <a:prstGeom prst="ellipse">
            <a:avLst/>
          </a:prstGeom>
          <a:solidFill>
            <a:schemeClr val="accent1"/>
          </a:solidFill>
          <a:ln w="3175">
            <a:solidFill>
              <a:schemeClr val="accent1"/>
            </a:solidFill>
            <a:prstDash val="solid"/>
          </a:ln>
        </p:spPr>
      </p:sp>
      <p:sp>
        <p:nvSpPr>
          <p:cNvPr id="66" name="Drawing 3: electron, shell 2"/>
          <p:cNvSpPr/>
          <p:nvPr/>
        </p:nvSpPr>
        <p:spPr>
          <a:xfrm>
            <a:off x="5957221" y="2593250"/>
            <a:ext cx="85402" cy="85402"/>
          </a:xfrm>
          <a:prstGeom prst="ellipse">
            <a:avLst/>
          </a:prstGeom>
          <a:solidFill>
            <a:schemeClr val="accent1"/>
          </a:solidFill>
          <a:ln w="3175">
            <a:solidFill>
              <a:schemeClr val="accent1"/>
            </a:solidFill>
            <a:prstDash val="solid"/>
          </a:ln>
        </p:spPr>
      </p:sp>
      <p:sp>
        <p:nvSpPr>
          <p:cNvPr id="67" name="Drawing 3: electron, shell 2"/>
          <p:cNvSpPr/>
          <p:nvPr/>
        </p:nvSpPr>
        <p:spPr>
          <a:xfrm>
            <a:off x="5574194" y="2976277"/>
            <a:ext cx="85402" cy="85402"/>
          </a:xfrm>
          <a:prstGeom prst="ellipse">
            <a:avLst/>
          </a:prstGeom>
          <a:solidFill>
            <a:schemeClr val="accent1"/>
          </a:solidFill>
          <a:ln w="3175">
            <a:solidFill>
              <a:schemeClr val="accent1"/>
            </a:solidFill>
            <a:prstDash val="solid"/>
          </a:ln>
        </p:spPr>
      </p:sp>
      <p:sp>
        <p:nvSpPr>
          <p:cNvPr id="68" name="Drawing 3: electron, shell 2"/>
          <p:cNvSpPr/>
          <p:nvPr/>
        </p:nvSpPr>
        <p:spPr>
          <a:xfrm>
            <a:off x="5459508" y="2976277"/>
            <a:ext cx="85402" cy="85402"/>
          </a:xfrm>
          <a:prstGeom prst="ellipse">
            <a:avLst/>
          </a:prstGeom>
          <a:solidFill>
            <a:schemeClr val="accent1"/>
          </a:solidFill>
          <a:ln w="3175">
            <a:solidFill>
              <a:schemeClr val="accent1"/>
            </a:solidFill>
            <a:prstDash val="solid"/>
          </a:ln>
        </p:spPr>
      </p:sp>
      <p:sp>
        <p:nvSpPr>
          <p:cNvPr id="69" name="Drawing 3: electron, shell 2"/>
          <p:cNvSpPr/>
          <p:nvPr/>
        </p:nvSpPr>
        <p:spPr>
          <a:xfrm>
            <a:off x="5076481" y="2593250"/>
            <a:ext cx="85402" cy="85402"/>
          </a:xfrm>
          <a:prstGeom prst="ellipse">
            <a:avLst/>
          </a:prstGeom>
          <a:solidFill>
            <a:schemeClr val="accent1"/>
          </a:solidFill>
          <a:ln w="3175">
            <a:solidFill>
              <a:schemeClr val="accent1"/>
            </a:solidFill>
            <a:prstDash val="solid"/>
          </a:ln>
        </p:spPr>
      </p:sp>
      <p:sp>
        <p:nvSpPr>
          <p:cNvPr id="70" name="Drawing 3: electron, shell 2"/>
          <p:cNvSpPr/>
          <p:nvPr/>
        </p:nvSpPr>
        <p:spPr>
          <a:xfrm>
            <a:off x="5076481" y="2478564"/>
            <a:ext cx="85402" cy="85402"/>
          </a:xfrm>
          <a:prstGeom prst="ellipse">
            <a:avLst/>
          </a:prstGeom>
          <a:solidFill>
            <a:schemeClr val="accent1"/>
          </a:solidFill>
          <a:ln w="3175">
            <a:solidFill>
              <a:schemeClr val="accent1"/>
            </a:solidFill>
            <a:prstDash val="solid"/>
          </a:ln>
        </p:spPr>
      </p:sp>
      <p:sp>
        <p:nvSpPr>
          <p:cNvPr id="71" name="Drawing 3: left bracket"/>
          <p:cNvSpPr/>
          <p:nvPr/>
        </p:nvSpPr>
        <p:spPr>
          <a:xfrm>
            <a:off x="4864953" y="1884009"/>
            <a:ext cx="79708" cy="1389198"/>
          </a:xfrm>
          <a:prstGeom prst="leftBracket">
            <a:avLst/>
          </a:prstGeom>
          <a:noFill/>
          <a:ln w="19050">
            <a:solidFill>
              <a:schemeClr val="bg1"/>
            </a:solidFill>
            <a:prstDash val="solid"/>
          </a:ln>
        </p:spPr>
      </p:sp>
      <p:sp>
        <p:nvSpPr>
          <p:cNvPr id="72" name="Drawing 3: right bracket"/>
          <p:cNvSpPr/>
          <p:nvPr/>
        </p:nvSpPr>
        <p:spPr>
          <a:xfrm>
            <a:off x="6174443" y="1884009"/>
            <a:ext cx="79708" cy="1389198"/>
          </a:xfrm>
          <a:prstGeom prst="rightBracket">
            <a:avLst/>
          </a:prstGeom>
          <a:noFill/>
          <a:ln w="19050">
            <a:solidFill>
              <a:schemeClr val="bg1"/>
            </a:solidFill>
            <a:prstDash val="solid"/>
          </a:ln>
        </p:spPr>
      </p:sp>
      <p:sp>
        <p:nvSpPr>
          <p:cNvPr id="73" name="Drawing 3: charge"/>
          <p:cNvSpPr txBox="1"/>
          <p:nvPr/>
        </p:nvSpPr>
        <p:spPr>
          <a:xfrm>
            <a:off x="6272439" y="1800189"/>
            <a:ext cx="243840" cy="182880"/>
          </a:xfrm>
          <a:prstGeom prst="rect">
            <a:avLst/>
          </a:prstGeom>
          <a:noFill/>
          <a:ln/>
        </p:spPr>
        <p:txBody>
          <a:bodyPr wrap="square" lIns="0" tIns="0" rIns="0" bIns="0" rtlCol="0" anchor="t"/>
          <a:lstStyle/>
          <a:p>
            <a:pPr indent="0" marL="0">
              <a:buNone/>
            </a:pPr>
            <a:r>
              <a:rPr lang="en-US" sz="1200" b="1" dirty="0">
                <a:solidFill>
                  <a:schemeClr val="bg1"/>
                </a:solidFill>
              </a:rPr>
              <a:t>2+</a:t>
            </a:r>
            <a:endParaRPr lang="en-US" sz="1200" dirty="0"/>
          </a:p>
        </p:txBody>
      </p:sp>
      <p:sp>
        <p:nvSpPr>
          <p:cNvPr id="74" name="Text 72"/>
          <p:cNvSpPr txBox="1"/>
          <p:nvPr/>
        </p:nvSpPr>
        <p:spPr>
          <a:xfrm>
            <a:off x="4736592" y="3337560"/>
            <a:ext cx="1773936" cy="320040"/>
          </a:xfrm>
          <a:prstGeom prst="rect">
            <a:avLst/>
          </a:prstGeom>
          <a:noFill/>
          <a:ln/>
        </p:spPr>
        <p:txBody>
          <a:bodyPr wrap="square" lIns="0" tIns="0" rIns="0" bIns="0" rtlCol="0" anchor="ctr"/>
          <a:lstStyle/>
          <a:p>
            <a:pPr algn="ctr" indent="0" marL="0">
              <a:buNone/>
            </a:pPr>
            <a:r>
              <a:rPr lang="en-US" sz="1200" dirty="0">
                <a:solidFill>
                  <a:schemeClr val="bg2"/>
                </a:solidFill>
              </a:rPr>
              <a:t>Supposed to be </a:t>
            </a:r>
            <a:pPr algn="ctr" indent="0" marL="0">
              <a:buNone/>
            </a:pPr>
            <a:r>
              <a:rPr lang="en-US" sz="1200" b="1" dirty="0">
                <a:solidFill>
                  <a:schemeClr val="bg2"/>
                </a:solidFill>
              </a:rPr>
              <a:t>Mg</a:t>
            </a:r>
            <a:pPr algn="ctr" indent="0" marL="0">
              <a:buNone/>
            </a:pPr>
            <a:r>
              <a:rPr lang="en-US" sz="1200" b="1" baseline="30000" dirty="0">
                <a:solidFill>
                  <a:schemeClr val="bg2"/>
                </a:solidFill>
              </a:rPr>
              <a:t>2+</a:t>
            </a:r>
            <a:endParaRPr lang="en-US" sz="1200" dirty="0"/>
          </a:p>
        </p:txBody>
      </p:sp>
      <p:sp>
        <p:nvSpPr>
          <p:cNvPr id="75" name="Text 73"/>
          <p:cNvSpPr txBox="1"/>
          <p:nvPr/>
        </p:nvSpPr>
        <p:spPr>
          <a:xfrm>
            <a:off x="4736592" y="3886200"/>
            <a:ext cx="1773936" cy="320040"/>
          </a:xfrm>
          <a:prstGeom prst="rect">
            <a:avLst/>
          </a:prstGeom>
          <a:noFill/>
          <a:ln/>
        </p:spPr>
        <p:txBody>
          <a:bodyPr wrap="square" lIns="0" tIns="0" rIns="0" bIns="0" rtlCol="0" anchor="t"/>
          <a:lstStyle/>
          <a:p>
            <a:pPr algn="ctr" indent="0" marL="0">
              <a:buNone/>
            </a:pPr>
            <a:r>
              <a:rPr lang="en-US" sz="1300" b="1" dirty="0">
                <a:solidFill>
                  <a:schemeClr val="accent2"/>
                </a:solidFill>
              </a:rPr>
              <a:t>What's wrong?</a:t>
            </a:r>
            <a:endParaRPr lang="en-US" sz="1300" dirty="0"/>
          </a:p>
        </p:txBody>
      </p:sp>
      <p:sp>
        <p:nvSpPr>
          <p:cNvPr id="76" name="Drawing 4"/>
          <p:cNvSpPr/>
          <p:nvPr/>
        </p:nvSpPr>
        <p:spPr>
          <a:xfrm>
            <a:off x="6739128" y="1645920"/>
            <a:ext cx="1956816" cy="3017520"/>
          </a:xfrm>
          <a:prstGeom prst="roundRect">
            <a:avLst>
              <a:gd name="adj" fmla="val 4673"/>
            </a:avLst>
          </a:prstGeom>
          <a:solidFill>
            <a:schemeClr val="tx2"/>
          </a:solidFill>
          <a:ln w="9525">
            <a:solidFill>
              <a:schemeClr val="bg2">
                <a:alpha val="30000"/>
              </a:schemeClr>
            </a:solidFill>
            <a:prstDash val="solid"/>
          </a:ln>
        </p:spPr>
      </p:sp>
      <p:sp>
        <p:nvSpPr>
          <p:cNvPr id="77" name="Drawing 4: shell 1"/>
          <p:cNvSpPr/>
          <p:nvPr/>
        </p:nvSpPr>
        <p:spPr>
          <a:xfrm>
            <a:off x="7302398" y="2227478"/>
            <a:ext cx="702259" cy="702259"/>
          </a:xfrm>
          <a:prstGeom prst="ellipse">
            <a:avLst/>
          </a:prstGeom>
          <a:solidFill>
            <a:schemeClr val="bg1">
              <a:alpha val="0"/>
            </a:schemeClr>
          </a:solidFill>
          <a:ln w="15875">
            <a:solidFill>
              <a:schemeClr val="bg2">
                <a:alpha val="55000"/>
              </a:schemeClr>
            </a:solidFill>
            <a:prstDash val="solid"/>
          </a:ln>
        </p:spPr>
      </p:sp>
      <p:sp>
        <p:nvSpPr>
          <p:cNvPr id="78" name="Drawing 4: shell 2"/>
          <p:cNvSpPr/>
          <p:nvPr/>
        </p:nvSpPr>
        <p:spPr>
          <a:xfrm>
            <a:off x="7082942" y="2008022"/>
            <a:ext cx="1141171" cy="1141171"/>
          </a:xfrm>
          <a:prstGeom prst="ellipse">
            <a:avLst/>
          </a:prstGeom>
          <a:solidFill>
            <a:schemeClr val="bg1">
              <a:alpha val="0"/>
            </a:schemeClr>
          </a:solidFill>
          <a:ln w="15875">
            <a:solidFill>
              <a:schemeClr val="bg2">
                <a:alpha val="55000"/>
              </a:schemeClr>
            </a:solidFill>
            <a:prstDash val="solid"/>
          </a:ln>
        </p:spPr>
      </p:sp>
      <p:sp>
        <p:nvSpPr>
          <p:cNvPr id="79" name="Drawing 4: nucleus"/>
          <p:cNvSpPr/>
          <p:nvPr/>
        </p:nvSpPr>
        <p:spPr>
          <a:xfrm>
            <a:off x="7426757" y="2351837"/>
            <a:ext cx="453542" cy="453542"/>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700" b="1" dirty="0">
                <a:solidFill>
                  <a:schemeClr val="bg1"/>
                </a:solidFill>
              </a:rPr>
              <a:t>8 p</a:t>
            </a:r>
            <a:pPr algn="ctr" indent="0" marL="0">
              <a:buNone/>
            </a:pPr>
            <a:r>
              <a:rPr lang="en-US" sz="700" b="1" baseline="30000" dirty="0">
                <a:solidFill>
                  <a:schemeClr val="bg1"/>
                </a:solidFill>
              </a:rPr>
              <a:t>+</a:t>
            </a:r>
            <a:endParaRPr lang="en-US" sz="700" dirty="0"/>
          </a:p>
          <a:p>
            <a:pPr algn="ctr" indent="0" marL="0">
              <a:buNone/>
            </a:pPr>
            <a:r>
              <a:rPr lang="en-US" sz="700" b="1" dirty="0">
                <a:solidFill>
                  <a:schemeClr val="bg1"/>
                </a:solidFill>
              </a:rPr>
              <a:t>8 n</a:t>
            </a:r>
            <a:pPr algn="ctr" indent="0" marL="0">
              <a:buNone/>
            </a:pPr>
            <a:r>
              <a:rPr lang="en-US" sz="700" b="1" baseline="30000" dirty="0">
                <a:solidFill>
                  <a:schemeClr val="bg1"/>
                </a:solidFill>
              </a:rPr>
              <a:t>0</a:t>
            </a:r>
            <a:endParaRPr lang="en-US" sz="700" dirty="0"/>
          </a:p>
        </p:txBody>
      </p:sp>
      <p:sp>
        <p:nvSpPr>
          <p:cNvPr id="80" name="Drawing 4: electron, shell 1"/>
          <p:cNvSpPr/>
          <p:nvPr/>
        </p:nvSpPr>
        <p:spPr>
          <a:xfrm>
            <a:off x="7598664" y="2172614"/>
            <a:ext cx="109728" cy="109728"/>
          </a:xfrm>
          <a:prstGeom prst="ellipse">
            <a:avLst/>
          </a:prstGeom>
          <a:solidFill>
            <a:schemeClr val="accent1"/>
          </a:solidFill>
          <a:ln w="3175">
            <a:solidFill>
              <a:schemeClr val="accent1"/>
            </a:solidFill>
            <a:prstDash val="solid"/>
          </a:ln>
        </p:spPr>
      </p:sp>
      <p:sp>
        <p:nvSpPr>
          <p:cNvPr id="81" name="Drawing 4: electron, shell 1"/>
          <p:cNvSpPr/>
          <p:nvPr/>
        </p:nvSpPr>
        <p:spPr>
          <a:xfrm>
            <a:off x="7949794" y="2523744"/>
            <a:ext cx="109728" cy="109728"/>
          </a:xfrm>
          <a:prstGeom prst="ellipse">
            <a:avLst/>
          </a:prstGeom>
          <a:solidFill>
            <a:schemeClr val="accent1"/>
          </a:solidFill>
          <a:ln w="3175">
            <a:solidFill>
              <a:schemeClr val="accent1"/>
            </a:solidFill>
            <a:prstDash val="solid"/>
          </a:ln>
        </p:spPr>
      </p:sp>
      <p:sp>
        <p:nvSpPr>
          <p:cNvPr id="82" name="Drawing 4: electron, shell 2"/>
          <p:cNvSpPr/>
          <p:nvPr/>
        </p:nvSpPr>
        <p:spPr>
          <a:xfrm>
            <a:off x="7524987" y="1957935"/>
            <a:ext cx="109728" cy="109728"/>
          </a:xfrm>
          <a:prstGeom prst="ellipse">
            <a:avLst/>
          </a:prstGeom>
          <a:solidFill>
            <a:schemeClr val="accent1"/>
          </a:solidFill>
          <a:ln w="3175">
            <a:solidFill>
              <a:schemeClr val="accent1"/>
            </a:solidFill>
            <a:prstDash val="solid"/>
          </a:ln>
        </p:spPr>
      </p:sp>
      <p:sp>
        <p:nvSpPr>
          <p:cNvPr id="83" name="Drawing 4: electron, shell 2"/>
          <p:cNvSpPr/>
          <p:nvPr/>
        </p:nvSpPr>
        <p:spPr>
          <a:xfrm>
            <a:off x="7672341" y="1957935"/>
            <a:ext cx="109728" cy="109728"/>
          </a:xfrm>
          <a:prstGeom prst="ellipse">
            <a:avLst/>
          </a:prstGeom>
          <a:solidFill>
            <a:schemeClr val="accent1"/>
          </a:solidFill>
          <a:ln w="3175">
            <a:solidFill>
              <a:schemeClr val="accent1"/>
            </a:solidFill>
            <a:prstDash val="solid"/>
          </a:ln>
        </p:spPr>
      </p:sp>
      <p:sp>
        <p:nvSpPr>
          <p:cNvPr id="84" name="Drawing 4: electron, shell 2"/>
          <p:cNvSpPr/>
          <p:nvPr/>
        </p:nvSpPr>
        <p:spPr>
          <a:xfrm>
            <a:off x="8164473" y="2450067"/>
            <a:ext cx="109728" cy="109728"/>
          </a:xfrm>
          <a:prstGeom prst="ellipse">
            <a:avLst/>
          </a:prstGeom>
          <a:solidFill>
            <a:schemeClr val="accent1"/>
          </a:solidFill>
          <a:ln w="3175">
            <a:solidFill>
              <a:schemeClr val="accent1"/>
            </a:solidFill>
            <a:prstDash val="solid"/>
          </a:ln>
        </p:spPr>
      </p:sp>
      <p:sp>
        <p:nvSpPr>
          <p:cNvPr id="85" name="Drawing 4: electron, shell 2"/>
          <p:cNvSpPr/>
          <p:nvPr/>
        </p:nvSpPr>
        <p:spPr>
          <a:xfrm>
            <a:off x="8164473" y="2597421"/>
            <a:ext cx="109728" cy="109728"/>
          </a:xfrm>
          <a:prstGeom prst="ellipse">
            <a:avLst/>
          </a:prstGeom>
          <a:solidFill>
            <a:schemeClr val="accent1"/>
          </a:solidFill>
          <a:ln w="3175">
            <a:solidFill>
              <a:schemeClr val="accent1"/>
            </a:solidFill>
            <a:prstDash val="solid"/>
          </a:ln>
        </p:spPr>
      </p:sp>
      <p:sp>
        <p:nvSpPr>
          <p:cNvPr id="86" name="Drawing 4: electron, shell 2"/>
          <p:cNvSpPr/>
          <p:nvPr/>
        </p:nvSpPr>
        <p:spPr>
          <a:xfrm>
            <a:off x="7672341" y="3089553"/>
            <a:ext cx="109728" cy="109728"/>
          </a:xfrm>
          <a:prstGeom prst="ellipse">
            <a:avLst/>
          </a:prstGeom>
          <a:solidFill>
            <a:schemeClr val="accent1"/>
          </a:solidFill>
          <a:ln w="3175">
            <a:solidFill>
              <a:schemeClr val="accent1"/>
            </a:solidFill>
            <a:prstDash val="solid"/>
          </a:ln>
        </p:spPr>
      </p:sp>
      <p:sp>
        <p:nvSpPr>
          <p:cNvPr id="87" name="Drawing 4: gained electron, shell 2"/>
          <p:cNvSpPr/>
          <p:nvPr/>
        </p:nvSpPr>
        <p:spPr>
          <a:xfrm>
            <a:off x="7524987" y="3089553"/>
            <a:ext cx="109728" cy="109728"/>
          </a:xfrm>
          <a:prstGeom prst="ellipse">
            <a:avLst/>
          </a:prstGeom>
          <a:solidFill>
            <a:schemeClr val="accent6"/>
          </a:solidFill>
          <a:ln w="3175">
            <a:solidFill>
              <a:schemeClr val="accent6"/>
            </a:solidFill>
            <a:prstDash val="solid"/>
          </a:ln>
        </p:spPr>
      </p:sp>
      <p:sp>
        <p:nvSpPr>
          <p:cNvPr id="88" name="Drawing 4: electron, shell 2"/>
          <p:cNvSpPr/>
          <p:nvPr/>
        </p:nvSpPr>
        <p:spPr>
          <a:xfrm>
            <a:off x="7032855" y="2597421"/>
            <a:ext cx="109728" cy="109728"/>
          </a:xfrm>
          <a:prstGeom prst="ellipse">
            <a:avLst/>
          </a:prstGeom>
          <a:solidFill>
            <a:schemeClr val="accent1"/>
          </a:solidFill>
          <a:ln w="3175">
            <a:solidFill>
              <a:schemeClr val="accent1"/>
            </a:solidFill>
            <a:prstDash val="solid"/>
          </a:ln>
        </p:spPr>
      </p:sp>
      <p:sp>
        <p:nvSpPr>
          <p:cNvPr id="89" name="Drawing 4: gained electron, shell 2"/>
          <p:cNvSpPr/>
          <p:nvPr/>
        </p:nvSpPr>
        <p:spPr>
          <a:xfrm>
            <a:off x="7032855" y="2450067"/>
            <a:ext cx="109728" cy="109728"/>
          </a:xfrm>
          <a:prstGeom prst="ellipse">
            <a:avLst/>
          </a:prstGeom>
          <a:solidFill>
            <a:schemeClr val="accent6"/>
          </a:solidFill>
          <a:ln w="3175">
            <a:solidFill>
              <a:schemeClr val="accent6"/>
            </a:solidFill>
            <a:prstDash val="solid"/>
          </a:ln>
        </p:spPr>
      </p:sp>
      <p:sp>
        <p:nvSpPr>
          <p:cNvPr id="90" name="Drawing 4: left bracket"/>
          <p:cNvSpPr/>
          <p:nvPr/>
        </p:nvSpPr>
        <p:spPr>
          <a:xfrm>
            <a:off x="6965899" y="1890979"/>
            <a:ext cx="102413" cy="1375258"/>
          </a:xfrm>
          <a:prstGeom prst="leftBracket">
            <a:avLst/>
          </a:prstGeom>
          <a:noFill/>
          <a:ln w="19050">
            <a:solidFill>
              <a:schemeClr val="bg1"/>
            </a:solidFill>
            <a:prstDash val="solid"/>
          </a:ln>
        </p:spPr>
      </p:sp>
      <p:sp>
        <p:nvSpPr>
          <p:cNvPr id="91" name="Drawing 4: right bracket"/>
          <p:cNvSpPr/>
          <p:nvPr/>
        </p:nvSpPr>
        <p:spPr>
          <a:xfrm>
            <a:off x="8238744" y="1890979"/>
            <a:ext cx="102413" cy="1375258"/>
          </a:xfrm>
          <a:prstGeom prst="rightBracket">
            <a:avLst/>
          </a:prstGeom>
          <a:noFill/>
          <a:ln w="19050">
            <a:solidFill>
              <a:schemeClr val="bg1"/>
            </a:solidFill>
            <a:prstDash val="solid"/>
          </a:ln>
        </p:spPr>
      </p:sp>
      <p:sp>
        <p:nvSpPr>
          <p:cNvPr id="92" name="Drawing 4: charge"/>
          <p:cNvSpPr txBox="1"/>
          <p:nvPr/>
        </p:nvSpPr>
        <p:spPr>
          <a:xfrm>
            <a:off x="8359445" y="1807159"/>
            <a:ext cx="243840" cy="182880"/>
          </a:xfrm>
          <a:prstGeom prst="rect">
            <a:avLst/>
          </a:prstGeom>
          <a:noFill/>
          <a:ln/>
        </p:spPr>
        <p:txBody>
          <a:bodyPr wrap="square" lIns="0" tIns="0" rIns="0" bIns="0" rtlCol="0" anchor="t"/>
          <a:lstStyle/>
          <a:p>
            <a:pPr indent="0" marL="0">
              <a:buNone/>
            </a:pPr>
            <a:r>
              <a:rPr lang="en-US" sz="1200" b="1" dirty="0">
                <a:solidFill>
                  <a:schemeClr val="bg1"/>
                </a:solidFill>
              </a:rPr>
              <a:t>−</a:t>
            </a:r>
            <a:endParaRPr lang="en-US" sz="1200" dirty="0"/>
          </a:p>
        </p:txBody>
      </p:sp>
      <p:sp>
        <p:nvSpPr>
          <p:cNvPr id="93" name="Text 91"/>
          <p:cNvSpPr txBox="1"/>
          <p:nvPr/>
        </p:nvSpPr>
        <p:spPr>
          <a:xfrm>
            <a:off x="6830568" y="3337560"/>
            <a:ext cx="1773936" cy="320040"/>
          </a:xfrm>
          <a:prstGeom prst="rect">
            <a:avLst/>
          </a:prstGeom>
          <a:noFill/>
          <a:ln/>
        </p:spPr>
        <p:txBody>
          <a:bodyPr wrap="square" lIns="0" tIns="0" rIns="0" bIns="0" rtlCol="0" anchor="ctr"/>
          <a:lstStyle/>
          <a:p>
            <a:pPr algn="ctr" indent="0" marL="0">
              <a:buNone/>
            </a:pPr>
            <a:r>
              <a:rPr lang="en-US" sz="1200" dirty="0">
                <a:solidFill>
                  <a:schemeClr val="bg2"/>
                </a:solidFill>
              </a:rPr>
              <a:t>Supposed to be </a:t>
            </a:r>
            <a:pPr algn="ctr" indent="0" marL="0">
              <a:buNone/>
            </a:pPr>
            <a:r>
              <a:rPr lang="en-US" sz="1200" b="1" dirty="0">
                <a:solidFill>
                  <a:schemeClr val="bg2"/>
                </a:solidFill>
              </a:rPr>
              <a:t>O</a:t>
            </a:r>
            <a:pPr algn="ctr" indent="0" marL="0">
              <a:buNone/>
            </a:pPr>
            <a:r>
              <a:rPr lang="en-US" sz="1200" b="1" baseline="30000" dirty="0">
                <a:solidFill>
                  <a:schemeClr val="bg2"/>
                </a:solidFill>
              </a:rPr>
              <a:t>2−</a:t>
            </a:r>
            <a:endParaRPr lang="en-US" sz="1200" dirty="0"/>
          </a:p>
        </p:txBody>
      </p:sp>
      <p:sp>
        <p:nvSpPr>
          <p:cNvPr id="94" name="Text 92"/>
          <p:cNvSpPr txBox="1"/>
          <p:nvPr/>
        </p:nvSpPr>
        <p:spPr>
          <a:xfrm>
            <a:off x="6830568" y="3886200"/>
            <a:ext cx="1773936" cy="320040"/>
          </a:xfrm>
          <a:prstGeom prst="rect">
            <a:avLst/>
          </a:prstGeom>
          <a:noFill/>
          <a:ln/>
        </p:spPr>
        <p:txBody>
          <a:bodyPr wrap="square" lIns="0" tIns="0" rIns="0" bIns="0" rtlCol="0" anchor="t"/>
          <a:lstStyle/>
          <a:p>
            <a:pPr algn="ctr" indent="0" marL="0">
              <a:buNone/>
            </a:pPr>
            <a:r>
              <a:rPr lang="en-US" sz="1300" b="1" dirty="0">
                <a:solidFill>
                  <a:schemeClr val="accent2"/>
                </a:solidFill>
              </a:rPr>
              <a:t>What's wrong?</a:t>
            </a:r>
            <a:endParaRPr lang="en-US" sz="13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Section tile 7"/>
          <p:cNvSpPr/>
          <p:nvPr/>
        </p:nvSpPr>
        <p:spPr>
          <a:xfrm>
            <a:off x="457200" y="301752"/>
            <a:ext cx="749808" cy="841248"/>
          </a:xfrm>
          <a:prstGeom prst="roundRect">
            <a:avLst>
              <a:gd name="adj" fmla="val 12000"/>
            </a:avLst>
          </a:prstGeom>
          <a:solidFill>
            <a:srgbClr val="60A5FA">
              <a:alpha val="28000"/>
            </a:srgbClr>
          </a:solidFill>
          <a:ln w="19050">
            <a:solidFill>
              <a:srgbClr val="60A5FA"/>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7</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2400" b="1" dirty="0">
                <a:solidFill>
                  <a:schemeClr val="bg1"/>
                </a:solidFill>
              </a:rPr>
              <a:t>K</a:t>
            </a:r>
            <a:pPr algn="ctr" indent="0" marL="0">
              <a:buNone/>
            </a:pPr>
            <a:r>
              <a:rPr lang="en-US" sz="2400" b="1" baseline="30000" dirty="0">
                <a:solidFill>
                  <a:schemeClr val="bg1"/>
                </a:solidFill>
              </a:rPr>
              <a:t>+</a:t>
            </a:r>
            <a:endParaRPr lang="en-US" sz="2400" dirty="0"/>
          </a:p>
        </p:txBody>
      </p:sp>
      <p:sp>
        <p:nvSpPr>
          <p:cNvPr id="5" name="Text 3"/>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6" name="Text 4"/>
          <p:cNvSpPr/>
          <p:nvPr/>
        </p:nvSpPr>
        <p:spPr>
          <a:xfrm>
            <a:off x="224028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7" name="Text 5"/>
          <p:cNvSpPr txBox="1"/>
          <p:nvPr/>
        </p:nvSpPr>
        <p:spPr>
          <a:xfrm>
            <a:off x="32004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7 of 9</a:t>
            </a:r>
            <a:endParaRPr lang="en-US" sz="1200" dirty="0"/>
          </a:p>
        </p:txBody>
      </p:sp>
      <p:sp>
        <p:nvSpPr>
          <p:cNvPr id="8"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Spot the mistake</a:t>
            </a:r>
            <a:endParaRPr lang="en-US" sz="2800" dirty="0"/>
          </a:p>
        </p:txBody>
      </p:sp>
      <p:sp>
        <p:nvSpPr>
          <p:cNvPr id="9" name="Text 7"/>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Each drawing has one mistake. What's wrong?</a:t>
            </a:r>
            <a:endParaRPr lang="en-US" sz="1300" dirty="0"/>
          </a:p>
        </p:txBody>
      </p:sp>
      <p:sp>
        <p:nvSpPr>
          <p:cNvPr id="10" name="Drawing 1"/>
          <p:cNvSpPr/>
          <p:nvPr/>
        </p:nvSpPr>
        <p:spPr>
          <a:xfrm>
            <a:off x="457200" y="1645920"/>
            <a:ext cx="1956816" cy="3017520"/>
          </a:xfrm>
          <a:prstGeom prst="roundRect">
            <a:avLst>
              <a:gd name="adj" fmla="val 4673"/>
            </a:avLst>
          </a:prstGeom>
          <a:solidFill>
            <a:schemeClr val="tx2"/>
          </a:solidFill>
          <a:ln w="9525">
            <a:solidFill>
              <a:schemeClr val="bg2">
                <a:alpha val="30000"/>
              </a:schemeClr>
            </a:solidFill>
            <a:prstDash val="solid"/>
          </a:ln>
        </p:spPr>
      </p:sp>
      <p:sp>
        <p:nvSpPr>
          <p:cNvPr id="11" name="Drawing 1: shell 1"/>
          <p:cNvSpPr/>
          <p:nvPr/>
        </p:nvSpPr>
        <p:spPr>
          <a:xfrm>
            <a:off x="1020470" y="2227478"/>
            <a:ext cx="702259" cy="702259"/>
          </a:xfrm>
          <a:prstGeom prst="ellipse">
            <a:avLst/>
          </a:prstGeom>
          <a:solidFill>
            <a:schemeClr val="bg1">
              <a:alpha val="0"/>
            </a:schemeClr>
          </a:solidFill>
          <a:ln w="15875">
            <a:solidFill>
              <a:schemeClr val="bg2">
                <a:alpha val="55000"/>
              </a:schemeClr>
            </a:solidFill>
            <a:prstDash val="solid"/>
          </a:ln>
        </p:spPr>
      </p:sp>
      <p:sp>
        <p:nvSpPr>
          <p:cNvPr id="12" name="Drawing 1: shell 2"/>
          <p:cNvSpPr/>
          <p:nvPr/>
        </p:nvSpPr>
        <p:spPr>
          <a:xfrm>
            <a:off x="801014" y="2008022"/>
            <a:ext cx="1141171" cy="1141171"/>
          </a:xfrm>
          <a:prstGeom prst="ellipse">
            <a:avLst/>
          </a:prstGeom>
          <a:solidFill>
            <a:schemeClr val="bg1">
              <a:alpha val="0"/>
            </a:schemeClr>
          </a:solidFill>
          <a:ln w="15875">
            <a:solidFill>
              <a:schemeClr val="bg2">
                <a:alpha val="55000"/>
              </a:schemeClr>
            </a:solidFill>
            <a:prstDash val="solid"/>
          </a:ln>
        </p:spPr>
      </p:sp>
      <p:sp>
        <p:nvSpPr>
          <p:cNvPr id="13" name="Drawing 1: nucleus"/>
          <p:cNvSpPr/>
          <p:nvPr/>
        </p:nvSpPr>
        <p:spPr>
          <a:xfrm>
            <a:off x="1144829" y="2351837"/>
            <a:ext cx="453542" cy="453542"/>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700" b="1" dirty="0">
                <a:solidFill>
                  <a:schemeClr val="bg1"/>
                </a:solidFill>
              </a:rPr>
              <a:t>10 p</a:t>
            </a:r>
            <a:pPr algn="ctr" indent="0" marL="0">
              <a:buNone/>
            </a:pPr>
            <a:r>
              <a:rPr lang="en-US" sz="700" b="1" baseline="30000" dirty="0">
                <a:solidFill>
                  <a:schemeClr val="bg1"/>
                </a:solidFill>
              </a:rPr>
              <a:t>+</a:t>
            </a:r>
            <a:endParaRPr lang="en-US" sz="700" dirty="0"/>
          </a:p>
          <a:p>
            <a:pPr algn="ctr" indent="0" marL="0">
              <a:buNone/>
            </a:pPr>
            <a:r>
              <a:rPr lang="en-US" sz="700" b="1" dirty="0">
                <a:solidFill>
                  <a:schemeClr val="bg1"/>
                </a:solidFill>
              </a:rPr>
              <a:t>12 n</a:t>
            </a:r>
            <a:pPr algn="ctr" indent="0" marL="0">
              <a:buNone/>
            </a:pPr>
            <a:r>
              <a:rPr lang="en-US" sz="700" b="1" baseline="30000" dirty="0">
                <a:solidFill>
                  <a:schemeClr val="bg1"/>
                </a:solidFill>
              </a:rPr>
              <a:t>0</a:t>
            </a:r>
            <a:endParaRPr lang="en-US" sz="700" dirty="0"/>
          </a:p>
        </p:txBody>
      </p:sp>
      <p:sp>
        <p:nvSpPr>
          <p:cNvPr id="14" name="Drawing 1: electron, shell 1"/>
          <p:cNvSpPr/>
          <p:nvPr/>
        </p:nvSpPr>
        <p:spPr>
          <a:xfrm>
            <a:off x="1316736" y="2172614"/>
            <a:ext cx="109728" cy="109728"/>
          </a:xfrm>
          <a:prstGeom prst="ellipse">
            <a:avLst/>
          </a:prstGeom>
          <a:solidFill>
            <a:schemeClr val="accent1"/>
          </a:solidFill>
          <a:ln w="3175">
            <a:solidFill>
              <a:schemeClr val="accent1"/>
            </a:solidFill>
            <a:prstDash val="solid"/>
          </a:ln>
        </p:spPr>
      </p:sp>
      <p:sp>
        <p:nvSpPr>
          <p:cNvPr id="15" name="Drawing 1: electron, shell 1"/>
          <p:cNvSpPr/>
          <p:nvPr/>
        </p:nvSpPr>
        <p:spPr>
          <a:xfrm>
            <a:off x="1667866" y="2523744"/>
            <a:ext cx="109728" cy="109728"/>
          </a:xfrm>
          <a:prstGeom prst="ellipse">
            <a:avLst/>
          </a:prstGeom>
          <a:solidFill>
            <a:schemeClr val="accent1"/>
          </a:solidFill>
          <a:ln w="3175">
            <a:solidFill>
              <a:schemeClr val="accent1"/>
            </a:solidFill>
            <a:prstDash val="solid"/>
          </a:ln>
        </p:spPr>
      </p:sp>
      <p:sp>
        <p:nvSpPr>
          <p:cNvPr id="16" name="Drawing 1: electron, shell 2"/>
          <p:cNvSpPr/>
          <p:nvPr/>
        </p:nvSpPr>
        <p:spPr>
          <a:xfrm>
            <a:off x="1243059" y="1957935"/>
            <a:ext cx="109728" cy="109728"/>
          </a:xfrm>
          <a:prstGeom prst="ellipse">
            <a:avLst/>
          </a:prstGeom>
          <a:solidFill>
            <a:schemeClr val="accent1"/>
          </a:solidFill>
          <a:ln w="3175">
            <a:solidFill>
              <a:schemeClr val="accent1"/>
            </a:solidFill>
            <a:prstDash val="solid"/>
          </a:ln>
        </p:spPr>
      </p:sp>
      <p:sp>
        <p:nvSpPr>
          <p:cNvPr id="17" name="Drawing 1: electron, shell 2"/>
          <p:cNvSpPr/>
          <p:nvPr/>
        </p:nvSpPr>
        <p:spPr>
          <a:xfrm>
            <a:off x="1390413" y="1957935"/>
            <a:ext cx="109728" cy="109728"/>
          </a:xfrm>
          <a:prstGeom prst="ellipse">
            <a:avLst/>
          </a:prstGeom>
          <a:solidFill>
            <a:schemeClr val="accent1"/>
          </a:solidFill>
          <a:ln w="3175">
            <a:solidFill>
              <a:schemeClr val="accent1"/>
            </a:solidFill>
            <a:prstDash val="solid"/>
          </a:ln>
        </p:spPr>
      </p:sp>
      <p:sp>
        <p:nvSpPr>
          <p:cNvPr id="18" name="Drawing 1: electron, shell 2"/>
          <p:cNvSpPr/>
          <p:nvPr/>
        </p:nvSpPr>
        <p:spPr>
          <a:xfrm>
            <a:off x="1882545" y="2450067"/>
            <a:ext cx="109728" cy="109728"/>
          </a:xfrm>
          <a:prstGeom prst="ellipse">
            <a:avLst/>
          </a:prstGeom>
          <a:solidFill>
            <a:schemeClr val="accent1"/>
          </a:solidFill>
          <a:ln w="3175">
            <a:solidFill>
              <a:schemeClr val="accent1"/>
            </a:solidFill>
            <a:prstDash val="solid"/>
          </a:ln>
        </p:spPr>
      </p:sp>
      <p:sp>
        <p:nvSpPr>
          <p:cNvPr id="19" name="Drawing 1: electron, shell 2"/>
          <p:cNvSpPr/>
          <p:nvPr/>
        </p:nvSpPr>
        <p:spPr>
          <a:xfrm>
            <a:off x="1882545" y="2597421"/>
            <a:ext cx="109728" cy="109728"/>
          </a:xfrm>
          <a:prstGeom prst="ellipse">
            <a:avLst/>
          </a:prstGeom>
          <a:solidFill>
            <a:schemeClr val="accent1"/>
          </a:solidFill>
          <a:ln w="3175">
            <a:solidFill>
              <a:schemeClr val="accent1"/>
            </a:solidFill>
            <a:prstDash val="solid"/>
          </a:ln>
        </p:spPr>
      </p:sp>
      <p:sp>
        <p:nvSpPr>
          <p:cNvPr id="20" name="Drawing 1: electron, shell 2"/>
          <p:cNvSpPr/>
          <p:nvPr/>
        </p:nvSpPr>
        <p:spPr>
          <a:xfrm>
            <a:off x="1390413" y="3089553"/>
            <a:ext cx="109728" cy="109728"/>
          </a:xfrm>
          <a:prstGeom prst="ellipse">
            <a:avLst/>
          </a:prstGeom>
          <a:solidFill>
            <a:schemeClr val="accent1"/>
          </a:solidFill>
          <a:ln w="3175">
            <a:solidFill>
              <a:schemeClr val="accent1"/>
            </a:solidFill>
            <a:prstDash val="solid"/>
          </a:ln>
        </p:spPr>
      </p:sp>
      <p:sp>
        <p:nvSpPr>
          <p:cNvPr id="21" name="Drawing 1: electron, shell 2"/>
          <p:cNvSpPr/>
          <p:nvPr/>
        </p:nvSpPr>
        <p:spPr>
          <a:xfrm>
            <a:off x="1243059" y="3089553"/>
            <a:ext cx="109728" cy="109728"/>
          </a:xfrm>
          <a:prstGeom prst="ellipse">
            <a:avLst/>
          </a:prstGeom>
          <a:solidFill>
            <a:schemeClr val="accent1"/>
          </a:solidFill>
          <a:ln w="3175">
            <a:solidFill>
              <a:schemeClr val="accent1"/>
            </a:solidFill>
            <a:prstDash val="solid"/>
          </a:ln>
        </p:spPr>
      </p:sp>
      <p:sp>
        <p:nvSpPr>
          <p:cNvPr id="22" name="Drawing 1: electron, shell 2"/>
          <p:cNvSpPr/>
          <p:nvPr/>
        </p:nvSpPr>
        <p:spPr>
          <a:xfrm>
            <a:off x="750927" y="2597421"/>
            <a:ext cx="109728" cy="109728"/>
          </a:xfrm>
          <a:prstGeom prst="ellipse">
            <a:avLst/>
          </a:prstGeom>
          <a:solidFill>
            <a:schemeClr val="accent1"/>
          </a:solidFill>
          <a:ln w="3175">
            <a:solidFill>
              <a:schemeClr val="accent1"/>
            </a:solidFill>
            <a:prstDash val="solid"/>
          </a:ln>
        </p:spPr>
      </p:sp>
      <p:sp>
        <p:nvSpPr>
          <p:cNvPr id="23" name="Drawing 1: electron, shell 2"/>
          <p:cNvSpPr/>
          <p:nvPr/>
        </p:nvSpPr>
        <p:spPr>
          <a:xfrm>
            <a:off x="750927" y="2450067"/>
            <a:ext cx="109728" cy="109728"/>
          </a:xfrm>
          <a:prstGeom prst="ellipse">
            <a:avLst/>
          </a:prstGeom>
          <a:solidFill>
            <a:schemeClr val="accent1"/>
          </a:solidFill>
          <a:ln w="3175">
            <a:solidFill>
              <a:schemeClr val="accent1"/>
            </a:solidFill>
            <a:prstDash val="solid"/>
          </a:ln>
        </p:spPr>
      </p:sp>
      <p:sp>
        <p:nvSpPr>
          <p:cNvPr id="24" name="Drawing 1: left bracket"/>
          <p:cNvSpPr/>
          <p:nvPr/>
        </p:nvSpPr>
        <p:spPr>
          <a:xfrm>
            <a:off x="683971" y="1890979"/>
            <a:ext cx="102413" cy="1375258"/>
          </a:xfrm>
          <a:prstGeom prst="leftBracket">
            <a:avLst/>
          </a:prstGeom>
          <a:noFill/>
          <a:ln w="19050">
            <a:solidFill>
              <a:schemeClr val="bg1"/>
            </a:solidFill>
            <a:prstDash val="solid"/>
          </a:ln>
        </p:spPr>
      </p:sp>
      <p:sp>
        <p:nvSpPr>
          <p:cNvPr id="25" name="Drawing 1: right bracket"/>
          <p:cNvSpPr/>
          <p:nvPr/>
        </p:nvSpPr>
        <p:spPr>
          <a:xfrm>
            <a:off x="1956816" y="1890979"/>
            <a:ext cx="102413" cy="1375258"/>
          </a:xfrm>
          <a:prstGeom prst="rightBracket">
            <a:avLst/>
          </a:prstGeom>
          <a:noFill/>
          <a:ln w="19050">
            <a:solidFill>
              <a:schemeClr val="bg1"/>
            </a:solidFill>
            <a:prstDash val="solid"/>
          </a:ln>
        </p:spPr>
      </p:sp>
      <p:sp>
        <p:nvSpPr>
          <p:cNvPr id="26" name="Drawing 1: charge"/>
          <p:cNvSpPr txBox="1"/>
          <p:nvPr/>
        </p:nvSpPr>
        <p:spPr>
          <a:xfrm>
            <a:off x="2077517" y="1807159"/>
            <a:ext cx="243840" cy="182880"/>
          </a:xfrm>
          <a:prstGeom prst="rect">
            <a:avLst/>
          </a:prstGeom>
          <a:noFill/>
          <a:ln/>
        </p:spPr>
        <p:txBody>
          <a:bodyPr wrap="square" lIns="0" tIns="0" rIns="0" bIns="0" rtlCol="0" anchor="t"/>
          <a:lstStyle/>
          <a:p>
            <a:pPr indent="0" marL="0">
              <a:buNone/>
            </a:pPr>
            <a:r>
              <a:rPr lang="en-US" sz="1200" b="1" dirty="0">
                <a:solidFill>
                  <a:schemeClr val="bg1"/>
                </a:solidFill>
              </a:rPr>
              <a:t>+</a:t>
            </a:r>
            <a:endParaRPr lang="en-US" sz="1200" dirty="0"/>
          </a:p>
        </p:txBody>
      </p:sp>
      <p:sp>
        <p:nvSpPr>
          <p:cNvPr id="27" name="Text 25"/>
          <p:cNvSpPr txBox="1"/>
          <p:nvPr/>
        </p:nvSpPr>
        <p:spPr>
          <a:xfrm>
            <a:off x="548640" y="3337560"/>
            <a:ext cx="1773936" cy="320040"/>
          </a:xfrm>
          <a:prstGeom prst="rect">
            <a:avLst/>
          </a:prstGeom>
          <a:noFill/>
          <a:ln/>
        </p:spPr>
        <p:txBody>
          <a:bodyPr wrap="square" lIns="0" tIns="0" rIns="0" bIns="0" rtlCol="0" anchor="ctr"/>
          <a:lstStyle/>
          <a:p>
            <a:pPr algn="ctr" indent="0" marL="0">
              <a:buNone/>
            </a:pPr>
            <a:r>
              <a:rPr lang="en-US" sz="1200" dirty="0">
                <a:solidFill>
                  <a:schemeClr val="bg2"/>
                </a:solidFill>
              </a:rPr>
              <a:t>Supposed to be </a:t>
            </a:r>
            <a:pPr algn="ctr" indent="0" marL="0">
              <a:buNone/>
            </a:pPr>
            <a:r>
              <a:rPr lang="en-US" sz="1200" b="1" dirty="0">
                <a:solidFill>
                  <a:schemeClr val="bg2"/>
                </a:solidFill>
              </a:rPr>
              <a:t>Na</a:t>
            </a:r>
            <a:pPr algn="ctr" indent="0" marL="0">
              <a:buNone/>
            </a:pPr>
            <a:r>
              <a:rPr lang="en-US" sz="1200" b="1" baseline="30000" dirty="0">
                <a:solidFill>
                  <a:schemeClr val="bg2"/>
                </a:solidFill>
              </a:rPr>
              <a:t>+</a:t>
            </a:r>
            <a:endParaRPr lang="en-US" sz="1200" dirty="0"/>
          </a:p>
        </p:txBody>
      </p:sp>
      <p:sp>
        <p:nvSpPr>
          <p:cNvPr id="28" name="Text 26"/>
          <p:cNvSpPr txBox="1"/>
          <p:nvPr/>
        </p:nvSpPr>
        <p:spPr>
          <a:xfrm>
            <a:off x="566928" y="3703320"/>
            <a:ext cx="1737360" cy="868680"/>
          </a:xfrm>
          <a:prstGeom prst="rect">
            <a:avLst/>
          </a:prstGeom>
          <a:noFill/>
          <a:ln/>
        </p:spPr>
        <p:txBody>
          <a:bodyPr wrap="square" lIns="0" tIns="0" rIns="0" bIns="0" rtlCol="0" anchor="t"/>
          <a:lstStyle/>
          <a:p>
            <a:pPr algn="ctr" indent="0" marL="0">
              <a:buNone/>
            </a:pPr>
            <a:r>
              <a:rPr lang="en-US" sz="1200" b="1" dirty="0">
                <a:solidFill>
                  <a:schemeClr val="accent4"/>
                </a:solidFill>
              </a:rPr>
              <a:t>Protons should stay 11. Ions never change protons.</a:t>
            </a:r>
            <a:endParaRPr lang="en-US" sz="1200" dirty="0"/>
          </a:p>
        </p:txBody>
      </p:sp>
      <p:sp>
        <p:nvSpPr>
          <p:cNvPr id="29" name="Drawing 2"/>
          <p:cNvSpPr/>
          <p:nvPr/>
        </p:nvSpPr>
        <p:spPr>
          <a:xfrm>
            <a:off x="2551176" y="1645920"/>
            <a:ext cx="1956816" cy="3017520"/>
          </a:xfrm>
          <a:prstGeom prst="roundRect">
            <a:avLst>
              <a:gd name="adj" fmla="val 4673"/>
            </a:avLst>
          </a:prstGeom>
          <a:solidFill>
            <a:schemeClr val="tx2"/>
          </a:solidFill>
          <a:ln w="9525">
            <a:solidFill>
              <a:schemeClr val="bg2">
                <a:alpha val="30000"/>
              </a:schemeClr>
            </a:solidFill>
            <a:prstDash val="solid"/>
          </a:ln>
        </p:spPr>
      </p:sp>
      <p:sp>
        <p:nvSpPr>
          <p:cNvPr id="30" name="Drawing 2: shell 1"/>
          <p:cNvSpPr/>
          <p:nvPr/>
        </p:nvSpPr>
        <p:spPr>
          <a:xfrm>
            <a:off x="3192291" y="2305323"/>
            <a:ext cx="546570" cy="546570"/>
          </a:xfrm>
          <a:prstGeom prst="ellipse">
            <a:avLst/>
          </a:prstGeom>
          <a:solidFill>
            <a:schemeClr val="bg1">
              <a:alpha val="0"/>
            </a:schemeClr>
          </a:solidFill>
          <a:ln w="15875">
            <a:solidFill>
              <a:schemeClr val="bg2">
                <a:alpha val="55000"/>
              </a:schemeClr>
            </a:solidFill>
            <a:prstDash val="solid"/>
          </a:ln>
        </p:spPr>
      </p:sp>
      <p:sp>
        <p:nvSpPr>
          <p:cNvPr id="31" name="Drawing 2: shell 2"/>
          <p:cNvSpPr/>
          <p:nvPr/>
        </p:nvSpPr>
        <p:spPr>
          <a:xfrm>
            <a:off x="3021488" y="2134520"/>
            <a:ext cx="888176" cy="888176"/>
          </a:xfrm>
          <a:prstGeom prst="ellipse">
            <a:avLst/>
          </a:prstGeom>
          <a:solidFill>
            <a:schemeClr val="bg1">
              <a:alpha val="0"/>
            </a:schemeClr>
          </a:solidFill>
          <a:ln w="15875">
            <a:solidFill>
              <a:schemeClr val="bg2">
                <a:alpha val="55000"/>
              </a:schemeClr>
            </a:solidFill>
            <a:prstDash val="solid"/>
          </a:ln>
        </p:spPr>
      </p:sp>
      <p:sp>
        <p:nvSpPr>
          <p:cNvPr id="32" name="Drawing 2: shell 3"/>
          <p:cNvSpPr/>
          <p:nvPr/>
        </p:nvSpPr>
        <p:spPr>
          <a:xfrm>
            <a:off x="2862072" y="1975104"/>
            <a:ext cx="1207008" cy="1207008"/>
          </a:xfrm>
          <a:prstGeom prst="ellipse">
            <a:avLst/>
          </a:prstGeom>
          <a:solidFill>
            <a:schemeClr val="bg1">
              <a:alpha val="0"/>
            </a:schemeClr>
          </a:solidFill>
          <a:ln w="15875">
            <a:solidFill>
              <a:schemeClr val="bg2">
                <a:alpha val="55000"/>
              </a:schemeClr>
            </a:solidFill>
            <a:prstDash val="solid"/>
          </a:ln>
        </p:spPr>
      </p:sp>
      <p:sp>
        <p:nvSpPr>
          <p:cNvPr id="33" name="Drawing 2: nucleus"/>
          <p:cNvSpPr/>
          <p:nvPr/>
        </p:nvSpPr>
        <p:spPr>
          <a:xfrm>
            <a:off x="3289080" y="2402112"/>
            <a:ext cx="352993" cy="352993"/>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700" b="1" dirty="0">
                <a:solidFill>
                  <a:schemeClr val="bg1"/>
                </a:solidFill>
              </a:rPr>
              <a:t>17 p</a:t>
            </a:r>
            <a:pPr algn="ctr" indent="0" marL="0">
              <a:buNone/>
            </a:pPr>
            <a:r>
              <a:rPr lang="en-US" sz="700" b="1" baseline="30000" dirty="0">
                <a:solidFill>
                  <a:schemeClr val="bg1"/>
                </a:solidFill>
              </a:rPr>
              <a:t>+</a:t>
            </a:r>
            <a:endParaRPr lang="en-US" sz="700" dirty="0"/>
          </a:p>
          <a:p>
            <a:pPr algn="ctr" indent="0" marL="0">
              <a:buNone/>
            </a:pPr>
            <a:r>
              <a:rPr lang="en-US" sz="700" b="1" dirty="0">
                <a:solidFill>
                  <a:schemeClr val="bg1"/>
                </a:solidFill>
              </a:rPr>
              <a:t>18 n</a:t>
            </a:r>
            <a:pPr algn="ctr" indent="0" marL="0">
              <a:buNone/>
            </a:pPr>
            <a:r>
              <a:rPr lang="en-US" sz="700" b="1" baseline="30000" dirty="0">
                <a:solidFill>
                  <a:schemeClr val="bg1"/>
                </a:solidFill>
              </a:rPr>
              <a:t>0</a:t>
            </a:r>
            <a:endParaRPr lang="en-US" sz="700" dirty="0"/>
          </a:p>
        </p:txBody>
      </p:sp>
      <p:sp>
        <p:nvSpPr>
          <p:cNvPr id="34" name="Drawing 2: electron, shell 1"/>
          <p:cNvSpPr/>
          <p:nvPr/>
        </p:nvSpPr>
        <p:spPr>
          <a:xfrm>
            <a:off x="3422875" y="2262622"/>
            <a:ext cx="85402" cy="85402"/>
          </a:xfrm>
          <a:prstGeom prst="ellipse">
            <a:avLst/>
          </a:prstGeom>
          <a:solidFill>
            <a:schemeClr val="accent1"/>
          </a:solidFill>
          <a:ln w="3175">
            <a:solidFill>
              <a:schemeClr val="accent1"/>
            </a:solidFill>
            <a:prstDash val="solid"/>
          </a:ln>
        </p:spPr>
      </p:sp>
      <p:sp>
        <p:nvSpPr>
          <p:cNvPr id="35" name="Drawing 2: electron, shell 1"/>
          <p:cNvSpPr/>
          <p:nvPr/>
        </p:nvSpPr>
        <p:spPr>
          <a:xfrm>
            <a:off x="3696160" y="2535907"/>
            <a:ext cx="85402" cy="85402"/>
          </a:xfrm>
          <a:prstGeom prst="ellipse">
            <a:avLst/>
          </a:prstGeom>
          <a:solidFill>
            <a:schemeClr val="accent1"/>
          </a:solidFill>
          <a:ln w="3175">
            <a:solidFill>
              <a:schemeClr val="accent1"/>
            </a:solidFill>
            <a:prstDash val="solid"/>
          </a:ln>
        </p:spPr>
      </p:sp>
      <p:sp>
        <p:nvSpPr>
          <p:cNvPr id="36" name="Drawing 2: electron, shell 2"/>
          <p:cNvSpPr/>
          <p:nvPr/>
        </p:nvSpPr>
        <p:spPr>
          <a:xfrm>
            <a:off x="3365532" y="2095537"/>
            <a:ext cx="85402" cy="85402"/>
          </a:xfrm>
          <a:prstGeom prst="ellipse">
            <a:avLst/>
          </a:prstGeom>
          <a:solidFill>
            <a:schemeClr val="accent1"/>
          </a:solidFill>
          <a:ln w="3175">
            <a:solidFill>
              <a:schemeClr val="accent1"/>
            </a:solidFill>
            <a:prstDash val="solid"/>
          </a:ln>
        </p:spPr>
      </p:sp>
      <p:sp>
        <p:nvSpPr>
          <p:cNvPr id="37" name="Drawing 2: electron, shell 2"/>
          <p:cNvSpPr/>
          <p:nvPr/>
        </p:nvSpPr>
        <p:spPr>
          <a:xfrm>
            <a:off x="3480218" y="2095537"/>
            <a:ext cx="85402" cy="85402"/>
          </a:xfrm>
          <a:prstGeom prst="ellipse">
            <a:avLst/>
          </a:prstGeom>
          <a:solidFill>
            <a:schemeClr val="accent1"/>
          </a:solidFill>
          <a:ln w="3175">
            <a:solidFill>
              <a:schemeClr val="accent1"/>
            </a:solidFill>
            <a:prstDash val="solid"/>
          </a:ln>
        </p:spPr>
      </p:sp>
      <p:sp>
        <p:nvSpPr>
          <p:cNvPr id="38" name="Drawing 2: electron, shell 2"/>
          <p:cNvSpPr/>
          <p:nvPr/>
        </p:nvSpPr>
        <p:spPr>
          <a:xfrm>
            <a:off x="3863245" y="2478564"/>
            <a:ext cx="85402" cy="85402"/>
          </a:xfrm>
          <a:prstGeom prst="ellipse">
            <a:avLst/>
          </a:prstGeom>
          <a:solidFill>
            <a:schemeClr val="accent1"/>
          </a:solidFill>
          <a:ln w="3175">
            <a:solidFill>
              <a:schemeClr val="accent1"/>
            </a:solidFill>
            <a:prstDash val="solid"/>
          </a:ln>
        </p:spPr>
      </p:sp>
      <p:sp>
        <p:nvSpPr>
          <p:cNvPr id="39" name="Drawing 2: electron, shell 2"/>
          <p:cNvSpPr/>
          <p:nvPr/>
        </p:nvSpPr>
        <p:spPr>
          <a:xfrm>
            <a:off x="3863245" y="2593250"/>
            <a:ext cx="85402" cy="85402"/>
          </a:xfrm>
          <a:prstGeom prst="ellipse">
            <a:avLst/>
          </a:prstGeom>
          <a:solidFill>
            <a:schemeClr val="accent1"/>
          </a:solidFill>
          <a:ln w="3175">
            <a:solidFill>
              <a:schemeClr val="accent1"/>
            </a:solidFill>
            <a:prstDash val="solid"/>
          </a:ln>
        </p:spPr>
      </p:sp>
      <p:sp>
        <p:nvSpPr>
          <p:cNvPr id="40" name="Drawing 2: electron, shell 2"/>
          <p:cNvSpPr/>
          <p:nvPr/>
        </p:nvSpPr>
        <p:spPr>
          <a:xfrm>
            <a:off x="3480218" y="2976277"/>
            <a:ext cx="85402" cy="85402"/>
          </a:xfrm>
          <a:prstGeom prst="ellipse">
            <a:avLst/>
          </a:prstGeom>
          <a:solidFill>
            <a:schemeClr val="accent1"/>
          </a:solidFill>
          <a:ln w="3175">
            <a:solidFill>
              <a:schemeClr val="accent1"/>
            </a:solidFill>
            <a:prstDash val="solid"/>
          </a:ln>
        </p:spPr>
      </p:sp>
      <p:sp>
        <p:nvSpPr>
          <p:cNvPr id="41" name="Drawing 2: electron, shell 2"/>
          <p:cNvSpPr/>
          <p:nvPr/>
        </p:nvSpPr>
        <p:spPr>
          <a:xfrm>
            <a:off x="3365532" y="2976277"/>
            <a:ext cx="85402" cy="85402"/>
          </a:xfrm>
          <a:prstGeom prst="ellipse">
            <a:avLst/>
          </a:prstGeom>
          <a:solidFill>
            <a:schemeClr val="accent1"/>
          </a:solidFill>
          <a:ln w="3175">
            <a:solidFill>
              <a:schemeClr val="accent1"/>
            </a:solidFill>
            <a:prstDash val="solid"/>
          </a:ln>
        </p:spPr>
      </p:sp>
      <p:sp>
        <p:nvSpPr>
          <p:cNvPr id="42" name="Drawing 2: electron, shell 2"/>
          <p:cNvSpPr/>
          <p:nvPr/>
        </p:nvSpPr>
        <p:spPr>
          <a:xfrm>
            <a:off x="2982505" y="2593250"/>
            <a:ext cx="85402" cy="85402"/>
          </a:xfrm>
          <a:prstGeom prst="ellipse">
            <a:avLst/>
          </a:prstGeom>
          <a:solidFill>
            <a:schemeClr val="accent1"/>
          </a:solidFill>
          <a:ln w="3175">
            <a:solidFill>
              <a:schemeClr val="accent1"/>
            </a:solidFill>
            <a:prstDash val="solid"/>
          </a:ln>
        </p:spPr>
      </p:sp>
      <p:sp>
        <p:nvSpPr>
          <p:cNvPr id="43" name="Drawing 2: electron, shell 2"/>
          <p:cNvSpPr/>
          <p:nvPr/>
        </p:nvSpPr>
        <p:spPr>
          <a:xfrm>
            <a:off x="2982505" y="2478564"/>
            <a:ext cx="85402" cy="85402"/>
          </a:xfrm>
          <a:prstGeom prst="ellipse">
            <a:avLst/>
          </a:prstGeom>
          <a:solidFill>
            <a:schemeClr val="accent1"/>
          </a:solidFill>
          <a:ln w="3175">
            <a:solidFill>
              <a:schemeClr val="accent1"/>
            </a:solidFill>
            <a:prstDash val="solid"/>
          </a:ln>
        </p:spPr>
      </p:sp>
      <p:sp>
        <p:nvSpPr>
          <p:cNvPr id="44" name="Drawing 2: electron, shell 3"/>
          <p:cNvSpPr/>
          <p:nvPr/>
        </p:nvSpPr>
        <p:spPr>
          <a:xfrm>
            <a:off x="3365459" y="1935141"/>
            <a:ext cx="85402" cy="85402"/>
          </a:xfrm>
          <a:prstGeom prst="ellipse">
            <a:avLst/>
          </a:prstGeom>
          <a:solidFill>
            <a:schemeClr val="accent1"/>
          </a:solidFill>
          <a:ln w="3175">
            <a:solidFill>
              <a:schemeClr val="accent1"/>
            </a:solidFill>
            <a:prstDash val="solid"/>
          </a:ln>
        </p:spPr>
      </p:sp>
      <p:sp>
        <p:nvSpPr>
          <p:cNvPr id="45" name="Drawing 2: electron, shell 3"/>
          <p:cNvSpPr/>
          <p:nvPr/>
        </p:nvSpPr>
        <p:spPr>
          <a:xfrm>
            <a:off x="3480292" y="1935141"/>
            <a:ext cx="85402" cy="85402"/>
          </a:xfrm>
          <a:prstGeom prst="ellipse">
            <a:avLst/>
          </a:prstGeom>
          <a:solidFill>
            <a:schemeClr val="accent1"/>
          </a:solidFill>
          <a:ln w="3175">
            <a:solidFill>
              <a:schemeClr val="accent1"/>
            </a:solidFill>
            <a:prstDash val="solid"/>
          </a:ln>
        </p:spPr>
      </p:sp>
      <p:sp>
        <p:nvSpPr>
          <p:cNvPr id="46" name="Drawing 2: electron, shell 3"/>
          <p:cNvSpPr/>
          <p:nvPr/>
        </p:nvSpPr>
        <p:spPr>
          <a:xfrm>
            <a:off x="4023642" y="2478491"/>
            <a:ext cx="85402" cy="85402"/>
          </a:xfrm>
          <a:prstGeom prst="ellipse">
            <a:avLst/>
          </a:prstGeom>
          <a:solidFill>
            <a:schemeClr val="accent1"/>
          </a:solidFill>
          <a:ln w="3175">
            <a:solidFill>
              <a:schemeClr val="accent1"/>
            </a:solidFill>
            <a:prstDash val="solid"/>
          </a:ln>
        </p:spPr>
      </p:sp>
      <p:sp>
        <p:nvSpPr>
          <p:cNvPr id="47" name="Drawing 2: electron, shell 3"/>
          <p:cNvSpPr/>
          <p:nvPr/>
        </p:nvSpPr>
        <p:spPr>
          <a:xfrm>
            <a:off x="4023642" y="2593324"/>
            <a:ext cx="85402" cy="85402"/>
          </a:xfrm>
          <a:prstGeom prst="ellipse">
            <a:avLst/>
          </a:prstGeom>
          <a:solidFill>
            <a:schemeClr val="accent1"/>
          </a:solidFill>
          <a:ln w="3175">
            <a:solidFill>
              <a:schemeClr val="accent1"/>
            </a:solidFill>
            <a:prstDash val="solid"/>
          </a:ln>
        </p:spPr>
      </p:sp>
      <p:sp>
        <p:nvSpPr>
          <p:cNvPr id="48" name="Drawing 2: electron, shell 3"/>
          <p:cNvSpPr/>
          <p:nvPr/>
        </p:nvSpPr>
        <p:spPr>
          <a:xfrm>
            <a:off x="3480292" y="3136674"/>
            <a:ext cx="85402" cy="85402"/>
          </a:xfrm>
          <a:prstGeom prst="ellipse">
            <a:avLst/>
          </a:prstGeom>
          <a:solidFill>
            <a:schemeClr val="accent1"/>
          </a:solidFill>
          <a:ln w="3175">
            <a:solidFill>
              <a:schemeClr val="accent1"/>
            </a:solidFill>
            <a:prstDash val="solid"/>
          </a:ln>
        </p:spPr>
      </p:sp>
      <p:sp>
        <p:nvSpPr>
          <p:cNvPr id="49" name="Drawing 2: electron, shell 3"/>
          <p:cNvSpPr/>
          <p:nvPr/>
        </p:nvSpPr>
        <p:spPr>
          <a:xfrm>
            <a:off x="3365459" y="3136674"/>
            <a:ext cx="85402" cy="85402"/>
          </a:xfrm>
          <a:prstGeom prst="ellipse">
            <a:avLst/>
          </a:prstGeom>
          <a:solidFill>
            <a:schemeClr val="accent1"/>
          </a:solidFill>
          <a:ln w="3175">
            <a:solidFill>
              <a:schemeClr val="accent1"/>
            </a:solidFill>
            <a:prstDash val="solid"/>
          </a:ln>
        </p:spPr>
      </p:sp>
      <p:sp>
        <p:nvSpPr>
          <p:cNvPr id="50" name="Drawing 2: electron, shell 3"/>
          <p:cNvSpPr/>
          <p:nvPr/>
        </p:nvSpPr>
        <p:spPr>
          <a:xfrm>
            <a:off x="2822109" y="2593324"/>
            <a:ext cx="85402" cy="85402"/>
          </a:xfrm>
          <a:prstGeom prst="ellipse">
            <a:avLst/>
          </a:prstGeom>
          <a:solidFill>
            <a:schemeClr val="accent1"/>
          </a:solidFill>
          <a:ln w="3175">
            <a:solidFill>
              <a:schemeClr val="accent1"/>
            </a:solidFill>
            <a:prstDash val="solid"/>
          </a:ln>
        </p:spPr>
      </p:sp>
      <p:sp>
        <p:nvSpPr>
          <p:cNvPr id="51" name="Drawing 2: gained electron, shell 3"/>
          <p:cNvSpPr/>
          <p:nvPr/>
        </p:nvSpPr>
        <p:spPr>
          <a:xfrm>
            <a:off x="2822109" y="2478491"/>
            <a:ext cx="85402" cy="85402"/>
          </a:xfrm>
          <a:prstGeom prst="ellipse">
            <a:avLst/>
          </a:prstGeom>
          <a:solidFill>
            <a:schemeClr val="accent6"/>
          </a:solidFill>
          <a:ln w="3175">
            <a:solidFill>
              <a:schemeClr val="accent6"/>
            </a:solidFill>
            <a:prstDash val="solid"/>
          </a:ln>
        </p:spPr>
      </p:sp>
      <p:sp>
        <p:nvSpPr>
          <p:cNvPr id="52" name="Drawing 2: left bracket"/>
          <p:cNvSpPr/>
          <p:nvPr/>
        </p:nvSpPr>
        <p:spPr>
          <a:xfrm>
            <a:off x="2770977" y="1884009"/>
            <a:ext cx="79708" cy="1389198"/>
          </a:xfrm>
          <a:prstGeom prst="leftBracket">
            <a:avLst/>
          </a:prstGeom>
          <a:noFill/>
          <a:ln w="19050">
            <a:solidFill>
              <a:schemeClr val="bg1"/>
            </a:solidFill>
            <a:prstDash val="solid"/>
          </a:ln>
        </p:spPr>
      </p:sp>
      <p:sp>
        <p:nvSpPr>
          <p:cNvPr id="53" name="Drawing 2: right bracket"/>
          <p:cNvSpPr/>
          <p:nvPr/>
        </p:nvSpPr>
        <p:spPr>
          <a:xfrm>
            <a:off x="4080467" y="1884009"/>
            <a:ext cx="79708" cy="1389198"/>
          </a:xfrm>
          <a:prstGeom prst="rightBracket">
            <a:avLst/>
          </a:prstGeom>
          <a:noFill/>
          <a:ln w="19050">
            <a:solidFill>
              <a:schemeClr val="bg1"/>
            </a:solidFill>
            <a:prstDash val="solid"/>
          </a:ln>
        </p:spPr>
      </p:sp>
      <p:sp>
        <p:nvSpPr>
          <p:cNvPr id="54" name="Drawing 2: charge"/>
          <p:cNvSpPr txBox="1"/>
          <p:nvPr/>
        </p:nvSpPr>
        <p:spPr>
          <a:xfrm>
            <a:off x="4178463" y="1800189"/>
            <a:ext cx="243840" cy="182880"/>
          </a:xfrm>
          <a:prstGeom prst="rect">
            <a:avLst/>
          </a:prstGeom>
          <a:noFill/>
          <a:ln/>
        </p:spPr>
        <p:txBody>
          <a:bodyPr wrap="square" lIns="0" tIns="0" rIns="0" bIns="0" rtlCol="0" anchor="t"/>
          <a:lstStyle/>
          <a:p>
            <a:pPr indent="0" marL="0">
              <a:buNone/>
            </a:pPr>
            <a:r>
              <a:rPr lang="en-US" sz="1200" b="1" dirty="0">
                <a:solidFill>
                  <a:schemeClr val="bg1"/>
                </a:solidFill>
              </a:rPr>
              <a:t>+</a:t>
            </a:r>
            <a:endParaRPr lang="en-US" sz="1200" dirty="0"/>
          </a:p>
        </p:txBody>
      </p:sp>
      <p:sp>
        <p:nvSpPr>
          <p:cNvPr id="55" name="Text 53"/>
          <p:cNvSpPr txBox="1"/>
          <p:nvPr/>
        </p:nvSpPr>
        <p:spPr>
          <a:xfrm>
            <a:off x="2642616" y="3337560"/>
            <a:ext cx="1773936" cy="320040"/>
          </a:xfrm>
          <a:prstGeom prst="rect">
            <a:avLst/>
          </a:prstGeom>
          <a:noFill/>
          <a:ln/>
        </p:spPr>
        <p:txBody>
          <a:bodyPr wrap="square" lIns="0" tIns="0" rIns="0" bIns="0" rtlCol="0" anchor="ctr"/>
          <a:lstStyle/>
          <a:p>
            <a:pPr algn="ctr" indent="0" marL="0">
              <a:buNone/>
            </a:pPr>
            <a:r>
              <a:rPr lang="en-US" sz="1200" dirty="0">
                <a:solidFill>
                  <a:schemeClr val="bg2"/>
                </a:solidFill>
              </a:rPr>
              <a:t>Supposed to be </a:t>
            </a:r>
            <a:pPr algn="ctr" indent="0" marL="0">
              <a:buNone/>
            </a:pPr>
            <a:r>
              <a:rPr lang="en-US" sz="1200" b="1" dirty="0">
                <a:solidFill>
                  <a:schemeClr val="bg2"/>
                </a:solidFill>
              </a:rPr>
              <a:t>Cl</a:t>
            </a:r>
            <a:pPr algn="ctr" indent="0" marL="0">
              <a:buNone/>
            </a:pPr>
            <a:r>
              <a:rPr lang="en-US" sz="1200" b="1" baseline="30000" dirty="0">
                <a:solidFill>
                  <a:schemeClr val="bg2"/>
                </a:solidFill>
              </a:rPr>
              <a:t>−</a:t>
            </a:r>
            <a:endParaRPr lang="en-US" sz="1200" dirty="0"/>
          </a:p>
        </p:txBody>
      </p:sp>
      <p:sp>
        <p:nvSpPr>
          <p:cNvPr id="56" name="Text 54"/>
          <p:cNvSpPr txBox="1"/>
          <p:nvPr/>
        </p:nvSpPr>
        <p:spPr>
          <a:xfrm>
            <a:off x="2660904" y="3703320"/>
            <a:ext cx="1737360" cy="868680"/>
          </a:xfrm>
          <a:prstGeom prst="rect">
            <a:avLst/>
          </a:prstGeom>
          <a:noFill/>
          <a:ln/>
        </p:spPr>
        <p:txBody>
          <a:bodyPr wrap="square" lIns="0" tIns="0" rIns="0" bIns="0" rtlCol="0" anchor="t"/>
          <a:lstStyle/>
          <a:p>
            <a:pPr algn="ctr" indent="0" marL="0">
              <a:buNone/>
            </a:pPr>
            <a:r>
              <a:rPr lang="en-US" sz="1200" b="1" dirty="0">
                <a:solidFill>
                  <a:schemeClr val="accent4"/>
                </a:solidFill>
              </a:rPr>
              <a:t>Gaining an electron makes the charge 1−, not +.</a:t>
            </a:r>
            <a:endParaRPr lang="en-US" sz="1200" dirty="0"/>
          </a:p>
        </p:txBody>
      </p:sp>
      <p:sp>
        <p:nvSpPr>
          <p:cNvPr id="57" name="Drawing 3"/>
          <p:cNvSpPr/>
          <p:nvPr/>
        </p:nvSpPr>
        <p:spPr>
          <a:xfrm>
            <a:off x="4645152" y="1645920"/>
            <a:ext cx="1956816" cy="3017520"/>
          </a:xfrm>
          <a:prstGeom prst="roundRect">
            <a:avLst>
              <a:gd name="adj" fmla="val 4673"/>
            </a:avLst>
          </a:prstGeom>
          <a:solidFill>
            <a:schemeClr val="tx2"/>
          </a:solidFill>
          <a:ln w="9525">
            <a:solidFill>
              <a:schemeClr val="bg2">
                <a:alpha val="30000"/>
              </a:schemeClr>
            </a:solidFill>
            <a:prstDash val="solid"/>
          </a:ln>
        </p:spPr>
      </p:sp>
      <p:sp>
        <p:nvSpPr>
          <p:cNvPr id="58" name="Drawing 3: shell 1"/>
          <p:cNvSpPr/>
          <p:nvPr/>
        </p:nvSpPr>
        <p:spPr>
          <a:xfrm>
            <a:off x="5286267" y="2305323"/>
            <a:ext cx="546570" cy="546570"/>
          </a:xfrm>
          <a:prstGeom prst="ellipse">
            <a:avLst/>
          </a:prstGeom>
          <a:solidFill>
            <a:schemeClr val="bg1">
              <a:alpha val="0"/>
            </a:schemeClr>
          </a:solidFill>
          <a:ln w="15875">
            <a:solidFill>
              <a:schemeClr val="bg2">
                <a:alpha val="55000"/>
              </a:schemeClr>
            </a:solidFill>
            <a:prstDash val="solid"/>
          </a:ln>
        </p:spPr>
      </p:sp>
      <p:sp>
        <p:nvSpPr>
          <p:cNvPr id="59" name="Drawing 3: shell 2"/>
          <p:cNvSpPr/>
          <p:nvPr/>
        </p:nvSpPr>
        <p:spPr>
          <a:xfrm>
            <a:off x="5115464" y="2134520"/>
            <a:ext cx="888176" cy="888176"/>
          </a:xfrm>
          <a:prstGeom prst="ellipse">
            <a:avLst/>
          </a:prstGeom>
          <a:solidFill>
            <a:schemeClr val="bg1">
              <a:alpha val="0"/>
            </a:schemeClr>
          </a:solidFill>
          <a:ln w="15875">
            <a:solidFill>
              <a:schemeClr val="bg2">
                <a:alpha val="55000"/>
              </a:schemeClr>
            </a:solidFill>
            <a:prstDash val="solid"/>
          </a:ln>
        </p:spPr>
      </p:sp>
      <p:sp>
        <p:nvSpPr>
          <p:cNvPr id="60" name="Drawing 3: shell 3"/>
          <p:cNvSpPr/>
          <p:nvPr/>
        </p:nvSpPr>
        <p:spPr>
          <a:xfrm>
            <a:off x="4956048" y="1975104"/>
            <a:ext cx="1207008" cy="1207008"/>
          </a:xfrm>
          <a:prstGeom prst="ellipse">
            <a:avLst/>
          </a:prstGeom>
          <a:solidFill>
            <a:schemeClr val="bg1">
              <a:alpha val="0"/>
            </a:schemeClr>
          </a:solidFill>
          <a:ln w="15875">
            <a:solidFill>
              <a:schemeClr val="bg2">
                <a:alpha val="55000"/>
              </a:schemeClr>
            </a:solidFill>
            <a:prstDash val="solid"/>
          </a:ln>
        </p:spPr>
      </p:sp>
      <p:sp>
        <p:nvSpPr>
          <p:cNvPr id="61" name="Drawing 3: nucleus"/>
          <p:cNvSpPr/>
          <p:nvPr/>
        </p:nvSpPr>
        <p:spPr>
          <a:xfrm>
            <a:off x="5383056" y="2402112"/>
            <a:ext cx="352993" cy="352993"/>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700" b="1" dirty="0">
                <a:solidFill>
                  <a:schemeClr val="bg1"/>
                </a:solidFill>
              </a:rPr>
              <a:t>12 p</a:t>
            </a:r>
            <a:pPr algn="ctr" indent="0" marL="0">
              <a:buNone/>
            </a:pPr>
            <a:r>
              <a:rPr lang="en-US" sz="700" b="1" baseline="30000" dirty="0">
                <a:solidFill>
                  <a:schemeClr val="bg1"/>
                </a:solidFill>
              </a:rPr>
              <a:t>+</a:t>
            </a:r>
            <a:endParaRPr lang="en-US" sz="700" dirty="0"/>
          </a:p>
          <a:p>
            <a:pPr algn="ctr" indent="0" marL="0">
              <a:buNone/>
            </a:pPr>
            <a:r>
              <a:rPr lang="en-US" sz="700" b="1" dirty="0">
                <a:solidFill>
                  <a:schemeClr val="bg1"/>
                </a:solidFill>
              </a:rPr>
              <a:t>12 n</a:t>
            </a:r>
            <a:pPr algn="ctr" indent="0" marL="0">
              <a:buNone/>
            </a:pPr>
            <a:r>
              <a:rPr lang="en-US" sz="700" b="1" baseline="30000" dirty="0">
                <a:solidFill>
                  <a:schemeClr val="bg1"/>
                </a:solidFill>
              </a:rPr>
              <a:t>0</a:t>
            </a:r>
            <a:endParaRPr lang="en-US" sz="700" dirty="0"/>
          </a:p>
        </p:txBody>
      </p:sp>
      <p:sp>
        <p:nvSpPr>
          <p:cNvPr id="62" name="Drawing 3: electron, shell 1"/>
          <p:cNvSpPr/>
          <p:nvPr/>
        </p:nvSpPr>
        <p:spPr>
          <a:xfrm>
            <a:off x="5516851" y="2262622"/>
            <a:ext cx="85402" cy="85402"/>
          </a:xfrm>
          <a:prstGeom prst="ellipse">
            <a:avLst/>
          </a:prstGeom>
          <a:solidFill>
            <a:schemeClr val="accent1"/>
          </a:solidFill>
          <a:ln w="3175">
            <a:solidFill>
              <a:schemeClr val="accent1"/>
            </a:solidFill>
            <a:prstDash val="solid"/>
          </a:ln>
        </p:spPr>
      </p:sp>
      <p:sp>
        <p:nvSpPr>
          <p:cNvPr id="63" name="Drawing 3: electron, shell 1"/>
          <p:cNvSpPr/>
          <p:nvPr/>
        </p:nvSpPr>
        <p:spPr>
          <a:xfrm>
            <a:off x="5790136" y="2535907"/>
            <a:ext cx="85402" cy="85402"/>
          </a:xfrm>
          <a:prstGeom prst="ellipse">
            <a:avLst/>
          </a:prstGeom>
          <a:solidFill>
            <a:schemeClr val="accent1"/>
          </a:solidFill>
          <a:ln w="3175">
            <a:solidFill>
              <a:schemeClr val="accent1"/>
            </a:solidFill>
            <a:prstDash val="solid"/>
          </a:ln>
        </p:spPr>
      </p:sp>
      <p:sp>
        <p:nvSpPr>
          <p:cNvPr id="64" name="Drawing 3: electron, shell 2"/>
          <p:cNvSpPr/>
          <p:nvPr/>
        </p:nvSpPr>
        <p:spPr>
          <a:xfrm>
            <a:off x="5459508" y="2095537"/>
            <a:ext cx="85402" cy="85402"/>
          </a:xfrm>
          <a:prstGeom prst="ellipse">
            <a:avLst/>
          </a:prstGeom>
          <a:solidFill>
            <a:schemeClr val="accent1"/>
          </a:solidFill>
          <a:ln w="3175">
            <a:solidFill>
              <a:schemeClr val="accent1"/>
            </a:solidFill>
            <a:prstDash val="solid"/>
          </a:ln>
        </p:spPr>
      </p:sp>
      <p:sp>
        <p:nvSpPr>
          <p:cNvPr id="65" name="Drawing 3: electron, shell 2"/>
          <p:cNvSpPr/>
          <p:nvPr/>
        </p:nvSpPr>
        <p:spPr>
          <a:xfrm>
            <a:off x="5574194" y="2095537"/>
            <a:ext cx="85402" cy="85402"/>
          </a:xfrm>
          <a:prstGeom prst="ellipse">
            <a:avLst/>
          </a:prstGeom>
          <a:solidFill>
            <a:schemeClr val="accent1"/>
          </a:solidFill>
          <a:ln w="3175">
            <a:solidFill>
              <a:schemeClr val="accent1"/>
            </a:solidFill>
            <a:prstDash val="solid"/>
          </a:ln>
        </p:spPr>
      </p:sp>
      <p:sp>
        <p:nvSpPr>
          <p:cNvPr id="66" name="Drawing 3: electron, shell 2"/>
          <p:cNvSpPr/>
          <p:nvPr/>
        </p:nvSpPr>
        <p:spPr>
          <a:xfrm>
            <a:off x="5957221" y="2478564"/>
            <a:ext cx="85402" cy="85402"/>
          </a:xfrm>
          <a:prstGeom prst="ellipse">
            <a:avLst/>
          </a:prstGeom>
          <a:solidFill>
            <a:schemeClr val="accent1"/>
          </a:solidFill>
          <a:ln w="3175">
            <a:solidFill>
              <a:schemeClr val="accent1"/>
            </a:solidFill>
            <a:prstDash val="solid"/>
          </a:ln>
        </p:spPr>
      </p:sp>
      <p:sp>
        <p:nvSpPr>
          <p:cNvPr id="67" name="Drawing 3: electron, shell 2"/>
          <p:cNvSpPr/>
          <p:nvPr/>
        </p:nvSpPr>
        <p:spPr>
          <a:xfrm>
            <a:off x="5957221" y="2593250"/>
            <a:ext cx="85402" cy="85402"/>
          </a:xfrm>
          <a:prstGeom prst="ellipse">
            <a:avLst/>
          </a:prstGeom>
          <a:solidFill>
            <a:schemeClr val="accent1"/>
          </a:solidFill>
          <a:ln w="3175">
            <a:solidFill>
              <a:schemeClr val="accent1"/>
            </a:solidFill>
            <a:prstDash val="solid"/>
          </a:ln>
        </p:spPr>
      </p:sp>
      <p:sp>
        <p:nvSpPr>
          <p:cNvPr id="68" name="Drawing 3: electron, shell 2"/>
          <p:cNvSpPr/>
          <p:nvPr/>
        </p:nvSpPr>
        <p:spPr>
          <a:xfrm>
            <a:off x="5574194" y="2976277"/>
            <a:ext cx="85402" cy="85402"/>
          </a:xfrm>
          <a:prstGeom prst="ellipse">
            <a:avLst/>
          </a:prstGeom>
          <a:solidFill>
            <a:schemeClr val="accent1"/>
          </a:solidFill>
          <a:ln w="3175">
            <a:solidFill>
              <a:schemeClr val="accent1"/>
            </a:solidFill>
            <a:prstDash val="solid"/>
          </a:ln>
        </p:spPr>
      </p:sp>
      <p:sp>
        <p:nvSpPr>
          <p:cNvPr id="69" name="Drawing 3: electron, shell 2"/>
          <p:cNvSpPr/>
          <p:nvPr/>
        </p:nvSpPr>
        <p:spPr>
          <a:xfrm>
            <a:off x="5459508" y="2976277"/>
            <a:ext cx="85402" cy="85402"/>
          </a:xfrm>
          <a:prstGeom prst="ellipse">
            <a:avLst/>
          </a:prstGeom>
          <a:solidFill>
            <a:schemeClr val="accent1"/>
          </a:solidFill>
          <a:ln w="3175">
            <a:solidFill>
              <a:schemeClr val="accent1"/>
            </a:solidFill>
            <a:prstDash val="solid"/>
          </a:ln>
        </p:spPr>
      </p:sp>
      <p:sp>
        <p:nvSpPr>
          <p:cNvPr id="70" name="Drawing 3: electron, shell 2"/>
          <p:cNvSpPr/>
          <p:nvPr/>
        </p:nvSpPr>
        <p:spPr>
          <a:xfrm>
            <a:off x="5076481" y="2593250"/>
            <a:ext cx="85402" cy="85402"/>
          </a:xfrm>
          <a:prstGeom prst="ellipse">
            <a:avLst/>
          </a:prstGeom>
          <a:solidFill>
            <a:schemeClr val="accent1"/>
          </a:solidFill>
          <a:ln w="3175">
            <a:solidFill>
              <a:schemeClr val="accent1"/>
            </a:solidFill>
            <a:prstDash val="solid"/>
          </a:ln>
        </p:spPr>
      </p:sp>
      <p:sp>
        <p:nvSpPr>
          <p:cNvPr id="71" name="Drawing 3: electron, shell 2"/>
          <p:cNvSpPr/>
          <p:nvPr/>
        </p:nvSpPr>
        <p:spPr>
          <a:xfrm>
            <a:off x="5076481" y="2478564"/>
            <a:ext cx="85402" cy="85402"/>
          </a:xfrm>
          <a:prstGeom prst="ellipse">
            <a:avLst/>
          </a:prstGeom>
          <a:solidFill>
            <a:schemeClr val="accent1"/>
          </a:solidFill>
          <a:ln w="3175">
            <a:solidFill>
              <a:schemeClr val="accent1"/>
            </a:solidFill>
            <a:prstDash val="solid"/>
          </a:ln>
        </p:spPr>
      </p:sp>
      <p:sp>
        <p:nvSpPr>
          <p:cNvPr id="72" name="Drawing 3: left bracket"/>
          <p:cNvSpPr/>
          <p:nvPr/>
        </p:nvSpPr>
        <p:spPr>
          <a:xfrm>
            <a:off x="4864953" y="1884009"/>
            <a:ext cx="79708" cy="1389198"/>
          </a:xfrm>
          <a:prstGeom prst="leftBracket">
            <a:avLst/>
          </a:prstGeom>
          <a:noFill/>
          <a:ln w="19050">
            <a:solidFill>
              <a:schemeClr val="bg1"/>
            </a:solidFill>
            <a:prstDash val="solid"/>
          </a:ln>
        </p:spPr>
      </p:sp>
      <p:sp>
        <p:nvSpPr>
          <p:cNvPr id="73" name="Drawing 3: right bracket"/>
          <p:cNvSpPr/>
          <p:nvPr/>
        </p:nvSpPr>
        <p:spPr>
          <a:xfrm>
            <a:off x="6174443" y="1884009"/>
            <a:ext cx="79708" cy="1389198"/>
          </a:xfrm>
          <a:prstGeom prst="rightBracket">
            <a:avLst/>
          </a:prstGeom>
          <a:noFill/>
          <a:ln w="19050">
            <a:solidFill>
              <a:schemeClr val="bg1"/>
            </a:solidFill>
            <a:prstDash val="solid"/>
          </a:ln>
        </p:spPr>
      </p:sp>
      <p:sp>
        <p:nvSpPr>
          <p:cNvPr id="74" name="Drawing 3: charge"/>
          <p:cNvSpPr txBox="1"/>
          <p:nvPr/>
        </p:nvSpPr>
        <p:spPr>
          <a:xfrm>
            <a:off x="6272439" y="1800189"/>
            <a:ext cx="243840" cy="182880"/>
          </a:xfrm>
          <a:prstGeom prst="rect">
            <a:avLst/>
          </a:prstGeom>
          <a:noFill/>
          <a:ln/>
        </p:spPr>
        <p:txBody>
          <a:bodyPr wrap="square" lIns="0" tIns="0" rIns="0" bIns="0" rtlCol="0" anchor="t"/>
          <a:lstStyle/>
          <a:p>
            <a:pPr indent="0" marL="0">
              <a:buNone/>
            </a:pPr>
            <a:r>
              <a:rPr lang="en-US" sz="1200" b="1" dirty="0">
                <a:solidFill>
                  <a:schemeClr val="bg1"/>
                </a:solidFill>
              </a:rPr>
              <a:t>2+</a:t>
            </a:r>
            <a:endParaRPr lang="en-US" sz="1200" dirty="0"/>
          </a:p>
        </p:txBody>
      </p:sp>
      <p:sp>
        <p:nvSpPr>
          <p:cNvPr id="75" name="Text 73"/>
          <p:cNvSpPr txBox="1"/>
          <p:nvPr/>
        </p:nvSpPr>
        <p:spPr>
          <a:xfrm>
            <a:off x="4736592" y="3337560"/>
            <a:ext cx="1773936" cy="320040"/>
          </a:xfrm>
          <a:prstGeom prst="rect">
            <a:avLst/>
          </a:prstGeom>
          <a:noFill/>
          <a:ln/>
        </p:spPr>
        <p:txBody>
          <a:bodyPr wrap="square" lIns="0" tIns="0" rIns="0" bIns="0" rtlCol="0" anchor="ctr"/>
          <a:lstStyle/>
          <a:p>
            <a:pPr algn="ctr" indent="0" marL="0">
              <a:buNone/>
            </a:pPr>
            <a:r>
              <a:rPr lang="en-US" sz="1200" dirty="0">
                <a:solidFill>
                  <a:schemeClr val="bg2"/>
                </a:solidFill>
              </a:rPr>
              <a:t>Supposed to be </a:t>
            </a:r>
            <a:pPr algn="ctr" indent="0" marL="0">
              <a:buNone/>
            </a:pPr>
            <a:r>
              <a:rPr lang="en-US" sz="1200" b="1" dirty="0">
                <a:solidFill>
                  <a:schemeClr val="bg2"/>
                </a:solidFill>
              </a:rPr>
              <a:t>Mg</a:t>
            </a:r>
            <a:pPr algn="ctr" indent="0" marL="0">
              <a:buNone/>
            </a:pPr>
            <a:r>
              <a:rPr lang="en-US" sz="1200" b="1" baseline="30000" dirty="0">
                <a:solidFill>
                  <a:schemeClr val="bg2"/>
                </a:solidFill>
              </a:rPr>
              <a:t>2+</a:t>
            </a:r>
            <a:endParaRPr lang="en-US" sz="1200" dirty="0"/>
          </a:p>
        </p:txBody>
      </p:sp>
      <p:sp>
        <p:nvSpPr>
          <p:cNvPr id="76" name="Text 74"/>
          <p:cNvSpPr txBox="1"/>
          <p:nvPr/>
        </p:nvSpPr>
        <p:spPr>
          <a:xfrm>
            <a:off x="4754880" y="3703320"/>
            <a:ext cx="1737360" cy="868680"/>
          </a:xfrm>
          <a:prstGeom prst="rect">
            <a:avLst/>
          </a:prstGeom>
          <a:noFill/>
          <a:ln/>
        </p:spPr>
        <p:txBody>
          <a:bodyPr wrap="square" lIns="0" tIns="0" rIns="0" bIns="0" rtlCol="0" anchor="t"/>
          <a:lstStyle/>
          <a:p>
            <a:pPr algn="ctr" indent="0" marL="0">
              <a:buNone/>
            </a:pPr>
            <a:r>
              <a:rPr lang="en-US" sz="1200" b="1" dirty="0">
                <a:solidFill>
                  <a:schemeClr val="accent4"/>
                </a:solidFill>
              </a:rPr>
              <a:t>The empty third shell shouldn't be drawn.</a:t>
            </a:r>
            <a:endParaRPr lang="en-US" sz="1200" dirty="0"/>
          </a:p>
        </p:txBody>
      </p:sp>
      <p:sp>
        <p:nvSpPr>
          <p:cNvPr id="77" name="Drawing 4"/>
          <p:cNvSpPr/>
          <p:nvPr/>
        </p:nvSpPr>
        <p:spPr>
          <a:xfrm>
            <a:off x="6739128" y="1645920"/>
            <a:ext cx="1956816" cy="3017520"/>
          </a:xfrm>
          <a:prstGeom prst="roundRect">
            <a:avLst>
              <a:gd name="adj" fmla="val 4673"/>
            </a:avLst>
          </a:prstGeom>
          <a:solidFill>
            <a:schemeClr val="tx2"/>
          </a:solidFill>
          <a:ln w="9525">
            <a:solidFill>
              <a:schemeClr val="bg2">
                <a:alpha val="30000"/>
              </a:schemeClr>
            </a:solidFill>
            <a:prstDash val="solid"/>
          </a:ln>
        </p:spPr>
      </p:sp>
      <p:sp>
        <p:nvSpPr>
          <p:cNvPr id="78" name="Drawing 4: shell 1"/>
          <p:cNvSpPr/>
          <p:nvPr/>
        </p:nvSpPr>
        <p:spPr>
          <a:xfrm>
            <a:off x="7302398" y="2227478"/>
            <a:ext cx="702259" cy="702259"/>
          </a:xfrm>
          <a:prstGeom prst="ellipse">
            <a:avLst/>
          </a:prstGeom>
          <a:solidFill>
            <a:schemeClr val="bg1">
              <a:alpha val="0"/>
            </a:schemeClr>
          </a:solidFill>
          <a:ln w="15875">
            <a:solidFill>
              <a:schemeClr val="bg2">
                <a:alpha val="55000"/>
              </a:schemeClr>
            </a:solidFill>
            <a:prstDash val="solid"/>
          </a:ln>
        </p:spPr>
      </p:sp>
      <p:sp>
        <p:nvSpPr>
          <p:cNvPr id="79" name="Drawing 4: shell 2"/>
          <p:cNvSpPr/>
          <p:nvPr/>
        </p:nvSpPr>
        <p:spPr>
          <a:xfrm>
            <a:off x="7082942" y="2008022"/>
            <a:ext cx="1141171" cy="1141171"/>
          </a:xfrm>
          <a:prstGeom prst="ellipse">
            <a:avLst/>
          </a:prstGeom>
          <a:solidFill>
            <a:schemeClr val="bg1">
              <a:alpha val="0"/>
            </a:schemeClr>
          </a:solidFill>
          <a:ln w="15875">
            <a:solidFill>
              <a:schemeClr val="bg2">
                <a:alpha val="55000"/>
              </a:schemeClr>
            </a:solidFill>
            <a:prstDash val="solid"/>
          </a:ln>
        </p:spPr>
      </p:sp>
      <p:sp>
        <p:nvSpPr>
          <p:cNvPr id="80" name="Drawing 4: nucleus"/>
          <p:cNvSpPr/>
          <p:nvPr/>
        </p:nvSpPr>
        <p:spPr>
          <a:xfrm>
            <a:off x="7426757" y="2351837"/>
            <a:ext cx="453542" cy="453542"/>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700" b="1" dirty="0">
                <a:solidFill>
                  <a:schemeClr val="bg1"/>
                </a:solidFill>
              </a:rPr>
              <a:t>8 p</a:t>
            </a:r>
            <a:pPr algn="ctr" indent="0" marL="0">
              <a:buNone/>
            </a:pPr>
            <a:r>
              <a:rPr lang="en-US" sz="700" b="1" baseline="30000" dirty="0">
                <a:solidFill>
                  <a:schemeClr val="bg1"/>
                </a:solidFill>
              </a:rPr>
              <a:t>+</a:t>
            </a:r>
            <a:endParaRPr lang="en-US" sz="700" dirty="0"/>
          </a:p>
          <a:p>
            <a:pPr algn="ctr" indent="0" marL="0">
              <a:buNone/>
            </a:pPr>
            <a:r>
              <a:rPr lang="en-US" sz="700" b="1" dirty="0">
                <a:solidFill>
                  <a:schemeClr val="bg1"/>
                </a:solidFill>
              </a:rPr>
              <a:t>8 n</a:t>
            </a:r>
            <a:pPr algn="ctr" indent="0" marL="0">
              <a:buNone/>
            </a:pPr>
            <a:r>
              <a:rPr lang="en-US" sz="700" b="1" baseline="30000" dirty="0">
                <a:solidFill>
                  <a:schemeClr val="bg1"/>
                </a:solidFill>
              </a:rPr>
              <a:t>0</a:t>
            </a:r>
            <a:endParaRPr lang="en-US" sz="700" dirty="0"/>
          </a:p>
        </p:txBody>
      </p:sp>
      <p:sp>
        <p:nvSpPr>
          <p:cNvPr id="81" name="Drawing 4: electron, shell 1"/>
          <p:cNvSpPr/>
          <p:nvPr/>
        </p:nvSpPr>
        <p:spPr>
          <a:xfrm>
            <a:off x="7598664" y="2172614"/>
            <a:ext cx="109728" cy="109728"/>
          </a:xfrm>
          <a:prstGeom prst="ellipse">
            <a:avLst/>
          </a:prstGeom>
          <a:solidFill>
            <a:schemeClr val="accent1"/>
          </a:solidFill>
          <a:ln w="3175">
            <a:solidFill>
              <a:schemeClr val="accent1"/>
            </a:solidFill>
            <a:prstDash val="solid"/>
          </a:ln>
        </p:spPr>
      </p:sp>
      <p:sp>
        <p:nvSpPr>
          <p:cNvPr id="82" name="Drawing 4: electron, shell 1"/>
          <p:cNvSpPr/>
          <p:nvPr/>
        </p:nvSpPr>
        <p:spPr>
          <a:xfrm>
            <a:off x="7949794" y="2523744"/>
            <a:ext cx="109728" cy="109728"/>
          </a:xfrm>
          <a:prstGeom prst="ellipse">
            <a:avLst/>
          </a:prstGeom>
          <a:solidFill>
            <a:schemeClr val="accent1"/>
          </a:solidFill>
          <a:ln w="3175">
            <a:solidFill>
              <a:schemeClr val="accent1"/>
            </a:solidFill>
            <a:prstDash val="solid"/>
          </a:ln>
        </p:spPr>
      </p:sp>
      <p:sp>
        <p:nvSpPr>
          <p:cNvPr id="83" name="Drawing 4: electron, shell 2"/>
          <p:cNvSpPr/>
          <p:nvPr/>
        </p:nvSpPr>
        <p:spPr>
          <a:xfrm>
            <a:off x="7524987" y="1957935"/>
            <a:ext cx="109728" cy="109728"/>
          </a:xfrm>
          <a:prstGeom prst="ellipse">
            <a:avLst/>
          </a:prstGeom>
          <a:solidFill>
            <a:schemeClr val="accent1"/>
          </a:solidFill>
          <a:ln w="3175">
            <a:solidFill>
              <a:schemeClr val="accent1"/>
            </a:solidFill>
            <a:prstDash val="solid"/>
          </a:ln>
        </p:spPr>
      </p:sp>
      <p:sp>
        <p:nvSpPr>
          <p:cNvPr id="84" name="Drawing 4: electron, shell 2"/>
          <p:cNvSpPr/>
          <p:nvPr/>
        </p:nvSpPr>
        <p:spPr>
          <a:xfrm>
            <a:off x="7672341" y="1957935"/>
            <a:ext cx="109728" cy="109728"/>
          </a:xfrm>
          <a:prstGeom prst="ellipse">
            <a:avLst/>
          </a:prstGeom>
          <a:solidFill>
            <a:schemeClr val="accent1"/>
          </a:solidFill>
          <a:ln w="3175">
            <a:solidFill>
              <a:schemeClr val="accent1"/>
            </a:solidFill>
            <a:prstDash val="solid"/>
          </a:ln>
        </p:spPr>
      </p:sp>
      <p:sp>
        <p:nvSpPr>
          <p:cNvPr id="85" name="Drawing 4: electron, shell 2"/>
          <p:cNvSpPr/>
          <p:nvPr/>
        </p:nvSpPr>
        <p:spPr>
          <a:xfrm>
            <a:off x="8164473" y="2450067"/>
            <a:ext cx="109728" cy="109728"/>
          </a:xfrm>
          <a:prstGeom prst="ellipse">
            <a:avLst/>
          </a:prstGeom>
          <a:solidFill>
            <a:schemeClr val="accent1"/>
          </a:solidFill>
          <a:ln w="3175">
            <a:solidFill>
              <a:schemeClr val="accent1"/>
            </a:solidFill>
            <a:prstDash val="solid"/>
          </a:ln>
        </p:spPr>
      </p:sp>
      <p:sp>
        <p:nvSpPr>
          <p:cNvPr id="86" name="Drawing 4: electron, shell 2"/>
          <p:cNvSpPr/>
          <p:nvPr/>
        </p:nvSpPr>
        <p:spPr>
          <a:xfrm>
            <a:off x="8164473" y="2597421"/>
            <a:ext cx="109728" cy="109728"/>
          </a:xfrm>
          <a:prstGeom prst="ellipse">
            <a:avLst/>
          </a:prstGeom>
          <a:solidFill>
            <a:schemeClr val="accent1"/>
          </a:solidFill>
          <a:ln w="3175">
            <a:solidFill>
              <a:schemeClr val="accent1"/>
            </a:solidFill>
            <a:prstDash val="solid"/>
          </a:ln>
        </p:spPr>
      </p:sp>
      <p:sp>
        <p:nvSpPr>
          <p:cNvPr id="87" name="Drawing 4: electron, shell 2"/>
          <p:cNvSpPr/>
          <p:nvPr/>
        </p:nvSpPr>
        <p:spPr>
          <a:xfrm>
            <a:off x="7672341" y="3089553"/>
            <a:ext cx="109728" cy="109728"/>
          </a:xfrm>
          <a:prstGeom prst="ellipse">
            <a:avLst/>
          </a:prstGeom>
          <a:solidFill>
            <a:schemeClr val="accent1"/>
          </a:solidFill>
          <a:ln w="3175">
            <a:solidFill>
              <a:schemeClr val="accent1"/>
            </a:solidFill>
            <a:prstDash val="solid"/>
          </a:ln>
        </p:spPr>
      </p:sp>
      <p:sp>
        <p:nvSpPr>
          <p:cNvPr id="88" name="Drawing 4: gained electron, shell 2"/>
          <p:cNvSpPr/>
          <p:nvPr/>
        </p:nvSpPr>
        <p:spPr>
          <a:xfrm>
            <a:off x="7524987" y="3089553"/>
            <a:ext cx="109728" cy="109728"/>
          </a:xfrm>
          <a:prstGeom prst="ellipse">
            <a:avLst/>
          </a:prstGeom>
          <a:solidFill>
            <a:schemeClr val="accent6"/>
          </a:solidFill>
          <a:ln w="3175">
            <a:solidFill>
              <a:schemeClr val="accent6"/>
            </a:solidFill>
            <a:prstDash val="solid"/>
          </a:ln>
        </p:spPr>
      </p:sp>
      <p:sp>
        <p:nvSpPr>
          <p:cNvPr id="89" name="Drawing 4: electron, shell 2"/>
          <p:cNvSpPr/>
          <p:nvPr/>
        </p:nvSpPr>
        <p:spPr>
          <a:xfrm>
            <a:off x="7032855" y="2597421"/>
            <a:ext cx="109728" cy="109728"/>
          </a:xfrm>
          <a:prstGeom prst="ellipse">
            <a:avLst/>
          </a:prstGeom>
          <a:solidFill>
            <a:schemeClr val="accent1"/>
          </a:solidFill>
          <a:ln w="3175">
            <a:solidFill>
              <a:schemeClr val="accent1"/>
            </a:solidFill>
            <a:prstDash val="solid"/>
          </a:ln>
        </p:spPr>
      </p:sp>
      <p:sp>
        <p:nvSpPr>
          <p:cNvPr id="90" name="Drawing 4: gained electron, shell 2"/>
          <p:cNvSpPr/>
          <p:nvPr/>
        </p:nvSpPr>
        <p:spPr>
          <a:xfrm>
            <a:off x="7032855" y="2450067"/>
            <a:ext cx="109728" cy="109728"/>
          </a:xfrm>
          <a:prstGeom prst="ellipse">
            <a:avLst/>
          </a:prstGeom>
          <a:solidFill>
            <a:schemeClr val="accent6"/>
          </a:solidFill>
          <a:ln w="3175">
            <a:solidFill>
              <a:schemeClr val="accent6"/>
            </a:solidFill>
            <a:prstDash val="solid"/>
          </a:ln>
        </p:spPr>
      </p:sp>
      <p:sp>
        <p:nvSpPr>
          <p:cNvPr id="91" name="Drawing 4: left bracket"/>
          <p:cNvSpPr/>
          <p:nvPr/>
        </p:nvSpPr>
        <p:spPr>
          <a:xfrm>
            <a:off x="6965899" y="1890979"/>
            <a:ext cx="102413" cy="1375258"/>
          </a:xfrm>
          <a:prstGeom prst="leftBracket">
            <a:avLst/>
          </a:prstGeom>
          <a:noFill/>
          <a:ln w="19050">
            <a:solidFill>
              <a:schemeClr val="bg1"/>
            </a:solidFill>
            <a:prstDash val="solid"/>
          </a:ln>
        </p:spPr>
      </p:sp>
      <p:sp>
        <p:nvSpPr>
          <p:cNvPr id="92" name="Drawing 4: right bracket"/>
          <p:cNvSpPr/>
          <p:nvPr/>
        </p:nvSpPr>
        <p:spPr>
          <a:xfrm>
            <a:off x="8238744" y="1890979"/>
            <a:ext cx="102413" cy="1375258"/>
          </a:xfrm>
          <a:prstGeom prst="rightBracket">
            <a:avLst/>
          </a:prstGeom>
          <a:noFill/>
          <a:ln w="19050">
            <a:solidFill>
              <a:schemeClr val="bg1"/>
            </a:solidFill>
            <a:prstDash val="solid"/>
          </a:ln>
        </p:spPr>
      </p:sp>
      <p:sp>
        <p:nvSpPr>
          <p:cNvPr id="93" name="Drawing 4: charge"/>
          <p:cNvSpPr txBox="1"/>
          <p:nvPr/>
        </p:nvSpPr>
        <p:spPr>
          <a:xfrm>
            <a:off x="8359445" y="1807159"/>
            <a:ext cx="243840" cy="182880"/>
          </a:xfrm>
          <a:prstGeom prst="rect">
            <a:avLst/>
          </a:prstGeom>
          <a:noFill/>
          <a:ln/>
        </p:spPr>
        <p:txBody>
          <a:bodyPr wrap="square" lIns="0" tIns="0" rIns="0" bIns="0" rtlCol="0" anchor="t"/>
          <a:lstStyle/>
          <a:p>
            <a:pPr indent="0" marL="0">
              <a:buNone/>
            </a:pPr>
            <a:r>
              <a:rPr lang="en-US" sz="1200" b="1" dirty="0">
                <a:solidFill>
                  <a:schemeClr val="bg1"/>
                </a:solidFill>
              </a:rPr>
              <a:t>−</a:t>
            </a:r>
            <a:endParaRPr lang="en-US" sz="1200" dirty="0"/>
          </a:p>
        </p:txBody>
      </p:sp>
      <p:sp>
        <p:nvSpPr>
          <p:cNvPr id="94" name="Text 92"/>
          <p:cNvSpPr txBox="1"/>
          <p:nvPr/>
        </p:nvSpPr>
        <p:spPr>
          <a:xfrm>
            <a:off x="6830568" y="3337560"/>
            <a:ext cx="1773936" cy="320040"/>
          </a:xfrm>
          <a:prstGeom prst="rect">
            <a:avLst/>
          </a:prstGeom>
          <a:noFill/>
          <a:ln/>
        </p:spPr>
        <p:txBody>
          <a:bodyPr wrap="square" lIns="0" tIns="0" rIns="0" bIns="0" rtlCol="0" anchor="ctr"/>
          <a:lstStyle/>
          <a:p>
            <a:pPr algn="ctr" indent="0" marL="0">
              <a:buNone/>
            </a:pPr>
            <a:r>
              <a:rPr lang="en-US" sz="1200" dirty="0">
                <a:solidFill>
                  <a:schemeClr val="bg2"/>
                </a:solidFill>
              </a:rPr>
              <a:t>Supposed to be </a:t>
            </a:r>
            <a:pPr algn="ctr" indent="0" marL="0">
              <a:buNone/>
            </a:pPr>
            <a:r>
              <a:rPr lang="en-US" sz="1200" b="1" dirty="0">
                <a:solidFill>
                  <a:schemeClr val="bg2"/>
                </a:solidFill>
              </a:rPr>
              <a:t>O</a:t>
            </a:r>
            <a:pPr algn="ctr" indent="0" marL="0">
              <a:buNone/>
            </a:pPr>
            <a:r>
              <a:rPr lang="en-US" sz="1200" b="1" baseline="30000" dirty="0">
                <a:solidFill>
                  <a:schemeClr val="bg2"/>
                </a:solidFill>
              </a:rPr>
              <a:t>2−</a:t>
            </a:r>
            <a:endParaRPr lang="en-US" sz="1200" dirty="0"/>
          </a:p>
        </p:txBody>
      </p:sp>
      <p:sp>
        <p:nvSpPr>
          <p:cNvPr id="95" name="Text 93"/>
          <p:cNvSpPr txBox="1"/>
          <p:nvPr/>
        </p:nvSpPr>
        <p:spPr>
          <a:xfrm>
            <a:off x="6848856" y="3703320"/>
            <a:ext cx="1737360" cy="868680"/>
          </a:xfrm>
          <a:prstGeom prst="rect">
            <a:avLst/>
          </a:prstGeom>
          <a:noFill/>
          <a:ln/>
        </p:spPr>
        <p:txBody>
          <a:bodyPr wrap="square" lIns="0" tIns="0" rIns="0" bIns="0" rtlCol="0" anchor="t"/>
          <a:lstStyle/>
          <a:p>
            <a:pPr algn="ctr" indent="0" marL="0">
              <a:buNone/>
            </a:pPr>
            <a:r>
              <a:rPr lang="en-US" sz="1200" b="1" dirty="0">
                <a:solidFill>
                  <a:schemeClr val="accent4"/>
                </a:solidFill>
              </a:rPr>
              <a:t>It gained 2 electrons, so the charge is 2−.</a:t>
            </a:r>
            <a:endParaRPr lang="en-US" sz="12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ection tile 7"/>
          <p:cNvSpPr/>
          <p:nvPr/>
        </p:nvSpPr>
        <p:spPr>
          <a:xfrm>
            <a:off x="457200" y="301752"/>
            <a:ext cx="749808" cy="841248"/>
          </a:xfrm>
          <a:prstGeom prst="roundRect">
            <a:avLst>
              <a:gd name="adj" fmla="val 12000"/>
            </a:avLst>
          </a:prstGeom>
          <a:solidFill>
            <a:srgbClr val="60A5FA">
              <a:alpha val="28000"/>
            </a:srgbClr>
          </a:solidFill>
          <a:ln w="19050">
            <a:solidFill>
              <a:srgbClr val="60A5FA"/>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7</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2400" b="1" dirty="0">
                <a:solidFill>
                  <a:schemeClr val="bg1"/>
                </a:solidFill>
              </a:rPr>
              <a:t>K</a:t>
            </a:r>
            <a:pPr algn="ctr" indent="0" marL="0">
              <a:buNone/>
            </a:pPr>
            <a:r>
              <a:rPr lang="en-US" sz="2400" b="1" baseline="30000" dirty="0">
                <a:solidFill>
                  <a:schemeClr val="bg1"/>
                </a:solidFill>
              </a:rPr>
              <a:t>+</a:t>
            </a:r>
            <a:endParaRPr lang="en-US" sz="2400" dirty="0"/>
          </a:p>
        </p:txBody>
      </p:sp>
      <p:sp>
        <p:nvSpPr>
          <p:cNvPr id="5" name="Text 3"/>
          <p:cNvSpPr/>
          <p:nvPr/>
        </p:nvSpPr>
        <p:spPr>
          <a:xfrm>
            <a:off x="1417320" y="31089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6" name="Text 4"/>
          <p:cNvSpPr txBox="1"/>
          <p:nvPr/>
        </p:nvSpPr>
        <p:spPr>
          <a:xfrm>
            <a:off x="260604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7 of 9</a:t>
            </a:r>
            <a:endParaRPr lang="en-US" sz="1200" dirty="0"/>
          </a:p>
        </p:txBody>
      </p:sp>
      <p:sp>
        <p:nvSpPr>
          <p:cNvPr id="7" name="Text 0"/>
          <p:cNvSpPr/>
          <p:nvPr>
            <p:ph idx="100" type="title" hasCustomPrompt="1"/>
          </p:nvPr>
        </p:nvSpPr>
        <p:spPr>
          <a:xfrm>
            <a:off x="1417320" y="658368"/>
            <a:ext cx="7269480" cy="841248"/>
          </a:xfrm>
          <a:prstGeom prst="rect">
            <a:avLst/>
          </a:prstGeom>
          <a:noFill/>
          <a:ln/>
        </p:spPr>
        <p:txBody>
          <a:bodyPr wrap="square" lIns="0" tIns="0" rIns="0" bIns="0" rtlCol="0" anchor="t"/>
          <a:lstStyle/>
          <a:p>
            <a:pPr algn="l" indent="0" marL="0">
              <a:buNone/>
            </a:pPr>
            <a:r>
              <a:rPr lang="en-US" sz="2000" b="1" dirty="0">
                <a:solidFill>
                  <a:schemeClr val="bg1"/>
                </a:solidFill>
              </a:rPr>
              <a:t>Which ion has the same electron arrangement as argon?</a:t>
            </a:r>
            <a:endParaRPr lang="en-US" sz="2000" dirty="0"/>
          </a:p>
        </p:txBody>
      </p:sp>
      <p:sp>
        <p:nvSpPr>
          <p:cNvPr id="8" name="Option A"/>
          <p:cNvSpPr/>
          <p:nvPr/>
        </p:nvSpPr>
        <p:spPr>
          <a:xfrm>
            <a:off x="457200" y="1645920"/>
            <a:ext cx="8229600" cy="457200"/>
          </a:xfrm>
          <a:prstGeom prst="roundRect">
            <a:avLst>
              <a:gd name="adj" fmla="val 18000"/>
            </a:avLst>
          </a:prstGeom>
          <a:solidFill>
            <a:schemeClr val="tx2"/>
          </a:solidFill>
          <a:ln w="9525">
            <a:solidFill>
              <a:schemeClr val="bg2">
                <a:alpha val="35000"/>
              </a:schemeClr>
            </a:solidFill>
            <a:prstDash val="solid"/>
          </a:ln>
        </p:spPr>
      </p:sp>
      <p:sp>
        <p:nvSpPr>
          <p:cNvPr id="9" name="Text 7"/>
          <p:cNvSpPr/>
          <p:nvPr/>
        </p:nvSpPr>
        <p:spPr>
          <a:xfrm>
            <a:off x="548640" y="1719072"/>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10" name="Text 8"/>
          <p:cNvSpPr txBox="1"/>
          <p:nvPr/>
        </p:nvSpPr>
        <p:spPr>
          <a:xfrm>
            <a:off x="969264" y="1645920"/>
            <a:ext cx="7626096" cy="457200"/>
          </a:xfrm>
          <a:prstGeom prst="rect">
            <a:avLst/>
          </a:prstGeom>
          <a:noFill/>
          <a:ln/>
        </p:spPr>
        <p:txBody>
          <a:bodyPr wrap="square" lIns="0" tIns="0" rIns="0" bIns="0" rtlCol="0" anchor="ctr"/>
          <a:lstStyle/>
          <a:p>
            <a:pPr indent="0" marL="0">
              <a:buNone/>
            </a:pPr>
            <a:r>
              <a:rPr lang="en-US" sz="1600" dirty="0">
                <a:solidFill>
                  <a:schemeClr val="bg1"/>
                </a:solidFill>
              </a:rPr>
              <a:t>Na</a:t>
            </a:r>
            <a:pPr indent="0" marL="0">
              <a:buNone/>
            </a:pPr>
            <a:r>
              <a:rPr lang="en-US" sz="1600" baseline="30000" dirty="0">
                <a:solidFill>
                  <a:schemeClr val="bg1"/>
                </a:solidFill>
              </a:rPr>
              <a:t>+</a:t>
            </a:r>
            <a:endParaRPr lang="en-US" sz="1600" dirty="0"/>
          </a:p>
        </p:txBody>
      </p:sp>
      <p:sp>
        <p:nvSpPr>
          <p:cNvPr id="11" name="Option B"/>
          <p:cNvSpPr/>
          <p:nvPr/>
        </p:nvSpPr>
        <p:spPr>
          <a:xfrm>
            <a:off x="457200" y="2231136"/>
            <a:ext cx="8229600" cy="457200"/>
          </a:xfrm>
          <a:prstGeom prst="roundRect">
            <a:avLst>
              <a:gd name="adj" fmla="val 18000"/>
            </a:avLst>
          </a:prstGeom>
          <a:solidFill>
            <a:schemeClr val="tx2"/>
          </a:solidFill>
          <a:ln w="9525">
            <a:solidFill>
              <a:schemeClr val="bg2">
                <a:alpha val="35000"/>
              </a:schemeClr>
            </a:solidFill>
            <a:prstDash val="solid"/>
          </a:ln>
        </p:spPr>
      </p:sp>
      <p:sp>
        <p:nvSpPr>
          <p:cNvPr id="12" name="Text 10"/>
          <p:cNvSpPr/>
          <p:nvPr/>
        </p:nvSpPr>
        <p:spPr>
          <a:xfrm>
            <a:off x="548640" y="2304288"/>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13" name="Text 11"/>
          <p:cNvSpPr txBox="1"/>
          <p:nvPr/>
        </p:nvSpPr>
        <p:spPr>
          <a:xfrm>
            <a:off x="969264" y="2231136"/>
            <a:ext cx="7626096" cy="457200"/>
          </a:xfrm>
          <a:prstGeom prst="rect">
            <a:avLst/>
          </a:prstGeom>
          <a:noFill/>
          <a:ln/>
        </p:spPr>
        <p:txBody>
          <a:bodyPr wrap="square" lIns="0" tIns="0" rIns="0" bIns="0" rtlCol="0" anchor="ctr"/>
          <a:lstStyle/>
          <a:p>
            <a:pPr indent="0" marL="0">
              <a:buNone/>
            </a:pPr>
            <a:r>
              <a:rPr lang="en-US" sz="1600" dirty="0">
                <a:solidFill>
                  <a:schemeClr val="bg1"/>
                </a:solidFill>
              </a:rPr>
              <a:t>F</a:t>
            </a:r>
            <a:pPr indent="0" marL="0">
              <a:buNone/>
            </a:pPr>
            <a:r>
              <a:rPr lang="en-US" sz="1600" baseline="30000" dirty="0">
                <a:solidFill>
                  <a:schemeClr val="bg1"/>
                </a:solidFill>
              </a:rPr>
              <a:t>−</a:t>
            </a:r>
            <a:endParaRPr lang="en-US" sz="1600" dirty="0"/>
          </a:p>
        </p:txBody>
      </p:sp>
      <p:sp>
        <p:nvSpPr>
          <p:cNvPr id="14" name="Option C"/>
          <p:cNvSpPr/>
          <p:nvPr/>
        </p:nvSpPr>
        <p:spPr>
          <a:xfrm>
            <a:off x="457200" y="2816352"/>
            <a:ext cx="8229600" cy="457200"/>
          </a:xfrm>
          <a:prstGeom prst="roundRect">
            <a:avLst>
              <a:gd name="adj" fmla="val 18000"/>
            </a:avLst>
          </a:prstGeom>
          <a:solidFill>
            <a:schemeClr val="tx2"/>
          </a:solidFill>
          <a:ln w="9525">
            <a:solidFill>
              <a:schemeClr val="bg2">
                <a:alpha val="35000"/>
              </a:schemeClr>
            </a:solidFill>
            <a:prstDash val="solid"/>
          </a:ln>
        </p:spPr>
      </p:sp>
      <p:sp>
        <p:nvSpPr>
          <p:cNvPr id="15" name="Text 13"/>
          <p:cNvSpPr/>
          <p:nvPr/>
        </p:nvSpPr>
        <p:spPr>
          <a:xfrm>
            <a:off x="548640" y="2889504"/>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6" name="Text 14"/>
          <p:cNvSpPr txBox="1"/>
          <p:nvPr/>
        </p:nvSpPr>
        <p:spPr>
          <a:xfrm>
            <a:off x="969264" y="2816352"/>
            <a:ext cx="7626096" cy="457200"/>
          </a:xfrm>
          <a:prstGeom prst="rect">
            <a:avLst/>
          </a:prstGeom>
          <a:noFill/>
          <a:ln/>
        </p:spPr>
        <p:txBody>
          <a:bodyPr wrap="square" lIns="0" tIns="0" rIns="0" bIns="0" rtlCol="0" anchor="ctr"/>
          <a:lstStyle/>
          <a:p>
            <a:pPr indent="0" marL="0">
              <a:buNone/>
            </a:pPr>
            <a:r>
              <a:rPr lang="en-US" sz="1600" dirty="0">
                <a:solidFill>
                  <a:schemeClr val="bg1"/>
                </a:solidFill>
              </a:rPr>
              <a:t>K</a:t>
            </a:r>
            <a:pPr indent="0" marL="0">
              <a:buNone/>
            </a:pPr>
            <a:r>
              <a:rPr lang="en-US" sz="1600" baseline="30000" dirty="0">
                <a:solidFill>
                  <a:schemeClr val="bg1"/>
                </a:solidFill>
              </a:rPr>
              <a:t>+</a:t>
            </a:r>
            <a:endParaRPr lang="en-US" sz="1600" dirty="0"/>
          </a:p>
        </p:txBody>
      </p:sp>
      <p:sp>
        <p:nvSpPr>
          <p:cNvPr id="17" name="Option D"/>
          <p:cNvSpPr/>
          <p:nvPr/>
        </p:nvSpPr>
        <p:spPr>
          <a:xfrm>
            <a:off x="457200" y="3401568"/>
            <a:ext cx="8229600" cy="457200"/>
          </a:xfrm>
          <a:prstGeom prst="roundRect">
            <a:avLst>
              <a:gd name="adj" fmla="val 18000"/>
            </a:avLst>
          </a:prstGeom>
          <a:solidFill>
            <a:schemeClr val="tx2"/>
          </a:solidFill>
          <a:ln w="9525">
            <a:solidFill>
              <a:schemeClr val="bg2">
                <a:alpha val="35000"/>
              </a:schemeClr>
            </a:solidFill>
            <a:prstDash val="solid"/>
          </a:ln>
        </p:spPr>
      </p:sp>
      <p:sp>
        <p:nvSpPr>
          <p:cNvPr id="18" name="Text 16"/>
          <p:cNvSpPr/>
          <p:nvPr/>
        </p:nvSpPr>
        <p:spPr>
          <a:xfrm>
            <a:off x="548640" y="3474720"/>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19" name="Text 17"/>
          <p:cNvSpPr txBox="1"/>
          <p:nvPr/>
        </p:nvSpPr>
        <p:spPr>
          <a:xfrm>
            <a:off x="969264" y="3401568"/>
            <a:ext cx="7626096" cy="457200"/>
          </a:xfrm>
          <a:prstGeom prst="rect">
            <a:avLst/>
          </a:prstGeom>
          <a:noFill/>
          <a:ln/>
        </p:spPr>
        <p:txBody>
          <a:bodyPr wrap="square" lIns="0" tIns="0" rIns="0" bIns="0" rtlCol="0" anchor="ctr"/>
          <a:lstStyle/>
          <a:p>
            <a:pPr indent="0" marL="0">
              <a:buNone/>
            </a:pPr>
            <a:r>
              <a:rPr lang="en-US" sz="1600" dirty="0">
                <a:solidFill>
                  <a:schemeClr val="bg1"/>
                </a:solidFill>
              </a:rPr>
              <a:t>Mg</a:t>
            </a:r>
            <a:pPr indent="0" marL="0">
              <a:buNone/>
            </a:pPr>
            <a:r>
              <a:rPr lang="en-US" sz="1600" baseline="30000" dirty="0">
                <a:solidFill>
                  <a:schemeClr val="bg1"/>
                </a:solidFill>
              </a:rPr>
              <a:t>2+</a:t>
            </a:r>
            <a:endParaRPr lang="en-US" sz="16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Section tile 7"/>
          <p:cNvSpPr/>
          <p:nvPr/>
        </p:nvSpPr>
        <p:spPr>
          <a:xfrm>
            <a:off x="457200" y="301752"/>
            <a:ext cx="749808" cy="841248"/>
          </a:xfrm>
          <a:prstGeom prst="roundRect">
            <a:avLst>
              <a:gd name="adj" fmla="val 12000"/>
            </a:avLst>
          </a:prstGeom>
          <a:solidFill>
            <a:srgbClr val="60A5FA">
              <a:alpha val="28000"/>
            </a:srgbClr>
          </a:solidFill>
          <a:ln w="19050">
            <a:solidFill>
              <a:srgbClr val="60A5FA"/>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7</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2400" b="1" dirty="0">
                <a:solidFill>
                  <a:schemeClr val="bg1"/>
                </a:solidFill>
              </a:rPr>
              <a:t>K</a:t>
            </a:r>
            <a:pPr algn="ctr" indent="0" marL="0">
              <a:buNone/>
            </a:pPr>
            <a:r>
              <a:rPr lang="en-US" sz="2400" b="1" baseline="30000" dirty="0">
                <a:solidFill>
                  <a:schemeClr val="bg1"/>
                </a:solidFill>
              </a:rPr>
              <a:t>+</a:t>
            </a:r>
            <a:endParaRPr lang="en-US" sz="2400" dirty="0"/>
          </a:p>
        </p:txBody>
      </p:sp>
      <p:sp>
        <p:nvSpPr>
          <p:cNvPr id="5" name="Text 3"/>
          <p:cNvSpPr/>
          <p:nvPr/>
        </p:nvSpPr>
        <p:spPr>
          <a:xfrm>
            <a:off x="1417320" y="31089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6" name="Text 4"/>
          <p:cNvSpPr/>
          <p:nvPr/>
        </p:nvSpPr>
        <p:spPr>
          <a:xfrm>
            <a:off x="256032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7" name="Text 5"/>
          <p:cNvSpPr txBox="1"/>
          <p:nvPr/>
        </p:nvSpPr>
        <p:spPr>
          <a:xfrm>
            <a:off x="352044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7 of 9</a:t>
            </a:r>
            <a:endParaRPr lang="en-US" sz="1200" dirty="0"/>
          </a:p>
        </p:txBody>
      </p:sp>
      <p:sp>
        <p:nvSpPr>
          <p:cNvPr id="8" name="Text 0"/>
          <p:cNvSpPr/>
          <p:nvPr>
            <p:ph idx="100" type="title" hasCustomPrompt="1"/>
          </p:nvPr>
        </p:nvSpPr>
        <p:spPr>
          <a:xfrm>
            <a:off x="1417320" y="658368"/>
            <a:ext cx="7269480" cy="841248"/>
          </a:xfrm>
          <a:prstGeom prst="rect">
            <a:avLst/>
          </a:prstGeom>
          <a:noFill/>
          <a:ln/>
        </p:spPr>
        <p:txBody>
          <a:bodyPr wrap="square" lIns="0" tIns="0" rIns="0" bIns="0" rtlCol="0" anchor="t"/>
          <a:lstStyle/>
          <a:p>
            <a:pPr algn="l" indent="0" marL="0">
              <a:buNone/>
            </a:pPr>
            <a:r>
              <a:rPr lang="en-US" sz="2000" b="1" dirty="0">
                <a:solidFill>
                  <a:schemeClr val="bg1"/>
                </a:solidFill>
              </a:rPr>
              <a:t>Which ion has the same electron arrangement as argon?</a:t>
            </a:r>
            <a:endParaRPr lang="en-US" sz="2000" dirty="0"/>
          </a:p>
        </p:txBody>
      </p:sp>
      <p:sp>
        <p:nvSpPr>
          <p:cNvPr id="9" name="Option A"/>
          <p:cNvSpPr/>
          <p:nvPr/>
        </p:nvSpPr>
        <p:spPr>
          <a:xfrm>
            <a:off x="457200" y="1645920"/>
            <a:ext cx="8229600" cy="457200"/>
          </a:xfrm>
          <a:prstGeom prst="roundRect">
            <a:avLst>
              <a:gd name="adj" fmla="val 18000"/>
            </a:avLst>
          </a:prstGeom>
          <a:solidFill>
            <a:schemeClr val="tx2"/>
          </a:solidFill>
          <a:ln w="9525">
            <a:solidFill>
              <a:schemeClr val="bg2">
                <a:alpha val="35000"/>
              </a:schemeClr>
            </a:solidFill>
            <a:prstDash val="solid"/>
          </a:ln>
        </p:spPr>
      </p:sp>
      <p:sp>
        <p:nvSpPr>
          <p:cNvPr id="10" name="Text 8"/>
          <p:cNvSpPr/>
          <p:nvPr/>
        </p:nvSpPr>
        <p:spPr>
          <a:xfrm>
            <a:off x="548640" y="1719072"/>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11" name="Text 9"/>
          <p:cNvSpPr txBox="1"/>
          <p:nvPr/>
        </p:nvSpPr>
        <p:spPr>
          <a:xfrm>
            <a:off x="969264" y="1645920"/>
            <a:ext cx="7626096" cy="457200"/>
          </a:xfrm>
          <a:prstGeom prst="rect">
            <a:avLst/>
          </a:prstGeom>
          <a:noFill/>
          <a:ln/>
        </p:spPr>
        <p:txBody>
          <a:bodyPr wrap="square" lIns="0" tIns="0" rIns="0" bIns="0" rtlCol="0" anchor="ctr"/>
          <a:lstStyle/>
          <a:p>
            <a:pPr indent="0" marL="0">
              <a:buNone/>
            </a:pPr>
            <a:r>
              <a:rPr lang="en-US" sz="1600" dirty="0">
                <a:solidFill>
                  <a:schemeClr val="bg1"/>
                </a:solidFill>
              </a:rPr>
              <a:t>Na</a:t>
            </a:r>
            <a:pPr indent="0" marL="0">
              <a:buNone/>
            </a:pPr>
            <a:r>
              <a:rPr lang="en-US" sz="1600" baseline="30000" dirty="0">
                <a:solidFill>
                  <a:schemeClr val="bg1"/>
                </a:solidFill>
              </a:rPr>
              <a:t>+</a:t>
            </a:r>
            <a:endParaRPr lang="en-US" sz="1600" dirty="0"/>
          </a:p>
        </p:txBody>
      </p:sp>
      <p:sp>
        <p:nvSpPr>
          <p:cNvPr id="12" name="Option B"/>
          <p:cNvSpPr/>
          <p:nvPr/>
        </p:nvSpPr>
        <p:spPr>
          <a:xfrm>
            <a:off x="457200" y="2231136"/>
            <a:ext cx="8229600" cy="457200"/>
          </a:xfrm>
          <a:prstGeom prst="roundRect">
            <a:avLst>
              <a:gd name="adj" fmla="val 18000"/>
            </a:avLst>
          </a:prstGeom>
          <a:solidFill>
            <a:schemeClr val="tx2"/>
          </a:solidFill>
          <a:ln w="9525">
            <a:solidFill>
              <a:schemeClr val="bg2">
                <a:alpha val="35000"/>
              </a:schemeClr>
            </a:solidFill>
            <a:prstDash val="solid"/>
          </a:ln>
        </p:spPr>
      </p:sp>
      <p:sp>
        <p:nvSpPr>
          <p:cNvPr id="13" name="Text 11"/>
          <p:cNvSpPr/>
          <p:nvPr/>
        </p:nvSpPr>
        <p:spPr>
          <a:xfrm>
            <a:off x="548640" y="2304288"/>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14" name="Text 12"/>
          <p:cNvSpPr txBox="1"/>
          <p:nvPr/>
        </p:nvSpPr>
        <p:spPr>
          <a:xfrm>
            <a:off x="969264" y="2231136"/>
            <a:ext cx="7626096" cy="457200"/>
          </a:xfrm>
          <a:prstGeom prst="rect">
            <a:avLst/>
          </a:prstGeom>
          <a:noFill/>
          <a:ln/>
        </p:spPr>
        <p:txBody>
          <a:bodyPr wrap="square" lIns="0" tIns="0" rIns="0" bIns="0" rtlCol="0" anchor="ctr"/>
          <a:lstStyle/>
          <a:p>
            <a:pPr indent="0" marL="0">
              <a:buNone/>
            </a:pPr>
            <a:r>
              <a:rPr lang="en-US" sz="1600" dirty="0">
                <a:solidFill>
                  <a:schemeClr val="bg1"/>
                </a:solidFill>
              </a:rPr>
              <a:t>F</a:t>
            </a:r>
            <a:pPr indent="0" marL="0">
              <a:buNone/>
            </a:pPr>
            <a:r>
              <a:rPr lang="en-US" sz="1600" baseline="30000" dirty="0">
                <a:solidFill>
                  <a:schemeClr val="bg1"/>
                </a:solidFill>
              </a:rPr>
              <a:t>−</a:t>
            </a:r>
            <a:endParaRPr lang="en-US" sz="1600" dirty="0"/>
          </a:p>
        </p:txBody>
      </p:sp>
      <p:sp>
        <p:nvSpPr>
          <p:cNvPr id="15" name="Option C"/>
          <p:cNvSpPr/>
          <p:nvPr/>
        </p:nvSpPr>
        <p:spPr>
          <a:xfrm>
            <a:off x="457200" y="2816352"/>
            <a:ext cx="8229600" cy="457200"/>
          </a:xfrm>
          <a:prstGeom prst="roundRect">
            <a:avLst>
              <a:gd name="adj" fmla="val 18000"/>
            </a:avLst>
          </a:prstGeom>
          <a:solidFill>
            <a:schemeClr val="accent4">
              <a:alpha val="20000"/>
            </a:schemeClr>
          </a:solidFill>
          <a:ln w="25400">
            <a:solidFill>
              <a:schemeClr val="accent4"/>
            </a:solidFill>
            <a:prstDash val="solid"/>
          </a:ln>
        </p:spPr>
      </p:sp>
      <p:sp>
        <p:nvSpPr>
          <p:cNvPr id="16" name="Text 14"/>
          <p:cNvSpPr/>
          <p:nvPr/>
        </p:nvSpPr>
        <p:spPr>
          <a:xfrm>
            <a:off x="548640" y="2889504"/>
            <a:ext cx="310896" cy="310896"/>
          </a:xfrm>
          <a:prstGeom prst="roundRect">
            <a:avLst>
              <a:gd name="adj" fmla="val 20588"/>
            </a:avLst>
          </a:prstGeom>
          <a:solidFill>
            <a:schemeClr val="accent4"/>
          </a:solidFill>
          <a:ln w="6350">
            <a:solidFill>
              <a:schemeClr val="accent4"/>
            </a:solidFill>
          </a:ln>
        </p:spPr>
        <p:txBody>
          <a:bodyPr wrap="square" lIns="0" tIns="0" rIns="0" bIns="0" rtlCol="0" anchor="ctr"/>
          <a:lstStyle/>
          <a:p>
            <a:pPr algn="ctr" indent="0" marL="0">
              <a:buNone/>
            </a:pPr>
            <a:r>
              <a:rPr lang="en-US" sz="1300" b="1" dirty="0">
                <a:solidFill>
                  <a:schemeClr val="tx1"/>
                </a:solidFill>
              </a:rPr>
              <a:t>C</a:t>
            </a:r>
            <a:endParaRPr lang="en-US" sz="1300" dirty="0"/>
          </a:p>
        </p:txBody>
      </p:sp>
      <p:sp>
        <p:nvSpPr>
          <p:cNvPr id="17" name="Text 15"/>
          <p:cNvSpPr txBox="1"/>
          <p:nvPr/>
        </p:nvSpPr>
        <p:spPr>
          <a:xfrm>
            <a:off x="969264" y="2816352"/>
            <a:ext cx="7626096" cy="457200"/>
          </a:xfrm>
          <a:prstGeom prst="rect">
            <a:avLst/>
          </a:prstGeom>
          <a:noFill/>
          <a:ln/>
        </p:spPr>
        <p:txBody>
          <a:bodyPr wrap="square" lIns="0" tIns="0" rIns="0" bIns="0" rtlCol="0" anchor="ctr"/>
          <a:lstStyle/>
          <a:p>
            <a:pPr indent="0" marL="0">
              <a:buNone/>
            </a:pPr>
            <a:r>
              <a:rPr lang="en-US" sz="1600" b="1" dirty="0">
                <a:solidFill>
                  <a:schemeClr val="bg1"/>
                </a:solidFill>
              </a:rPr>
              <a:t>K</a:t>
            </a:r>
            <a:pPr indent="0" marL="0">
              <a:buNone/>
            </a:pPr>
            <a:r>
              <a:rPr lang="en-US" sz="1600" b="1" baseline="30000" dirty="0">
                <a:solidFill>
                  <a:schemeClr val="bg1"/>
                </a:solidFill>
              </a:rPr>
              <a:t>+</a:t>
            </a:r>
            <a:endParaRPr lang="en-US" sz="1600" dirty="0"/>
          </a:p>
        </p:txBody>
      </p:sp>
      <p:sp>
        <p:nvSpPr>
          <p:cNvPr id="18" name="Option D"/>
          <p:cNvSpPr/>
          <p:nvPr/>
        </p:nvSpPr>
        <p:spPr>
          <a:xfrm>
            <a:off x="457200" y="3401568"/>
            <a:ext cx="8229600" cy="457200"/>
          </a:xfrm>
          <a:prstGeom prst="roundRect">
            <a:avLst>
              <a:gd name="adj" fmla="val 18000"/>
            </a:avLst>
          </a:prstGeom>
          <a:solidFill>
            <a:schemeClr val="tx2"/>
          </a:solidFill>
          <a:ln w="9525">
            <a:solidFill>
              <a:schemeClr val="bg2">
                <a:alpha val="35000"/>
              </a:schemeClr>
            </a:solidFill>
            <a:prstDash val="solid"/>
          </a:ln>
        </p:spPr>
      </p:sp>
      <p:sp>
        <p:nvSpPr>
          <p:cNvPr id="19" name="Text 17"/>
          <p:cNvSpPr/>
          <p:nvPr/>
        </p:nvSpPr>
        <p:spPr>
          <a:xfrm>
            <a:off x="548640" y="3474720"/>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20" name="Text 18"/>
          <p:cNvSpPr txBox="1"/>
          <p:nvPr/>
        </p:nvSpPr>
        <p:spPr>
          <a:xfrm>
            <a:off x="969264" y="3401568"/>
            <a:ext cx="7626096" cy="457200"/>
          </a:xfrm>
          <a:prstGeom prst="rect">
            <a:avLst/>
          </a:prstGeom>
          <a:noFill/>
          <a:ln/>
        </p:spPr>
        <p:txBody>
          <a:bodyPr wrap="square" lIns="0" tIns="0" rIns="0" bIns="0" rtlCol="0" anchor="ctr"/>
          <a:lstStyle/>
          <a:p>
            <a:pPr indent="0" marL="0">
              <a:buNone/>
            </a:pPr>
            <a:r>
              <a:rPr lang="en-US" sz="1600" dirty="0">
                <a:solidFill>
                  <a:schemeClr val="bg1"/>
                </a:solidFill>
              </a:rPr>
              <a:t>Mg</a:t>
            </a:r>
            <a:pPr indent="0" marL="0">
              <a:buNone/>
            </a:pPr>
            <a:r>
              <a:rPr lang="en-US" sz="1600" baseline="30000" dirty="0">
                <a:solidFill>
                  <a:schemeClr val="bg1"/>
                </a:solidFill>
              </a:rPr>
              <a:t>2+</a:t>
            </a:r>
            <a:endParaRPr lang="en-US" sz="1600" dirty="0"/>
          </a:p>
        </p:txBody>
      </p:sp>
      <p:sp>
        <p:nvSpPr>
          <p:cNvPr id="21" name="Why box"/>
          <p:cNvSpPr/>
          <p:nvPr/>
        </p:nvSpPr>
        <p:spPr>
          <a:xfrm>
            <a:off x="457200" y="4114800"/>
            <a:ext cx="8229600" cy="621792"/>
          </a:xfrm>
          <a:prstGeom prst="roundRect">
            <a:avLst>
              <a:gd name="adj" fmla="val 14706"/>
            </a:avLst>
          </a:prstGeom>
          <a:solidFill>
            <a:schemeClr val="accent4">
              <a:alpha val="12000"/>
            </a:schemeClr>
          </a:solidFill>
          <a:ln w="9525">
            <a:solidFill>
              <a:schemeClr val="accent4">
                <a:alpha val="60000"/>
              </a:schemeClr>
            </a:solidFill>
            <a:prstDash val="solid"/>
          </a:ln>
        </p:spPr>
      </p:sp>
      <p:sp>
        <p:nvSpPr>
          <p:cNvPr id="22" name="Text 20"/>
          <p:cNvSpPr txBox="1"/>
          <p:nvPr/>
        </p:nvSpPr>
        <p:spPr>
          <a:xfrm>
            <a:off x="640080" y="4114800"/>
            <a:ext cx="7863840" cy="621792"/>
          </a:xfrm>
          <a:prstGeom prst="rect">
            <a:avLst/>
          </a:prstGeom>
          <a:noFill/>
          <a:ln/>
        </p:spPr>
        <p:txBody>
          <a:bodyPr wrap="square" lIns="0" tIns="0" rIns="0" bIns="0" rtlCol="0" anchor="ctr"/>
          <a:lstStyle/>
          <a:p>
            <a:pPr indent="0" marL="0">
              <a:buNone/>
            </a:pPr>
            <a:r>
              <a:rPr lang="en-US" sz="1400" b="1" dirty="0">
                <a:solidFill>
                  <a:schemeClr val="accent4"/>
                </a:solidFill>
              </a:rPr>
              <a:t>Why: </a:t>
            </a:r>
            <a:pPr indent="0" marL="0">
              <a:buNone/>
            </a:pPr>
            <a:r>
              <a:rPr lang="en-US" sz="1400" dirty="0">
                <a:solidFill>
                  <a:schemeClr val="bg1"/>
                </a:solidFill>
              </a:rPr>
              <a:t>K⁺ has 19 protons and 18 electrons: 2, 8, 8, the same as argon.</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Section tile 8"/>
          <p:cNvSpPr/>
          <p:nvPr/>
        </p:nvSpPr>
        <p:spPr>
          <a:xfrm>
            <a:off x="457200" y="301752"/>
            <a:ext cx="749808" cy="841248"/>
          </a:xfrm>
          <a:prstGeom prst="roundRect">
            <a:avLst>
              <a:gd name="adj" fmla="val 12000"/>
            </a:avLst>
          </a:prstGeom>
          <a:solidFill>
            <a:srgbClr val="F6B93B">
              <a:alpha val="28000"/>
            </a:srgbClr>
          </a:solidFill>
          <a:ln w="19050">
            <a:solidFill>
              <a:srgbClr val="F6B93B"/>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8</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1600" b="1" dirty="0">
                <a:solidFill>
                  <a:schemeClr val="bg1"/>
                </a:solidFill>
              </a:rPr>
              <a:t>MgCl₂</a:t>
            </a:r>
            <a:endParaRPr lang="en-US" sz="1600" dirty="0"/>
          </a:p>
        </p:txBody>
      </p:sp>
      <p:sp>
        <p:nvSpPr>
          <p:cNvPr id="5" name="Text 0"/>
          <p:cNvSpPr/>
          <p:nvPr>
            <p:ph idx="100" type="body" hasCustomPrompt="1"/>
          </p:nvPr>
        </p:nvSpPr>
        <p:spPr>
          <a:xfrm>
            <a:off x="1417320" y="329184"/>
            <a:ext cx="7223760" cy="256032"/>
          </a:xfrm>
          <a:prstGeom prst="rect">
            <a:avLst/>
          </a:prstGeom>
          <a:noFill/>
          <a:ln/>
        </p:spPr>
        <p:txBody>
          <a:bodyPr wrap="square" lIns="0" tIns="0" rIns="0" bIns="0" rtlCol="0" anchor="ctr"/>
          <a:lstStyle/>
          <a:p>
            <a:pPr algn="l" indent="0" marL="0">
              <a:buNone/>
            </a:pPr>
            <a:r>
              <a:rPr lang="en-US" sz="1200" dirty="0">
                <a:solidFill>
                  <a:schemeClr val="bg2"/>
                </a:solidFill>
              </a:rPr>
              <a:t>Section 8 of 9 · about 7 min</a:t>
            </a:r>
            <a:endParaRPr lang="en-US" sz="1200" dirty="0"/>
          </a:p>
        </p:txBody>
      </p:sp>
      <p:sp>
        <p:nvSpPr>
          <p:cNvPr id="6" name="Text 0"/>
          <p:cNvSpPr/>
          <p:nvPr>
            <p:ph idx="101" type="title" hasCustomPrompt="1"/>
          </p:nvPr>
        </p:nvSpPr>
        <p:spPr>
          <a:xfrm>
            <a:off x="1417320" y="603504"/>
            <a:ext cx="7223760" cy="530352"/>
          </a:xfrm>
          <a:prstGeom prst="rect">
            <a:avLst/>
          </a:prstGeom>
          <a:noFill/>
          <a:ln/>
        </p:spPr>
        <p:txBody>
          <a:bodyPr wrap="square" lIns="0" tIns="0" rIns="0" bIns="0" rtlCol="0" anchor="ctr"/>
          <a:lstStyle/>
          <a:p>
            <a:pPr algn="l" indent="0" marL="0">
              <a:buNone/>
            </a:pPr>
            <a:r>
              <a:rPr lang="en-US" sz="3000" b="1" dirty="0">
                <a:solidFill>
                  <a:schemeClr val="bg1"/>
                </a:solidFill>
              </a:rPr>
              <a:t>Ions combine: how many of each?</a:t>
            </a:r>
            <a:endParaRPr lang="en-US" sz="3000" dirty="0"/>
          </a:p>
        </p:txBody>
      </p:sp>
      <p:sp>
        <p:nvSpPr>
          <p:cNvPr id="7" name="In this section"/>
          <p:cNvSpPr/>
          <p:nvPr/>
        </p:nvSpPr>
        <p:spPr>
          <a:xfrm>
            <a:off x="45720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8" name="Text 6"/>
          <p:cNvSpPr txBox="1"/>
          <p:nvPr/>
        </p:nvSpPr>
        <p:spPr>
          <a:xfrm>
            <a:off x="685800" y="1536192"/>
            <a:ext cx="3566160" cy="292608"/>
          </a:xfrm>
          <a:prstGeom prst="rect">
            <a:avLst/>
          </a:prstGeom>
          <a:noFill/>
          <a:ln/>
        </p:spPr>
        <p:txBody>
          <a:bodyPr wrap="square" lIns="0" tIns="0" rIns="0" bIns="0" rtlCol="0" anchor="t"/>
          <a:lstStyle/>
          <a:p>
            <a:pPr indent="0" marL="0">
              <a:buNone/>
            </a:pPr>
            <a:r>
              <a:rPr lang="en-US" sz="1500" b="1" dirty="0">
                <a:solidFill>
                  <a:schemeClr val="accent1"/>
                </a:solidFill>
              </a:rPr>
              <a:t>In this section</a:t>
            </a:r>
            <a:endParaRPr lang="en-US" sz="1500" dirty="0"/>
          </a:p>
        </p:txBody>
      </p:sp>
      <p:sp>
        <p:nvSpPr>
          <p:cNvPr id="9" name="Text 7"/>
          <p:cNvSpPr/>
          <p:nvPr/>
        </p:nvSpPr>
        <p:spPr>
          <a:xfrm>
            <a:off x="685800" y="2039112"/>
            <a:ext cx="73152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Read</a:t>
            </a:r>
            <a:endParaRPr lang="en-US" sz="1100" dirty="0"/>
          </a:p>
        </p:txBody>
      </p:sp>
      <p:sp>
        <p:nvSpPr>
          <p:cNvPr id="10" name="Text 8"/>
          <p:cNvSpPr txBox="1"/>
          <p:nvPr/>
        </p:nvSpPr>
        <p:spPr>
          <a:xfrm>
            <a:off x="1554480" y="1947672"/>
            <a:ext cx="2697480" cy="457200"/>
          </a:xfrm>
          <a:prstGeom prst="rect">
            <a:avLst/>
          </a:prstGeom>
          <a:noFill/>
          <a:ln/>
        </p:spPr>
        <p:txBody>
          <a:bodyPr wrap="square" lIns="0" tIns="0" rIns="0" bIns="0" rtlCol="0" anchor="ctr"/>
          <a:lstStyle/>
          <a:p>
            <a:pPr indent="0" marL="0">
              <a:buNone/>
            </a:pPr>
            <a:r>
              <a:rPr lang="en-US" sz="1400" dirty="0">
                <a:solidFill>
                  <a:schemeClr val="bg1"/>
                </a:solidFill>
              </a:rPr>
              <a:t>Ions team up</a:t>
            </a:r>
            <a:endParaRPr lang="en-US" sz="1400" dirty="0"/>
          </a:p>
        </p:txBody>
      </p:sp>
      <p:sp>
        <p:nvSpPr>
          <p:cNvPr id="11" name="Text 9"/>
          <p:cNvSpPr/>
          <p:nvPr/>
        </p:nvSpPr>
        <p:spPr>
          <a:xfrm>
            <a:off x="685800" y="2752344"/>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12" name="Text 10"/>
          <p:cNvSpPr txBox="1"/>
          <p:nvPr/>
        </p:nvSpPr>
        <p:spPr>
          <a:xfrm>
            <a:off x="1554480" y="2660904"/>
            <a:ext cx="2697480" cy="457200"/>
          </a:xfrm>
          <a:prstGeom prst="rect">
            <a:avLst/>
          </a:prstGeom>
          <a:noFill/>
          <a:ln/>
        </p:spPr>
        <p:txBody>
          <a:bodyPr wrap="square" lIns="0" tIns="0" rIns="0" bIns="0" rtlCol="0" anchor="ctr"/>
          <a:lstStyle/>
          <a:p>
            <a:pPr indent="0" marL="0">
              <a:buNone/>
            </a:pPr>
            <a:r>
              <a:rPr lang="en-US" sz="1400" dirty="0">
                <a:solidFill>
                  <a:schemeClr val="bg1"/>
                </a:solidFill>
              </a:rPr>
              <a:t>Balance the charges</a:t>
            </a:r>
            <a:endParaRPr lang="en-US" sz="1400" dirty="0"/>
          </a:p>
        </p:txBody>
      </p:sp>
      <p:sp>
        <p:nvSpPr>
          <p:cNvPr id="13" name="Text 11"/>
          <p:cNvSpPr/>
          <p:nvPr/>
        </p:nvSpPr>
        <p:spPr>
          <a:xfrm>
            <a:off x="685800" y="346557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14" name="Text 12"/>
          <p:cNvSpPr txBox="1"/>
          <p:nvPr/>
        </p:nvSpPr>
        <p:spPr>
          <a:xfrm>
            <a:off x="1874520" y="3374136"/>
            <a:ext cx="2377440" cy="457200"/>
          </a:xfrm>
          <a:prstGeom prst="rect">
            <a:avLst/>
          </a:prstGeom>
          <a:noFill/>
          <a:ln/>
        </p:spPr>
        <p:txBody>
          <a:bodyPr wrap="square" lIns="0" tIns="0" rIns="0" bIns="0" rtlCol="0" anchor="ctr"/>
          <a:lstStyle/>
          <a:p>
            <a:pPr indent="0" marL="0">
              <a:buNone/>
            </a:pPr>
            <a:r>
              <a:rPr lang="en-US" sz="1400" dirty="0">
                <a:solidFill>
                  <a:schemeClr val="bg1"/>
                </a:solidFill>
              </a:rPr>
              <a:t>Aluminum and chlorine</a:t>
            </a:r>
            <a:endParaRPr lang="en-US" sz="1400" dirty="0"/>
          </a:p>
        </p:txBody>
      </p:sp>
      <p:sp>
        <p:nvSpPr>
          <p:cNvPr id="15" name="To unlock the next section"/>
          <p:cNvSpPr/>
          <p:nvPr/>
        </p:nvSpPr>
        <p:spPr>
          <a:xfrm>
            <a:off x="466344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16" name="Text 14"/>
          <p:cNvSpPr txBox="1"/>
          <p:nvPr/>
        </p:nvSpPr>
        <p:spPr>
          <a:xfrm>
            <a:off x="4892040" y="1536192"/>
            <a:ext cx="3566160" cy="292608"/>
          </a:xfrm>
          <a:prstGeom prst="rect">
            <a:avLst/>
          </a:prstGeom>
          <a:noFill/>
          <a:ln/>
        </p:spPr>
        <p:txBody>
          <a:bodyPr wrap="square" lIns="0" tIns="0" rIns="0" bIns="0" rtlCol="0" anchor="t"/>
          <a:lstStyle/>
          <a:p>
            <a:pPr indent="0" marL="0">
              <a:buNone/>
            </a:pPr>
            <a:r>
              <a:rPr lang="en-US" sz="1500" b="1" dirty="0">
                <a:solidFill>
                  <a:schemeClr val="accent4"/>
                </a:solidFill>
              </a:rPr>
              <a:t>To unlock the next section</a:t>
            </a:r>
            <a:endParaRPr lang="en-US" sz="1500" dirty="0"/>
          </a:p>
        </p:txBody>
      </p:sp>
      <p:sp>
        <p:nvSpPr>
          <p:cNvPr id="17" name="Text 15"/>
          <p:cNvSpPr/>
          <p:nvPr/>
        </p:nvSpPr>
        <p:spPr>
          <a:xfrm>
            <a:off x="4892040" y="2066544"/>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18" name="Text 16"/>
          <p:cNvSpPr txBox="1"/>
          <p:nvPr/>
        </p:nvSpPr>
        <p:spPr>
          <a:xfrm>
            <a:off x="5303520" y="1993392"/>
            <a:ext cx="3200400" cy="457200"/>
          </a:xfrm>
          <a:prstGeom prst="rect">
            <a:avLst/>
          </a:prstGeom>
          <a:noFill/>
          <a:ln/>
        </p:spPr>
        <p:txBody>
          <a:bodyPr wrap="square" lIns="0" tIns="0" rIns="0" bIns="0" rtlCol="0" anchor="ctr"/>
          <a:lstStyle/>
          <a:p>
            <a:pPr indent="0" marL="0">
              <a:buNone/>
            </a:pPr>
            <a:r>
              <a:rPr lang="en-US" sz="1400" dirty="0">
                <a:solidFill>
                  <a:schemeClr val="bg1"/>
                </a:solidFill>
              </a:rPr>
              <a:t>Balance the charges for 5 pairs of ions</a:t>
            </a:r>
            <a:endParaRPr lang="en-US" sz="1400" dirty="0"/>
          </a:p>
        </p:txBody>
      </p:sp>
      <p:sp>
        <p:nvSpPr>
          <p:cNvPr id="19" name="Text 17"/>
          <p:cNvSpPr/>
          <p:nvPr/>
        </p:nvSpPr>
        <p:spPr>
          <a:xfrm>
            <a:off x="4892040" y="2633472"/>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0" name="Text 18"/>
          <p:cNvSpPr txBox="1"/>
          <p:nvPr/>
        </p:nvSpPr>
        <p:spPr>
          <a:xfrm>
            <a:off x="5303520" y="2560320"/>
            <a:ext cx="3200400" cy="457200"/>
          </a:xfrm>
          <a:prstGeom prst="rect">
            <a:avLst/>
          </a:prstGeom>
          <a:noFill/>
          <a:ln/>
        </p:spPr>
        <p:txBody>
          <a:bodyPr wrap="square" lIns="0" tIns="0" rIns="0" bIns="0" rtlCol="0" anchor="ctr"/>
          <a:lstStyle/>
          <a:p>
            <a:pPr indent="0" marL="0">
              <a:buNone/>
            </a:pPr>
            <a:r>
              <a:rPr lang="en-US" sz="1400" dirty="0">
                <a:solidFill>
                  <a:schemeClr val="bg1"/>
                </a:solidFill>
              </a:rPr>
              <a:t>Answer the quick check correctly</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ection tile 8"/>
          <p:cNvSpPr/>
          <p:nvPr/>
        </p:nvSpPr>
        <p:spPr>
          <a:xfrm>
            <a:off x="457200" y="301752"/>
            <a:ext cx="749808" cy="841248"/>
          </a:xfrm>
          <a:prstGeom prst="roundRect">
            <a:avLst>
              <a:gd name="adj" fmla="val 12000"/>
            </a:avLst>
          </a:prstGeom>
          <a:solidFill>
            <a:srgbClr val="F6B93B">
              <a:alpha val="28000"/>
            </a:srgbClr>
          </a:solidFill>
          <a:ln w="19050">
            <a:solidFill>
              <a:srgbClr val="F6B93B"/>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8</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1600" b="1" dirty="0">
                <a:solidFill>
                  <a:schemeClr val="bg1"/>
                </a:solidFill>
              </a:rPr>
              <a:t>MgCl₂</a:t>
            </a:r>
            <a:endParaRPr lang="en-US" sz="1600" dirty="0"/>
          </a:p>
        </p:txBody>
      </p:sp>
      <p:sp>
        <p:nvSpPr>
          <p:cNvPr id="5" name="Text 3"/>
          <p:cNvSpPr/>
          <p:nvPr/>
        </p:nvSpPr>
        <p:spPr>
          <a:xfrm>
            <a:off x="1417320" y="310896"/>
            <a:ext cx="73152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Read</a:t>
            </a:r>
            <a:endParaRPr lang="en-US" sz="1100" dirty="0"/>
          </a:p>
        </p:txBody>
      </p:sp>
      <p:sp>
        <p:nvSpPr>
          <p:cNvPr id="6" name="Text 4"/>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8 of 9</a:t>
            </a:r>
            <a:endParaRPr lang="en-US" sz="1200" dirty="0"/>
          </a:p>
        </p:txBody>
      </p:sp>
      <p:sp>
        <p:nvSpPr>
          <p:cNvPr id="7"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Ions team up</a:t>
            </a:r>
            <a:endParaRPr lang="en-US" sz="2800" dirty="0"/>
          </a:p>
        </p:txBody>
      </p:sp>
      <p:sp>
        <p:nvSpPr>
          <p:cNvPr id="8" name="Text 6"/>
          <p:cNvSpPr txBox="1"/>
          <p:nvPr/>
        </p:nvSpPr>
        <p:spPr>
          <a:xfrm>
            <a:off x="457200" y="1325880"/>
            <a:ext cx="8229600" cy="1097280"/>
          </a:xfrm>
          <a:prstGeom prst="rect">
            <a:avLst/>
          </a:prstGeom>
          <a:noFill/>
          <a:ln/>
        </p:spPr>
        <p:txBody>
          <a:bodyPr wrap="square" lIns="0" tIns="0" rIns="0" bIns="0" rtlCol="0" anchor="t"/>
          <a:lstStyle/>
          <a:p>
            <a:pPr indent="0" marL="0">
              <a:spcAft>
                <a:spcPts val="800"/>
              </a:spcAft>
              <a:buNone/>
            </a:pPr>
            <a:r>
              <a:rPr lang="en-US" sz="1500" dirty="0">
                <a:solidFill>
                  <a:schemeClr val="bg1"/>
                </a:solidFill>
              </a:rPr>
              <a:t>Positive metal ions and negative nonmetal ions attract and stick together, forming an </a:t>
            </a:r>
            <a:pPr indent="0" marL="0">
              <a:spcAft>
                <a:spcPts val="800"/>
              </a:spcAft>
              <a:buNone/>
            </a:pPr>
            <a:r>
              <a:rPr lang="en-US" sz="1500" b="1" dirty="0">
                <a:solidFill>
                  <a:schemeClr val="accent1"/>
                </a:solidFill>
              </a:rPr>
              <a:t>ionic compound</a:t>
            </a:r>
            <a:pPr indent="0" marL="0">
              <a:spcAft>
                <a:spcPts val="800"/>
              </a:spcAft>
              <a:buNone/>
            </a:pPr>
            <a:r>
              <a:rPr lang="en-US" sz="1500" dirty="0">
                <a:solidFill>
                  <a:schemeClr val="bg1"/>
                </a:solidFill>
              </a:rPr>
              <a:t> like table salt.</a:t>
            </a:r>
            <a:endParaRPr lang="en-US" sz="1500" dirty="0"/>
          </a:p>
          <a:p>
            <a:pPr indent="0" marL="0">
              <a:spcAft>
                <a:spcPts val="800"/>
              </a:spcAft>
              <a:buNone/>
            </a:pPr>
            <a:r>
              <a:rPr lang="en-US" sz="1500" dirty="0">
                <a:solidFill>
                  <a:schemeClr val="bg1"/>
                </a:solidFill>
              </a:rPr>
              <a:t>The compound has no overall charge, so the total positive charge must equal the total negative charge.</a:t>
            </a:r>
            <a:endParaRPr lang="en-US" sz="1500" dirty="0"/>
          </a:p>
        </p:txBody>
      </p:sp>
      <p:sp>
        <p:nvSpPr>
          <p:cNvPr id="9" name="Ion Mg"/>
          <p:cNvSpPr/>
          <p:nvPr/>
        </p:nvSpPr>
        <p:spPr>
          <a:xfrm>
            <a:off x="1097280" y="2606040"/>
            <a:ext cx="566928" cy="566928"/>
          </a:xfrm>
          <a:prstGeom prst="ellipse">
            <a:avLst/>
          </a:prstGeom>
          <a:solidFill>
            <a:srgbClr val="60A5FA">
              <a:alpha val="35000"/>
            </a:srgbClr>
          </a:solidFill>
          <a:ln w="19050">
            <a:solidFill>
              <a:srgbClr val="60A5FA"/>
            </a:solidFill>
            <a:prstDash val="solid"/>
          </a:ln>
        </p:spPr>
      </p:sp>
      <p:sp>
        <p:nvSpPr>
          <p:cNvPr id="10" name="Text 8"/>
          <p:cNvSpPr txBox="1"/>
          <p:nvPr/>
        </p:nvSpPr>
        <p:spPr>
          <a:xfrm>
            <a:off x="1051560" y="2606040"/>
            <a:ext cx="658368" cy="566928"/>
          </a:xfrm>
          <a:prstGeom prst="rect">
            <a:avLst/>
          </a:prstGeom>
          <a:noFill/>
          <a:ln/>
        </p:spPr>
        <p:txBody>
          <a:bodyPr wrap="square" lIns="0" tIns="0" rIns="0" bIns="0" rtlCol="0" anchor="ctr"/>
          <a:lstStyle/>
          <a:p>
            <a:pPr algn="ctr" indent="0" marL="0">
              <a:buNone/>
            </a:pPr>
            <a:r>
              <a:rPr lang="en-US" sz="1300" b="1" dirty="0">
                <a:solidFill>
                  <a:schemeClr val="bg1"/>
                </a:solidFill>
              </a:rPr>
              <a:t>Mg</a:t>
            </a:r>
            <a:pPr algn="ctr" indent="0" marL="0">
              <a:buNone/>
            </a:pPr>
            <a:r>
              <a:rPr lang="en-US" sz="1300" b="1" baseline="30000" dirty="0">
                <a:solidFill>
                  <a:schemeClr val="bg1"/>
                </a:solidFill>
              </a:rPr>
              <a:t>2+</a:t>
            </a:r>
            <a:endParaRPr lang="en-US" sz="1300" dirty="0"/>
          </a:p>
        </p:txBody>
      </p:sp>
      <p:sp>
        <p:nvSpPr>
          <p:cNvPr id="11" name="Text 9"/>
          <p:cNvSpPr txBox="1"/>
          <p:nvPr/>
        </p:nvSpPr>
        <p:spPr>
          <a:xfrm>
            <a:off x="1097280" y="3218688"/>
            <a:ext cx="566928" cy="274320"/>
          </a:xfrm>
          <a:prstGeom prst="rect">
            <a:avLst/>
          </a:prstGeom>
          <a:noFill/>
          <a:ln/>
        </p:spPr>
        <p:txBody>
          <a:bodyPr wrap="square" lIns="0" tIns="0" rIns="0" bIns="0" rtlCol="0" anchor="t"/>
          <a:lstStyle/>
          <a:p>
            <a:pPr algn="ctr" indent="0" marL="0">
              <a:buNone/>
            </a:pPr>
            <a:r>
              <a:rPr lang="en-US" sz="1200" dirty="0">
                <a:solidFill>
                  <a:schemeClr val="bg2"/>
                </a:solidFill>
              </a:rPr>
              <a:t>+2</a:t>
            </a:r>
            <a:endParaRPr lang="en-US" sz="1200" dirty="0"/>
          </a:p>
        </p:txBody>
      </p:sp>
      <p:sp>
        <p:nvSpPr>
          <p:cNvPr id="12" name="Text 10"/>
          <p:cNvSpPr txBox="1"/>
          <p:nvPr/>
        </p:nvSpPr>
        <p:spPr>
          <a:xfrm>
            <a:off x="1874520" y="2651760"/>
            <a:ext cx="365760" cy="457200"/>
          </a:xfrm>
          <a:prstGeom prst="rect">
            <a:avLst/>
          </a:prstGeom>
          <a:noFill/>
          <a:ln/>
        </p:spPr>
        <p:txBody>
          <a:bodyPr wrap="square" lIns="0" tIns="0" rIns="0" bIns="0" rtlCol="0" anchor="t"/>
          <a:lstStyle/>
          <a:p>
            <a:pPr algn="ctr" indent="0" marL="0">
              <a:buNone/>
            </a:pPr>
            <a:r>
              <a:rPr lang="en-US" sz="2600" b="1" dirty="0">
                <a:solidFill>
                  <a:schemeClr val="bg1"/>
                </a:solidFill>
              </a:rPr>
              <a:t>+</a:t>
            </a:r>
            <a:endParaRPr lang="en-US" sz="2600" dirty="0"/>
          </a:p>
        </p:txBody>
      </p:sp>
      <p:sp>
        <p:nvSpPr>
          <p:cNvPr id="13" name="Ion Cl"/>
          <p:cNvSpPr/>
          <p:nvPr/>
        </p:nvSpPr>
        <p:spPr>
          <a:xfrm>
            <a:off x="2377440" y="2606040"/>
            <a:ext cx="566928" cy="566928"/>
          </a:xfrm>
          <a:prstGeom prst="ellipse">
            <a:avLst/>
          </a:prstGeom>
          <a:solidFill>
            <a:srgbClr val="F472B6">
              <a:alpha val="35000"/>
            </a:srgbClr>
          </a:solidFill>
          <a:ln w="19050">
            <a:solidFill>
              <a:srgbClr val="F472B6"/>
            </a:solidFill>
            <a:prstDash val="solid"/>
          </a:ln>
        </p:spPr>
      </p:sp>
      <p:sp>
        <p:nvSpPr>
          <p:cNvPr id="14" name="Text 12"/>
          <p:cNvSpPr txBox="1"/>
          <p:nvPr/>
        </p:nvSpPr>
        <p:spPr>
          <a:xfrm>
            <a:off x="2331720" y="2606040"/>
            <a:ext cx="658368" cy="566928"/>
          </a:xfrm>
          <a:prstGeom prst="rect">
            <a:avLst/>
          </a:prstGeom>
          <a:noFill/>
          <a:ln/>
        </p:spPr>
        <p:txBody>
          <a:bodyPr wrap="square" lIns="0" tIns="0" rIns="0" bIns="0" rtlCol="0" anchor="ctr"/>
          <a:lstStyle/>
          <a:p>
            <a:pPr algn="ctr" indent="0" marL="0">
              <a:buNone/>
            </a:pPr>
            <a:r>
              <a:rPr lang="en-US" sz="1300" b="1" dirty="0">
                <a:solidFill>
                  <a:schemeClr val="bg1"/>
                </a:solidFill>
              </a:rPr>
              <a:t>Cl</a:t>
            </a:r>
            <a:pPr algn="ctr" indent="0" marL="0">
              <a:buNone/>
            </a:pPr>
            <a:r>
              <a:rPr lang="en-US" sz="1300" b="1" baseline="30000" dirty="0">
                <a:solidFill>
                  <a:schemeClr val="bg1"/>
                </a:solidFill>
              </a:rPr>
              <a:t>−</a:t>
            </a:r>
            <a:endParaRPr lang="en-US" sz="1300" dirty="0"/>
          </a:p>
        </p:txBody>
      </p:sp>
      <p:sp>
        <p:nvSpPr>
          <p:cNvPr id="15" name="Ion Cl"/>
          <p:cNvSpPr/>
          <p:nvPr/>
        </p:nvSpPr>
        <p:spPr>
          <a:xfrm>
            <a:off x="3063240" y="2606040"/>
            <a:ext cx="566928" cy="566928"/>
          </a:xfrm>
          <a:prstGeom prst="ellipse">
            <a:avLst/>
          </a:prstGeom>
          <a:solidFill>
            <a:srgbClr val="F472B6">
              <a:alpha val="35000"/>
            </a:srgbClr>
          </a:solidFill>
          <a:ln w="19050">
            <a:solidFill>
              <a:srgbClr val="F472B6"/>
            </a:solidFill>
            <a:prstDash val="solid"/>
          </a:ln>
        </p:spPr>
      </p:sp>
      <p:sp>
        <p:nvSpPr>
          <p:cNvPr id="16" name="Text 14"/>
          <p:cNvSpPr txBox="1"/>
          <p:nvPr/>
        </p:nvSpPr>
        <p:spPr>
          <a:xfrm>
            <a:off x="3017520" y="2606040"/>
            <a:ext cx="658368" cy="566928"/>
          </a:xfrm>
          <a:prstGeom prst="rect">
            <a:avLst/>
          </a:prstGeom>
          <a:noFill/>
          <a:ln/>
        </p:spPr>
        <p:txBody>
          <a:bodyPr wrap="square" lIns="0" tIns="0" rIns="0" bIns="0" rtlCol="0" anchor="ctr"/>
          <a:lstStyle/>
          <a:p>
            <a:pPr algn="ctr" indent="0" marL="0">
              <a:buNone/>
            </a:pPr>
            <a:r>
              <a:rPr lang="en-US" sz="1300" b="1" dirty="0">
                <a:solidFill>
                  <a:schemeClr val="bg1"/>
                </a:solidFill>
              </a:rPr>
              <a:t>Cl</a:t>
            </a:r>
            <a:pPr algn="ctr" indent="0" marL="0">
              <a:buNone/>
            </a:pPr>
            <a:r>
              <a:rPr lang="en-US" sz="1300" b="1" baseline="30000" dirty="0">
                <a:solidFill>
                  <a:schemeClr val="bg1"/>
                </a:solidFill>
              </a:rPr>
              <a:t>−</a:t>
            </a:r>
            <a:endParaRPr lang="en-US" sz="1300" dirty="0"/>
          </a:p>
        </p:txBody>
      </p:sp>
      <p:sp>
        <p:nvSpPr>
          <p:cNvPr id="17" name="Text 15"/>
          <p:cNvSpPr txBox="1"/>
          <p:nvPr/>
        </p:nvSpPr>
        <p:spPr>
          <a:xfrm>
            <a:off x="2286000" y="3218688"/>
            <a:ext cx="1463040" cy="274320"/>
          </a:xfrm>
          <a:prstGeom prst="rect">
            <a:avLst/>
          </a:prstGeom>
          <a:noFill/>
          <a:ln/>
        </p:spPr>
        <p:txBody>
          <a:bodyPr wrap="square" lIns="0" tIns="0" rIns="0" bIns="0" rtlCol="0" anchor="t"/>
          <a:lstStyle/>
          <a:p>
            <a:pPr algn="ctr" indent="0" marL="0">
              <a:buNone/>
            </a:pPr>
            <a:r>
              <a:rPr lang="en-US" sz="1200" dirty="0">
                <a:solidFill>
                  <a:schemeClr val="bg2"/>
                </a:solidFill>
              </a:rPr>
              <a:t>−1 + −1 = −2</a:t>
            </a:r>
            <a:endParaRPr lang="en-US" sz="1200" dirty="0"/>
          </a:p>
        </p:txBody>
      </p:sp>
      <p:sp>
        <p:nvSpPr>
          <p:cNvPr id="18" name="Text 16"/>
          <p:cNvSpPr txBox="1"/>
          <p:nvPr/>
        </p:nvSpPr>
        <p:spPr>
          <a:xfrm>
            <a:off x="3794760" y="2651760"/>
            <a:ext cx="365760" cy="457200"/>
          </a:xfrm>
          <a:prstGeom prst="rect">
            <a:avLst/>
          </a:prstGeom>
          <a:noFill/>
          <a:ln/>
        </p:spPr>
        <p:txBody>
          <a:bodyPr wrap="square" lIns="0" tIns="0" rIns="0" bIns="0" rtlCol="0" anchor="t"/>
          <a:lstStyle/>
          <a:p>
            <a:pPr algn="ctr" indent="0" marL="0">
              <a:buNone/>
            </a:pPr>
            <a:r>
              <a:rPr lang="en-US" sz="2600" b="1" dirty="0">
                <a:solidFill>
                  <a:schemeClr val="bg1"/>
                </a:solidFill>
              </a:rPr>
              <a:t>=</a:t>
            </a:r>
            <a:endParaRPr lang="en-US" sz="2600" dirty="0"/>
          </a:p>
        </p:txBody>
      </p:sp>
      <p:sp>
        <p:nvSpPr>
          <p:cNvPr id="19" name="Formula"/>
          <p:cNvSpPr/>
          <p:nvPr/>
        </p:nvSpPr>
        <p:spPr>
          <a:xfrm>
            <a:off x="4297680" y="2514600"/>
            <a:ext cx="1371600" cy="777240"/>
          </a:xfrm>
          <a:prstGeom prst="roundRect">
            <a:avLst>
              <a:gd name="adj" fmla="val 11765"/>
            </a:avLst>
          </a:prstGeom>
          <a:solidFill>
            <a:schemeClr val="tx2"/>
          </a:solidFill>
          <a:ln w="9525">
            <a:solidFill>
              <a:srgbClr val="F6B93B">
                <a:alpha val="30000"/>
              </a:srgbClr>
            </a:solidFill>
            <a:prstDash val="solid"/>
          </a:ln>
        </p:spPr>
      </p:sp>
      <p:sp>
        <p:nvSpPr>
          <p:cNvPr id="20" name="Text 18"/>
          <p:cNvSpPr txBox="1"/>
          <p:nvPr/>
        </p:nvSpPr>
        <p:spPr>
          <a:xfrm>
            <a:off x="4297680" y="2606040"/>
            <a:ext cx="1371600" cy="457200"/>
          </a:xfrm>
          <a:prstGeom prst="rect">
            <a:avLst/>
          </a:prstGeom>
          <a:noFill/>
          <a:ln/>
        </p:spPr>
        <p:txBody>
          <a:bodyPr wrap="square" lIns="0" tIns="0" rIns="0" bIns="0" rtlCol="0" anchor="t"/>
          <a:lstStyle/>
          <a:p>
            <a:pPr algn="ctr" indent="0" marL="0">
              <a:buNone/>
            </a:pPr>
            <a:r>
              <a:rPr lang="en-US" sz="2400" b="1" dirty="0">
                <a:solidFill>
                  <a:schemeClr val="accent2"/>
                </a:solidFill>
              </a:rPr>
              <a:t>MgCl₂</a:t>
            </a:r>
            <a:endParaRPr lang="en-US" sz="2400" dirty="0"/>
          </a:p>
        </p:txBody>
      </p:sp>
      <p:sp>
        <p:nvSpPr>
          <p:cNvPr id="21" name="Text 19"/>
          <p:cNvSpPr txBox="1"/>
          <p:nvPr/>
        </p:nvSpPr>
        <p:spPr>
          <a:xfrm>
            <a:off x="457200" y="3657600"/>
            <a:ext cx="8229600" cy="365760"/>
          </a:xfrm>
          <a:prstGeom prst="rect">
            <a:avLst/>
          </a:prstGeom>
          <a:noFill/>
          <a:ln/>
        </p:spPr>
        <p:txBody>
          <a:bodyPr wrap="square" lIns="0" tIns="0" rIns="0" bIns="0" rtlCol="0" anchor="t"/>
          <a:lstStyle/>
          <a:p>
            <a:pPr indent="0" marL="0">
              <a:buNone/>
            </a:pPr>
            <a:r>
              <a:rPr lang="en-US" sz="1400" dirty="0">
                <a:solidFill>
                  <a:schemeClr val="bg1"/>
                </a:solidFill>
              </a:rPr>
              <a:t>Mg²⁺ (+2) needs 2 Cl⁻ (−1 each). The small 2 means "two chloride ions."</a:t>
            </a:r>
            <a:endParaRPr lang="en-US" sz="1400" dirty="0"/>
          </a:p>
        </p:txBody>
      </p:sp>
      <p:sp>
        <p:nvSpPr>
          <p:cNvPr id="22" name="Text 20"/>
          <p:cNvSpPr txBox="1"/>
          <p:nvPr/>
        </p:nvSpPr>
        <p:spPr>
          <a:xfrm>
            <a:off x="457200" y="4069080"/>
            <a:ext cx="8229600" cy="365760"/>
          </a:xfrm>
          <a:prstGeom prst="rect">
            <a:avLst/>
          </a:prstGeom>
          <a:noFill/>
          <a:ln/>
        </p:spPr>
        <p:txBody>
          <a:bodyPr wrap="square" lIns="0" tIns="0" rIns="0" bIns="0" rtlCol="0" anchor="t"/>
          <a:lstStyle/>
          <a:p>
            <a:pPr indent="0" marL="0">
              <a:buNone/>
            </a:pPr>
            <a:r>
              <a:rPr lang="en-US" sz="1200" dirty="0">
                <a:solidFill>
                  <a:schemeClr val="bg2"/>
                </a:solidFill>
              </a:rPr>
              <a:t>Shortcut: the size of one ion's charge tells you how many of the other ion you need. Then reduce to the smallest numbers.</a:t>
            </a:r>
            <a:endParaRPr lang="en-US" sz="12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Section tile 8"/>
          <p:cNvSpPr/>
          <p:nvPr/>
        </p:nvSpPr>
        <p:spPr>
          <a:xfrm>
            <a:off x="457200" y="301752"/>
            <a:ext cx="749808" cy="841248"/>
          </a:xfrm>
          <a:prstGeom prst="roundRect">
            <a:avLst>
              <a:gd name="adj" fmla="val 12000"/>
            </a:avLst>
          </a:prstGeom>
          <a:solidFill>
            <a:srgbClr val="F6B93B">
              <a:alpha val="28000"/>
            </a:srgbClr>
          </a:solidFill>
          <a:ln w="19050">
            <a:solidFill>
              <a:srgbClr val="F6B93B"/>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8</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1600" b="1" dirty="0">
                <a:solidFill>
                  <a:schemeClr val="bg1"/>
                </a:solidFill>
              </a:rPr>
              <a:t>MgCl₂</a:t>
            </a:r>
            <a:endParaRPr lang="en-US" sz="1600" dirty="0"/>
          </a:p>
        </p:txBody>
      </p:sp>
      <p:sp>
        <p:nvSpPr>
          <p:cNvPr id="5" name="Text 3"/>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6" name="Text 4"/>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8 of 9</a:t>
            </a:r>
            <a:endParaRPr lang="en-US" sz="1200" dirty="0"/>
          </a:p>
        </p:txBody>
      </p:sp>
      <p:sp>
        <p:nvSpPr>
          <p:cNvPr id="7"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Balance the charges</a:t>
            </a:r>
            <a:endParaRPr lang="en-US" sz="2800" dirty="0"/>
          </a:p>
        </p:txBody>
      </p:sp>
      <p:sp>
        <p:nvSpPr>
          <p:cNvPr id="8" name="Text 6"/>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In the lesson, students add or remove ions until the balance is level. How many of each ion do you need?</a:t>
            </a:r>
            <a:endParaRPr lang="en-US" sz="13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8229600" cy="914400"/>
        </p:xfrm>
        <a:graphic>
          <a:graphicData uri="http://schemas.openxmlformats.org/drawingml/2006/table">
            <a:tbl>
              <a:tblPr/>
              <a:tblGrid>
                <a:gridCol w="2377440"/>
                <a:gridCol w="2103120"/>
                <a:gridCol w="2194560"/>
                <a:gridCol w="1554480"/>
              </a:tblGrid>
              <a:tr h="457200">
                <a:tc>
                  <a:txBody>
                    <a:bodyPr/>
                    <a:lstStyle/>
                    <a:p>
                      <a:pPr indent="0" marL="0">
                        <a:buNone/>
                      </a:pPr>
                      <a:r>
                        <a:rPr lang="en-US" sz="1400" b="1" dirty="0">
                          <a:solidFill>
                            <a:schemeClr val="bg2"/>
                          </a:solidFill>
                        </a:rPr>
                        <a:t>Elements</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c>
                  <a:txBody>
                    <a:bodyPr/>
                    <a:lstStyle/>
                    <a:p>
                      <a:pPr indent="0" marL="0">
                        <a:buNone/>
                      </a:pPr>
                      <a:r>
                        <a:rPr lang="en-US" sz="1400" b="1" dirty="0">
                          <a:solidFill>
                            <a:schemeClr val="bg2"/>
                          </a:solidFill>
                        </a:rPr>
                        <a:t>Ions</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c>
                  <a:txBody>
                    <a:bodyPr/>
                    <a:lstStyle/>
                    <a:p>
                      <a:pPr indent="0" marL="0">
                        <a:buNone/>
                      </a:pPr>
                      <a:r>
                        <a:rPr lang="en-US" sz="1400" b="1" dirty="0">
                          <a:solidFill>
                            <a:schemeClr val="bg2"/>
                          </a:solidFill>
                        </a:rPr>
                        <a:t>How many of each?</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c>
                  <a:txBody>
                    <a:bodyPr/>
                    <a:lstStyle/>
                    <a:p>
                      <a:pPr indent="0" marL="0">
                        <a:buNone/>
                      </a:pPr>
                      <a:r>
                        <a:rPr lang="en-US" sz="1400" b="1" dirty="0">
                          <a:solidFill>
                            <a:schemeClr val="bg2"/>
                          </a:solidFill>
                        </a:rPr>
                        <a:t>Formula</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r>
              <a:tr h="457200">
                <a:tc>
                  <a:txBody>
                    <a:bodyPr/>
                    <a:lstStyle/>
                    <a:p>
                      <a:pPr indent="0" marL="0">
                        <a:buNone/>
                      </a:pPr>
                      <a:r>
                        <a:rPr lang="en-US" sz="1400" dirty="0">
                          <a:solidFill>
                            <a:schemeClr val="bg1"/>
                          </a:solidFill>
                        </a:rPr>
                        <a:t>Sodium + chlorine</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Na+  and  Cl−</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r>
              <a:tr h="457200">
                <a:tc>
                  <a:txBody>
                    <a:bodyPr/>
                    <a:lstStyle/>
                    <a:p>
                      <a:pPr indent="0" marL="0">
                        <a:buNone/>
                      </a:pPr>
                      <a:r>
                        <a:rPr lang="en-US" sz="1400" dirty="0">
                          <a:solidFill>
                            <a:schemeClr val="bg1"/>
                          </a:solidFill>
                        </a:rPr>
                        <a:t>Magnesium + chlorine</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Mg2+  and  Cl−</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r>
              <a:tr h="457200">
                <a:tc>
                  <a:txBody>
                    <a:bodyPr/>
                    <a:lstStyle/>
                    <a:p>
                      <a:pPr indent="0" marL="0">
                        <a:buNone/>
                      </a:pPr>
                      <a:r>
                        <a:rPr lang="en-US" sz="1400" dirty="0">
                          <a:solidFill>
                            <a:schemeClr val="bg1"/>
                          </a:solidFill>
                        </a:rPr>
                        <a:t>Potassium + oxygen</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K+  and  O2−</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r>
              <a:tr h="457200">
                <a:tc>
                  <a:txBody>
                    <a:bodyPr/>
                    <a:lstStyle/>
                    <a:p>
                      <a:pPr indent="0" marL="0">
                        <a:buNone/>
                      </a:pPr>
                      <a:r>
                        <a:rPr lang="en-US" sz="1400" dirty="0">
                          <a:solidFill>
                            <a:schemeClr val="bg1"/>
                          </a:solidFill>
                        </a:rPr>
                        <a:t>Aluminum + fluorine</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Al3+  and  F−</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r>
              <a:tr h="457200">
                <a:tc>
                  <a:txBody>
                    <a:bodyPr/>
                    <a:lstStyle/>
                    <a:p>
                      <a:pPr indent="0" marL="0">
                        <a:buNone/>
                      </a:pPr>
                      <a:r>
                        <a:rPr lang="en-US" sz="1400" dirty="0">
                          <a:solidFill>
                            <a:schemeClr val="bg1"/>
                          </a:solidFill>
                        </a:rPr>
                        <a:t>Magnesium + nitrogen</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Mg2+  and  N3−</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r>
            </a:tbl>
          </a:graphicData>
        </a:graphic>
      </p:graphicFrame>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Section tile 8"/>
          <p:cNvSpPr/>
          <p:nvPr/>
        </p:nvSpPr>
        <p:spPr>
          <a:xfrm>
            <a:off x="457200" y="301752"/>
            <a:ext cx="749808" cy="841248"/>
          </a:xfrm>
          <a:prstGeom prst="roundRect">
            <a:avLst>
              <a:gd name="adj" fmla="val 12000"/>
            </a:avLst>
          </a:prstGeom>
          <a:solidFill>
            <a:srgbClr val="F6B93B">
              <a:alpha val="28000"/>
            </a:srgbClr>
          </a:solidFill>
          <a:ln w="19050">
            <a:solidFill>
              <a:srgbClr val="F6B93B"/>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8</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1600" b="1" dirty="0">
                <a:solidFill>
                  <a:schemeClr val="bg1"/>
                </a:solidFill>
              </a:rPr>
              <a:t>MgCl₂</a:t>
            </a:r>
            <a:endParaRPr lang="en-US" sz="1600" dirty="0"/>
          </a:p>
        </p:txBody>
      </p:sp>
      <p:sp>
        <p:nvSpPr>
          <p:cNvPr id="5" name="Text 3"/>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6" name="Text 4"/>
          <p:cNvSpPr/>
          <p:nvPr/>
        </p:nvSpPr>
        <p:spPr>
          <a:xfrm>
            <a:off x="224028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7" name="Text 5"/>
          <p:cNvSpPr txBox="1"/>
          <p:nvPr/>
        </p:nvSpPr>
        <p:spPr>
          <a:xfrm>
            <a:off x="32004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8 of 9</a:t>
            </a:r>
            <a:endParaRPr lang="en-US" sz="1200" dirty="0"/>
          </a:p>
        </p:txBody>
      </p:sp>
      <p:sp>
        <p:nvSpPr>
          <p:cNvPr id="8"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Balance the charges</a:t>
            </a:r>
            <a:endParaRPr lang="en-US" sz="2800" dirty="0"/>
          </a:p>
        </p:txBody>
      </p:sp>
      <p:sp>
        <p:nvSpPr>
          <p:cNvPr id="9" name="Text 7"/>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In the lesson, students add or remove ions until the balance is level. How many of each ion do you need?</a:t>
            </a:r>
            <a:endParaRPr lang="en-US" sz="13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8229600" cy="914400"/>
        </p:xfrm>
        <a:graphic>
          <a:graphicData uri="http://schemas.openxmlformats.org/drawingml/2006/table">
            <a:tbl>
              <a:tblPr/>
              <a:tblGrid>
                <a:gridCol w="2377440"/>
                <a:gridCol w="2103120"/>
                <a:gridCol w="2194560"/>
                <a:gridCol w="1554480"/>
              </a:tblGrid>
              <a:tr h="457200">
                <a:tc>
                  <a:txBody>
                    <a:bodyPr/>
                    <a:lstStyle/>
                    <a:p>
                      <a:pPr indent="0" marL="0">
                        <a:buNone/>
                      </a:pPr>
                      <a:r>
                        <a:rPr lang="en-US" sz="1400" b="1" dirty="0">
                          <a:solidFill>
                            <a:schemeClr val="bg2"/>
                          </a:solidFill>
                        </a:rPr>
                        <a:t>Elements</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c>
                  <a:txBody>
                    <a:bodyPr/>
                    <a:lstStyle/>
                    <a:p>
                      <a:pPr indent="0" marL="0">
                        <a:buNone/>
                      </a:pPr>
                      <a:r>
                        <a:rPr lang="en-US" sz="1400" b="1" dirty="0">
                          <a:solidFill>
                            <a:schemeClr val="bg2"/>
                          </a:solidFill>
                        </a:rPr>
                        <a:t>Ions</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c>
                  <a:txBody>
                    <a:bodyPr/>
                    <a:lstStyle/>
                    <a:p>
                      <a:pPr indent="0" marL="0">
                        <a:buNone/>
                      </a:pPr>
                      <a:r>
                        <a:rPr lang="en-US" sz="1400" b="1" dirty="0">
                          <a:solidFill>
                            <a:schemeClr val="bg2"/>
                          </a:solidFill>
                        </a:rPr>
                        <a:t>How many of each?</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c>
                  <a:txBody>
                    <a:bodyPr/>
                    <a:lstStyle/>
                    <a:p>
                      <a:pPr indent="0" marL="0">
                        <a:buNone/>
                      </a:pPr>
                      <a:r>
                        <a:rPr lang="en-US" sz="1400" b="1" dirty="0">
                          <a:solidFill>
                            <a:schemeClr val="bg2"/>
                          </a:solidFill>
                        </a:rPr>
                        <a:t>Formula</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r>
              <a:tr h="457200">
                <a:tc>
                  <a:txBody>
                    <a:bodyPr/>
                    <a:lstStyle/>
                    <a:p>
                      <a:pPr indent="0" marL="0">
                        <a:buNone/>
                      </a:pPr>
                      <a:r>
                        <a:rPr lang="en-US" sz="1400" dirty="0">
                          <a:solidFill>
                            <a:schemeClr val="bg1"/>
                          </a:solidFill>
                        </a:rPr>
                        <a:t>Sodium + chlorine</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Na+  and  Cl−</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b="1" dirty="0">
                          <a:solidFill>
                            <a:schemeClr val="accent4"/>
                          </a:solidFill>
                        </a:rPr>
                        <a:t>1 Na+, 1 Cl−</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b="1" dirty="0">
                          <a:solidFill>
                            <a:schemeClr val="accent2"/>
                          </a:solidFill>
                        </a:rPr>
                        <a:t>NaCl</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r>
              <a:tr h="457200">
                <a:tc>
                  <a:txBody>
                    <a:bodyPr/>
                    <a:lstStyle/>
                    <a:p>
                      <a:pPr indent="0" marL="0">
                        <a:buNone/>
                      </a:pPr>
                      <a:r>
                        <a:rPr lang="en-US" sz="1400" dirty="0">
                          <a:solidFill>
                            <a:schemeClr val="bg1"/>
                          </a:solidFill>
                        </a:rPr>
                        <a:t>Magnesium + chlorine</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Mg2+  and  Cl−</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b="1" dirty="0">
                          <a:solidFill>
                            <a:schemeClr val="accent4"/>
                          </a:solidFill>
                        </a:rPr>
                        <a:t>1 Mg2+, 2 Cl−</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b="1" dirty="0">
                          <a:solidFill>
                            <a:schemeClr val="accent2"/>
                          </a:solidFill>
                        </a:rPr>
                        <a:t>MgCl₂</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r>
              <a:tr h="457200">
                <a:tc>
                  <a:txBody>
                    <a:bodyPr/>
                    <a:lstStyle/>
                    <a:p>
                      <a:pPr indent="0" marL="0">
                        <a:buNone/>
                      </a:pPr>
                      <a:r>
                        <a:rPr lang="en-US" sz="1400" dirty="0">
                          <a:solidFill>
                            <a:schemeClr val="bg1"/>
                          </a:solidFill>
                        </a:rPr>
                        <a:t>Potassium + oxygen</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K+  and  O2−</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b="1" dirty="0">
                          <a:solidFill>
                            <a:schemeClr val="accent4"/>
                          </a:solidFill>
                        </a:rPr>
                        <a:t>2 K+, 1 O2−</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b="1" dirty="0">
                          <a:solidFill>
                            <a:schemeClr val="accent2"/>
                          </a:solidFill>
                        </a:rPr>
                        <a:t>K₂O</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r>
              <a:tr h="457200">
                <a:tc>
                  <a:txBody>
                    <a:bodyPr/>
                    <a:lstStyle/>
                    <a:p>
                      <a:pPr indent="0" marL="0">
                        <a:buNone/>
                      </a:pPr>
                      <a:r>
                        <a:rPr lang="en-US" sz="1400" dirty="0">
                          <a:solidFill>
                            <a:schemeClr val="bg1"/>
                          </a:solidFill>
                        </a:rPr>
                        <a:t>Aluminum + fluorine</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Al3+  and  F−</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b="1" dirty="0">
                          <a:solidFill>
                            <a:schemeClr val="accent4"/>
                          </a:solidFill>
                        </a:rPr>
                        <a:t>1 Al3+, 3 F−</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b="1" dirty="0">
                          <a:solidFill>
                            <a:schemeClr val="accent2"/>
                          </a:solidFill>
                        </a:rPr>
                        <a:t>AlF₃</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r>
              <a:tr h="457200">
                <a:tc>
                  <a:txBody>
                    <a:bodyPr/>
                    <a:lstStyle/>
                    <a:p>
                      <a:pPr indent="0" marL="0">
                        <a:buNone/>
                      </a:pPr>
                      <a:r>
                        <a:rPr lang="en-US" sz="1400" dirty="0">
                          <a:solidFill>
                            <a:schemeClr val="bg1"/>
                          </a:solidFill>
                        </a:rPr>
                        <a:t>Magnesium + nitrogen</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Mg2+  and  N3−</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b="1" dirty="0">
                          <a:solidFill>
                            <a:schemeClr val="accent4"/>
                          </a:solidFill>
                        </a:rPr>
                        <a:t>3 Mg2+, 2 N3−</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b="1" dirty="0">
                          <a:solidFill>
                            <a:schemeClr val="accent2"/>
                          </a:solidFill>
                        </a:rPr>
                        <a:t>Mg₃N₂</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r>
            </a:tbl>
          </a:graphicData>
        </a:graphic>
      </p:graphicFrame>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Section tile 8"/>
          <p:cNvSpPr/>
          <p:nvPr/>
        </p:nvSpPr>
        <p:spPr>
          <a:xfrm>
            <a:off x="457200" y="301752"/>
            <a:ext cx="749808" cy="841248"/>
          </a:xfrm>
          <a:prstGeom prst="roundRect">
            <a:avLst>
              <a:gd name="adj" fmla="val 12000"/>
            </a:avLst>
          </a:prstGeom>
          <a:solidFill>
            <a:srgbClr val="F6B93B">
              <a:alpha val="28000"/>
            </a:srgbClr>
          </a:solidFill>
          <a:ln w="19050">
            <a:solidFill>
              <a:srgbClr val="F6B93B"/>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8</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1600" b="1" dirty="0">
                <a:solidFill>
                  <a:schemeClr val="bg1"/>
                </a:solidFill>
              </a:rPr>
              <a:t>MgCl₂</a:t>
            </a:r>
            <a:endParaRPr lang="en-US" sz="1600" dirty="0"/>
          </a:p>
        </p:txBody>
      </p:sp>
      <p:sp>
        <p:nvSpPr>
          <p:cNvPr id="5" name="Text 3"/>
          <p:cNvSpPr/>
          <p:nvPr/>
        </p:nvSpPr>
        <p:spPr>
          <a:xfrm>
            <a:off x="1417320" y="31089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6" name="Text 4"/>
          <p:cNvSpPr txBox="1"/>
          <p:nvPr/>
        </p:nvSpPr>
        <p:spPr>
          <a:xfrm>
            <a:off x="260604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8 of 9</a:t>
            </a:r>
            <a:endParaRPr lang="en-US" sz="1200" dirty="0"/>
          </a:p>
        </p:txBody>
      </p:sp>
      <p:sp>
        <p:nvSpPr>
          <p:cNvPr id="7" name="Text 0"/>
          <p:cNvSpPr/>
          <p:nvPr>
            <p:ph idx="100" type="title" hasCustomPrompt="1"/>
          </p:nvPr>
        </p:nvSpPr>
        <p:spPr>
          <a:xfrm>
            <a:off x="1417320" y="658368"/>
            <a:ext cx="7269480" cy="841248"/>
          </a:xfrm>
          <a:prstGeom prst="rect">
            <a:avLst/>
          </a:prstGeom>
          <a:noFill/>
          <a:ln/>
        </p:spPr>
        <p:txBody>
          <a:bodyPr wrap="square" lIns="0" tIns="0" rIns="0" bIns="0" rtlCol="0" anchor="t"/>
          <a:lstStyle/>
          <a:p>
            <a:pPr algn="l" indent="0" marL="0">
              <a:buNone/>
            </a:pPr>
            <a:r>
              <a:rPr lang="en-US" sz="2000" b="1" dirty="0">
                <a:solidFill>
                  <a:schemeClr val="bg1"/>
                </a:solidFill>
              </a:rPr>
              <a:t>Aluminum forms Al³⁺ and chlorine forms Cl⁻. How many of each make a neutral compound?</a:t>
            </a:r>
            <a:endParaRPr lang="en-US" sz="2000" dirty="0"/>
          </a:p>
        </p:txBody>
      </p:sp>
      <p:sp>
        <p:nvSpPr>
          <p:cNvPr id="8" name="Option A"/>
          <p:cNvSpPr/>
          <p:nvPr/>
        </p:nvSpPr>
        <p:spPr>
          <a:xfrm>
            <a:off x="457200" y="1645920"/>
            <a:ext cx="8229600" cy="457200"/>
          </a:xfrm>
          <a:prstGeom prst="roundRect">
            <a:avLst>
              <a:gd name="adj" fmla="val 18000"/>
            </a:avLst>
          </a:prstGeom>
          <a:solidFill>
            <a:schemeClr val="tx2"/>
          </a:solidFill>
          <a:ln w="9525">
            <a:solidFill>
              <a:schemeClr val="bg2">
                <a:alpha val="35000"/>
              </a:schemeClr>
            </a:solidFill>
            <a:prstDash val="solid"/>
          </a:ln>
        </p:spPr>
      </p:sp>
      <p:sp>
        <p:nvSpPr>
          <p:cNvPr id="9" name="Text 7"/>
          <p:cNvSpPr/>
          <p:nvPr/>
        </p:nvSpPr>
        <p:spPr>
          <a:xfrm>
            <a:off x="548640" y="1719072"/>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10" name="Text 8"/>
          <p:cNvSpPr txBox="1"/>
          <p:nvPr/>
        </p:nvSpPr>
        <p:spPr>
          <a:xfrm>
            <a:off x="969264" y="1645920"/>
            <a:ext cx="7626096" cy="457200"/>
          </a:xfrm>
          <a:prstGeom prst="rect">
            <a:avLst/>
          </a:prstGeom>
          <a:noFill/>
          <a:ln/>
        </p:spPr>
        <p:txBody>
          <a:bodyPr wrap="square" lIns="0" tIns="0" rIns="0" bIns="0" rtlCol="0" anchor="ctr"/>
          <a:lstStyle/>
          <a:p>
            <a:pPr indent="0" marL="0">
              <a:buNone/>
            </a:pPr>
            <a:r>
              <a:rPr lang="en-US" sz="1600" dirty="0">
                <a:solidFill>
                  <a:schemeClr val="bg1"/>
                </a:solidFill>
              </a:rPr>
              <a:t>1 Al³⁺ and 1 Cl⁻</a:t>
            </a:r>
            <a:endParaRPr lang="en-US" sz="1600" dirty="0"/>
          </a:p>
        </p:txBody>
      </p:sp>
      <p:sp>
        <p:nvSpPr>
          <p:cNvPr id="11" name="Option B"/>
          <p:cNvSpPr/>
          <p:nvPr/>
        </p:nvSpPr>
        <p:spPr>
          <a:xfrm>
            <a:off x="457200" y="2231136"/>
            <a:ext cx="8229600" cy="457200"/>
          </a:xfrm>
          <a:prstGeom prst="roundRect">
            <a:avLst>
              <a:gd name="adj" fmla="val 18000"/>
            </a:avLst>
          </a:prstGeom>
          <a:solidFill>
            <a:schemeClr val="tx2"/>
          </a:solidFill>
          <a:ln w="9525">
            <a:solidFill>
              <a:schemeClr val="bg2">
                <a:alpha val="35000"/>
              </a:schemeClr>
            </a:solidFill>
            <a:prstDash val="solid"/>
          </a:ln>
        </p:spPr>
      </p:sp>
      <p:sp>
        <p:nvSpPr>
          <p:cNvPr id="12" name="Text 10"/>
          <p:cNvSpPr/>
          <p:nvPr/>
        </p:nvSpPr>
        <p:spPr>
          <a:xfrm>
            <a:off x="548640" y="2304288"/>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13" name="Text 11"/>
          <p:cNvSpPr txBox="1"/>
          <p:nvPr/>
        </p:nvSpPr>
        <p:spPr>
          <a:xfrm>
            <a:off x="969264" y="2231136"/>
            <a:ext cx="7626096" cy="457200"/>
          </a:xfrm>
          <a:prstGeom prst="rect">
            <a:avLst/>
          </a:prstGeom>
          <a:noFill/>
          <a:ln/>
        </p:spPr>
        <p:txBody>
          <a:bodyPr wrap="square" lIns="0" tIns="0" rIns="0" bIns="0" rtlCol="0" anchor="ctr"/>
          <a:lstStyle/>
          <a:p>
            <a:pPr indent="0" marL="0">
              <a:buNone/>
            </a:pPr>
            <a:r>
              <a:rPr lang="en-US" sz="1600" dirty="0">
                <a:solidFill>
                  <a:schemeClr val="bg1"/>
                </a:solidFill>
              </a:rPr>
              <a:t>1 Al³⁺ and 3 Cl⁻</a:t>
            </a:r>
            <a:endParaRPr lang="en-US" sz="1600" dirty="0"/>
          </a:p>
        </p:txBody>
      </p:sp>
      <p:sp>
        <p:nvSpPr>
          <p:cNvPr id="14" name="Option C"/>
          <p:cNvSpPr/>
          <p:nvPr/>
        </p:nvSpPr>
        <p:spPr>
          <a:xfrm>
            <a:off x="457200" y="2816352"/>
            <a:ext cx="8229600" cy="457200"/>
          </a:xfrm>
          <a:prstGeom prst="roundRect">
            <a:avLst>
              <a:gd name="adj" fmla="val 18000"/>
            </a:avLst>
          </a:prstGeom>
          <a:solidFill>
            <a:schemeClr val="tx2"/>
          </a:solidFill>
          <a:ln w="9525">
            <a:solidFill>
              <a:schemeClr val="bg2">
                <a:alpha val="35000"/>
              </a:schemeClr>
            </a:solidFill>
            <a:prstDash val="solid"/>
          </a:ln>
        </p:spPr>
      </p:sp>
      <p:sp>
        <p:nvSpPr>
          <p:cNvPr id="15" name="Text 13"/>
          <p:cNvSpPr/>
          <p:nvPr/>
        </p:nvSpPr>
        <p:spPr>
          <a:xfrm>
            <a:off x="548640" y="2889504"/>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6" name="Text 14"/>
          <p:cNvSpPr txBox="1"/>
          <p:nvPr/>
        </p:nvSpPr>
        <p:spPr>
          <a:xfrm>
            <a:off x="969264" y="2816352"/>
            <a:ext cx="7626096" cy="457200"/>
          </a:xfrm>
          <a:prstGeom prst="rect">
            <a:avLst/>
          </a:prstGeom>
          <a:noFill/>
          <a:ln/>
        </p:spPr>
        <p:txBody>
          <a:bodyPr wrap="square" lIns="0" tIns="0" rIns="0" bIns="0" rtlCol="0" anchor="ctr"/>
          <a:lstStyle/>
          <a:p>
            <a:pPr indent="0" marL="0">
              <a:buNone/>
            </a:pPr>
            <a:r>
              <a:rPr lang="en-US" sz="1600" dirty="0">
                <a:solidFill>
                  <a:schemeClr val="bg1"/>
                </a:solidFill>
              </a:rPr>
              <a:t>3 Al³⁺ and 1 Cl⁻</a:t>
            </a:r>
            <a:endParaRPr lang="en-US" sz="1600" dirty="0"/>
          </a:p>
        </p:txBody>
      </p:sp>
      <p:sp>
        <p:nvSpPr>
          <p:cNvPr id="17" name="Option D"/>
          <p:cNvSpPr/>
          <p:nvPr/>
        </p:nvSpPr>
        <p:spPr>
          <a:xfrm>
            <a:off x="457200" y="3401568"/>
            <a:ext cx="8229600" cy="457200"/>
          </a:xfrm>
          <a:prstGeom prst="roundRect">
            <a:avLst>
              <a:gd name="adj" fmla="val 18000"/>
            </a:avLst>
          </a:prstGeom>
          <a:solidFill>
            <a:schemeClr val="tx2"/>
          </a:solidFill>
          <a:ln w="9525">
            <a:solidFill>
              <a:schemeClr val="bg2">
                <a:alpha val="35000"/>
              </a:schemeClr>
            </a:solidFill>
            <a:prstDash val="solid"/>
          </a:ln>
        </p:spPr>
      </p:sp>
      <p:sp>
        <p:nvSpPr>
          <p:cNvPr id="18" name="Text 16"/>
          <p:cNvSpPr/>
          <p:nvPr/>
        </p:nvSpPr>
        <p:spPr>
          <a:xfrm>
            <a:off x="548640" y="3474720"/>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19" name="Text 17"/>
          <p:cNvSpPr txBox="1"/>
          <p:nvPr/>
        </p:nvSpPr>
        <p:spPr>
          <a:xfrm>
            <a:off x="969264" y="3401568"/>
            <a:ext cx="7626096" cy="457200"/>
          </a:xfrm>
          <a:prstGeom prst="rect">
            <a:avLst/>
          </a:prstGeom>
          <a:noFill/>
          <a:ln/>
        </p:spPr>
        <p:txBody>
          <a:bodyPr wrap="square" lIns="0" tIns="0" rIns="0" bIns="0" rtlCol="0" anchor="ctr"/>
          <a:lstStyle/>
          <a:p>
            <a:pPr indent="0" marL="0">
              <a:buNone/>
            </a:pPr>
            <a:r>
              <a:rPr lang="en-US" sz="1600" dirty="0">
                <a:solidFill>
                  <a:schemeClr val="bg1"/>
                </a:solidFill>
              </a:rPr>
              <a:t>2 Al³⁺ and 3 Cl⁻</a:t>
            </a:r>
            <a:endParaRPr lang="en-US" sz="16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Section tile 8"/>
          <p:cNvSpPr/>
          <p:nvPr/>
        </p:nvSpPr>
        <p:spPr>
          <a:xfrm>
            <a:off x="457200" y="301752"/>
            <a:ext cx="749808" cy="841248"/>
          </a:xfrm>
          <a:prstGeom prst="roundRect">
            <a:avLst>
              <a:gd name="adj" fmla="val 12000"/>
            </a:avLst>
          </a:prstGeom>
          <a:solidFill>
            <a:srgbClr val="F6B93B">
              <a:alpha val="28000"/>
            </a:srgbClr>
          </a:solidFill>
          <a:ln w="19050">
            <a:solidFill>
              <a:srgbClr val="F6B93B"/>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8</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1600" b="1" dirty="0">
                <a:solidFill>
                  <a:schemeClr val="bg1"/>
                </a:solidFill>
              </a:rPr>
              <a:t>MgCl₂</a:t>
            </a:r>
            <a:endParaRPr lang="en-US" sz="1600" dirty="0"/>
          </a:p>
        </p:txBody>
      </p:sp>
      <p:sp>
        <p:nvSpPr>
          <p:cNvPr id="5" name="Text 3"/>
          <p:cNvSpPr/>
          <p:nvPr/>
        </p:nvSpPr>
        <p:spPr>
          <a:xfrm>
            <a:off x="1417320" y="31089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6" name="Text 4"/>
          <p:cNvSpPr/>
          <p:nvPr/>
        </p:nvSpPr>
        <p:spPr>
          <a:xfrm>
            <a:off x="256032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7" name="Text 5"/>
          <p:cNvSpPr txBox="1"/>
          <p:nvPr/>
        </p:nvSpPr>
        <p:spPr>
          <a:xfrm>
            <a:off x="352044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8 of 9</a:t>
            </a:r>
            <a:endParaRPr lang="en-US" sz="1200" dirty="0"/>
          </a:p>
        </p:txBody>
      </p:sp>
      <p:sp>
        <p:nvSpPr>
          <p:cNvPr id="8" name="Text 0"/>
          <p:cNvSpPr/>
          <p:nvPr>
            <p:ph idx="100" type="title" hasCustomPrompt="1"/>
          </p:nvPr>
        </p:nvSpPr>
        <p:spPr>
          <a:xfrm>
            <a:off x="1417320" y="658368"/>
            <a:ext cx="7269480" cy="841248"/>
          </a:xfrm>
          <a:prstGeom prst="rect">
            <a:avLst/>
          </a:prstGeom>
          <a:noFill/>
          <a:ln/>
        </p:spPr>
        <p:txBody>
          <a:bodyPr wrap="square" lIns="0" tIns="0" rIns="0" bIns="0" rtlCol="0" anchor="t"/>
          <a:lstStyle/>
          <a:p>
            <a:pPr algn="l" indent="0" marL="0">
              <a:buNone/>
            </a:pPr>
            <a:r>
              <a:rPr lang="en-US" sz="2000" b="1" dirty="0">
                <a:solidFill>
                  <a:schemeClr val="bg1"/>
                </a:solidFill>
              </a:rPr>
              <a:t>Aluminum forms Al³⁺ and chlorine forms Cl⁻. How many of each make a neutral compound?</a:t>
            </a:r>
            <a:endParaRPr lang="en-US" sz="2000" dirty="0"/>
          </a:p>
        </p:txBody>
      </p:sp>
      <p:sp>
        <p:nvSpPr>
          <p:cNvPr id="9" name="Option A"/>
          <p:cNvSpPr/>
          <p:nvPr/>
        </p:nvSpPr>
        <p:spPr>
          <a:xfrm>
            <a:off x="457200" y="1645920"/>
            <a:ext cx="8229600" cy="457200"/>
          </a:xfrm>
          <a:prstGeom prst="roundRect">
            <a:avLst>
              <a:gd name="adj" fmla="val 18000"/>
            </a:avLst>
          </a:prstGeom>
          <a:solidFill>
            <a:schemeClr val="tx2"/>
          </a:solidFill>
          <a:ln w="9525">
            <a:solidFill>
              <a:schemeClr val="bg2">
                <a:alpha val="35000"/>
              </a:schemeClr>
            </a:solidFill>
            <a:prstDash val="solid"/>
          </a:ln>
        </p:spPr>
      </p:sp>
      <p:sp>
        <p:nvSpPr>
          <p:cNvPr id="10" name="Text 8"/>
          <p:cNvSpPr/>
          <p:nvPr/>
        </p:nvSpPr>
        <p:spPr>
          <a:xfrm>
            <a:off x="548640" y="1719072"/>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11" name="Text 9"/>
          <p:cNvSpPr txBox="1"/>
          <p:nvPr/>
        </p:nvSpPr>
        <p:spPr>
          <a:xfrm>
            <a:off x="969264" y="1645920"/>
            <a:ext cx="7626096" cy="457200"/>
          </a:xfrm>
          <a:prstGeom prst="rect">
            <a:avLst/>
          </a:prstGeom>
          <a:noFill/>
          <a:ln/>
        </p:spPr>
        <p:txBody>
          <a:bodyPr wrap="square" lIns="0" tIns="0" rIns="0" bIns="0" rtlCol="0" anchor="ctr"/>
          <a:lstStyle/>
          <a:p>
            <a:pPr indent="0" marL="0">
              <a:buNone/>
            </a:pPr>
            <a:r>
              <a:rPr lang="en-US" sz="1600" dirty="0">
                <a:solidFill>
                  <a:schemeClr val="bg2"/>
                </a:solidFill>
              </a:rPr>
              <a:t>1 Al³⁺ and 1 Cl⁻</a:t>
            </a:r>
            <a:endParaRPr lang="en-US" sz="1600" dirty="0"/>
          </a:p>
        </p:txBody>
      </p:sp>
      <p:sp>
        <p:nvSpPr>
          <p:cNvPr id="12" name="Option B"/>
          <p:cNvSpPr/>
          <p:nvPr/>
        </p:nvSpPr>
        <p:spPr>
          <a:xfrm>
            <a:off x="457200" y="2231136"/>
            <a:ext cx="8229600" cy="457200"/>
          </a:xfrm>
          <a:prstGeom prst="roundRect">
            <a:avLst>
              <a:gd name="adj" fmla="val 18000"/>
            </a:avLst>
          </a:prstGeom>
          <a:solidFill>
            <a:schemeClr val="accent4">
              <a:alpha val="20000"/>
            </a:schemeClr>
          </a:solidFill>
          <a:ln w="25400">
            <a:solidFill>
              <a:schemeClr val="accent4"/>
            </a:solidFill>
            <a:prstDash val="solid"/>
          </a:ln>
        </p:spPr>
      </p:sp>
      <p:sp>
        <p:nvSpPr>
          <p:cNvPr id="13" name="Text 11"/>
          <p:cNvSpPr/>
          <p:nvPr/>
        </p:nvSpPr>
        <p:spPr>
          <a:xfrm>
            <a:off x="548640" y="2304288"/>
            <a:ext cx="310896" cy="310896"/>
          </a:xfrm>
          <a:prstGeom prst="roundRect">
            <a:avLst>
              <a:gd name="adj" fmla="val 20588"/>
            </a:avLst>
          </a:prstGeom>
          <a:solidFill>
            <a:schemeClr val="accent4"/>
          </a:solidFill>
          <a:ln w="6350">
            <a:solidFill>
              <a:schemeClr val="accent4"/>
            </a:solidFill>
          </a:ln>
        </p:spPr>
        <p:txBody>
          <a:bodyPr wrap="square" lIns="0" tIns="0" rIns="0" bIns="0" rtlCol="0" anchor="ctr"/>
          <a:lstStyle/>
          <a:p>
            <a:pPr algn="ctr" indent="0" marL="0">
              <a:buNone/>
            </a:pPr>
            <a:r>
              <a:rPr lang="en-US" sz="1300" b="1" dirty="0">
                <a:solidFill>
                  <a:schemeClr val="tx1"/>
                </a:solidFill>
              </a:rPr>
              <a:t>B</a:t>
            </a:r>
            <a:endParaRPr lang="en-US" sz="1300" dirty="0"/>
          </a:p>
        </p:txBody>
      </p:sp>
      <p:sp>
        <p:nvSpPr>
          <p:cNvPr id="14" name="Text 12"/>
          <p:cNvSpPr txBox="1"/>
          <p:nvPr/>
        </p:nvSpPr>
        <p:spPr>
          <a:xfrm>
            <a:off x="969264" y="2231136"/>
            <a:ext cx="7626096" cy="457200"/>
          </a:xfrm>
          <a:prstGeom prst="rect">
            <a:avLst/>
          </a:prstGeom>
          <a:noFill/>
          <a:ln/>
        </p:spPr>
        <p:txBody>
          <a:bodyPr wrap="square" lIns="0" tIns="0" rIns="0" bIns="0" rtlCol="0" anchor="ctr"/>
          <a:lstStyle/>
          <a:p>
            <a:pPr indent="0" marL="0">
              <a:buNone/>
            </a:pPr>
            <a:r>
              <a:rPr lang="en-US" sz="1600" b="1" dirty="0">
                <a:solidFill>
                  <a:schemeClr val="bg1"/>
                </a:solidFill>
              </a:rPr>
              <a:t>1 Al³⁺ and 3 Cl⁻</a:t>
            </a:r>
            <a:endParaRPr lang="en-US" sz="1600" dirty="0"/>
          </a:p>
        </p:txBody>
      </p:sp>
      <p:sp>
        <p:nvSpPr>
          <p:cNvPr id="15" name="Option C"/>
          <p:cNvSpPr/>
          <p:nvPr/>
        </p:nvSpPr>
        <p:spPr>
          <a:xfrm>
            <a:off x="457200" y="2816352"/>
            <a:ext cx="8229600" cy="457200"/>
          </a:xfrm>
          <a:prstGeom prst="roundRect">
            <a:avLst>
              <a:gd name="adj" fmla="val 18000"/>
            </a:avLst>
          </a:prstGeom>
          <a:solidFill>
            <a:schemeClr val="tx2"/>
          </a:solidFill>
          <a:ln w="9525">
            <a:solidFill>
              <a:schemeClr val="bg2">
                <a:alpha val="35000"/>
              </a:schemeClr>
            </a:solidFill>
            <a:prstDash val="solid"/>
          </a:ln>
        </p:spPr>
      </p:sp>
      <p:sp>
        <p:nvSpPr>
          <p:cNvPr id="16" name="Text 14"/>
          <p:cNvSpPr/>
          <p:nvPr/>
        </p:nvSpPr>
        <p:spPr>
          <a:xfrm>
            <a:off x="548640" y="2889504"/>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7" name="Text 15"/>
          <p:cNvSpPr txBox="1"/>
          <p:nvPr/>
        </p:nvSpPr>
        <p:spPr>
          <a:xfrm>
            <a:off x="969264" y="2816352"/>
            <a:ext cx="7626096" cy="457200"/>
          </a:xfrm>
          <a:prstGeom prst="rect">
            <a:avLst/>
          </a:prstGeom>
          <a:noFill/>
          <a:ln/>
        </p:spPr>
        <p:txBody>
          <a:bodyPr wrap="square" lIns="0" tIns="0" rIns="0" bIns="0" rtlCol="0" anchor="ctr"/>
          <a:lstStyle/>
          <a:p>
            <a:pPr indent="0" marL="0">
              <a:buNone/>
            </a:pPr>
            <a:r>
              <a:rPr lang="en-US" sz="1600" dirty="0">
                <a:solidFill>
                  <a:schemeClr val="bg2"/>
                </a:solidFill>
              </a:rPr>
              <a:t>3 Al³⁺ and 1 Cl⁻</a:t>
            </a:r>
            <a:endParaRPr lang="en-US" sz="1600" dirty="0"/>
          </a:p>
        </p:txBody>
      </p:sp>
      <p:sp>
        <p:nvSpPr>
          <p:cNvPr id="18" name="Option D"/>
          <p:cNvSpPr/>
          <p:nvPr/>
        </p:nvSpPr>
        <p:spPr>
          <a:xfrm>
            <a:off x="457200" y="3401568"/>
            <a:ext cx="8229600" cy="457200"/>
          </a:xfrm>
          <a:prstGeom prst="roundRect">
            <a:avLst>
              <a:gd name="adj" fmla="val 18000"/>
            </a:avLst>
          </a:prstGeom>
          <a:solidFill>
            <a:schemeClr val="tx2"/>
          </a:solidFill>
          <a:ln w="9525">
            <a:solidFill>
              <a:schemeClr val="bg2">
                <a:alpha val="35000"/>
              </a:schemeClr>
            </a:solidFill>
            <a:prstDash val="solid"/>
          </a:ln>
        </p:spPr>
      </p:sp>
      <p:sp>
        <p:nvSpPr>
          <p:cNvPr id="19" name="Text 17"/>
          <p:cNvSpPr/>
          <p:nvPr/>
        </p:nvSpPr>
        <p:spPr>
          <a:xfrm>
            <a:off x="548640" y="3474720"/>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20" name="Text 18"/>
          <p:cNvSpPr txBox="1"/>
          <p:nvPr/>
        </p:nvSpPr>
        <p:spPr>
          <a:xfrm>
            <a:off x="969264" y="3401568"/>
            <a:ext cx="7626096" cy="457200"/>
          </a:xfrm>
          <a:prstGeom prst="rect">
            <a:avLst/>
          </a:prstGeom>
          <a:noFill/>
          <a:ln/>
        </p:spPr>
        <p:txBody>
          <a:bodyPr wrap="square" lIns="0" tIns="0" rIns="0" bIns="0" rtlCol="0" anchor="ctr"/>
          <a:lstStyle/>
          <a:p>
            <a:pPr indent="0" marL="0">
              <a:buNone/>
            </a:pPr>
            <a:r>
              <a:rPr lang="en-US" sz="1600" dirty="0">
                <a:solidFill>
                  <a:schemeClr val="bg2"/>
                </a:solidFill>
              </a:rPr>
              <a:t>2 Al³⁺ and 3 Cl⁻</a:t>
            </a:r>
            <a:endParaRPr lang="en-US" sz="1600" dirty="0"/>
          </a:p>
        </p:txBody>
      </p:sp>
      <p:sp>
        <p:nvSpPr>
          <p:cNvPr id="21" name="Why box"/>
          <p:cNvSpPr/>
          <p:nvPr/>
        </p:nvSpPr>
        <p:spPr>
          <a:xfrm>
            <a:off x="457200" y="4114800"/>
            <a:ext cx="8229600" cy="621792"/>
          </a:xfrm>
          <a:prstGeom prst="roundRect">
            <a:avLst>
              <a:gd name="adj" fmla="val 14706"/>
            </a:avLst>
          </a:prstGeom>
          <a:solidFill>
            <a:schemeClr val="accent4">
              <a:alpha val="12000"/>
            </a:schemeClr>
          </a:solidFill>
          <a:ln w="9525">
            <a:solidFill>
              <a:schemeClr val="accent4">
                <a:alpha val="60000"/>
              </a:schemeClr>
            </a:solidFill>
            <a:prstDash val="solid"/>
          </a:ln>
        </p:spPr>
      </p:sp>
      <p:sp>
        <p:nvSpPr>
          <p:cNvPr id="22" name="Text 20"/>
          <p:cNvSpPr txBox="1"/>
          <p:nvPr/>
        </p:nvSpPr>
        <p:spPr>
          <a:xfrm>
            <a:off x="640080" y="4114800"/>
            <a:ext cx="7863840" cy="621792"/>
          </a:xfrm>
          <a:prstGeom prst="rect">
            <a:avLst/>
          </a:prstGeom>
          <a:noFill/>
          <a:ln/>
        </p:spPr>
        <p:txBody>
          <a:bodyPr wrap="square" lIns="0" tIns="0" rIns="0" bIns="0" rtlCol="0" anchor="ctr"/>
          <a:lstStyle/>
          <a:p>
            <a:pPr indent="0" marL="0">
              <a:buNone/>
            </a:pPr>
            <a:r>
              <a:rPr lang="en-US" sz="1400" b="1" dirty="0">
                <a:solidFill>
                  <a:schemeClr val="accent4"/>
                </a:solidFill>
              </a:rPr>
              <a:t>Why: </a:t>
            </a:r>
            <a:pPr indent="0" marL="0">
              <a:buNone/>
            </a:pPr>
            <a:r>
              <a:rPr lang="en-US" sz="1400" dirty="0">
                <a:solidFill>
                  <a:schemeClr val="bg1"/>
                </a:solidFill>
              </a:rPr>
              <a:t>One Al³⁺ is +3, so it takes three Cl⁻ (−1 each). The formula is AlCl₃.</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Section tile 9"/>
          <p:cNvSpPr/>
          <p:nvPr/>
        </p:nvSpPr>
        <p:spPr>
          <a:xfrm>
            <a:off x="457200" y="301752"/>
            <a:ext cx="749808" cy="841248"/>
          </a:xfrm>
          <a:prstGeom prst="roundRect">
            <a:avLst>
              <a:gd name="adj" fmla="val 12000"/>
            </a:avLst>
          </a:prstGeom>
          <a:solidFill>
            <a:srgbClr val="F472B6">
              <a:alpha val="28000"/>
            </a:srgbClr>
          </a:solidFill>
          <a:ln w="19050">
            <a:solidFill>
              <a:srgbClr val="F472B6"/>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9</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2400" b="1" dirty="0">
                <a:solidFill>
                  <a:schemeClr val="bg1"/>
                </a:solidFill>
              </a:rPr>
              <a:t>N</a:t>
            </a:r>
            <a:pPr algn="ctr" indent="0" marL="0">
              <a:buNone/>
            </a:pPr>
            <a:r>
              <a:rPr lang="en-US" sz="2400" b="1" baseline="30000" dirty="0">
                <a:solidFill>
                  <a:schemeClr val="bg1"/>
                </a:solidFill>
              </a:rPr>
              <a:t>3−</a:t>
            </a:r>
            <a:endParaRPr lang="en-US" sz="2400" dirty="0"/>
          </a:p>
        </p:txBody>
      </p:sp>
      <p:sp>
        <p:nvSpPr>
          <p:cNvPr id="5" name="Text 0"/>
          <p:cNvSpPr/>
          <p:nvPr>
            <p:ph idx="100" type="body" hasCustomPrompt="1"/>
          </p:nvPr>
        </p:nvSpPr>
        <p:spPr>
          <a:xfrm>
            <a:off x="1417320" y="329184"/>
            <a:ext cx="7223760" cy="256032"/>
          </a:xfrm>
          <a:prstGeom prst="rect">
            <a:avLst/>
          </a:prstGeom>
          <a:noFill/>
          <a:ln/>
        </p:spPr>
        <p:txBody>
          <a:bodyPr wrap="square" lIns="0" tIns="0" rIns="0" bIns="0" rtlCol="0" anchor="ctr"/>
          <a:lstStyle/>
          <a:p>
            <a:pPr algn="l" indent="0" marL="0">
              <a:buNone/>
            </a:pPr>
            <a:r>
              <a:rPr lang="en-US" sz="1200" dirty="0">
                <a:solidFill>
                  <a:schemeClr val="bg2"/>
                </a:solidFill>
              </a:rPr>
              <a:t>Section 9 of 9 · about 10 min</a:t>
            </a:r>
            <a:endParaRPr lang="en-US" sz="1200" dirty="0"/>
          </a:p>
        </p:txBody>
      </p:sp>
      <p:sp>
        <p:nvSpPr>
          <p:cNvPr id="6" name="Text 0"/>
          <p:cNvSpPr/>
          <p:nvPr>
            <p:ph idx="101" type="title" hasCustomPrompt="1"/>
          </p:nvPr>
        </p:nvSpPr>
        <p:spPr>
          <a:xfrm>
            <a:off x="1417320" y="603504"/>
            <a:ext cx="7223760" cy="530352"/>
          </a:xfrm>
          <a:prstGeom prst="rect">
            <a:avLst/>
          </a:prstGeom>
          <a:noFill/>
          <a:ln/>
        </p:spPr>
        <p:txBody>
          <a:bodyPr wrap="square" lIns="0" tIns="0" rIns="0" bIns="0" rtlCol="0" anchor="ctr"/>
          <a:lstStyle/>
          <a:p>
            <a:pPr algn="l" indent="0" marL="0">
              <a:buNone/>
            </a:pPr>
            <a:r>
              <a:rPr lang="en-US" sz="3000" b="1" dirty="0">
                <a:solidFill>
                  <a:schemeClr val="bg1"/>
                </a:solidFill>
              </a:rPr>
              <a:t>Final check</a:t>
            </a:r>
            <a:endParaRPr lang="en-US" sz="3000" dirty="0"/>
          </a:p>
        </p:txBody>
      </p:sp>
      <p:sp>
        <p:nvSpPr>
          <p:cNvPr id="7" name="In this section"/>
          <p:cNvSpPr/>
          <p:nvPr/>
        </p:nvSpPr>
        <p:spPr>
          <a:xfrm>
            <a:off x="45720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8" name="Text 6"/>
          <p:cNvSpPr txBox="1"/>
          <p:nvPr/>
        </p:nvSpPr>
        <p:spPr>
          <a:xfrm>
            <a:off x="685800" y="1536192"/>
            <a:ext cx="3566160" cy="292608"/>
          </a:xfrm>
          <a:prstGeom prst="rect">
            <a:avLst/>
          </a:prstGeom>
          <a:noFill/>
          <a:ln/>
        </p:spPr>
        <p:txBody>
          <a:bodyPr wrap="square" lIns="0" tIns="0" rIns="0" bIns="0" rtlCol="0" anchor="t"/>
          <a:lstStyle/>
          <a:p>
            <a:pPr indent="0" marL="0">
              <a:buNone/>
            </a:pPr>
            <a:r>
              <a:rPr lang="en-US" sz="1500" b="1" dirty="0">
                <a:solidFill>
                  <a:schemeClr val="accent1"/>
                </a:solidFill>
              </a:rPr>
              <a:t>In this section</a:t>
            </a:r>
            <a:endParaRPr lang="en-US" sz="1500" dirty="0"/>
          </a:p>
        </p:txBody>
      </p:sp>
      <p:sp>
        <p:nvSpPr>
          <p:cNvPr id="9" name="Text 7"/>
          <p:cNvSpPr/>
          <p:nvPr/>
        </p:nvSpPr>
        <p:spPr>
          <a:xfrm>
            <a:off x="685800" y="2039112"/>
            <a:ext cx="109728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Quick review</a:t>
            </a:r>
            <a:endParaRPr lang="en-US" sz="1100" dirty="0"/>
          </a:p>
        </p:txBody>
      </p:sp>
      <p:sp>
        <p:nvSpPr>
          <p:cNvPr id="10" name="Text 8"/>
          <p:cNvSpPr txBox="1"/>
          <p:nvPr/>
        </p:nvSpPr>
        <p:spPr>
          <a:xfrm>
            <a:off x="1920240" y="1947672"/>
            <a:ext cx="2331720" cy="457200"/>
          </a:xfrm>
          <a:prstGeom prst="rect">
            <a:avLst/>
          </a:prstGeom>
          <a:noFill/>
          <a:ln/>
        </p:spPr>
        <p:txBody>
          <a:bodyPr wrap="square" lIns="0" tIns="0" rIns="0" bIns="0" rtlCol="0" anchor="ctr"/>
          <a:lstStyle/>
          <a:p>
            <a:pPr indent="0" marL="0">
              <a:buNone/>
            </a:pPr>
            <a:r>
              <a:rPr lang="en-US" sz="1400" dirty="0">
                <a:solidFill>
                  <a:schemeClr val="bg1"/>
                </a:solidFill>
              </a:rPr>
              <a:t>Key ideas to know</a:t>
            </a:r>
            <a:endParaRPr lang="en-US" sz="1400" dirty="0"/>
          </a:p>
        </p:txBody>
      </p:sp>
      <p:sp>
        <p:nvSpPr>
          <p:cNvPr id="11" name="Text 9"/>
          <p:cNvSpPr/>
          <p:nvPr/>
        </p:nvSpPr>
        <p:spPr>
          <a:xfrm>
            <a:off x="685800" y="2752344"/>
            <a:ext cx="100584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Final check</a:t>
            </a:r>
            <a:endParaRPr lang="en-US" sz="1100" dirty="0"/>
          </a:p>
        </p:txBody>
      </p:sp>
      <p:sp>
        <p:nvSpPr>
          <p:cNvPr id="12" name="Text 10"/>
          <p:cNvSpPr txBox="1"/>
          <p:nvPr/>
        </p:nvSpPr>
        <p:spPr>
          <a:xfrm>
            <a:off x="1828800" y="2660904"/>
            <a:ext cx="2423160" cy="457200"/>
          </a:xfrm>
          <a:prstGeom prst="rect">
            <a:avLst/>
          </a:prstGeom>
          <a:noFill/>
          <a:ln/>
        </p:spPr>
        <p:txBody>
          <a:bodyPr wrap="square" lIns="0" tIns="0" rIns="0" bIns="0" rtlCol="0" anchor="ctr"/>
          <a:lstStyle/>
          <a:p>
            <a:pPr indent="0" marL="0">
              <a:buNone/>
            </a:pPr>
            <a:r>
              <a:rPr lang="en-US" sz="1400" dirty="0">
                <a:solidFill>
                  <a:schemeClr val="bg1"/>
                </a:solidFill>
              </a:rPr>
              <a:t>10 questions, 8 to pass</a:t>
            </a:r>
            <a:endParaRPr lang="en-US" sz="1400" dirty="0"/>
          </a:p>
        </p:txBody>
      </p:sp>
      <p:sp>
        <p:nvSpPr>
          <p:cNvPr id="13" name="To unlock the next section"/>
          <p:cNvSpPr/>
          <p:nvPr/>
        </p:nvSpPr>
        <p:spPr>
          <a:xfrm>
            <a:off x="466344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14" name="Text 12"/>
          <p:cNvSpPr txBox="1"/>
          <p:nvPr/>
        </p:nvSpPr>
        <p:spPr>
          <a:xfrm>
            <a:off x="4892040" y="1536192"/>
            <a:ext cx="3566160" cy="292608"/>
          </a:xfrm>
          <a:prstGeom prst="rect">
            <a:avLst/>
          </a:prstGeom>
          <a:noFill/>
          <a:ln/>
        </p:spPr>
        <p:txBody>
          <a:bodyPr wrap="square" lIns="0" tIns="0" rIns="0" bIns="0" rtlCol="0" anchor="t"/>
          <a:lstStyle/>
          <a:p>
            <a:pPr indent="0" marL="0">
              <a:buNone/>
            </a:pPr>
            <a:r>
              <a:rPr lang="en-US" sz="1500" b="1" dirty="0">
                <a:solidFill>
                  <a:schemeClr val="accent4"/>
                </a:solidFill>
              </a:rPr>
              <a:t>To unlock your results</a:t>
            </a:r>
            <a:endParaRPr lang="en-US" sz="1500" dirty="0"/>
          </a:p>
        </p:txBody>
      </p:sp>
      <p:sp>
        <p:nvSpPr>
          <p:cNvPr id="15" name="Text 13"/>
          <p:cNvSpPr/>
          <p:nvPr/>
        </p:nvSpPr>
        <p:spPr>
          <a:xfrm>
            <a:off x="4892040" y="2066544"/>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16" name="Text 14"/>
          <p:cNvSpPr txBox="1"/>
          <p:nvPr/>
        </p:nvSpPr>
        <p:spPr>
          <a:xfrm>
            <a:off x="5303520" y="1993392"/>
            <a:ext cx="3200400" cy="457200"/>
          </a:xfrm>
          <a:prstGeom prst="rect">
            <a:avLst/>
          </a:prstGeom>
          <a:noFill/>
          <a:ln/>
        </p:spPr>
        <p:txBody>
          <a:bodyPr wrap="square" lIns="0" tIns="0" rIns="0" bIns="0" rtlCol="0" anchor="ctr"/>
          <a:lstStyle/>
          <a:p>
            <a:pPr indent="0" marL="0">
              <a:buNone/>
            </a:pPr>
            <a:r>
              <a:rPr lang="en-US" sz="1400" dirty="0">
                <a:solidFill>
                  <a:schemeClr val="bg1"/>
                </a:solidFill>
              </a:rPr>
              <a:t>Score 8 or more out of 10 on the final check</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Section tile 9"/>
          <p:cNvSpPr/>
          <p:nvPr/>
        </p:nvSpPr>
        <p:spPr>
          <a:xfrm>
            <a:off x="457200" y="301752"/>
            <a:ext cx="749808" cy="841248"/>
          </a:xfrm>
          <a:prstGeom prst="roundRect">
            <a:avLst>
              <a:gd name="adj" fmla="val 12000"/>
            </a:avLst>
          </a:prstGeom>
          <a:solidFill>
            <a:srgbClr val="F472B6">
              <a:alpha val="28000"/>
            </a:srgbClr>
          </a:solidFill>
          <a:ln w="19050">
            <a:solidFill>
              <a:srgbClr val="F472B6"/>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9</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2400" b="1" dirty="0">
                <a:solidFill>
                  <a:schemeClr val="bg1"/>
                </a:solidFill>
              </a:rPr>
              <a:t>N</a:t>
            </a:r>
            <a:pPr algn="ctr" indent="0" marL="0">
              <a:buNone/>
            </a:pPr>
            <a:r>
              <a:rPr lang="en-US" sz="2400" b="1" baseline="30000" dirty="0">
                <a:solidFill>
                  <a:schemeClr val="bg1"/>
                </a:solidFill>
              </a:rPr>
              <a:t>3−</a:t>
            </a:r>
            <a:endParaRPr lang="en-US" sz="2400" dirty="0"/>
          </a:p>
        </p:txBody>
      </p:sp>
      <p:sp>
        <p:nvSpPr>
          <p:cNvPr id="5" name="Text 3"/>
          <p:cNvSpPr/>
          <p:nvPr/>
        </p:nvSpPr>
        <p:spPr>
          <a:xfrm>
            <a:off x="1417320" y="310896"/>
            <a:ext cx="109728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Quick review</a:t>
            </a:r>
            <a:endParaRPr lang="en-US" sz="1100" dirty="0"/>
          </a:p>
        </p:txBody>
      </p:sp>
      <p:sp>
        <p:nvSpPr>
          <p:cNvPr id="6" name="Text 4"/>
          <p:cNvSpPr txBox="1"/>
          <p:nvPr/>
        </p:nvSpPr>
        <p:spPr>
          <a:xfrm>
            <a:off x="265176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9 of 9</a:t>
            </a:r>
            <a:endParaRPr lang="en-US" sz="1200" dirty="0"/>
          </a:p>
        </p:txBody>
      </p:sp>
      <p:sp>
        <p:nvSpPr>
          <p:cNvPr id="7"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Key ideas before the final check</a:t>
            </a:r>
            <a:endParaRPr lang="en-US" sz="2800" dirty="0"/>
          </a:p>
        </p:txBody>
      </p:sp>
      <p:sp>
        <p:nvSpPr>
          <p:cNvPr id="8" name="Bullet"/>
          <p:cNvSpPr/>
          <p:nvPr/>
        </p:nvSpPr>
        <p:spPr>
          <a:xfrm>
            <a:off x="502920" y="1362456"/>
            <a:ext cx="118872" cy="118872"/>
          </a:xfrm>
          <a:prstGeom prst="ellipse">
            <a:avLst/>
          </a:prstGeom>
          <a:solidFill>
            <a:schemeClr val="accent2"/>
          </a:solidFill>
          <a:ln w="6350">
            <a:solidFill>
              <a:schemeClr val="accent2"/>
            </a:solidFill>
            <a:prstDash val="solid"/>
          </a:ln>
        </p:spPr>
      </p:sp>
      <p:sp>
        <p:nvSpPr>
          <p:cNvPr id="9" name="Text 7"/>
          <p:cNvSpPr txBox="1"/>
          <p:nvPr/>
        </p:nvSpPr>
        <p:spPr>
          <a:xfrm>
            <a:off x="749808" y="1298448"/>
            <a:ext cx="4663440" cy="438912"/>
          </a:xfrm>
          <a:prstGeom prst="rect">
            <a:avLst/>
          </a:prstGeom>
          <a:noFill/>
          <a:ln/>
        </p:spPr>
        <p:txBody>
          <a:bodyPr wrap="square" lIns="0" tIns="0" rIns="0" bIns="0" rtlCol="0" anchor="t"/>
          <a:lstStyle/>
          <a:p>
            <a:pPr indent="0" marL="0">
              <a:buNone/>
            </a:pPr>
            <a:r>
              <a:rPr lang="en-US" sz="1300" b="1" dirty="0">
                <a:solidFill>
                  <a:schemeClr val="bg1"/>
                </a:solidFill>
              </a:rPr>
              <a:t>Octet rule: </a:t>
            </a:r>
            <a:pPr indent="0" marL="0">
              <a:buNone/>
            </a:pPr>
            <a:r>
              <a:rPr lang="en-US" sz="1300" dirty="0">
                <a:solidFill>
                  <a:schemeClr val="bg1"/>
                </a:solidFill>
              </a:rPr>
              <a:t>atoms are most stable with 8 electrons in the outer shell.</a:t>
            </a:r>
            <a:endParaRPr lang="en-US" sz="1300" dirty="0"/>
          </a:p>
        </p:txBody>
      </p:sp>
      <p:sp>
        <p:nvSpPr>
          <p:cNvPr id="10" name="Bullet"/>
          <p:cNvSpPr/>
          <p:nvPr/>
        </p:nvSpPr>
        <p:spPr>
          <a:xfrm>
            <a:off x="502920" y="1837944"/>
            <a:ext cx="118872" cy="118872"/>
          </a:xfrm>
          <a:prstGeom prst="ellipse">
            <a:avLst/>
          </a:prstGeom>
          <a:solidFill>
            <a:schemeClr val="accent2"/>
          </a:solidFill>
          <a:ln w="6350">
            <a:solidFill>
              <a:schemeClr val="accent2"/>
            </a:solidFill>
            <a:prstDash val="solid"/>
          </a:ln>
        </p:spPr>
      </p:sp>
      <p:sp>
        <p:nvSpPr>
          <p:cNvPr id="11" name="Text 9"/>
          <p:cNvSpPr txBox="1"/>
          <p:nvPr/>
        </p:nvSpPr>
        <p:spPr>
          <a:xfrm>
            <a:off x="749808" y="1773936"/>
            <a:ext cx="4663440" cy="438912"/>
          </a:xfrm>
          <a:prstGeom prst="rect">
            <a:avLst/>
          </a:prstGeom>
          <a:noFill/>
          <a:ln/>
        </p:spPr>
        <p:txBody>
          <a:bodyPr wrap="square" lIns="0" tIns="0" rIns="0" bIns="0" rtlCol="0" anchor="t"/>
          <a:lstStyle/>
          <a:p>
            <a:pPr indent="0" marL="0">
              <a:buNone/>
            </a:pPr>
            <a:r>
              <a:rPr lang="en-US" sz="1300" b="1" dirty="0">
                <a:solidFill>
                  <a:schemeClr val="bg1"/>
                </a:solidFill>
              </a:rPr>
              <a:t>Charge</a:t>
            </a:r>
            <a:pPr indent="0" marL="0">
              <a:buNone/>
            </a:pPr>
            <a:r>
              <a:rPr lang="en-US" sz="1300" dirty="0">
                <a:solidFill>
                  <a:schemeClr val="bg1"/>
                </a:solidFill>
              </a:rPr>
              <a:t> = protons − electrons. The protons never change.</a:t>
            </a:r>
            <a:endParaRPr lang="en-US" sz="1300" dirty="0"/>
          </a:p>
        </p:txBody>
      </p:sp>
      <p:sp>
        <p:nvSpPr>
          <p:cNvPr id="12" name="Bullet"/>
          <p:cNvSpPr/>
          <p:nvPr/>
        </p:nvSpPr>
        <p:spPr>
          <a:xfrm>
            <a:off x="502920" y="2313432"/>
            <a:ext cx="118872" cy="118872"/>
          </a:xfrm>
          <a:prstGeom prst="ellipse">
            <a:avLst/>
          </a:prstGeom>
          <a:solidFill>
            <a:schemeClr val="accent2"/>
          </a:solidFill>
          <a:ln w="6350">
            <a:solidFill>
              <a:schemeClr val="accent2"/>
            </a:solidFill>
            <a:prstDash val="solid"/>
          </a:ln>
        </p:spPr>
      </p:sp>
      <p:sp>
        <p:nvSpPr>
          <p:cNvPr id="13" name="Text 11"/>
          <p:cNvSpPr txBox="1"/>
          <p:nvPr/>
        </p:nvSpPr>
        <p:spPr>
          <a:xfrm>
            <a:off x="749808" y="2249424"/>
            <a:ext cx="4663440" cy="438912"/>
          </a:xfrm>
          <a:prstGeom prst="rect">
            <a:avLst/>
          </a:prstGeom>
          <a:noFill/>
          <a:ln/>
        </p:spPr>
        <p:txBody>
          <a:bodyPr wrap="square" lIns="0" tIns="0" rIns="0" bIns="0" rtlCol="0" anchor="t"/>
          <a:lstStyle/>
          <a:p>
            <a:pPr indent="0" marL="0">
              <a:buNone/>
            </a:pPr>
            <a:r>
              <a:rPr lang="en-US" sz="1300" b="1" dirty="0">
                <a:solidFill>
                  <a:schemeClr val="bg1"/>
                </a:solidFill>
              </a:rPr>
              <a:t>Metals</a:t>
            </a:r>
            <a:pPr indent="0" marL="0">
              <a:buNone/>
            </a:pPr>
            <a:r>
              <a:rPr lang="en-US" sz="1300" dirty="0">
                <a:solidFill>
                  <a:schemeClr val="bg1"/>
                </a:solidFill>
              </a:rPr>
              <a:t> (1 to 3 valence electrons) lose them and become positive.</a:t>
            </a:r>
            <a:endParaRPr lang="en-US" sz="1300" dirty="0"/>
          </a:p>
        </p:txBody>
      </p:sp>
      <p:sp>
        <p:nvSpPr>
          <p:cNvPr id="14" name="Bullet"/>
          <p:cNvSpPr/>
          <p:nvPr/>
        </p:nvSpPr>
        <p:spPr>
          <a:xfrm>
            <a:off x="502920" y="2788920"/>
            <a:ext cx="118872" cy="118872"/>
          </a:xfrm>
          <a:prstGeom prst="ellipse">
            <a:avLst/>
          </a:prstGeom>
          <a:solidFill>
            <a:schemeClr val="accent2"/>
          </a:solidFill>
          <a:ln w="6350">
            <a:solidFill>
              <a:schemeClr val="accent2"/>
            </a:solidFill>
            <a:prstDash val="solid"/>
          </a:ln>
        </p:spPr>
      </p:sp>
      <p:sp>
        <p:nvSpPr>
          <p:cNvPr id="15" name="Text 13"/>
          <p:cNvSpPr txBox="1"/>
          <p:nvPr/>
        </p:nvSpPr>
        <p:spPr>
          <a:xfrm>
            <a:off x="749808" y="2724912"/>
            <a:ext cx="4663440" cy="438912"/>
          </a:xfrm>
          <a:prstGeom prst="rect">
            <a:avLst/>
          </a:prstGeom>
          <a:noFill/>
          <a:ln/>
        </p:spPr>
        <p:txBody>
          <a:bodyPr wrap="square" lIns="0" tIns="0" rIns="0" bIns="0" rtlCol="0" anchor="t"/>
          <a:lstStyle/>
          <a:p>
            <a:pPr indent="0" marL="0">
              <a:buNone/>
            </a:pPr>
            <a:r>
              <a:rPr lang="en-US" sz="1300" b="1" dirty="0">
                <a:solidFill>
                  <a:schemeClr val="bg1"/>
                </a:solidFill>
              </a:rPr>
              <a:t>Nonmetals</a:t>
            </a:r>
            <a:pPr indent="0" marL="0">
              <a:buNone/>
            </a:pPr>
            <a:r>
              <a:rPr lang="en-US" sz="1300" dirty="0">
                <a:solidFill>
                  <a:schemeClr val="bg1"/>
                </a:solidFill>
              </a:rPr>
              <a:t> (5 to 7 valence electrons) gain electrons to reach 8 and become negative.</a:t>
            </a:r>
            <a:endParaRPr lang="en-US" sz="1300" dirty="0"/>
          </a:p>
        </p:txBody>
      </p:sp>
      <p:sp>
        <p:nvSpPr>
          <p:cNvPr id="16" name="Bullet"/>
          <p:cNvSpPr/>
          <p:nvPr/>
        </p:nvSpPr>
        <p:spPr>
          <a:xfrm>
            <a:off x="502920" y="3264408"/>
            <a:ext cx="118872" cy="118872"/>
          </a:xfrm>
          <a:prstGeom prst="ellipse">
            <a:avLst/>
          </a:prstGeom>
          <a:solidFill>
            <a:schemeClr val="accent2"/>
          </a:solidFill>
          <a:ln w="6350">
            <a:solidFill>
              <a:schemeClr val="accent2"/>
            </a:solidFill>
            <a:prstDash val="solid"/>
          </a:ln>
        </p:spPr>
      </p:sp>
      <p:sp>
        <p:nvSpPr>
          <p:cNvPr id="17" name="Text 15"/>
          <p:cNvSpPr txBox="1"/>
          <p:nvPr/>
        </p:nvSpPr>
        <p:spPr>
          <a:xfrm>
            <a:off x="749808" y="3200400"/>
            <a:ext cx="4663440" cy="438912"/>
          </a:xfrm>
          <a:prstGeom prst="rect">
            <a:avLst/>
          </a:prstGeom>
          <a:noFill/>
          <a:ln/>
        </p:spPr>
        <p:txBody>
          <a:bodyPr wrap="square" lIns="0" tIns="0" rIns="0" bIns="0" rtlCol="0" anchor="t"/>
          <a:lstStyle/>
          <a:p>
            <a:pPr indent="0" marL="0">
              <a:buNone/>
            </a:pPr>
            <a:r>
              <a:rPr lang="en-US" sz="1300" dirty="0">
                <a:solidFill>
                  <a:schemeClr val="bg1"/>
                </a:solidFill>
              </a:rPr>
              <a:t>Group charges: 1+, 2+, 3+, (share), 3−, 2−, 1−, none.</a:t>
            </a:r>
            <a:endParaRPr lang="en-US" sz="1300" dirty="0"/>
          </a:p>
        </p:txBody>
      </p:sp>
      <p:sp>
        <p:nvSpPr>
          <p:cNvPr id="18" name="Bullet"/>
          <p:cNvSpPr/>
          <p:nvPr/>
        </p:nvSpPr>
        <p:spPr>
          <a:xfrm>
            <a:off x="502920" y="3739896"/>
            <a:ext cx="118872" cy="118872"/>
          </a:xfrm>
          <a:prstGeom prst="ellipse">
            <a:avLst/>
          </a:prstGeom>
          <a:solidFill>
            <a:schemeClr val="accent2"/>
          </a:solidFill>
          <a:ln w="6350">
            <a:solidFill>
              <a:schemeClr val="accent2"/>
            </a:solidFill>
            <a:prstDash val="solid"/>
          </a:ln>
        </p:spPr>
      </p:sp>
      <p:sp>
        <p:nvSpPr>
          <p:cNvPr id="19" name="Text 17"/>
          <p:cNvSpPr txBox="1"/>
          <p:nvPr/>
        </p:nvSpPr>
        <p:spPr>
          <a:xfrm>
            <a:off x="749808" y="3675888"/>
            <a:ext cx="4663440" cy="438912"/>
          </a:xfrm>
          <a:prstGeom prst="rect">
            <a:avLst/>
          </a:prstGeom>
          <a:noFill/>
          <a:ln/>
        </p:spPr>
        <p:txBody>
          <a:bodyPr wrap="square" lIns="0" tIns="0" rIns="0" bIns="0" rtlCol="0" anchor="t"/>
          <a:lstStyle/>
          <a:p>
            <a:pPr indent="0" marL="0">
              <a:buNone/>
            </a:pPr>
            <a:r>
              <a:rPr lang="en-US" sz="1300" dirty="0">
                <a:solidFill>
                  <a:schemeClr val="bg1"/>
                </a:solidFill>
              </a:rPr>
              <a:t>Write </a:t>
            </a:r>
            <a:pPr indent="0" marL="0">
              <a:buNone/>
            </a:pPr>
            <a:r>
              <a:rPr lang="en-US" sz="1300" b="1" dirty="0">
                <a:solidFill>
                  <a:schemeClr val="bg1"/>
                </a:solidFill>
              </a:rPr>
              <a:t>Mg</a:t>
            </a:r>
            <a:pPr indent="0" marL="0">
              <a:buNone/>
            </a:pPr>
            <a:r>
              <a:rPr lang="en-US" sz="1300" b="1" baseline="30000" dirty="0">
                <a:solidFill>
                  <a:schemeClr val="bg1"/>
                </a:solidFill>
              </a:rPr>
              <a:t>2+</a:t>
            </a:r>
            <a:pPr indent="0" marL="0">
              <a:buNone/>
            </a:pPr>
            <a:r>
              <a:rPr lang="en-US" sz="1300" dirty="0">
                <a:solidFill>
                  <a:schemeClr val="bg1"/>
                </a:solidFill>
              </a:rPr>
              <a:t> and </a:t>
            </a:r>
            <a:pPr indent="0" marL="0">
              <a:buNone/>
            </a:pPr>
            <a:r>
              <a:rPr lang="en-US" sz="1300" b="1" dirty="0">
                <a:solidFill>
                  <a:schemeClr val="bg1"/>
                </a:solidFill>
              </a:rPr>
              <a:t>Cl</a:t>
            </a:r>
            <a:pPr indent="0" marL="0">
              <a:buNone/>
            </a:pPr>
            <a:r>
              <a:rPr lang="en-US" sz="1300" b="1" baseline="30000" dirty="0">
                <a:solidFill>
                  <a:schemeClr val="bg1"/>
                </a:solidFill>
              </a:rPr>
              <a:t>−</a:t>
            </a:r>
            <a:pPr indent="0" marL="0">
              <a:buNone/>
            </a:pPr>
            <a:r>
              <a:rPr lang="en-US" sz="1300" dirty="0">
                <a:solidFill>
                  <a:schemeClr val="bg1"/>
                </a:solidFill>
              </a:rPr>
              <a:t>. Negative ions end in </a:t>
            </a:r>
            <a:pPr indent="0" marL="0">
              <a:buNone/>
            </a:pPr>
            <a:r>
              <a:rPr lang="en-US" sz="1300" b="1" dirty="0">
                <a:solidFill>
                  <a:schemeClr val="bg1"/>
                </a:solidFill>
              </a:rPr>
              <a:t>-ide</a:t>
            </a:r>
            <a:pPr indent="0" marL="0">
              <a:buNone/>
            </a:pPr>
            <a:r>
              <a:rPr lang="en-US" sz="1300" dirty="0">
                <a:solidFill>
                  <a:schemeClr val="bg1"/>
                </a:solidFill>
              </a:rPr>
              <a:t>.</a:t>
            </a:r>
            <a:endParaRPr lang="en-US" sz="1300" dirty="0"/>
          </a:p>
        </p:txBody>
      </p:sp>
      <p:sp>
        <p:nvSpPr>
          <p:cNvPr id="20" name="Bullet"/>
          <p:cNvSpPr/>
          <p:nvPr/>
        </p:nvSpPr>
        <p:spPr>
          <a:xfrm>
            <a:off x="502920" y="4215384"/>
            <a:ext cx="118872" cy="118872"/>
          </a:xfrm>
          <a:prstGeom prst="ellipse">
            <a:avLst/>
          </a:prstGeom>
          <a:solidFill>
            <a:schemeClr val="accent2"/>
          </a:solidFill>
          <a:ln w="6350">
            <a:solidFill>
              <a:schemeClr val="accent2"/>
            </a:solidFill>
            <a:prstDash val="solid"/>
          </a:ln>
        </p:spPr>
      </p:sp>
      <p:sp>
        <p:nvSpPr>
          <p:cNvPr id="21" name="Text 19"/>
          <p:cNvSpPr txBox="1"/>
          <p:nvPr/>
        </p:nvSpPr>
        <p:spPr>
          <a:xfrm>
            <a:off x="749808" y="4151376"/>
            <a:ext cx="4663440" cy="438912"/>
          </a:xfrm>
          <a:prstGeom prst="rect">
            <a:avLst/>
          </a:prstGeom>
          <a:noFill/>
          <a:ln/>
        </p:spPr>
        <p:txBody>
          <a:bodyPr wrap="square" lIns="0" tIns="0" rIns="0" bIns="0" rtlCol="0" anchor="t"/>
          <a:lstStyle/>
          <a:p>
            <a:pPr indent="0" marL="0">
              <a:buNone/>
            </a:pPr>
            <a:r>
              <a:rPr lang="en-US" sz="1300" dirty="0">
                <a:solidFill>
                  <a:schemeClr val="bg1"/>
                </a:solidFill>
              </a:rPr>
              <a:t>Ion models keep the nucleus, get brackets and a charge, and drop an empty outer shell.</a:t>
            </a:r>
            <a:endParaRPr lang="en-US" sz="1300" dirty="0"/>
          </a:p>
        </p:txBody>
      </p:sp>
      <p:sp>
        <p:nvSpPr>
          <p:cNvPr id="22" name="Magnesium: shell 1"/>
          <p:cNvSpPr/>
          <p:nvPr/>
        </p:nvSpPr>
        <p:spPr>
          <a:xfrm>
            <a:off x="5778318" y="2257878"/>
            <a:ext cx="513444" cy="513444"/>
          </a:xfrm>
          <a:prstGeom prst="ellipse">
            <a:avLst/>
          </a:prstGeom>
          <a:solidFill>
            <a:schemeClr val="bg1">
              <a:alpha val="0"/>
            </a:schemeClr>
          </a:solidFill>
          <a:ln w="15875">
            <a:solidFill>
              <a:schemeClr val="bg2">
                <a:alpha val="55000"/>
              </a:schemeClr>
            </a:solidFill>
            <a:prstDash val="solid"/>
          </a:ln>
        </p:spPr>
      </p:sp>
      <p:sp>
        <p:nvSpPr>
          <p:cNvPr id="23" name="Magnesium: shell 2"/>
          <p:cNvSpPr/>
          <p:nvPr/>
        </p:nvSpPr>
        <p:spPr>
          <a:xfrm>
            <a:off x="5617867" y="2097427"/>
            <a:ext cx="834347" cy="834347"/>
          </a:xfrm>
          <a:prstGeom prst="ellipse">
            <a:avLst/>
          </a:prstGeom>
          <a:solidFill>
            <a:schemeClr val="bg1">
              <a:alpha val="0"/>
            </a:schemeClr>
          </a:solidFill>
          <a:ln w="15875">
            <a:solidFill>
              <a:schemeClr val="bg2">
                <a:alpha val="55000"/>
              </a:schemeClr>
            </a:solidFill>
            <a:prstDash val="solid"/>
          </a:ln>
        </p:spPr>
      </p:sp>
      <p:sp>
        <p:nvSpPr>
          <p:cNvPr id="24" name="Magnesium: shell 3"/>
          <p:cNvSpPr/>
          <p:nvPr/>
        </p:nvSpPr>
        <p:spPr>
          <a:xfrm>
            <a:off x="5468112" y="1947672"/>
            <a:ext cx="1133856" cy="1133856"/>
          </a:xfrm>
          <a:prstGeom prst="ellipse">
            <a:avLst/>
          </a:prstGeom>
          <a:solidFill>
            <a:schemeClr val="bg1">
              <a:alpha val="0"/>
            </a:schemeClr>
          </a:solidFill>
          <a:ln w="15875">
            <a:solidFill>
              <a:schemeClr val="accent2">
                <a:alpha val="80000"/>
              </a:schemeClr>
            </a:solidFill>
            <a:prstDash val="solid"/>
          </a:ln>
        </p:spPr>
      </p:sp>
      <p:sp>
        <p:nvSpPr>
          <p:cNvPr id="25" name="Magnesium: nucleus"/>
          <p:cNvSpPr/>
          <p:nvPr/>
        </p:nvSpPr>
        <p:spPr>
          <a:xfrm>
            <a:off x="5869240" y="2348800"/>
            <a:ext cx="331599" cy="331599"/>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800" b="1" dirty="0">
                <a:solidFill>
                  <a:schemeClr val="bg1"/>
                </a:solidFill>
              </a:rPr>
              <a:t>12 p</a:t>
            </a:r>
            <a:pPr algn="ctr" indent="0" marL="0">
              <a:buNone/>
            </a:pPr>
            <a:r>
              <a:rPr lang="en-US" sz="800" b="1" baseline="30000" dirty="0">
                <a:solidFill>
                  <a:schemeClr val="bg1"/>
                </a:solidFill>
              </a:rPr>
              <a:t>+</a:t>
            </a:r>
            <a:endParaRPr lang="en-US" sz="800" dirty="0"/>
          </a:p>
          <a:p>
            <a:pPr algn="ctr" indent="0" marL="0">
              <a:buNone/>
            </a:pPr>
            <a:r>
              <a:rPr lang="en-US" sz="800" b="1" dirty="0">
                <a:solidFill>
                  <a:schemeClr val="bg1"/>
                </a:solidFill>
              </a:rPr>
              <a:t>12 n</a:t>
            </a:r>
            <a:pPr algn="ctr" indent="0" marL="0">
              <a:buNone/>
            </a:pPr>
            <a:r>
              <a:rPr lang="en-US" sz="800" b="1" baseline="30000" dirty="0">
                <a:solidFill>
                  <a:schemeClr val="bg1"/>
                </a:solidFill>
              </a:rPr>
              <a:t>0</a:t>
            </a:r>
            <a:endParaRPr lang="en-US" sz="800" dirty="0"/>
          </a:p>
        </p:txBody>
      </p:sp>
      <p:sp>
        <p:nvSpPr>
          <p:cNvPr id="26" name="Magnesium: electron, shell 1"/>
          <p:cNvSpPr/>
          <p:nvPr/>
        </p:nvSpPr>
        <p:spPr>
          <a:xfrm>
            <a:off x="5994927" y="2217765"/>
            <a:ext cx="80226" cy="80226"/>
          </a:xfrm>
          <a:prstGeom prst="ellipse">
            <a:avLst/>
          </a:prstGeom>
          <a:solidFill>
            <a:schemeClr val="accent1"/>
          </a:solidFill>
          <a:ln w="3175">
            <a:solidFill>
              <a:schemeClr val="accent1"/>
            </a:solidFill>
            <a:prstDash val="solid"/>
          </a:ln>
        </p:spPr>
      </p:sp>
      <p:sp>
        <p:nvSpPr>
          <p:cNvPr id="27" name="Magnesium: electron, shell 1"/>
          <p:cNvSpPr/>
          <p:nvPr/>
        </p:nvSpPr>
        <p:spPr>
          <a:xfrm>
            <a:off x="6251649" y="2474487"/>
            <a:ext cx="80226" cy="80226"/>
          </a:xfrm>
          <a:prstGeom prst="ellipse">
            <a:avLst/>
          </a:prstGeom>
          <a:solidFill>
            <a:schemeClr val="accent1"/>
          </a:solidFill>
          <a:ln w="3175">
            <a:solidFill>
              <a:schemeClr val="accent1"/>
            </a:solidFill>
            <a:prstDash val="solid"/>
          </a:ln>
        </p:spPr>
      </p:sp>
      <p:sp>
        <p:nvSpPr>
          <p:cNvPr id="28" name="Magnesium: electron, shell 2"/>
          <p:cNvSpPr/>
          <p:nvPr/>
        </p:nvSpPr>
        <p:spPr>
          <a:xfrm>
            <a:off x="5941059" y="2060806"/>
            <a:ext cx="80226" cy="80226"/>
          </a:xfrm>
          <a:prstGeom prst="ellipse">
            <a:avLst/>
          </a:prstGeom>
          <a:solidFill>
            <a:schemeClr val="accent1"/>
          </a:solidFill>
          <a:ln w="3175">
            <a:solidFill>
              <a:schemeClr val="accent1"/>
            </a:solidFill>
            <a:prstDash val="solid"/>
          </a:ln>
        </p:spPr>
      </p:sp>
      <p:sp>
        <p:nvSpPr>
          <p:cNvPr id="29" name="Magnesium: electron, shell 2"/>
          <p:cNvSpPr/>
          <p:nvPr/>
        </p:nvSpPr>
        <p:spPr>
          <a:xfrm>
            <a:off x="6048795" y="2060806"/>
            <a:ext cx="80226" cy="80226"/>
          </a:xfrm>
          <a:prstGeom prst="ellipse">
            <a:avLst/>
          </a:prstGeom>
          <a:solidFill>
            <a:schemeClr val="accent1"/>
          </a:solidFill>
          <a:ln w="3175">
            <a:solidFill>
              <a:schemeClr val="accent1"/>
            </a:solidFill>
            <a:prstDash val="solid"/>
          </a:ln>
        </p:spPr>
      </p:sp>
      <p:sp>
        <p:nvSpPr>
          <p:cNvPr id="30" name="Magnesium: electron, shell 2"/>
          <p:cNvSpPr/>
          <p:nvPr/>
        </p:nvSpPr>
        <p:spPr>
          <a:xfrm>
            <a:off x="6408608" y="2420619"/>
            <a:ext cx="80226" cy="80226"/>
          </a:xfrm>
          <a:prstGeom prst="ellipse">
            <a:avLst/>
          </a:prstGeom>
          <a:solidFill>
            <a:schemeClr val="accent1"/>
          </a:solidFill>
          <a:ln w="3175">
            <a:solidFill>
              <a:schemeClr val="accent1"/>
            </a:solidFill>
            <a:prstDash val="solid"/>
          </a:ln>
        </p:spPr>
      </p:sp>
      <p:sp>
        <p:nvSpPr>
          <p:cNvPr id="31" name="Magnesium: electron, shell 2"/>
          <p:cNvSpPr/>
          <p:nvPr/>
        </p:nvSpPr>
        <p:spPr>
          <a:xfrm>
            <a:off x="6408608" y="2528355"/>
            <a:ext cx="80226" cy="80226"/>
          </a:xfrm>
          <a:prstGeom prst="ellipse">
            <a:avLst/>
          </a:prstGeom>
          <a:solidFill>
            <a:schemeClr val="accent1"/>
          </a:solidFill>
          <a:ln w="3175">
            <a:solidFill>
              <a:schemeClr val="accent1"/>
            </a:solidFill>
            <a:prstDash val="solid"/>
          </a:ln>
        </p:spPr>
      </p:sp>
      <p:sp>
        <p:nvSpPr>
          <p:cNvPr id="32" name="Magnesium: electron, shell 2"/>
          <p:cNvSpPr/>
          <p:nvPr/>
        </p:nvSpPr>
        <p:spPr>
          <a:xfrm>
            <a:off x="6048795" y="2888168"/>
            <a:ext cx="80226" cy="80226"/>
          </a:xfrm>
          <a:prstGeom prst="ellipse">
            <a:avLst/>
          </a:prstGeom>
          <a:solidFill>
            <a:schemeClr val="accent1"/>
          </a:solidFill>
          <a:ln w="3175">
            <a:solidFill>
              <a:schemeClr val="accent1"/>
            </a:solidFill>
            <a:prstDash val="solid"/>
          </a:ln>
        </p:spPr>
      </p:sp>
      <p:sp>
        <p:nvSpPr>
          <p:cNvPr id="33" name="Magnesium: electron, shell 2"/>
          <p:cNvSpPr/>
          <p:nvPr/>
        </p:nvSpPr>
        <p:spPr>
          <a:xfrm>
            <a:off x="5941059" y="2888168"/>
            <a:ext cx="80226" cy="80226"/>
          </a:xfrm>
          <a:prstGeom prst="ellipse">
            <a:avLst/>
          </a:prstGeom>
          <a:solidFill>
            <a:schemeClr val="accent1"/>
          </a:solidFill>
          <a:ln w="3175">
            <a:solidFill>
              <a:schemeClr val="accent1"/>
            </a:solidFill>
            <a:prstDash val="solid"/>
          </a:ln>
        </p:spPr>
      </p:sp>
      <p:sp>
        <p:nvSpPr>
          <p:cNvPr id="34" name="Magnesium: electron, shell 2"/>
          <p:cNvSpPr/>
          <p:nvPr/>
        </p:nvSpPr>
        <p:spPr>
          <a:xfrm>
            <a:off x="5581246" y="2528355"/>
            <a:ext cx="80226" cy="80226"/>
          </a:xfrm>
          <a:prstGeom prst="ellipse">
            <a:avLst/>
          </a:prstGeom>
          <a:solidFill>
            <a:schemeClr val="accent1"/>
          </a:solidFill>
          <a:ln w="3175">
            <a:solidFill>
              <a:schemeClr val="accent1"/>
            </a:solidFill>
            <a:prstDash val="solid"/>
          </a:ln>
        </p:spPr>
      </p:sp>
      <p:sp>
        <p:nvSpPr>
          <p:cNvPr id="35" name="Magnesium: electron, shell 2"/>
          <p:cNvSpPr/>
          <p:nvPr/>
        </p:nvSpPr>
        <p:spPr>
          <a:xfrm>
            <a:off x="5581246" y="2420619"/>
            <a:ext cx="80226" cy="80226"/>
          </a:xfrm>
          <a:prstGeom prst="ellipse">
            <a:avLst/>
          </a:prstGeom>
          <a:solidFill>
            <a:schemeClr val="accent1"/>
          </a:solidFill>
          <a:ln w="3175">
            <a:solidFill>
              <a:schemeClr val="accent1"/>
            </a:solidFill>
            <a:prstDash val="solid"/>
          </a:ln>
        </p:spPr>
      </p:sp>
      <p:sp>
        <p:nvSpPr>
          <p:cNvPr id="36" name="Magnesium: electron, shell 3"/>
          <p:cNvSpPr/>
          <p:nvPr/>
        </p:nvSpPr>
        <p:spPr>
          <a:xfrm>
            <a:off x="5994927" y="1907559"/>
            <a:ext cx="80226" cy="80226"/>
          </a:xfrm>
          <a:prstGeom prst="ellipse">
            <a:avLst/>
          </a:prstGeom>
          <a:solidFill>
            <a:schemeClr val="accent2"/>
          </a:solidFill>
          <a:ln w="3175">
            <a:solidFill>
              <a:schemeClr val="accent2"/>
            </a:solidFill>
            <a:prstDash val="solid"/>
          </a:ln>
        </p:spPr>
      </p:sp>
      <p:sp>
        <p:nvSpPr>
          <p:cNvPr id="37" name="Magnesium: electron, shell 3"/>
          <p:cNvSpPr/>
          <p:nvPr/>
        </p:nvSpPr>
        <p:spPr>
          <a:xfrm>
            <a:off x="6561855" y="2474487"/>
            <a:ext cx="80226" cy="80226"/>
          </a:xfrm>
          <a:prstGeom prst="ellipse">
            <a:avLst/>
          </a:prstGeom>
          <a:solidFill>
            <a:schemeClr val="accent2"/>
          </a:solidFill>
          <a:ln w="3175">
            <a:solidFill>
              <a:schemeClr val="accent2"/>
            </a:solidFill>
            <a:prstDash val="solid"/>
          </a:ln>
        </p:spPr>
      </p:sp>
      <p:sp>
        <p:nvSpPr>
          <p:cNvPr id="38" name="Arrow"/>
          <p:cNvSpPr/>
          <p:nvPr/>
        </p:nvSpPr>
        <p:spPr>
          <a:xfrm>
            <a:off x="6729984" y="2359152"/>
            <a:ext cx="384048" cy="310896"/>
          </a:xfrm>
          <a:prstGeom prst="rightArrow">
            <a:avLst/>
          </a:prstGeom>
          <a:solidFill>
            <a:schemeClr val="accent2"/>
          </a:solidFill>
          <a:ln w="6350">
            <a:solidFill>
              <a:schemeClr val="accent2"/>
            </a:solidFill>
            <a:prstDash val="solid"/>
          </a:ln>
        </p:spPr>
      </p:sp>
      <p:sp>
        <p:nvSpPr>
          <p:cNvPr id="39" name="magnesium ion: shell 1"/>
          <p:cNvSpPr/>
          <p:nvPr/>
        </p:nvSpPr>
        <p:spPr>
          <a:xfrm>
            <a:off x="7719646" y="2233246"/>
            <a:ext cx="562708" cy="562708"/>
          </a:xfrm>
          <a:prstGeom prst="ellipse">
            <a:avLst/>
          </a:prstGeom>
          <a:solidFill>
            <a:schemeClr val="bg1">
              <a:alpha val="0"/>
            </a:schemeClr>
          </a:solidFill>
          <a:ln w="15875">
            <a:solidFill>
              <a:schemeClr val="bg2">
                <a:alpha val="55000"/>
              </a:schemeClr>
            </a:solidFill>
            <a:prstDash val="solid"/>
          </a:ln>
        </p:spPr>
      </p:sp>
      <p:sp>
        <p:nvSpPr>
          <p:cNvPr id="40" name="magnesium ion: shell 2"/>
          <p:cNvSpPr/>
          <p:nvPr/>
        </p:nvSpPr>
        <p:spPr>
          <a:xfrm>
            <a:off x="7543800" y="2057400"/>
            <a:ext cx="914400" cy="914400"/>
          </a:xfrm>
          <a:prstGeom prst="ellipse">
            <a:avLst/>
          </a:prstGeom>
          <a:solidFill>
            <a:schemeClr val="bg1">
              <a:alpha val="0"/>
            </a:schemeClr>
          </a:solidFill>
          <a:ln w="15875">
            <a:solidFill>
              <a:schemeClr val="bg2">
                <a:alpha val="55000"/>
              </a:schemeClr>
            </a:solidFill>
            <a:prstDash val="solid"/>
          </a:ln>
        </p:spPr>
      </p:sp>
      <p:sp>
        <p:nvSpPr>
          <p:cNvPr id="41" name="magnesium ion: nucleus"/>
          <p:cNvSpPr/>
          <p:nvPr/>
        </p:nvSpPr>
        <p:spPr>
          <a:xfrm>
            <a:off x="7819292" y="2332892"/>
            <a:ext cx="363415" cy="363415"/>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800" b="1" dirty="0">
                <a:solidFill>
                  <a:schemeClr val="bg1"/>
                </a:solidFill>
              </a:rPr>
              <a:t>12 p</a:t>
            </a:r>
            <a:pPr algn="ctr" indent="0" marL="0">
              <a:buNone/>
            </a:pPr>
            <a:r>
              <a:rPr lang="en-US" sz="800" b="1" baseline="30000" dirty="0">
                <a:solidFill>
                  <a:schemeClr val="bg1"/>
                </a:solidFill>
              </a:rPr>
              <a:t>+</a:t>
            </a:r>
            <a:endParaRPr lang="en-US" sz="800" dirty="0"/>
          </a:p>
          <a:p>
            <a:pPr algn="ctr" indent="0" marL="0">
              <a:buNone/>
            </a:pPr>
            <a:r>
              <a:rPr lang="en-US" sz="800" b="1" dirty="0">
                <a:solidFill>
                  <a:schemeClr val="bg1"/>
                </a:solidFill>
              </a:rPr>
              <a:t>12 n</a:t>
            </a:r>
            <a:pPr algn="ctr" indent="0" marL="0">
              <a:buNone/>
            </a:pPr>
            <a:r>
              <a:rPr lang="en-US" sz="800" b="1" baseline="30000" dirty="0">
                <a:solidFill>
                  <a:schemeClr val="bg1"/>
                </a:solidFill>
              </a:rPr>
              <a:t>0</a:t>
            </a:r>
            <a:endParaRPr lang="en-US" sz="800" dirty="0"/>
          </a:p>
        </p:txBody>
      </p:sp>
      <p:sp>
        <p:nvSpPr>
          <p:cNvPr id="42" name="magnesium ion: electron, shell 1"/>
          <p:cNvSpPr/>
          <p:nvPr/>
        </p:nvSpPr>
        <p:spPr>
          <a:xfrm>
            <a:off x="7957038" y="2189285"/>
            <a:ext cx="87923" cy="87923"/>
          </a:xfrm>
          <a:prstGeom prst="ellipse">
            <a:avLst/>
          </a:prstGeom>
          <a:solidFill>
            <a:schemeClr val="accent1"/>
          </a:solidFill>
          <a:ln w="3175">
            <a:solidFill>
              <a:schemeClr val="accent1"/>
            </a:solidFill>
            <a:prstDash val="solid"/>
          </a:ln>
        </p:spPr>
      </p:sp>
      <p:sp>
        <p:nvSpPr>
          <p:cNvPr id="43" name="magnesium ion: electron, shell 1"/>
          <p:cNvSpPr/>
          <p:nvPr/>
        </p:nvSpPr>
        <p:spPr>
          <a:xfrm>
            <a:off x="8238392" y="2470638"/>
            <a:ext cx="87923" cy="87923"/>
          </a:xfrm>
          <a:prstGeom prst="ellipse">
            <a:avLst/>
          </a:prstGeom>
          <a:solidFill>
            <a:schemeClr val="accent1"/>
          </a:solidFill>
          <a:ln w="3175">
            <a:solidFill>
              <a:schemeClr val="accent1"/>
            </a:solidFill>
            <a:prstDash val="solid"/>
          </a:ln>
        </p:spPr>
      </p:sp>
      <p:sp>
        <p:nvSpPr>
          <p:cNvPr id="44" name="magnesium ion: electron, shell 2"/>
          <p:cNvSpPr/>
          <p:nvPr/>
        </p:nvSpPr>
        <p:spPr>
          <a:xfrm>
            <a:off x="7898002" y="2017266"/>
            <a:ext cx="87923" cy="87923"/>
          </a:xfrm>
          <a:prstGeom prst="ellipse">
            <a:avLst/>
          </a:prstGeom>
          <a:solidFill>
            <a:schemeClr val="accent1"/>
          </a:solidFill>
          <a:ln w="3175">
            <a:solidFill>
              <a:schemeClr val="accent1"/>
            </a:solidFill>
            <a:prstDash val="solid"/>
          </a:ln>
        </p:spPr>
      </p:sp>
      <p:sp>
        <p:nvSpPr>
          <p:cNvPr id="45" name="magnesium ion: electron, shell 2"/>
          <p:cNvSpPr/>
          <p:nvPr/>
        </p:nvSpPr>
        <p:spPr>
          <a:xfrm>
            <a:off x="8016075" y="2017266"/>
            <a:ext cx="87923" cy="87923"/>
          </a:xfrm>
          <a:prstGeom prst="ellipse">
            <a:avLst/>
          </a:prstGeom>
          <a:solidFill>
            <a:schemeClr val="accent1"/>
          </a:solidFill>
          <a:ln w="3175">
            <a:solidFill>
              <a:schemeClr val="accent1"/>
            </a:solidFill>
            <a:prstDash val="solid"/>
          </a:ln>
        </p:spPr>
      </p:sp>
      <p:sp>
        <p:nvSpPr>
          <p:cNvPr id="46" name="magnesium ion: electron, shell 2"/>
          <p:cNvSpPr/>
          <p:nvPr/>
        </p:nvSpPr>
        <p:spPr>
          <a:xfrm>
            <a:off x="8410411" y="2411602"/>
            <a:ext cx="87923" cy="87923"/>
          </a:xfrm>
          <a:prstGeom prst="ellipse">
            <a:avLst/>
          </a:prstGeom>
          <a:solidFill>
            <a:schemeClr val="accent1"/>
          </a:solidFill>
          <a:ln w="3175">
            <a:solidFill>
              <a:schemeClr val="accent1"/>
            </a:solidFill>
            <a:prstDash val="solid"/>
          </a:ln>
        </p:spPr>
      </p:sp>
      <p:sp>
        <p:nvSpPr>
          <p:cNvPr id="47" name="magnesium ion: electron, shell 2"/>
          <p:cNvSpPr/>
          <p:nvPr/>
        </p:nvSpPr>
        <p:spPr>
          <a:xfrm>
            <a:off x="8410411" y="2529675"/>
            <a:ext cx="87923" cy="87923"/>
          </a:xfrm>
          <a:prstGeom prst="ellipse">
            <a:avLst/>
          </a:prstGeom>
          <a:solidFill>
            <a:schemeClr val="accent1"/>
          </a:solidFill>
          <a:ln w="3175">
            <a:solidFill>
              <a:schemeClr val="accent1"/>
            </a:solidFill>
            <a:prstDash val="solid"/>
          </a:ln>
        </p:spPr>
      </p:sp>
      <p:sp>
        <p:nvSpPr>
          <p:cNvPr id="48" name="magnesium ion: electron, shell 2"/>
          <p:cNvSpPr/>
          <p:nvPr/>
        </p:nvSpPr>
        <p:spPr>
          <a:xfrm>
            <a:off x="8016075" y="2924011"/>
            <a:ext cx="87923" cy="87923"/>
          </a:xfrm>
          <a:prstGeom prst="ellipse">
            <a:avLst/>
          </a:prstGeom>
          <a:solidFill>
            <a:schemeClr val="accent1"/>
          </a:solidFill>
          <a:ln w="3175">
            <a:solidFill>
              <a:schemeClr val="accent1"/>
            </a:solidFill>
            <a:prstDash val="solid"/>
          </a:ln>
        </p:spPr>
      </p:sp>
      <p:sp>
        <p:nvSpPr>
          <p:cNvPr id="49" name="magnesium ion: electron, shell 2"/>
          <p:cNvSpPr/>
          <p:nvPr/>
        </p:nvSpPr>
        <p:spPr>
          <a:xfrm>
            <a:off x="7898002" y="2924011"/>
            <a:ext cx="87923" cy="87923"/>
          </a:xfrm>
          <a:prstGeom prst="ellipse">
            <a:avLst/>
          </a:prstGeom>
          <a:solidFill>
            <a:schemeClr val="accent1"/>
          </a:solidFill>
          <a:ln w="3175">
            <a:solidFill>
              <a:schemeClr val="accent1"/>
            </a:solidFill>
            <a:prstDash val="solid"/>
          </a:ln>
        </p:spPr>
      </p:sp>
      <p:sp>
        <p:nvSpPr>
          <p:cNvPr id="50" name="magnesium ion: electron, shell 2"/>
          <p:cNvSpPr/>
          <p:nvPr/>
        </p:nvSpPr>
        <p:spPr>
          <a:xfrm>
            <a:off x="7503666" y="2529675"/>
            <a:ext cx="87923" cy="87923"/>
          </a:xfrm>
          <a:prstGeom prst="ellipse">
            <a:avLst/>
          </a:prstGeom>
          <a:solidFill>
            <a:schemeClr val="accent1"/>
          </a:solidFill>
          <a:ln w="3175">
            <a:solidFill>
              <a:schemeClr val="accent1"/>
            </a:solidFill>
            <a:prstDash val="solid"/>
          </a:ln>
        </p:spPr>
      </p:sp>
      <p:sp>
        <p:nvSpPr>
          <p:cNvPr id="51" name="magnesium ion: electron, shell 2"/>
          <p:cNvSpPr/>
          <p:nvPr/>
        </p:nvSpPr>
        <p:spPr>
          <a:xfrm>
            <a:off x="7503666" y="2411602"/>
            <a:ext cx="87923" cy="87923"/>
          </a:xfrm>
          <a:prstGeom prst="ellipse">
            <a:avLst/>
          </a:prstGeom>
          <a:solidFill>
            <a:schemeClr val="accent1"/>
          </a:solidFill>
          <a:ln w="3175">
            <a:solidFill>
              <a:schemeClr val="accent1"/>
            </a:solidFill>
            <a:prstDash val="solid"/>
          </a:ln>
        </p:spPr>
      </p:sp>
      <p:sp>
        <p:nvSpPr>
          <p:cNvPr id="52" name="magnesium ion: left bracket"/>
          <p:cNvSpPr/>
          <p:nvPr/>
        </p:nvSpPr>
        <p:spPr>
          <a:xfrm>
            <a:off x="7450015" y="1963615"/>
            <a:ext cx="82062" cy="1101969"/>
          </a:xfrm>
          <a:prstGeom prst="leftBracket">
            <a:avLst/>
          </a:prstGeom>
          <a:noFill/>
          <a:ln w="28575">
            <a:solidFill>
              <a:schemeClr val="bg1"/>
            </a:solidFill>
            <a:prstDash val="solid"/>
          </a:ln>
        </p:spPr>
      </p:sp>
      <p:sp>
        <p:nvSpPr>
          <p:cNvPr id="53" name="magnesium ion: right bracket"/>
          <p:cNvSpPr/>
          <p:nvPr/>
        </p:nvSpPr>
        <p:spPr>
          <a:xfrm>
            <a:off x="8469923" y="1963615"/>
            <a:ext cx="82062" cy="1101969"/>
          </a:xfrm>
          <a:prstGeom prst="rightBracket">
            <a:avLst/>
          </a:prstGeom>
          <a:noFill/>
          <a:ln w="28575">
            <a:solidFill>
              <a:schemeClr val="bg1"/>
            </a:solidFill>
            <a:prstDash val="solid"/>
          </a:ln>
        </p:spPr>
      </p:sp>
      <p:sp>
        <p:nvSpPr>
          <p:cNvPr id="54" name="magnesium ion: charge"/>
          <p:cNvSpPr txBox="1"/>
          <p:nvPr/>
        </p:nvSpPr>
        <p:spPr>
          <a:xfrm>
            <a:off x="8570273" y="1865825"/>
            <a:ext cx="284480" cy="213360"/>
          </a:xfrm>
          <a:prstGeom prst="rect">
            <a:avLst/>
          </a:prstGeom>
          <a:noFill/>
          <a:ln/>
        </p:spPr>
        <p:txBody>
          <a:bodyPr wrap="square" lIns="0" tIns="0" rIns="0" bIns="0" rtlCol="0" anchor="t"/>
          <a:lstStyle/>
          <a:p>
            <a:pPr indent="0" marL="0">
              <a:buNone/>
            </a:pPr>
            <a:r>
              <a:rPr lang="en-US" sz="1400" b="1" dirty="0">
                <a:solidFill>
                  <a:schemeClr val="bg1"/>
                </a:solidFill>
              </a:rPr>
              <a:t>2+</a:t>
            </a:r>
            <a:endParaRPr lang="en-US" sz="1400" dirty="0"/>
          </a:p>
        </p:txBody>
      </p:sp>
      <p:sp>
        <p:nvSpPr>
          <p:cNvPr id="55" name="Text 53"/>
          <p:cNvSpPr txBox="1"/>
          <p:nvPr/>
        </p:nvSpPr>
        <p:spPr>
          <a:xfrm>
            <a:off x="5394960" y="3474720"/>
            <a:ext cx="3291840" cy="274320"/>
          </a:xfrm>
          <a:prstGeom prst="rect">
            <a:avLst/>
          </a:prstGeom>
          <a:noFill/>
          <a:ln/>
        </p:spPr>
        <p:txBody>
          <a:bodyPr wrap="square" lIns="0" tIns="0" rIns="0" bIns="0" rtlCol="0" anchor="ctr"/>
          <a:lstStyle/>
          <a:p>
            <a:pPr algn="ctr" indent="0" marL="0">
              <a:buNone/>
            </a:pPr>
            <a:r>
              <a:rPr lang="en-US" sz="1200" dirty="0">
                <a:solidFill>
                  <a:schemeClr val="bg2"/>
                </a:solidFill>
              </a:rPr>
              <a:t>Magnesium 2, 8, 2  →  </a:t>
            </a:r>
            <a:pPr algn="ctr" indent="0" marL="0">
              <a:buNone/>
            </a:pPr>
            <a:r>
              <a:rPr lang="en-US" sz="1200" b="1" dirty="0">
                <a:solidFill>
                  <a:schemeClr val="bg2"/>
                </a:solidFill>
              </a:rPr>
              <a:t>Mg</a:t>
            </a:r>
            <a:pPr algn="ctr" indent="0" marL="0">
              <a:buNone/>
            </a:pPr>
            <a:r>
              <a:rPr lang="en-US" sz="1200" b="1" baseline="30000" dirty="0">
                <a:solidFill>
                  <a:schemeClr val="bg2"/>
                </a:solidFill>
              </a:rPr>
              <a:t>2+</a:t>
            </a:r>
            <a:pPr algn="ctr" indent="0" marL="0">
              <a:buNone/>
            </a:pPr>
            <a:r>
              <a:rPr lang="en-US" sz="1200" dirty="0">
                <a:solidFill>
                  <a:schemeClr val="bg2"/>
                </a:solidFill>
              </a:rPr>
              <a:t>  2, 8</a:t>
            </a:r>
            <a:endParaRPr lang="en-US" sz="12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Section tile 9"/>
          <p:cNvSpPr/>
          <p:nvPr/>
        </p:nvSpPr>
        <p:spPr>
          <a:xfrm>
            <a:off x="457200" y="301752"/>
            <a:ext cx="749808" cy="841248"/>
          </a:xfrm>
          <a:prstGeom prst="roundRect">
            <a:avLst>
              <a:gd name="adj" fmla="val 12000"/>
            </a:avLst>
          </a:prstGeom>
          <a:solidFill>
            <a:srgbClr val="F472B6">
              <a:alpha val="28000"/>
            </a:srgbClr>
          </a:solidFill>
          <a:ln w="19050">
            <a:solidFill>
              <a:srgbClr val="F472B6"/>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9</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2400" b="1" dirty="0">
                <a:solidFill>
                  <a:schemeClr val="bg1"/>
                </a:solidFill>
              </a:rPr>
              <a:t>N</a:t>
            </a:r>
            <a:pPr algn="ctr" indent="0" marL="0">
              <a:buNone/>
            </a:pPr>
            <a:r>
              <a:rPr lang="en-US" sz="2400" b="1" baseline="30000" dirty="0">
                <a:solidFill>
                  <a:schemeClr val="bg1"/>
                </a:solidFill>
              </a:rPr>
              <a:t>3−</a:t>
            </a:r>
            <a:endParaRPr lang="en-US" sz="2400" dirty="0"/>
          </a:p>
        </p:txBody>
      </p:sp>
      <p:sp>
        <p:nvSpPr>
          <p:cNvPr id="5" name="Text 3"/>
          <p:cNvSpPr/>
          <p:nvPr/>
        </p:nvSpPr>
        <p:spPr>
          <a:xfrm>
            <a:off x="1417320" y="310896"/>
            <a:ext cx="100584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Final check</a:t>
            </a:r>
            <a:endParaRPr lang="en-US" sz="1100" dirty="0"/>
          </a:p>
        </p:txBody>
      </p:sp>
      <p:sp>
        <p:nvSpPr>
          <p:cNvPr id="6" name="Text 4"/>
          <p:cNvSpPr txBox="1"/>
          <p:nvPr/>
        </p:nvSpPr>
        <p:spPr>
          <a:xfrm>
            <a:off x="256032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9 of 9</a:t>
            </a:r>
            <a:endParaRPr lang="en-US" sz="1200" dirty="0"/>
          </a:p>
        </p:txBody>
      </p:sp>
      <p:sp>
        <p:nvSpPr>
          <p:cNvPr id="7"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Final check</a:t>
            </a:r>
            <a:endParaRPr lang="en-US" sz="2800" dirty="0"/>
          </a:p>
        </p:txBody>
      </p:sp>
      <p:sp>
        <p:nvSpPr>
          <p:cNvPr id="8" name="Pass score card"/>
          <p:cNvSpPr/>
          <p:nvPr/>
        </p:nvSpPr>
        <p:spPr>
          <a:xfrm>
            <a:off x="457200" y="1325880"/>
            <a:ext cx="3108960" cy="2788920"/>
          </a:xfrm>
          <a:prstGeom prst="roundRect">
            <a:avLst>
              <a:gd name="adj" fmla="val 3279"/>
            </a:avLst>
          </a:prstGeom>
          <a:solidFill>
            <a:schemeClr val="tx2"/>
          </a:solidFill>
          <a:ln w="9525">
            <a:solidFill>
              <a:schemeClr val="bg2">
                <a:alpha val="30000"/>
              </a:schemeClr>
            </a:solidFill>
            <a:prstDash val="solid"/>
          </a:ln>
        </p:spPr>
      </p:sp>
      <p:sp>
        <p:nvSpPr>
          <p:cNvPr id="9" name="Text 7"/>
          <p:cNvSpPr txBox="1"/>
          <p:nvPr/>
        </p:nvSpPr>
        <p:spPr>
          <a:xfrm>
            <a:off x="457200" y="1691640"/>
            <a:ext cx="3108960" cy="1188720"/>
          </a:xfrm>
          <a:prstGeom prst="rect">
            <a:avLst/>
          </a:prstGeom>
          <a:noFill/>
          <a:ln/>
        </p:spPr>
        <p:txBody>
          <a:bodyPr wrap="square" lIns="0" tIns="0" rIns="0" bIns="0" rtlCol="0" anchor="ctr"/>
          <a:lstStyle/>
          <a:p>
            <a:pPr algn="ctr" indent="0" marL="0">
              <a:buNone/>
            </a:pPr>
            <a:r>
              <a:rPr lang="en-US" sz="6600" b="1" dirty="0">
                <a:solidFill>
                  <a:schemeClr val="accent2"/>
                </a:solidFill>
              </a:rPr>
              <a:t>8/10</a:t>
            </a:r>
            <a:endParaRPr lang="en-US" sz="6600" dirty="0"/>
          </a:p>
        </p:txBody>
      </p:sp>
      <p:sp>
        <p:nvSpPr>
          <p:cNvPr id="10" name="Text 8"/>
          <p:cNvSpPr txBox="1"/>
          <p:nvPr/>
        </p:nvSpPr>
        <p:spPr>
          <a:xfrm>
            <a:off x="457200" y="2880360"/>
            <a:ext cx="3108960" cy="365760"/>
          </a:xfrm>
          <a:prstGeom prst="rect">
            <a:avLst/>
          </a:prstGeom>
          <a:noFill/>
          <a:ln/>
        </p:spPr>
        <p:txBody>
          <a:bodyPr wrap="square" lIns="0" tIns="0" rIns="0" bIns="0" rtlCol="0" anchor="t"/>
          <a:lstStyle/>
          <a:p>
            <a:pPr algn="ctr" indent="0" marL="0">
              <a:buNone/>
            </a:pPr>
            <a:r>
              <a:rPr lang="en-US" sz="1600" dirty="0">
                <a:solidFill>
                  <a:schemeClr val="bg1"/>
                </a:solidFill>
              </a:rPr>
              <a:t>to pass</a:t>
            </a:r>
            <a:endParaRPr lang="en-US" sz="1600" dirty="0"/>
          </a:p>
        </p:txBody>
      </p:sp>
      <p:sp>
        <p:nvSpPr>
          <p:cNvPr id="11" name="Text 9"/>
          <p:cNvSpPr txBox="1"/>
          <p:nvPr/>
        </p:nvSpPr>
        <p:spPr>
          <a:xfrm>
            <a:off x="457200" y="3310128"/>
            <a:ext cx="3108960" cy="320040"/>
          </a:xfrm>
          <a:prstGeom prst="rect">
            <a:avLst/>
          </a:prstGeom>
          <a:noFill/>
          <a:ln/>
        </p:spPr>
        <p:txBody>
          <a:bodyPr wrap="square" lIns="0" tIns="0" rIns="0" bIns="0" rtlCol="0" anchor="t"/>
          <a:lstStyle/>
          <a:p>
            <a:pPr algn="ctr" indent="0" marL="0">
              <a:buNone/>
            </a:pPr>
            <a:r>
              <a:rPr lang="en-US" sz="1200" dirty="0">
                <a:solidFill>
                  <a:schemeClr val="bg2"/>
                </a:solidFill>
              </a:rPr>
              <a:t>10 questions, picked at random</a:t>
            </a:r>
            <a:endParaRPr lang="en-US" sz="1200" dirty="0"/>
          </a:p>
        </p:txBody>
      </p:sp>
      <p:sp>
        <p:nvSpPr>
          <p:cNvPr id="12" name="Text 10"/>
          <p:cNvSpPr txBox="1"/>
          <p:nvPr/>
        </p:nvSpPr>
        <p:spPr>
          <a:xfrm>
            <a:off x="3931920" y="1298448"/>
            <a:ext cx="4754880" cy="658368"/>
          </a:xfrm>
          <a:prstGeom prst="rect">
            <a:avLst/>
          </a:prstGeom>
          <a:noFill/>
          <a:ln/>
        </p:spPr>
        <p:txBody>
          <a:bodyPr wrap="square" lIns="0" tIns="0" rIns="0" bIns="0" rtlCol="0" anchor="t"/>
          <a:lstStyle/>
          <a:p>
            <a:pPr indent="0" marL="0">
              <a:buNone/>
            </a:pPr>
            <a:r>
              <a:rPr lang="en-US" sz="1400" b="1" dirty="0">
                <a:solidFill>
                  <a:schemeClr val="accent1"/>
                </a:solidFill>
              </a:rPr>
              <a:t>Full screen</a:t>
            </a:r>
            <a:endParaRPr lang="en-US" sz="1400" dirty="0"/>
          </a:p>
          <a:p>
            <a:pPr indent="0" marL="0">
              <a:buNone/>
            </a:pPr>
            <a:r>
              <a:rPr lang="en-US" sz="1400" dirty="0">
                <a:solidFill>
                  <a:schemeClr val="bg1"/>
                </a:solidFill>
              </a:rPr>
              <a:t>The check opens in full screen. Leaving the page locks it, so raise your hand and wait.</a:t>
            </a:r>
            <a:endParaRPr lang="en-US" sz="1400" dirty="0"/>
          </a:p>
        </p:txBody>
      </p:sp>
      <p:sp>
        <p:nvSpPr>
          <p:cNvPr id="13" name="Text 11"/>
          <p:cNvSpPr txBox="1"/>
          <p:nvPr/>
        </p:nvSpPr>
        <p:spPr>
          <a:xfrm>
            <a:off x="3931920" y="2084832"/>
            <a:ext cx="4754880" cy="658368"/>
          </a:xfrm>
          <a:prstGeom prst="rect">
            <a:avLst/>
          </a:prstGeom>
          <a:noFill/>
          <a:ln/>
        </p:spPr>
        <p:txBody>
          <a:bodyPr wrap="square" lIns="0" tIns="0" rIns="0" bIns="0" rtlCol="0" anchor="t"/>
          <a:lstStyle/>
          <a:p>
            <a:pPr indent="0" marL="0">
              <a:buNone/>
            </a:pPr>
            <a:r>
              <a:rPr lang="en-US" sz="1400" b="1" dirty="0">
                <a:solidFill>
                  <a:schemeClr val="accent1"/>
                </a:solidFill>
              </a:rPr>
              <a:t>New questions</a:t>
            </a:r>
            <a:endParaRPr lang="en-US" sz="1400" dirty="0"/>
          </a:p>
          <a:p>
            <a:pPr indent="0" marL="0">
              <a:buNone/>
            </a:pPr>
            <a:r>
              <a:rPr lang="en-US" sz="1400" dirty="0">
                <a:solidFill>
                  <a:schemeClr val="bg1"/>
                </a:solidFill>
              </a:rPr>
              <a:t>Each retake gives you different questions.</a:t>
            </a:r>
            <a:endParaRPr lang="en-US" sz="1400" dirty="0"/>
          </a:p>
        </p:txBody>
      </p:sp>
      <p:sp>
        <p:nvSpPr>
          <p:cNvPr id="14" name="Text 12"/>
          <p:cNvSpPr txBox="1"/>
          <p:nvPr/>
        </p:nvSpPr>
        <p:spPr>
          <a:xfrm>
            <a:off x="3931920" y="2871216"/>
            <a:ext cx="4754880" cy="658368"/>
          </a:xfrm>
          <a:prstGeom prst="rect">
            <a:avLst/>
          </a:prstGeom>
          <a:noFill/>
          <a:ln/>
        </p:spPr>
        <p:txBody>
          <a:bodyPr wrap="square" lIns="0" tIns="0" rIns="0" bIns="0" rtlCol="0" anchor="t"/>
          <a:lstStyle/>
          <a:p>
            <a:pPr indent="0" marL="0">
              <a:buNone/>
            </a:pPr>
            <a:r>
              <a:rPr lang="en-US" sz="1400" b="1" dirty="0">
                <a:solidFill>
                  <a:schemeClr val="accent1"/>
                </a:solidFill>
              </a:rPr>
              <a:t>Quick review</a:t>
            </a:r>
            <a:endParaRPr lang="en-US" sz="1400" dirty="0"/>
          </a:p>
          <a:p>
            <a:pPr indent="0" marL="0">
              <a:buNone/>
            </a:pPr>
            <a:r>
              <a:rPr lang="en-US" sz="1400" dirty="0">
                <a:solidFill>
                  <a:schemeClr val="bg1"/>
                </a:solidFill>
              </a:rPr>
              <a:t>After 3 tries, a review of the key ideas comes first.</a:t>
            </a:r>
            <a:endParaRPr lang="en-US" sz="1400" dirty="0"/>
          </a:p>
        </p:txBody>
      </p:sp>
      <p:sp>
        <p:nvSpPr>
          <p:cNvPr id="15" name="Text 13"/>
          <p:cNvSpPr txBox="1"/>
          <p:nvPr/>
        </p:nvSpPr>
        <p:spPr>
          <a:xfrm>
            <a:off x="3931920" y="3657600"/>
            <a:ext cx="4754880" cy="658368"/>
          </a:xfrm>
          <a:prstGeom prst="rect">
            <a:avLst/>
          </a:prstGeom>
          <a:noFill/>
          <a:ln/>
        </p:spPr>
        <p:txBody>
          <a:bodyPr wrap="square" lIns="0" tIns="0" rIns="0" bIns="0" rtlCol="0" anchor="t"/>
          <a:lstStyle/>
          <a:p>
            <a:pPr indent="0" marL="0">
              <a:buNone/>
            </a:pPr>
            <a:r>
              <a:rPr lang="en-US" sz="1400" b="1" dirty="0">
                <a:solidFill>
                  <a:schemeClr val="accent1"/>
                </a:solidFill>
              </a:rPr>
              <a:t>Scores</a:t>
            </a:r>
            <a:endParaRPr lang="en-US" sz="1400" dirty="0"/>
          </a:p>
          <a:p>
            <a:pPr indent="0" marL="0">
              <a:buNone/>
            </a:pPr>
            <a:r>
              <a:rPr lang="en-US" sz="1400" dirty="0">
                <a:solidFill>
                  <a:schemeClr val="bg1"/>
                </a:solidFill>
              </a:rPr>
              <a:t>When you pass, your scores send to your teacher.</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Section tile 10"/>
          <p:cNvSpPr/>
          <p:nvPr/>
        </p:nvSpPr>
        <p:spPr>
          <a:xfrm>
            <a:off x="457200" y="301752"/>
            <a:ext cx="749808" cy="841248"/>
          </a:xfrm>
          <a:prstGeom prst="roundRect">
            <a:avLst>
              <a:gd name="adj" fmla="val 12000"/>
            </a:avLst>
          </a:prstGeom>
          <a:solidFill>
            <a:srgbClr val="F6B93B">
              <a:alpha val="28000"/>
            </a:srgbClr>
          </a:solidFill>
          <a:ln w="19050">
            <a:solidFill>
              <a:srgbClr val="F6B93B"/>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10</a:t>
            </a:r>
            <a:endParaRPr lang="en-US" sz="1200" dirty="0"/>
          </a:p>
        </p:txBody>
      </p:sp>
      <p:sp>
        <p:nvSpPr>
          <p:cNvPr id="4" name="Text 2"/>
          <p:cNvSpPr txBox="1"/>
          <p:nvPr/>
        </p:nvSpPr>
        <p:spPr>
          <a:xfrm>
            <a:off x="411480" y="436352"/>
            <a:ext cx="841248" cy="672998"/>
          </a:xfrm>
          <a:prstGeom prst="rect">
            <a:avLst/>
          </a:prstGeom>
          <a:noFill/>
          <a:ln/>
        </p:spPr>
        <p:txBody>
          <a:bodyPr wrap="square" lIns="0" tIns="0" rIns="0" bIns="0" rtlCol="0" anchor="ctr"/>
          <a:lstStyle/>
          <a:p>
            <a:pPr algn="ctr" indent="0" marL="0">
              <a:buNone/>
            </a:pPr>
            <a:r>
              <a:rPr lang="en-US" sz="1600" b="1" dirty="0">
                <a:solidFill>
                  <a:schemeClr val="bg1"/>
                </a:solidFill>
              </a:rPr>
              <a:t>NaCl</a:t>
            </a:r>
            <a:endParaRPr lang="en-US" sz="1600" dirty="0"/>
          </a:p>
        </p:txBody>
      </p:sp>
      <p:sp>
        <p:nvSpPr>
          <p:cNvPr id="5" name="Text 0"/>
          <p:cNvSpPr/>
          <p:nvPr>
            <p:ph idx="100" type="body" hasCustomPrompt="1"/>
          </p:nvPr>
        </p:nvSpPr>
        <p:spPr>
          <a:xfrm>
            <a:off x="1417320" y="329184"/>
            <a:ext cx="7223760" cy="256032"/>
          </a:xfrm>
          <a:prstGeom prst="rect">
            <a:avLst/>
          </a:prstGeom>
          <a:noFill/>
          <a:ln/>
        </p:spPr>
        <p:txBody>
          <a:bodyPr wrap="square" lIns="0" tIns="0" rIns="0" bIns="0" rtlCol="0" anchor="ctr"/>
          <a:lstStyle/>
          <a:p>
            <a:pPr algn="l" indent="0" marL="0">
              <a:buNone/>
            </a:pPr>
            <a:r>
              <a:rPr lang="en-US" sz="1200" dirty="0">
                <a:solidFill>
                  <a:schemeClr val="bg2"/>
                </a:solidFill>
              </a:rPr>
              <a:t>Results</a:t>
            </a:r>
            <a:endParaRPr lang="en-US" sz="1200" dirty="0"/>
          </a:p>
        </p:txBody>
      </p:sp>
      <p:sp>
        <p:nvSpPr>
          <p:cNvPr id="6" name="Text 0"/>
          <p:cNvSpPr/>
          <p:nvPr>
            <p:ph idx="101" type="title" hasCustomPrompt="1"/>
          </p:nvPr>
        </p:nvSpPr>
        <p:spPr>
          <a:xfrm>
            <a:off x="1417320" y="603504"/>
            <a:ext cx="7223760" cy="530352"/>
          </a:xfrm>
          <a:prstGeom prst="rect">
            <a:avLst/>
          </a:prstGeom>
          <a:noFill/>
          <a:ln/>
        </p:spPr>
        <p:txBody>
          <a:bodyPr wrap="square" lIns="0" tIns="0" rIns="0" bIns="0" rtlCol="0" anchor="ctr"/>
          <a:lstStyle/>
          <a:p>
            <a:pPr algn="l" indent="0" marL="0">
              <a:buNone/>
            </a:pPr>
            <a:r>
              <a:rPr lang="en-US" sz="3000" b="1" dirty="0">
                <a:solidFill>
                  <a:schemeClr val="bg1"/>
                </a:solidFill>
              </a:rPr>
              <a:t>When you pass</a:t>
            </a:r>
            <a:endParaRPr lang="en-US" sz="3000" dirty="0"/>
          </a:p>
        </p:txBody>
      </p:sp>
      <p:sp>
        <p:nvSpPr>
          <p:cNvPr id="7" name="Text 5"/>
          <p:cNvSpPr/>
          <p:nvPr/>
        </p:nvSpPr>
        <p:spPr>
          <a:xfrm>
            <a:off x="457200" y="1417320"/>
            <a:ext cx="420624" cy="420624"/>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8" name="Text 6"/>
          <p:cNvSpPr txBox="1"/>
          <p:nvPr/>
        </p:nvSpPr>
        <p:spPr>
          <a:xfrm>
            <a:off x="1051560" y="1353312"/>
            <a:ext cx="3291840" cy="548640"/>
          </a:xfrm>
          <a:prstGeom prst="rect">
            <a:avLst/>
          </a:prstGeom>
          <a:noFill/>
          <a:ln/>
        </p:spPr>
        <p:txBody>
          <a:bodyPr wrap="square" lIns="0" tIns="0" rIns="0" bIns="0" rtlCol="0" anchor="ctr"/>
          <a:lstStyle/>
          <a:p>
            <a:pPr indent="0" marL="0">
              <a:buNone/>
            </a:pPr>
            <a:r>
              <a:rPr lang="en-US" sz="1500" dirty="0">
                <a:solidFill>
                  <a:schemeClr val="bg1"/>
                </a:solidFill>
              </a:rPr>
              <a:t>Open your results page (the NaCl tile)</a:t>
            </a:r>
            <a:endParaRPr lang="en-US" sz="1500" dirty="0"/>
          </a:p>
        </p:txBody>
      </p:sp>
      <p:sp>
        <p:nvSpPr>
          <p:cNvPr id="9" name="Text 7"/>
          <p:cNvSpPr/>
          <p:nvPr/>
        </p:nvSpPr>
        <p:spPr>
          <a:xfrm>
            <a:off x="457200" y="2194560"/>
            <a:ext cx="420624" cy="420624"/>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0" name="Text 8"/>
          <p:cNvSpPr txBox="1"/>
          <p:nvPr/>
        </p:nvSpPr>
        <p:spPr>
          <a:xfrm>
            <a:off x="1051560" y="2130552"/>
            <a:ext cx="3291840" cy="548640"/>
          </a:xfrm>
          <a:prstGeom prst="rect">
            <a:avLst/>
          </a:prstGeom>
          <a:noFill/>
          <a:ln/>
        </p:spPr>
        <p:txBody>
          <a:bodyPr wrap="square" lIns="0" tIns="0" rIns="0" bIns="0" rtlCol="0" anchor="ctr"/>
          <a:lstStyle/>
          <a:p>
            <a:pPr indent="0" marL="0">
              <a:buNone/>
            </a:pPr>
            <a:r>
              <a:rPr lang="en-US" sz="1500" dirty="0">
                <a:solidFill>
                  <a:schemeClr val="bg1"/>
                </a:solidFill>
              </a:rPr>
              <a:t>Look for "Sent! Your teacher will see your scores."</a:t>
            </a:r>
            <a:endParaRPr lang="en-US" sz="1500" dirty="0"/>
          </a:p>
        </p:txBody>
      </p:sp>
      <p:sp>
        <p:nvSpPr>
          <p:cNvPr id="11" name="Text 9"/>
          <p:cNvSpPr/>
          <p:nvPr/>
        </p:nvSpPr>
        <p:spPr>
          <a:xfrm>
            <a:off x="457200" y="2971800"/>
            <a:ext cx="420624" cy="420624"/>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2" name="Text 10"/>
          <p:cNvSpPr txBox="1"/>
          <p:nvPr/>
        </p:nvSpPr>
        <p:spPr>
          <a:xfrm>
            <a:off x="1051560" y="2907792"/>
            <a:ext cx="3291840" cy="548640"/>
          </a:xfrm>
          <a:prstGeom prst="rect">
            <a:avLst/>
          </a:prstGeom>
          <a:noFill/>
          <a:ln/>
        </p:spPr>
        <p:txBody>
          <a:bodyPr wrap="square" lIns="0" tIns="0" rIns="0" bIns="0" rtlCol="0" anchor="ctr"/>
          <a:lstStyle/>
          <a:p>
            <a:pPr indent="0" marL="0">
              <a:buNone/>
            </a:pPr>
            <a:r>
              <a:rPr lang="en-US" sz="1500" dirty="0">
                <a:solidFill>
                  <a:schemeClr val="bg1"/>
                </a:solidFill>
              </a:rPr>
              <a:t>No message? Click Send my scores to my teacher</a:t>
            </a:r>
            <a:endParaRPr lang="en-US" sz="1500" dirty="0"/>
          </a:p>
        </p:txBody>
      </p:sp>
      <p:sp>
        <p:nvSpPr>
          <p:cNvPr id="13" name="Goals card"/>
          <p:cNvSpPr/>
          <p:nvPr/>
        </p:nvSpPr>
        <p:spPr>
          <a:xfrm>
            <a:off x="4709160" y="1325880"/>
            <a:ext cx="3977640" cy="3108960"/>
          </a:xfrm>
          <a:prstGeom prst="roundRect">
            <a:avLst>
              <a:gd name="adj" fmla="val 2941"/>
            </a:avLst>
          </a:prstGeom>
          <a:solidFill>
            <a:schemeClr val="tx2"/>
          </a:solidFill>
          <a:ln w="9525">
            <a:solidFill>
              <a:schemeClr val="bg2">
                <a:alpha val="30000"/>
              </a:schemeClr>
            </a:solidFill>
            <a:prstDash val="solid"/>
          </a:ln>
        </p:spPr>
      </p:sp>
      <p:sp>
        <p:nvSpPr>
          <p:cNvPr id="14" name="Text 12"/>
          <p:cNvSpPr txBox="1"/>
          <p:nvPr/>
        </p:nvSpPr>
        <p:spPr>
          <a:xfrm>
            <a:off x="4937760" y="1463040"/>
            <a:ext cx="3566160" cy="274320"/>
          </a:xfrm>
          <a:prstGeom prst="rect">
            <a:avLst/>
          </a:prstGeom>
          <a:noFill/>
          <a:ln/>
        </p:spPr>
        <p:txBody>
          <a:bodyPr wrap="square" lIns="0" tIns="0" rIns="0" bIns="0" rtlCol="0" anchor="t"/>
          <a:lstStyle/>
          <a:p>
            <a:pPr indent="0" marL="0">
              <a:buNone/>
            </a:pPr>
            <a:r>
              <a:rPr lang="en-US" sz="1400" b="1" dirty="0">
                <a:solidFill>
                  <a:schemeClr val="accent4"/>
                </a:solidFill>
              </a:rPr>
              <a:t>Your goals</a:t>
            </a:r>
            <a:endParaRPr lang="en-US" sz="1400" dirty="0"/>
          </a:p>
        </p:txBody>
      </p:sp>
      <p:sp>
        <p:nvSpPr>
          <p:cNvPr id="15" name="Text 13"/>
          <p:cNvSpPr/>
          <p:nvPr/>
        </p:nvSpPr>
        <p:spPr>
          <a:xfrm>
            <a:off x="4937760" y="1874520"/>
            <a:ext cx="256032" cy="256032"/>
          </a:xfrm>
          <a:prstGeom prst="roundRect">
            <a:avLst>
              <a:gd name="adj" fmla="val 17857"/>
            </a:avLst>
          </a:prstGeom>
          <a:solidFill>
            <a:schemeClr val="accent4"/>
          </a:solidFill>
          <a:ln w="15875">
            <a:solidFill>
              <a:schemeClr val="accent4"/>
            </a:solidFill>
          </a:ln>
        </p:spPr>
        <p:txBody>
          <a:bodyPr wrap="square" lIns="0" tIns="0" rIns="0" bIns="0" rtlCol="0" anchor="ctr"/>
          <a:lstStyle/>
          <a:p>
            <a:pPr algn="ctr" indent="0" marL="0">
              <a:buNone/>
            </a:pPr>
            <a:r>
              <a:rPr lang="en-US" sz="1200" b="1" dirty="0">
                <a:solidFill>
                  <a:schemeClr val="tx1"/>
                </a:solidFill>
              </a:rPr>
              <a:t>✓</a:t>
            </a:r>
            <a:endParaRPr lang="en-US" sz="1200" dirty="0"/>
          </a:p>
        </p:txBody>
      </p:sp>
      <p:sp>
        <p:nvSpPr>
          <p:cNvPr id="16" name="Text 14"/>
          <p:cNvSpPr txBox="1"/>
          <p:nvPr/>
        </p:nvSpPr>
        <p:spPr>
          <a:xfrm>
            <a:off x="5321808" y="1828800"/>
            <a:ext cx="3246120" cy="384048"/>
          </a:xfrm>
          <a:prstGeom prst="rect">
            <a:avLst/>
          </a:prstGeom>
          <a:noFill/>
          <a:ln/>
        </p:spPr>
        <p:txBody>
          <a:bodyPr wrap="square" lIns="0" tIns="0" rIns="0" bIns="0" rtlCol="0" anchor="ctr"/>
          <a:lstStyle/>
          <a:p>
            <a:pPr indent="0" marL="0">
              <a:buNone/>
            </a:pPr>
            <a:r>
              <a:rPr lang="en-US" sz="1200" dirty="0">
                <a:solidFill>
                  <a:schemeClr val="bg1"/>
                </a:solidFill>
              </a:rPr>
              <a:t>Use the octet rule to explain why atoms form ions</a:t>
            </a:r>
            <a:endParaRPr lang="en-US" sz="1200" dirty="0"/>
          </a:p>
        </p:txBody>
      </p:sp>
      <p:sp>
        <p:nvSpPr>
          <p:cNvPr id="17" name="Text 15"/>
          <p:cNvSpPr/>
          <p:nvPr/>
        </p:nvSpPr>
        <p:spPr>
          <a:xfrm>
            <a:off x="4937760" y="2295144"/>
            <a:ext cx="256032" cy="256032"/>
          </a:xfrm>
          <a:prstGeom prst="roundRect">
            <a:avLst>
              <a:gd name="adj" fmla="val 17857"/>
            </a:avLst>
          </a:prstGeom>
          <a:solidFill>
            <a:schemeClr val="accent4"/>
          </a:solidFill>
          <a:ln w="15875">
            <a:solidFill>
              <a:schemeClr val="accent4"/>
            </a:solidFill>
          </a:ln>
        </p:spPr>
        <p:txBody>
          <a:bodyPr wrap="square" lIns="0" tIns="0" rIns="0" bIns="0" rtlCol="0" anchor="ctr"/>
          <a:lstStyle/>
          <a:p>
            <a:pPr algn="ctr" indent="0" marL="0">
              <a:buNone/>
            </a:pPr>
            <a:r>
              <a:rPr lang="en-US" sz="1200" b="1" dirty="0">
                <a:solidFill>
                  <a:schemeClr val="tx1"/>
                </a:solidFill>
              </a:rPr>
              <a:t>✓</a:t>
            </a:r>
            <a:endParaRPr lang="en-US" sz="1200" dirty="0"/>
          </a:p>
        </p:txBody>
      </p:sp>
      <p:sp>
        <p:nvSpPr>
          <p:cNvPr id="18" name="Text 16"/>
          <p:cNvSpPr txBox="1"/>
          <p:nvPr/>
        </p:nvSpPr>
        <p:spPr>
          <a:xfrm>
            <a:off x="5321808" y="2249424"/>
            <a:ext cx="3246120" cy="384048"/>
          </a:xfrm>
          <a:prstGeom prst="rect">
            <a:avLst/>
          </a:prstGeom>
          <a:noFill/>
          <a:ln/>
        </p:spPr>
        <p:txBody>
          <a:bodyPr wrap="square" lIns="0" tIns="0" rIns="0" bIns="0" rtlCol="0" anchor="ctr"/>
          <a:lstStyle/>
          <a:p>
            <a:pPr indent="0" marL="0">
              <a:buNone/>
            </a:pPr>
            <a:r>
              <a:rPr lang="en-US" sz="1200" dirty="0">
                <a:solidFill>
                  <a:schemeClr val="bg1"/>
                </a:solidFill>
              </a:rPr>
              <a:t>Find an ion's charge from its protons and electrons</a:t>
            </a:r>
            <a:endParaRPr lang="en-US" sz="1200" dirty="0"/>
          </a:p>
        </p:txBody>
      </p:sp>
      <p:sp>
        <p:nvSpPr>
          <p:cNvPr id="19" name="Text 17"/>
          <p:cNvSpPr/>
          <p:nvPr/>
        </p:nvSpPr>
        <p:spPr>
          <a:xfrm>
            <a:off x="4937760" y="2715768"/>
            <a:ext cx="256032" cy="256032"/>
          </a:xfrm>
          <a:prstGeom prst="roundRect">
            <a:avLst>
              <a:gd name="adj" fmla="val 17857"/>
            </a:avLst>
          </a:prstGeom>
          <a:solidFill>
            <a:schemeClr val="accent4"/>
          </a:solidFill>
          <a:ln w="15875">
            <a:solidFill>
              <a:schemeClr val="accent4"/>
            </a:solidFill>
          </a:ln>
        </p:spPr>
        <p:txBody>
          <a:bodyPr wrap="square" lIns="0" tIns="0" rIns="0" bIns="0" rtlCol="0" anchor="ctr"/>
          <a:lstStyle/>
          <a:p>
            <a:pPr algn="ctr" indent="0" marL="0">
              <a:buNone/>
            </a:pPr>
            <a:r>
              <a:rPr lang="en-US" sz="1200" b="1" dirty="0">
                <a:solidFill>
                  <a:schemeClr val="tx1"/>
                </a:solidFill>
              </a:rPr>
              <a:t>✓</a:t>
            </a:r>
            <a:endParaRPr lang="en-US" sz="1200" dirty="0"/>
          </a:p>
        </p:txBody>
      </p:sp>
      <p:sp>
        <p:nvSpPr>
          <p:cNvPr id="20" name="Text 18"/>
          <p:cNvSpPr txBox="1"/>
          <p:nvPr/>
        </p:nvSpPr>
        <p:spPr>
          <a:xfrm>
            <a:off x="5321808" y="2670048"/>
            <a:ext cx="3246120" cy="384048"/>
          </a:xfrm>
          <a:prstGeom prst="rect">
            <a:avLst/>
          </a:prstGeom>
          <a:noFill/>
          <a:ln/>
        </p:spPr>
        <p:txBody>
          <a:bodyPr wrap="square" lIns="0" tIns="0" rIns="0" bIns="0" rtlCol="0" anchor="ctr"/>
          <a:lstStyle/>
          <a:p>
            <a:pPr indent="0" marL="0">
              <a:buNone/>
            </a:pPr>
            <a:r>
              <a:rPr lang="en-US" sz="1200" dirty="0">
                <a:solidFill>
                  <a:schemeClr val="bg1"/>
                </a:solidFill>
              </a:rPr>
              <a:t>Predict whether an atom loses or gains electrons</a:t>
            </a:r>
            <a:endParaRPr lang="en-US" sz="1200" dirty="0"/>
          </a:p>
        </p:txBody>
      </p:sp>
      <p:sp>
        <p:nvSpPr>
          <p:cNvPr id="21" name="Text 19"/>
          <p:cNvSpPr/>
          <p:nvPr/>
        </p:nvSpPr>
        <p:spPr>
          <a:xfrm>
            <a:off x="4937760" y="3136392"/>
            <a:ext cx="256032" cy="256032"/>
          </a:xfrm>
          <a:prstGeom prst="roundRect">
            <a:avLst>
              <a:gd name="adj" fmla="val 17857"/>
            </a:avLst>
          </a:prstGeom>
          <a:solidFill>
            <a:schemeClr val="accent4"/>
          </a:solidFill>
          <a:ln w="15875">
            <a:solidFill>
              <a:schemeClr val="accent4"/>
            </a:solidFill>
          </a:ln>
        </p:spPr>
        <p:txBody>
          <a:bodyPr wrap="square" lIns="0" tIns="0" rIns="0" bIns="0" rtlCol="0" anchor="ctr"/>
          <a:lstStyle/>
          <a:p>
            <a:pPr algn="ctr" indent="0" marL="0">
              <a:buNone/>
            </a:pPr>
            <a:r>
              <a:rPr lang="en-US" sz="1200" b="1" dirty="0">
                <a:solidFill>
                  <a:schemeClr val="tx1"/>
                </a:solidFill>
              </a:rPr>
              <a:t>✓</a:t>
            </a:r>
            <a:endParaRPr lang="en-US" sz="1200" dirty="0"/>
          </a:p>
        </p:txBody>
      </p:sp>
      <p:sp>
        <p:nvSpPr>
          <p:cNvPr id="22" name="Text 20"/>
          <p:cNvSpPr txBox="1"/>
          <p:nvPr/>
        </p:nvSpPr>
        <p:spPr>
          <a:xfrm>
            <a:off x="5321808" y="3090672"/>
            <a:ext cx="3246120" cy="384048"/>
          </a:xfrm>
          <a:prstGeom prst="rect">
            <a:avLst/>
          </a:prstGeom>
          <a:noFill/>
          <a:ln/>
        </p:spPr>
        <p:txBody>
          <a:bodyPr wrap="square" lIns="0" tIns="0" rIns="0" bIns="0" rtlCol="0" anchor="ctr"/>
          <a:lstStyle/>
          <a:p>
            <a:pPr indent="0" marL="0">
              <a:buNone/>
            </a:pPr>
            <a:r>
              <a:rPr lang="en-US" sz="1200" dirty="0">
                <a:solidFill>
                  <a:schemeClr val="bg1"/>
                </a:solidFill>
              </a:rPr>
              <a:t>Predict ion charges from the periodic table</a:t>
            </a:r>
            <a:endParaRPr lang="en-US" sz="1200" dirty="0"/>
          </a:p>
        </p:txBody>
      </p:sp>
      <p:sp>
        <p:nvSpPr>
          <p:cNvPr id="23" name="Text 21"/>
          <p:cNvSpPr/>
          <p:nvPr/>
        </p:nvSpPr>
        <p:spPr>
          <a:xfrm>
            <a:off x="4937760" y="3557016"/>
            <a:ext cx="256032" cy="256032"/>
          </a:xfrm>
          <a:prstGeom prst="roundRect">
            <a:avLst>
              <a:gd name="adj" fmla="val 17857"/>
            </a:avLst>
          </a:prstGeom>
          <a:solidFill>
            <a:schemeClr val="accent4"/>
          </a:solidFill>
          <a:ln w="15875">
            <a:solidFill>
              <a:schemeClr val="accent4"/>
            </a:solidFill>
          </a:ln>
        </p:spPr>
        <p:txBody>
          <a:bodyPr wrap="square" lIns="0" tIns="0" rIns="0" bIns="0" rtlCol="0" anchor="ctr"/>
          <a:lstStyle/>
          <a:p>
            <a:pPr algn="ctr" indent="0" marL="0">
              <a:buNone/>
            </a:pPr>
            <a:r>
              <a:rPr lang="en-US" sz="1200" b="1" dirty="0">
                <a:solidFill>
                  <a:schemeClr val="tx1"/>
                </a:solidFill>
              </a:rPr>
              <a:t>✓</a:t>
            </a:r>
            <a:endParaRPr lang="en-US" sz="1200" dirty="0"/>
          </a:p>
        </p:txBody>
      </p:sp>
      <p:sp>
        <p:nvSpPr>
          <p:cNvPr id="24" name="Text 22"/>
          <p:cNvSpPr txBox="1"/>
          <p:nvPr/>
        </p:nvSpPr>
        <p:spPr>
          <a:xfrm>
            <a:off x="5321808" y="3511296"/>
            <a:ext cx="3246120" cy="384048"/>
          </a:xfrm>
          <a:prstGeom prst="rect">
            <a:avLst/>
          </a:prstGeom>
          <a:noFill/>
          <a:ln/>
        </p:spPr>
        <p:txBody>
          <a:bodyPr wrap="square" lIns="0" tIns="0" rIns="0" bIns="0" rtlCol="0" anchor="ctr"/>
          <a:lstStyle/>
          <a:p>
            <a:pPr indent="0" marL="0">
              <a:buNone/>
            </a:pPr>
            <a:r>
              <a:rPr lang="en-US" sz="1200" dirty="0">
                <a:solidFill>
                  <a:schemeClr val="bg1"/>
                </a:solidFill>
              </a:rPr>
              <a:t>Write, name, and draw Bohr models of ions</a:t>
            </a:r>
            <a:endParaRPr lang="en-US" sz="1200" dirty="0"/>
          </a:p>
        </p:txBody>
      </p:sp>
      <p:sp>
        <p:nvSpPr>
          <p:cNvPr id="25" name="Text 23"/>
          <p:cNvSpPr/>
          <p:nvPr/>
        </p:nvSpPr>
        <p:spPr>
          <a:xfrm>
            <a:off x="4937760" y="3977640"/>
            <a:ext cx="256032" cy="256032"/>
          </a:xfrm>
          <a:prstGeom prst="roundRect">
            <a:avLst>
              <a:gd name="adj" fmla="val 17857"/>
            </a:avLst>
          </a:prstGeom>
          <a:solidFill>
            <a:schemeClr val="accent4"/>
          </a:solidFill>
          <a:ln w="15875">
            <a:solidFill>
              <a:schemeClr val="accent4"/>
            </a:solidFill>
          </a:ln>
        </p:spPr>
        <p:txBody>
          <a:bodyPr wrap="square" lIns="0" tIns="0" rIns="0" bIns="0" rtlCol="0" anchor="ctr"/>
          <a:lstStyle/>
          <a:p>
            <a:pPr algn="ctr" indent="0" marL="0">
              <a:buNone/>
            </a:pPr>
            <a:r>
              <a:rPr lang="en-US" sz="1200" b="1" dirty="0">
                <a:solidFill>
                  <a:schemeClr val="tx1"/>
                </a:solidFill>
              </a:rPr>
              <a:t>✓</a:t>
            </a:r>
            <a:endParaRPr lang="en-US" sz="1200" dirty="0"/>
          </a:p>
        </p:txBody>
      </p:sp>
      <p:sp>
        <p:nvSpPr>
          <p:cNvPr id="26" name="Text 24"/>
          <p:cNvSpPr txBox="1"/>
          <p:nvPr/>
        </p:nvSpPr>
        <p:spPr>
          <a:xfrm>
            <a:off x="5321808" y="3931920"/>
            <a:ext cx="3246120" cy="384048"/>
          </a:xfrm>
          <a:prstGeom prst="rect">
            <a:avLst/>
          </a:prstGeom>
          <a:noFill/>
          <a:ln/>
        </p:spPr>
        <p:txBody>
          <a:bodyPr wrap="square" lIns="0" tIns="0" rIns="0" bIns="0" rtlCol="0" anchor="ctr"/>
          <a:lstStyle/>
          <a:p>
            <a:pPr indent="0" marL="0">
              <a:buNone/>
            </a:pPr>
            <a:r>
              <a:rPr lang="en-US" sz="1200" dirty="0">
                <a:solidFill>
                  <a:schemeClr val="bg1"/>
                </a:solidFill>
              </a:rPr>
              <a:t>Combine ions so their charges balance</a:t>
            </a:r>
            <a:endParaRPr lang="en-US" sz="1200" dirty="0"/>
          </a:p>
        </p:txBody>
      </p:sp>
      <p:sp>
        <p:nvSpPr>
          <p:cNvPr id="27" name="Text 25"/>
          <p:cNvSpPr/>
          <p:nvPr/>
        </p:nvSpPr>
        <p:spPr>
          <a:xfrm>
            <a:off x="4937760" y="4398264"/>
            <a:ext cx="256032" cy="256032"/>
          </a:xfrm>
          <a:prstGeom prst="roundRect">
            <a:avLst>
              <a:gd name="adj" fmla="val 17857"/>
            </a:avLst>
          </a:prstGeom>
          <a:solidFill>
            <a:schemeClr val="accent4"/>
          </a:solidFill>
          <a:ln w="15875">
            <a:solidFill>
              <a:schemeClr val="accent4"/>
            </a:solidFill>
          </a:ln>
        </p:spPr>
        <p:txBody>
          <a:bodyPr wrap="square" lIns="0" tIns="0" rIns="0" bIns="0" rtlCol="0" anchor="ctr"/>
          <a:lstStyle/>
          <a:p>
            <a:pPr algn="ctr" indent="0" marL="0">
              <a:buNone/>
            </a:pPr>
            <a:r>
              <a:rPr lang="en-US" sz="1200" b="1" dirty="0">
                <a:solidFill>
                  <a:schemeClr val="tx1"/>
                </a:solidFill>
              </a:rPr>
              <a:t>✓</a:t>
            </a:r>
            <a:endParaRPr lang="en-US" sz="1200" dirty="0"/>
          </a:p>
        </p:txBody>
      </p:sp>
      <p:sp>
        <p:nvSpPr>
          <p:cNvPr id="28" name="Text 26"/>
          <p:cNvSpPr txBox="1"/>
          <p:nvPr/>
        </p:nvSpPr>
        <p:spPr>
          <a:xfrm>
            <a:off x="5321808" y="4352544"/>
            <a:ext cx="3246120" cy="384048"/>
          </a:xfrm>
          <a:prstGeom prst="rect">
            <a:avLst/>
          </a:prstGeom>
          <a:noFill/>
          <a:ln/>
        </p:spPr>
        <p:txBody>
          <a:bodyPr wrap="square" lIns="0" tIns="0" rIns="0" bIns="0" rtlCol="0" anchor="ctr"/>
          <a:lstStyle/>
          <a:p>
            <a:pPr indent="0" marL="0">
              <a:buNone/>
            </a:pPr>
            <a:r>
              <a:rPr lang="en-US" sz="1200" dirty="0">
                <a:solidFill>
                  <a:schemeClr val="bg1"/>
                </a:solidFill>
              </a:rPr>
              <a:t>Pass the final check (8 out of 10)</a:t>
            </a:r>
            <a:endParaRPr lang="en-US" sz="12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ile K"/>
          <p:cNvSpPr/>
          <p:nvPr/>
        </p:nvSpPr>
        <p:spPr>
          <a:xfrm>
            <a:off x="457200" y="301752"/>
            <a:ext cx="749808" cy="841248"/>
          </a:xfrm>
          <a:prstGeom prst="roundRect">
            <a:avLst>
              <a:gd name="adj" fmla="val 12000"/>
            </a:avLst>
          </a:prstGeom>
          <a:solidFill>
            <a:srgbClr val="FF8F5E">
              <a:alpha val="30000"/>
            </a:srgbClr>
          </a:solidFill>
          <a:ln w="19050">
            <a:solidFill>
              <a:srgbClr val="FF8F5E"/>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19</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K</a:t>
            </a:r>
            <a:endParaRPr lang="en-US" sz="3100" dirty="0"/>
          </a:p>
        </p:txBody>
      </p:sp>
      <p:sp>
        <p:nvSpPr>
          <p:cNvPr id="5" name="Text 0"/>
          <p:cNvSpPr/>
          <p:nvPr>
            <p:ph idx="100" type="body" hasCustomPrompt="1"/>
          </p:nvPr>
        </p:nvSpPr>
        <p:spPr>
          <a:xfrm>
            <a:off x="1417320" y="329184"/>
            <a:ext cx="7223760" cy="256032"/>
          </a:xfrm>
          <a:prstGeom prst="rect">
            <a:avLst/>
          </a:prstGeom>
          <a:noFill/>
          <a:ln/>
        </p:spPr>
        <p:txBody>
          <a:bodyPr wrap="square" lIns="0" tIns="0" rIns="0" bIns="0" rtlCol="0" anchor="ctr"/>
          <a:lstStyle/>
          <a:p>
            <a:pPr algn="l" indent="0" marL="0">
              <a:buNone/>
            </a:pPr>
            <a:r>
              <a:rPr lang="en-US" sz="1200" dirty="0">
                <a:solidFill>
                  <a:schemeClr val="bg2"/>
                </a:solidFill>
              </a:rPr>
              <a:t>Done early? Challenge</a:t>
            </a:r>
            <a:endParaRPr lang="en-US" sz="1200" dirty="0"/>
          </a:p>
        </p:txBody>
      </p:sp>
      <p:sp>
        <p:nvSpPr>
          <p:cNvPr id="6" name="Text 0"/>
          <p:cNvSpPr/>
          <p:nvPr>
            <p:ph idx="101" type="title" hasCustomPrompt="1"/>
          </p:nvPr>
        </p:nvSpPr>
        <p:spPr>
          <a:xfrm>
            <a:off x="1417320" y="603504"/>
            <a:ext cx="7223760" cy="530352"/>
          </a:xfrm>
          <a:prstGeom prst="rect">
            <a:avLst/>
          </a:prstGeom>
          <a:noFill/>
          <a:ln/>
        </p:spPr>
        <p:txBody>
          <a:bodyPr wrap="square" lIns="0" tIns="0" rIns="0" bIns="0" rtlCol="0" anchor="ctr"/>
          <a:lstStyle/>
          <a:p>
            <a:pPr algn="l" indent="0" marL="0">
              <a:buNone/>
            </a:pPr>
            <a:r>
              <a:rPr lang="en-US" sz="3000" b="1" dirty="0">
                <a:solidFill>
                  <a:schemeClr val="bg1"/>
                </a:solidFill>
              </a:rPr>
              <a:t>Draw the potassium ion on paper</a:t>
            </a:r>
            <a:endParaRPr lang="en-US" sz="3000" dirty="0"/>
          </a:p>
        </p:txBody>
      </p:sp>
      <p:sp>
        <p:nvSpPr>
          <p:cNvPr id="7" name="Text 5"/>
          <p:cNvSpPr txBox="1"/>
          <p:nvPr/>
        </p:nvSpPr>
        <p:spPr>
          <a:xfrm>
            <a:off x="457200" y="1371600"/>
            <a:ext cx="4206240" cy="1097280"/>
          </a:xfrm>
          <a:prstGeom prst="rect">
            <a:avLst/>
          </a:prstGeom>
          <a:noFill/>
          <a:ln/>
        </p:spPr>
        <p:txBody>
          <a:bodyPr wrap="square" lIns="0" tIns="0" rIns="0" bIns="0" rtlCol="0" anchor="t"/>
          <a:lstStyle/>
          <a:p>
            <a:pPr indent="0" marL="0">
              <a:buNone/>
            </a:pPr>
            <a:r>
              <a:rPr lang="en-US" sz="1600" dirty="0">
                <a:solidFill>
                  <a:schemeClr val="bg1"/>
                </a:solidFill>
              </a:rPr>
              <a:t>With no computer, draw a complete Bohr model of the ion potassium forms (atomic number 19, atomic mass 39.098). Write its symbol and its name.</a:t>
            </a:r>
            <a:endParaRPr lang="en-US" sz="1600" dirty="0"/>
          </a:p>
        </p:txBody>
      </p:sp>
      <p:sp>
        <p:nvSpPr>
          <p:cNvPr id="8" name="Text 6"/>
          <p:cNvSpPr/>
          <p:nvPr/>
        </p:nvSpPr>
        <p:spPr>
          <a:xfrm>
            <a:off x="457200" y="2651760"/>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9" name="Text 7"/>
          <p:cNvSpPr txBox="1"/>
          <p:nvPr/>
        </p:nvSpPr>
        <p:spPr>
          <a:xfrm>
            <a:off x="868680" y="2606040"/>
            <a:ext cx="3657600" cy="365760"/>
          </a:xfrm>
          <a:prstGeom prst="rect">
            <a:avLst/>
          </a:prstGeom>
          <a:noFill/>
          <a:ln/>
        </p:spPr>
        <p:txBody>
          <a:bodyPr wrap="square" lIns="0" tIns="0" rIns="0" bIns="0" rtlCol="0" anchor="ctr"/>
          <a:lstStyle/>
          <a:p>
            <a:pPr indent="0" marL="0">
              <a:buNone/>
            </a:pPr>
            <a:r>
              <a:rPr lang="en-US" sz="1400" dirty="0">
                <a:solidFill>
                  <a:schemeClr val="bg1"/>
                </a:solidFill>
              </a:rPr>
              <a:t>Same nucleus as the atom</a:t>
            </a:r>
            <a:endParaRPr lang="en-US" sz="1400" dirty="0"/>
          </a:p>
        </p:txBody>
      </p:sp>
      <p:sp>
        <p:nvSpPr>
          <p:cNvPr id="10" name="Text 8"/>
          <p:cNvSpPr/>
          <p:nvPr/>
        </p:nvSpPr>
        <p:spPr>
          <a:xfrm>
            <a:off x="457200" y="3108960"/>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11" name="Text 9"/>
          <p:cNvSpPr txBox="1"/>
          <p:nvPr/>
        </p:nvSpPr>
        <p:spPr>
          <a:xfrm>
            <a:off x="868680" y="3063240"/>
            <a:ext cx="3657600" cy="365760"/>
          </a:xfrm>
          <a:prstGeom prst="rect">
            <a:avLst/>
          </a:prstGeom>
          <a:noFill/>
          <a:ln/>
        </p:spPr>
        <p:txBody>
          <a:bodyPr wrap="square" lIns="0" tIns="0" rIns="0" bIns="0" rtlCol="0" anchor="ctr"/>
          <a:lstStyle/>
          <a:p>
            <a:pPr indent="0" marL="0">
              <a:buNone/>
            </a:pPr>
            <a:r>
              <a:rPr lang="en-US" sz="1400" dirty="0">
                <a:solidFill>
                  <a:schemeClr val="bg1"/>
                </a:solidFill>
              </a:rPr>
              <a:t>Right number of shells</a:t>
            </a:r>
            <a:endParaRPr lang="en-US" sz="1400" dirty="0"/>
          </a:p>
        </p:txBody>
      </p:sp>
      <p:sp>
        <p:nvSpPr>
          <p:cNvPr id="12" name="Text 10"/>
          <p:cNvSpPr/>
          <p:nvPr/>
        </p:nvSpPr>
        <p:spPr>
          <a:xfrm>
            <a:off x="457200" y="3566160"/>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13" name="Text 11"/>
          <p:cNvSpPr txBox="1"/>
          <p:nvPr/>
        </p:nvSpPr>
        <p:spPr>
          <a:xfrm>
            <a:off x="868680" y="3520440"/>
            <a:ext cx="3657600" cy="365760"/>
          </a:xfrm>
          <a:prstGeom prst="rect">
            <a:avLst/>
          </a:prstGeom>
          <a:noFill/>
          <a:ln/>
        </p:spPr>
        <p:txBody>
          <a:bodyPr wrap="square" lIns="0" tIns="0" rIns="0" bIns="0" rtlCol="0" anchor="ctr"/>
          <a:lstStyle/>
          <a:p>
            <a:pPr indent="0" marL="0">
              <a:buNone/>
            </a:pPr>
            <a:r>
              <a:rPr lang="en-US" sz="1400" dirty="0">
                <a:solidFill>
                  <a:schemeClr val="bg1"/>
                </a:solidFill>
              </a:rPr>
              <a:t>Right electrons in each shell</a:t>
            </a:r>
            <a:endParaRPr lang="en-US" sz="1400" dirty="0"/>
          </a:p>
        </p:txBody>
      </p:sp>
      <p:sp>
        <p:nvSpPr>
          <p:cNvPr id="14" name="Text 12"/>
          <p:cNvSpPr/>
          <p:nvPr/>
        </p:nvSpPr>
        <p:spPr>
          <a:xfrm>
            <a:off x="457200" y="4023360"/>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15" name="Text 13"/>
          <p:cNvSpPr txBox="1"/>
          <p:nvPr/>
        </p:nvSpPr>
        <p:spPr>
          <a:xfrm>
            <a:off x="868680" y="3977640"/>
            <a:ext cx="3657600" cy="365760"/>
          </a:xfrm>
          <a:prstGeom prst="rect">
            <a:avLst/>
          </a:prstGeom>
          <a:noFill/>
          <a:ln/>
        </p:spPr>
        <p:txBody>
          <a:bodyPr wrap="square" lIns="0" tIns="0" rIns="0" bIns="0" rtlCol="0" anchor="ctr"/>
          <a:lstStyle/>
          <a:p>
            <a:pPr indent="0" marL="0">
              <a:buNone/>
            </a:pPr>
            <a:r>
              <a:rPr lang="en-US" sz="1400" dirty="0">
                <a:solidFill>
                  <a:schemeClr val="bg1"/>
                </a:solidFill>
              </a:rPr>
              <a:t>Brackets and charge</a:t>
            </a:r>
            <a:endParaRPr lang="en-US" sz="1400" dirty="0"/>
          </a:p>
        </p:txBody>
      </p:sp>
      <p:sp>
        <p:nvSpPr>
          <p:cNvPr id="16" name="Draw here"/>
          <p:cNvSpPr/>
          <p:nvPr/>
        </p:nvSpPr>
        <p:spPr>
          <a:xfrm>
            <a:off x="5120640" y="1325880"/>
            <a:ext cx="3291840" cy="3200400"/>
          </a:xfrm>
          <a:prstGeom prst="roundRect">
            <a:avLst>
              <a:gd name="adj" fmla="val 2857"/>
            </a:avLst>
          </a:prstGeom>
          <a:solidFill>
            <a:schemeClr val="tx2"/>
          </a:solidFill>
          <a:ln w="9525">
            <a:solidFill>
              <a:schemeClr val="bg2">
                <a:alpha val="30000"/>
              </a:schemeClr>
            </a:solidFill>
            <a:prstDash val="solid"/>
          </a:ln>
        </p:spPr>
      </p:sp>
      <p:sp>
        <p:nvSpPr>
          <p:cNvPr id="17" name="Text 15"/>
          <p:cNvSpPr txBox="1"/>
          <p:nvPr/>
        </p:nvSpPr>
        <p:spPr>
          <a:xfrm>
            <a:off x="5120640" y="2103120"/>
            <a:ext cx="3291840" cy="1463040"/>
          </a:xfrm>
          <a:prstGeom prst="rect">
            <a:avLst/>
          </a:prstGeom>
          <a:noFill/>
          <a:ln/>
        </p:spPr>
        <p:txBody>
          <a:bodyPr wrap="square" lIns="0" tIns="0" rIns="0" bIns="0" rtlCol="0" anchor="ctr"/>
          <a:lstStyle/>
          <a:p>
            <a:pPr algn="ctr" indent="0" marL="0">
              <a:buNone/>
            </a:pPr>
            <a:r>
              <a:rPr lang="en-US" sz="5400" b="1" dirty="0">
                <a:solidFill>
                  <a:schemeClr val="bg2"/>
                </a:solidFill>
              </a:rPr>
              <a:t>?</a:t>
            </a:r>
            <a:endParaRPr lang="en-US" sz="5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ile K"/>
          <p:cNvSpPr/>
          <p:nvPr/>
        </p:nvSpPr>
        <p:spPr>
          <a:xfrm>
            <a:off x="457200" y="301752"/>
            <a:ext cx="749808" cy="841248"/>
          </a:xfrm>
          <a:prstGeom prst="roundRect">
            <a:avLst>
              <a:gd name="adj" fmla="val 12000"/>
            </a:avLst>
          </a:prstGeom>
          <a:solidFill>
            <a:srgbClr val="FF8F5E">
              <a:alpha val="30000"/>
            </a:srgbClr>
          </a:solidFill>
          <a:ln w="19050">
            <a:solidFill>
              <a:srgbClr val="FF8F5E"/>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19</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K</a:t>
            </a:r>
            <a:endParaRPr lang="en-US" sz="3100" dirty="0"/>
          </a:p>
        </p:txBody>
      </p:sp>
      <p:sp>
        <p:nvSpPr>
          <p:cNvPr id="5" name="Text 0"/>
          <p:cNvSpPr/>
          <p:nvPr>
            <p:ph idx="100" type="body" hasCustomPrompt="1"/>
          </p:nvPr>
        </p:nvSpPr>
        <p:spPr>
          <a:xfrm>
            <a:off x="1417320" y="329184"/>
            <a:ext cx="7223760" cy="256032"/>
          </a:xfrm>
          <a:prstGeom prst="rect">
            <a:avLst/>
          </a:prstGeom>
          <a:noFill/>
          <a:ln/>
        </p:spPr>
        <p:txBody>
          <a:bodyPr wrap="square" lIns="0" tIns="0" rIns="0" bIns="0" rtlCol="0" anchor="ctr"/>
          <a:lstStyle/>
          <a:p>
            <a:pPr algn="l" indent="0" marL="0">
              <a:buNone/>
            </a:pPr>
            <a:r>
              <a:rPr lang="en-US" sz="1200" dirty="0">
                <a:solidFill>
                  <a:schemeClr val="bg2"/>
                </a:solidFill>
              </a:rPr>
              <a:t>Challenge: answer</a:t>
            </a:r>
            <a:endParaRPr lang="en-US" sz="1200" dirty="0"/>
          </a:p>
        </p:txBody>
      </p:sp>
      <p:sp>
        <p:nvSpPr>
          <p:cNvPr id="6" name="Text 0"/>
          <p:cNvSpPr/>
          <p:nvPr>
            <p:ph idx="101" type="title" hasCustomPrompt="1"/>
          </p:nvPr>
        </p:nvSpPr>
        <p:spPr>
          <a:xfrm>
            <a:off x="1417320" y="603504"/>
            <a:ext cx="7223760" cy="530352"/>
          </a:xfrm>
          <a:prstGeom prst="rect">
            <a:avLst/>
          </a:prstGeom>
          <a:noFill/>
          <a:ln/>
        </p:spPr>
        <p:txBody>
          <a:bodyPr wrap="square" lIns="0" tIns="0" rIns="0" bIns="0" rtlCol="0" anchor="ctr"/>
          <a:lstStyle/>
          <a:p>
            <a:pPr algn="l" indent="0" marL="0">
              <a:buNone/>
            </a:pPr>
            <a:r>
              <a:rPr lang="en-US" sz="3000" b="1" dirty="0">
                <a:solidFill>
                  <a:schemeClr val="bg1"/>
                </a:solidFill>
              </a:rPr>
              <a:t>Draw the potassium ion on paper</a:t>
            </a:r>
            <a:endParaRPr lang="en-US" sz="3000" dirty="0"/>
          </a:p>
        </p:txBody>
      </p:sp>
      <p:sp>
        <p:nvSpPr>
          <p:cNvPr id="7" name="Text 5"/>
          <p:cNvSpPr txBox="1"/>
          <p:nvPr/>
        </p:nvSpPr>
        <p:spPr>
          <a:xfrm>
            <a:off x="457200" y="1371600"/>
            <a:ext cx="4206240" cy="1097280"/>
          </a:xfrm>
          <a:prstGeom prst="rect">
            <a:avLst/>
          </a:prstGeom>
          <a:noFill/>
          <a:ln/>
        </p:spPr>
        <p:txBody>
          <a:bodyPr wrap="square" lIns="0" tIns="0" rIns="0" bIns="0" rtlCol="0" anchor="t"/>
          <a:lstStyle/>
          <a:p>
            <a:pPr indent="0" marL="0">
              <a:buNone/>
            </a:pPr>
            <a:r>
              <a:rPr lang="en-US" sz="1600" dirty="0">
                <a:solidFill>
                  <a:schemeClr val="bg1"/>
                </a:solidFill>
              </a:rPr>
              <a:t>With no computer, draw a complete Bohr model of the ion potassium forms (atomic number 19, atomic mass 39.098). Write its symbol and its name.</a:t>
            </a:r>
            <a:endParaRPr lang="en-US" sz="1600" dirty="0"/>
          </a:p>
        </p:txBody>
      </p:sp>
      <p:sp>
        <p:nvSpPr>
          <p:cNvPr id="8" name="Text 6"/>
          <p:cNvSpPr/>
          <p:nvPr/>
        </p:nvSpPr>
        <p:spPr>
          <a:xfrm>
            <a:off x="457200" y="2651760"/>
            <a:ext cx="256032" cy="256032"/>
          </a:xfrm>
          <a:prstGeom prst="roundRect">
            <a:avLst>
              <a:gd name="adj" fmla="val 17857"/>
            </a:avLst>
          </a:prstGeom>
          <a:solidFill>
            <a:schemeClr val="accent4"/>
          </a:solidFill>
          <a:ln w="15875">
            <a:solidFill>
              <a:schemeClr val="accent4"/>
            </a:solidFill>
          </a:ln>
        </p:spPr>
        <p:txBody>
          <a:bodyPr wrap="square" lIns="0" tIns="0" rIns="0" bIns="0" rtlCol="0" anchor="ctr"/>
          <a:lstStyle/>
          <a:p>
            <a:pPr algn="ctr" indent="0" marL="0">
              <a:buNone/>
            </a:pPr>
            <a:r>
              <a:rPr lang="en-US" sz="1200" b="1" dirty="0">
                <a:solidFill>
                  <a:schemeClr val="tx1"/>
                </a:solidFill>
              </a:rPr>
              <a:t>✓</a:t>
            </a:r>
            <a:endParaRPr lang="en-US" sz="1200" dirty="0"/>
          </a:p>
        </p:txBody>
      </p:sp>
      <p:sp>
        <p:nvSpPr>
          <p:cNvPr id="9" name="Text 7"/>
          <p:cNvSpPr txBox="1"/>
          <p:nvPr/>
        </p:nvSpPr>
        <p:spPr>
          <a:xfrm>
            <a:off x="868680" y="2606040"/>
            <a:ext cx="3657600" cy="365760"/>
          </a:xfrm>
          <a:prstGeom prst="rect">
            <a:avLst/>
          </a:prstGeom>
          <a:noFill/>
          <a:ln/>
        </p:spPr>
        <p:txBody>
          <a:bodyPr wrap="square" lIns="0" tIns="0" rIns="0" bIns="0" rtlCol="0" anchor="ctr"/>
          <a:lstStyle/>
          <a:p>
            <a:pPr indent="0" marL="0">
              <a:buNone/>
            </a:pPr>
            <a:r>
              <a:rPr lang="en-US" sz="1400" dirty="0">
                <a:solidFill>
                  <a:schemeClr val="bg1"/>
                </a:solidFill>
              </a:rPr>
              <a:t>Same nucleus as the atom</a:t>
            </a:r>
            <a:endParaRPr lang="en-US" sz="1400" dirty="0"/>
          </a:p>
        </p:txBody>
      </p:sp>
      <p:sp>
        <p:nvSpPr>
          <p:cNvPr id="10" name="Text 8"/>
          <p:cNvSpPr/>
          <p:nvPr/>
        </p:nvSpPr>
        <p:spPr>
          <a:xfrm>
            <a:off x="457200" y="3108960"/>
            <a:ext cx="256032" cy="256032"/>
          </a:xfrm>
          <a:prstGeom prst="roundRect">
            <a:avLst>
              <a:gd name="adj" fmla="val 17857"/>
            </a:avLst>
          </a:prstGeom>
          <a:solidFill>
            <a:schemeClr val="accent4"/>
          </a:solidFill>
          <a:ln w="15875">
            <a:solidFill>
              <a:schemeClr val="accent4"/>
            </a:solidFill>
          </a:ln>
        </p:spPr>
        <p:txBody>
          <a:bodyPr wrap="square" lIns="0" tIns="0" rIns="0" bIns="0" rtlCol="0" anchor="ctr"/>
          <a:lstStyle/>
          <a:p>
            <a:pPr algn="ctr" indent="0" marL="0">
              <a:buNone/>
            </a:pPr>
            <a:r>
              <a:rPr lang="en-US" sz="1200" b="1" dirty="0">
                <a:solidFill>
                  <a:schemeClr val="tx1"/>
                </a:solidFill>
              </a:rPr>
              <a:t>✓</a:t>
            </a:r>
            <a:endParaRPr lang="en-US" sz="1200" dirty="0"/>
          </a:p>
        </p:txBody>
      </p:sp>
      <p:sp>
        <p:nvSpPr>
          <p:cNvPr id="11" name="Text 9"/>
          <p:cNvSpPr txBox="1"/>
          <p:nvPr/>
        </p:nvSpPr>
        <p:spPr>
          <a:xfrm>
            <a:off x="868680" y="3063240"/>
            <a:ext cx="3657600" cy="365760"/>
          </a:xfrm>
          <a:prstGeom prst="rect">
            <a:avLst/>
          </a:prstGeom>
          <a:noFill/>
          <a:ln/>
        </p:spPr>
        <p:txBody>
          <a:bodyPr wrap="square" lIns="0" tIns="0" rIns="0" bIns="0" rtlCol="0" anchor="ctr"/>
          <a:lstStyle/>
          <a:p>
            <a:pPr indent="0" marL="0">
              <a:buNone/>
            </a:pPr>
            <a:r>
              <a:rPr lang="en-US" sz="1400" dirty="0">
                <a:solidFill>
                  <a:schemeClr val="bg1"/>
                </a:solidFill>
              </a:rPr>
              <a:t>Right number of shells</a:t>
            </a:r>
            <a:endParaRPr lang="en-US" sz="1400" dirty="0"/>
          </a:p>
        </p:txBody>
      </p:sp>
      <p:sp>
        <p:nvSpPr>
          <p:cNvPr id="12" name="Text 10"/>
          <p:cNvSpPr/>
          <p:nvPr/>
        </p:nvSpPr>
        <p:spPr>
          <a:xfrm>
            <a:off x="457200" y="3566160"/>
            <a:ext cx="256032" cy="256032"/>
          </a:xfrm>
          <a:prstGeom prst="roundRect">
            <a:avLst>
              <a:gd name="adj" fmla="val 17857"/>
            </a:avLst>
          </a:prstGeom>
          <a:solidFill>
            <a:schemeClr val="accent4"/>
          </a:solidFill>
          <a:ln w="15875">
            <a:solidFill>
              <a:schemeClr val="accent4"/>
            </a:solidFill>
          </a:ln>
        </p:spPr>
        <p:txBody>
          <a:bodyPr wrap="square" lIns="0" tIns="0" rIns="0" bIns="0" rtlCol="0" anchor="ctr"/>
          <a:lstStyle/>
          <a:p>
            <a:pPr algn="ctr" indent="0" marL="0">
              <a:buNone/>
            </a:pPr>
            <a:r>
              <a:rPr lang="en-US" sz="1200" b="1" dirty="0">
                <a:solidFill>
                  <a:schemeClr val="tx1"/>
                </a:solidFill>
              </a:rPr>
              <a:t>✓</a:t>
            </a:r>
            <a:endParaRPr lang="en-US" sz="1200" dirty="0"/>
          </a:p>
        </p:txBody>
      </p:sp>
      <p:sp>
        <p:nvSpPr>
          <p:cNvPr id="13" name="Text 11"/>
          <p:cNvSpPr txBox="1"/>
          <p:nvPr/>
        </p:nvSpPr>
        <p:spPr>
          <a:xfrm>
            <a:off x="868680" y="3520440"/>
            <a:ext cx="3657600" cy="365760"/>
          </a:xfrm>
          <a:prstGeom prst="rect">
            <a:avLst/>
          </a:prstGeom>
          <a:noFill/>
          <a:ln/>
        </p:spPr>
        <p:txBody>
          <a:bodyPr wrap="square" lIns="0" tIns="0" rIns="0" bIns="0" rtlCol="0" anchor="ctr"/>
          <a:lstStyle/>
          <a:p>
            <a:pPr indent="0" marL="0">
              <a:buNone/>
            </a:pPr>
            <a:r>
              <a:rPr lang="en-US" sz="1400" dirty="0">
                <a:solidFill>
                  <a:schemeClr val="bg1"/>
                </a:solidFill>
              </a:rPr>
              <a:t>Right electrons in each shell</a:t>
            </a:r>
            <a:endParaRPr lang="en-US" sz="1400" dirty="0"/>
          </a:p>
        </p:txBody>
      </p:sp>
      <p:sp>
        <p:nvSpPr>
          <p:cNvPr id="14" name="Text 12"/>
          <p:cNvSpPr/>
          <p:nvPr/>
        </p:nvSpPr>
        <p:spPr>
          <a:xfrm>
            <a:off x="457200" y="4023360"/>
            <a:ext cx="256032" cy="256032"/>
          </a:xfrm>
          <a:prstGeom prst="roundRect">
            <a:avLst>
              <a:gd name="adj" fmla="val 17857"/>
            </a:avLst>
          </a:prstGeom>
          <a:solidFill>
            <a:schemeClr val="accent4"/>
          </a:solidFill>
          <a:ln w="15875">
            <a:solidFill>
              <a:schemeClr val="accent4"/>
            </a:solidFill>
          </a:ln>
        </p:spPr>
        <p:txBody>
          <a:bodyPr wrap="square" lIns="0" tIns="0" rIns="0" bIns="0" rtlCol="0" anchor="ctr"/>
          <a:lstStyle/>
          <a:p>
            <a:pPr algn="ctr" indent="0" marL="0">
              <a:buNone/>
            </a:pPr>
            <a:r>
              <a:rPr lang="en-US" sz="1200" b="1" dirty="0">
                <a:solidFill>
                  <a:schemeClr val="tx1"/>
                </a:solidFill>
              </a:rPr>
              <a:t>✓</a:t>
            </a:r>
            <a:endParaRPr lang="en-US" sz="1200" dirty="0"/>
          </a:p>
        </p:txBody>
      </p:sp>
      <p:sp>
        <p:nvSpPr>
          <p:cNvPr id="15" name="Text 13"/>
          <p:cNvSpPr txBox="1"/>
          <p:nvPr/>
        </p:nvSpPr>
        <p:spPr>
          <a:xfrm>
            <a:off x="868680" y="3977640"/>
            <a:ext cx="3657600" cy="365760"/>
          </a:xfrm>
          <a:prstGeom prst="rect">
            <a:avLst/>
          </a:prstGeom>
          <a:noFill/>
          <a:ln/>
        </p:spPr>
        <p:txBody>
          <a:bodyPr wrap="square" lIns="0" tIns="0" rIns="0" bIns="0" rtlCol="0" anchor="ctr"/>
          <a:lstStyle/>
          <a:p>
            <a:pPr indent="0" marL="0">
              <a:buNone/>
            </a:pPr>
            <a:r>
              <a:rPr lang="en-US" sz="1400" dirty="0">
                <a:solidFill>
                  <a:schemeClr val="bg1"/>
                </a:solidFill>
              </a:rPr>
              <a:t>Brackets and charge</a:t>
            </a:r>
            <a:endParaRPr lang="en-US" sz="1400" dirty="0"/>
          </a:p>
        </p:txBody>
      </p:sp>
      <p:sp>
        <p:nvSpPr>
          <p:cNvPr id="16" name="potassium ion: shell 1"/>
          <p:cNvSpPr/>
          <p:nvPr/>
        </p:nvSpPr>
        <p:spPr>
          <a:xfrm>
            <a:off x="6240349" y="2171269"/>
            <a:ext cx="869543" cy="869543"/>
          </a:xfrm>
          <a:prstGeom prst="ellipse">
            <a:avLst/>
          </a:prstGeom>
          <a:solidFill>
            <a:schemeClr val="bg1">
              <a:alpha val="0"/>
            </a:schemeClr>
          </a:solidFill>
          <a:ln w="15875">
            <a:solidFill>
              <a:schemeClr val="bg2">
                <a:alpha val="55000"/>
              </a:schemeClr>
            </a:solidFill>
            <a:prstDash val="solid"/>
          </a:ln>
        </p:spPr>
      </p:sp>
      <p:sp>
        <p:nvSpPr>
          <p:cNvPr id="17" name="potassium ion: shell 2"/>
          <p:cNvSpPr/>
          <p:nvPr/>
        </p:nvSpPr>
        <p:spPr>
          <a:xfrm>
            <a:off x="5968617" y="1899537"/>
            <a:ext cx="1413007" cy="1413007"/>
          </a:xfrm>
          <a:prstGeom prst="ellipse">
            <a:avLst/>
          </a:prstGeom>
          <a:solidFill>
            <a:schemeClr val="bg1">
              <a:alpha val="0"/>
            </a:schemeClr>
          </a:solidFill>
          <a:ln w="15875">
            <a:solidFill>
              <a:schemeClr val="bg2">
                <a:alpha val="55000"/>
              </a:schemeClr>
            </a:solidFill>
            <a:prstDash val="solid"/>
          </a:ln>
        </p:spPr>
      </p:sp>
      <p:sp>
        <p:nvSpPr>
          <p:cNvPr id="18" name="potassium ion: shell 3"/>
          <p:cNvSpPr/>
          <p:nvPr/>
        </p:nvSpPr>
        <p:spPr>
          <a:xfrm>
            <a:off x="5715000" y="1645920"/>
            <a:ext cx="1920240" cy="1920240"/>
          </a:xfrm>
          <a:prstGeom prst="ellipse">
            <a:avLst/>
          </a:prstGeom>
          <a:solidFill>
            <a:schemeClr val="bg1">
              <a:alpha val="0"/>
            </a:schemeClr>
          </a:solidFill>
          <a:ln w="15875">
            <a:solidFill>
              <a:schemeClr val="bg2">
                <a:alpha val="55000"/>
              </a:schemeClr>
            </a:solidFill>
            <a:prstDash val="solid"/>
          </a:ln>
        </p:spPr>
      </p:sp>
      <p:sp>
        <p:nvSpPr>
          <p:cNvPr id="19" name="potassium ion: nucleus"/>
          <p:cNvSpPr/>
          <p:nvPr/>
        </p:nvSpPr>
        <p:spPr>
          <a:xfrm>
            <a:off x="6394330" y="2325250"/>
            <a:ext cx="561580" cy="561580"/>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1100" b="1" dirty="0">
                <a:solidFill>
                  <a:schemeClr val="bg1"/>
                </a:solidFill>
              </a:rPr>
              <a:t>19 p</a:t>
            </a:r>
            <a:pPr algn="ctr" indent="0" marL="0">
              <a:buNone/>
            </a:pPr>
            <a:r>
              <a:rPr lang="en-US" sz="1100" b="1" baseline="30000" dirty="0">
                <a:solidFill>
                  <a:schemeClr val="bg1"/>
                </a:solidFill>
              </a:rPr>
              <a:t>+</a:t>
            </a:r>
            <a:endParaRPr lang="en-US" sz="1100" dirty="0"/>
          </a:p>
          <a:p>
            <a:pPr algn="ctr" indent="0" marL="0">
              <a:buNone/>
            </a:pPr>
            <a:r>
              <a:rPr lang="en-US" sz="1100" b="1" dirty="0">
                <a:solidFill>
                  <a:schemeClr val="bg1"/>
                </a:solidFill>
              </a:rPr>
              <a:t>20 n</a:t>
            </a:r>
            <a:pPr algn="ctr" indent="0" marL="0">
              <a:buNone/>
            </a:pPr>
            <a:r>
              <a:rPr lang="en-US" sz="1100" b="1" baseline="30000" dirty="0">
                <a:solidFill>
                  <a:schemeClr val="bg1"/>
                </a:solidFill>
              </a:rPr>
              <a:t>0</a:t>
            </a:r>
            <a:endParaRPr lang="en-US" sz="1100" dirty="0"/>
          </a:p>
        </p:txBody>
      </p:sp>
      <p:sp>
        <p:nvSpPr>
          <p:cNvPr id="20" name="potassium ion: electron, shell 1"/>
          <p:cNvSpPr/>
          <p:nvPr/>
        </p:nvSpPr>
        <p:spPr>
          <a:xfrm>
            <a:off x="6607187" y="2103336"/>
            <a:ext cx="135866" cy="135866"/>
          </a:xfrm>
          <a:prstGeom prst="ellipse">
            <a:avLst/>
          </a:prstGeom>
          <a:solidFill>
            <a:schemeClr val="accent1"/>
          </a:solidFill>
          <a:ln w="3175">
            <a:solidFill>
              <a:schemeClr val="accent1"/>
            </a:solidFill>
            <a:prstDash val="solid"/>
          </a:ln>
        </p:spPr>
      </p:sp>
      <p:sp>
        <p:nvSpPr>
          <p:cNvPr id="21" name="potassium ion: electron, shell 1"/>
          <p:cNvSpPr/>
          <p:nvPr/>
        </p:nvSpPr>
        <p:spPr>
          <a:xfrm>
            <a:off x="7041958" y="2538107"/>
            <a:ext cx="135866" cy="135866"/>
          </a:xfrm>
          <a:prstGeom prst="ellipse">
            <a:avLst/>
          </a:prstGeom>
          <a:solidFill>
            <a:schemeClr val="accent1"/>
          </a:solidFill>
          <a:ln w="3175">
            <a:solidFill>
              <a:schemeClr val="accent1"/>
            </a:solidFill>
            <a:prstDash val="solid"/>
          </a:ln>
        </p:spPr>
      </p:sp>
      <p:sp>
        <p:nvSpPr>
          <p:cNvPr id="22" name="potassium ion: electron, shell 2"/>
          <p:cNvSpPr/>
          <p:nvPr/>
        </p:nvSpPr>
        <p:spPr>
          <a:xfrm>
            <a:off x="6515959" y="1837518"/>
            <a:ext cx="135866" cy="135866"/>
          </a:xfrm>
          <a:prstGeom prst="ellipse">
            <a:avLst/>
          </a:prstGeom>
          <a:solidFill>
            <a:schemeClr val="accent1"/>
          </a:solidFill>
          <a:ln w="3175">
            <a:solidFill>
              <a:schemeClr val="accent1"/>
            </a:solidFill>
            <a:prstDash val="solid"/>
          </a:ln>
        </p:spPr>
      </p:sp>
      <p:sp>
        <p:nvSpPr>
          <p:cNvPr id="23" name="potassium ion: electron, shell 2"/>
          <p:cNvSpPr/>
          <p:nvPr/>
        </p:nvSpPr>
        <p:spPr>
          <a:xfrm>
            <a:off x="6698415" y="1837518"/>
            <a:ext cx="135866" cy="135866"/>
          </a:xfrm>
          <a:prstGeom prst="ellipse">
            <a:avLst/>
          </a:prstGeom>
          <a:solidFill>
            <a:schemeClr val="accent1"/>
          </a:solidFill>
          <a:ln w="3175">
            <a:solidFill>
              <a:schemeClr val="accent1"/>
            </a:solidFill>
            <a:prstDash val="solid"/>
          </a:ln>
        </p:spPr>
      </p:sp>
      <p:sp>
        <p:nvSpPr>
          <p:cNvPr id="24" name="potassium ion: electron, shell 2"/>
          <p:cNvSpPr/>
          <p:nvPr/>
        </p:nvSpPr>
        <p:spPr>
          <a:xfrm>
            <a:off x="7307776" y="2446879"/>
            <a:ext cx="135866" cy="135866"/>
          </a:xfrm>
          <a:prstGeom prst="ellipse">
            <a:avLst/>
          </a:prstGeom>
          <a:solidFill>
            <a:schemeClr val="accent1"/>
          </a:solidFill>
          <a:ln w="3175">
            <a:solidFill>
              <a:schemeClr val="accent1"/>
            </a:solidFill>
            <a:prstDash val="solid"/>
          </a:ln>
        </p:spPr>
      </p:sp>
      <p:sp>
        <p:nvSpPr>
          <p:cNvPr id="25" name="potassium ion: electron, shell 2"/>
          <p:cNvSpPr/>
          <p:nvPr/>
        </p:nvSpPr>
        <p:spPr>
          <a:xfrm>
            <a:off x="7307776" y="2629335"/>
            <a:ext cx="135866" cy="135866"/>
          </a:xfrm>
          <a:prstGeom prst="ellipse">
            <a:avLst/>
          </a:prstGeom>
          <a:solidFill>
            <a:schemeClr val="accent1"/>
          </a:solidFill>
          <a:ln w="3175">
            <a:solidFill>
              <a:schemeClr val="accent1"/>
            </a:solidFill>
            <a:prstDash val="solid"/>
          </a:ln>
        </p:spPr>
      </p:sp>
      <p:sp>
        <p:nvSpPr>
          <p:cNvPr id="26" name="potassium ion: electron, shell 2"/>
          <p:cNvSpPr/>
          <p:nvPr/>
        </p:nvSpPr>
        <p:spPr>
          <a:xfrm>
            <a:off x="6698415" y="3238696"/>
            <a:ext cx="135866" cy="135866"/>
          </a:xfrm>
          <a:prstGeom prst="ellipse">
            <a:avLst/>
          </a:prstGeom>
          <a:solidFill>
            <a:schemeClr val="accent1"/>
          </a:solidFill>
          <a:ln w="3175">
            <a:solidFill>
              <a:schemeClr val="accent1"/>
            </a:solidFill>
            <a:prstDash val="solid"/>
          </a:ln>
        </p:spPr>
      </p:sp>
      <p:sp>
        <p:nvSpPr>
          <p:cNvPr id="27" name="potassium ion: electron, shell 2"/>
          <p:cNvSpPr/>
          <p:nvPr/>
        </p:nvSpPr>
        <p:spPr>
          <a:xfrm>
            <a:off x="6515959" y="3238696"/>
            <a:ext cx="135866" cy="135866"/>
          </a:xfrm>
          <a:prstGeom prst="ellipse">
            <a:avLst/>
          </a:prstGeom>
          <a:solidFill>
            <a:schemeClr val="accent1"/>
          </a:solidFill>
          <a:ln w="3175">
            <a:solidFill>
              <a:schemeClr val="accent1"/>
            </a:solidFill>
            <a:prstDash val="solid"/>
          </a:ln>
        </p:spPr>
      </p:sp>
      <p:sp>
        <p:nvSpPr>
          <p:cNvPr id="28" name="potassium ion: electron, shell 2"/>
          <p:cNvSpPr/>
          <p:nvPr/>
        </p:nvSpPr>
        <p:spPr>
          <a:xfrm>
            <a:off x="5906598" y="2629335"/>
            <a:ext cx="135866" cy="135866"/>
          </a:xfrm>
          <a:prstGeom prst="ellipse">
            <a:avLst/>
          </a:prstGeom>
          <a:solidFill>
            <a:schemeClr val="accent1"/>
          </a:solidFill>
          <a:ln w="3175">
            <a:solidFill>
              <a:schemeClr val="accent1"/>
            </a:solidFill>
            <a:prstDash val="solid"/>
          </a:ln>
        </p:spPr>
      </p:sp>
      <p:sp>
        <p:nvSpPr>
          <p:cNvPr id="29" name="potassium ion: electron, shell 2"/>
          <p:cNvSpPr/>
          <p:nvPr/>
        </p:nvSpPr>
        <p:spPr>
          <a:xfrm>
            <a:off x="5906598" y="2446879"/>
            <a:ext cx="135866" cy="135866"/>
          </a:xfrm>
          <a:prstGeom prst="ellipse">
            <a:avLst/>
          </a:prstGeom>
          <a:solidFill>
            <a:schemeClr val="accent1"/>
          </a:solidFill>
          <a:ln w="3175">
            <a:solidFill>
              <a:schemeClr val="accent1"/>
            </a:solidFill>
            <a:prstDash val="solid"/>
          </a:ln>
        </p:spPr>
      </p:sp>
      <p:sp>
        <p:nvSpPr>
          <p:cNvPr id="30" name="potassium ion: electron, shell 3"/>
          <p:cNvSpPr/>
          <p:nvPr/>
        </p:nvSpPr>
        <p:spPr>
          <a:xfrm>
            <a:off x="6515842" y="1582342"/>
            <a:ext cx="135866" cy="135866"/>
          </a:xfrm>
          <a:prstGeom prst="ellipse">
            <a:avLst/>
          </a:prstGeom>
          <a:solidFill>
            <a:schemeClr val="accent1"/>
          </a:solidFill>
          <a:ln w="3175">
            <a:solidFill>
              <a:schemeClr val="accent1"/>
            </a:solidFill>
            <a:prstDash val="solid"/>
          </a:ln>
        </p:spPr>
      </p:sp>
      <p:sp>
        <p:nvSpPr>
          <p:cNvPr id="31" name="potassium ion: electron, shell 3"/>
          <p:cNvSpPr/>
          <p:nvPr/>
        </p:nvSpPr>
        <p:spPr>
          <a:xfrm>
            <a:off x="6698532" y="1582342"/>
            <a:ext cx="135866" cy="135866"/>
          </a:xfrm>
          <a:prstGeom prst="ellipse">
            <a:avLst/>
          </a:prstGeom>
          <a:solidFill>
            <a:schemeClr val="accent1"/>
          </a:solidFill>
          <a:ln w="3175">
            <a:solidFill>
              <a:schemeClr val="accent1"/>
            </a:solidFill>
            <a:prstDash val="solid"/>
          </a:ln>
        </p:spPr>
      </p:sp>
      <p:sp>
        <p:nvSpPr>
          <p:cNvPr id="32" name="potassium ion: electron, shell 3"/>
          <p:cNvSpPr/>
          <p:nvPr/>
        </p:nvSpPr>
        <p:spPr>
          <a:xfrm>
            <a:off x="7562952" y="2446762"/>
            <a:ext cx="135866" cy="135866"/>
          </a:xfrm>
          <a:prstGeom prst="ellipse">
            <a:avLst/>
          </a:prstGeom>
          <a:solidFill>
            <a:schemeClr val="accent1"/>
          </a:solidFill>
          <a:ln w="3175">
            <a:solidFill>
              <a:schemeClr val="accent1"/>
            </a:solidFill>
            <a:prstDash val="solid"/>
          </a:ln>
        </p:spPr>
      </p:sp>
      <p:sp>
        <p:nvSpPr>
          <p:cNvPr id="33" name="potassium ion: electron, shell 3"/>
          <p:cNvSpPr/>
          <p:nvPr/>
        </p:nvSpPr>
        <p:spPr>
          <a:xfrm>
            <a:off x="7562952" y="2629452"/>
            <a:ext cx="135866" cy="135866"/>
          </a:xfrm>
          <a:prstGeom prst="ellipse">
            <a:avLst/>
          </a:prstGeom>
          <a:solidFill>
            <a:schemeClr val="accent1"/>
          </a:solidFill>
          <a:ln w="3175">
            <a:solidFill>
              <a:schemeClr val="accent1"/>
            </a:solidFill>
            <a:prstDash val="solid"/>
          </a:ln>
        </p:spPr>
      </p:sp>
      <p:sp>
        <p:nvSpPr>
          <p:cNvPr id="34" name="potassium ion: electron, shell 3"/>
          <p:cNvSpPr/>
          <p:nvPr/>
        </p:nvSpPr>
        <p:spPr>
          <a:xfrm>
            <a:off x="6698532" y="3493872"/>
            <a:ext cx="135866" cy="135866"/>
          </a:xfrm>
          <a:prstGeom prst="ellipse">
            <a:avLst/>
          </a:prstGeom>
          <a:solidFill>
            <a:schemeClr val="accent1"/>
          </a:solidFill>
          <a:ln w="3175">
            <a:solidFill>
              <a:schemeClr val="accent1"/>
            </a:solidFill>
            <a:prstDash val="solid"/>
          </a:ln>
        </p:spPr>
      </p:sp>
      <p:sp>
        <p:nvSpPr>
          <p:cNvPr id="35" name="potassium ion: electron, shell 3"/>
          <p:cNvSpPr/>
          <p:nvPr/>
        </p:nvSpPr>
        <p:spPr>
          <a:xfrm>
            <a:off x="6515842" y="3493872"/>
            <a:ext cx="135866" cy="135866"/>
          </a:xfrm>
          <a:prstGeom prst="ellipse">
            <a:avLst/>
          </a:prstGeom>
          <a:solidFill>
            <a:schemeClr val="accent1"/>
          </a:solidFill>
          <a:ln w="3175">
            <a:solidFill>
              <a:schemeClr val="accent1"/>
            </a:solidFill>
            <a:prstDash val="solid"/>
          </a:ln>
        </p:spPr>
      </p:sp>
      <p:sp>
        <p:nvSpPr>
          <p:cNvPr id="36" name="potassium ion: electron, shell 3"/>
          <p:cNvSpPr/>
          <p:nvPr/>
        </p:nvSpPr>
        <p:spPr>
          <a:xfrm>
            <a:off x="5651422" y="2629452"/>
            <a:ext cx="135866" cy="135866"/>
          </a:xfrm>
          <a:prstGeom prst="ellipse">
            <a:avLst/>
          </a:prstGeom>
          <a:solidFill>
            <a:schemeClr val="accent1"/>
          </a:solidFill>
          <a:ln w="3175">
            <a:solidFill>
              <a:schemeClr val="accent1"/>
            </a:solidFill>
            <a:prstDash val="solid"/>
          </a:ln>
        </p:spPr>
      </p:sp>
      <p:sp>
        <p:nvSpPr>
          <p:cNvPr id="37" name="potassium ion: electron, shell 3"/>
          <p:cNvSpPr/>
          <p:nvPr/>
        </p:nvSpPr>
        <p:spPr>
          <a:xfrm>
            <a:off x="5651422" y="2446762"/>
            <a:ext cx="135866" cy="135866"/>
          </a:xfrm>
          <a:prstGeom prst="ellipse">
            <a:avLst/>
          </a:prstGeom>
          <a:solidFill>
            <a:schemeClr val="accent1"/>
          </a:solidFill>
          <a:ln w="3175">
            <a:solidFill>
              <a:schemeClr val="accent1"/>
            </a:solidFill>
            <a:prstDash val="solid"/>
          </a:ln>
        </p:spPr>
      </p:sp>
      <p:sp>
        <p:nvSpPr>
          <p:cNvPr id="38" name="potassium ion: left bracket"/>
          <p:cNvSpPr/>
          <p:nvPr/>
        </p:nvSpPr>
        <p:spPr>
          <a:xfrm>
            <a:off x="5570076" y="1500996"/>
            <a:ext cx="126808" cy="2210088"/>
          </a:xfrm>
          <a:prstGeom prst="leftBracket">
            <a:avLst/>
          </a:prstGeom>
          <a:noFill/>
          <a:ln w="28575">
            <a:solidFill>
              <a:schemeClr val="bg1"/>
            </a:solidFill>
            <a:prstDash val="solid"/>
          </a:ln>
        </p:spPr>
      </p:sp>
      <p:sp>
        <p:nvSpPr>
          <p:cNvPr id="39" name="potassium ion: right bracket"/>
          <p:cNvSpPr/>
          <p:nvPr/>
        </p:nvSpPr>
        <p:spPr>
          <a:xfrm>
            <a:off x="7653355" y="1500996"/>
            <a:ext cx="126808" cy="2210088"/>
          </a:xfrm>
          <a:prstGeom prst="rightBracket">
            <a:avLst/>
          </a:prstGeom>
          <a:noFill/>
          <a:ln w="28575">
            <a:solidFill>
              <a:schemeClr val="bg1"/>
            </a:solidFill>
            <a:prstDash val="solid"/>
          </a:ln>
        </p:spPr>
      </p:sp>
      <p:sp>
        <p:nvSpPr>
          <p:cNvPr id="40" name="potassium ion: charge"/>
          <p:cNvSpPr txBox="1"/>
          <p:nvPr/>
        </p:nvSpPr>
        <p:spPr>
          <a:xfrm>
            <a:off x="7798452" y="1361296"/>
            <a:ext cx="406400" cy="304800"/>
          </a:xfrm>
          <a:prstGeom prst="rect">
            <a:avLst/>
          </a:prstGeom>
          <a:noFill/>
          <a:ln/>
        </p:spPr>
        <p:txBody>
          <a:bodyPr wrap="square" lIns="0" tIns="0" rIns="0" bIns="0" rtlCol="0" anchor="t"/>
          <a:lstStyle/>
          <a:p>
            <a:pPr indent="0" marL="0">
              <a:buNone/>
            </a:pPr>
            <a:r>
              <a:rPr lang="en-US" sz="2000" b="1" dirty="0">
                <a:solidFill>
                  <a:schemeClr val="bg1"/>
                </a:solidFill>
              </a:rPr>
              <a:t>+</a:t>
            </a:r>
            <a:endParaRPr lang="en-US" sz="2000" dirty="0"/>
          </a:p>
        </p:txBody>
      </p:sp>
      <p:sp>
        <p:nvSpPr>
          <p:cNvPr id="41" name="Text 39"/>
          <p:cNvSpPr txBox="1"/>
          <p:nvPr/>
        </p:nvSpPr>
        <p:spPr>
          <a:xfrm>
            <a:off x="4846320" y="4206240"/>
            <a:ext cx="3840480" cy="292608"/>
          </a:xfrm>
          <a:prstGeom prst="rect">
            <a:avLst/>
          </a:prstGeom>
          <a:noFill/>
          <a:ln/>
        </p:spPr>
        <p:txBody>
          <a:bodyPr wrap="square" lIns="0" tIns="0" rIns="0" bIns="0" rtlCol="0" anchor="ctr"/>
          <a:lstStyle/>
          <a:p>
            <a:pPr algn="ctr" indent="0" marL="0">
              <a:buNone/>
            </a:pPr>
            <a:r>
              <a:rPr lang="en-US" sz="1300" b="1" dirty="0">
                <a:solidFill>
                  <a:schemeClr val="bg1"/>
                </a:solidFill>
              </a:rPr>
              <a:t>K</a:t>
            </a:r>
            <a:pPr algn="ctr" indent="0" marL="0">
              <a:buNone/>
            </a:pPr>
            <a:r>
              <a:rPr lang="en-US" sz="1300" b="1" baseline="30000" dirty="0">
                <a:solidFill>
                  <a:schemeClr val="bg1"/>
                </a:solidFill>
              </a:rPr>
              <a:t>+</a:t>
            </a:r>
            <a:pPr algn="ctr" indent="0" marL="0">
              <a:buNone/>
            </a:pPr>
            <a:r>
              <a:rPr lang="en-US" sz="1300" dirty="0">
                <a:solidFill>
                  <a:schemeClr val="bg1"/>
                </a:solidFill>
              </a:rPr>
              <a:t>  potassium ion   </a:t>
            </a:r>
            <a:pPr algn="ctr" indent="0" marL="0">
              <a:buNone/>
            </a:pPr>
            <a:r>
              <a:rPr lang="en-US" sz="1300" dirty="0">
                <a:solidFill>
                  <a:schemeClr val="bg1"/>
                </a:solidFill>
              </a:rPr>
              <a:t>19 p</a:t>
            </a:r>
            <a:pPr algn="ctr" indent="0" marL="0">
              <a:buNone/>
            </a:pPr>
            <a:r>
              <a:rPr lang="en-US" sz="1300" baseline="30000" dirty="0">
                <a:solidFill>
                  <a:schemeClr val="bg1"/>
                </a:solidFill>
              </a:rPr>
              <a:t>+</a:t>
            </a:r>
            <a:pPr algn="ctr" indent="0" marL="0">
              <a:buNone/>
            </a:pPr>
            <a:r>
              <a:rPr lang="en-US" sz="1300" dirty="0">
                <a:solidFill>
                  <a:schemeClr val="bg1"/>
                </a:solidFill>
              </a:rPr>
              <a:t>   20 n</a:t>
            </a:r>
            <a:pPr algn="ctr" indent="0" marL="0">
              <a:buNone/>
            </a:pPr>
            <a:r>
              <a:rPr lang="en-US" sz="1300" baseline="30000" dirty="0">
                <a:solidFill>
                  <a:schemeClr val="bg1"/>
                </a:solidFill>
              </a:rPr>
              <a:t>0</a:t>
            </a:r>
            <a:pPr algn="ctr" indent="0" marL="0">
              <a:buNone/>
            </a:pPr>
            <a:r>
              <a:rPr lang="en-US" sz="1300" dirty="0">
                <a:solidFill>
                  <a:schemeClr val="accent1"/>
                </a:solidFill>
              </a:rPr>
              <a:t>   2, 8, 8</a:t>
            </a:r>
            <a:endParaRPr lang="en-US" sz="13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64</a:t>
            </a:fld>
            <a:endParaRPr lang="en-US"/>
          </a:p>
        </p:txBody>
      </p:sp>
    </p:spTree>
  </p:cSld>
  <p:clrMapOvr>
    <a:masterClrMapping/>
  </p:clrMapOvr>
</p:sld>
</file>

<file path=ppt/theme/theme1.xml><?xml version="1.0" encoding="utf-8"?>
<a:theme xmlns:a="http://schemas.openxmlformats.org/drawingml/2006/main" name="Ions and the Octet Rule">
  <a:themeElements>
    <a:clrScheme name="Ions and the Octet Rule">
      <a:dk1>
        <a:srgbClr val="0D1628"/>
      </a:dk1>
      <a:lt1>
        <a:srgbClr val="FFFFFF"/>
      </a:lt1>
      <a:dk2>
        <a:srgbClr val="18253F"/>
      </a:dk2>
      <a:lt2>
        <a:srgbClr val="A9BAD6"/>
      </a:lt2>
      <a:accent1>
        <a:srgbClr val="5FE1FF"/>
      </a:accent1>
      <a:accent2>
        <a:srgbClr val="F6B93B"/>
      </a:accent2>
      <a:accent3>
        <a:srgbClr val="FF7D66"/>
      </a:accent3>
      <a:accent4>
        <a:srgbClr val="4ADE80"/>
      </a:accent4>
      <a:accent5>
        <a:srgbClr val="A084FF"/>
      </a:accent5>
      <a:accent6>
        <a:srgbClr val="FF8FD0"/>
      </a:accent6>
      <a:hlink>
        <a:srgbClr val="5FE1FF"/>
      </a:hlink>
      <a:folHlink>
        <a:srgbClr val="A084FF"/>
      </a:folHlink>
    </a:clrScheme>
    <a:fontScheme name="Ions and the Octet Rul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64</Slides>
  <Notes>64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64</vt:i4>
      </vt:variant>
    </vt:vector>
  </HeadingPairs>
  <TitlesOfParts>
    <vt:vector size="6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Ions and the Octet Rule</dc:title>
  <dc:subject>Chemistry Unit 2 self-taught lesson walkthrough</dc:subject>
  <dc:creator>PptxGenJS</dc:creator>
  <cp:lastModifiedBy>PptxGenJS</cp:lastModifiedBy>
  <cp:revision>1</cp:revision>
  <dcterms:created xsi:type="dcterms:W3CDTF">2026-10-19T19:52:35Z</dcterms:created>
  <dcterms:modified xsi:type="dcterms:W3CDTF">2026-10-19T19:52:35Z</dcterms:modified>
</cp:coreProperties>
</file>