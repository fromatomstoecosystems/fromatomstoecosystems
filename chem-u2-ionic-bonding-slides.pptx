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id="{1d58da2b-a9e0-3951-3a8f-3872fee667a5}">
          <p14:sldIdLst>
            <p14:sldId id="256"/>
            <p14:sldId id="257"/>
            <p14:sldId id="258"/>
          </p14:sldIdLst>
        </p14:section>
        <p14:section name="1. Why do atoms form ionic bonds?" id="{f4c2f7e0-5fdd-fb7e-3127-bcbf9ecf5238}">
          <p14:sldIdLst>
            <p14:sldId id="259"/>
            <p14:sldId id="260"/>
            <p14:sldId id="261"/>
            <p14:sldId id="262"/>
            <p14:sldId id="263"/>
            <p14:sldId id="264"/>
          </p14:sldIdLst>
        </p14:section>
        <p14:section name="2. Watch an electron move" id="{82573735-8487-9fcd-c34e-a45955f5fd1e}">
          <p14:sldIdLst>
            <p14:sldId id="265"/>
            <p14:sldId id="266"/>
            <p14:sldId id="267"/>
            <p14:sldId id="268"/>
            <p14:sldId id="269"/>
            <p14:sldId id="270"/>
            <p14:sldId id="271"/>
          </p14:sldIdLst>
        </p14:section>
        <p14:section name="3. Electron-dot diagrams" id="{c997b574-1b6a-3ad0-ede7-fc652db9b29b}">
          <p14:sldIdLst>
            <p14:sldId id="272"/>
            <p14:sldId id="273"/>
            <p14:sldId id="274"/>
            <p14:sldId id="275"/>
            <p14:sldId id="276"/>
            <p14:sldId id="277"/>
          </p14:sldIdLst>
        </p14:section>
        <p14:section name="4. When one electron is not enough" id="{2674196e-16f7-2ada-911d-197cfcd5b00f}">
          <p14:sldIdLst>
            <p14:sldId id="278"/>
            <p14:sldId id="279"/>
            <p14:sldId id="280"/>
            <p14:sldId id="281"/>
            <p14:sldId id="282"/>
            <p14:sldId id="283"/>
          </p14:sldIdLst>
        </p14:section>
        <p14:section name="5. Writing ionic formulas" id="{cff2e114-5915-657a-3b41-2a6182da9ee7}">
          <p14:sldIdLst>
            <p14:sldId id="284"/>
            <p14:sldId id="285"/>
            <p14:sldId id="286"/>
            <p14:sldId id="287"/>
            <p14:sldId id="288"/>
            <p14:sldId id="289"/>
          </p14:sldIdLst>
        </p14:section>
        <p14:section name="6. Naming ionic compounds" id="{ae13f3df-834b-48a5-4477-f8b895ec58a1}">
          <p14:sldIdLst>
            <p14:sldId id="290"/>
            <p14:sldId id="291"/>
            <p14:sldId id="292"/>
            <p14:sldId id="293"/>
            <p14:sldId id="294"/>
            <p14:sldId id="295"/>
          </p14:sldIdLst>
        </p14:section>
        <p14:section name="7. Crystals and properties" id="{c8edda3d-062e-a6d8-25ec-6360058fc37a}">
          <p14:sldIdLst>
            <p14:sldId id="296"/>
            <p14:sldId id="297"/>
            <p14:sldId id="298"/>
            <p14:sldId id="299"/>
            <p14:sldId id="300"/>
            <p14:sldId id="301"/>
            <p14:sldId id="302"/>
          </p14:sldIdLst>
        </p14:section>
        <p14:section name="8. Spot the mistake" id="{e3b3d8c0-730a-11b9-3682-050faf228d52}">
          <p14:sldIdLst>
            <p14:sldId id="303"/>
            <p14:sldId id="304"/>
            <p14:sldId id="305"/>
            <p14:sldId id="306"/>
            <p14:sldId id="307"/>
            <p14:sldId id="308"/>
          </p14:sldIdLst>
        </p14:section>
        <p14:section name="Final check" id="{e19a0084-f146-6670-c16e-c348169cb177}">
          <p14:sldIdLst>
            <p14:sldId id="309"/>
            <p14:sldId id="31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phenomenon: a dangerous metal plus a toxic gas makes something we eat. Let students wonder before you explain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commit to a prediction (they pick one in the lesson to unlock Section 1). Do not reveal the answer yet. The answer (B) is revealed on the "Back to the phenomenon" slide in Section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short sections, about 40 minutes. Each section: read, try it, quick check. Then 20 to 30 minutes of worksheet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takes about 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idea: an ionic bond is the attraction between oppositely charged ions formed when a metal gives electrons to a nonmetal.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sort the cards, then check once. The lesson only says "all correct" or "something is in the wrong spot."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 Mg, K, and Ca are metals, so those pairs are ionic. C and O are both nonmetals, so they share electrons instead. Common mistake: thinking any two elements make an ionic bond.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shared electrons describe covalent bonds, not ionic. C: gravity is far too weak at this scale. D: neutrons have no charge and do not bond atoms.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shared electrons describe covalent bonds, not ionic. C: gravity is far too weak at this scale. D: neutrons have no charge and do not bond atoms.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takes about 5 minutes. Play the animation in the lesson if you can project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three frames: the gold valence electron leaves sodium, travels to chlorine, and turns pink when gained. Brackets and charges show the ions. The green dashed line shows the attraction.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lesson, students tap the glowing electron and watch it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Electrons always move from the metal (K, Li) to the nonmetal (F). If a student says F gives an electron, ask which atom has just 1 valence electron.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on the opening prediction. Ask students who chose A, C, or D what they now think.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reverses the direction: chlorine needs electrons, it does not give them. C describes a covalent bond. D: electrons never move into the nucleus.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reverses the direction: chlorine needs electrons, it does not give them. C describes a covalent bond. D: electrons never move into the nucleus.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takes about 4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Dot diagrams are faster than Bohr models because they only show valence electrons. The pink dot is the one chlorine gained.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tap the metal to send each dot.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Magnesium is in group 2, so it has 2 valence dots and both move. A common mistake is moving only 1 dot, which leaves oxygen with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leaves oxygen with 7. B confuses oxygen's own 6 dots with the dots that move. C is the total oxygen ends with, not how many moved.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leaves oxygen with 7. B confuses oxygen's own 6 dots with the dots that move. C is the total oxygen ends with, not how many moved.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 takes about 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 electrons given and electrons taken. They must match. Add atoms until they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lesson, students set the number of atoms, check, then move every electron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Wrong answers usually balance the atoms instead of the electrons (for example 1 Na and 1 O). Ask: how many electrons does each atom give or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leaves one electron with nowhere to go. B and D give fluorine more electrons than calcium has.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leaves one electron with nowhere to go. B and D give fluorine more electrons than calcium has.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 takes about 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formula builder in the lesson shows the total charge updating as students add 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add ions until the total charge reads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Watch for Ca₂Cl (subscript on the wrong element) and LiO (charges do not cancel). Always check: does the total charge equal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does not cancel the charge (+3 and −1). B puts the subscript on the wrong element. C writes the nonmetal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does not cancel the charge (+3 and −1). B puts the subscript on the wrong element. C writes the nonmetal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6 takes about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Ionic compounds never use number prefixes like di- or mono-. Those are for covalent compounds, coming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lesson these are multiple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wrong answers: "potassium bromine" (forgot -ide), "magnesium dioxide" (number prefix), "calcium difluoride" (the subscript is not part of the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and D add number prefixes, which ionic names never use. B forgets the -ide 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and D add number prefixes, which ionic names never use. B forgets the -ide 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7 takes about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Salt grains are tiny cubes because of the lattice.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predict which state lights the bulb before showing the right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sort these, then check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tricky one is conducting as a solid. Remind students the ions are locked in place until melted or dissolved.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the water itself is not what carries the current here. C: solid salt is made of ions, they just cannot move. D: salt water is not a metal.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the water itself is not what carries the current here. C: solid salt is made of ions, they just cannot move. D: salt water is not a metal.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8 takes about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four-question checklist students can use on any ionic bonding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groups discuss before revealing.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say which checklist step catches each mistake: 1 direction, 2 formula/balance, 3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writes the nonmetal first. B does not cancel the charges. D puts the subscript on calcium instead of chlorine.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writes the nonmetal first. B does not cancel the charges. D puts the subscript on calcium instead of chlorine.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check is done in the lesson on the Chromebook. It is not in these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to the essential question. Have students explain the chain for MgO using the four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8046720" cy="822960"/>
          </a:xfrm>
          <a:prstGeom prst="rect">
            <a:avLst/>
          </a:prstGeom>
          <a:noFill/>
          <a:ln/>
        </p:spPr>
        <p:txBody>
          <a:bodyPr wrap="square" rtlCol="0"/>
          <a:lstStyle>
            <a:lvl1pPr algn="l" indent="0" marL="0">
              <a:buNone/>
              <a:defRPr lang="en-US" sz="4400" b="1" dirty="0">
                <a:solidFill>
                  <a:schemeClr val="bg1"/>
                </a:solidFill>
                <a:latin typeface="Arial" pitchFamily="34" charset="0"/>
                <a:ea typeface="Arial" pitchFamily="34" charset="-122"/>
                <a:cs typeface="Arial" pitchFamily="34" charset="-120"/>
              </a:defRPr>
            </a:lvl1pPr>
          </a:lstStyle>
          <a:p>
            <a:pPr algn="l" indent="0" marL="0">
              <a:buNone/>
            </a:pPr>
            <a:endParaRPr lang="en-US" sz="4400" dirty="0"/>
          </a:p>
        </p:txBody>
      </p:sp>
      <p:sp>
        <p:nvSpPr>
          <p:cNvPr id="3" name="Text 0"/>
          <p:cNvSpPr/>
          <p:nvPr>
            <p:ph idx="101" type="body" hasCustomPrompt="1"/>
          </p:nvPr>
        </p:nvSpPr>
        <p:spPr>
          <a:xfrm>
            <a:off x="548640" y="1280160"/>
            <a:ext cx="8046720" cy="457200"/>
          </a:xfrm>
          <a:prstGeom prst="rect">
            <a:avLst/>
          </a:prstGeom>
          <a:noFill/>
          <a:ln/>
        </p:spPr>
        <p:txBody>
          <a:bodyPr wrap="square" rtlCol="0"/>
          <a:lstStyle>
            <a:lvl1pPr indent="0" marL="0">
              <a:buNone/>
              <a:defRPr lang="en-US" sz="1600" dirty="0">
                <a:solidFill>
                  <a:schemeClr val="bg2"/>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645920" y="548640"/>
            <a:ext cx="7040880" cy="685800"/>
          </a:xfrm>
          <a:prstGeom prst="rect">
            <a:avLst/>
          </a:prstGeom>
          <a:noFill/>
          <a:ln/>
        </p:spPr>
        <p:txBody>
          <a:bodyPr wrap="square" rtlCol="0"/>
          <a:lstStyle>
            <a:lvl1pPr algn="l" indent="0" marL="0">
              <a:buNone/>
              <a:defRPr lang="en-US" sz="3000" b="1" dirty="0">
                <a:solidFill>
                  <a:schemeClr val="bg1"/>
                </a:solidFill>
                <a:latin typeface="Arial" pitchFamily="34" charset="0"/>
                <a:ea typeface="Arial" pitchFamily="34" charset="-122"/>
                <a:cs typeface="Arial" pitchFamily="34" charset="-120"/>
              </a:defRPr>
            </a:lvl1pPr>
          </a:lstStyle>
          <a:p>
            <a:pPr algn="l" indent="0" marL="0">
              <a:buNone/>
            </a:pPr>
            <a:endParaRPr lang="en-US" sz="3000" dirty="0"/>
          </a:p>
        </p:txBody>
      </p:sp>
      <p:sp>
        <p:nvSpPr>
          <p:cNvPr id="3" name="Text 0"/>
          <p:cNvSpPr/>
          <p:nvPr>
            <p:ph idx="101" type="body" hasCustomPrompt="1"/>
          </p:nvPr>
        </p:nvSpPr>
        <p:spPr>
          <a:xfrm>
            <a:off x="1645920" y="274320"/>
            <a:ext cx="6949440" cy="274320"/>
          </a:xfrm>
          <a:prstGeom prst="rect">
            <a:avLst/>
          </a:prstGeom>
          <a:noFill/>
          <a:ln/>
        </p:spPr>
        <p:txBody>
          <a:bodyPr wrap="square" rtlCol="0"/>
          <a:lstStyle>
            <a:lvl1pPr indent="0" marL="0">
              <a:buNone/>
              <a:defRPr lang="en-US" sz="1300" dirty="0">
                <a:solidFill>
                  <a:schemeClr val="bg2"/>
                </a:solidFill>
              </a:defRPr>
            </a:lvl1pPr>
          </a:lstStyle>
          <a:p>
            <a:pPr indent="0" marL="0">
              <a:buNone/>
            </a:pPr>
            <a:endParaRPr lang="en-US" sz="13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FB1C7"/>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234440" y="292608"/>
            <a:ext cx="7452360" cy="548640"/>
          </a:xfrm>
          <a:prstGeom prst="rect">
            <a:avLst/>
          </a:prstGeom>
          <a:noFill/>
          <a:ln/>
        </p:spPr>
        <p:txBody>
          <a:bodyPr wrap="square" rtlCol="0"/>
          <a:lstStyle>
            <a:lvl1pPr algn="l" indent="0" marL="0">
              <a:buNone/>
              <a:defRPr lang="en-US" sz="2800" b="1" dirty="0">
                <a:solidFill>
                  <a:schemeClr val="bg1"/>
                </a:solidFill>
                <a:latin typeface="Arial" pitchFamily="34" charset="0"/>
                <a:ea typeface="Arial" pitchFamily="34" charset="-122"/>
                <a:cs typeface="Arial"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FB1C7"/>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FB1C7"/>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slideLayout" Target="../slideLayouts/slideLayout4.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4.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4.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4.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4.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4.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4.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4.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4.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4.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4.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4.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4.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4.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4.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4.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4.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3.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4.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4.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4.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4.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4.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3.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4.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slideLayout" Target="../slideLayouts/slideLayout4.xml"/><Relationship Id="rId5"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4.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4.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4.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4.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3.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4.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4.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4.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4.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4.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3.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4.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8046720" cy="822960"/>
          </a:xfrm>
          <a:prstGeom prst="rect">
            <a:avLst/>
          </a:prstGeom>
          <a:noFill/>
          <a:ln/>
        </p:spPr>
        <p:txBody>
          <a:bodyPr wrap="square" lIns="0" tIns="0" rIns="0" bIns="0" rtlCol="0"/>
          <a:lstStyle/>
          <a:p>
            <a:pPr algn="l" indent="0" marL="0">
              <a:buNone/>
            </a:pPr>
            <a:r>
              <a:rPr lang="en-US" sz="4400" b="1" dirty="0">
                <a:solidFill>
                  <a:schemeClr val="bg1"/>
                </a:solidFill>
                <a:latin typeface="Arial" pitchFamily="34" charset="0"/>
                <a:ea typeface="Arial" pitchFamily="34" charset="-122"/>
                <a:cs typeface="Arial" pitchFamily="34" charset="-120"/>
              </a:rPr>
              <a:t>Ionic Bonding</a:t>
            </a:r>
            <a:endParaRPr lang="en-US" sz="4400" dirty="0"/>
          </a:p>
        </p:txBody>
      </p:sp>
      <p:sp>
        <p:nvSpPr>
          <p:cNvPr id="3" name="Text 0"/>
          <p:cNvSpPr/>
          <p:nvPr>
            <p:ph idx="101" type="body" hasCustomPrompt="1"/>
          </p:nvPr>
        </p:nvSpPr>
        <p:spPr>
          <a:xfrm>
            <a:off x="548640" y="1280160"/>
            <a:ext cx="8046720" cy="457200"/>
          </a:xfrm>
          <a:prstGeom prst="rect">
            <a:avLst/>
          </a:prstGeom>
          <a:noFill/>
          <a:ln/>
        </p:spPr>
        <p:txBody>
          <a:bodyPr wrap="square" lIns="0" tIns="0" rIns="0" bIns="0" rtlCol="0"/>
          <a:lstStyle/>
          <a:p>
            <a:pPr indent="0" marL="0">
              <a:buNone/>
            </a:pPr>
            <a:r>
              <a:rPr lang="en-US" sz="1600" dirty="0">
                <a:solidFill>
                  <a:schemeClr val="bg2"/>
                </a:solidFill>
              </a:rPr>
              <a:t>Chemistry · Unit 2: Ions, Periodic Trends, and Bonding · about 40 minutes</a:t>
            </a:r>
            <a:endParaRPr lang="en-US" sz="1600" dirty="0"/>
          </a:p>
        </p:txBody>
      </p:sp>
      <p:pic>
        <p:nvPicPr>
          <p:cNvPr id="4" name="phen" descr="Sodium metal plus chlorine gas makes table salt">    </p:cNvPr>
          <p:cNvPicPr>
            <a:picLocks noChangeAspect="1"/>
          </p:cNvPicPr>
          <p:nvPr/>
        </p:nvPicPr>
        <p:blipFill>
          <a:blip r:embed="rId1"/>
          <a:stretch>
            <a:fillRect/>
          </a:stretch>
        </p:blipFill>
        <p:spPr>
          <a:xfrm>
            <a:off x="822960" y="1965960"/>
            <a:ext cx="7498080" cy="250977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1234440" y="292608"/>
            <a:ext cx="7452360" cy="548640"/>
          </a:xfrm>
          <a:prstGeom prst="rect">
            <a:avLst/>
          </a:prstGeom>
          <a:noFill/>
          <a:ln/>
        </p:spPr>
        <p:txBody>
          <a:bodyPr wrap="square" lIns="0" tIns="0" rIns="0" bIns="0" rtlCol="0" anchor="ctr"/>
          <a:lstStyle/>
          <a:p>
            <a:pPr algn="l" indent="0" marL="0">
              <a:buNone/>
            </a:pPr>
            <a:r>
              <a:rPr lang="en-US" sz="2800" b="1" dirty="0">
                <a:solidFill>
                  <a:schemeClr val="bg1"/>
                </a:solidFill>
                <a:latin typeface="Arial" pitchFamily="34" charset="0"/>
                <a:ea typeface="Arial" pitchFamily="34" charset="-122"/>
                <a:cs typeface="Arial" pitchFamily="34" charset="-120"/>
              </a:rPr>
              <a:t>Two dangerous elements, one thing you eat</a:t>
            </a:r>
            <a:endParaRPr lang="en-US" sz="2800" dirty="0"/>
          </a:p>
        </p:txBody>
      </p:sp>
      <p:sp>
        <p:nvSpPr>
          <p:cNvPr id="3" name="Tag Phenomenon"/>
          <p:cNvSpPr/>
          <p:nvPr/>
        </p:nvSpPr>
        <p:spPr>
          <a:xfrm>
            <a:off x="1234440" y="45720"/>
            <a:ext cx="1051560" cy="219456"/>
          </a:xfrm>
          <a:prstGeom prst="roundRect">
            <a:avLst>
              <a:gd name="adj" fmla="val 41667"/>
            </a:avLst>
          </a:prstGeom>
          <a:solidFill>
            <a:srgbClr val="FB923C"/>
          </a:solidFill>
          <a:ln/>
        </p:spPr>
        <p:txBody>
          <a:bodyPr wrap="square" lIns="0" tIns="0" rIns="0" bIns="0" rtlCol="0" anchor="ctr"/>
          <a:lstStyle/>
          <a:p>
            <a:pPr algn="ctr" indent="0" marL="0">
              <a:buNone/>
            </a:pPr>
            <a:r>
              <a:rPr lang="en-US" sz="1000" b="1" dirty="0">
                <a:solidFill>
                  <a:srgbClr val="2A1305"/>
                </a:solidFill>
              </a:rPr>
              <a:t>Phenomenon</a:t>
            </a:r>
            <a:endParaRPr lang="en-US" sz="1000" dirty="0"/>
          </a:p>
        </p:txBody>
      </p:sp>
      <p:pic>
        <p:nvPicPr>
          <p:cNvPr id="4" name="phen" descr="Sodium plus chlorine makes salt">    </p:cNvPr>
          <p:cNvPicPr>
            <a:picLocks noChangeAspect="1"/>
          </p:cNvPicPr>
          <p:nvPr/>
        </p:nvPicPr>
        <p:blipFill>
          <a:blip r:embed="rId1"/>
          <a:stretch>
            <a:fillRect/>
          </a:stretch>
        </p:blipFill>
        <p:spPr>
          <a:xfrm>
            <a:off x="4846320" y="960120"/>
            <a:ext cx="3840480" cy="1285494"/>
          </a:xfrm>
          <a:prstGeom prst="rect">
            <a:avLst/>
          </a:prstGeom>
        </p:spPr>
      </p:pic>
      <p:sp>
        <p:nvSpPr>
          <p:cNvPr id="5" name="Text 2"/>
          <p:cNvSpPr txBox="1"/>
          <p:nvPr/>
        </p:nvSpPr>
        <p:spPr>
          <a:xfrm>
            <a:off x="502920" y="960120"/>
            <a:ext cx="4114800" cy="1097280"/>
          </a:xfrm>
          <a:prstGeom prst="rect">
            <a:avLst/>
          </a:prstGeom>
          <a:noFill/>
          <a:ln/>
        </p:spPr>
        <p:txBody>
          <a:bodyPr wrap="square" lIns="0" tIns="0" rIns="0" bIns="0" rtlCol="0" anchor="t"/>
          <a:lstStyle/>
          <a:p>
            <a:pPr algn="l" indent="0" marL="0">
              <a:buNone/>
            </a:pPr>
            <a:r>
              <a:rPr lang="en-US" sz="1500" dirty="0">
                <a:solidFill>
                  <a:schemeClr val="bg1"/>
                </a:solidFill>
              </a:rPr>
              <a:t>Sodium is so reactive it is stored under oil. Chlorine gas is toxic. Together they make table salt. What do you think happens when they meet?</a:t>
            </a:r>
            <a:endParaRPr lang="en-US" sz="1500" dirty="0"/>
          </a:p>
        </p:txBody>
      </p:sp>
      <p:sp>
        <p:nvSpPr>
          <p:cNvPr id="6" name="Prediction A"/>
          <p:cNvSpPr/>
          <p:nvPr/>
        </p:nvSpPr>
        <p:spPr>
          <a:xfrm>
            <a:off x="502920" y="2194560"/>
            <a:ext cx="4114800" cy="566928"/>
          </a:xfrm>
          <a:prstGeom prst="roundRect">
            <a:avLst>
              <a:gd name="adj" fmla="val 16129"/>
            </a:avLst>
          </a:prstGeom>
          <a:solidFill>
            <a:schemeClr val="tx2"/>
          </a:solidFill>
          <a:ln w="12700">
            <a:solidFill>
              <a:srgbClr val="2A3A55"/>
            </a:solidFill>
            <a:prstDash val="solid"/>
          </a:ln>
        </p:spPr>
      </p:sp>
      <p:sp>
        <p:nvSpPr>
          <p:cNvPr id="7" name="Text 4"/>
          <p:cNvSpPr txBox="1"/>
          <p:nvPr/>
        </p:nvSpPr>
        <p:spPr>
          <a:xfrm>
            <a:off x="658368" y="2240280"/>
            <a:ext cx="3840480" cy="475488"/>
          </a:xfrm>
          <a:prstGeom prst="rect">
            <a:avLst/>
          </a:prstGeom>
          <a:noFill/>
          <a:ln/>
        </p:spPr>
        <p:txBody>
          <a:bodyPr wrap="square" lIns="0" tIns="0" rIns="0" bIns="0" rtlCol="0" anchor="ctr"/>
          <a:lstStyle/>
          <a:p>
            <a:pPr algn="l" indent="0" marL="0">
              <a:buNone/>
            </a:pPr>
            <a:r>
              <a:rPr lang="en-US" sz="1300" dirty="0">
                <a:solidFill>
                  <a:schemeClr val="bg1"/>
                </a:solidFill>
              </a:rPr>
              <a:t>A.  They mix together but each stays the same</a:t>
            </a:r>
            <a:endParaRPr lang="en-US" sz="1300" dirty="0"/>
          </a:p>
        </p:txBody>
      </p:sp>
      <p:sp>
        <p:nvSpPr>
          <p:cNvPr id="8" name="Prediction B"/>
          <p:cNvSpPr/>
          <p:nvPr/>
        </p:nvSpPr>
        <p:spPr>
          <a:xfrm>
            <a:off x="502920" y="2852928"/>
            <a:ext cx="4114800" cy="566928"/>
          </a:xfrm>
          <a:prstGeom prst="roundRect">
            <a:avLst>
              <a:gd name="adj" fmla="val 16129"/>
            </a:avLst>
          </a:prstGeom>
          <a:solidFill>
            <a:schemeClr val="tx2"/>
          </a:solidFill>
          <a:ln w="12700">
            <a:solidFill>
              <a:srgbClr val="2A3A55"/>
            </a:solidFill>
            <a:prstDash val="solid"/>
          </a:ln>
        </p:spPr>
      </p:sp>
      <p:sp>
        <p:nvSpPr>
          <p:cNvPr id="9" name="Text 6"/>
          <p:cNvSpPr txBox="1"/>
          <p:nvPr/>
        </p:nvSpPr>
        <p:spPr>
          <a:xfrm>
            <a:off x="658368" y="2898648"/>
            <a:ext cx="3840480" cy="475488"/>
          </a:xfrm>
          <a:prstGeom prst="rect">
            <a:avLst/>
          </a:prstGeom>
          <a:noFill/>
          <a:ln/>
        </p:spPr>
        <p:txBody>
          <a:bodyPr wrap="square" lIns="0" tIns="0" rIns="0" bIns="0" rtlCol="0" anchor="ctr"/>
          <a:lstStyle/>
          <a:p>
            <a:pPr algn="l" indent="0" marL="0">
              <a:buNone/>
            </a:pPr>
            <a:r>
              <a:rPr lang="en-US" sz="1300" dirty="0">
                <a:solidFill>
                  <a:schemeClr val="bg1"/>
                </a:solidFill>
              </a:rPr>
              <a:t>B.  An electron moves from sodium to chlorine, turning both into new, stable particles</a:t>
            </a:r>
            <a:endParaRPr lang="en-US" sz="1300" dirty="0"/>
          </a:p>
        </p:txBody>
      </p:sp>
      <p:sp>
        <p:nvSpPr>
          <p:cNvPr id="10" name="Prediction C"/>
          <p:cNvSpPr/>
          <p:nvPr/>
        </p:nvSpPr>
        <p:spPr>
          <a:xfrm>
            <a:off x="502920" y="3511296"/>
            <a:ext cx="4114800" cy="566928"/>
          </a:xfrm>
          <a:prstGeom prst="roundRect">
            <a:avLst>
              <a:gd name="adj" fmla="val 16129"/>
            </a:avLst>
          </a:prstGeom>
          <a:solidFill>
            <a:schemeClr val="tx2"/>
          </a:solidFill>
          <a:ln w="12700">
            <a:solidFill>
              <a:srgbClr val="2A3A55"/>
            </a:solidFill>
            <a:prstDash val="solid"/>
          </a:ln>
        </p:spPr>
      </p:sp>
      <p:sp>
        <p:nvSpPr>
          <p:cNvPr id="11" name="Text 8"/>
          <p:cNvSpPr txBox="1"/>
          <p:nvPr/>
        </p:nvSpPr>
        <p:spPr>
          <a:xfrm>
            <a:off x="658368" y="3557016"/>
            <a:ext cx="3840480" cy="475488"/>
          </a:xfrm>
          <a:prstGeom prst="rect">
            <a:avLst/>
          </a:prstGeom>
          <a:noFill/>
          <a:ln/>
        </p:spPr>
        <p:txBody>
          <a:bodyPr wrap="square" lIns="0" tIns="0" rIns="0" bIns="0" rtlCol="0" anchor="ctr"/>
          <a:lstStyle/>
          <a:p>
            <a:pPr algn="l" indent="0" marL="0">
              <a:buNone/>
            </a:pPr>
            <a:r>
              <a:rPr lang="en-US" sz="1300" dirty="0">
                <a:solidFill>
                  <a:schemeClr val="bg1"/>
                </a:solidFill>
              </a:rPr>
              <a:t>C.  The sodium burns away and only chlorine is left</a:t>
            </a:r>
            <a:endParaRPr lang="en-US" sz="1300" dirty="0"/>
          </a:p>
        </p:txBody>
      </p:sp>
      <p:sp>
        <p:nvSpPr>
          <p:cNvPr id="12" name="Prediction D"/>
          <p:cNvSpPr/>
          <p:nvPr/>
        </p:nvSpPr>
        <p:spPr>
          <a:xfrm>
            <a:off x="502920" y="4169664"/>
            <a:ext cx="4114800" cy="566928"/>
          </a:xfrm>
          <a:prstGeom prst="roundRect">
            <a:avLst>
              <a:gd name="adj" fmla="val 16129"/>
            </a:avLst>
          </a:prstGeom>
          <a:solidFill>
            <a:schemeClr val="tx2"/>
          </a:solidFill>
          <a:ln w="12700">
            <a:solidFill>
              <a:srgbClr val="2A3A55"/>
            </a:solidFill>
            <a:prstDash val="solid"/>
          </a:ln>
        </p:spPr>
      </p:sp>
      <p:sp>
        <p:nvSpPr>
          <p:cNvPr id="13" name="Text 10"/>
          <p:cNvSpPr txBox="1"/>
          <p:nvPr/>
        </p:nvSpPr>
        <p:spPr>
          <a:xfrm>
            <a:off x="658368" y="4215384"/>
            <a:ext cx="3840480" cy="475488"/>
          </a:xfrm>
          <a:prstGeom prst="rect">
            <a:avLst/>
          </a:prstGeom>
          <a:noFill/>
          <a:ln/>
        </p:spPr>
        <p:txBody>
          <a:bodyPr wrap="square" lIns="0" tIns="0" rIns="0" bIns="0" rtlCol="0" anchor="ctr"/>
          <a:lstStyle/>
          <a:p>
            <a:pPr algn="l" indent="0" marL="0">
              <a:buNone/>
            </a:pPr>
            <a:r>
              <a:rPr lang="en-US" sz="1300" dirty="0">
                <a:solidFill>
                  <a:schemeClr val="bg1"/>
                </a:solidFill>
              </a:rPr>
              <a:t>D.  The chlorine turns into sodium</a:t>
            </a:r>
            <a:endParaRPr lang="en-US" sz="1300" dirty="0"/>
          </a:p>
        </p:txBody>
      </p:sp>
      <p:sp>
        <p:nvSpPr>
          <p:cNvPr id="14" name="Text 11"/>
          <p:cNvSpPr txBox="1"/>
          <p:nvPr/>
        </p:nvSpPr>
        <p:spPr>
          <a:xfrm>
            <a:off x="4846320" y="3017520"/>
            <a:ext cx="3840480" cy="365760"/>
          </a:xfrm>
          <a:prstGeom prst="rect">
            <a:avLst/>
          </a:prstGeom>
          <a:noFill/>
          <a:ln/>
        </p:spPr>
        <p:txBody>
          <a:bodyPr wrap="square" lIns="0" tIns="0" rIns="0" bIns="0" rtlCol="0" anchor="t"/>
          <a:lstStyle/>
          <a:p>
            <a:pPr algn="l" indent="0" marL="0">
              <a:buNone/>
            </a:pPr>
            <a:r>
              <a:rPr lang="en-US" sz="1400" i="1" dirty="0">
                <a:solidFill>
                  <a:schemeClr val="accent2"/>
                </a:solidFill>
              </a:rPr>
              <a:t>Make a prediction. We'll find out in Section 2.</a:t>
            </a:r>
            <a:endParaRPr lang="en-US" sz="14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FB1C7"/>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1234440" y="292608"/>
            <a:ext cx="7452360" cy="548640"/>
          </a:xfrm>
          <a:prstGeom prst="rect">
            <a:avLst/>
          </a:prstGeom>
          <a:noFill/>
          <a:ln/>
        </p:spPr>
        <p:txBody>
          <a:bodyPr wrap="square" lIns="0" tIns="0" rIns="0" bIns="0" rtlCol="0" anchor="ctr"/>
          <a:lstStyle/>
          <a:p>
            <a:pPr algn="l" indent="0" marL="0">
              <a:buNone/>
            </a:pPr>
            <a:r>
              <a:rPr lang="en-US" sz="2800" b="1" dirty="0">
                <a:solidFill>
                  <a:schemeClr val="bg1"/>
                </a:solidFill>
                <a:latin typeface="Arial" pitchFamily="34" charset="0"/>
                <a:ea typeface="Arial" pitchFamily="34" charset="-122"/>
                <a:cs typeface="Arial" pitchFamily="34" charset="-120"/>
              </a:rPr>
              <a:t>How the lesson works</a:t>
            </a:r>
            <a:endParaRPr lang="en-US" sz="2800" dirty="0"/>
          </a:p>
        </p:txBody>
      </p:sp>
      <p:sp>
        <p:nvSpPr>
          <p:cNvPr id="3" name="Map 1"/>
          <p:cNvSpPr/>
          <p:nvPr/>
        </p:nvSpPr>
        <p:spPr>
          <a:xfrm>
            <a:off x="502920" y="960120"/>
            <a:ext cx="2606040" cy="1051560"/>
          </a:xfrm>
          <a:prstGeom prst="roundRect">
            <a:avLst>
              <a:gd name="adj" fmla="val 8696"/>
            </a:avLst>
          </a:prstGeom>
          <a:solidFill>
            <a:schemeClr val="tx2"/>
          </a:solidFill>
          <a:ln w="12700">
            <a:solidFill>
              <a:srgbClr val="2A3A55"/>
            </a:solidFill>
            <a:prstDash val="solid"/>
          </a:ln>
        </p:spPr>
      </p:sp>
      <p:pic>
        <p:nvPicPr>
          <p:cNvPr id="4" name="Icon 1" descr="Section 1 icon">    </p:cNvPr>
          <p:cNvPicPr>
            <a:picLocks noChangeAspect="1"/>
          </p:cNvPicPr>
          <p:nvPr/>
        </p:nvPicPr>
        <p:blipFill>
          <a:blip r:embed="rId1"/>
          <a:stretch>
            <a:fillRect/>
          </a:stretch>
        </p:blipFill>
        <p:spPr>
          <a:xfrm>
            <a:off x="640080" y="1124712"/>
            <a:ext cx="566928" cy="627239"/>
          </a:xfrm>
          <a:prstGeom prst="rect">
            <a:avLst/>
          </a:prstGeom>
        </p:spPr>
      </p:pic>
      <p:sp>
        <p:nvSpPr>
          <p:cNvPr id="5" name="Text 2"/>
          <p:cNvSpPr txBox="1"/>
          <p:nvPr/>
        </p:nvSpPr>
        <p:spPr>
          <a:xfrm>
            <a:off x="1371600" y="1097280"/>
            <a:ext cx="1645920" cy="548640"/>
          </a:xfrm>
          <a:prstGeom prst="rect">
            <a:avLst/>
          </a:prstGeom>
          <a:noFill/>
          <a:ln/>
        </p:spPr>
        <p:txBody>
          <a:bodyPr wrap="square" lIns="0" tIns="0" rIns="0" bIns="0" rtlCol="0" anchor="t"/>
          <a:lstStyle/>
          <a:p>
            <a:pPr algn="l" indent="0" marL="0">
              <a:buNone/>
            </a:pPr>
            <a:r>
              <a:rPr lang="en-US" sz="1300" b="1" dirty="0">
                <a:solidFill>
                  <a:schemeClr val="bg1"/>
                </a:solidFill>
              </a:rPr>
              <a:t>Why do atoms form ionic bonds?</a:t>
            </a:r>
            <a:endParaRPr lang="en-US" sz="1300" dirty="0"/>
          </a:p>
        </p:txBody>
      </p:sp>
      <p:sp>
        <p:nvSpPr>
          <p:cNvPr id="6" name="Text 3"/>
          <p:cNvSpPr txBox="1"/>
          <p:nvPr/>
        </p:nvSpPr>
        <p:spPr>
          <a:xfrm>
            <a:off x="1371600" y="1673352"/>
            <a:ext cx="1645920" cy="228600"/>
          </a:xfrm>
          <a:prstGeom prst="rect">
            <a:avLst/>
          </a:prstGeom>
          <a:noFill/>
          <a:ln/>
        </p:spPr>
        <p:txBody>
          <a:bodyPr wrap="square" lIns="0" tIns="0" rIns="0" bIns="0" rtlCol="0" anchor="t"/>
          <a:lstStyle/>
          <a:p>
            <a:pPr algn="l" indent="0" marL="0">
              <a:buNone/>
            </a:pPr>
            <a:r>
              <a:rPr lang="en-US" sz="1100" dirty="0">
                <a:solidFill>
                  <a:schemeClr val="bg2"/>
                </a:solidFill>
              </a:rPr>
              <a:t>about 5 min</a:t>
            </a:r>
            <a:endParaRPr lang="en-US" sz="1100" dirty="0"/>
          </a:p>
        </p:txBody>
      </p:sp>
      <p:sp>
        <p:nvSpPr>
          <p:cNvPr id="7" name="Map 2"/>
          <p:cNvSpPr/>
          <p:nvPr/>
        </p:nvSpPr>
        <p:spPr>
          <a:xfrm>
            <a:off x="3291840" y="960120"/>
            <a:ext cx="2606040" cy="1051560"/>
          </a:xfrm>
          <a:prstGeom prst="roundRect">
            <a:avLst>
              <a:gd name="adj" fmla="val 8696"/>
            </a:avLst>
          </a:prstGeom>
          <a:solidFill>
            <a:schemeClr val="tx2"/>
          </a:solidFill>
          <a:ln w="12700">
            <a:solidFill>
              <a:srgbClr val="2A3A55"/>
            </a:solidFill>
            <a:prstDash val="solid"/>
          </a:ln>
        </p:spPr>
      </p:sp>
      <p:pic>
        <p:nvPicPr>
          <p:cNvPr id="8" name="Icon 2" descr="Section 2 icon">    </p:cNvPr>
          <p:cNvPicPr>
            <a:picLocks noChangeAspect="1"/>
          </p:cNvPicPr>
          <p:nvPr/>
        </p:nvPicPr>
        <p:blipFill>
          <a:blip r:embed="rId2"/>
          <a:stretch>
            <a:fillRect/>
          </a:stretch>
        </p:blipFill>
        <p:spPr>
          <a:xfrm>
            <a:off x="3429000" y="1124712"/>
            <a:ext cx="566928" cy="627239"/>
          </a:xfrm>
          <a:prstGeom prst="rect">
            <a:avLst/>
          </a:prstGeom>
        </p:spPr>
      </p:pic>
      <p:sp>
        <p:nvSpPr>
          <p:cNvPr id="9" name="Text 5"/>
          <p:cNvSpPr txBox="1"/>
          <p:nvPr/>
        </p:nvSpPr>
        <p:spPr>
          <a:xfrm>
            <a:off x="4160520" y="1097280"/>
            <a:ext cx="1645920" cy="548640"/>
          </a:xfrm>
          <a:prstGeom prst="rect">
            <a:avLst/>
          </a:prstGeom>
          <a:noFill/>
          <a:ln/>
        </p:spPr>
        <p:txBody>
          <a:bodyPr wrap="square" lIns="0" tIns="0" rIns="0" bIns="0" rtlCol="0" anchor="t"/>
          <a:lstStyle/>
          <a:p>
            <a:pPr algn="l" indent="0" marL="0">
              <a:buNone/>
            </a:pPr>
            <a:r>
              <a:rPr lang="en-US" sz="1300" b="1" dirty="0">
                <a:solidFill>
                  <a:schemeClr val="bg1"/>
                </a:solidFill>
              </a:rPr>
              <a:t>Watch an electron move</a:t>
            </a:r>
            <a:endParaRPr lang="en-US" sz="1300" dirty="0"/>
          </a:p>
        </p:txBody>
      </p:sp>
      <p:sp>
        <p:nvSpPr>
          <p:cNvPr id="10" name="Text 6"/>
          <p:cNvSpPr txBox="1"/>
          <p:nvPr/>
        </p:nvSpPr>
        <p:spPr>
          <a:xfrm>
            <a:off x="4160520" y="1673352"/>
            <a:ext cx="1645920" cy="228600"/>
          </a:xfrm>
          <a:prstGeom prst="rect">
            <a:avLst/>
          </a:prstGeom>
          <a:noFill/>
          <a:ln/>
        </p:spPr>
        <p:txBody>
          <a:bodyPr wrap="square" lIns="0" tIns="0" rIns="0" bIns="0" rtlCol="0" anchor="t"/>
          <a:lstStyle/>
          <a:p>
            <a:pPr algn="l" indent="0" marL="0">
              <a:buNone/>
            </a:pPr>
            <a:r>
              <a:rPr lang="en-US" sz="1100" dirty="0">
                <a:solidFill>
                  <a:schemeClr val="bg2"/>
                </a:solidFill>
              </a:rPr>
              <a:t>about 5 min</a:t>
            </a:r>
            <a:endParaRPr lang="en-US" sz="1100" dirty="0"/>
          </a:p>
        </p:txBody>
      </p:sp>
      <p:sp>
        <p:nvSpPr>
          <p:cNvPr id="11" name="Map 3"/>
          <p:cNvSpPr/>
          <p:nvPr/>
        </p:nvSpPr>
        <p:spPr>
          <a:xfrm>
            <a:off x="6080760" y="960120"/>
            <a:ext cx="2606040" cy="1051560"/>
          </a:xfrm>
          <a:prstGeom prst="roundRect">
            <a:avLst>
              <a:gd name="adj" fmla="val 8696"/>
            </a:avLst>
          </a:prstGeom>
          <a:solidFill>
            <a:schemeClr val="tx2"/>
          </a:solidFill>
          <a:ln w="12700">
            <a:solidFill>
              <a:srgbClr val="2A3A55"/>
            </a:solidFill>
            <a:prstDash val="solid"/>
          </a:ln>
        </p:spPr>
      </p:sp>
      <p:pic>
        <p:nvPicPr>
          <p:cNvPr id="12" name="Icon 3" descr="Section 3 icon">    </p:cNvPr>
          <p:cNvPicPr>
            <a:picLocks noChangeAspect="1"/>
          </p:cNvPicPr>
          <p:nvPr/>
        </p:nvPicPr>
        <p:blipFill>
          <a:blip r:embed="rId3"/>
          <a:stretch>
            <a:fillRect/>
          </a:stretch>
        </p:blipFill>
        <p:spPr>
          <a:xfrm>
            <a:off x="6217920" y="1124712"/>
            <a:ext cx="566928" cy="627239"/>
          </a:xfrm>
          <a:prstGeom prst="rect">
            <a:avLst/>
          </a:prstGeom>
        </p:spPr>
      </p:pic>
      <p:sp>
        <p:nvSpPr>
          <p:cNvPr id="13" name="Text 8"/>
          <p:cNvSpPr txBox="1"/>
          <p:nvPr/>
        </p:nvSpPr>
        <p:spPr>
          <a:xfrm>
            <a:off x="6949440" y="1097280"/>
            <a:ext cx="1645920" cy="548640"/>
          </a:xfrm>
          <a:prstGeom prst="rect">
            <a:avLst/>
          </a:prstGeom>
          <a:noFill/>
          <a:ln/>
        </p:spPr>
        <p:txBody>
          <a:bodyPr wrap="square" lIns="0" tIns="0" rIns="0" bIns="0" rtlCol="0" anchor="t"/>
          <a:lstStyle/>
          <a:p>
            <a:pPr algn="l" indent="0" marL="0">
              <a:buNone/>
            </a:pPr>
            <a:r>
              <a:rPr lang="en-US" sz="1300" b="1" dirty="0">
                <a:solidFill>
                  <a:schemeClr val="bg1"/>
                </a:solidFill>
              </a:rPr>
              <a:t>Electron-dot diagrams</a:t>
            </a:r>
            <a:endParaRPr lang="en-US" sz="1300" dirty="0"/>
          </a:p>
        </p:txBody>
      </p:sp>
      <p:sp>
        <p:nvSpPr>
          <p:cNvPr id="14" name="Text 9"/>
          <p:cNvSpPr txBox="1"/>
          <p:nvPr/>
        </p:nvSpPr>
        <p:spPr>
          <a:xfrm>
            <a:off x="6949440" y="1673352"/>
            <a:ext cx="1645920" cy="228600"/>
          </a:xfrm>
          <a:prstGeom prst="rect">
            <a:avLst/>
          </a:prstGeom>
          <a:noFill/>
          <a:ln/>
        </p:spPr>
        <p:txBody>
          <a:bodyPr wrap="square" lIns="0" tIns="0" rIns="0" bIns="0" rtlCol="0" anchor="t"/>
          <a:lstStyle/>
          <a:p>
            <a:pPr algn="l" indent="0" marL="0">
              <a:buNone/>
            </a:pPr>
            <a:r>
              <a:rPr lang="en-US" sz="1100" dirty="0">
                <a:solidFill>
                  <a:schemeClr val="bg2"/>
                </a:solidFill>
              </a:rPr>
              <a:t>about 4 min</a:t>
            </a:r>
            <a:endParaRPr lang="en-US" sz="1100" dirty="0"/>
          </a:p>
        </p:txBody>
      </p:sp>
      <p:sp>
        <p:nvSpPr>
          <p:cNvPr id="15" name="Map 4"/>
          <p:cNvSpPr/>
          <p:nvPr/>
        </p:nvSpPr>
        <p:spPr>
          <a:xfrm>
            <a:off x="502920" y="2194560"/>
            <a:ext cx="2606040" cy="1051560"/>
          </a:xfrm>
          <a:prstGeom prst="roundRect">
            <a:avLst>
              <a:gd name="adj" fmla="val 8696"/>
            </a:avLst>
          </a:prstGeom>
          <a:solidFill>
            <a:schemeClr val="tx2"/>
          </a:solidFill>
          <a:ln w="12700">
            <a:solidFill>
              <a:srgbClr val="2A3A55"/>
            </a:solidFill>
            <a:prstDash val="solid"/>
          </a:ln>
        </p:spPr>
      </p:sp>
      <p:pic>
        <p:nvPicPr>
          <p:cNvPr id="16" name="Icon 4" descr="Section 4 icon">    </p:cNvPr>
          <p:cNvPicPr>
            <a:picLocks noChangeAspect="1"/>
          </p:cNvPicPr>
          <p:nvPr/>
        </p:nvPicPr>
        <p:blipFill>
          <a:blip r:embed="rId4"/>
          <a:stretch>
            <a:fillRect/>
          </a:stretch>
        </p:blipFill>
        <p:spPr>
          <a:xfrm>
            <a:off x="640080" y="2359152"/>
            <a:ext cx="566928" cy="627239"/>
          </a:xfrm>
          <a:prstGeom prst="rect">
            <a:avLst/>
          </a:prstGeom>
        </p:spPr>
      </p:pic>
      <p:sp>
        <p:nvSpPr>
          <p:cNvPr id="17" name="Text 11"/>
          <p:cNvSpPr txBox="1"/>
          <p:nvPr/>
        </p:nvSpPr>
        <p:spPr>
          <a:xfrm>
            <a:off x="1371600" y="2331720"/>
            <a:ext cx="1645920" cy="548640"/>
          </a:xfrm>
          <a:prstGeom prst="rect">
            <a:avLst/>
          </a:prstGeom>
          <a:noFill/>
          <a:ln/>
        </p:spPr>
        <p:txBody>
          <a:bodyPr wrap="square" lIns="0" tIns="0" rIns="0" bIns="0" rtlCol="0" anchor="t"/>
          <a:lstStyle/>
          <a:p>
            <a:pPr algn="l" indent="0" marL="0">
              <a:buNone/>
            </a:pPr>
            <a:r>
              <a:rPr lang="en-US" sz="1300" b="1" dirty="0">
                <a:solidFill>
                  <a:schemeClr val="bg1"/>
                </a:solidFill>
              </a:rPr>
              <a:t>When one electron is not enough</a:t>
            </a:r>
            <a:endParaRPr lang="en-US" sz="1300" dirty="0"/>
          </a:p>
        </p:txBody>
      </p:sp>
      <p:sp>
        <p:nvSpPr>
          <p:cNvPr id="18" name="Text 12"/>
          <p:cNvSpPr txBox="1"/>
          <p:nvPr/>
        </p:nvSpPr>
        <p:spPr>
          <a:xfrm>
            <a:off x="1371600" y="2907792"/>
            <a:ext cx="1645920" cy="228600"/>
          </a:xfrm>
          <a:prstGeom prst="rect">
            <a:avLst/>
          </a:prstGeom>
          <a:noFill/>
          <a:ln/>
        </p:spPr>
        <p:txBody>
          <a:bodyPr wrap="square" lIns="0" tIns="0" rIns="0" bIns="0" rtlCol="0" anchor="t"/>
          <a:lstStyle/>
          <a:p>
            <a:pPr algn="l" indent="0" marL="0">
              <a:buNone/>
            </a:pPr>
            <a:r>
              <a:rPr lang="en-US" sz="1100" dirty="0">
                <a:solidFill>
                  <a:schemeClr val="bg2"/>
                </a:solidFill>
              </a:rPr>
              <a:t>about 5 min</a:t>
            </a:r>
            <a:endParaRPr lang="en-US" sz="1100" dirty="0"/>
          </a:p>
        </p:txBody>
      </p:sp>
      <p:sp>
        <p:nvSpPr>
          <p:cNvPr id="19" name="Map 5"/>
          <p:cNvSpPr/>
          <p:nvPr/>
        </p:nvSpPr>
        <p:spPr>
          <a:xfrm>
            <a:off x="3291840" y="2194560"/>
            <a:ext cx="2606040" cy="1051560"/>
          </a:xfrm>
          <a:prstGeom prst="roundRect">
            <a:avLst>
              <a:gd name="adj" fmla="val 8696"/>
            </a:avLst>
          </a:prstGeom>
          <a:solidFill>
            <a:schemeClr val="tx2"/>
          </a:solidFill>
          <a:ln w="12700">
            <a:solidFill>
              <a:srgbClr val="2A3A55"/>
            </a:solidFill>
            <a:prstDash val="solid"/>
          </a:ln>
        </p:spPr>
      </p:sp>
      <p:pic>
        <p:nvPicPr>
          <p:cNvPr id="20" name="Icon 5" descr="Section 5 icon">    </p:cNvPr>
          <p:cNvPicPr>
            <a:picLocks noChangeAspect="1"/>
          </p:cNvPicPr>
          <p:nvPr/>
        </p:nvPicPr>
        <p:blipFill>
          <a:blip r:embed="rId5"/>
          <a:stretch>
            <a:fillRect/>
          </a:stretch>
        </p:blipFill>
        <p:spPr>
          <a:xfrm>
            <a:off x="3429000" y="2359152"/>
            <a:ext cx="566928" cy="627239"/>
          </a:xfrm>
          <a:prstGeom prst="rect">
            <a:avLst/>
          </a:prstGeom>
        </p:spPr>
      </p:pic>
      <p:sp>
        <p:nvSpPr>
          <p:cNvPr id="21" name="Text 14"/>
          <p:cNvSpPr txBox="1"/>
          <p:nvPr/>
        </p:nvSpPr>
        <p:spPr>
          <a:xfrm>
            <a:off x="4160520" y="2331720"/>
            <a:ext cx="1645920" cy="548640"/>
          </a:xfrm>
          <a:prstGeom prst="rect">
            <a:avLst/>
          </a:prstGeom>
          <a:noFill/>
          <a:ln/>
        </p:spPr>
        <p:txBody>
          <a:bodyPr wrap="square" lIns="0" tIns="0" rIns="0" bIns="0" rtlCol="0" anchor="t"/>
          <a:lstStyle/>
          <a:p>
            <a:pPr algn="l" indent="0" marL="0">
              <a:buNone/>
            </a:pPr>
            <a:r>
              <a:rPr lang="en-US" sz="1300" b="1" dirty="0">
                <a:solidFill>
                  <a:schemeClr val="bg1"/>
                </a:solidFill>
              </a:rPr>
              <a:t>Writing ionic formulas</a:t>
            </a:r>
            <a:endParaRPr lang="en-US" sz="1300" dirty="0"/>
          </a:p>
        </p:txBody>
      </p:sp>
      <p:sp>
        <p:nvSpPr>
          <p:cNvPr id="22" name="Text 15"/>
          <p:cNvSpPr txBox="1"/>
          <p:nvPr/>
        </p:nvSpPr>
        <p:spPr>
          <a:xfrm>
            <a:off x="4160520" y="2907792"/>
            <a:ext cx="1645920" cy="228600"/>
          </a:xfrm>
          <a:prstGeom prst="rect">
            <a:avLst/>
          </a:prstGeom>
          <a:noFill/>
          <a:ln/>
        </p:spPr>
        <p:txBody>
          <a:bodyPr wrap="square" lIns="0" tIns="0" rIns="0" bIns="0" rtlCol="0" anchor="t"/>
          <a:lstStyle/>
          <a:p>
            <a:pPr algn="l" indent="0" marL="0">
              <a:buNone/>
            </a:pPr>
            <a:r>
              <a:rPr lang="en-US" sz="1100" dirty="0">
                <a:solidFill>
                  <a:schemeClr val="bg2"/>
                </a:solidFill>
              </a:rPr>
              <a:t>about 5 min</a:t>
            </a:r>
            <a:endParaRPr lang="en-US" sz="1100" dirty="0"/>
          </a:p>
        </p:txBody>
      </p:sp>
      <p:sp>
        <p:nvSpPr>
          <p:cNvPr id="23" name="Map 6"/>
          <p:cNvSpPr/>
          <p:nvPr/>
        </p:nvSpPr>
        <p:spPr>
          <a:xfrm>
            <a:off x="6080760" y="2194560"/>
            <a:ext cx="2606040" cy="1051560"/>
          </a:xfrm>
          <a:prstGeom prst="roundRect">
            <a:avLst>
              <a:gd name="adj" fmla="val 8696"/>
            </a:avLst>
          </a:prstGeom>
          <a:solidFill>
            <a:schemeClr val="tx2"/>
          </a:solidFill>
          <a:ln w="12700">
            <a:solidFill>
              <a:srgbClr val="2A3A55"/>
            </a:solidFill>
            <a:prstDash val="solid"/>
          </a:ln>
        </p:spPr>
      </p:sp>
      <p:pic>
        <p:nvPicPr>
          <p:cNvPr id="24" name="Icon 6" descr="Section 6 icon">    </p:cNvPr>
          <p:cNvPicPr>
            <a:picLocks noChangeAspect="1"/>
          </p:cNvPicPr>
          <p:nvPr/>
        </p:nvPicPr>
        <p:blipFill>
          <a:blip r:embed="rId6"/>
          <a:stretch>
            <a:fillRect/>
          </a:stretch>
        </p:blipFill>
        <p:spPr>
          <a:xfrm>
            <a:off x="6217920" y="2359152"/>
            <a:ext cx="566928" cy="627239"/>
          </a:xfrm>
          <a:prstGeom prst="rect">
            <a:avLst/>
          </a:prstGeom>
        </p:spPr>
      </p:pic>
      <p:sp>
        <p:nvSpPr>
          <p:cNvPr id="25" name="Text 17"/>
          <p:cNvSpPr txBox="1"/>
          <p:nvPr/>
        </p:nvSpPr>
        <p:spPr>
          <a:xfrm>
            <a:off x="6949440" y="2331720"/>
            <a:ext cx="1645920" cy="548640"/>
          </a:xfrm>
          <a:prstGeom prst="rect">
            <a:avLst/>
          </a:prstGeom>
          <a:noFill/>
          <a:ln/>
        </p:spPr>
        <p:txBody>
          <a:bodyPr wrap="square" lIns="0" tIns="0" rIns="0" bIns="0" rtlCol="0" anchor="t"/>
          <a:lstStyle/>
          <a:p>
            <a:pPr algn="l" indent="0" marL="0">
              <a:buNone/>
            </a:pPr>
            <a:r>
              <a:rPr lang="en-US" sz="1300" b="1" dirty="0">
                <a:solidFill>
                  <a:schemeClr val="bg1"/>
                </a:solidFill>
              </a:rPr>
              <a:t>Naming ionic compounds</a:t>
            </a:r>
            <a:endParaRPr lang="en-US" sz="1300" dirty="0"/>
          </a:p>
        </p:txBody>
      </p:sp>
      <p:sp>
        <p:nvSpPr>
          <p:cNvPr id="26" name="Text 18"/>
          <p:cNvSpPr txBox="1"/>
          <p:nvPr/>
        </p:nvSpPr>
        <p:spPr>
          <a:xfrm>
            <a:off x="6949440" y="2907792"/>
            <a:ext cx="1645920" cy="228600"/>
          </a:xfrm>
          <a:prstGeom prst="rect">
            <a:avLst/>
          </a:prstGeom>
          <a:noFill/>
          <a:ln/>
        </p:spPr>
        <p:txBody>
          <a:bodyPr wrap="square" lIns="0" tIns="0" rIns="0" bIns="0" rtlCol="0" anchor="t"/>
          <a:lstStyle/>
          <a:p>
            <a:pPr algn="l" indent="0" marL="0">
              <a:buNone/>
            </a:pPr>
            <a:r>
              <a:rPr lang="en-US" sz="1100" dirty="0">
                <a:solidFill>
                  <a:schemeClr val="bg2"/>
                </a:solidFill>
              </a:rPr>
              <a:t>about 3 min</a:t>
            </a:r>
            <a:endParaRPr lang="en-US" sz="1100" dirty="0"/>
          </a:p>
        </p:txBody>
      </p:sp>
      <p:sp>
        <p:nvSpPr>
          <p:cNvPr id="27" name="Map 7"/>
          <p:cNvSpPr/>
          <p:nvPr/>
        </p:nvSpPr>
        <p:spPr>
          <a:xfrm>
            <a:off x="502920" y="3429000"/>
            <a:ext cx="2606040" cy="1051560"/>
          </a:xfrm>
          <a:prstGeom prst="roundRect">
            <a:avLst>
              <a:gd name="adj" fmla="val 8696"/>
            </a:avLst>
          </a:prstGeom>
          <a:solidFill>
            <a:schemeClr val="tx2"/>
          </a:solidFill>
          <a:ln w="12700">
            <a:solidFill>
              <a:srgbClr val="2A3A55"/>
            </a:solidFill>
            <a:prstDash val="solid"/>
          </a:ln>
        </p:spPr>
      </p:sp>
      <p:pic>
        <p:nvPicPr>
          <p:cNvPr id="28" name="Icon 7" descr="Section 7 icon">    </p:cNvPr>
          <p:cNvPicPr>
            <a:picLocks noChangeAspect="1"/>
          </p:cNvPicPr>
          <p:nvPr/>
        </p:nvPicPr>
        <p:blipFill>
          <a:blip r:embed="rId7"/>
          <a:stretch>
            <a:fillRect/>
          </a:stretch>
        </p:blipFill>
        <p:spPr>
          <a:xfrm>
            <a:off x="640080" y="3593592"/>
            <a:ext cx="566928" cy="627239"/>
          </a:xfrm>
          <a:prstGeom prst="rect">
            <a:avLst/>
          </a:prstGeom>
        </p:spPr>
      </p:pic>
      <p:sp>
        <p:nvSpPr>
          <p:cNvPr id="29" name="Text 20"/>
          <p:cNvSpPr txBox="1"/>
          <p:nvPr/>
        </p:nvSpPr>
        <p:spPr>
          <a:xfrm>
            <a:off x="1371600" y="3566160"/>
            <a:ext cx="1645920" cy="548640"/>
          </a:xfrm>
          <a:prstGeom prst="rect">
            <a:avLst/>
          </a:prstGeom>
          <a:noFill/>
          <a:ln/>
        </p:spPr>
        <p:txBody>
          <a:bodyPr wrap="square" lIns="0" tIns="0" rIns="0" bIns="0" rtlCol="0" anchor="t"/>
          <a:lstStyle/>
          <a:p>
            <a:pPr algn="l" indent="0" marL="0">
              <a:buNone/>
            </a:pPr>
            <a:r>
              <a:rPr lang="en-US" sz="1300" b="1" dirty="0">
                <a:solidFill>
                  <a:schemeClr val="bg1"/>
                </a:solidFill>
              </a:rPr>
              <a:t>Crystals and properties</a:t>
            </a:r>
            <a:endParaRPr lang="en-US" sz="1300" dirty="0"/>
          </a:p>
        </p:txBody>
      </p:sp>
      <p:sp>
        <p:nvSpPr>
          <p:cNvPr id="30" name="Text 21"/>
          <p:cNvSpPr txBox="1"/>
          <p:nvPr/>
        </p:nvSpPr>
        <p:spPr>
          <a:xfrm>
            <a:off x="1371600" y="4142232"/>
            <a:ext cx="1645920" cy="228600"/>
          </a:xfrm>
          <a:prstGeom prst="rect">
            <a:avLst/>
          </a:prstGeom>
          <a:noFill/>
          <a:ln/>
        </p:spPr>
        <p:txBody>
          <a:bodyPr wrap="square" lIns="0" tIns="0" rIns="0" bIns="0" rtlCol="0" anchor="t"/>
          <a:lstStyle/>
          <a:p>
            <a:pPr algn="l" indent="0" marL="0">
              <a:buNone/>
            </a:pPr>
            <a:r>
              <a:rPr lang="en-US" sz="1100" dirty="0">
                <a:solidFill>
                  <a:schemeClr val="bg2"/>
                </a:solidFill>
              </a:rPr>
              <a:t>about 3 min</a:t>
            </a:r>
            <a:endParaRPr lang="en-US" sz="1100" dirty="0"/>
          </a:p>
        </p:txBody>
      </p:sp>
      <p:sp>
        <p:nvSpPr>
          <p:cNvPr id="31" name="Map 8"/>
          <p:cNvSpPr/>
          <p:nvPr/>
        </p:nvSpPr>
        <p:spPr>
          <a:xfrm>
            <a:off x="3291840" y="3429000"/>
            <a:ext cx="2606040" cy="1051560"/>
          </a:xfrm>
          <a:prstGeom prst="roundRect">
            <a:avLst>
              <a:gd name="adj" fmla="val 8696"/>
            </a:avLst>
          </a:prstGeom>
          <a:solidFill>
            <a:schemeClr val="tx2"/>
          </a:solidFill>
          <a:ln w="12700">
            <a:solidFill>
              <a:srgbClr val="2A3A55"/>
            </a:solidFill>
            <a:prstDash val="solid"/>
          </a:ln>
        </p:spPr>
      </p:sp>
      <p:pic>
        <p:nvPicPr>
          <p:cNvPr id="32" name="Icon 8" descr="Section 8 icon">    </p:cNvPr>
          <p:cNvPicPr>
            <a:picLocks noChangeAspect="1"/>
          </p:cNvPicPr>
          <p:nvPr/>
        </p:nvPicPr>
        <p:blipFill>
          <a:blip r:embed="rId8"/>
          <a:stretch>
            <a:fillRect/>
          </a:stretch>
        </p:blipFill>
        <p:spPr>
          <a:xfrm>
            <a:off x="3429000" y="3593592"/>
            <a:ext cx="566928" cy="627239"/>
          </a:xfrm>
          <a:prstGeom prst="rect">
            <a:avLst/>
          </a:prstGeom>
        </p:spPr>
      </p:pic>
      <p:sp>
        <p:nvSpPr>
          <p:cNvPr id="33" name="Text 23"/>
          <p:cNvSpPr txBox="1"/>
          <p:nvPr/>
        </p:nvSpPr>
        <p:spPr>
          <a:xfrm>
            <a:off x="4160520" y="3566160"/>
            <a:ext cx="1645920" cy="548640"/>
          </a:xfrm>
          <a:prstGeom prst="rect">
            <a:avLst/>
          </a:prstGeom>
          <a:noFill/>
          <a:ln/>
        </p:spPr>
        <p:txBody>
          <a:bodyPr wrap="square" lIns="0" tIns="0" rIns="0" bIns="0" rtlCol="0" anchor="t"/>
          <a:lstStyle/>
          <a:p>
            <a:pPr algn="l" indent="0" marL="0">
              <a:buNone/>
            </a:pPr>
            <a:r>
              <a:rPr lang="en-US" sz="1300" b="1" dirty="0">
                <a:solidFill>
                  <a:schemeClr val="bg1"/>
                </a:solidFill>
              </a:rPr>
              <a:t>Spot the mistake</a:t>
            </a:r>
            <a:endParaRPr lang="en-US" sz="1300" dirty="0"/>
          </a:p>
        </p:txBody>
      </p:sp>
      <p:sp>
        <p:nvSpPr>
          <p:cNvPr id="34" name="Text 24"/>
          <p:cNvSpPr txBox="1"/>
          <p:nvPr/>
        </p:nvSpPr>
        <p:spPr>
          <a:xfrm>
            <a:off x="4160520" y="4142232"/>
            <a:ext cx="1645920" cy="228600"/>
          </a:xfrm>
          <a:prstGeom prst="rect">
            <a:avLst/>
          </a:prstGeom>
          <a:noFill/>
          <a:ln/>
        </p:spPr>
        <p:txBody>
          <a:bodyPr wrap="square" lIns="0" tIns="0" rIns="0" bIns="0" rtlCol="0" anchor="t"/>
          <a:lstStyle/>
          <a:p>
            <a:pPr algn="l" indent="0" marL="0">
              <a:buNone/>
            </a:pPr>
            <a:r>
              <a:rPr lang="en-US" sz="1100" dirty="0">
                <a:solidFill>
                  <a:schemeClr val="bg2"/>
                </a:solidFill>
              </a:rPr>
              <a:t>about 3 min</a:t>
            </a:r>
            <a:endParaRPr lang="en-US" sz="1100" dirty="0"/>
          </a:p>
        </p:txBody>
      </p:sp>
      <p:sp>
        <p:nvSpPr>
          <p:cNvPr id="35" name="Map 9"/>
          <p:cNvSpPr/>
          <p:nvPr/>
        </p:nvSpPr>
        <p:spPr>
          <a:xfrm>
            <a:off x="6080760" y="3429000"/>
            <a:ext cx="2606040" cy="1051560"/>
          </a:xfrm>
          <a:prstGeom prst="roundRect">
            <a:avLst>
              <a:gd name="adj" fmla="val 8696"/>
            </a:avLst>
          </a:prstGeom>
          <a:solidFill>
            <a:schemeClr val="tx2"/>
          </a:solidFill>
          <a:ln w="12700">
            <a:solidFill>
              <a:srgbClr val="2A3A55"/>
            </a:solidFill>
            <a:prstDash val="solid"/>
          </a:ln>
        </p:spPr>
      </p:sp>
      <p:pic>
        <p:nvPicPr>
          <p:cNvPr id="36" name="Icon 9" descr="Section 9 icon">    </p:cNvPr>
          <p:cNvPicPr>
            <a:picLocks noChangeAspect="1"/>
          </p:cNvPicPr>
          <p:nvPr/>
        </p:nvPicPr>
        <p:blipFill>
          <a:blip r:embed="rId9"/>
          <a:stretch>
            <a:fillRect/>
          </a:stretch>
        </p:blipFill>
        <p:spPr>
          <a:xfrm>
            <a:off x="6217920" y="3593592"/>
            <a:ext cx="566928" cy="627239"/>
          </a:xfrm>
          <a:prstGeom prst="rect">
            <a:avLst/>
          </a:prstGeom>
        </p:spPr>
      </p:pic>
      <p:sp>
        <p:nvSpPr>
          <p:cNvPr id="37" name="Text 26"/>
          <p:cNvSpPr txBox="1"/>
          <p:nvPr/>
        </p:nvSpPr>
        <p:spPr>
          <a:xfrm>
            <a:off x="6949440" y="3566160"/>
            <a:ext cx="1645920" cy="548640"/>
          </a:xfrm>
          <a:prstGeom prst="rect">
            <a:avLst/>
          </a:prstGeom>
          <a:noFill/>
          <a:ln/>
        </p:spPr>
        <p:txBody>
          <a:bodyPr wrap="square" lIns="0" tIns="0" rIns="0" bIns="0" rtlCol="0" anchor="t"/>
          <a:lstStyle/>
          <a:p>
            <a:pPr algn="l" indent="0" marL="0">
              <a:buNone/>
            </a:pPr>
            <a:r>
              <a:rPr lang="en-US" sz="1300" b="1" dirty="0">
                <a:solidFill>
                  <a:schemeClr val="bg1"/>
                </a:solidFill>
              </a:rPr>
              <a:t>Final check</a:t>
            </a:r>
            <a:endParaRPr lang="en-US" sz="1300" dirty="0"/>
          </a:p>
        </p:txBody>
      </p:sp>
      <p:sp>
        <p:nvSpPr>
          <p:cNvPr id="38" name="Text 27"/>
          <p:cNvSpPr txBox="1"/>
          <p:nvPr/>
        </p:nvSpPr>
        <p:spPr>
          <a:xfrm>
            <a:off x="6949440" y="4142232"/>
            <a:ext cx="1645920" cy="228600"/>
          </a:xfrm>
          <a:prstGeom prst="rect">
            <a:avLst/>
          </a:prstGeom>
          <a:noFill/>
          <a:ln/>
        </p:spPr>
        <p:txBody>
          <a:bodyPr wrap="square" lIns="0" tIns="0" rIns="0" bIns="0" rtlCol="0" anchor="t"/>
          <a:lstStyle/>
          <a:p>
            <a:pPr algn="l" indent="0" marL="0">
              <a:buNone/>
            </a:pPr>
            <a:r>
              <a:rPr lang="en-US" sz="1100" dirty="0">
                <a:solidFill>
                  <a:schemeClr val="bg2"/>
                </a:solidFill>
              </a:rPr>
              <a:t>about 7 min</a:t>
            </a:r>
            <a:endParaRPr lang="en-US" sz="11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FB1C7"/>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body" hasCustomPrompt="1"/>
          </p:nvPr>
        </p:nvSpPr>
        <p:spPr>
          <a:xfrm>
            <a:off x="1645920" y="274320"/>
            <a:ext cx="6949440" cy="274320"/>
          </a:xfrm>
          <a:prstGeom prst="rect">
            <a:avLst/>
          </a:prstGeom>
          <a:noFill/>
          <a:ln/>
        </p:spPr>
        <p:txBody>
          <a:bodyPr wrap="square" lIns="0" tIns="0" rIns="0" bIns="0" rtlCol="0"/>
          <a:lstStyle/>
          <a:p>
            <a:pPr indent="0" marL="0">
              <a:buNone/>
            </a:pPr>
            <a:r>
              <a:rPr lang="en-US" sz="1300" dirty="0">
                <a:solidFill>
                  <a:schemeClr val="bg2"/>
                </a:solidFill>
              </a:rPr>
              <a:t>Section 1 of 9 · about 5 min</a:t>
            </a:r>
            <a:endParaRPr lang="en-US" sz="1300" dirty="0"/>
          </a:p>
        </p:txBody>
      </p:sp>
      <p:sp>
        <p:nvSpPr>
          <p:cNvPr id="3" name="Text 0"/>
          <p:cNvSpPr/>
          <p:nvPr>
            <p:ph idx="100" type="title" hasCustomPrompt="1"/>
          </p:nvPr>
        </p:nvSpPr>
        <p:spPr>
          <a:xfrm>
            <a:off x="1645920" y="548640"/>
            <a:ext cx="7040880" cy="685800"/>
          </a:xfrm>
          <a:prstGeom prst="rect">
            <a:avLst/>
          </a:prstGeom>
          <a:noFill/>
          <a:ln/>
        </p:spPr>
        <p:txBody>
          <a:bodyPr wrap="square" lIns="0" tIns="0" rIns="0" bIns="0" rtlCol="0" anchor="ctr"/>
          <a:lstStyle/>
          <a:p>
            <a:pPr algn="l" indent="0" marL="0">
              <a:buNone/>
            </a:pPr>
            <a:r>
              <a:rPr lang="en-US" sz="3000" b="1" dirty="0">
                <a:solidFill>
                  <a:schemeClr val="bg1"/>
                </a:solidFill>
                <a:latin typeface="Arial" pitchFamily="34" charset="0"/>
                <a:ea typeface="Arial" pitchFamily="34" charset="-122"/>
                <a:cs typeface="Arial" pitchFamily="34" charset="-120"/>
              </a:rPr>
              <a:t>Why do atoms form ionic bonds?</a:t>
            </a:r>
            <a:endParaRPr lang="en-US" sz="3000" dirty="0"/>
          </a:p>
        </p:txBody>
      </p:sp>
      <p:pic>
        <p:nvPicPr>
          <p:cNvPr id="4" name="Icon 1" descr="Section 1 icon">    </p:cNvPr>
          <p:cNvPicPr>
            <a:picLocks noChangeAspect="1"/>
          </p:cNvPicPr>
          <p:nvPr/>
        </p:nvPicPr>
        <p:blipFill>
          <a:blip r:embed="rId1"/>
          <a:stretch>
            <a:fillRect/>
          </a:stretch>
        </p:blipFill>
        <p:spPr>
          <a:xfrm>
            <a:off x="502920" y="274320"/>
            <a:ext cx="914400" cy="1011677"/>
          </a:xfrm>
          <a:prstGeom prst="rect">
            <a:avLst/>
          </a:prstGeom>
        </p:spPr>
      </p:pic>
      <p:sp>
        <p:nvSpPr>
          <p:cNvPr id="5" name="In this section"/>
          <p:cNvSpPr/>
          <p:nvPr/>
        </p:nvSpPr>
        <p:spPr>
          <a:xfrm>
            <a:off x="502920" y="1600200"/>
            <a:ext cx="3931920" cy="2926080"/>
          </a:xfrm>
          <a:prstGeom prst="roundRect">
            <a:avLst>
              <a:gd name="adj" fmla="val 3125"/>
            </a:avLst>
          </a:prstGeom>
          <a:solidFill>
            <a:schemeClr val="tx2"/>
          </a:solidFill>
          <a:ln w="12700">
            <a:solidFill>
              <a:srgbClr val="2A3A55"/>
            </a:solidFill>
            <a:prstDash val="solid"/>
          </a:ln>
        </p:spPr>
      </p:sp>
      <p:sp>
        <p:nvSpPr>
          <p:cNvPr id="6" name="Text 3"/>
          <p:cNvSpPr txBox="1"/>
          <p:nvPr/>
        </p:nvSpPr>
        <p:spPr>
          <a:xfrm>
            <a:off x="731520" y="1783080"/>
            <a:ext cx="3474720" cy="320040"/>
          </a:xfrm>
          <a:prstGeom prst="rect">
            <a:avLst/>
          </a:prstGeom>
          <a:noFill/>
          <a:ln/>
        </p:spPr>
        <p:txBody>
          <a:bodyPr wrap="square" lIns="0" tIns="0" rIns="0" bIns="0" rtlCol="0" anchor="t"/>
          <a:lstStyle/>
          <a:p>
            <a:pPr algn="l" indent="0" marL="0">
              <a:buNone/>
            </a:pPr>
            <a:r>
              <a:rPr lang="en-US" sz="1600" b="1" dirty="0">
                <a:solidFill>
                  <a:schemeClr val="accent1"/>
                </a:solidFill>
              </a:rPr>
              <a:t>In this section</a:t>
            </a:r>
            <a:endParaRPr lang="en-US" sz="1600" dirty="0"/>
          </a:p>
        </p:txBody>
      </p:sp>
      <p:sp>
        <p:nvSpPr>
          <p:cNvPr id="7" name="Tag Phenomenon"/>
          <p:cNvSpPr/>
          <p:nvPr/>
        </p:nvSpPr>
        <p:spPr>
          <a:xfrm>
            <a:off x="731520" y="2240280"/>
            <a:ext cx="1051560" cy="219456"/>
          </a:xfrm>
          <a:prstGeom prst="roundRect">
            <a:avLst>
              <a:gd name="adj" fmla="val 41667"/>
            </a:avLst>
          </a:prstGeom>
          <a:solidFill>
            <a:srgbClr val="FB923C"/>
          </a:solidFill>
          <a:ln/>
        </p:spPr>
        <p:txBody>
          <a:bodyPr wrap="square" lIns="0" tIns="0" rIns="0" bIns="0" rtlCol="0" anchor="ctr"/>
          <a:lstStyle/>
          <a:p>
            <a:pPr algn="ctr" indent="0" marL="0">
              <a:buNone/>
            </a:pPr>
            <a:r>
              <a:rPr lang="en-US" sz="1000" b="1" dirty="0">
                <a:solidFill>
                  <a:srgbClr val="2A1305"/>
                </a:solidFill>
              </a:rPr>
              <a:t>Phenomenon</a:t>
            </a:r>
            <a:endParaRPr lang="en-US" sz="1000" dirty="0"/>
          </a:p>
        </p:txBody>
      </p:sp>
      <p:sp>
        <p:nvSpPr>
          <p:cNvPr id="8" name="Text 5"/>
          <p:cNvSpPr txBox="1"/>
          <p:nvPr/>
        </p:nvSpPr>
        <p:spPr>
          <a:xfrm>
            <a:off x="1920240" y="2212848"/>
            <a:ext cx="2377440" cy="292608"/>
          </a:xfrm>
          <a:prstGeom prst="rect">
            <a:avLst/>
          </a:prstGeom>
          <a:noFill/>
          <a:ln/>
        </p:spPr>
        <p:txBody>
          <a:bodyPr wrap="square" lIns="0" tIns="0" rIns="0" bIns="0" rtlCol="0" anchor="t"/>
          <a:lstStyle/>
          <a:p>
            <a:pPr algn="l" indent="0" marL="0">
              <a:buNone/>
            </a:pPr>
            <a:r>
              <a:rPr lang="en-US" sz="1400" dirty="0">
                <a:solidFill>
                  <a:schemeClr val="bg1"/>
                </a:solidFill>
              </a:rPr>
              <a:t>Sodium + chlorine = salt?</a:t>
            </a:r>
            <a:endParaRPr lang="en-US" sz="1400" dirty="0"/>
          </a:p>
        </p:txBody>
      </p:sp>
      <p:sp>
        <p:nvSpPr>
          <p:cNvPr id="9" name="Tag Read"/>
          <p:cNvSpPr/>
          <p:nvPr/>
        </p:nvSpPr>
        <p:spPr>
          <a:xfrm>
            <a:off x="731520" y="2743200"/>
            <a:ext cx="1051560" cy="219456"/>
          </a:xfrm>
          <a:prstGeom prst="roundRect">
            <a:avLst>
              <a:gd name="adj" fmla="val 41667"/>
            </a:avLst>
          </a:prstGeom>
          <a:solidFill>
            <a:srgbClr val="25305A"/>
          </a:solidFill>
          <a:ln/>
        </p:spPr>
        <p:txBody>
          <a:bodyPr wrap="square" lIns="0" tIns="0" rIns="0" bIns="0" rtlCol="0" anchor="ctr"/>
          <a:lstStyle/>
          <a:p>
            <a:pPr algn="ctr" indent="0" marL="0">
              <a:buNone/>
            </a:pPr>
            <a:r>
              <a:rPr lang="en-US" sz="1000" b="1" dirty="0">
                <a:solidFill>
                  <a:srgbClr val="C3CFFC"/>
                </a:solidFill>
              </a:rPr>
              <a:t>Read</a:t>
            </a:r>
            <a:endParaRPr lang="en-US" sz="1000" dirty="0"/>
          </a:p>
        </p:txBody>
      </p:sp>
      <p:sp>
        <p:nvSpPr>
          <p:cNvPr id="10" name="Text 7"/>
          <p:cNvSpPr txBox="1"/>
          <p:nvPr/>
        </p:nvSpPr>
        <p:spPr>
          <a:xfrm>
            <a:off x="1920240" y="2715768"/>
            <a:ext cx="2377440" cy="292608"/>
          </a:xfrm>
          <a:prstGeom prst="rect">
            <a:avLst/>
          </a:prstGeom>
          <a:noFill/>
          <a:ln/>
        </p:spPr>
        <p:txBody>
          <a:bodyPr wrap="square" lIns="0" tIns="0" rIns="0" bIns="0" rtlCol="0" anchor="t"/>
          <a:lstStyle/>
          <a:p>
            <a:pPr algn="l" indent="0" marL="0">
              <a:buNone/>
            </a:pPr>
            <a:r>
              <a:rPr lang="en-US" sz="1400" dirty="0">
                <a:solidFill>
                  <a:schemeClr val="bg1"/>
                </a:solidFill>
              </a:rPr>
              <a:t>Opposites attract</a:t>
            </a:r>
            <a:endParaRPr lang="en-US" sz="1400" dirty="0"/>
          </a:p>
        </p:txBody>
      </p:sp>
      <p:sp>
        <p:nvSpPr>
          <p:cNvPr id="11" name="Tag Try it"/>
          <p:cNvSpPr/>
          <p:nvPr/>
        </p:nvSpPr>
        <p:spPr>
          <a:xfrm>
            <a:off x="731520" y="3246120"/>
            <a:ext cx="1051560" cy="219456"/>
          </a:xfrm>
          <a:prstGeom prst="roundRect">
            <a:avLst>
              <a:gd name="adj" fmla="val 41667"/>
            </a:avLst>
          </a:prstGeom>
          <a:solidFill>
            <a:srgbClr val="5FE1FF"/>
          </a:solidFill>
          <a:ln/>
        </p:spPr>
        <p:txBody>
          <a:bodyPr wrap="square" lIns="0" tIns="0" rIns="0" bIns="0" rtlCol="0" anchor="ctr"/>
          <a:lstStyle/>
          <a:p>
            <a:pPr algn="ctr" indent="0" marL="0">
              <a:buNone/>
            </a:pPr>
            <a:r>
              <a:rPr lang="en-US" sz="1000" b="1" dirty="0">
                <a:solidFill>
                  <a:srgbClr val="0B2630"/>
                </a:solidFill>
              </a:rPr>
              <a:t>Try it</a:t>
            </a:r>
            <a:endParaRPr lang="en-US" sz="1000" dirty="0"/>
          </a:p>
        </p:txBody>
      </p:sp>
      <p:sp>
        <p:nvSpPr>
          <p:cNvPr id="12" name="Text 9"/>
          <p:cNvSpPr txBox="1"/>
          <p:nvPr/>
        </p:nvSpPr>
        <p:spPr>
          <a:xfrm>
            <a:off x="1920240" y="3218688"/>
            <a:ext cx="2377440" cy="292608"/>
          </a:xfrm>
          <a:prstGeom prst="rect">
            <a:avLst/>
          </a:prstGeom>
          <a:noFill/>
          <a:ln/>
        </p:spPr>
        <p:txBody>
          <a:bodyPr wrap="square" lIns="0" tIns="0" rIns="0" bIns="0" rtlCol="0" anchor="t"/>
          <a:lstStyle/>
          <a:p>
            <a:pPr algn="l" indent="0" marL="0">
              <a:buNone/>
            </a:pPr>
            <a:r>
              <a:rPr lang="en-US" sz="1400" dirty="0">
                <a:solidFill>
                  <a:schemeClr val="bg1"/>
                </a:solidFill>
              </a:rPr>
              <a:t>Ionic or not?</a:t>
            </a:r>
            <a:endParaRPr lang="en-US" sz="1400" dirty="0"/>
          </a:p>
        </p:txBody>
      </p:sp>
      <p:sp>
        <p:nvSpPr>
          <p:cNvPr id="13" name="Tag Quick check"/>
          <p:cNvSpPr/>
          <p:nvPr/>
        </p:nvSpPr>
        <p:spPr>
          <a:xfrm>
            <a:off x="731520" y="3749040"/>
            <a:ext cx="1051560" cy="219456"/>
          </a:xfrm>
          <a:prstGeom prst="roundRect">
            <a:avLst>
              <a:gd name="adj" fmla="val 41667"/>
            </a:avLst>
          </a:prstGeom>
          <a:solidFill>
            <a:srgbClr val="F6B93B"/>
          </a:solidFill>
          <a:ln/>
        </p:spPr>
        <p:txBody>
          <a:bodyPr wrap="square" lIns="0" tIns="0" rIns="0" bIns="0" rtlCol="0" anchor="ctr"/>
          <a:lstStyle/>
          <a:p>
            <a:pPr algn="ctr" indent="0" marL="0">
              <a:buNone/>
            </a:pPr>
            <a:r>
              <a:rPr lang="en-US" sz="1000" b="1" dirty="0">
                <a:solidFill>
                  <a:srgbClr val="241703"/>
                </a:solidFill>
              </a:rPr>
              <a:t>Quick check</a:t>
            </a:r>
            <a:endParaRPr lang="en-US" sz="1000" dirty="0"/>
          </a:p>
        </p:txBody>
      </p:sp>
      <p:sp>
        <p:nvSpPr>
          <p:cNvPr id="14" name="Text 11"/>
          <p:cNvSpPr txBox="1"/>
          <p:nvPr/>
        </p:nvSpPr>
        <p:spPr>
          <a:xfrm>
            <a:off x="1920240" y="3721608"/>
            <a:ext cx="2377440" cy="292608"/>
          </a:xfrm>
          <a:prstGeom prst="rect">
            <a:avLst/>
          </a:prstGeom>
          <a:noFill/>
          <a:ln/>
        </p:spPr>
        <p:txBody>
          <a:bodyPr wrap="square" lIns="0" tIns="0" rIns="0" bIns="0" rtlCol="0" anchor="t"/>
          <a:lstStyle/>
          <a:p>
            <a:pPr algn="l" indent="0" marL="0">
              <a:buNone/>
            </a:pPr>
            <a:r>
              <a:rPr lang="en-US" sz="1400" dirty="0">
                <a:solidFill>
                  <a:schemeClr val="bg1"/>
                </a:solidFill>
              </a:rPr>
              <a:t>What holds ions together</a:t>
            </a:r>
            <a:endParaRPr lang="en-US" sz="1400" dirty="0"/>
          </a:p>
        </p:txBody>
      </p:sp>
      <p:sp>
        <p:nvSpPr>
          <p:cNvPr id="15" name="To unlock"/>
          <p:cNvSpPr/>
          <p:nvPr/>
        </p:nvSpPr>
        <p:spPr>
          <a:xfrm>
            <a:off x="4709160" y="1600200"/>
            <a:ext cx="3931920" cy="2926080"/>
          </a:xfrm>
          <a:prstGeom prst="roundRect">
            <a:avLst>
              <a:gd name="adj" fmla="val 3125"/>
            </a:avLst>
          </a:prstGeom>
          <a:solidFill>
            <a:schemeClr val="tx2"/>
          </a:solidFill>
          <a:ln w="12700">
            <a:solidFill>
              <a:srgbClr val="2A3A55"/>
            </a:solidFill>
            <a:prstDash val="solid"/>
          </a:ln>
        </p:spPr>
      </p:sp>
      <p:sp>
        <p:nvSpPr>
          <p:cNvPr id="16" name="Text 13"/>
          <p:cNvSpPr txBox="1"/>
          <p:nvPr/>
        </p:nvSpPr>
        <p:spPr>
          <a:xfrm>
            <a:off x="4937760" y="1783080"/>
            <a:ext cx="3474720" cy="320040"/>
          </a:xfrm>
          <a:prstGeom prst="rect">
            <a:avLst/>
          </a:prstGeom>
          <a:noFill/>
          <a:ln/>
        </p:spPr>
        <p:txBody>
          <a:bodyPr wrap="square" lIns="0" tIns="0" rIns="0" bIns="0" rtlCol="0" anchor="t"/>
          <a:lstStyle/>
          <a:p>
            <a:pPr algn="l" indent="0" marL="0">
              <a:buNone/>
            </a:pPr>
            <a:r>
              <a:rPr lang="en-US" sz="1600" b="1" dirty="0">
                <a:solidFill>
                  <a:schemeClr val="accent4"/>
                </a:solidFill>
              </a:rPr>
              <a:t>To unlock the next section</a:t>
            </a:r>
            <a:endParaRPr lang="en-US" sz="1600" dirty="0"/>
          </a:p>
        </p:txBody>
      </p:sp>
      <p:sp>
        <p:nvSpPr>
          <p:cNvPr id="17" name="Checkbox"/>
          <p:cNvSpPr/>
          <p:nvPr/>
        </p:nvSpPr>
        <p:spPr>
          <a:xfrm>
            <a:off x="4937760" y="2286000"/>
            <a:ext cx="182880" cy="182880"/>
          </a:xfrm>
          <a:prstGeom prst="rect">
            <a:avLst/>
          </a:prstGeom>
          <a:solidFill>
            <a:schemeClr val="tx2"/>
          </a:solidFill>
          <a:ln w="12700">
            <a:solidFill>
              <a:schemeClr val="bg2"/>
            </a:solidFill>
            <a:prstDash val="solid"/>
          </a:ln>
        </p:spPr>
      </p:sp>
      <p:sp>
        <p:nvSpPr>
          <p:cNvPr id="18" name="Text 15"/>
          <p:cNvSpPr txBox="1"/>
          <p:nvPr/>
        </p:nvSpPr>
        <p:spPr>
          <a:xfrm>
            <a:off x="5257800" y="2221992"/>
            <a:ext cx="3200400" cy="457200"/>
          </a:xfrm>
          <a:prstGeom prst="rect">
            <a:avLst/>
          </a:prstGeom>
          <a:noFill/>
          <a:ln/>
        </p:spPr>
        <p:txBody>
          <a:bodyPr wrap="square" lIns="0" tIns="0" rIns="0" bIns="0" rtlCol="0" anchor="t"/>
          <a:lstStyle/>
          <a:p>
            <a:pPr algn="l" indent="0" marL="0">
              <a:buNone/>
            </a:pPr>
            <a:r>
              <a:rPr lang="en-US" sz="1400" dirty="0">
                <a:solidFill>
                  <a:schemeClr val="bg1"/>
                </a:solidFill>
              </a:rPr>
              <a:t>Make a prediction</a:t>
            </a:r>
            <a:endParaRPr lang="en-US" sz="1400" dirty="0"/>
          </a:p>
        </p:txBody>
      </p:sp>
      <p:sp>
        <p:nvSpPr>
          <p:cNvPr id="19" name="Checkbox"/>
          <p:cNvSpPr/>
          <p:nvPr/>
        </p:nvSpPr>
        <p:spPr>
          <a:xfrm>
            <a:off x="4937760" y="2834640"/>
            <a:ext cx="182880" cy="182880"/>
          </a:xfrm>
          <a:prstGeom prst="rect">
            <a:avLst/>
          </a:prstGeom>
          <a:solidFill>
            <a:schemeClr val="tx2"/>
          </a:solidFill>
          <a:ln w="12700">
            <a:solidFill>
              <a:schemeClr val="bg2"/>
            </a:solidFill>
            <a:prstDash val="solid"/>
          </a:ln>
        </p:spPr>
      </p:sp>
      <p:sp>
        <p:nvSpPr>
          <p:cNvPr id="20" name="Text 17"/>
          <p:cNvSpPr txBox="1"/>
          <p:nvPr/>
        </p:nvSpPr>
        <p:spPr>
          <a:xfrm>
            <a:off x="5257800" y="2770632"/>
            <a:ext cx="3200400" cy="457200"/>
          </a:xfrm>
          <a:prstGeom prst="rect">
            <a:avLst/>
          </a:prstGeom>
          <a:noFill/>
          <a:ln/>
        </p:spPr>
        <p:txBody>
          <a:bodyPr wrap="square" lIns="0" tIns="0" rIns="0" bIns="0" rtlCol="0" anchor="t"/>
          <a:lstStyle/>
          <a:p>
            <a:pPr algn="l" indent="0" marL="0">
              <a:buNone/>
            </a:pPr>
            <a:r>
              <a:rPr lang="en-US" sz="1400" dirty="0">
                <a:solidFill>
                  <a:schemeClr val="bg1"/>
                </a:solidFill>
              </a:rPr>
              <a:t>Sort the pairs into ionic and not ionic</a:t>
            </a:r>
            <a:endParaRPr lang="en-US" sz="1400" dirty="0"/>
          </a:p>
        </p:txBody>
      </p:sp>
      <p:sp>
        <p:nvSpPr>
          <p:cNvPr id="21" name="Checkbox"/>
          <p:cNvSpPr/>
          <p:nvPr/>
        </p:nvSpPr>
        <p:spPr>
          <a:xfrm>
            <a:off x="4937760" y="3383280"/>
            <a:ext cx="182880" cy="182880"/>
          </a:xfrm>
          <a:prstGeom prst="rect">
            <a:avLst/>
          </a:prstGeom>
          <a:solidFill>
            <a:schemeClr val="tx2"/>
          </a:solidFill>
          <a:ln w="12700">
            <a:solidFill>
              <a:schemeClr val="bg2"/>
            </a:solidFill>
            <a:prstDash val="solid"/>
          </a:ln>
        </p:spPr>
      </p:sp>
      <p:sp>
        <p:nvSpPr>
          <p:cNvPr id="22" name="Text 19"/>
          <p:cNvSpPr txBox="1"/>
          <p:nvPr/>
        </p:nvSpPr>
        <p:spPr>
          <a:xfrm>
            <a:off x="5257800" y="3319272"/>
            <a:ext cx="3200400" cy="457200"/>
          </a:xfrm>
          <a:prstGeom prst="rect">
            <a:avLst/>
          </a:prstGeom>
          <a:noFill/>
          <a:ln/>
        </p:spPr>
        <p:txBody>
          <a:bodyPr wrap="square" lIns="0" tIns="0" rIns="0" bIns="0" rtlCol="0" anchor="t"/>
          <a:lstStyle/>
          <a:p>
            <a:pPr algn="l" indent="0" marL="0">
              <a:buNone/>
            </a:pPr>
            <a:r>
              <a:rPr lang="en-US" sz="1400" dirty="0">
                <a:solidFill>
                  <a:schemeClr val="bg1"/>
                </a:solidFill>
              </a:rPr>
              <a:t>Answer the quick check correctly</a:t>
            </a:r>
            <a:endParaRPr lang="en-US" sz="14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FB1C7"/>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1234440" y="292608"/>
            <a:ext cx="7452360" cy="548640"/>
          </a:xfrm>
          <a:prstGeom prst="rect">
            <a:avLst/>
          </a:prstGeom>
          <a:noFill/>
          <a:ln/>
        </p:spPr>
        <p:txBody>
          <a:bodyPr wrap="square" lIns="0" tIns="0" rIns="0" bIns="0" rtlCol="0" anchor="ctr"/>
          <a:lstStyle/>
          <a:p>
            <a:pPr algn="l" indent="0" marL="0">
              <a:buNone/>
            </a:pPr>
            <a:r>
              <a:rPr lang="en-US" sz="2800" b="1" dirty="0">
                <a:solidFill>
                  <a:schemeClr val="bg1"/>
                </a:solidFill>
                <a:latin typeface="Arial" pitchFamily="34" charset="0"/>
                <a:ea typeface="Arial" pitchFamily="34" charset="-122"/>
                <a:cs typeface="Arial" pitchFamily="34" charset="-120"/>
              </a:rPr>
              <a:t>Opposites attract</a:t>
            </a:r>
            <a:endParaRPr lang="en-US" sz="2800" dirty="0"/>
          </a:p>
        </p:txBody>
      </p:sp>
      <p:pic>
        <p:nvPicPr>
          <p:cNvPr id="3" name="Icon 1" descr="Section 1 icon">    </p:cNvPr>
          <p:cNvPicPr>
            <a:picLocks noChangeAspect="1"/>
          </p:cNvPicPr>
          <p:nvPr/>
        </p:nvPicPr>
        <p:blipFill>
          <a:blip r:embed="rId1"/>
          <a:stretch>
            <a:fillRect/>
          </a:stretch>
        </p:blipFill>
        <p:spPr>
          <a:xfrm>
            <a:off x="502920" y="201168"/>
            <a:ext cx="566928" cy="627239"/>
          </a:xfrm>
          <a:prstGeom prst="rect">
            <a:avLst/>
          </a:prstGeom>
        </p:spPr>
      </p:pic>
      <p:sp>
        <p:nvSpPr>
          <p:cNvPr id="4" name="Tag Read"/>
          <p:cNvSpPr/>
          <p:nvPr/>
        </p:nvSpPr>
        <p:spPr>
          <a:xfrm>
            <a:off x="1234440" y="45720"/>
            <a:ext cx="1051560" cy="219456"/>
          </a:xfrm>
          <a:prstGeom prst="roundRect">
            <a:avLst>
              <a:gd name="adj" fmla="val 41667"/>
            </a:avLst>
          </a:prstGeom>
          <a:solidFill>
            <a:srgbClr val="25305A"/>
          </a:solidFill>
          <a:ln/>
        </p:spPr>
        <p:txBody>
          <a:bodyPr wrap="square" lIns="0" tIns="0" rIns="0" bIns="0" rtlCol="0" anchor="ctr"/>
          <a:lstStyle/>
          <a:p>
            <a:pPr algn="ctr" indent="0" marL="0">
              <a:buNone/>
            </a:pPr>
            <a:r>
              <a:rPr lang="en-US" sz="1000" b="1" dirty="0">
                <a:solidFill>
                  <a:srgbClr val="C3CFFC"/>
                </a:solidFill>
              </a:rPr>
              <a:t>Read</a:t>
            </a:r>
            <a:endParaRPr lang="en-US" sz="1000" dirty="0"/>
          </a:p>
        </p:txBody>
      </p:sp>
      <p:sp>
        <p:nvSpPr>
          <p:cNvPr id="5" name="Text 2"/>
          <p:cNvSpPr txBox="1"/>
          <p:nvPr/>
        </p:nvSpPr>
        <p:spPr>
          <a:xfrm>
            <a:off x="502920" y="1005840"/>
            <a:ext cx="8138160" cy="1188720"/>
          </a:xfrm>
          <a:prstGeom prst="rect">
            <a:avLst/>
          </a:prstGeom>
          <a:noFill/>
          <a:ln/>
        </p:spPr>
        <p:txBody>
          <a:bodyPr wrap="square" lIns="0" tIns="0" rIns="0" bIns="0" rtlCol="0" anchor="t"/>
          <a:lstStyle/>
          <a:p>
            <a:pPr algn="l" indent="0" marL="0">
              <a:spcAft>
                <a:spcPts val="1000"/>
              </a:spcAft>
              <a:buNone/>
            </a:pPr>
            <a:r>
              <a:rPr lang="en-US" sz="1600" b="1" dirty="0">
                <a:solidFill>
                  <a:schemeClr val="bg1"/>
                </a:solidFill>
              </a:rPr>
              <a:t>Metals </a:t>
            </a:r>
            <a:pPr algn="l" indent="0" marL="0">
              <a:spcAft>
                <a:spcPts val="1000"/>
              </a:spcAft>
              <a:buNone/>
            </a:pPr>
            <a:r>
              <a:rPr lang="en-US" sz="1600" dirty="0">
                <a:solidFill>
                  <a:schemeClr val="bg1"/>
                </a:solidFill>
              </a:rPr>
              <a:t>lose electrons and become positive ions. </a:t>
            </a:r>
            <a:pPr algn="l" indent="0" marL="0">
              <a:spcAft>
                <a:spcPts val="1000"/>
              </a:spcAft>
              <a:buNone/>
            </a:pPr>
            <a:r>
              <a:rPr lang="en-US" sz="1600" b="1" dirty="0">
                <a:solidFill>
                  <a:schemeClr val="bg1"/>
                </a:solidFill>
              </a:rPr>
              <a:t>Nonmetals </a:t>
            </a:r>
            <a:pPr algn="l" indent="0" marL="0">
              <a:spcAft>
                <a:spcPts val="1000"/>
              </a:spcAft>
              <a:buNone/>
            </a:pPr>
            <a:r>
              <a:rPr lang="en-US" sz="1600" dirty="0">
                <a:solidFill>
                  <a:schemeClr val="bg1"/>
                </a:solidFill>
              </a:rPr>
              <a:t>gain electrons and become negative ions.</a:t>
            </a:r>
            <a:endParaRPr lang="en-US" sz="1600" dirty="0"/>
          </a:p>
          <a:p>
            <a:pPr algn="l" indent="0" marL="0">
              <a:spcAft>
                <a:spcPts val="1000"/>
              </a:spcAft>
              <a:buNone/>
            </a:pPr>
            <a:r>
              <a:rPr lang="en-US" sz="1600" dirty="0">
                <a:solidFill>
                  <a:schemeClr val="bg1"/>
                </a:solidFill>
              </a:rPr>
              <a:t>When a metal meets a nonmetal, the metal's electrons move to the nonmetal. The + and − ions attract: that attraction is an </a:t>
            </a:r>
            <a:pPr algn="l" indent="0" marL="0">
              <a:spcAft>
                <a:spcPts val="1000"/>
              </a:spcAft>
              <a:buNone/>
            </a:pPr>
            <a:r>
              <a:rPr lang="en-US" sz="1600" b="1" dirty="0">
                <a:solidFill>
                  <a:schemeClr val="accent1"/>
                </a:solidFill>
              </a:rPr>
              <a:t>ionic bond</a:t>
            </a:r>
            <a:pPr algn="l" indent="0" marL="0">
              <a:spcAft>
                <a:spcPts val="1000"/>
              </a:spcAft>
              <a:buNone/>
            </a:pPr>
            <a:r>
              <a:rPr lang="en-US" sz="1600" dirty="0">
                <a:solidFill>
                  <a:schemeClr val="bg1"/>
                </a:solidFill>
              </a:rPr>
              <a:t>.</a:t>
            </a:r>
            <a:endParaRPr lang="en-US" sz="1600" dirty="0"/>
          </a:p>
        </p:txBody>
      </p:sp>
      <p:sp>
        <p:nvSpPr>
          <p:cNvPr id="6" name="Pill metal"/>
          <p:cNvSpPr/>
          <p:nvPr/>
        </p:nvSpPr>
        <p:spPr>
          <a:xfrm>
            <a:off x="502920" y="2514600"/>
            <a:ext cx="1188720" cy="502920"/>
          </a:xfrm>
          <a:prstGeom prst="roundRect">
            <a:avLst>
              <a:gd name="adj" fmla="val 36364"/>
            </a:avLst>
          </a:prstGeom>
          <a:solidFill>
            <a:schemeClr val="tx2"/>
          </a:solidFill>
          <a:ln w="25400">
            <a:solidFill>
              <a:srgbClr val="60A5FA"/>
            </a:solidFill>
          </a:ln>
        </p:spPr>
        <p:txBody>
          <a:bodyPr wrap="square" lIns="0" tIns="0" rIns="0" bIns="0" rtlCol="0" anchor="ctr"/>
          <a:lstStyle/>
          <a:p>
            <a:pPr algn="ctr" indent="0" marL="0">
              <a:buNone/>
            </a:pPr>
            <a:r>
              <a:rPr lang="en-US" sz="1500" b="1" dirty="0">
                <a:solidFill>
                  <a:schemeClr val="bg1"/>
                </a:solidFill>
              </a:rPr>
              <a:t>metal</a:t>
            </a:r>
            <a:endParaRPr lang="en-US" sz="1500" dirty="0"/>
          </a:p>
        </p:txBody>
      </p:sp>
      <p:sp>
        <p:nvSpPr>
          <p:cNvPr id="7" name="Text 4"/>
          <p:cNvSpPr txBox="1"/>
          <p:nvPr/>
        </p:nvSpPr>
        <p:spPr>
          <a:xfrm>
            <a:off x="1874520" y="2514600"/>
            <a:ext cx="2048256" cy="502920"/>
          </a:xfrm>
          <a:prstGeom prst="rect">
            <a:avLst/>
          </a:prstGeom>
          <a:noFill/>
          <a:ln/>
        </p:spPr>
        <p:txBody>
          <a:bodyPr wrap="square" lIns="0" tIns="0" rIns="0" bIns="0" rtlCol="0" anchor="ctr"/>
          <a:lstStyle/>
          <a:p>
            <a:pPr algn="ctr" indent="0" marL="0">
              <a:buNone/>
            </a:pPr>
            <a:r>
              <a:rPr lang="en-US" sz="1500" b="1" dirty="0">
                <a:solidFill>
                  <a:schemeClr val="accent2"/>
                </a:solidFill>
              </a:rPr>
              <a:t>gives electrons →</a:t>
            </a:r>
            <a:endParaRPr lang="en-US" sz="1500" dirty="0"/>
          </a:p>
        </p:txBody>
      </p:sp>
      <p:sp>
        <p:nvSpPr>
          <p:cNvPr id="8" name="Pill nonmetal"/>
          <p:cNvSpPr/>
          <p:nvPr/>
        </p:nvSpPr>
        <p:spPr>
          <a:xfrm>
            <a:off x="4105656" y="2514600"/>
            <a:ext cx="1316736" cy="502920"/>
          </a:xfrm>
          <a:prstGeom prst="roundRect">
            <a:avLst>
              <a:gd name="adj" fmla="val 36364"/>
            </a:avLst>
          </a:prstGeom>
          <a:solidFill>
            <a:schemeClr val="tx2"/>
          </a:solidFill>
          <a:ln w="25400">
            <a:solidFill>
              <a:srgbClr val="F472B6"/>
            </a:solidFill>
          </a:ln>
        </p:spPr>
        <p:txBody>
          <a:bodyPr wrap="square" lIns="0" tIns="0" rIns="0" bIns="0" rtlCol="0" anchor="ctr"/>
          <a:lstStyle/>
          <a:p>
            <a:pPr algn="ctr" indent="0" marL="0">
              <a:buNone/>
            </a:pPr>
            <a:r>
              <a:rPr lang="en-US" sz="1500" b="1" dirty="0">
                <a:solidFill>
                  <a:schemeClr val="bg1"/>
                </a:solidFill>
              </a:rPr>
              <a:t>nonmetal</a:t>
            </a:r>
            <a:endParaRPr lang="en-US" sz="1500" dirty="0"/>
          </a:p>
        </p:txBody>
      </p:sp>
      <p:sp>
        <p:nvSpPr>
          <p:cNvPr id="9" name="Text 6"/>
          <p:cNvSpPr txBox="1"/>
          <p:nvPr/>
        </p:nvSpPr>
        <p:spPr>
          <a:xfrm>
            <a:off x="5605272" y="2514600"/>
            <a:ext cx="292608" cy="502920"/>
          </a:xfrm>
          <a:prstGeom prst="rect">
            <a:avLst/>
          </a:prstGeom>
          <a:noFill/>
          <a:ln/>
        </p:spPr>
        <p:txBody>
          <a:bodyPr wrap="square" lIns="0" tIns="0" rIns="0" bIns="0" rtlCol="0" anchor="ctr"/>
          <a:lstStyle/>
          <a:p>
            <a:pPr algn="ctr" indent="0" marL="0">
              <a:buNone/>
            </a:pPr>
            <a:r>
              <a:rPr lang="en-US" sz="1500" b="1" dirty="0">
                <a:solidFill>
                  <a:schemeClr val="accent2"/>
                </a:solidFill>
              </a:rPr>
              <a:t>=</a:t>
            </a:r>
            <a:endParaRPr lang="en-US" sz="1500" dirty="0"/>
          </a:p>
        </p:txBody>
      </p:sp>
      <p:sp>
        <p:nvSpPr>
          <p:cNvPr id="10" name="Pill + ion and − ion attract"/>
          <p:cNvSpPr/>
          <p:nvPr/>
        </p:nvSpPr>
        <p:spPr>
          <a:xfrm>
            <a:off x="6080760" y="2514600"/>
            <a:ext cx="3099816" cy="502920"/>
          </a:xfrm>
          <a:prstGeom prst="roundRect">
            <a:avLst>
              <a:gd name="adj" fmla="val 36364"/>
            </a:avLst>
          </a:prstGeom>
          <a:solidFill>
            <a:schemeClr val="tx2"/>
          </a:solidFill>
          <a:ln w="25400">
            <a:solidFill>
              <a:srgbClr val="4ADE80"/>
            </a:solidFill>
          </a:ln>
        </p:spPr>
        <p:txBody>
          <a:bodyPr wrap="square" lIns="0" tIns="0" rIns="0" bIns="0" rtlCol="0" anchor="ctr"/>
          <a:lstStyle/>
          <a:p>
            <a:pPr algn="ctr" indent="0" marL="0">
              <a:buNone/>
            </a:pPr>
            <a:r>
              <a:rPr lang="en-US" sz="1500" b="1" dirty="0">
                <a:solidFill>
                  <a:schemeClr val="bg1"/>
                </a:solidFill>
              </a:rPr>
              <a:t>+ ion and − ion attract</a:t>
            </a:r>
            <a:endParaRPr lang="en-US" sz="1500" dirty="0"/>
          </a:p>
        </p:txBody>
      </p:sp>
      <p:sp>
        <p:nvSpPr>
          <p:cNvPr id="11" name="Rule of thumb"/>
          <p:cNvSpPr/>
          <p:nvPr/>
        </p:nvSpPr>
        <p:spPr>
          <a:xfrm>
            <a:off x="502920" y="3383280"/>
            <a:ext cx="8138160" cy="914400"/>
          </a:xfrm>
          <a:prstGeom prst="roundRect">
            <a:avLst>
              <a:gd name="adj" fmla="val 10000"/>
            </a:avLst>
          </a:prstGeom>
          <a:solidFill>
            <a:srgbClr val="1E2B45"/>
          </a:solidFill>
          <a:ln w="12700">
            <a:solidFill>
              <a:srgbClr val="2A3A55"/>
            </a:solidFill>
            <a:prstDash val="solid"/>
          </a:ln>
        </p:spPr>
      </p:sp>
      <p:sp>
        <p:nvSpPr>
          <p:cNvPr id="12" name="Text 9"/>
          <p:cNvSpPr txBox="1"/>
          <p:nvPr/>
        </p:nvSpPr>
        <p:spPr>
          <a:xfrm>
            <a:off x="731520" y="3493008"/>
            <a:ext cx="7680960" cy="731520"/>
          </a:xfrm>
          <a:prstGeom prst="rect">
            <a:avLst/>
          </a:prstGeom>
          <a:noFill/>
          <a:ln/>
        </p:spPr>
        <p:txBody>
          <a:bodyPr wrap="square" lIns="0" tIns="0" rIns="0" bIns="0" rtlCol="0" anchor="ctr"/>
          <a:lstStyle/>
          <a:p>
            <a:pPr algn="l" indent="0" marL="0">
              <a:buNone/>
            </a:pPr>
            <a:r>
              <a:rPr lang="en-US" sz="1500" b="1" dirty="0">
                <a:solidFill>
                  <a:schemeClr val="accent2"/>
                </a:solidFill>
              </a:rPr>
              <a:t>Rule of thumb: </a:t>
            </a:r>
            <a:pPr algn="l" indent="0" marL="0">
              <a:buNone/>
            </a:pPr>
            <a:r>
              <a:rPr lang="en-US" sz="1500" dirty="0">
                <a:solidFill>
                  <a:schemeClr val="bg1"/>
                </a:solidFill>
              </a:rPr>
              <a:t>a metal + a nonmetal makes an ionic compound. Two nonmetals share electrons instead (a different kind of bond).</a:t>
            </a:r>
            <a:endParaRPr lang="en-US" sz="15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FB1C7"/>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1234440" y="292608"/>
            <a:ext cx="7452360" cy="548640"/>
          </a:xfrm>
          <a:prstGeom prst="rect">
            <a:avLst/>
          </a:prstGeom>
          <a:noFill/>
          <a:ln/>
        </p:spPr>
        <p:txBody>
          <a:bodyPr wrap="square" lIns="0" tIns="0" rIns="0" bIns="0" rtlCol="0" anchor="ctr"/>
          <a:lstStyle/>
          <a:p>
            <a:pPr algn="l" indent="0" marL="0">
              <a:buNone/>
            </a:pPr>
            <a:r>
              <a:rPr lang="en-US" sz="2800" b="1" dirty="0">
                <a:solidFill>
                  <a:schemeClr val="bg1"/>
                </a:solidFill>
                <a:latin typeface="Arial" pitchFamily="34" charset="0"/>
                <a:ea typeface="Arial" pitchFamily="34" charset="-122"/>
                <a:cs typeface="Arial" pitchFamily="34" charset="-120"/>
              </a:rPr>
              <a:t>Ionic or not?</a:t>
            </a:r>
            <a:endParaRPr lang="en-US" sz="2800" dirty="0"/>
          </a:p>
        </p:txBody>
      </p:sp>
      <p:pic>
        <p:nvPicPr>
          <p:cNvPr id="3" name="Icon 1" descr="Section 1 icon">    </p:cNvPr>
          <p:cNvPicPr>
            <a:picLocks noChangeAspect="1"/>
          </p:cNvPicPr>
          <p:nvPr/>
        </p:nvPicPr>
        <p:blipFill>
          <a:blip r:embed="rId1"/>
          <a:stretch>
            <a:fillRect/>
          </a:stretch>
        </p:blipFill>
        <p:spPr>
          <a:xfrm>
            <a:off x="502920" y="201168"/>
            <a:ext cx="566928" cy="627239"/>
          </a:xfrm>
          <a:prstGeom prst="rect">
            <a:avLst/>
          </a:prstGeom>
        </p:spPr>
      </p:pic>
      <p:sp>
        <p:nvSpPr>
          <p:cNvPr id="4" name="Tag Try it"/>
          <p:cNvSpPr/>
          <p:nvPr/>
        </p:nvSpPr>
        <p:spPr>
          <a:xfrm>
            <a:off x="1234440" y="45720"/>
            <a:ext cx="1051560" cy="219456"/>
          </a:xfrm>
          <a:prstGeom prst="roundRect">
            <a:avLst>
              <a:gd name="adj" fmla="val 41667"/>
            </a:avLst>
          </a:prstGeom>
          <a:solidFill>
            <a:srgbClr val="5FE1FF"/>
          </a:solidFill>
          <a:ln/>
        </p:spPr>
        <p:txBody>
          <a:bodyPr wrap="square" lIns="0" tIns="0" rIns="0" bIns="0" rtlCol="0" anchor="ctr"/>
          <a:lstStyle/>
          <a:p>
            <a:pPr algn="ctr" indent="0" marL="0">
              <a:buNone/>
            </a:pPr>
            <a:r>
              <a:rPr lang="en-US" sz="1000" b="1" dirty="0">
                <a:solidFill>
                  <a:srgbClr val="0B2630"/>
                </a:solidFill>
              </a:rPr>
              <a:t>Try it</a:t>
            </a:r>
            <a:endParaRPr lang="en-US" sz="1000" dirty="0"/>
          </a:p>
        </p:txBody>
      </p:sp>
      <p:sp>
        <p:nvSpPr>
          <p:cNvPr id="5" name="Text 2"/>
          <p:cNvSpPr txBox="1"/>
          <p:nvPr/>
        </p:nvSpPr>
        <p:spPr>
          <a:xfrm>
            <a:off x="502920" y="960120"/>
            <a:ext cx="8138160" cy="365760"/>
          </a:xfrm>
          <a:prstGeom prst="rect">
            <a:avLst/>
          </a:prstGeom>
          <a:noFill/>
          <a:ln/>
        </p:spPr>
        <p:txBody>
          <a:bodyPr wrap="square" lIns="0" tIns="0" rIns="0" bIns="0" rtlCol="0" anchor="t"/>
          <a:lstStyle/>
          <a:p>
            <a:pPr algn="l" indent="0" marL="0">
              <a:buNone/>
            </a:pPr>
            <a:r>
              <a:rPr lang="en-US" sz="1600" b="1" dirty="0">
                <a:solidFill>
                  <a:schemeClr val="bg1"/>
                </a:solidFill>
              </a:rPr>
              <a:t>Sort each pair: ionic (metal + nonmetal) or not ionic (two nonmetals)?</a:t>
            </a:r>
            <a:endParaRPr lang="en-US" sz="1600" dirty="0"/>
          </a:p>
        </p:txBody>
      </p:sp>
      <p:sp>
        <p:nvSpPr>
          <p:cNvPr id="6" name="Ionic box"/>
          <p:cNvSpPr/>
          <p:nvPr/>
        </p:nvSpPr>
        <p:spPr>
          <a:xfrm>
            <a:off x="502920" y="1508760"/>
            <a:ext cx="3931920" cy="3017520"/>
          </a:xfrm>
          <a:prstGeom prst="roundRect">
            <a:avLst>
              <a:gd name="adj" fmla="val 3030"/>
            </a:avLst>
          </a:prstGeom>
          <a:solidFill>
            <a:schemeClr val="tx2"/>
          </a:solidFill>
          <a:ln w="25400">
            <a:solidFill>
              <a:srgbClr val="60A5FA"/>
            </a:solidFill>
            <a:prstDash val="solid"/>
          </a:ln>
        </p:spPr>
      </p:sp>
      <p:sp>
        <p:nvSpPr>
          <p:cNvPr id="7" name="Not ionic box"/>
          <p:cNvSpPr/>
          <p:nvPr/>
        </p:nvSpPr>
        <p:spPr>
          <a:xfrm>
            <a:off x="4709160" y="1508760"/>
            <a:ext cx="3931920" cy="3017520"/>
          </a:xfrm>
          <a:prstGeom prst="roundRect">
            <a:avLst>
              <a:gd name="adj" fmla="val 3030"/>
            </a:avLst>
          </a:prstGeom>
          <a:solidFill>
            <a:schemeClr val="tx2"/>
          </a:solidFill>
          <a:ln w="25400">
            <a:solidFill>
              <a:srgbClr val="F472B6"/>
            </a:solidFill>
            <a:prstDash val="solid"/>
          </a:ln>
        </p:spPr>
      </p:sp>
      <p:sp>
        <p:nvSpPr>
          <p:cNvPr id="8" name="Text 5"/>
          <p:cNvSpPr txBox="1"/>
          <p:nvPr/>
        </p:nvSpPr>
        <p:spPr>
          <a:xfrm>
            <a:off x="685800" y="1600200"/>
            <a:ext cx="3566160" cy="320040"/>
          </a:xfrm>
          <a:prstGeom prst="rect">
            <a:avLst/>
          </a:prstGeom>
          <a:noFill/>
          <a:ln/>
        </p:spPr>
        <p:txBody>
          <a:bodyPr wrap="square" lIns="0" tIns="0" rIns="0" bIns="0" rtlCol="0" anchor="t"/>
          <a:lstStyle/>
          <a:p>
            <a:pPr algn="l" indent="0" marL="0">
              <a:buNone/>
            </a:pPr>
            <a:r>
              <a:rPr lang="en-US" sz="1500" b="1" dirty="0">
                <a:solidFill>
                  <a:schemeClr val="accent5"/>
                </a:solidFill>
              </a:rPr>
              <a:t>Ionic (metal + nonmetal)</a:t>
            </a:r>
            <a:endParaRPr lang="en-US" sz="1500" dirty="0"/>
          </a:p>
        </p:txBody>
      </p:sp>
      <p:sp>
        <p:nvSpPr>
          <p:cNvPr id="9" name="Text 6"/>
          <p:cNvSpPr txBox="1"/>
          <p:nvPr/>
        </p:nvSpPr>
        <p:spPr>
          <a:xfrm>
            <a:off x="4892040" y="1600200"/>
            <a:ext cx="3566160" cy="320040"/>
          </a:xfrm>
          <a:prstGeom prst="rect">
            <a:avLst/>
          </a:prstGeom>
          <a:noFill/>
          <a:ln/>
        </p:spPr>
        <p:txBody>
          <a:bodyPr wrap="square" lIns="0" tIns="0" rIns="0" bIns="0" rtlCol="0" anchor="t"/>
          <a:lstStyle/>
          <a:p>
            <a:pPr algn="l" indent="0" marL="0">
              <a:buNone/>
            </a:pPr>
            <a:r>
              <a:rPr lang="en-US" sz="1500" b="1" dirty="0">
                <a:solidFill>
                  <a:schemeClr val="accent3"/>
                </a:solidFill>
              </a:rPr>
              <a:t>Not ionic (two nonmetals)</a:t>
            </a:r>
            <a:endParaRPr lang="en-US" sz="1500" dirty="0"/>
          </a:p>
        </p:txBody>
      </p:sp>
      <p:sp>
        <p:nvSpPr>
          <p:cNvPr id="10" name="Card Na + Cl"/>
          <p:cNvSpPr/>
          <p:nvPr/>
        </p:nvSpPr>
        <p:spPr>
          <a:xfrm>
            <a:off x="502920" y="4617720"/>
            <a:ext cx="1463040" cy="384048"/>
          </a:xfrm>
          <a:prstGeom prst="roundRect">
            <a:avLst>
              <a:gd name="adj" fmla="val 19048"/>
            </a:avLst>
          </a:prstGeom>
          <a:solidFill>
            <a:schemeClr val="tx2"/>
          </a:solidFill>
          <a:ln w="12700">
            <a:solidFill>
              <a:srgbClr val="5FE1FF"/>
            </a:solidFill>
          </a:ln>
        </p:spPr>
        <p:txBody>
          <a:bodyPr wrap="square" lIns="0" tIns="0" rIns="0" bIns="0" rtlCol="0" anchor="ctr"/>
          <a:lstStyle/>
          <a:p>
            <a:pPr algn="ctr" indent="0" marL="0">
              <a:buNone/>
            </a:pPr>
            <a:r>
              <a:rPr lang="en-US" sz="1400" b="1" dirty="0">
                <a:solidFill>
                  <a:schemeClr val="bg1"/>
                </a:solidFill>
              </a:rPr>
              <a:t>Na + Cl</a:t>
            </a:r>
            <a:endParaRPr lang="en-US" sz="1400" dirty="0"/>
          </a:p>
        </p:txBody>
      </p:sp>
      <p:sp>
        <p:nvSpPr>
          <p:cNvPr id="11" name="Card Mg + O"/>
          <p:cNvSpPr/>
          <p:nvPr/>
        </p:nvSpPr>
        <p:spPr>
          <a:xfrm>
            <a:off x="2148840" y="4617720"/>
            <a:ext cx="1463040" cy="384048"/>
          </a:xfrm>
          <a:prstGeom prst="roundRect">
            <a:avLst>
              <a:gd name="adj" fmla="val 19048"/>
            </a:avLst>
          </a:prstGeom>
          <a:solidFill>
            <a:schemeClr val="tx2"/>
          </a:solidFill>
          <a:ln w="12700">
            <a:solidFill>
              <a:srgbClr val="5FE1FF"/>
            </a:solidFill>
          </a:ln>
        </p:spPr>
        <p:txBody>
          <a:bodyPr wrap="square" lIns="0" tIns="0" rIns="0" bIns="0" rtlCol="0" anchor="ctr"/>
          <a:lstStyle/>
          <a:p>
            <a:pPr algn="ctr" indent="0" marL="0">
              <a:buNone/>
            </a:pPr>
            <a:r>
              <a:rPr lang="en-US" sz="1400" b="1" dirty="0">
                <a:solidFill>
                  <a:schemeClr val="bg1"/>
                </a:solidFill>
              </a:rPr>
              <a:t>Mg + O</a:t>
            </a:r>
            <a:endParaRPr lang="en-US" sz="1400" dirty="0"/>
          </a:p>
        </p:txBody>
      </p:sp>
      <p:sp>
        <p:nvSpPr>
          <p:cNvPr id="12" name="Card C + O"/>
          <p:cNvSpPr/>
          <p:nvPr/>
        </p:nvSpPr>
        <p:spPr>
          <a:xfrm>
            <a:off x="3794760" y="4617720"/>
            <a:ext cx="1463040" cy="384048"/>
          </a:xfrm>
          <a:prstGeom prst="roundRect">
            <a:avLst>
              <a:gd name="adj" fmla="val 19048"/>
            </a:avLst>
          </a:prstGeom>
          <a:solidFill>
            <a:schemeClr val="tx2"/>
          </a:solidFill>
          <a:ln w="12700">
            <a:solidFill>
              <a:srgbClr val="5FE1FF"/>
            </a:solidFill>
          </a:ln>
        </p:spPr>
        <p:txBody>
          <a:bodyPr wrap="square" lIns="0" tIns="0" rIns="0" bIns="0" rtlCol="0" anchor="ctr"/>
          <a:lstStyle/>
          <a:p>
            <a:pPr algn="ctr" indent="0" marL="0">
              <a:buNone/>
            </a:pPr>
            <a:r>
              <a:rPr lang="en-US" sz="1400" b="1" dirty="0">
                <a:solidFill>
                  <a:schemeClr val="bg1"/>
                </a:solidFill>
              </a:rPr>
              <a:t>C + O</a:t>
            </a:r>
            <a:endParaRPr lang="en-US" sz="1400" dirty="0"/>
          </a:p>
        </p:txBody>
      </p:sp>
      <p:sp>
        <p:nvSpPr>
          <p:cNvPr id="13" name="Card K + Br"/>
          <p:cNvSpPr/>
          <p:nvPr/>
        </p:nvSpPr>
        <p:spPr>
          <a:xfrm>
            <a:off x="5440680" y="4617720"/>
            <a:ext cx="1463040" cy="384048"/>
          </a:xfrm>
          <a:prstGeom prst="roundRect">
            <a:avLst>
              <a:gd name="adj" fmla="val 19048"/>
            </a:avLst>
          </a:prstGeom>
          <a:solidFill>
            <a:schemeClr val="tx2"/>
          </a:solidFill>
          <a:ln w="12700">
            <a:solidFill>
              <a:srgbClr val="5FE1FF"/>
            </a:solidFill>
          </a:ln>
        </p:spPr>
        <p:txBody>
          <a:bodyPr wrap="square" lIns="0" tIns="0" rIns="0" bIns="0" rtlCol="0" anchor="ctr"/>
          <a:lstStyle/>
          <a:p>
            <a:pPr algn="ctr" indent="0" marL="0">
              <a:buNone/>
            </a:pPr>
            <a:r>
              <a:rPr lang="en-US" sz="1400" b="1" dirty="0">
                <a:solidFill>
                  <a:schemeClr val="bg1"/>
                </a:solidFill>
              </a:rPr>
              <a:t>K + Br</a:t>
            </a:r>
            <a:endParaRPr lang="en-US" sz="1400" dirty="0"/>
          </a:p>
        </p:txBody>
      </p:sp>
      <p:sp>
        <p:nvSpPr>
          <p:cNvPr id="14" name="Card Ca + F"/>
          <p:cNvSpPr/>
          <p:nvPr/>
        </p:nvSpPr>
        <p:spPr>
          <a:xfrm>
            <a:off x="7086600" y="4617720"/>
            <a:ext cx="1463040" cy="384048"/>
          </a:xfrm>
          <a:prstGeom prst="roundRect">
            <a:avLst>
              <a:gd name="adj" fmla="val 19048"/>
            </a:avLst>
          </a:prstGeom>
          <a:solidFill>
            <a:schemeClr val="tx2"/>
          </a:solidFill>
          <a:ln w="12700">
            <a:solidFill>
              <a:srgbClr val="5FE1FF"/>
            </a:solidFill>
          </a:ln>
        </p:spPr>
        <p:txBody>
          <a:bodyPr wrap="square" lIns="0" tIns="0" rIns="0" bIns="0" rtlCol="0" anchor="ctr"/>
          <a:lstStyle/>
          <a:p>
            <a:pPr algn="ctr" indent="0" marL="0">
              <a:buNone/>
            </a:pPr>
            <a:r>
              <a:rPr lang="en-US" sz="1400" b="1" dirty="0">
                <a:solidFill>
                  <a:schemeClr val="bg1"/>
                </a:solidFill>
              </a:rPr>
              <a:t>Ca + F</a:t>
            </a:r>
            <a:endParaRPr lang="en-US" sz="14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FB1C7"/>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1234440" y="292608"/>
            <a:ext cx="7452360" cy="548640"/>
          </a:xfrm>
          <a:prstGeom prst="rect">
            <a:avLst/>
          </a:prstGeom>
          <a:noFill/>
          <a:ln/>
        </p:spPr>
        <p:txBody>
          <a:bodyPr wrap="square" lIns="0" tIns="0" rIns="0" bIns="0" rtlCol="0" anchor="ctr"/>
          <a:lstStyle/>
          <a:p>
            <a:pPr algn="l" indent="0" marL="0">
              <a:buNone/>
            </a:pPr>
            <a:r>
              <a:rPr lang="en-US" sz="2800" b="1" dirty="0">
                <a:solidFill>
                  <a:schemeClr val="bg1"/>
                </a:solidFill>
                <a:latin typeface="Arial" pitchFamily="34" charset="0"/>
                <a:ea typeface="Arial" pitchFamily="34" charset="-122"/>
                <a:cs typeface="Arial" pitchFamily="34" charset="-120"/>
              </a:rPr>
              <a:t>Ionic or not?</a:t>
            </a:r>
            <a:endParaRPr lang="en-US" sz="2800" dirty="0"/>
          </a:p>
        </p:txBody>
      </p:sp>
      <p:pic>
        <p:nvPicPr>
          <p:cNvPr id="3" name="Icon 1" descr="Section 1 icon">    </p:cNvPr>
          <p:cNvPicPr>
            <a:picLocks noChangeAspect="1"/>
          </p:cNvPicPr>
          <p:nvPr/>
        </p:nvPicPr>
        <p:blipFill>
          <a:blip r:embed="rId1"/>
          <a:stretch>
            <a:fillRect/>
          </a:stretch>
        </p:blipFill>
        <p:spPr>
          <a:xfrm>
            <a:off x="502920" y="201168"/>
            <a:ext cx="566928" cy="627239"/>
          </a:xfrm>
          <a:prstGeom prst="rect">
            <a:avLst/>
          </a:prstGeom>
        </p:spPr>
      </p:pic>
      <p:sp>
        <p:nvSpPr>
          <p:cNvPr id="4" name="Tag Try it"/>
          <p:cNvSpPr/>
          <p:nvPr/>
        </p:nvSpPr>
        <p:spPr>
          <a:xfrm>
            <a:off x="1234440" y="45720"/>
            <a:ext cx="1051560" cy="219456"/>
          </a:xfrm>
          <a:prstGeom prst="roundRect">
            <a:avLst>
              <a:gd name="adj" fmla="val 41667"/>
            </a:avLst>
          </a:prstGeom>
          <a:solidFill>
            <a:srgbClr val="5FE1FF"/>
          </a:solidFill>
          <a:ln/>
        </p:spPr>
        <p:txBody>
          <a:bodyPr wrap="square" lIns="0" tIns="0" rIns="0" bIns="0" rtlCol="0" anchor="ctr"/>
          <a:lstStyle/>
          <a:p>
            <a:pPr algn="ctr" indent="0" marL="0">
              <a:buNone/>
            </a:pPr>
            <a:r>
              <a:rPr lang="en-US" sz="1000" b="1" dirty="0">
                <a:solidFill>
                  <a:srgbClr val="0B2630"/>
                </a:solidFill>
              </a:rPr>
              <a:t>Try it</a:t>
            </a:r>
            <a:endParaRPr lang="en-US" sz="1000" dirty="0"/>
          </a:p>
        </p:txBody>
      </p:sp>
      <p:sp>
        <p:nvSpPr>
          <p:cNvPr id="5" name="Tag Answer"/>
          <p:cNvSpPr/>
          <p:nvPr/>
        </p:nvSpPr>
        <p:spPr>
          <a:xfrm>
            <a:off x="2377440" y="45720"/>
            <a:ext cx="1051560" cy="219456"/>
          </a:xfrm>
          <a:prstGeom prst="roundRect">
            <a:avLst>
              <a:gd name="adj" fmla="val 41667"/>
            </a:avLst>
          </a:prstGeom>
          <a:solidFill>
            <a:srgbClr val="4ADE80"/>
          </a:solidFill>
          <a:ln/>
        </p:spPr>
        <p:txBody>
          <a:bodyPr wrap="square" lIns="0" tIns="0" rIns="0" bIns="0" rtlCol="0" anchor="ctr"/>
          <a:lstStyle/>
          <a:p>
            <a:pPr algn="ctr" indent="0" marL="0">
              <a:buNone/>
            </a:pPr>
            <a:r>
              <a:rPr lang="en-US" sz="1000" b="1" dirty="0">
                <a:solidFill>
                  <a:srgbClr val="06240F"/>
                </a:solidFill>
              </a:rPr>
              <a:t>Answer</a:t>
            </a:r>
            <a:endParaRPr lang="en-US" sz="1000" dirty="0"/>
          </a:p>
        </p:txBody>
      </p:sp>
      <p:sp>
        <p:nvSpPr>
          <p:cNvPr id="6" name="Text 3"/>
          <p:cNvSpPr txBox="1"/>
          <p:nvPr/>
        </p:nvSpPr>
        <p:spPr>
          <a:xfrm>
            <a:off x="502920" y="960120"/>
            <a:ext cx="8138160" cy="365760"/>
          </a:xfrm>
          <a:prstGeom prst="rect">
            <a:avLst/>
          </a:prstGeom>
          <a:noFill/>
          <a:ln/>
        </p:spPr>
        <p:txBody>
          <a:bodyPr wrap="square" lIns="0" tIns="0" rIns="0" bIns="0" rtlCol="0" anchor="t"/>
          <a:lstStyle/>
          <a:p>
            <a:pPr algn="l" indent="0" marL="0">
              <a:buNone/>
            </a:pPr>
            <a:r>
              <a:rPr lang="en-US" sz="1600" b="1" dirty="0">
                <a:solidFill>
                  <a:schemeClr val="bg1"/>
                </a:solidFill>
              </a:rPr>
              <a:t>Sort each pair: ionic (metal + nonmetal) or not ionic (two nonmetals)?</a:t>
            </a:r>
            <a:endParaRPr lang="en-US" sz="1600" dirty="0"/>
          </a:p>
        </p:txBody>
      </p:sp>
      <p:sp>
        <p:nvSpPr>
          <p:cNvPr id="7" name="Ionic box"/>
          <p:cNvSpPr/>
          <p:nvPr/>
        </p:nvSpPr>
        <p:spPr>
          <a:xfrm>
            <a:off x="502920" y="1508760"/>
            <a:ext cx="3931920" cy="3017520"/>
          </a:xfrm>
          <a:prstGeom prst="roundRect">
            <a:avLst>
              <a:gd name="adj" fmla="val 3030"/>
            </a:avLst>
          </a:prstGeom>
          <a:solidFill>
            <a:schemeClr val="tx2"/>
          </a:solidFill>
          <a:ln w="25400">
            <a:solidFill>
              <a:srgbClr val="60A5FA"/>
            </a:solidFill>
            <a:prstDash val="solid"/>
          </a:ln>
        </p:spPr>
      </p:sp>
      <p:sp>
        <p:nvSpPr>
          <p:cNvPr id="8" name="Not ionic box"/>
          <p:cNvSpPr/>
          <p:nvPr/>
        </p:nvSpPr>
        <p:spPr>
          <a:xfrm>
            <a:off x="4709160" y="1508760"/>
            <a:ext cx="3931920" cy="3017520"/>
          </a:xfrm>
          <a:prstGeom prst="roundRect">
            <a:avLst>
              <a:gd name="adj" fmla="val 3030"/>
            </a:avLst>
          </a:prstGeom>
          <a:solidFill>
            <a:schemeClr val="tx2"/>
          </a:solidFill>
          <a:ln w="25400">
            <a:solidFill>
              <a:srgbClr val="F472B6"/>
            </a:solidFill>
            <a:prstDash val="solid"/>
          </a:ln>
        </p:spPr>
      </p:sp>
      <p:sp>
        <p:nvSpPr>
          <p:cNvPr id="9" name="Text 6"/>
          <p:cNvSpPr txBox="1"/>
          <p:nvPr/>
        </p:nvSpPr>
        <p:spPr>
          <a:xfrm>
            <a:off x="685800" y="1600200"/>
            <a:ext cx="3566160" cy="320040"/>
          </a:xfrm>
          <a:prstGeom prst="rect">
            <a:avLst/>
          </a:prstGeom>
          <a:noFill/>
          <a:ln/>
        </p:spPr>
        <p:txBody>
          <a:bodyPr wrap="square" lIns="0" tIns="0" rIns="0" bIns="0" rtlCol="0" anchor="t"/>
          <a:lstStyle/>
          <a:p>
            <a:pPr algn="l" indent="0" marL="0">
              <a:buNone/>
            </a:pPr>
            <a:r>
              <a:rPr lang="en-US" sz="1500" b="1" dirty="0">
                <a:solidFill>
                  <a:schemeClr val="accent5"/>
                </a:solidFill>
              </a:rPr>
              <a:t>Ionic (metal + nonmetal)</a:t>
            </a:r>
            <a:endParaRPr lang="en-US" sz="1500" dirty="0"/>
          </a:p>
        </p:txBody>
      </p:sp>
      <p:sp>
        <p:nvSpPr>
          <p:cNvPr id="10" name="Text 7"/>
          <p:cNvSpPr txBox="1"/>
          <p:nvPr/>
        </p:nvSpPr>
        <p:spPr>
          <a:xfrm>
            <a:off x="4892040" y="1600200"/>
            <a:ext cx="3566160" cy="320040"/>
          </a:xfrm>
          <a:prstGeom prst="rect">
            <a:avLst/>
          </a:prstGeom>
          <a:noFill/>
          <a:ln/>
        </p:spPr>
        <p:txBody>
          <a:bodyPr wrap="square" lIns="0" tIns="0" rIns="0" bIns="0" rtlCol="0" anchor="t"/>
          <a:lstStyle/>
          <a:p>
            <a:pPr algn="l" indent="0" marL="0">
              <a:buNone/>
            </a:pPr>
            <a:r>
              <a:rPr lang="en-US" sz="1500" b="1" dirty="0">
                <a:solidFill>
                  <a:schemeClr val="accent3"/>
                </a:solidFill>
              </a:rPr>
              <a:t>Not ionic (two nonmetals)</a:t>
            </a:r>
            <a:endParaRPr lang="en-US" sz="1500" dirty="0"/>
          </a:p>
        </p:txBody>
      </p:sp>
      <p:sp>
        <p:nvSpPr>
          <p:cNvPr id="11" name="Card Na + Cl"/>
          <p:cNvSpPr/>
          <p:nvPr/>
        </p:nvSpPr>
        <p:spPr>
          <a:xfrm>
            <a:off x="731520" y="2057400"/>
            <a:ext cx="1737360" cy="438912"/>
          </a:xfrm>
          <a:prstGeom prst="roundRect">
            <a:avLst>
              <a:gd name="adj" fmla="val 16667"/>
            </a:avLst>
          </a:prstGeom>
          <a:solidFill>
            <a:srgbClr val="0E1626"/>
          </a:solidFill>
          <a:ln w="19050">
            <a:solidFill>
              <a:srgbClr val="4ADE80"/>
            </a:solidFill>
          </a:ln>
        </p:spPr>
        <p:txBody>
          <a:bodyPr wrap="square" lIns="0" tIns="0" rIns="0" bIns="0" rtlCol="0" anchor="ctr"/>
          <a:lstStyle/>
          <a:p>
            <a:pPr algn="ctr" indent="0" marL="0">
              <a:buNone/>
            </a:pPr>
            <a:r>
              <a:rPr lang="en-US" sz="1500" b="1" dirty="0">
                <a:solidFill>
                  <a:schemeClr val="bg1"/>
                </a:solidFill>
              </a:rPr>
              <a:t>Na + Cl</a:t>
            </a:r>
            <a:endParaRPr lang="en-US" sz="1500" dirty="0"/>
          </a:p>
        </p:txBody>
      </p:sp>
      <p:sp>
        <p:nvSpPr>
          <p:cNvPr id="12" name="Card Mg + O"/>
          <p:cNvSpPr/>
          <p:nvPr/>
        </p:nvSpPr>
        <p:spPr>
          <a:xfrm>
            <a:off x="731520" y="2606040"/>
            <a:ext cx="1737360" cy="438912"/>
          </a:xfrm>
          <a:prstGeom prst="roundRect">
            <a:avLst>
              <a:gd name="adj" fmla="val 16667"/>
            </a:avLst>
          </a:prstGeom>
          <a:solidFill>
            <a:srgbClr val="0E1626"/>
          </a:solidFill>
          <a:ln w="19050">
            <a:solidFill>
              <a:srgbClr val="4ADE80"/>
            </a:solidFill>
          </a:ln>
        </p:spPr>
        <p:txBody>
          <a:bodyPr wrap="square" lIns="0" tIns="0" rIns="0" bIns="0" rtlCol="0" anchor="ctr"/>
          <a:lstStyle/>
          <a:p>
            <a:pPr algn="ctr" indent="0" marL="0">
              <a:buNone/>
            </a:pPr>
            <a:r>
              <a:rPr lang="en-US" sz="1500" b="1" dirty="0">
                <a:solidFill>
                  <a:schemeClr val="bg1"/>
                </a:solidFill>
              </a:rPr>
              <a:t>Mg + O</a:t>
            </a:r>
            <a:endParaRPr lang="en-US" sz="1500" dirty="0"/>
          </a:p>
        </p:txBody>
      </p:sp>
      <p:sp>
        <p:nvSpPr>
          <p:cNvPr id="13" name="Card C + O"/>
          <p:cNvSpPr/>
          <p:nvPr/>
        </p:nvSpPr>
        <p:spPr>
          <a:xfrm>
            <a:off x="4937760" y="2057400"/>
            <a:ext cx="1737360" cy="438912"/>
          </a:xfrm>
          <a:prstGeom prst="roundRect">
            <a:avLst>
              <a:gd name="adj" fmla="val 16667"/>
            </a:avLst>
          </a:prstGeom>
          <a:solidFill>
            <a:srgbClr val="0E1626"/>
          </a:solidFill>
          <a:ln w="19050">
            <a:solidFill>
              <a:srgbClr val="4ADE80"/>
            </a:solidFill>
          </a:ln>
        </p:spPr>
        <p:txBody>
          <a:bodyPr wrap="square" lIns="0" tIns="0" rIns="0" bIns="0" rtlCol="0" anchor="ctr"/>
          <a:lstStyle/>
          <a:p>
            <a:pPr algn="ctr" indent="0" marL="0">
              <a:buNone/>
            </a:pPr>
            <a:r>
              <a:rPr lang="en-US" sz="1500" b="1" dirty="0">
                <a:solidFill>
                  <a:schemeClr val="bg1"/>
                </a:solidFill>
              </a:rPr>
              <a:t>C + O</a:t>
            </a:r>
            <a:endParaRPr lang="en-US" sz="1500" dirty="0"/>
          </a:p>
        </p:txBody>
      </p:sp>
      <p:sp>
        <p:nvSpPr>
          <p:cNvPr id="14" name="Card K + Br"/>
          <p:cNvSpPr/>
          <p:nvPr/>
        </p:nvSpPr>
        <p:spPr>
          <a:xfrm>
            <a:off x="731520" y="3154680"/>
            <a:ext cx="1737360" cy="438912"/>
          </a:xfrm>
          <a:prstGeom prst="roundRect">
            <a:avLst>
              <a:gd name="adj" fmla="val 16667"/>
            </a:avLst>
          </a:prstGeom>
          <a:solidFill>
            <a:srgbClr val="0E1626"/>
          </a:solidFill>
          <a:ln w="19050">
            <a:solidFill>
              <a:srgbClr val="4ADE80"/>
            </a:solidFill>
          </a:ln>
        </p:spPr>
        <p:txBody>
          <a:bodyPr wrap="square" lIns="0" tIns="0" rIns="0" bIns="0" rtlCol="0" anchor="ctr"/>
          <a:lstStyle/>
          <a:p>
            <a:pPr algn="ctr" indent="0" marL="0">
              <a:buNone/>
            </a:pPr>
            <a:r>
              <a:rPr lang="en-US" sz="1500" b="1" dirty="0">
                <a:solidFill>
                  <a:schemeClr val="bg1"/>
                </a:solidFill>
              </a:rPr>
              <a:t>K + Br</a:t>
            </a:r>
            <a:endParaRPr lang="en-US" sz="1500" dirty="0"/>
          </a:p>
        </p:txBody>
      </p:sp>
      <p:sp>
        <p:nvSpPr>
          <p:cNvPr id="15" name="Card Ca + F"/>
          <p:cNvSpPr/>
          <p:nvPr/>
        </p:nvSpPr>
        <p:spPr>
          <a:xfrm>
            <a:off x="731520" y="3703320"/>
            <a:ext cx="1737360" cy="438912"/>
          </a:xfrm>
          <a:prstGeom prst="roundRect">
            <a:avLst>
              <a:gd name="adj" fmla="val 16667"/>
            </a:avLst>
          </a:prstGeom>
          <a:solidFill>
            <a:srgbClr val="0E1626"/>
          </a:solidFill>
          <a:ln w="19050">
            <a:solidFill>
              <a:srgbClr val="4ADE80"/>
            </a:solidFill>
          </a:ln>
        </p:spPr>
        <p:txBody>
          <a:bodyPr wrap="square" lIns="0" tIns="0" rIns="0" bIns="0" rtlCol="0" anchor="ctr"/>
          <a:lstStyle/>
          <a:p>
            <a:pPr algn="ctr" indent="0" marL="0">
              <a:buNone/>
            </a:pPr>
            <a:r>
              <a:rPr lang="en-US" sz="1500" b="1" dirty="0">
                <a:solidFill>
                  <a:schemeClr val="bg1"/>
                </a:solidFill>
              </a:rPr>
              <a:t>Ca + F</a:t>
            </a:r>
            <a:endParaRPr lang="en-US" sz="15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FB1C7"/>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1234440" y="292608"/>
            <a:ext cx="7452360" cy="548640"/>
          </a:xfrm>
          <a:prstGeom prst="rect">
            <a:avLst/>
          </a:prstGeom>
          <a:noFill/>
          <a:ln/>
        </p:spPr>
        <p:txBody>
          <a:bodyPr wrap="square" lIns="0" tIns="0" rIns="0" bIns="0" rtlCol="0" anchor="ctr"/>
          <a:lstStyle/>
          <a:p>
            <a:pPr algn="l" indent="0" marL="0">
              <a:buNone/>
            </a:pPr>
            <a:r>
              <a:rPr lang="en-US" sz="2800" b="1" dirty="0">
                <a:solidFill>
                  <a:schemeClr val="bg1"/>
                </a:solidFill>
                <a:latin typeface="Arial" pitchFamily="34" charset="0"/>
                <a:ea typeface="Arial" pitchFamily="34" charset="-122"/>
                <a:cs typeface="Arial" pitchFamily="34" charset="-120"/>
              </a:rPr>
              <a:t>Quick check</a:t>
            </a:r>
            <a:endParaRPr lang="en-US" sz="2800" dirty="0"/>
          </a:p>
        </p:txBody>
      </p:sp>
      <p:pic>
        <p:nvPicPr>
          <p:cNvPr id="3" name="Icon 1" descr="Section 1 icon">    </p:cNvPr>
          <p:cNvPicPr>
            <a:picLocks noChangeAspect="1"/>
          </p:cNvPicPr>
          <p:nvPr/>
        </p:nvPicPr>
        <p:blipFill>
          <a:blip r:embed="rId1"/>
          <a:stretch>
            <a:fillRect/>
          </a:stretch>
        </p:blipFill>
        <p:spPr>
          <a:xfrm>
            <a:off x="502920" y="201168"/>
            <a:ext cx="566928" cy="627239"/>
          </a:xfrm>
          <a:prstGeom prst="rect">
            <a:avLst/>
          </a:prstGeom>
        </p:spPr>
      </p:pic>
      <p:sp>
        <p:nvSpPr>
          <p:cNvPr id="4" name="Tag Quick check"/>
          <p:cNvSpPr/>
          <p:nvPr/>
        </p:nvSpPr>
        <p:spPr>
          <a:xfrm>
            <a:off x="1234440" y="45720"/>
            <a:ext cx="1051560" cy="219456"/>
          </a:xfrm>
          <a:prstGeom prst="roundRect">
            <a:avLst>
              <a:gd name="adj" fmla="val 41667"/>
            </a:avLst>
          </a:prstGeom>
          <a:solidFill>
            <a:srgbClr val="F6B93B"/>
          </a:solidFill>
          <a:ln/>
        </p:spPr>
        <p:txBody>
          <a:bodyPr wrap="square" lIns="0" tIns="0" rIns="0" bIns="0" rtlCol="0" anchor="ctr"/>
          <a:lstStyle/>
          <a:p>
            <a:pPr algn="ctr" indent="0" marL="0">
              <a:buNone/>
            </a:pPr>
            <a:r>
              <a:rPr lang="en-US" sz="1000" b="1" dirty="0">
                <a:solidFill>
                  <a:srgbClr val="241703"/>
                </a:solidFill>
              </a:rPr>
              <a:t>Quick check</a:t>
            </a:r>
            <a:endParaRPr lang="en-US" sz="1000" dirty="0"/>
          </a:p>
        </p:txBody>
      </p:sp>
      <p:sp>
        <p:nvSpPr>
          <p:cNvPr id="5" name="Text 2"/>
          <p:cNvSpPr txBox="1"/>
          <p:nvPr/>
        </p:nvSpPr>
        <p:spPr>
          <a:xfrm>
            <a:off x="502920" y="960120"/>
            <a:ext cx="8138160" cy="411480"/>
          </a:xfrm>
          <a:prstGeom prst="rect">
            <a:avLst/>
          </a:prstGeom>
          <a:noFill/>
          <a:ln/>
        </p:spPr>
        <p:txBody>
          <a:bodyPr wrap="square" lIns="0" tIns="0" rIns="0" bIns="0" rtlCol="0" anchor="t"/>
          <a:lstStyle/>
          <a:p>
            <a:pPr algn="l" indent="0" marL="0">
              <a:buNone/>
            </a:pPr>
            <a:r>
              <a:rPr lang="en-US" sz="1800" b="1" dirty="0">
                <a:solidFill>
                  <a:schemeClr val="bg1"/>
                </a:solidFill>
              </a:rPr>
              <a:t>What holds the ions in an ionic compound together?</a:t>
            </a:r>
            <a:endParaRPr lang="en-US" sz="1800" dirty="0"/>
          </a:p>
        </p:txBody>
      </p:sp>
      <p:sp>
        <p:nvSpPr>
          <p:cNvPr id="6" name="Option A"/>
          <p:cNvSpPr/>
          <p:nvPr/>
        </p:nvSpPr>
        <p:spPr>
          <a:xfrm>
            <a:off x="502920" y="1508760"/>
            <a:ext cx="8138160" cy="438912"/>
          </a:xfrm>
          <a:prstGeom prst="roundRect">
            <a:avLst>
              <a:gd name="adj" fmla="val 20833"/>
            </a:avLst>
          </a:prstGeom>
          <a:solidFill>
            <a:schemeClr val="tx2"/>
          </a:solidFill>
          <a:ln w="12700">
            <a:solidFill>
              <a:srgbClr val="2A3A55"/>
            </a:solidFill>
            <a:prstDash val="solid"/>
          </a:ln>
        </p:spPr>
      </p:sp>
      <p:sp>
        <p:nvSpPr>
          <p:cNvPr id="7" name="Letter"/>
          <p:cNvSpPr/>
          <p:nvPr/>
        </p:nvSpPr>
        <p:spPr>
          <a:xfrm>
            <a:off x="621792" y="1591056"/>
            <a:ext cx="292608" cy="274320"/>
          </a:xfrm>
          <a:prstGeom prst="roundRect">
            <a:avLst>
              <a:gd name="adj" fmla="val 20000"/>
            </a:avLst>
          </a:prstGeom>
          <a:solidFill>
            <a:srgbClr val="2A3A55"/>
          </a:solidFill>
          <a:ln/>
        </p:spPr>
        <p:txBody>
          <a:bodyPr wrap="square" lIns="0" tIns="0" rIns="0" bIns="0" rtlCol="0" anchor="ctr"/>
          <a:lstStyle/>
          <a:p>
            <a:pPr algn="ctr" indent="0" marL="0">
              <a:buNone/>
            </a:pPr>
            <a:r>
              <a:rPr lang="en-US" sz="1200" b="1" dirty="0">
                <a:solidFill>
                  <a:srgbClr val="E6EDF7"/>
                </a:solidFill>
              </a:rPr>
              <a:t>A</a:t>
            </a:r>
            <a:endParaRPr lang="en-US" sz="1200" dirty="0"/>
          </a:p>
        </p:txBody>
      </p:sp>
      <p:sp>
        <p:nvSpPr>
          <p:cNvPr id="8" name="Text 5"/>
          <p:cNvSpPr txBox="1"/>
          <p:nvPr/>
        </p:nvSpPr>
        <p:spPr>
          <a:xfrm>
            <a:off x="1024128" y="1563624"/>
            <a:ext cx="7498080" cy="347472"/>
          </a:xfrm>
          <a:prstGeom prst="rect">
            <a:avLst/>
          </a:prstGeom>
          <a:noFill/>
          <a:ln/>
        </p:spPr>
        <p:txBody>
          <a:bodyPr wrap="square" lIns="0" tIns="0" rIns="0" bIns="0" rtlCol="0" anchor="ctr"/>
          <a:lstStyle/>
          <a:p>
            <a:pPr algn="l" indent="0" marL="0">
              <a:buNone/>
            </a:pPr>
            <a:r>
              <a:rPr lang="en-US" sz="1500" dirty="0">
                <a:solidFill>
                  <a:schemeClr val="bg1"/>
                </a:solidFill>
              </a:rPr>
              <a:t>Shared electrons</a:t>
            </a:r>
            <a:endParaRPr lang="en-US" sz="1500" dirty="0"/>
          </a:p>
        </p:txBody>
      </p:sp>
      <p:sp>
        <p:nvSpPr>
          <p:cNvPr id="9" name="Option B"/>
          <p:cNvSpPr/>
          <p:nvPr/>
        </p:nvSpPr>
        <p:spPr>
          <a:xfrm>
            <a:off x="502920" y="2039112"/>
            <a:ext cx="8138160" cy="438912"/>
          </a:xfrm>
          <a:prstGeom prst="roundRect">
            <a:avLst>
              <a:gd name="adj" fmla="val 20833"/>
            </a:avLst>
          </a:prstGeom>
          <a:solidFill>
            <a:schemeClr val="tx2"/>
          </a:solidFill>
          <a:ln w="12700">
            <a:solidFill>
              <a:srgbClr val="2A3A55"/>
            </a:solidFill>
            <a:prstDash val="solid"/>
          </a:ln>
        </p:spPr>
      </p:sp>
      <p:sp>
        <p:nvSpPr>
          <p:cNvPr id="10" name="Letter"/>
          <p:cNvSpPr/>
          <p:nvPr/>
        </p:nvSpPr>
        <p:spPr>
          <a:xfrm>
            <a:off x="621792" y="2121408"/>
            <a:ext cx="292608" cy="274320"/>
          </a:xfrm>
          <a:prstGeom prst="roundRect">
            <a:avLst>
              <a:gd name="adj" fmla="val 20000"/>
            </a:avLst>
          </a:prstGeom>
          <a:solidFill>
            <a:srgbClr val="2A3A55"/>
          </a:solidFill>
          <a:ln/>
        </p:spPr>
        <p:txBody>
          <a:bodyPr wrap="square" lIns="0" tIns="0" rIns="0" bIns="0" rtlCol="0" anchor="ctr"/>
          <a:lstStyle/>
          <a:p>
            <a:pPr algn="ctr" indent="0" marL="0">
              <a:buNone/>
            </a:pPr>
            <a:r>
              <a:rPr lang="en-US" sz="1200" b="1" dirty="0">
                <a:solidFill>
                  <a:srgbClr val="E6EDF7"/>
                </a:solidFill>
              </a:rPr>
              <a:t>B</a:t>
            </a:r>
            <a:endParaRPr lang="en-US" sz="1200" dirty="0"/>
          </a:p>
        </p:txBody>
      </p:sp>
      <p:sp>
        <p:nvSpPr>
          <p:cNvPr id="11" name="Text 8"/>
          <p:cNvSpPr txBox="1"/>
          <p:nvPr/>
        </p:nvSpPr>
        <p:spPr>
          <a:xfrm>
            <a:off x="1024128" y="2093976"/>
            <a:ext cx="7498080" cy="347472"/>
          </a:xfrm>
          <a:prstGeom prst="rect">
            <a:avLst/>
          </a:prstGeom>
          <a:noFill/>
          <a:ln/>
        </p:spPr>
        <p:txBody>
          <a:bodyPr wrap="square" lIns="0" tIns="0" rIns="0" bIns="0" rtlCol="0" anchor="ctr"/>
          <a:lstStyle/>
          <a:p>
            <a:pPr algn="l" indent="0" marL="0">
              <a:buNone/>
            </a:pPr>
            <a:r>
              <a:rPr lang="en-US" sz="1500" dirty="0">
                <a:solidFill>
                  <a:schemeClr val="bg1"/>
                </a:solidFill>
              </a:rPr>
              <a:t>The attraction between positive and negative ions</a:t>
            </a:r>
            <a:endParaRPr lang="en-US" sz="1500" dirty="0"/>
          </a:p>
        </p:txBody>
      </p:sp>
      <p:sp>
        <p:nvSpPr>
          <p:cNvPr id="12" name="Option C"/>
          <p:cNvSpPr/>
          <p:nvPr/>
        </p:nvSpPr>
        <p:spPr>
          <a:xfrm>
            <a:off x="502920" y="2569464"/>
            <a:ext cx="8138160" cy="438912"/>
          </a:xfrm>
          <a:prstGeom prst="roundRect">
            <a:avLst>
              <a:gd name="adj" fmla="val 20833"/>
            </a:avLst>
          </a:prstGeom>
          <a:solidFill>
            <a:schemeClr val="tx2"/>
          </a:solidFill>
          <a:ln w="12700">
            <a:solidFill>
              <a:srgbClr val="2A3A55"/>
            </a:solidFill>
            <a:prstDash val="solid"/>
          </a:ln>
        </p:spPr>
      </p:sp>
      <p:sp>
        <p:nvSpPr>
          <p:cNvPr id="13" name="Letter"/>
          <p:cNvSpPr/>
          <p:nvPr/>
        </p:nvSpPr>
        <p:spPr>
          <a:xfrm>
            <a:off x="621792" y="2651760"/>
            <a:ext cx="292608" cy="274320"/>
          </a:xfrm>
          <a:prstGeom prst="roundRect">
            <a:avLst>
              <a:gd name="adj" fmla="val 20000"/>
            </a:avLst>
          </a:prstGeom>
          <a:solidFill>
            <a:srgbClr val="2A3A55"/>
          </a:solidFill>
          <a:ln/>
        </p:spPr>
        <p:txBody>
          <a:bodyPr wrap="square" lIns="0" tIns="0" rIns="0" bIns="0" rtlCol="0" anchor="ctr"/>
          <a:lstStyle/>
          <a:p>
            <a:pPr algn="ctr" indent="0" marL="0">
              <a:buNone/>
            </a:pPr>
            <a:r>
              <a:rPr lang="en-US" sz="1200" b="1" dirty="0">
                <a:solidFill>
                  <a:srgbClr val="E6EDF7"/>
                </a:solidFill>
              </a:rPr>
              <a:t>C</a:t>
            </a:r>
            <a:endParaRPr lang="en-US" sz="1200" dirty="0"/>
          </a:p>
        </p:txBody>
      </p:sp>
      <p:sp>
        <p:nvSpPr>
          <p:cNvPr id="14" name="Text 11"/>
          <p:cNvSpPr txBox="1"/>
          <p:nvPr/>
        </p:nvSpPr>
        <p:spPr>
          <a:xfrm>
            <a:off x="1024128" y="2624328"/>
            <a:ext cx="7498080" cy="347472"/>
          </a:xfrm>
          <a:prstGeom prst="rect">
            <a:avLst/>
          </a:prstGeom>
          <a:noFill/>
          <a:ln/>
        </p:spPr>
        <p:txBody>
          <a:bodyPr wrap="square" lIns="0" tIns="0" rIns="0" bIns="0" rtlCol="0" anchor="ctr"/>
          <a:lstStyle/>
          <a:p>
            <a:pPr algn="l" indent="0" marL="0">
              <a:buNone/>
            </a:pPr>
            <a:r>
              <a:rPr lang="en-US" sz="1500" dirty="0">
                <a:solidFill>
                  <a:schemeClr val="bg1"/>
                </a:solidFill>
              </a:rPr>
              <a:t>Gravity</a:t>
            </a:r>
            <a:endParaRPr lang="en-US" sz="1500" dirty="0"/>
          </a:p>
        </p:txBody>
      </p:sp>
      <p:sp>
        <p:nvSpPr>
          <p:cNvPr id="15" name="Option D"/>
          <p:cNvSpPr/>
          <p:nvPr/>
        </p:nvSpPr>
        <p:spPr>
          <a:xfrm>
            <a:off x="502920" y="3099816"/>
            <a:ext cx="8138160" cy="438912"/>
          </a:xfrm>
          <a:prstGeom prst="roundRect">
            <a:avLst>
              <a:gd name="adj" fmla="val 20833"/>
            </a:avLst>
          </a:prstGeom>
          <a:solidFill>
            <a:schemeClr val="tx2"/>
          </a:solidFill>
          <a:ln w="12700">
            <a:solidFill>
              <a:srgbClr val="2A3A55"/>
            </a:solidFill>
            <a:prstDash val="solid"/>
          </a:ln>
        </p:spPr>
      </p:sp>
      <p:sp>
        <p:nvSpPr>
          <p:cNvPr id="16" name="Letter"/>
          <p:cNvSpPr/>
          <p:nvPr/>
        </p:nvSpPr>
        <p:spPr>
          <a:xfrm>
            <a:off x="621792" y="3182112"/>
            <a:ext cx="292608" cy="274320"/>
          </a:xfrm>
          <a:prstGeom prst="roundRect">
            <a:avLst>
              <a:gd name="adj" fmla="val 20000"/>
            </a:avLst>
          </a:prstGeom>
          <a:solidFill>
            <a:srgbClr val="2A3A55"/>
          </a:solidFill>
          <a:ln/>
        </p:spPr>
        <p:txBody>
          <a:bodyPr wrap="square" lIns="0" tIns="0" rIns="0" bIns="0" rtlCol="0" anchor="ctr"/>
          <a:lstStyle/>
          <a:p>
            <a:pPr algn="ctr" indent="0" marL="0">
              <a:buNone/>
            </a:pPr>
            <a:r>
              <a:rPr lang="en-US" sz="1200" b="1" dirty="0">
                <a:solidFill>
                  <a:srgbClr val="E6EDF7"/>
                </a:solidFill>
              </a:rPr>
              <a:t>D</a:t>
            </a:r>
            <a:endParaRPr lang="en-US" sz="1200" dirty="0"/>
          </a:p>
        </p:txBody>
      </p:sp>
      <p:sp>
        <p:nvSpPr>
          <p:cNvPr id="17" name="Text 14"/>
          <p:cNvSpPr txBox="1"/>
          <p:nvPr/>
        </p:nvSpPr>
        <p:spPr>
          <a:xfrm>
            <a:off x="1024128" y="3154680"/>
            <a:ext cx="7498080" cy="347472"/>
          </a:xfrm>
          <a:prstGeom prst="rect">
            <a:avLst/>
          </a:prstGeom>
          <a:noFill/>
          <a:ln/>
        </p:spPr>
        <p:txBody>
          <a:bodyPr wrap="square" lIns="0" tIns="0" rIns="0" bIns="0" rtlCol="0" anchor="ctr"/>
          <a:lstStyle/>
          <a:p>
            <a:pPr algn="l" indent="0" marL="0">
              <a:buNone/>
            </a:pPr>
            <a:r>
              <a:rPr lang="en-US" sz="1500" dirty="0">
                <a:solidFill>
                  <a:schemeClr val="bg1"/>
                </a:solidFill>
              </a:rPr>
              <a:t>Extra neutrons</a:t>
            </a:r>
            <a:endParaRPr lang="en-US" sz="15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FB1C7"/>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1234440" y="292608"/>
            <a:ext cx="7452360" cy="548640"/>
          </a:xfrm>
          <a:prstGeom prst="rect">
            <a:avLst/>
          </a:prstGeom>
          <a:noFill/>
          <a:ln/>
        </p:spPr>
        <p:txBody>
          <a:bodyPr wrap="square" lIns="0" tIns="0" rIns="0" bIns="0" rtlCol="0" anchor="ctr"/>
          <a:lstStyle/>
          <a:p>
            <a:pPr algn="l" indent="0" marL="0">
              <a:buNone/>
            </a:pPr>
            <a:r>
              <a:rPr lang="en-US" sz="2800" b="1" dirty="0">
                <a:solidFill>
                  <a:schemeClr val="bg1"/>
                </a:solidFill>
                <a:latin typeface="Arial" pitchFamily="34" charset="0"/>
                <a:ea typeface="Arial" pitchFamily="34" charset="-122"/>
                <a:cs typeface="Arial" pitchFamily="34" charset="-120"/>
              </a:rPr>
              <a:t>Quick check</a:t>
            </a:r>
            <a:endParaRPr lang="en-US" sz="2800" dirty="0"/>
          </a:p>
        </p:txBody>
      </p:sp>
      <p:pic>
        <p:nvPicPr>
          <p:cNvPr id="3" name="Icon 1" descr="Section 1 icon">    </p:cNvPr>
          <p:cNvPicPr>
            <a:picLocks noChangeAspect="1"/>
          </p:cNvPicPr>
          <p:nvPr/>
        </p:nvPicPr>
        <p:blipFill>
          <a:blip r:embed="rId1"/>
          <a:stretch>
            <a:fillRect/>
          </a:stretch>
        </p:blipFill>
        <p:spPr>
          <a:xfrm>
            <a:off x="502920" y="201168"/>
            <a:ext cx="566928" cy="627239"/>
          </a:xfrm>
          <a:prstGeom prst="rect">
            <a:avLst/>
          </a:prstGeom>
        </p:spPr>
      </p:pic>
      <p:sp>
        <p:nvSpPr>
          <p:cNvPr id="4" name="Tag Quick check"/>
          <p:cNvSpPr/>
          <p:nvPr/>
        </p:nvSpPr>
        <p:spPr>
          <a:xfrm>
            <a:off x="1234440" y="45720"/>
            <a:ext cx="1051560" cy="219456"/>
          </a:xfrm>
          <a:prstGeom prst="roundRect">
            <a:avLst>
              <a:gd name="adj" fmla="val 41667"/>
            </a:avLst>
          </a:prstGeom>
          <a:solidFill>
            <a:srgbClr val="F6B93B"/>
          </a:solidFill>
          <a:ln/>
        </p:spPr>
        <p:txBody>
          <a:bodyPr wrap="square" lIns="0" tIns="0" rIns="0" bIns="0" rtlCol="0" anchor="ctr"/>
          <a:lstStyle/>
          <a:p>
            <a:pPr algn="ctr" indent="0" marL="0">
              <a:buNone/>
            </a:pPr>
            <a:r>
              <a:rPr lang="en-US" sz="1000" b="1" dirty="0">
                <a:solidFill>
                  <a:srgbClr val="241703"/>
                </a:solidFill>
              </a:rPr>
              <a:t>Quick check</a:t>
            </a:r>
            <a:endParaRPr lang="en-US" sz="1000" dirty="0"/>
          </a:p>
        </p:txBody>
      </p:sp>
      <p:sp>
        <p:nvSpPr>
          <p:cNvPr id="5" name="Tag Answer"/>
          <p:cNvSpPr/>
          <p:nvPr/>
        </p:nvSpPr>
        <p:spPr>
          <a:xfrm>
            <a:off x="2377440" y="45720"/>
            <a:ext cx="1051560" cy="219456"/>
          </a:xfrm>
          <a:prstGeom prst="roundRect">
            <a:avLst>
              <a:gd name="adj" fmla="val 41667"/>
            </a:avLst>
          </a:prstGeom>
          <a:solidFill>
            <a:srgbClr val="4ADE80"/>
          </a:solidFill>
          <a:ln/>
        </p:spPr>
        <p:txBody>
          <a:bodyPr wrap="square" lIns="0" tIns="0" rIns="0" bIns="0" rtlCol="0" anchor="ctr"/>
          <a:lstStyle/>
          <a:p>
            <a:pPr algn="ctr" indent="0" marL="0">
              <a:buNone/>
            </a:pPr>
            <a:r>
              <a:rPr lang="en-US" sz="1000" b="1" dirty="0">
                <a:solidFill>
                  <a:srgbClr val="06240F"/>
                </a:solidFill>
              </a:rPr>
              <a:t>Answer</a:t>
            </a:r>
            <a:endParaRPr lang="en-US" sz="1000" dirty="0"/>
          </a:p>
        </p:txBody>
      </p:sp>
      <p:sp>
        <p:nvSpPr>
          <p:cNvPr id="6" name="Text 3"/>
          <p:cNvSpPr txBox="1"/>
          <p:nvPr/>
        </p:nvSpPr>
        <p:spPr>
          <a:xfrm>
            <a:off x="502920" y="960120"/>
            <a:ext cx="8138160" cy="411480"/>
          </a:xfrm>
          <a:prstGeom prst="rect">
            <a:avLst/>
          </a:prstGeom>
          <a:noFill/>
          <a:ln/>
        </p:spPr>
        <p:txBody>
          <a:bodyPr wrap="square" lIns="0" tIns="0" rIns="0" bIns="0" rtlCol="0" anchor="t"/>
          <a:lstStyle/>
          <a:p>
            <a:pPr algn="l" indent="0" marL="0">
              <a:buNone/>
            </a:pPr>
            <a:r>
              <a:rPr lang="en-US" sz="1800" b="1" dirty="0">
                <a:solidFill>
                  <a:schemeClr val="bg1"/>
                </a:solidFill>
              </a:rPr>
              <a:t>What holds the ions in an ionic compound together?</a:t>
            </a:r>
            <a:endParaRPr lang="en-US" sz="1800" dirty="0"/>
          </a:p>
        </p:txBody>
      </p:sp>
      <p:sp>
        <p:nvSpPr>
          <p:cNvPr id="7" name="Option A"/>
          <p:cNvSpPr/>
          <p:nvPr/>
        </p:nvSpPr>
        <p:spPr>
          <a:xfrm>
            <a:off x="502920" y="1508760"/>
            <a:ext cx="8138160" cy="438912"/>
          </a:xfrm>
          <a:prstGeom prst="roundRect">
            <a:avLst>
              <a:gd name="adj" fmla="val 20833"/>
            </a:avLst>
          </a:prstGeom>
          <a:solidFill>
            <a:schemeClr val="tx2"/>
          </a:solidFill>
          <a:ln w="12700">
            <a:solidFill>
              <a:srgbClr val="2A3A55"/>
            </a:solidFill>
            <a:prstDash val="solid"/>
          </a:ln>
        </p:spPr>
      </p:sp>
      <p:sp>
        <p:nvSpPr>
          <p:cNvPr id="8" name="Letter"/>
          <p:cNvSpPr/>
          <p:nvPr/>
        </p:nvSpPr>
        <p:spPr>
          <a:xfrm>
            <a:off x="621792" y="1591056"/>
            <a:ext cx="292608" cy="274320"/>
          </a:xfrm>
          <a:prstGeom prst="roundRect">
            <a:avLst>
              <a:gd name="adj" fmla="val 20000"/>
            </a:avLst>
          </a:prstGeom>
          <a:solidFill>
            <a:srgbClr val="2A3A55"/>
          </a:solidFill>
          <a:ln/>
        </p:spPr>
        <p:txBody>
          <a:bodyPr wrap="square" lIns="0" tIns="0" rIns="0" bIns="0" rtlCol="0" anchor="ctr"/>
          <a:lstStyle/>
          <a:p>
            <a:pPr algn="ctr" indent="0" marL="0">
              <a:buNone/>
            </a:pPr>
            <a:r>
              <a:rPr lang="en-US" sz="1200" b="1" dirty="0">
                <a:solidFill>
                  <a:srgbClr val="E6EDF7"/>
                </a:solidFill>
              </a:rPr>
              <a:t>A</a:t>
            </a:r>
            <a:endParaRPr lang="en-US" sz="1200" dirty="0"/>
          </a:p>
        </p:txBody>
      </p:sp>
      <p:sp>
        <p:nvSpPr>
          <p:cNvPr id="9" name="Text 6"/>
          <p:cNvSpPr txBox="1"/>
          <p:nvPr/>
        </p:nvSpPr>
        <p:spPr>
          <a:xfrm>
            <a:off x="1024128" y="1563624"/>
            <a:ext cx="7498080" cy="347472"/>
          </a:xfrm>
          <a:prstGeom prst="rect">
            <a:avLst/>
          </a:prstGeom>
          <a:noFill/>
          <a:ln/>
        </p:spPr>
        <p:txBody>
          <a:bodyPr wrap="square" lIns="0" tIns="0" rIns="0" bIns="0" rtlCol="0" anchor="ctr"/>
          <a:lstStyle/>
          <a:p>
            <a:pPr algn="l" indent="0" marL="0">
              <a:buNone/>
            </a:pPr>
            <a:r>
              <a:rPr lang="en-US" sz="1500" dirty="0">
                <a:solidFill>
                  <a:srgbClr val="9FB1C7"/>
                </a:solidFill>
              </a:rPr>
              <a:t>Shared electrons</a:t>
            </a:r>
            <a:endParaRPr lang="en-US" sz="1500" dirty="0"/>
          </a:p>
        </p:txBody>
      </p:sp>
      <p:sp>
        <p:nvSpPr>
          <p:cNvPr id="10" name="Option B"/>
          <p:cNvSpPr/>
          <p:nvPr/>
        </p:nvSpPr>
        <p:spPr>
          <a:xfrm>
            <a:off x="502920" y="2039112"/>
            <a:ext cx="8138160" cy="438912"/>
          </a:xfrm>
          <a:prstGeom prst="roundRect">
            <a:avLst>
              <a:gd name="adj" fmla="val 20833"/>
            </a:avLst>
          </a:prstGeom>
          <a:solidFill>
            <a:srgbClr val="153D2A"/>
          </a:solidFill>
          <a:ln w="25400">
            <a:solidFill>
              <a:srgbClr val="4ADE80"/>
            </a:solidFill>
            <a:prstDash val="solid"/>
          </a:ln>
        </p:spPr>
      </p:sp>
      <p:sp>
        <p:nvSpPr>
          <p:cNvPr id="11" name="Letter"/>
          <p:cNvSpPr/>
          <p:nvPr/>
        </p:nvSpPr>
        <p:spPr>
          <a:xfrm>
            <a:off x="621792" y="2121408"/>
            <a:ext cx="292608" cy="274320"/>
          </a:xfrm>
          <a:prstGeom prst="roundRect">
            <a:avLst>
              <a:gd name="adj" fmla="val 20000"/>
            </a:avLst>
          </a:prstGeom>
          <a:solidFill>
            <a:srgbClr val="4ADE80"/>
          </a:solidFill>
          <a:ln/>
        </p:spPr>
        <p:txBody>
          <a:bodyPr wrap="square" lIns="0" tIns="0" rIns="0" bIns="0" rtlCol="0" anchor="ctr"/>
          <a:lstStyle/>
          <a:p>
            <a:pPr algn="ctr" indent="0" marL="0">
              <a:buNone/>
            </a:pPr>
            <a:r>
              <a:rPr lang="en-US" sz="1200" b="1" dirty="0">
                <a:solidFill>
                  <a:srgbClr val="06240F"/>
                </a:solidFill>
              </a:rPr>
              <a:t>B</a:t>
            </a:r>
            <a:endParaRPr lang="en-US" sz="1200" dirty="0"/>
          </a:p>
        </p:txBody>
      </p:sp>
      <p:sp>
        <p:nvSpPr>
          <p:cNvPr id="12" name="Text 9"/>
          <p:cNvSpPr txBox="1"/>
          <p:nvPr/>
        </p:nvSpPr>
        <p:spPr>
          <a:xfrm>
            <a:off x="1024128" y="2093976"/>
            <a:ext cx="7498080" cy="347472"/>
          </a:xfrm>
          <a:prstGeom prst="rect">
            <a:avLst/>
          </a:prstGeom>
          <a:noFill/>
          <a:ln/>
        </p:spPr>
        <p:txBody>
          <a:bodyPr wrap="square" lIns="0" tIns="0" rIns="0" bIns="0" rtlCol="0" anchor="ctr"/>
          <a:lstStyle/>
          <a:p>
            <a:pPr algn="l" indent="0" marL="0">
              <a:buNone/>
            </a:pPr>
            <a:r>
              <a:rPr lang="en-US" sz="1500" dirty="0">
                <a:solidFill>
                  <a:schemeClr val="bg1"/>
                </a:solidFill>
              </a:rPr>
              <a:t>The attraction between positive and negative ions</a:t>
            </a:r>
            <a:endParaRPr lang="en-US" sz="1500" dirty="0"/>
          </a:p>
        </p:txBody>
      </p:sp>
      <p:sp>
        <p:nvSpPr>
          <p:cNvPr id="13" name="Option C"/>
          <p:cNvSpPr/>
          <p:nvPr/>
        </p:nvSpPr>
        <p:spPr>
          <a:xfrm>
            <a:off x="502920" y="2569464"/>
            <a:ext cx="8138160" cy="438912"/>
          </a:xfrm>
          <a:prstGeom prst="roundRect">
            <a:avLst>
              <a:gd name="adj" fmla="val 20833"/>
            </a:avLst>
          </a:prstGeom>
          <a:solidFill>
            <a:schemeClr val="tx2"/>
          </a:solidFill>
          <a:ln w="12700">
            <a:solidFill>
              <a:srgbClr val="2A3A55"/>
            </a:solidFill>
            <a:prstDash val="solid"/>
          </a:ln>
        </p:spPr>
      </p:sp>
      <p:sp>
        <p:nvSpPr>
          <p:cNvPr id="14" name="Letter"/>
          <p:cNvSpPr/>
          <p:nvPr/>
        </p:nvSpPr>
        <p:spPr>
          <a:xfrm>
            <a:off x="621792" y="2651760"/>
            <a:ext cx="292608" cy="274320"/>
          </a:xfrm>
          <a:prstGeom prst="roundRect">
            <a:avLst>
              <a:gd name="adj" fmla="val 20000"/>
            </a:avLst>
          </a:prstGeom>
          <a:solidFill>
            <a:srgbClr val="2A3A55"/>
          </a:solidFill>
          <a:ln/>
        </p:spPr>
        <p:txBody>
          <a:bodyPr wrap="square" lIns="0" tIns="0" rIns="0" bIns="0" rtlCol="0" anchor="ctr"/>
          <a:lstStyle/>
          <a:p>
            <a:pPr algn="ctr" indent="0" marL="0">
              <a:buNone/>
            </a:pPr>
            <a:r>
              <a:rPr lang="en-US" sz="1200" b="1" dirty="0">
                <a:solidFill>
                  <a:srgbClr val="E6EDF7"/>
                </a:solidFill>
              </a:rPr>
              <a:t>C</a:t>
            </a:r>
            <a:endParaRPr lang="en-US" sz="1200" dirty="0"/>
          </a:p>
        </p:txBody>
      </p:sp>
      <p:sp>
        <p:nvSpPr>
          <p:cNvPr id="15" name="Text 12"/>
          <p:cNvSpPr txBox="1"/>
          <p:nvPr/>
        </p:nvSpPr>
        <p:spPr>
          <a:xfrm>
            <a:off x="1024128" y="2624328"/>
            <a:ext cx="7498080" cy="347472"/>
          </a:xfrm>
          <a:prstGeom prst="rect">
            <a:avLst/>
          </a:prstGeom>
          <a:noFill/>
          <a:ln/>
        </p:spPr>
        <p:txBody>
          <a:bodyPr wrap="square" lIns="0" tIns="0" rIns="0" bIns="0" rtlCol="0" anchor="ctr"/>
          <a:lstStyle/>
          <a:p>
            <a:pPr algn="l" indent="0" marL="0">
              <a:buNone/>
            </a:pPr>
            <a:r>
              <a:rPr lang="en-US" sz="1500" dirty="0">
                <a:solidFill>
                  <a:srgbClr val="9FB1C7"/>
                </a:solidFill>
              </a:rPr>
              <a:t>Gravity</a:t>
            </a:r>
            <a:endParaRPr lang="en-US" sz="1500" dirty="0"/>
          </a:p>
        </p:txBody>
      </p:sp>
      <p:sp>
        <p:nvSpPr>
          <p:cNvPr id="16" name="Option D"/>
          <p:cNvSpPr/>
          <p:nvPr/>
        </p:nvSpPr>
        <p:spPr>
          <a:xfrm>
            <a:off x="502920" y="3099816"/>
            <a:ext cx="8138160" cy="438912"/>
          </a:xfrm>
          <a:prstGeom prst="roundRect">
            <a:avLst>
              <a:gd name="adj" fmla="val 20833"/>
            </a:avLst>
          </a:prstGeom>
          <a:solidFill>
            <a:schemeClr val="tx2"/>
          </a:solidFill>
          <a:ln w="12700">
            <a:solidFill>
              <a:srgbClr val="2A3A55"/>
            </a:solidFill>
            <a:prstDash val="solid"/>
          </a:ln>
        </p:spPr>
      </p:sp>
      <p:sp>
        <p:nvSpPr>
          <p:cNvPr id="17" name="Letter"/>
          <p:cNvSpPr/>
          <p:nvPr/>
        </p:nvSpPr>
        <p:spPr>
          <a:xfrm>
            <a:off x="621792" y="3182112"/>
            <a:ext cx="292608" cy="274320"/>
          </a:xfrm>
          <a:prstGeom prst="roundRect">
            <a:avLst>
              <a:gd name="adj" fmla="val 20000"/>
            </a:avLst>
          </a:prstGeom>
          <a:solidFill>
            <a:srgbClr val="2A3A55"/>
          </a:solidFill>
          <a:ln/>
        </p:spPr>
        <p:txBody>
          <a:bodyPr wrap="square" lIns="0" tIns="0" rIns="0" bIns="0" rtlCol="0" anchor="ctr"/>
          <a:lstStyle/>
          <a:p>
            <a:pPr algn="ctr" indent="0" marL="0">
              <a:buNone/>
            </a:pPr>
            <a:r>
              <a:rPr lang="en-US" sz="1200" b="1" dirty="0">
                <a:solidFill>
                  <a:srgbClr val="E6EDF7"/>
                </a:solidFill>
              </a:rPr>
              <a:t>D</a:t>
            </a:r>
            <a:endParaRPr lang="en-US" sz="1200" dirty="0"/>
          </a:p>
        </p:txBody>
      </p:sp>
      <p:sp>
        <p:nvSpPr>
          <p:cNvPr id="18" name="Text 15"/>
          <p:cNvSpPr txBox="1"/>
          <p:nvPr/>
        </p:nvSpPr>
        <p:spPr>
          <a:xfrm>
            <a:off x="1024128" y="3154680"/>
            <a:ext cx="7498080" cy="347472"/>
          </a:xfrm>
          <a:prstGeom prst="rect">
            <a:avLst/>
          </a:prstGeom>
          <a:noFill/>
          <a:ln/>
        </p:spPr>
        <p:txBody>
          <a:bodyPr wrap="square" lIns="0" tIns="0" rIns="0" bIns="0" rtlCol="0" anchor="ctr"/>
          <a:lstStyle/>
          <a:p>
            <a:pPr algn="l" indent="0" marL="0">
              <a:buNone/>
            </a:pPr>
            <a:r>
              <a:rPr lang="en-US" sz="1500" dirty="0">
                <a:solidFill>
                  <a:srgbClr val="9FB1C7"/>
                </a:solidFill>
              </a:rPr>
              <a:t>Extra neutrons</a:t>
            </a:r>
            <a:endParaRPr lang="en-US" sz="1500" dirty="0"/>
          </a:p>
        </p:txBody>
      </p:sp>
      <p:sp>
        <p:nvSpPr>
          <p:cNvPr id="19" name="Why"/>
          <p:cNvSpPr/>
          <p:nvPr/>
        </p:nvSpPr>
        <p:spPr>
          <a:xfrm>
            <a:off x="502920" y="3675888"/>
            <a:ext cx="8138160" cy="566928"/>
          </a:xfrm>
          <a:prstGeom prst="roundRect">
            <a:avLst>
              <a:gd name="adj" fmla="val 16129"/>
            </a:avLst>
          </a:prstGeom>
          <a:solidFill>
            <a:srgbClr val="153D2A"/>
          </a:solidFill>
          <a:ln w="12700">
            <a:solidFill>
              <a:srgbClr val="2F6B47"/>
            </a:solidFill>
            <a:prstDash val="solid"/>
          </a:ln>
        </p:spPr>
      </p:sp>
      <p:sp>
        <p:nvSpPr>
          <p:cNvPr id="20" name="Text 17"/>
          <p:cNvSpPr txBox="1"/>
          <p:nvPr/>
        </p:nvSpPr>
        <p:spPr>
          <a:xfrm>
            <a:off x="685800" y="3730752"/>
            <a:ext cx="7772400" cy="475488"/>
          </a:xfrm>
          <a:prstGeom prst="rect">
            <a:avLst/>
          </a:prstGeom>
          <a:noFill/>
          <a:ln/>
        </p:spPr>
        <p:txBody>
          <a:bodyPr wrap="square" lIns="0" tIns="0" rIns="0" bIns="0" rtlCol="0" anchor="ctr"/>
          <a:lstStyle/>
          <a:p>
            <a:pPr algn="l" indent="0" marL="0">
              <a:buNone/>
            </a:pPr>
            <a:r>
              <a:rPr lang="en-US" sz="1400" b="1" dirty="0">
                <a:solidFill>
                  <a:schemeClr val="accent4"/>
                </a:solidFill>
              </a:rPr>
              <a:t>Why: </a:t>
            </a:r>
            <a:pPr algn="l" indent="0" marL="0">
              <a:buNone/>
            </a:pPr>
            <a:r>
              <a:rPr lang="en-US" sz="1400" dirty="0">
                <a:solidFill>
                  <a:schemeClr val="bg1"/>
                </a:solidFill>
              </a:rPr>
              <a:t>After the electron moves, the + and − ions attract. That attraction is the ionic bond.</a:t>
            </a:r>
            <a:endParaRPr lang="en-US" sz="14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FB1C7"/>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body" hasCustomPrompt="1"/>
          </p:nvPr>
        </p:nvSpPr>
        <p:spPr>
          <a:xfrm>
            <a:off x="1645920" y="274320"/>
            <a:ext cx="6949440" cy="274320"/>
          </a:xfrm>
          <a:prstGeom prst="rect">
            <a:avLst/>
          </a:prstGeom>
          <a:noFill/>
          <a:ln/>
        </p:spPr>
        <p:txBody>
          <a:bodyPr wrap="square" lIns="0" tIns="0" rIns="0" bIns="0" rtlCol="0"/>
          <a:lstStyle/>
          <a:p>
            <a:pPr indent="0" marL="0">
              <a:buNone/>
            </a:pPr>
            <a:r>
              <a:rPr lang="en-US" sz="1300" dirty="0">
                <a:solidFill>
                  <a:schemeClr val="bg2"/>
                </a:solidFill>
              </a:rPr>
              <a:t>Section 2 of 9 · about 5 min</a:t>
            </a:r>
            <a:endParaRPr lang="en-US" sz="1300" dirty="0"/>
          </a:p>
        </p:txBody>
      </p:sp>
      <p:sp>
        <p:nvSpPr>
          <p:cNvPr id="3" name="Text 0"/>
          <p:cNvSpPr/>
          <p:nvPr>
            <p:ph idx="100" type="title" hasCustomPrompt="1"/>
          </p:nvPr>
        </p:nvSpPr>
        <p:spPr>
          <a:xfrm>
            <a:off x="1645920" y="548640"/>
            <a:ext cx="7040880" cy="685800"/>
          </a:xfrm>
          <a:prstGeom prst="rect">
            <a:avLst/>
          </a:prstGeom>
          <a:noFill/>
          <a:ln/>
        </p:spPr>
        <p:txBody>
          <a:bodyPr wrap="square" lIns="0" tIns="0" rIns="0" bIns="0" rtlCol="0" anchor="ctr"/>
          <a:lstStyle/>
          <a:p>
            <a:pPr algn="l" indent="0" marL="0">
              <a:buNone/>
            </a:pPr>
            <a:r>
              <a:rPr lang="en-US" sz="3000" b="1" dirty="0">
                <a:solidFill>
                  <a:schemeClr val="bg1"/>
                </a:solidFill>
                <a:latin typeface="Arial" pitchFamily="34" charset="0"/>
                <a:ea typeface="Arial" pitchFamily="34" charset="-122"/>
                <a:cs typeface="Arial" pitchFamily="34" charset="-120"/>
              </a:rPr>
              <a:t>Watch an electron move</a:t>
            </a:r>
            <a:endParaRPr lang="en-US" sz="3000" dirty="0"/>
          </a:p>
        </p:txBody>
      </p:sp>
      <p:pic>
        <p:nvPicPr>
          <p:cNvPr id="4" name="Icon 2" descr="Section 2 icon">    </p:cNvPr>
          <p:cNvPicPr>
            <a:picLocks noChangeAspect="1"/>
          </p:cNvPicPr>
          <p:nvPr/>
        </p:nvPicPr>
        <p:blipFill>
          <a:blip r:embed="rId1"/>
          <a:stretch>
            <a:fillRect/>
          </a:stretch>
        </p:blipFill>
        <p:spPr>
          <a:xfrm>
            <a:off x="502920" y="274320"/>
            <a:ext cx="914400" cy="1011677"/>
          </a:xfrm>
          <a:prstGeom prst="rect">
            <a:avLst/>
          </a:prstGeom>
        </p:spPr>
      </p:pic>
      <p:sp>
        <p:nvSpPr>
          <p:cNvPr id="5" name="In this section"/>
          <p:cNvSpPr/>
          <p:nvPr/>
        </p:nvSpPr>
        <p:spPr>
          <a:xfrm>
            <a:off x="502920" y="1600200"/>
            <a:ext cx="3931920" cy="2926080"/>
          </a:xfrm>
          <a:prstGeom prst="roundRect">
            <a:avLst>
              <a:gd name="adj" fmla="val 3125"/>
            </a:avLst>
          </a:prstGeom>
          <a:solidFill>
            <a:schemeClr val="tx2"/>
          </a:solidFill>
          <a:ln w="12700">
            <a:solidFill>
              <a:srgbClr val="2A3A55"/>
            </a:solidFill>
            <a:prstDash val="solid"/>
          </a:ln>
        </p:spPr>
      </p:sp>
      <p:sp>
        <p:nvSpPr>
          <p:cNvPr id="6" name="Text 3"/>
          <p:cNvSpPr txBox="1"/>
          <p:nvPr/>
        </p:nvSpPr>
        <p:spPr>
          <a:xfrm>
            <a:off x="731520" y="1783080"/>
            <a:ext cx="3474720" cy="320040"/>
          </a:xfrm>
          <a:prstGeom prst="rect">
            <a:avLst/>
          </a:prstGeom>
          <a:noFill/>
          <a:ln/>
        </p:spPr>
        <p:txBody>
          <a:bodyPr wrap="square" lIns="0" tIns="0" rIns="0" bIns="0" rtlCol="0" anchor="t"/>
          <a:lstStyle/>
          <a:p>
            <a:pPr algn="l" indent="0" marL="0">
              <a:buNone/>
            </a:pPr>
            <a:r>
              <a:rPr lang="en-US" sz="1600" b="1" dirty="0">
                <a:solidFill>
                  <a:schemeClr val="accent1"/>
                </a:solidFill>
              </a:rPr>
              <a:t>In this section</a:t>
            </a:r>
            <a:endParaRPr lang="en-US" sz="1600" dirty="0"/>
          </a:p>
        </p:txBody>
      </p:sp>
      <p:sp>
        <p:nvSpPr>
          <p:cNvPr id="7" name="Tag Read"/>
          <p:cNvSpPr/>
          <p:nvPr/>
        </p:nvSpPr>
        <p:spPr>
          <a:xfrm>
            <a:off x="731520" y="2240280"/>
            <a:ext cx="1051560" cy="219456"/>
          </a:xfrm>
          <a:prstGeom prst="roundRect">
            <a:avLst>
              <a:gd name="adj" fmla="val 41667"/>
            </a:avLst>
          </a:prstGeom>
          <a:solidFill>
            <a:srgbClr val="25305A"/>
          </a:solidFill>
          <a:ln/>
        </p:spPr>
        <p:txBody>
          <a:bodyPr wrap="square" lIns="0" tIns="0" rIns="0" bIns="0" rtlCol="0" anchor="ctr"/>
          <a:lstStyle/>
          <a:p>
            <a:pPr algn="ctr" indent="0" marL="0">
              <a:buNone/>
            </a:pPr>
            <a:r>
              <a:rPr lang="en-US" sz="1000" b="1" dirty="0">
                <a:solidFill>
                  <a:srgbClr val="C3CFFC"/>
                </a:solidFill>
              </a:rPr>
              <a:t>Read</a:t>
            </a:r>
            <a:endParaRPr lang="en-US" sz="1000" dirty="0"/>
          </a:p>
        </p:txBody>
      </p:sp>
      <p:sp>
        <p:nvSpPr>
          <p:cNvPr id="8" name="Text 5"/>
          <p:cNvSpPr txBox="1"/>
          <p:nvPr/>
        </p:nvSpPr>
        <p:spPr>
          <a:xfrm>
            <a:off x="1920240" y="2212848"/>
            <a:ext cx="2377440" cy="292608"/>
          </a:xfrm>
          <a:prstGeom prst="rect">
            <a:avLst/>
          </a:prstGeom>
          <a:noFill/>
          <a:ln/>
        </p:spPr>
        <p:txBody>
          <a:bodyPr wrap="square" lIns="0" tIns="0" rIns="0" bIns="0" rtlCol="0" anchor="t"/>
          <a:lstStyle/>
          <a:p>
            <a:pPr algn="l" indent="0" marL="0">
              <a:buNone/>
            </a:pPr>
            <a:r>
              <a:rPr lang="en-US" sz="1400" dirty="0">
                <a:solidFill>
                  <a:schemeClr val="bg1"/>
                </a:solidFill>
              </a:rPr>
              <a:t>Sodium meets chlorine</a:t>
            </a:r>
            <a:endParaRPr lang="en-US" sz="1400" dirty="0"/>
          </a:p>
        </p:txBody>
      </p:sp>
      <p:sp>
        <p:nvSpPr>
          <p:cNvPr id="9" name="Tag Try it"/>
          <p:cNvSpPr/>
          <p:nvPr/>
        </p:nvSpPr>
        <p:spPr>
          <a:xfrm>
            <a:off x="731520" y="2743200"/>
            <a:ext cx="1051560" cy="219456"/>
          </a:xfrm>
          <a:prstGeom prst="roundRect">
            <a:avLst>
              <a:gd name="adj" fmla="val 41667"/>
            </a:avLst>
          </a:prstGeom>
          <a:solidFill>
            <a:srgbClr val="5FE1FF"/>
          </a:solidFill>
          <a:ln/>
        </p:spPr>
        <p:txBody>
          <a:bodyPr wrap="square" lIns="0" tIns="0" rIns="0" bIns="0" rtlCol="0" anchor="ctr"/>
          <a:lstStyle/>
          <a:p>
            <a:pPr algn="ctr" indent="0" marL="0">
              <a:buNone/>
            </a:pPr>
            <a:r>
              <a:rPr lang="en-US" sz="1000" b="1" dirty="0">
                <a:solidFill>
                  <a:srgbClr val="0B2630"/>
                </a:solidFill>
              </a:rPr>
              <a:t>Try it</a:t>
            </a:r>
            <a:endParaRPr lang="en-US" sz="1000" dirty="0"/>
          </a:p>
        </p:txBody>
      </p:sp>
      <p:sp>
        <p:nvSpPr>
          <p:cNvPr id="10" name="Text 7"/>
          <p:cNvSpPr txBox="1"/>
          <p:nvPr/>
        </p:nvSpPr>
        <p:spPr>
          <a:xfrm>
            <a:off x="1920240" y="2715768"/>
            <a:ext cx="2377440" cy="292608"/>
          </a:xfrm>
          <a:prstGeom prst="rect">
            <a:avLst/>
          </a:prstGeom>
          <a:noFill/>
          <a:ln/>
        </p:spPr>
        <p:txBody>
          <a:bodyPr wrap="square" lIns="0" tIns="0" rIns="0" bIns="0" rtlCol="0" anchor="t"/>
          <a:lstStyle/>
          <a:p>
            <a:pPr algn="l" indent="0" marL="0">
              <a:buNone/>
            </a:pPr>
            <a:r>
              <a:rPr lang="en-US" sz="1400" dirty="0">
                <a:solidFill>
                  <a:schemeClr val="bg1"/>
                </a:solidFill>
              </a:rPr>
              <a:t>Move the electron</a:t>
            </a:r>
            <a:endParaRPr lang="en-US" sz="1400" dirty="0"/>
          </a:p>
        </p:txBody>
      </p:sp>
      <p:sp>
        <p:nvSpPr>
          <p:cNvPr id="11" name="Tag Phenomenon"/>
          <p:cNvSpPr/>
          <p:nvPr/>
        </p:nvSpPr>
        <p:spPr>
          <a:xfrm>
            <a:off x="731520" y="3246120"/>
            <a:ext cx="1051560" cy="219456"/>
          </a:xfrm>
          <a:prstGeom prst="roundRect">
            <a:avLst>
              <a:gd name="adj" fmla="val 41667"/>
            </a:avLst>
          </a:prstGeom>
          <a:solidFill>
            <a:srgbClr val="FB923C"/>
          </a:solidFill>
          <a:ln/>
        </p:spPr>
        <p:txBody>
          <a:bodyPr wrap="square" lIns="0" tIns="0" rIns="0" bIns="0" rtlCol="0" anchor="ctr"/>
          <a:lstStyle/>
          <a:p>
            <a:pPr algn="ctr" indent="0" marL="0">
              <a:buNone/>
            </a:pPr>
            <a:r>
              <a:rPr lang="en-US" sz="1000" b="1" dirty="0">
                <a:solidFill>
                  <a:srgbClr val="2A1305"/>
                </a:solidFill>
              </a:rPr>
              <a:t>Phenomenon</a:t>
            </a:r>
            <a:endParaRPr lang="en-US" sz="1000" dirty="0"/>
          </a:p>
        </p:txBody>
      </p:sp>
      <p:sp>
        <p:nvSpPr>
          <p:cNvPr id="12" name="Text 9"/>
          <p:cNvSpPr txBox="1"/>
          <p:nvPr/>
        </p:nvSpPr>
        <p:spPr>
          <a:xfrm>
            <a:off x="1920240" y="3218688"/>
            <a:ext cx="2377440" cy="292608"/>
          </a:xfrm>
          <a:prstGeom prst="rect">
            <a:avLst/>
          </a:prstGeom>
          <a:noFill/>
          <a:ln/>
        </p:spPr>
        <p:txBody>
          <a:bodyPr wrap="square" lIns="0" tIns="0" rIns="0" bIns="0" rtlCol="0" anchor="t"/>
          <a:lstStyle/>
          <a:p>
            <a:pPr algn="l" indent="0" marL="0">
              <a:buNone/>
            </a:pPr>
            <a:r>
              <a:rPr lang="en-US" sz="1400" dirty="0">
                <a:solidFill>
                  <a:schemeClr val="bg1"/>
                </a:solidFill>
              </a:rPr>
              <a:t>Back to the phenomenon</a:t>
            </a:r>
            <a:endParaRPr lang="en-US" sz="1400" dirty="0"/>
          </a:p>
        </p:txBody>
      </p:sp>
      <p:sp>
        <p:nvSpPr>
          <p:cNvPr id="13" name="Tag Quick check"/>
          <p:cNvSpPr/>
          <p:nvPr/>
        </p:nvSpPr>
        <p:spPr>
          <a:xfrm>
            <a:off x="731520" y="3749040"/>
            <a:ext cx="1051560" cy="219456"/>
          </a:xfrm>
          <a:prstGeom prst="roundRect">
            <a:avLst>
              <a:gd name="adj" fmla="val 41667"/>
            </a:avLst>
          </a:prstGeom>
          <a:solidFill>
            <a:srgbClr val="F6B93B"/>
          </a:solidFill>
          <a:ln/>
        </p:spPr>
        <p:txBody>
          <a:bodyPr wrap="square" lIns="0" tIns="0" rIns="0" bIns="0" rtlCol="0" anchor="ctr"/>
          <a:lstStyle/>
          <a:p>
            <a:pPr algn="ctr" indent="0" marL="0">
              <a:buNone/>
            </a:pPr>
            <a:r>
              <a:rPr lang="en-US" sz="1000" b="1" dirty="0">
                <a:solidFill>
                  <a:srgbClr val="241703"/>
                </a:solidFill>
              </a:rPr>
              <a:t>Quick check</a:t>
            </a:r>
            <a:endParaRPr lang="en-US" sz="1000" dirty="0"/>
          </a:p>
        </p:txBody>
      </p:sp>
      <p:sp>
        <p:nvSpPr>
          <p:cNvPr id="14" name="Text 11"/>
          <p:cNvSpPr txBox="1"/>
          <p:nvPr/>
        </p:nvSpPr>
        <p:spPr>
          <a:xfrm>
            <a:off x="1920240" y="3721608"/>
            <a:ext cx="2377440" cy="292608"/>
          </a:xfrm>
          <a:prstGeom prst="rect">
            <a:avLst/>
          </a:prstGeom>
          <a:noFill/>
          <a:ln/>
        </p:spPr>
        <p:txBody>
          <a:bodyPr wrap="square" lIns="0" tIns="0" rIns="0" bIns="0" rtlCol="0" anchor="t"/>
          <a:lstStyle/>
          <a:p>
            <a:pPr algn="l" indent="0" marL="0">
              <a:buNone/>
            </a:pPr>
            <a:r>
              <a:rPr lang="en-US" sz="1400" dirty="0">
                <a:solidFill>
                  <a:schemeClr val="bg1"/>
                </a:solidFill>
              </a:rPr>
              <a:t>Which way does it move?</a:t>
            </a:r>
            <a:endParaRPr lang="en-US" sz="1400" dirty="0"/>
          </a:p>
        </p:txBody>
      </p:sp>
      <p:sp>
        <p:nvSpPr>
          <p:cNvPr id="15" name="To unlock"/>
          <p:cNvSpPr/>
          <p:nvPr/>
        </p:nvSpPr>
        <p:spPr>
          <a:xfrm>
            <a:off x="4709160" y="1600200"/>
            <a:ext cx="3931920" cy="2926080"/>
          </a:xfrm>
          <a:prstGeom prst="roundRect">
            <a:avLst>
              <a:gd name="adj" fmla="val 3125"/>
            </a:avLst>
          </a:prstGeom>
          <a:solidFill>
            <a:schemeClr val="tx2"/>
          </a:solidFill>
          <a:ln w="12700">
            <a:solidFill>
              <a:srgbClr val="2A3A55"/>
            </a:solidFill>
            <a:prstDash val="solid"/>
          </a:ln>
        </p:spPr>
      </p:sp>
      <p:sp>
        <p:nvSpPr>
          <p:cNvPr id="16" name="Text 13"/>
          <p:cNvSpPr txBox="1"/>
          <p:nvPr/>
        </p:nvSpPr>
        <p:spPr>
          <a:xfrm>
            <a:off x="4937760" y="1783080"/>
            <a:ext cx="3474720" cy="320040"/>
          </a:xfrm>
          <a:prstGeom prst="rect">
            <a:avLst/>
          </a:prstGeom>
          <a:noFill/>
          <a:ln/>
        </p:spPr>
        <p:txBody>
          <a:bodyPr wrap="square" lIns="0" tIns="0" rIns="0" bIns="0" rtlCol="0" anchor="t"/>
          <a:lstStyle/>
          <a:p>
            <a:pPr algn="l" indent="0" marL="0">
              <a:buNone/>
            </a:pPr>
            <a:r>
              <a:rPr lang="en-US" sz="1600" b="1" dirty="0">
                <a:solidFill>
                  <a:schemeClr val="accent4"/>
                </a:solidFill>
              </a:rPr>
              <a:t>To unlock the next section</a:t>
            </a:r>
            <a:endParaRPr lang="en-US" sz="1600" dirty="0"/>
          </a:p>
        </p:txBody>
      </p:sp>
      <p:sp>
        <p:nvSpPr>
          <p:cNvPr id="17" name="Checkbox"/>
          <p:cNvSpPr/>
          <p:nvPr/>
        </p:nvSpPr>
        <p:spPr>
          <a:xfrm>
            <a:off x="4937760" y="2286000"/>
            <a:ext cx="182880" cy="182880"/>
          </a:xfrm>
          <a:prstGeom prst="rect">
            <a:avLst/>
          </a:prstGeom>
          <a:solidFill>
            <a:schemeClr val="tx2"/>
          </a:solidFill>
          <a:ln w="12700">
            <a:solidFill>
              <a:schemeClr val="bg2"/>
            </a:solidFill>
            <a:prstDash val="solid"/>
          </a:ln>
        </p:spPr>
      </p:sp>
      <p:sp>
        <p:nvSpPr>
          <p:cNvPr id="18" name="Text 15"/>
          <p:cNvSpPr txBox="1"/>
          <p:nvPr/>
        </p:nvSpPr>
        <p:spPr>
          <a:xfrm>
            <a:off x="5257800" y="2221992"/>
            <a:ext cx="3200400" cy="457200"/>
          </a:xfrm>
          <a:prstGeom prst="rect">
            <a:avLst/>
          </a:prstGeom>
          <a:noFill/>
          <a:ln/>
        </p:spPr>
        <p:txBody>
          <a:bodyPr wrap="square" lIns="0" tIns="0" rIns="0" bIns="0" rtlCol="0" anchor="t"/>
          <a:lstStyle/>
          <a:p>
            <a:pPr algn="l" indent="0" marL="0">
              <a:buNone/>
            </a:pPr>
            <a:r>
              <a:rPr lang="en-US" sz="1400" dirty="0">
                <a:solidFill>
                  <a:schemeClr val="bg1"/>
                </a:solidFill>
              </a:rPr>
              <a:t>Watch the Na and Cl transfer</a:t>
            </a:r>
            <a:endParaRPr lang="en-US" sz="1400" dirty="0"/>
          </a:p>
        </p:txBody>
      </p:sp>
      <p:sp>
        <p:nvSpPr>
          <p:cNvPr id="19" name="Checkbox"/>
          <p:cNvSpPr/>
          <p:nvPr/>
        </p:nvSpPr>
        <p:spPr>
          <a:xfrm>
            <a:off x="4937760" y="2834640"/>
            <a:ext cx="182880" cy="182880"/>
          </a:xfrm>
          <a:prstGeom prst="rect">
            <a:avLst/>
          </a:prstGeom>
          <a:solidFill>
            <a:schemeClr val="tx2"/>
          </a:solidFill>
          <a:ln w="12700">
            <a:solidFill>
              <a:schemeClr val="bg2"/>
            </a:solidFill>
            <a:prstDash val="solid"/>
          </a:ln>
        </p:spPr>
      </p:sp>
      <p:sp>
        <p:nvSpPr>
          <p:cNvPr id="20" name="Text 17"/>
          <p:cNvSpPr txBox="1"/>
          <p:nvPr/>
        </p:nvSpPr>
        <p:spPr>
          <a:xfrm>
            <a:off x="5257800" y="2770632"/>
            <a:ext cx="3200400" cy="457200"/>
          </a:xfrm>
          <a:prstGeom prst="rect">
            <a:avLst/>
          </a:prstGeom>
          <a:noFill/>
          <a:ln/>
        </p:spPr>
        <p:txBody>
          <a:bodyPr wrap="square" lIns="0" tIns="0" rIns="0" bIns="0" rtlCol="0" anchor="t"/>
          <a:lstStyle/>
          <a:p>
            <a:pPr algn="l" indent="0" marL="0">
              <a:buNone/>
            </a:pPr>
            <a:r>
              <a:rPr lang="en-US" sz="1400" dirty="0">
                <a:solidFill>
                  <a:schemeClr val="bg1"/>
                </a:solidFill>
              </a:rPr>
              <a:t>Move the electron for 3 pairs</a:t>
            </a:r>
            <a:endParaRPr lang="en-US" sz="1400" dirty="0"/>
          </a:p>
        </p:txBody>
      </p:sp>
      <p:sp>
        <p:nvSpPr>
          <p:cNvPr id="21" name="Checkbox"/>
          <p:cNvSpPr/>
          <p:nvPr/>
        </p:nvSpPr>
        <p:spPr>
          <a:xfrm>
            <a:off x="4937760" y="3383280"/>
            <a:ext cx="182880" cy="182880"/>
          </a:xfrm>
          <a:prstGeom prst="rect">
            <a:avLst/>
          </a:prstGeom>
          <a:solidFill>
            <a:schemeClr val="tx2"/>
          </a:solidFill>
          <a:ln w="12700">
            <a:solidFill>
              <a:schemeClr val="bg2"/>
            </a:solidFill>
            <a:prstDash val="solid"/>
          </a:ln>
        </p:spPr>
      </p:sp>
      <p:sp>
        <p:nvSpPr>
          <p:cNvPr id="22" name="Text 19"/>
          <p:cNvSpPr txBox="1"/>
          <p:nvPr/>
        </p:nvSpPr>
        <p:spPr>
          <a:xfrm>
            <a:off x="5257800" y="3319272"/>
            <a:ext cx="3200400" cy="457200"/>
          </a:xfrm>
          <a:prstGeom prst="rect">
            <a:avLst/>
          </a:prstGeom>
          <a:noFill/>
          <a:ln/>
        </p:spPr>
        <p:txBody>
          <a:bodyPr wrap="square" lIns="0" tIns="0" rIns="0" bIns="0" rtlCol="0" anchor="t"/>
          <a:lstStyle/>
          <a:p>
            <a:pPr algn="l" indent="0" marL="0">
              <a:buNone/>
            </a:pPr>
            <a:r>
              <a:rPr lang="en-US" sz="1400" dirty="0">
                <a:solidFill>
                  <a:schemeClr val="bg1"/>
                </a:solidFill>
              </a:rPr>
              <a:t>Answer the quick check correctly</a:t>
            </a:r>
            <a:endParaRPr lang="en-US" sz="14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FB1C7"/>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1234440" y="292608"/>
            <a:ext cx="7452360" cy="548640"/>
          </a:xfrm>
          <a:prstGeom prst="rect">
            <a:avLst/>
          </a:prstGeom>
          <a:noFill/>
          <a:ln/>
        </p:spPr>
        <p:txBody>
          <a:bodyPr wrap="square" lIns="0" tIns="0" rIns="0" bIns="0" rtlCol="0" anchor="ctr"/>
          <a:lstStyle/>
          <a:p>
            <a:pPr algn="l" indent="0" marL="0">
              <a:buNone/>
            </a:pPr>
            <a:r>
              <a:rPr lang="en-US" sz="2800" b="1" dirty="0">
                <a:solidFill>
                  <a:schemeClr val="bg1"/>
                </a:solidFill>
                <a:latin typeface="Arial" pitchFamily="34" charset="0"/>
                <a:ea typeface="Arial" pitchFamily="34" charset="-122"/>
                <a:cs typeface="Arial" pitchFamily="34" charset="-120"/>
              </a:rPr>
              <a:t>Sodium meets chlorine</a:t>
            </a:r>
            <a:endParaRPr lang="en-US" sz="2800" dirty="0"/>
          </a:p>
        </p:txBody>
      </p:sp>
      <p:pic>
        <p:nvPicPr>
          <p:cNvPr id="3" name="Icon 2" descr="Section 2 icon">    </p:cNvPr>
          <p:cNvPicPr>
            <a:picLocks noChangeAspect="1"/>
          </p:cNvPicPr>
          <p:nvPr/>
        </p:nvPicPr>
        <p:blipFill>
          <a:blip r:embed="rId1"/>
          <a:stretch>
            <a:fillRect/>
          </a:stretch>
        </p:blipFill>
        <p:spPr>
          <a:xfrm>
            <a:off x="502920" y="201168"/>
            <a:ext cx="566928" cy="627239"/>
          </a:xfrm>
          <a:prstGeom prst="rect">
            <a:avLst/>
          </a:prstGeom>
        </p:spPr>
      </p:pic>
      <p:sp>
        <p:nvSpPr>
          <p:cNvPr id="4" name="Tag Read"/>
          <p:cNvSpPr/>
          <p:nvPr/>
        </p:nvSpPr>
        <p:spPr>
          <a:xfrm>
            <a:off x="1234440" y="45720"/>
            <a:ext cx="1051560" cy="219456"/>
          </a:xfrm>
          <a:prstGeom prst="roundRect">
            <a:avLst>
              <a:gd name="adj" fmla="val 41667"/>
            </a:avLst>
          </a:prstGeom>
          <a:solidFill>
            <a:srgbClr val="25305A"/>
          </a:solidFill>
          <a:ln/>
        </p:spPr>
        <p:txBody>
          <a:bodyPr wrap="square" lIns="0" tIns="0" rIns="0" bIns="0" rtlCol="0" anchor="ctr"/>
          <a:lstStyle/>
          <a:p>
            <a:pPr algn="ctr" indent="0" marL="0">
              <a:buNone/>
            </a:pPr>
            <a:r>
              <a:rPr lang="en-US" sz="1000" b="1" dirty="0">
                <a:solidFill>
                  <a:srgbClr val="C3CFFC"/>
                </a:solidFill>
              </a:rPr>
              <a:t>Read</a:t>
            </a:r>
            <a:endParaRPr lang="en-US" sz="1000" dirty="0"/>
          </a:p>
        </p:txBody>
      </p:sp>
      <p:sp>
        <p:nvSpPr>
          <p:cNvPr id="5" name="Text 2"/>
          <p:cNvSpPr txBox="1"/>
          <p:nvPr/>
        </p:nvSpPr>
        <p:spPr>
          <a:xfrm>
            <a:off x="502920" y="960120"/>
            <a:ext cx="3749040" cy="3474720"/>
          </a:xfrm>
          <a:prstGeom prst="rect">
            <a:avLst/>
          </a:prstGeom>
          <a:noFill/>
          <a:ln/>
        </p:spPr>
        <p:txBody>
          <a:bodyPr wrap="square" lIns="0" tIns="0" rIns="0" bIns="0" rtlCol="0" anchor="t"/>
          <a:lstStyle/>
          <a:p>
            <a:pPr algn="l" indent="0" marL="0">
              <a:spcAft>
                <a:spcPts val="1000"/>
              </a:spcAft>
              <a:buNone/>
            </a:pPr>
            <a:r>
              <a:rPr lang="en-US" sz="1500" b="1" dirty="0">
                <a:solidFill>
                  <a:schemeClr val="bg1"/>
                </a:solidFill>
              </a:rPr>
              <a:t>Sodium (2, 8, 1) </a:t>
            </a:r>
            <a:pPr algn="l" indent="0" marL="0">
              <a:spcAft>
                <a:spcPts val="1000"/>
              </a:spcAft>
              <a:buNone/>
            </a:pPr>
            <a:r>
              <a:rPr lang="en-US" sz="1500" dirty="0">
                <a:solidFill>
                  <a:schemeClr val="bg1"/>
                </a:solidFill>
              </a:rPr>
              <a:t>has one valence electron. </a:t>
            </a:r>
            <a:pPr algn="l" indent="0" marL="0">
              <a:spcAft>
                <a:spcPts val="1000"/>
              </a:spcAft>
              <a:buNone/>
            </a:pPr>
            <a:r>
              <a:rPr lang="en-US" sz="1500" b="1" dirty="0">
                <a:solidFill>
                  <a:schemeClr val="bg1"/>
                </a:solidFill>
              </a:rPr>
              <a:t>Chlorine (2, 8, 7) </a:t>
            </a:r>
            <a:pPr algn="l" indent="0" marL="0">
              <a:spcAft>
                <a:spcPts val="1000"/>
              </a:spcAft>
              <a:buNone/>
            </a:pPr>
            <a:r>
              <a:rPr lang="en-US" sz="1500" dirty="0">
                <a:solidFill>
                  <a:schemeClr val="bg1"/>
                </a:solidFill>
              </a:rPr>
              <a:t>needs one more for a full outer shell.</a:t>
            </a:r>
            <a:endParaRPr lang="en-US" sz="1500" dirty="0"/>
          </a:p>
          <a:p>
            <a:pPr algn="l" indent="0" marL="0">
              <a:spcAft>
                <a:spcPts val="1000"/>
              </a:spcAft>
              <a:buNone/>
            </a:pPr>
            <a:r>
              <a:rPr lang="en-US" sz="1500" dirty="0">
                <a:solidFill>
                  <a:schemeClr val="bg1"/>
                </a:solidFill>
              </a:rPr>
              <a:t>1. Sodium loses its outer electron; its empty third shell disappears: Na⁺ (2, 8).</a:t>
            </a:r>
            <a:endParaRPr lang="en-US" sz="1500" dirty="0"/>
          </a:p>
          <a:p>
            <a:pPr algn="l" indent="0" marL="0">
              <a:spcAft>
                <a:spcPts val="1000"/>
              </a:spcAft>
              <a:buNone/>
            </a:pPr>
            <a:r>
              <a:rPr lang="en-US" sz="1500" dirty="0">
                <a:solidFill>
                  <a:schemeClr val="bg1"/>
                </a:solidFill>
              </a:rPr>
              <a:t>2. Chlorine gains it (shown pink): Cl⁻ (2, 8, 8).</a:t>
            </a:r>
            <a:endParaRPr lang="en-US" sz="1500" dirty="0"/>
          </a:p>
          <a:p>
            <a:pPr algn="l" indent="0" marL="0">
              <a:spcAft>
                <a:spcPts val="1000"/>
              </a:spcAft>
              <a:buNone/>
            </a:pPr>
            <a:r>
              <a:rPr lang="en-US" sz="1500" dirty="0">
                <a:solidFill>
                  <a:schemeClr val="bg1"/>
                </a:solidFill>
              </a:rPr>
              <a:t>3. Na⁺ and Cl⁻ attract: sodium chloride, table salt.</a:t>
            </a:r>
            <a:endParaRPr lang="en-US" sz="1500" dirty="0"/>
          </a:p>
        </p:txBody>
      </p:sp>
      <p:pic>
        <p:nvPicPr>
          <p:cNvPr id="6" name="nacl_before" descr="1  Before">    </p:cNvPr>
          <p:cNvPicPr>
            <a:picLocks noChangeAspect="1"/>
          </p:cNvPicPr>
          <p:nvPr/>
        </p:nvPicPr>
        <p:blipFill>
          <a:blip r:embed="rId2"/>
          <a:stretch>
            <a:fillRect/>
          </a:stretch>
        </p:blipFill>
        <p:spPr>
          <a:xfrm>
            <a:off x="5257800" y="914400"/>
            <a:ext cx="3154680" cy="1267505"/>
          </a:xfrm>
          <a:prstGeom prst="rect">
            <a:avLst/>
          </a:prstGeom>
        </p:spPr>
      </p:pic>
      <p:sp>
        <p:nvSpPr>
          <p:cNvPr id="7" name="Text 3"/>
          <p:cNvSpPr txBox="1"/>
          <p:nvPr/>
        </p:nvSpPr>
        <p:spPr>
          <a:xfrm>
            <a:off x="4434840" y="1371600"/>
            <a:ext cx="777240" cy="457200"/>
          </a:xfrm>
          <a:prstGeom prst="rect">
            <a:avLst/>
          </a:prstGeom>
          <a:noFill/>
          <a:ln/>
        </p:spPr>
        <p:txBody>
          <a:bodyPr wrap="square" lIns="0" tIns="0" rIns="0" bIns="0" rtlCol="0" anchor="t"/>
          <a:lstStyle/>
          <a:p>
            <a:pPr algn="l" indent="0" marL="0">
              <a:buNone/>
            </a:pPr>
            <a:r>
              <a:rPr lang="en-US" sz="1200" b="1" dirty="0">
                <a:solidFill>
                  <a:schemeClr val="accent2"/>
                </a:solidFill>
              </a:rPr>
              <a:t>1  Before</a:t>
            </a:r>
            <a:endParaRPr lang="en-US" sz="1200" dirty="0"/>
          </a:p>
        </p:txBody>
      </p:sp>
      <p:pic>
        <p:nvPicPr>
          <p:cNvPr id="8" name="nacl_mid" descr="2  The electron moves">    </p:cNvPr>
          <p:cNvPicPr>
            <a:picLocks noChangeAspect="1"/>
          </p:cNvPicPr>
          <p:nvPr/>
        </p:nvPicPr>
        <p:blipFill>
          <a:blip r:embed="rId3"/>
          <a:stretch>
            <a:fillRect/>
          </a:stretch>
        </p:blipFill>
        <p:spPr>
          <a:xfrm>
            <a:off x="5257800" y="2258568"/>
            <a:ext cx="3154680" cy="1267505"/>
          </a:xfrm>
          <a:prstGeom prst="rect">
            <a:avLst/>
          </a:prstGeom>
        </p:spPr>
      </p:pic>
      <p:sp>
        <p:nvSpPr>
          <p:cNvPr id="9" name="Text 4"/>
          <p:cNvSpPr txBox="1"/>
          <p:nvPr/>
        </p:nvSpPr>
        <p:spPr>
          <a:xfrm>
            <a:off x="4434840" y="2715768"/>
            <a:ext cx="777240" cy="457200"/>
          </a:xfrm>
          <a:prstGeom prst="rect">
            <a:avLst/>
          </a:prstGeom>
          <a:noFill/>
          <a:ln/>
        </p:spPr>
        <p:txBody>
          <a:bodyPr wrap="square" lIns="0" tIns="0" rIns="0" bIns="0" rtlCol="0" anchor="t"/>
          <a:lstStyle/>
          <a:p>
            <a:pPr algn="l" indent="0" marL="0">
              <a:buNone/>
            </a:pPr>
            <a:r>
              <a:rPr lang="en-US" sz="1200" b="1" dirty="0">
                <a:solidFill>
                  <a:schemeClr val="accent2"/>
                </a:solidFill>
              </a:rPr>
              <a:t>2  The electron moves</a:t>
            </a:r>
            <a:endParaRPr lang="en-US" sz="1200" dirty="0"/>
          </a:p>
        </p:txBody>
      </p:sp>
      <p:pic>
        <p:nvPicPr>
          <p:cNvPr id="10" name="nacl_after" descr="3  Ions attract">    </p:cNvPr>
          <p:cNvPicPr>
            <a:picLocks noChangeAspect="1"/>
          </p:cNvPicPr>
          <p:nvPr/>
        </p:nvPicPr>
        <p:blipFill>
          <a:blip r:embed="rId4"/>
          <a:stretch>
            <a:fillRect/>
          </a:stretch>
        </p:blipFill>
        <p:spPr>
          <a:xfrm>
            <a:off x="5257800" y="3602736"/>
            <a:ext cx="3154680" cy="1267505"/>
          </a:xfrm>
          <a:prstGeom prst="rect">
            <a:avLst/>
          </a:prstGeom>
        </p:spPr>
      </p:pic>
      <p:sp>
        <p:nvSpPr>
          <p:cNvPr id="11" name="Text 5"/>
          <p:cNvSpPr txBox="1"/>
          <p:nvPr/>
        </p:nvSpPr>
        <p:spPr>
          <a:xfrm>
            <a:off x="4434840" y="4059936"/>
            <a:ext cx="777240" cy="457200"/>
          </a:xfrm>
          <a:prstGeom prst="rect">
            <a:avLst/>
          </a:prstGeom>
          <a:noFill/>
          <a:ln/>
        </p:spPr>
        <p:txBody>
          <a:bodyPr wrap="square" lIns="0" tIns="0" rIns="0" bIns="0" rtlCol="0" anchor="t"/>
          <a:lstStyle/>
          <a:p>
            <a:pPr algn="l" indent="0" marL="0">
              <a:buNone/>
            </a:pPr>
            <a:r>
              <a:rPr lang="en-US" sz="1200" b="1" dirty="0">
                <a:solidFill>
                  <a:schemeClr val="accent2"/>
                </a:solidFill>
              </a:rPr>
              <a:t>3  Ions attract</a:t>
            </a:r>
            <a:endParaRPr lang="en-US" sz="12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FB1C7"/>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1234440" y="292608"/>
            <a:ext cx="7452360" cy="548640"/>
          </a:xfrm>
          <a:prstGeom prst="rect">
            <a:avLst/>
          </a:prstGeom>
          <a:noFill/>
          <a:ln/>
        </p:spPr>
        <p:txBody>
          <a:bodyPr wrap="square" lIns="0" tIns="0" rIns="0" bIns="0" rtlCol="0" anchor="ctr"/>
          <a:lstStyle/>
          <a:p>
            <a:pPr algn="l" indent="0" marL="0">
              <a:buNone/>
            </a:pPr>
            <a:r>
              <a:rPr lang="en-US" sz="2800" b="1" dirty="0">
                <a:solidFill>
                  <a:schemeClr val="bg1"/>
                </a:solidFill>
                <a:latin typeface="Arial" pitchFamily="34" charset="0"/>
                <a:ea typeface="Arial" pitchFamily="34" charset="-122"/>
                <a:cs typeface="Arial" pitchFamily="34" charset="-120"/>
              </a:rPr>
              <a:t>Move the electron</a:t>
            </a:r>
            <a:endParaRPr lang="en-US" sz="2800" dirty="0"/>
          </a:p>
        </p:txBody>
      </p:sp>
      <p:pic>
        <p:nvPicPr>
          <p:cNvPr id="3" name="Icon 2" descr="Section 2 icon">    </p:cNvPr>
          <p:cNvPicPr>
            <a:picLocks noChangeAspect="1"/>
          </p:cNvPicPr>
          <p:nvPr/>
        </p:nvPicPr>
        <p:blipFill>
          <a:blip r:embed="rId1"/>
          <a:stretch>
            <a:fillRect/>
          </a:stretch>
        </p:blipFill>
        <p:spPr>
          <a:xfrm>
            <a:off x="502920" y="201168"/>
            <a:ext cx="566928" cy="627239"/>
          </a:xfrm>
          <a:prstGeom prst="rect">
            <a:avLst/>
          </a:prstGeom>
        </p:spPr>
      </p:pic>
      <p:sp>
        <p:nvSpPr>
          <p:cNvPr id="4" name="Tag Try it"/>
          <p:cNvSpPr/>
          <p:nvPr/>
        </p:nvSpPr>
        <p:spPr>
          <a:xfrm>
            <a:off x="1234440" y="45720"/>
            <a:ext cx="1051560" cy="219456"/>
          </a:xfrm>
          <a:prstGeom prst="roundRect">
            <a:avLst>
              <a:gd name="adj" fmla="val 41667"/>
            </a:avLst>
          </a:prstGeom>
          <a:solidFill>
            <a:srgbClr val="5FE1FF"/>
          </a:solidFill>
          <a:ln/>
        </p:spPr>
        <p:txBody>
          <a:bodyPr wrap="square" lIns="0" tIns="0" rIns="0" bIns="0" rtlCol="0" anchor="ctr"/>
          <a:lstStyle/>
          <a:p>
            <a:pPr algn="ctr" indent="0" marL="0">
              <a:buNone/>
            </a:pPr>
            <a:r>
              <a:rPr lang="en-US" sz="1000" b="1" dirty="0">
                <a:solidFill>
                  <a:srgbClr val="0B2630"/>
                </a:solidFill>
              </a:rPr>
              <a:t>Try it</a:t>
            </a:r>
            <a:endParaRPr lang="en-US" sz="1000" dirty="0"/>
          </a:p>
        </p:txBody>
      </p:sp>
      <p:sp>
        <p:nvSpPr>
          <p:cNvPr id="5" name="Text 2"/>
          <p:cNvSpPr txBox="1"/>
          <p:nvPr/>
        </p:nvSpPr>
        <p:spPr>
          <a:xfrm>
            <a:off x="502920" y="960120"/>
            <a:ext cx="8138160" cy="365760"/>
          </a:xfrm>
          <a:prstGeom prst="rect">
            <a:avLst/>
          </a:prstGeom>
          <a:noFill/>
          <a:ln/>
        </p:spPr>
        <p:txBody>
          <a:bodyPr wrap="square" lIns="0" tIns="0" rIns="0" bIns="0" rtlCol="0" anchor="t"/>
          <a:lstStyle/>
          <a:p>
            <a:pPr algn="l" indent="0" marL="0">
              <a:buNone/>
            </a:pPr>
            <a:r>
              <a:rPr lang="en-US" sz="1600" b="1" dirty="0">
                <a:solidFill>
                  <a:schemeClr val="bg1"/>
                </a:solidFill>
              </a:rPr>
              <a:t>For each pair: which way does the electron move, and which ions form?</a:t>
            </a:r>
            <a:endParaRPr lang="en-US" sz="1600" dirty="0"/>
          </a:p>
        </p:txBody>
      </p:sp>
      <p:pic>
        <p:nvPicPr>
          <p:cNvPr id="6" name="kf_before" descr="Potassium + fluorine">    </p:cNvPr>
          <p:cNvPicPr>
            <a:picLocks noChangeAspect="1"/>
          </p:cNvPicPr>
          <p:nvPr/>
        </p:nvPicPr>
        <p:blipFill>
          <a:blip r:embed="rId2"/>
          <a:stretch>
            <a:fillRect/>
          </a:stretch>
        </p:blipFill>
        <p:spPr>
          <a:xfrm>
            <a:off x="502920" y="1463040"/>
            <a:ext cx="3657600" cy="1469571"/>
          </a:xfrm>
          <a:prstGeom prst="rect">
            <a:avLst/>
          </a:prstGeom>
        </p:spPr>
      </p:pic>
      <p:sp>
        <p:nvSpPr>
          <p:cNvPr id="7" name="Text 3"/>
          <p:cNvSpPr txBox="1"/>
          <p:nvPr/>
        </p:nvSpPr>
        <p:spPr>
          <a:xfrm>
            <a:off x="4389120" y="1691640"/>
            <a:ext cx="4206240" cy="365760"/>
          </a:xfrm>
          <a:prstGeom prst="rect">
            <a:avLst/>
          </a:prstGeom>
          <a:noFill/>
          <a:ln/>
        </p:spPr>
        <p:txBody>
          <a:bodyPr wrap="square" lIns="0" tIns="0" rIns="0" bIns="0" rtlCol="0" anchor="t"/>
          <a:lstStyle/>
          <a:p>
            <a:pPr algn="l" indent="0" marL="0">
              <a:buNone/>
            </a:pPr>
            <a:r>
              <a:rPr lang="en-US" sz="1600" b="1" dirty="0">
                <a:solidFill>
                  <a:schemeClr val="bg1"/>
                </a:solidFill>
              </a:rPr>
              <a:t>Potassium + fluorine</a:t>
            </a:r>
            <a:endParaRPr lang="en-US" sz="1600" dirty="0"/>
          </a:p>
        </p:txBody>
      </p:sp>
      <p:sp>
        <p:nvSpPr>
          <p:cNvPr id="8" name="Text 4"/>
          <p:cNvSpPr txBox="1"/>
          <p:nvPr/>
        </p:nvSpPr>
        <p:spPr>
          <a:xfrm>
            <a:off x="4389120" y="2148840"/>
            <a:ext cx="4206240" cy="457200"/>
          </a:xfrm>
          <a:prstGeom prst="rect">
            <a:avLst/>
          </a:prstGeom>
          <a:noFill/>
          <a:ln/>
        </p:spPr>
        <p:txBody>
          <a:bodyPr wrap="square" lIns="0" tIns="0" rIns="0" bIns="0" rtlCol="0" anchor="t"/>
          <a:lstStyle/>
          <a:p>
            <a:pPr algn="l" indent="0" marL="0">
              <a:buNone/>
            </a:pPr>
            <a:r>
              <a:rPr lang="en-US" sz="1500" dirty="0">
                <a:solidFill>
                  <a:schemeClr val="bg2"/>
                </a:solidFill>
              </a:rPr>
              <a:t>Which ions form? What is the formula?</a:t>
            </a:r>
            <a:endParaRPr lang="en-US" sz="1500" dirty="0"/>
          </a:p>
        </p:txBody>
      </p:sp>
      <p:pic>
        <p:nvPicPr>
          <p:cNvPr id="9" name="lif_before" descr="Lithium + fluorine">    </p:cNvPr>
          <p:cNvPicPr>
            <a:picLocks noChangeAspect="1"/>
          </p:cNvPicPr>
          <p:nvPr/>
        </p:nvPicPr>
        <p:blipFill>
          <a:blip r:embed="rId3"/>
          <a:stretch>
            <a:fillRect/>
          </a:stretch>
        </p:blipFill>
        <p:spPr>
          <a:xfrm>
            <a:off x="502920" y="3154680"/>
            <a:ext cx="3657600" cy="1469571"/>
          </a:xfrm>
          <a:prstGeom prst="rect">
            <a:avLst/>
          </a:prstGeom>
        </p:spPr>
      </p:pic>
      <p:sp>
        <p:nvSpPr>
          <p:cNvPr id="10" name="Text 5"/>
          <p:cNvSpPr txBox="1"/>
          <p:nvPr/>
        </p:nvSpPr>
        <p:spPr>
          <a:xfrm>
            <a:off x="4389120" y="3383280"/>
            <a:ext cx="4206240" cy="365760"/>
          </a:xfrm>
          <a:prstGeom prst="rect">
            <a:avLst/>
          </a:prstGeom>
          <a:noFill/>
          <a:ln/>
        </p:spPr>
        <p:txBody>
          <a:bodyPr wrap="square" lIns="0" tIns="0" rIns="0" bIns="0" rtlCol="0" anchor="t"/>
          <a:lstStyle/>
          <a:p>
            <a:pPr algn="l" indent="0" marL="0">
              <a:buNone/>
            </a:pPr>
            <a:r>
              <a:rPr lang="en-US" sz="1600" b="1" dirty="0">
                <a:solidFill>
                  <a:schemeClr val="bg1"/>
                </a:solidFill>
              </a:rPr>
              <a:t>Lithium + fluorine</a:t>
            </a:r>
            <a:endParaRPr lang="en-US" sz="1600" dirty="0"/>
          </a:p>
        </p:txBody>
      </p:sp>
      <p:sp>
        <p:nvSpPr>
          <p:cNvPr id="11" name="Text 6"/>
          <p:cNvSpPr txBox="1"/>
          <p:nvPr/>
        </p:nvSpPr>
        <p:spPr>
          <a:xfrm>
            <a:off x="4389120" y="3840480"/>
            <a:ext cx="4206240" cy="457200"/>
          </a:xfrm>
          <a:prstGeom prst="rect">
            <a:avLst/>
          </a:prstGeom>
          <a:noFill/>
          <a:ln/>
        </p:spPr>
        <p:txBody>
          <a:bodyPr wrap="square" lIns="0" tIns="0" rIns="0" bIns="0" rtlCol="0" anchor="t"/>
          <a:lstStyle/>
          <a:p>
            <a:pPr algn="l" indent="0" marL="0">
              <a:buNone/>
            </a:pPr>
            <a:r>
              <a:rPr lang="en-US" sz="1500" dirty="0">
                <a:solidFill>
                  <a:schemeClr val="bg2"/>
                </a:solidFill>
              </a:rPr>
              <a:t>Which ions form? What is the formula?</a:t>
            </a:r>
            <a:endParaRPr lang="en-US" sz="15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FB1C7"/>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1234440" y="292608"/>
            <a:ext cx="7452360" cy="548640"/>
          </a:xfrm>
          <a:prstGeom prst="rect">
            <a:avLst/>
          </a:prstGeom>
          <a:noFill/>
          <a:ln/>
        </p:spPr>
        <p:txBody>
          <a:bodyPr wrap="square" lIns="0" tIns="0" rIns="0" bIns="0" rtlCol="0" anchor="ctr"/>
          <a:lstStyle/>
          <a:p>
            <a:pPr algn="l" indent="0" marL="0">
              <a:buNone/>
            </a:pPr>
            <a:r>
              <a:rPr lang="en-US" sz="2800" b="1" dirty="0">
                <a:solidFill>
                  <a:schemeClr val="bg1"/>
                </a:solidFill>
                <a:latin typeface="Arial" pitchFamily="34" charset="0"/>
                <a:ea typeface="Arial" pitchFamily="34" charset="-122"/>
                <a:cs typeface="Arial" pitchFamily="34" charset="-120"/>
              </a:rPr>
              <a:t>Move the electron</a:t>
            </a:r>
            <a:endParaRPr lang="en-US" sz="2800" dirty="0"/>
          </a:p>
        </p:txBody>
      </p:sp>
      <p:pic>
        <p:nvPicPr>
          <p:cNvPr id="3" name="Icon 2" descr="Section 2 icon">    </p:cNvPr>
          <p:cNvPicPr>
            <a:picLocks noChangeAspect="1"/>
          </p:cNvPicPr>
          <p:nvPr/>
        </p:nvPicPr>
        <p:blipFill>
          <a:blip r:embed="rId1"/>
          <a:stretch>
            <a:fillRect/>
          </a:stretch>
        </p:blipFill>
        <p:spPr>
          <a:xfrm>
            <a:off x="502920" y="201168"/>
            <a:ext cx="566928" cy="627239"/>
          </a:xfrm>
          <a:prstGeom prst="rect">
            <a:avLst/>
          </a:prstGeom>
        </p:spPr>
      </p:pic>
      <p:sp>
        <p:nvSpPr>
          <p:cNvPr id="4" name="Tag Try it"/>
          <p:cNvSpPr/>
          <p:nvPr/>
        </p:nvSpPr>
        <p:spPr>
          <a:xfrm>
            <a:off x="1234440" y="45720"/>
            <a:ext cx="1051560" cy="219456"/>
          </a:xfrm>
          <a:prstGeom prst="roundRect">
            <a:avLst>
              <a:gd name="adj" fmla="val 41667"/>
            </a:avLst>
          </a:prstGeom>
          <a:solidFill>
            <a:srgbClr val="5FE1FF"/>
          </a:solidFill>
          <a:ln/>
        </p:spPr>
        <p:txBody>
          <a:bodyPr wrap="square" lIns="0" tIns="0" rIns="0" bIns="0" rtlCol="0" anchor="ctr"/>
          <a:lstStyle/>
          <a:p>
            <a:pPr algn="ctr" indent="0" marL="0">
              <a:buNone/>
            </a:pPr>
            <a:r>
              <a:rPr lang="en-US" sz="1000" b="1" dirty="0">
                <a:solidFill>
                  <a:srgbClr val="0B2630"/>
                </a:solidFill>
              </a:rPr>
              <a:t>Try it</a:t>
            </a:r>
            <a:endParaRPr lang="en-US" sz="1000" dirty="0"/>
          </a:p>
        </p:txBody>
      </p:sp>
      <p:sp>
        <p:nvSpPr>
          <p:cNvPr id="5" name="Tag Answer"/>
          <p:cNvSpPr/>
          <p:nvPr/>
        </p:nvSpPr>
        <p:spPr>
          <a:xfrm>
            <a:off x="2377440" y="45720"/>
            <a:ext cx="1051560" cy="219456"/>
          </a:xfrm>
          <a:prstGeom prst="roundRect">
            <a:avLst>
              <a:gd name="adj" fmla="val 41667"/>
            </a:avLst>
          </a:prstGeom>
          <a:solidFill>
            <a:srgbClr val="4ADE80"/>
          </a:solidFill>
          <a:ln/>
        </p:spPr>
        <p:txBody>
          <a:bodyPr wrap="square" lIns="0" tIns="0" rIns="0" bIns="0" rtlCol="0" anchor="ctr"/>
          <a:lstStyle/>
          <a:p>
            <a:pPr algn="ctr" indent="0" marL="0">
              <a:buNone/>
            </a:pPr>
            <a:r>
              <a:rPr lang="en-US" sz="1000" b="1" dirty="0">
                <a:solidFill>
                  <a:srgbClr val="06240F"/>
                </a:solidFill>
              </a:rPr>
              <a:t>Answer</a:t>
            </a:r>
            <a:endParaRPr lang="en-US" sz="1000" dirty="0"/>
          </a:p>
        </p:txBody>
      </p:sp>
      <p:sp>
        <p:nvSpPr>
          <p:cNvPr id="6" name="Text 3"/>
          <p:cNvSpPr txBox="1"/>
          <p:nvPr/>
        </p:nvSpPr>
        <p:spPr>
          <a:xfrm>
            <a:off x="502920" y="960120"/>
            <a:ext cx="8138160" cy="365760"/>
          </a:xfrm>
          <a:prstGeom prst="rect">
            <a:avLst/>
          </a:prstGeom>
          <a:noFill/>
          <a:ln/>
        </p:spPr>
        <p:txBody>
          <a:bodyPr wrap="square" lIns="0" tIns="0" rIns="0" bIns="0" rtlCol="0" anchor="t"/>
          <a:lstStyle/>
          <a:p>
            <a:pPr algn="l" indent="0" marL="0">
              <a:buNone/>
            </a:pPr>
            <a:r>
              <a:rPr lang="en-US" sz="1600" b="1" dirty="0">
                <a:solidFill>
                  <a:schemeClr val="bg1"/>
                </a:solidFill>
              </a:rPr>
              <a:t>Each metal gives its one valence electron to the nonmetal.</a:t>
            </a:r>
            <a:endParaRPr lang="en-US" sz="1600" dirty="0"/>
          </a:p>
        </p:txBody>
      </p:sp>
      <p:pic>
        <p:nvPicPr>
          <p:cNvPr id="7" name="kf_after" descr="Potassium + fluorine">    </p:cNvPr>
          <p:cNvPicPr>
            <a:picLocks noChangeAspect="1"/>
          </p:cNvPicPr>
          <p:nvPr/>
        </p:nvPicPr>
        <p:blipFill>
          <a:blip r:embed="rId2"/>
          <a:stretch>
            <a:fillRect/>
          </a:stretch>
        </p:blipFill>
        <p:spPr>
          <a:xfrm>
            <a:off x="502920" y="1463040"/>
            <a:ext cx="3657600" cy="1469571"/>
          </a:xfrm>
          <a:prstGeom prst="rect">
            <a:avLst/>
          </a:prstGeom>
        </p:spPr>
      </p:pic>
      <p:sp>
        <p:nvSpPr>
          <p:cNvPr id="8" name="Text 4"/>
          <p:cNvSpPr txBox="1"/>
          <p:nvPr/>
        </p:nvSpPr>
        <p:spPr>
          <a:xfrm>
            <a:off x="4389120" y="1691640"/>
            <a:ext cx="4206240" cy="365760"/>
          </a:xfrm>
          <a:prstGeom prst="rect">
            <a:avLst/>
          </a:prstGeom>
          <a:noFill/>
          <a:ln/>
        </p:spPr>
        <p:txBody>
          <a:bodyPr wrap="square" lIns="0" tIns="0" rIns="0" bIns="0" rtlCol="0" anchor="t"/>
          <a:lstStyle/>
          <a:p>
            <a:pPr algn="l" indent="0" marL="0">
              <a:buNone/>
            </a:pPr>
            <a:r>
              <a:rPr lang="en-US" sz="1600" b="1" dirty="0">
                <a:solidFill>
                  <a:schemeClr val="bg1"/>
                </a:solidFill>
              </a:rPr>
              <a:t>Potassium + fluorine</a:t>
            </a:r>
            <a:endParaRPr lang="en-US" sz="1600" dirty="0"/>
          </a:p>
        </p:txBody>
      </p:sp>
      <p:sp>
        <p:nvSpPr>
          <p:cNvPr id="9" name="Text 5"/>
          <p:cNvSpPr txBox="1"/>
          <p:nvPr/>
        </p:nvSpPr>
        <p:spPr>
          <a:xfrm>
            <a:off x="4389120" y="2148840"/>
            <a:ext cx="4206240" cy="457200"/>
          </a:xfrm>
          <a:prstGeom prst="rect">
            <a:avLst/>
          </a:prstGeom>
          <a:noFill/>
          <a:ln/>
        </p:spPr>
        <p:txBody>
          <a:bodyPr wrap="square" lIns="0" tIns="0" rIns="0" bIns="0" rtlCol="0" anchor="t"/>
          <a:lstStyle/>
          <a:p>
            <a:pPr algn="l" indent="0" marL="0">
              <a:buNone/>
            </a:pPr>
            <a:r>
              <a:rPr lang="en-US" sz="1500" dirty="0">
                <a:solidFill>
                  <a:schemeClr val="accent4"/>
                </a:solidFill>
              </a:rPr>
              <a:t>K⁺ and F⁻ → KF, potassium fluoride</a:t>
            </a:r>
            <a:endParaRPr lang="en-US" sz="1500" dirty="0"/>
          </a:p>
        </p:txBody>
      </p:sp>
      <p:pic>
        <p:nvPicPr>
          <p:cNvPr id="10" name="lif_after" descr="Lithium + fluorine">    </p:cNvPr>
          <p:cNvPicPr>
            <a:picLocks noChangeAspect="1"/>
          </p:cNvPicPr>
          <p:nvPr/>
        </p:nvPicPr>
        <p:blipFill>
          <a:blip r:embed="rId3"/>
          <a:stretch>
            <a:fillRect/>
          </a:stretch>
        </p:blipFill>
        <p:spPr>
          <a:xfrm>
            <a:off x="502920" y="3154680"/>
            <a:ext cx="3657600" cy="1469571"/>
          </a:xfrm>
          <a:prstGeom prst="rect">
            <a:avLst/>
          </a:prstGeom>
        </p:spPr>
      </p:pic>
      <p:sp>
        <p:nvSpPr>
          <p:cNvPr id="11" name="Text 6"/>
          <p:cNvSpPr txBox="1"/>
          <p:nvPr/>
        </p:nvSpPr>
        <p:spPr>
          <a:xfrm>
            <a:off x="4389120" y="3383280"/>
            <a:ext cx="4206240" cy="365760"/>
          </a:xfrm>
          <a:prstGeom prst="rect">
            <a:avLst/>
          </a:prstGeom>
          <a:noFill/>
          <a:ln/>
        </p:spPr>
        <p:txBody>
          <a:bodyPr wrap="square" lIns="0" tIns="0" rIns="0" bIns="0" rtlCol="0" anchor="t"/>
          <a:lstStyle/>
          <a:p>
            <a:pPr algn="l" indent="0" marL="0">
              <a:buNone/>
            </a:pPr>
            <a:r>
              <a:rPr lang="en-US" sz="1600" b="1" dirty="0">
                <a:solidFill>
                  <a:schemeClr val="bg1"/>
                </a:solidFill>
              </a:rPr>
              <a:t>Lithium + fluorine</a:t>
            </a:r>
            <a:endParaRPr lang="en-US" sz="1600" dirty="0"/>
          </a:p>
        </p:txBody>
      </p:sp>
      <p:sp>
        <p:nvSpPr>
          <p:cNvPr id="12" name="Text 7"/>
          <p:cNvSpPr txBox="1"/>
          <p:nvPr/>
        </p:nvSpPr>
        <p:spPr>
          <a:xfrm>
            <a:off x="4389120" y="3840480"/>
            <a:ext cx="4206240" cy="457200"/>
          </a:xfrm>
          <a:prstGeom prst="rect">
            <a:avLst/>
          </a:prstGeom>
          <a:noFill/>
          <a:ln/>
        </p:spPr>
        <p:txBody>
          <a:bodyPr wrap="square" lIns="0" tIns="0" rIns="0" bIns="0" rtlCol="0" anchor="t"/>
          <a:lstStyle/>
          <a:p>
            <a:pPr algn="l" indent="0" marL="0">
              <a:buNone/>
            </a:pPr>
            <a:r>
              <a:rPr lang="en-US" sz="1500" dirty="0">
                <a:solidFill>
                  <a:schemeClr val="accent4"/>
                </a:solidFill>
              </a:rPr>
              <a:t>Li⁺ and F⁻ → LiF, lithium fluoride</a:t>
            </a:r>
            <a:endParaRPr lang="en-US" sz="15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FB1C7"/>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1234440" y="292608"/>
            <a:ext cx="7452360" cy="548640"/>
          </a:xfrm>
          <a:prstGeom prst="rect">
            <a:avLst/>
          </a:prstGeom>
          <a:noFill/>
          <a:ln/>
        </p:spPr>
        <p:txBody>
          <a:bodyPr wrap="square" lIns="0" tIns="0" rIns="0" bIns="0" rtlCol="0" anchor="ctr"/>
          <a:lstStyle/>
          <a:p>
            <a:pPr algn="l" indent="0" marL="0">
              <a:buNone/>
            </a:pPr>
            <a:r>
              <a:rPr lang="en-US" sz="2800" b="1" dirty="0">
                <a:solidFill>
                  <a:schemeClr val="bg1"/>
                </a:solidFill>
                <a:latin typeface="Arial" pitchFamily="34" charset="0"/>
                <a:ea typeface="Arial" pitchFamily="34" charset="-122"/>
                <a:cs typeface="Arial" pitchFamily="34" charset="-120"/>
              </a:rPr>
              <a:t>Back to the phenomenon</a:t>
            </a:r>
            <a:endParaRPr lang="en-US" sz="2800" dirty="0"/>
          </a:p>
        </p:txBody>
      </p:sp>
      <p:pic>
        <p:nvPicPr>
          <p:cNvPr id="3" name="Icon 2" descr="Section 2 icon">    </p:cNvPr>
          <p:cNvPicPr>
            <a:picLocks noChangeAspect="1"/>
          </p:cNvPicPr>
          <p:nvPr/>
        </p:nvPicPr>
        <p:blipFill>
          <a:blip r:embed="rId1"/>
          <a:stretch>
            <a:fillRect/>
          </a:stretch>
        </p:blipFill>
        <p:spPr>
          <a:xfrm>
            <a:off x="502920" y="201168"/>
            <a:ext cx="566928" cy="627239"/>
          </a:xfrm>
          <a:prstGeom prst="rect">
            <a:avLst/>
          </a:prstGeom>
        </p:spPr>
      </p:pic>
      <p:sp>
        <p:nvSpPr>
          <p:cNvPr id="4" name="Tag Phenomenon"/>
          <p:cNvSpPr/>
          <p:nvPr/>
        </p:nvSpPr>
        <p:spPr>
          <a:xfrm>
            <a:off x="1234440" y="45720"/>
            <a:ext cx="1051560" cy="219456"/>
          </a:xfrm>
          <a:prstGeom prst="roundRect">
            <a:avLst>
              <a:gd name="adj" fmla="val 41667"/>
            </a:avLst>
          </a:prstGeom>
          <a:solidFill>
            <a:srgbClr val="FB923C"/>
          </a:solidFill>
          <a:ln/>
        </p:spPr>
        <p:txBody>
          <a:bodyPr wrap="square" lIns="0" tIns="0" rIns="0" bIns="0" rtlCol="0" anchor="ctr"/>
          <a:lstStyle/>
          <a:p>
            <a:pPr algn="ctr" indent="0" marL="0">
              <a:buNone/>
            </a:pPr>
            <a:r>
              <a:rPr lang="en-US" sz="1000" b="1" dirty="0">
                <a:solidFill>
                  <a:srgbClr val="2A1305"/>
                </a:solidFill>
              </a:rPr>
              <a:t>Phenomenon</a:t>
            </a:r>
            <a:endParaRPr lang="en-US" sz="1000" dirty="0"/>
          </a:p>
        </p:txBody>
      </p:sp>
      <p:sp>
        <p:nvSpPr>
          <p:cNvPr id="5" name="Tag Answer"/>
          <p:cNvSpPr/>
          <p:nvPr/>
        </p:nvSpPr>
        <p:spPr>
          <a:xfrm>
            <a:off x="2377440" y="45720"/>
            <a:ext cx="1051560" cy="219456"/>
          </a:xfrm>
          <a:prstGeom prst="roundRect">
            <a:avLst>
              <a:gd name="adj" fmla="val 41667"/>
            </a:avLst>
          </a:prstGeom>
          <a:solidFill>
            <a:srgbClr val="4ADE80"/>
          </a:solidFill>
          <a:ln/>
        </p:spPr>
        <p:txBody>
          <a:bodyPr wrap="square" lIns="0" tIns="0" rIns="0" bIns="0" rtlCol="0" anchor="ctr"/>
          <a:lstStyle/>
          <a:p>
            <a:pPr algn="ctr" indent="0" marL="0">
              <a:buNone/>
            </a:pPr>
            <a:r>
              <a:rPr lang="en-US" sz="1000" b="1" dirty="0">
                <a:solidFill>
                  <a:srgbClr val="06240F"/>
                </a:solidFill>
              </a:rPr>
              <a:t>Answer</a:t>
            </a:r>
            <a:endParaRPr lang="en-US" sz="1000" dirty="0"/>
          </a:p>
        </p:txBody>
      </p:sp>
      <p:pic>
        <p:nvPicPr>
          <p:cNvPr id="6" name="nacl_after" descr="Na plus and Cl minus attract">    </p:cNvPr>
          <p:cNvPicPr>
            <a:picLocks noChangeAspect="1"/>
          </p:cNvPicPr>
          <p:nvPr/>
        </p:nvPicPr>
        <p:blipFill>
          <a:blip r:embed="rId2"/>
          <a:stretch>
            <a:fillRect/>
          </a:stretch>
        </p:blipFill>
        <p:spPr>
          <a:xfrm>
            <a:off x="4937760" y="1005840"/>
            <a:ext cx="3657600" cy="1469571"/>
          </a:xfrm>
          <a:prstGeom prst="rect">
            <a:avLst/>
          </a:prstGeom>
        </p:spPr>
      </p:pic>
      <p:sp>
        <p:nvSpPr>
          <p:cNvPr id="7" name="Text 3"/>
          <p:cNvSpPr txBox="1"/>
          <p:nvPr/>
        </p:nvSpPr>
        <p:spPr>
          <a:xfrm>
            <a:off x="502920" y="1005840"/>
            <a:ext cx="4206240" cy="3566160"/>
          </a:xfrm>
          <a:prstGeom prst="rect">
            <a:avLst/>
          </a:prstGeom>
          <a:noFill/>
          <a:ln/>
        </p:spPr>
        <p:txBody>
          <a:bodyPr wrap="square" lIns="0" tIns="0" rIns="0" bIns="0" rtlCol="0" anchor="t"/>
          <a:lstStyle/>
          <a:p>
            <a:pPr algn="l" indent="0" marL="0">
              <a:spcAft>
                <a:spcPts val="1000"/>
              </a:spcAft>
              <a:buNone/>
            </a:pPr>
            <a:r>
              <a:rPr lang="en-US" sz="1500" b="1" dirty="0">
                <a:solidFill>
                  <a:schemeClr val="accent4"/>
                </a:solidFill>
              </a:rPr>
              <a:t>Answer: B. </a:t>
            </a:r>
            <a:pPr algn="l" indent="0" marL="0">
              <a:spcAft>
                <a:spcPts val="1000"/>
              </a:spcAft>
              <a:buNone/>
            </a:pPr>
            <a:r>
              <a:rPr lang="en-US" sz="1500" dirty="0">
                <a:solidFill>
                  <a:schemeClr val="bg1"/>
                </a:solidFill>
              </a:rPr>
              <a:t>An electron moves from sodium to chlorine.</a:t>
            </a:r>
            <a:endParaRPr lang="en-US" sz="1500" dirty="0"/>
          </a:p>
          <a:p>
            <a:pPr algn="l" indent="0" marL="0">
              <a:spcAft>
                <a:spcPts val="1000"/>
              </a:spcAft>
              <a:buNone/>
            </a:pPr>
            <a:r>
              <a:rPr lang="en-US" sz="1500" dirty="0">
                <a:solidFill>
                  <a:schemeClr val="bg1"/>
                </a:solidFill>
              </a:rPr>
              <a:t>Sodium and chlorine atoms are dangerous because each is </a:t>
            </a:r>
            <a:pPr algn="l" indent="0" marL="0">
              <a:spcAft>
                <a:spcPts val="1000"/>
              </a:spcAft>
              <a:buNone/>
            </a:pPr>
            <a:r>
              <a:rPr lang="en-US" sz="1500" b="1" dirty="0">
                <a:solidFill>
                  <a:schemeClr val="bg1"/>
                </a:solidFill>
              </a:rPr>
              <a:t>one electron away</a:t>
            </a:r>
            <a:pPr algn="l" indent="0" marL="0">
              <a:spcAft>
                <a:spcPts val="1000"/>
              </a:spcAft>
              <a:buNone/>
            </a:pPr>
            <a:r>
              <a:rPr lang="en-US" sz="1500" dirty="0">
                <a:solidFill>
                  <a:schemeClr val="bg1"/>
                </a:solidFill>
              </a:rPr>
              <a:t> from a full outer shell, so they react with almost anything.</a:t>
            </a:r>
            <a:endParaRPr lang="en-US" sz="1500" dirty="0"/>
          </a:p>
          <a:p>
            <a:pPr algn="l" indent="0" marL="0">
              <a:spcAft>
                <a:spcPts val="1000"/>
              </a:spcAft>
              <a:buNone/>
            </a:pPr>
            <a:r>
              <a:rPr lang="en-US" sz="1500" dirty="0">
                <a:solidFill>
                  <a:schemeClr val="bg1"/>
                </a:solidFill>
              </a:rPr>
              <a:t>Once the electron moves, Na⁺ and Cl⁻ both have </a:t>
            </a:r>
            <a:pPr algn="l" indent="0" marL="0">
              <a:spcAft>
                <a:spcPts val="1000"/>
              </a:spcAft>
              <a:buNone/>
            </a:pPr>
            <a:r>
              <a:rPr lang="en-US" sz="1500" b="1" dirty="0">
                <a:solidFill>
                  <a:schemeClr val="bg1"/>
                </a:solidFill>
              </a:rPr>
              <a:t>full outer shells</a:t>
            </a:r>
            <a:pPr algn="l" indent="0" marL="0">
              <a:spcAft>
                <a:spcPts val="1000"/>
              </a:spcAft>
              <a:buNone/>
            </a:pPr>
            <a:r>
              <a:rPr lang="en-US" sz="1500" dirty="0">
                <a:solidFill>
                  <a:schemeClr val="bg1"/>
                </a:solidFill>
              </a:rPr>
              <a:t>, like the noble gases neon and argon. They are stable and locked together in a crystal: the salt you eat.</a:t>
            </a:r>
            <a:endParaRPr lang="en-US" sz="15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FB1C7"/>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1234440" y="292608"/>
            <a:ext cx="7452360" cy="548640"/>
          </a:xfrm>
          <a:prstGeom prst="rect">
            <a:avLst/>
          </a:prstGeom>
          <a:noFill/>
          <a:ln/>
        </p:spPr>
        <p:txBody>
          <a:bodyPr wrap="square" lIns="0" tIns="0" rIns="0" bIns="0" rtlCol="0" anchor="ctr"/>
          <a:lstStyle/>
          <a:p>
            <a:pPr algn="l" indent="0" marL="0">
              <a:buNone/>
            </a:pPr>
            <a:r>
              <a:rPr lang="en-US" sz="2800" b="1" dirty="0">
                <a:solidFill>
                  <a:schemeClr val="bg1"/>
                </a:solidFill>
                <a:latin typeface="Arial" pitchFamily="34" charset="0"/>
                <a:ea typeface="Arial" pitchFamily="34" charset="-122"/>
                <a:cs typeface="Arial" pitchFamily="34" charset="-120"/>
              </a:rPr>
              <a:t>Quick check</a:t>
            </a:r>
            <a:endParaRPr lang="en-US" sz="2800" dirty="0"/>
          </a:p>
        </p:txBody>
      </p:sp>
      <p:pic>
        <p:nvPicPr>
          <p:cNvPr id="3" name="Icon 2" descr="Section 2 icon">    </p:cNvPr>
          <p:cNvPicPr>
            <a:picLocks noChangeAspect="1"/>
          </p:cNvPicPr>
          <p:nvPr/>
        </p:nvPicPr>
        <p:blipFill>
          <a:blip r:embed="rId1"/>
          <a:stretch>
            <a:fillRect/>
          </a:stretch>
        </p:blipFill>
        <p:spPr>
          <a:xfrm>
            <a:off x="502920" y="201168"/>
            <a:ext cx="566928" cy="627239"/>
          </a:xfrm>
          <a:prstGeom prst="rect">
            <a:avLst/>
          </a:prstGeom>
        </p:spPr>
      </p:pic>
      <p:sp>
        <p:nvSpPr>
          <p:cNvPr id="4" name="Tag Quick check"/>
          <p:cNvSpPr/>
          <p:nvPr/>
        </p:nvSpPr>
        <p:spPr>
          <a:xfrm>
            <a:off x="1234440" y="45720"/>
            <a:ext cx="1051560" cy="219456"/>
          </a:xfrm>
          <a:prstGeom prst="roundRect">
            <a:avLst>
              <a:gd name="adj" fmla="val 41667"/>
            </a:avLst>
          </a:prstGeom>
          <a:solidFill>
            <a:srgbClr val="F6B93B"/>
          </a:solidFill>
          <a:ln/>
        </p:spPr>
        <p:txBody>
          <a:bodyPr wrap="square" lIns="0" tIns="0" rIns="0" bIns="0" rtlCol="0" anchor="ctr"/>
          <a:lstStyle/>
          <a:p>
            <a:pPr algn="ctr" indent="0" marL="0">
              <a:buNone/>
            </a:pPr>
            <a:r>
              <a:rPr lang="en-US" sz="1000" b="1" dirty="0">
                <a:solidFill>
                  <a:srgbClr val="241703"/>
                </a:solidFill>
              </a:rPr>
              <a:t>Quick check</a:t>
            </a:r>
            <a:endParaRPr lang="en-US" sz="1000" dirty="0"/>
          </a:p>
        </p:txBody>
      </p:sp>
      <p:sp>
        <p:nvSpPr>
          <p:cNvPr id="5" name="Text 2"/>
          <p:cNvSpPr txBox="1"/>
          <p:nvPr/>
        </p:nvSpPr>
        <p:spPr>
          <a:xfrm>
            <a:off x="502920" y="960120"/>
            <a:ext cx="8138160" cy="411480"/>
          </a:xfrm>
          <a:prstGeom prst="rect">
            <a:avLst/>
          </a:prstGeom>
          <a:noFill/>
          <a:ln/>
        </p:spPr>
        <p:txBody>
          <a:bodyPr wrap="square" lIns="0" tIns="0" rIns="0" bIns="0" rtlCol="0" anchor="t"/>
          <a:lstStyle/>
          <a:p>
            <a:pPr algn="l" indent="0" marL="0">
              <a:buNone/>
            </a:pPr>
            <a:r>
              <a:rPr lang="en-US" sz="1800" b="1" dirty="0">
                <a:solidFill>
                  <a:schemeClr val="bg1"/>
                </a:solidFill>
              </a:rPr>
              <a:t>In sodium chloride, which way does the electron move?</a:t>
            </a:r>
            <a:endParaRPr lang="en-US" sz="1800" dirty="0"/>
          </a:p>
        </p:txBody>
      </p:sp>
      <p:sp>
        <p:nvSpPr>
          <p:cNvPr id="6" name="Option A"/>
          <p:cNvSpPr/>
          <p:nvPr/>
        </p:nvSpPr>
        <p:spPr>
          <a:xfrm>
            <a:off x="502920" y="1508760"/>
            <a:ext cx="8138160" cy="438912"/>
          </a:xfrm>
          <a:prstGeom prst="roundRect">
            <a:avLst>
              <a:gd name="adj" fmla="val 20833"/>
            </a:avLst>
          </a:prstGeom>
          <a:solidFill>
            <a:schemeClr val="tx2"/>
          </a:solidFill>
          <a:ln w="12700">
            <a:solidFill>
              <a:srgbClr val="2A3A55"/>
            </a:solidFill>
            <a:prstDash val="solid"/>
          </a:ln>
        </p:spPr>
      </p:sp>
      <p:sp>
        <p:nvSpPr>
          <p:cNvPr id="7" name="Letter"/>
          <p:cNvSpPr/>
          <p:nvPr/>
        </p:nvSpPr>
        <p:spPr>
          <a:xfrm>
            <a:off x="621792" y="1591056"/>
            <a:ext cx="292608" cy="274320"/>
          </a:xfrm>
          <a:prstGeom prst="roundRect">
            <a:avLst>
              <a:gd name="adj" fmla="val 20000"/>
            </a:avLst>
          </a:prstGeom>
          <a:solidFill>
            <a:srgbClr val="2A3A55"/>
          </a:solidFill>
          <a:ln/>
        </p:spPr>
        <p:txBody>
          <a:bodyPr wrap="square" lIns="0" tIns="0" rIns="0" bIns="0" rtlCol="0" anchor="ctr"/>
          <a:lstStyle/>
          <a:p>
            <a:pPr algn="ctr" indent="0" marL="0">
              <a:buNone/>
            </a:pPr>
            <a:r>
              <a:rPr lang="en-US" sz="1200" b="1" dirty="0">
                <a:solidFill>
                  <a:srgbClr val="E6EDF7"/>
                </a:solidFill>
              </a:rPr>
              <a:t>A</a:t>
            </a:r>
            <a:endParaRPr lang="en-US" sz="1200" dirty="0"/>
          </a:p>
        </p:txBody>
      </p:sp>
      <p:sp>
        <p:nvSpPr>
          <p:cNvPr id="8" name="Text 5"/>
          <p:cNvSpPr txBox="1"/>
          <p:nvPr/>
        </p:nvSpPr>
        <p:spPr>
          <a:xfrm>
            <a:off x="1024128" y="1563624"/>
            <a:ext cx="7498080" cy="347472"/>
          </a:xfrm>
          <a:prstGeom prst="rect">
            <a:avLst/>
          </a:prstGeom>
          <a:noFill/>
          <a:ln/>
        </p:spPr>
        <p:txBody>
          <a:bodyPr wrap="square" lIns="0" tIns="0" rIns="0" bIns="0" rtlCol="0" anchor="ctr"/>
          <a:lstStyle/>
          <a:p>
            <a:pPr algn="l" indent="0" marL="0">
              <a:buNone/>
            </a:pPr>
            <a:r>
              <a:rPr lang="en-US" sz="1500" dirty="0">
                <a:solidFill>
                  <a:schemeClr val="bg1"/>
                </a:solidFill>
              </a:rPr>
              <a:t>From chlorine to sodium</a:t>
            </a:r>
            <a:endParaRPr lang="en-US" sz="1500" dirty="0"/>
          </a:p>
        </p:txBody>
      </p:sp>
      <p:sp>
        <p:nvSpPr>
          <p:cNvPr id="9" name="Option B"/>
          <p:cNvSpPr/>
          <p:nvPr/>
        </p:nvSpPr>
        <p:spPr>
          <a:xfrm>
            <a:off x="502920" y="2039112"/>
            <a:ext cx="8138160" cy="438912"/>
          </a:xfrm>
          <a:prstGeom prst="roundRect">
            <a:avLst>
              <a:gd name="adj" fmla="val 20833"/>
            </a:avLst>
          </a:prstGeom>
          <a:solidFill>
            <a:schemeClr val="tx2"/>
          </a:solidFill>
          <a:ln w="12700">
            <a:solidFill>
              <a:srgbClr val="2A3A55"/>
            </a:solidFill>
            <a:prstDash val="solid"/>
          </a:ln>
        </p:spPr>
      </p:sp>
      <p:sp>
        <p:nvSpPr>
          <p:cNvPr id="10" name="Letter"/>
          <p:cNvSpPr/>
          <p:nvPr/>
        </p:nvSpPr>
        <p:spPr>
          <a:xfrm>
            <a:off x="621792" y="2121408"/>
            <a:ext cx="292608" cy="274320"/>
          </a:xfrm>
          <a:prstGeom prst="roundRect">
            <a:avLst>
              <a:gd name="adj" fmla="val 20000"/>
            </a:avLst>
          </a:prstGeom>
          <a:solidFill>
            <a:srgbClr val="2A3A55"/>
          </a:solidFill>
          <a:ln/>
        </p:spPr>
        <p:txBody>
          <a:bodyPr wrap="square" lIns="0" tIns="0" rIns="0" bIns="0" rtlCol="0" anchor="ctr"/>
          <a:lstStyle/>
          <a:p>
            <a:pPr algn="ctr" indent="0" marL="0">
              <a:buNone/>
            </a:pPr>
            <a:r>
              <a:rPr lang="en-US" sz="1200" b="1" dirty="0">
                <a:solidFill>
                  <a:srgbClr val="E6EDF7"/>
                </a:solidFill>
              </a:rPr>
              <a:t>B</a:t>
            </a:r>
            <a:endParaRPr lang="en-US" sz="1200" dirty="0"/>
          </a:p>
        </p:txBody>
      </p:sp>
      <p:sp>
        <p:nvSpPr>
          <p:cNvPr id="11" name="Text 8"/>
          <p:cNvSpPr txBox="1"/>
          <p:nvPr/>
        </p:nvSpPr>
        <p:spPr>
          <a:xfrm>
            <a:off x="1024128" y="2093976"/>
            <a:ext cx="7498080" cy="347472"/>
          </a:xfrm>
          <a:prstGeom prst="rect">
            <a:avLst/>
          </a:prstGeom>
          <a:noFill/>
          <a:ln/>
        </p:spPr>
        <p:txBody>
          <a:bodyPr wrap="square" lIns="0" tIns="0" rIns="0" bIns="0" rtlCol="0" anchor="ctr"/>
          <a:lstStyle/>
          <a:p>
            <a:pPr algn="l" indent="0" marL="0">
              <a:buNone/>
            </a:pPr>
            <a:r>
              <a:rPr lang="en-US" sz="1500" dirty="0">
                <a:solidFill>
                  <a:schemeClr val="bg1"/>
                </a:solidFill>
              </a:rPr>
              <a:t>From sodium to chlorine</a:t>
            </a:r>
            <a:endParaRPr lang="en-US" sz="1500" dirty="0"/>
          </a:p>
        </p:txBody>
      </p:sp>
      <p:sp>
        <p:nvSpPr>
          <p:cNvPr id="12" name="Option C"/>
          <p:cNvSpPr/>
          <p:nvPr/>
        </p:nvSpPr>
        <p:spPr>
          <a:xfrm>
            <a:off x="502920" y="2569464"/>
            <a:ext cx="8138160" cy="438912"/>
          </a:xfrm>
          <a:prstGeom prst="roundRect">
            <a:avLst>
              <a:gd name="adj" fmla="val 20833"/>
            </a:avLst>
          </a:prstGeom>
          <a:solidFill>
            <a:schemeClr val="tx2"/>
          </a:solidFill>
          <a:ln w="12700">
            <a:solidFill>
              <a:srgbClr val="2A3A55"/>
            </a:solidFill>
            <a:prstDash val="solid"/>
          </a:ln>
        </p:spPr>
      </p:sp>
      <p:sp>
        <p:nvSpPr>
          <p:cNvPr id="13" name="Letter"/>
          <p:cNvSpPr/>
          <p:nvPr/>
        </p:nvSpPr>
        <p:spPr>
          <a:xfrm>
            <a:off x="621792" y="2651760"/>
            <a:ext cx="292608" cy="274320"/>
          </a:xfrm>
          <a:prstGeom prst="roundRect">
            <a:avLst>
              <a:gd name="adj" fmla="val 20000"/>
            </a:avLst>
          </a:prstGeom>
          <a:solidFill>
            <a:srgbClr val="2A3A55"/>
          </a:solidFill>
          <a:ln/>
        </p:spPr>
        <p:txBody>
          <a:bodyPr wrap="square" lIns="0" tIns="0" rIns="0" bIns="0" rtlCol="0" anchor="ctr"/>
          <a:lstStyle/>
          <a:p>
            <a:pPr algn="ctr" indent="0" marL="0">
              <a:buNone/>
            </a:pPr>
            <a:r>
              <a:rPr lang="en-US" sz="1200" b="1" dirty="0">
                <a:solidFill>
                  <a:srgbClr val="E6EDF7"/>
                </a:solidFill>
              </a:rPr>
              <a:t>C</a:t>
            </a:r>
            <a:endParaRPr lang="en-US" sz="1200" dirty="0"/>
          </a:p>
        </p:txBody>
      </p:sp>
      <p:sp>
        <p:nvSpPr>
          <p:cNvPr id="14" name="Text 11"/>
          <p:cNvSpPr txBox="1"/>
          <p:nvPr/>
        </p:nvSpPr>
        <p:spPr>
          <a:xfrm>
            <a:off x="1024128" y="2624328"/>
            <a:ext cx="7498080" cy="347472"/>
          </a:xfrm>
          <a:prstGeom prst="rect">
            <a:avLst/>
          </a:prstGeom>
          <a:noFill/>
          <a:ln/>
        </p:spPr>
        <p:txBody>
          <a:bodyPr wrap="square" lIns="0" tIns="0" rIns="0" bIns="0" rtlCol="0" anchor="ctr"/>
          <a:lstStyle/>
          <a:p>
            <a:pPr algn="l" indent="0" marL="0">
              <a:buNone/>
            </a:pPr>
            <a:r>
              <a:rPr lang="en-US" sz="1500" dirty="0">
                <a:solidFill>
                  <a:schemeClr val="bg1"/>
                </a:solidFill>
              </a:rPr>
              <a:t>Both atoms share it</a:t>
            </a:r>
            <a:endParaRPr lang="en-US" sz="1500" dirty="0"/>
          </a:p>
        </p:txBody>
      </p:sp>
      <p:sp>
        <p:nvSpPr>
          <p:cNvPr id="15" name="Option D"/>
          <p:cNvSpPr/>
          <p:nvPr/>
        </p:nvSpPr>
        <p:spPr>
          <a:xfrm>
            <a:off x="502920" y="3099816"/>
            <a:ext cx="8138160" cy="438912"/>
          </a:xfrm>
          <a:prstGeom prst="roundRect">
            <a:avLst>
              <a:gd name="adj" fmla="val 20833"/>
            </a:avLst>
          </a:prstGeom>
          <a:solidFill>
            <a:schemeClr val="tx2"/>
          </a:solidFill>
          <a:ln w="12700">
            <a:solidFill>
              <a:srgbClr val="2A3A55"/>
            </a:solidFill>
            <a:prstDash val="solid"/>
          </a:ln>
        </p:spPr>
      </p:sp>
      <p:sp>
        <p:nvSpPr>
          <p:cNvPr id="16" name="Letter"/>
          <p:cNvSpPr/>
          <p:nvPr/>
        </p:nvSpPr>
        <p:spPr>
          <a:xfrm>
            <a:off x="621792" y="3182112"/>
            <a:ext cx="292608" cy="274320"/>
          </a:xfrm>
          <a:prstGeom prst="roundRect">
            <a:avLst>
              <a:gd name="adj" fmla="val 20000"/>
            </a:avLst>
          </a:prstGeom>
          <a:solidFill>
            <a:srgbClr val="2A3A55"/>
          </a:solidFill>
          <a:ln/>
        </p:spPr>
        <p:txBody>
          <a:bodyPr wrap="square" lIns="0" tIns="0" rIns="0" bIns="0" rtlCol="0" anchor="ctr"/>
          <a:lstStyle/>
          <a:p>
            <a:pPr algn="ctr" indent="0" marL="0">
              <a:buNone/>
            </a:pPr>
            <a:r>
              <a:rPr lang="en-US" sz="1200" b="1" dirty="0">
                <a:solidFill>
                  <a:srgbClr val="E6EDF7"/>
                </a:solidFill>
              </a:rPr>
              <a:t>D</a:t>
            </a:r>
            <a:endParaRPr lang="en-US" sz="1200" dirty="0"/>
          </a:p>
        </p:txBody>
      </p:sp>
      <p:sp>
        <p:nvSpPr>
          <p:cNvPr id="17" name="Text 14"/>
          <p:cNvSpPr txBox="1"/>
          <p:nvPr/>
        </p:nvSpPr>
        <p:spPr>
          <a:xfrm>
            <a:off x="1024128" y="3154680"/>
            <a:ext cx="7498080" cy="347472"/>
          </a:xfrm>
          <a:prstGeom prst="rect">
            <a:avLst/>
          </a:prstGeom>
          <a:noFill/>
          <a:ln/>
        </p:spPr>
        <p:txBody>
          <a:bodyPr wrap="square" lIns="0" tIns="0" rIns="0" bIns="0" rtlCol="0" anchor="ctr"/>
          <a:lstStyle/>
          <a:p>
            <a:pPr algn="l" indent="0" marL="0">
              <a:buNone/>
            </a:pPr>
            <a:r>
              <a:rPr lang="en-US" sz="1500" dirty="0">
                <a:solidFill>
                  <a:schemeClr val="bg1"/>
                </a:solidFill>
              </a:rPr>
              <a:t>It goes into the nucleus</a:t>
            </a:r>
            <a:endParaRPr lang="en-US" sz="15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FB1C7"/>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1234440" y="292608"/>
            <a:ext cx="7452360" cy="548640"/>
          </a:xfrm>
          <a:prstGeom prst="rect">
            <a:avLst/>
          </a:prstGeom>
          <a:noFill/>
          <a:ln/>
        </p:spPr>
        <p:txBody>
          <a:bodyPr wrap="square" lIns="0" tIns="0" rIns="0" bIns="0" rtlCol="0" anchor="ctr"/>
          <a:lstStyle/>
          <a:p>
            <a:pPr algn="l" indent="0" marL="0">
              <a:buNone/>
            </a:pPr>
            <a:r>
              <a:rPr lang="en-US" sz="2800" b="1" dirty="0">
                <a:solidFill>
                  <a:schemeClr val="bg1"/>
                </a:solidFill>
                <a:latin typeface="Arial" pitchFamily="34" charset="0"/>
                <a:ea typeface="Arial" pitchFamily="34" charset="-122"/>
                <a:cs typeface="Arial" pitchFamily="34" charset="-120"/>
              </a:rPr>
              <a:t>Quick check</a:t>
            </a:r>
            <a:endParaRPr lang="en-US" sz="2800" dirty="0"/>
          </a:p>
        </p:txBody>
      </p:sp>
      <p:pic>
        <p:nvPicPr>
          <p:cNvPr id="3" name="Icon 2" descr="Section 2 icon">    </p:cNvPr>
          <p:cNvPicPr>
            <a:picLocks noChangeAspect="1"/>
          </p:cNvPicPr>
          <p:nvPr/>
        </p:nvPicPr>
        <p:blipFill>
          <a:blip r:embed="rId1"/>
          <a:stretch>
            <a:fillRect/>
          </a:stretch>
        </p:blipFill>
        <p:spPr>
          <a:xfrm>
            <a:off x="502920" y="201168"/>
            <a:ext cx="566928" cy="627239"/>
          </a:xfrm>
          <a:prstGeom prst="rect">
            <a:avLst/>
          </a:prstGeom>
        </p:spPr>
      </p:pic>
      <p:sp>
        <p:nvSpPr>
          <p:cNvPr id="4" name="Tag Quick check"/>
          <p:cNvSpPr/>
          <p:nvPr/>
        </p:nvSpPr>
        <p:spPr>
          <a:xfrm>
            <a:off x="1234440" y="45720"/>
            <a:ext cx="1051560" cy="219456"/>
          </a:xfrm>
          <a:prstGeom prst="roundRect">
            <a:avLst>
              <a:gd name="adj" fmla="val 41667"/>
            </a:avLst>
          </a:prstGeom>
          <a:solidFill>
            <a:srgbClr val="F6B93B"/>
          </a:solidFill>
          <a:ln/>
        </p:spPr>
        <p:txBody>
          <a:bodyPr wrap="square" lIns="0" tIns="0" rIns="0" bIns="0" rtlCol="0" anchor="ctr"/>
          <a:lstStyle/>
          <a:p>
            <a:pPr algn="ctr" indent="0" marL="0">
              <a:buNone/>
            </a:pPr>
            <a:r>
              <a:rPr lang="en-US" sz="1000" b="1" dirty="0">
                <a:solidFill>
                  <a:srgbClr val="241703"/>
                </a:solidFill>
              </a:rPr>
              <a:t>Quick check</a:t>
            </a:r>
            <a:endParaRPr lang="en-US" sz="1000" dirty="0"/>
          </a:p>
        </p:txBody>
      </p:sp>
      <p:sp>
        <p:nvSpPr>
          <p:cNvPr id="5" name="Tag Answer"/>
          <p:cNvSpPr/>
          <p:nvPr/>
        </p:nvSpPr>
        <p:spPr>
          <a:xfrm>
            <a:off x="2377440" y="45720"/>
            <a:ext cx="1051560" cy="219456"/>
          </a:xfrm>
          <a:prstGeom prst="roundRect">
            <a:avLst>
              <a:gd name="adj" fmla="val 41667"/>
            </a:avLst>
          </a:prstGeom>
          <a:solidFill>
            <a:srgbClr val="4ADE80"/>
          </a:solidFill>
          <a:ln/>
        </p:spPr>
        <p:txBody>
          <a:bodyPr wrap="square" lIns="0" tIns="0" rIns="0" bIns="0" rtlCol="0" anchor="ctr"/>
          <a:lstStyle/>
          <a:p>
            <a:pPr algn="ctr" indent="0" marL="0">
              <a:buNone/>
            </a:pPr>
            <a:r>
              <a:rPr lang="en-US" sz="1000" b="1" dirty="0">
                <a:solidFill>
                  <a:srgbClr val="06240F"/>
                </a:solidFill>
              </a:rPr>
              <a:t>Answer</a:t>
            </a:r>
            <a:endParaRPr lang="en-US" sz="1000" dirty="0"/>
          </a:p>
        </p:txBody>
      </p:sp>
      <p:sp>
        <p:nvSpPr>
          <p:cNvPr id="6" name="Text 3"/>
          <p:cNvSpPr txBox="1"/>
          <p:nvPr/>
        </p:nvSpPr>
        <p:spPr>
          <a:xfrm>
            <a:off x="502920" y="960120"/>
            <a:ext cx="8138160" cy="411480"/>
          </a:xfrm>
          <a:prstGeom prst="rect">
            <a:avLst/>
          </a:prstGeom>
          <a:noFill/>
          <a:ln/>
        </p:spPr>
        <p:txBody>
          <a:bodyPr wrap="square" lIns="0" tIns="0" rIns="0" bIns="0" rtlCol="0" anchor="t"/>
          <a:lstStyle/>
          <a:p>
            <a:pPr algn="l" indent="0" marL="0">
              <a:buNone/>
            </a:pPr>
            <a:r>
              <a:rPr lang="en-US" sz="1800" b="1" dirty="0">
                <a:solidFill>
                  <a:schemeClr val="bg1"/>
                </a:solidFill>
              </a:rPr>
              <a:t>In sodium chloride, which way does the electron move?</a:t>
            </a:r>
            <a:endParaRPr lang="en-US" sz="1800" dirty="0"/>
          </a:p>
        </p:txBody>
      </p:sp>
      <p:sp>
        <p:nvSpPr>
          <p:cNvPr id="7" name="Option A"/>
          <p:cNvSpPr/>
          <p:nvPr/>
        </p:nvSpPr>
        <p:spPr>
          <a:xfrm>
            <a:off x="502920" y="1508760"/>
            <a:ext cx="8138160" cy="438912"/>
          </a:xfrm>
          <a:prstGeom prst="roundRect">
            <a:avLst>
              <a:gd name="adj" fmla="val 20833"/>
            </a:avLst>
          </a:prstGeom>
          <a:solidFill>
            <a:schemeClr val="tx2"/>
          </a:solidFill>
          <a:ln w="12700">
            <a:solidFill>
              <a:srgbClr val="2A3A55"/>
            </a:solidFill>
            <a:prstDash val="solid"/>
          </a:ln>
        </p:spPr>
      </p:sp>
      <p:sp>
        <p:nvSpPr>
          <p:cNvPr id="8" name="Letter"/>
          <p:cNvSpPr/>
          <p:nvPr/>
        </p:nvSpPr>
        <p:spPr>
          <a:xfrm>
            <a:off x="621792" y="1591056"/>
            <a:ext cx="292608" cy="274320"/>
          </a:xfrm>
          <a:prstGeom prst="roundRect">
            <a:avLst>
              <a:gd name="adj" fmla="val 20000"/>
            </a:avLst>
          </a:prstGeom>
          <a:solidFill>
            <a:srgbClr val="2A3A55"/>
          </a:solidFill>
          <a:ln/>
        </p:spPr>
        <p:txBody>
          <a:bodyPr wrap="square" lIns="0" tIns="0" rIns="0" bIns="0" rtlCol="0" anchor="ctr"/>
          <a:lstStyle/>
          <a:p>
            <a:pPr algn="ctr" indent="0" marL="0">
              <a:buNone/>
            </a:pPr>
            <a:r>
              <a:rPr lang="en-US" sz="1200" b="1" dirty="0">
                <a:solidFill>
                  <a:srgbClr val="E6EDF7"/>
                </a:solidFill>
              </a:rPr>
              <a:t>A</a:t>
            </a:r>
            <a:endParaRPr lang="en-US" sz="1200" dirty="0"/>
          </a:p>
        </p:txBody>
      </p:sp>
      <p:sp>
        <p:nvSpPr>
          <p:cNvPr id="9" name="Text 6"/>
          <p:cNvSpPr txBox="1"/>
          <p:nvPr/>
        </p:nvSpPr>
        <p:spPr>
          <a:xfrm>
            <a:off x="1024128" y="1563624"/>
            <a:ext cx="7498080" cy="347472"/>
          </a:xfrm>
          <a:prstGeom prst="rect">
            <a:avLst/>
          </a:prstGeom>
          <a:noFill/>
          <a:ln/>
        </p:spPr>
        <p:txBody>
          <a:bodyPr wrap="square" lIns="0" tIns="0" rIns="0" bIns="0" rtlCol="0" anchor="ctr"/>
          <a:lstStyle/>
          <a:p>
            <a:pPr algn="l" indent="0" marL="0">
              <a:buNone/>
            </a:pPr>
            <a:r>
              <a:rPr lang="en-US" sz="1500" dirty="0">
                <a:solidFill>
                  <a:srgbClr val="9FB1C7"/>
                </a:solidFill>
              </a:rPr>
              <a:t>From chlorine to sodium</a:t>
            </a:r>
            <a:endParaRPr lang="en-US" sz="1500" dirty="0"/>
          </a:p>
        </p:txBody>
      </p:sp>
      <p:sp>
        <p:nvSpPr>
          <p:cNvPr id="10" name="Option B"/>
          <p:cNvSpPr/>
          <p:nvPr/>
        </p:nvSpPr>
        <p:spPr>
          <a:xfrm>
            <a:off x="502920" y="2039112"/>
            <a:ext cx="8138160" cy="438912"/>
          </a:xfrm>
          <a:prstGeom prst="roundRect">
            <a:avLst>
              <a:gd name="adj" fmla="val 20833"/>
            </a:avLst>
          </a:prstGeom>
          <a:solidFill>
            <a:srgbClr val="153D2A"/>
          </a:solidFill>
          <a:ln w="25400">
            <a:solidFill>
              <a:srgbClr val="4ADE80"/>
            </a:solidFill>
            <a:prstDash val="solid"/>
          </a:ln>
        </p:spPr>
      </p:sp>
      <p:sp>
        <p:nvSpPr>
          <p:cNvPr id="11" name="Letter"/>
          <p:cNvSpPr/>
          <p:nvPr/>
        </p:nvSpPr>
        <p:spPr>
          <a:xfrm>
            <a:off x="621792" y="2121408"/>
            <a:ext cx="292608" cy="274320"/>
          </a:xfrm>
          <a:prstGeom prst="roundRect">
            <a:avLst>
              <a:gd name="adj" fmla="val 20000"/>
            </a:avLst>
          </a:prstGeom>
          <a:solidFill>
            <a:srgbClr val="4ADE80"/>
          </a:solidFill>
          <a:ln/>
        </p:spPr>
        <p:txBody>
          <a:bodyPr wrap="square" lIns="0" tIns="0" rIns="0" bIns="0" rtlCol="0" anchor="ctr"/>
          <a:lstStyle/>
          <a:p>
            <a:pPr algn="ctr" indent="0" marL="0">
              <a:buNone/>
            </a:pPr>
            <a:r>
              <a:rPr lang="en-US" sz="1200" b="1" dirty="0">
                <a:solidFill>
                  <a:srgbClr val="06240F"/>
                </a:solidFill>
              </a:rPr>
              <a:t>B</a:t>
            </a:r>
            <a:endParaRPr lang="en-US" sz="1200" dirty="0"/>
          </a:p>
        </p:txBody>
      </p:sp>
      <p:sp>
        <p:nvSpPr>
          <p:cNvPr id="12" name="Text 9"/>
          <p:cNvSpPr txBox="1"/>
          <p:nvPr/>
        </p:nvSpPr>
        <p:spPr>
          <a:xfrm>
            <a:off x="1024128" y="2093976"/>
            <a:ext cx="7498080" cy="347472"/>
          </a:xfrm>
          <a:prstGeom prst="rect">
            <a:avLst/>
          </a:prstGeom>
          <a:noFill/>
          <a:ln/>
        </p:spPr>
        <p:txBody>
          <a:bodyPr wrap="square" lIns="0" tIns="0" rIns="0" bIns="0" rtlCol="0" anchor="ctr"/>
          <a:lstStyle/>
          <a:p>
            <a:pPr algn="l" indent="0" marL="0">
              <a:buNone/>
            </a:pPr>
            <a:r>
              <a:rPr lang="en-US" sz="1500" dirty="0">
                <a:solidFill>
                  <a:schemeClr val="bg1"/>
                </a:solidFill>
              </a:rPr>
              <a:t>From sodium to chlorine</a:t>
            </a:r>
            <a:endParaRPr lang="en-US" sz="1500" dirty="0"/>
          </a:p>
        </p:txBody>
      </p:sp>
      <p:sp>
        <p:nvSpPr>
          <p:cNvPr id="13" name="Option C"/>
          <p:cNvSpPr/>
          <p:nvPr/>
        </p:nvSpPr>
        <p:spPr>
          <a:xfrm>
            <a:off x="502920" y="2569464"/>
            <a:ext cx="8138160" cy="438912"/>
          </a:xfrm>
          <a:prstGeom prst="roundRect">
            <a:avLst>
              <a:gd name="adj" fmla="val 20833"/>
            </a:avLst>
          </a:prstGeom>
          <a:solidFill>
            <a:schemeClr val="tx2"/>
          </a:solidFill>
          <a:ln w="12700">
            <a:solidFill>
              <a:srgbClr val="2A3A55"/>
            </a:solidFill>
            <a:prstDash val="solid"/>
          </a:ln>
        </p:spPr>
      </p:sp>
      <p:sp>
        <p:nvSpPr>
          <p:cNvPr id="14" name="Letter"/>
          <p:cNvSpPr/>
          <p:nvPr/>
        </p:nvSpPr>
        <p:spPr>
          <a:xfrm>
            <a:off x="621792" y="2651760"/>
            <a:ext cx="292608" cy="274320"/>
          </a:xfrm>
          <a:prstGeom prst="roundRect">
            <a:avLst>
              <a:gd name="adj" fmla="val 20000"/>
            </a:avLst>
          </a:prstGeom>
          <a:solidFill>
            <a:srgbClr val="2A3A55"/>
          </a:solidFill>
          <a:ln/>
        </p:spPr>
        <p:txBody>
          <a:bodyPr wrap="square" lIns="0" tIns="0" rIns="0" bIns="0" rtlCol="0" anchor="ctr"/>
          <a:lstStyle/>
          <a:p>
            <a:pPr algn="ctr" indent="0" marL="0">
              <a:buNone/>
            </a:pPr>
            <a:r>
              <a:rPr lang="en-US" sz="1200" b="1" dirty="0">
                <a:solidFill>
                  <a:srgbClr val="E6EDF7"/>
                </a:solidFill>
              </a:rPr>
              <a:t>C</a:t>
            </a:r>
            <a:endParaRPr lang="en-US" sz="1200" dirty="0"/>
          </a:p>
        </p:txBody>
      </p:sp>
      <p:sp>
        <p:nvSpPr>
          <p:cNvPr id="15" name="Text 12"/>
          <p:cNvSpPr txBox="1"/>
          <p:nvPr/>
        </p:nvSpPr>
        <p:spPr>
          <a:xfrm>
            <a:off x="1024128" y="2624328"/>
            <a:ext cx="7498080" cy="347472"/>
          </a:xfrm>
          <a:prstGeom prst="rect">
            <a:avLst/>
          </a:prstGeom>
          <a:noFill/>
          <a:ln/>
        </p:spPr>
        <p:txBody>
          <a:bodyPr wrap="square" lIns="0" tIns="0" rIns="0" bIns="0" rtlCol="0" anchor="ctr"/>
          <a:lstStyle/>
          <a:p>
            <a:pPr algn="l" indent="0" marL="0">
              <a:buNone/>
            </a:pPr>
            <a:r>
              <a:rPr lang="en-US" sz="1500" dirty="0">
                <a:solidFill>
                  <a:srgbClr val="9FB1C7"/>
                </a:solidFill>
              </a:rPr>
              <a:t>Both atoms share it</a:t>
            </a:r>
            <a:endParaRPr lang="en-US" sz="1500" dirty="0"/>
          </a:p>
        </p:txBody>
      </p:sp>
      <p:sp>
        <p:nvSpPr>
          <p:cNvPr id="16" name="Option D"/>
          <p:cNvSpPr/>
          <p:nvPr/>
        </p:nvSpPr>
        <p:spPr>
          <a:xfrm>
            <a:off x="502920" y="3099816"/>
            <a:ext cx="8138160" cy="438912"/>
          </a:xfrm>
          <a:prstGeom prst="roundRect">
            <a:avLst>
              <a:gd name="adj" fmla="val 20833"/>
            </a:avLst>
          </a:prstGeom>
          <a:solidFill>
            <a:schemeClr val="tx2"/>
          </a:solidFill>
          <a:ln w="12700">
            <a:solidFill>
              <a:srgbClr val="2A3A55"/>
            </a:solidFill>
            <a:prstDash val="solid"/>
          </a:ln>
        </p:spPr>
      </p:sp>
      <p:sp>
        <p:nvSpPr>
          <p:cNvPr id="17" name="Letter"/>
          <p:cNvSpPr/>
          <p:nvPr/>
        </p:nvSpPr>
        <p:spPr>
          <a:xfrm>
            <a:off x="621792" y="3182112"/>
            <a:ext cx="292608" cy="274320"/>
          </a:xfrm>
          <a:prstGeom prst="roundRect">
            <a:avLst>
              <a:gd name="adj" fmla="val 20000"/>
            </a:avLst>
          </a:prstGeom>
          <a:solidFill>
            <a:srgbClr val="2A3A55"/>
          </a:solidFill>
          <a:ln/>
        </p:spPr>
        <p:txBody>
          <a:bodyPr wrap="square" lIns="0" tIns="0" rIns="0" bIns="0" rtlCol="0" anchor="ctr"/>
          <a:lstStyle/>
          <a:p>
            <a:pPr algn="ctr" indent="0" marL="0">
              <a:buNone/>
            </a:pPr>
            <a:r>
              <a:rPr lang="en-US" sz="1200" b="1" dirty="0">
                <a:solidFill>
                  <a:srgbClr val="E6EDF7"/>
                </a:solidFill>
              </a:rPr>
              <a:t>D</a:t>
            </a:r>
            <a:endParaRPr lang="en-US" sz="1200" dirty="0"/>
          </a:p>
        </p:txBody>
      </p:sp>
      <p:sp>
        <p:nvSpPr>
          <p:cNvPr id="18" name="Text 15"/>
          <p:cNvSpPr txBox="1"/>
          <p:nvPr/>
        </p:nvSpPr>
        <p:spPr>
          <a:xfrm>
            <a:off x="1024128" y="3154680"/>
            <a:ext cx="7498080" cy="347472"/>
          </a:xfrm>
          <a:prstGeom prst="rect">
            <a:avLst/>
          </a:prstGeom>
          <a:noFill/>
          <a:ln/>
        </p:spPr>
        <p:txBody>
          <a:bodyPr wrap="square" lIns="0" tIns="0" rIns="0" bIns="0" rtlCol="0" anchor="ctr"/>
          <a:lstStyle/>
          <a:p>
            <a:pPr algn="l" indent="0" marL="0">
              <a:buNone/>
            </a:pPr>
            <a:r>
              <a:rPr lang="en-US" sz="1500" dirty="0">
                <a:solidFill>
                  <a:srgbClr val="9FB1C7"/>
                </a:solidFill>
              </a:rPr>
              <a:t>It goes into the nucleus</a:t>
            </a:r>
            <a:endParaRPr lang="en-US" sz="1500" dirty="0"/>
          </a:p>
        </p:txBody>
      </p:sp>
      <p:sp>
        <p:nvSpPr>
          <p:cNvPr id="19" name="Why"/>
          <p:cNvSpPr/>
          <p:nvPr/>
        </p:nvSpPr>
        <p:spPr>
          <a:xfrm>
            <a:off x="502920" y="3675888"/>
            <a:ext cx="8138160" cy="566928"/>
          </a:xfrm>
          <a:prstGeom prst="roundRect">
            <a:avLst>
              <a:gd name="adj" fmla="val 16129"/>
            </a:avLst>
          </a:prstGeom>
          <a:solidFill>
            <a:srgbClr val="153D2A"/>
          </a:solidFill>
          <a:ln w="12700">
            <a:solidFill>
              <a:srgbClr val="2F6B47"/>
            </a:solidFill>
            <a:prstDash val="solid"/>
          </a:ln>
        </p:spPr>
      </p:sp>
      <p:sp>
        <p:nvSpPr>
          <p:cNvPr id="20" name="Text 17"/>
          <p:cNvSpPr txBox="1"/>
          <p:nvPr/>
        </p:nvSpPr>
        <p:spPr>
          <a:xfrm>
            <a:off x="685800" y="3730752"/>
            <a:ext cx="7772400" cy="475488"/>
          </a:xfrm>
          <a:prstGeom prst="rect">
            <a:avLst/>
          </a:prstGeom>
          <a:noFill/>
          <a:ln/>
        </p:spPr>
        <p:txBody>
          <a:bodyPr wrap="square" lIns="0" tIns="0" rIns="0" bIns="0" rtlCol="0" anchor="ctr"/>
          <a:lstStyle/>
          <a:p>
            <a:pPr algn="l" indent="0" marL="0">
              <a:buNone/>
            </a:pPr>
            <a:r>
              <a:rPr lang="en-US" sz="1400" b="1" dirty="0">
                <a:solidFill>
                  <a:schemeClr val="accent4"/>
                </a:solidFill>
              </a:rPr>
              <a:t>Why: </a:t>
            </a:r>
            <a:pPr algn="l" indent="0" marL="0">
              <a:buNone/>
            </a:pPr>
            <a:r>
              <a:rPr lang="en-US" sz="1400" dirty="0">
                <a:solidFill>
                  <a:schemeClr val="bg1"/>
                </a:solidFill>
              </a:rPr>
              <a:t>Sodium (a metal) gives its one valence electron to chlorine (a nonmetal).</a:t>
            </a:r>
            <a:endParaRPr lang="en-US" sz="14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FB1C7"/>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body" hasCustomPrompt="1"/>
          </p:nvPr>
        </p:nvSpPr>
        <p:spPr>
          <a:xfrm>
            <a:off x="1645920" y="274320"/>
            <a:ext cx="6949440" cy="274320"/>
          </a:xfrm>
          <a:prstGeom prst="rect">
            <a:avLst/>
          </a:prstGeom>
          <a:noFill/>
          <a:ln/>
        </p:spPr>
        <p:txBody>
          <a:bodyPr wrap="square" lIns="0" tIns="0" rIns="0" bIns="0" rtlCol="0"/>
          <a:lstStyle/>
          <a:p>
            <a:pPr indent="0" marL="0">
              <a:buNone/>
            </a:pPr>
            <a:r>
              <a:rPr lang="en-US" sz="1300" dirty="0">
                <a:solidFill>
                  <a:schemeClr val="bg2"/>
                </a:solidFill>
              </a:rPr>
              <a:t>Section 3 of 9 · about 4 min</a:t>
            </a:r>
            <a:endParaRPr lang="en-US" sz="1300" dirty="0"/>
          </a:p>
        </p:txBody>
      </p:sp>
      <p:sp>
        <p:nvSpPr>
          <p:cNvPr id="3" name="Text 0"/>
          <p:cNvSpPr/>
          <p:nvPr>
            <p:ph idx="100" type="title" hasCustomPrompt="1"/>
          </p:nvPr>
        </p:nvSpPr>
        <p:spPr>
          <a:xfrm>
            <a:off x="1645920" y="548640"/>
            <a:ext cx="7040880" cy="685800"/>
          </a:xfrm>
          <a:prstGeom prst="rect">
            <a:avLst/>
          </a:prstGeom>
          <a:noFill/>
          <a:ln/>
        </p:spPr>
        <p:txBody>
          <a:bodyPr wrap="square" lIns="0" tIns="0" rIns="0" bIns="0" rtlCol="0" anchor="ctr"/>
          <a:lstStyle/>
          <a:p>
            <a:pPr algn="l" indent="0" marL="0">
              <a:buNone/>
            </a:pPr>
            <a:r>
              <a:rPr lang="en-US" sz="3000" b="1" dirty="0">
                <a:solidFill>
                  <a:schemeClr val="bg1"/>
                </a:solidFill>
                <a:latin typeface="Arial" pitchFamily="34" charset="0"/>
                <a:ea typeface="Arial" pitchFamily="34" charset="-122"/>
                <a:cs typeface="Arial" pitchFamily="34" charset="-120"/>
              </a:rPr>
              <a:t>Electron-dot diagrams</a:t>
            </a:r>
            <a:endParaRPr lang="en-US" sz="3000" dirty="0"/>
          </a:p>
        </p:txBody>
      </p:sp>
      <p:pic>
        <p:nvPicPr>
          <p:cNvPr id="4" name="Icon 3" descr="Section 3 icon">    </p:cNvPr>
          <p:cNvPicPr>
            <a:picLocks noChangeAspect="1"/>
          </p:cNvPicPr>
          <p:nvPr/>
        </p:nvPicPr>
        <p:blipFill>
          <a:blip r:embed="rId1"/>
          <a:stretch>
            <a:fillRect/>
          </a:stretch>
        </p:blipFill>
        <p:spPr>
          <a:xfrm>
            <a:off x="502920" y="274320"/>
            <a:ext cx="914400" cy="1011677"/>
          </a:xfrm>
          <a:prstGeom prst="rect">
            <a:avLst/>
          </a:prstGeom>
        </p:spPr>
      </p:pic>
      <p:sp>
        <p:nvSpPr>
          <p:cNvPr id="5" name="In this section"/>
          <p:cNvSpPr/>
          <p:nvPr/>
        </p:nvSpPr>
        <p:spPr>
          <a:xfrm>
            <a:off x="502920" y="1600200"/>
            <a:ext cx="3931920" cy="2926080"/>
          </a:xfrm>
          <a:prstGeom prst="roundRect">
            <a:avLst>
              <a:gd name="adj" fmla="val 3125"/>
            </a:avLst>
          </a:prstGeom>
          <a:solidFill>
            <a:schemeClr val="tx2"/>
          </a:solidFill>
          <a:ln w="12700">
            <a:solidFill>
              <a:srgbClr val="2A3A55"/>
            </a:solidFill>
            <a:prstDash val="solid"/>
          </a:ln>
        </p:spPr>
      </p:sp>
      <p:sp>
        <p:nvSpPr>
          <p:cNvPr id="6" name="Text 3"/>
          <p:cNvSpPr txBox="1"/>
          <p:nvPr/>
        </p:nvSpPr>
        <p:spPr>
          <a:xfrm>
            <a:off x="731520" y="1783080"/>
            <a:ext cx="3474720" cy="320040"/>
          </a:xfrm>
          <a:prstGeom prst="rect">
            <a:avLst/>
          </a:prstGeom>
          <a:noFill/>
          <a:ln/>
        </p:spPr>
        <p:txBody>
          <a:bodyPr wrap="square" lIns="0" tIns="0" rIns="0" bIns="0" rtlCol="0" anchor="t"/>
          <a:lstStyle/>
          <a:p>
            <a:pPr algn="l" indent="0" marL="0">
              <a:buNone/>
            </a:pPr>
            <a:r>
              <a:rPr lang="en-US" sz="1600" b="1" dirty="0">
                <a:solidFill>
                  <a:schemeClr val="accent1"/>
                </a:solidFill>
              </a:rPr>
              <a:t>In this section</a:t>
            </a:r>
            <a:endParaRPr lang="en-US" sz="1600" dirty="0"/>
          </a:p>
        </p:txBody>
      </p:sp>
      <p:sp>
        <p:nvSpPr>
          <p:cNvPr id="7" name="Tag Read"/>
          <p:cNvSpPr/>
          <p:nvPr/>
        </p:nvSpPr>
        <p:spPr>
          <a:xfrm>
            <a:off x="731520" y="2240280"/>
            <a:ext cx="1051560" cy="219456"/>
          </a:xfrm>
          <a:prstGeom prst="roundRect">
            <a:avLst>
              <a:gd name="adj" fmla="val 41667"/>
            </a:avLst>
          </a:prstGeom>
          <a:solidFill>
            <a:srgbClr val="25305A"/>
          </a:solidFill>
          <a:ln/>
        </p:spPr>
        <p:txBody>
          <a:bodyPr wrap="square" lIns="0" tIns="0" rIns="0" bIns="0" rtlCol="0" anchor="ctr"/>
          <a:lstStyle/>
          <a:p>
            <a:pPr algn="ctr" indent="0" marL="0">
              <a:buNone/>
            </a:pPr>
            <a:r>
              <a:rPr lang="en-US" sz="1000" b="1" dirty="0">
                <a:solidFill>
                  <a:srgbClr val="C3CFFC"/>
                </a:solidFill>
              </a:rPr>
              <a:t>Read</a:t>
            </a:r>
            <a:endParaRPr lang="en-US" sz="1000" dirty="0"/>
          </a:p>
        </p:txBody>
      </p:sp>
      <p:sp>
        <p:nvSpPr>
          <p:cNvPr id="8" name="Text 5"/>
          <p:cNvSpPr txBox="1"/>
          <p:nvPr/>
        </p:nvSpPr>
        <p:spPr>
          <a:xfrm>
            <a:off x="1920240" y="2212848"/>
            <a:ext cx="2377440" cy="292608"/>
          </a:xfrm>
          <a:prstGeom prst="rect">
            <a:avLst/>
          </a:prstGeom>
          <a:noFill/>
          <a:ln/>
        </p:spPr>
        <p:txBody>
          <a:bodyPr wrap="square" lIns="0" tIns="0" rIns="0" bIns="0" rtlCol="0" anchor="t"/>
          <a:lstStyle/>
          <a:p>
            <a:pPr algn="l" indent="0" marL="0">
              <a:buNone/>
            </a:pPr>
            <a:r>
              <a:rPr lang="en-US" sz="1400" dirty="0">
                <a:solidFill>
                  <a:schemeClr val="bg1"/>
                </a:solidFill>
              </a:rPr>
              <a:t>A faster way to draw it</a:t>
            </a:r>
            <a:endParaRPr lang="en-US" sz="1400" dirty="0"/>
          </a:p>
        </p:txBody>
      </p:sp>
      <p:sp>
        <p:nvSpPr>
          <p:cNvPr id="9" name="Tag Try it"/>
          <p:cNvSpPr/>
          <p:nvPr/>
        </p:nvSpPr>
        <p:spPr>
          <a:xfrm>
            <a:off x="731520" y="2743200"/>
            <a:ext cx="1051560" cy="219456"/>
          </a:xfrm>
          <a:prstGeom prst="roundRect">
            <a:avLst>
              <a:gd name="adj" fmla="val 41667"/>
            </a:avLst>
          </a:prstGeom>
          <a:solidFill>
            <a:srgbClr val="5FE1FF"/>
          </a:solidFill>
          <a:ln/>
        </p:spPr>
        <p:txBody>
          <a:bodyPr wrap="square" lIns="0" tIns="0" rIns="0" bIns="0" rtlCol="0" anchor="ctr"/>
          <a:lstStyle/>
          <a:p>
            <a:pPr algn="ctr" indent="0" marL="0">
              <a:buNone/>
            </a:pPr>
            <a:r>
              <a:rPr lang="en-US" sz="1000" b="1" dirty="0">
                <a:solidFill>
                  <a:srgbClr val="0B2630"/>
                </a:solidFill>
              </a:rPr>
              <a:t>Try it</a:t>
            </a:r>
            <a:endParaRPr lang="en-US" sz="1000" dirty="0"/>
          </a:p>
        </p:txBody>
      </p:sp>
      <p:sp>
        <p:nvSpPr>
          <p:cNvPr id="10" name="Text 7"/>
          <p:cNvSpPr txBox="1"/>
          <p:nvPr/>
        </p:nvSpPr>
        <p:spPr>
          <a:xfrm>
            <a:off x="1920240" y="2715768"/>
            <a:ext cx="2377440" cy="292608"/>
          </a:xfrm>
          <a:prstGeom prst="rect">
            <a:avLst/>
          </a:prstGeom>
          <a:noFill/>
          <a:ln/>
        </p:spPr>
        <p:txBody>
          <a:bodyPr wrap="square" lIns="0" tIns="0" rIns="0" bIns="0" rtlCol="0" anchor="t"/>
          <a:lstStyle/>
          <a:p>
            <a:pPr algn="l" indent="0" marL="0">
              <a:buNone/>
            </a:pPr>
            <a:r>
              <a:rPr lang="en-US" sz="1400" dirty="0">
                <a:solidFill>
                  <a:schemeClr val="bg1"/>
                </a:solidFill>
              </a:rPr>
              <a:t>Move the dots</a:t>
            </a:r>
            <a:endParaRPr lang="en-US" sz="1400" dirty="0"/>
          </a:p>
        </p:txBody>
      </p:sp>
      <p:sp>
        <p:nvSpPr>
          <p:cNvPr id="11" name="Tag Quick check"/>
          <p:cNvSpPr/>
          <p:nvPr/>
        </p:nvSpPr>
        <p:spPr>
          <a:xfrm>
            <a:off x="731520" y="3246120"/>
            <a:ext cx="1051560" cy="219456"/>
          </a:xfrm>
          <a:prstGeom prst="roundRect">
            <a:avLst>
              <a:gd name="adj" fmla="val 41667"/>
            </a:avLst>
          </a:prstGeom>
          <a:solidFill>
            <a:srgbClr val="F6B93B"/>
          </a:solidFill>
          <a:ln/>
        </p:spPr>
        <p:txBody>
          <a:bodyPr wrap="square" lIns="0" tIns="0" rIns="0" bIns="0" rtlCol="0" anchor="ctr"/>
          <a:lstStyle/>
          <a:p>
            <a:pPr algn="ctr" indent="0" marL="0">
              <a:buNone/>
            </a:pPr>
            <a:r>
              <a:rPr lang="en-US" sz="1000" b="1" dirty="0">
                <a:solidFill>
                  <a:srgbClr val="241703"/>
                </a:solidFill>
              </a:rPr>
              <a:t>Quick check</a:t>
            </a:r>
            <a:endParaRPr lang="en-US" sz="1000" dirty="0"/>
          </a:p>
        </p:txBody>
      </p:sp>
      <p:sp>
        <p:nvSpPr>
          <p:cNvPr id="12" name="Text 9"/>
          <p:cNvSpPr txBox="1"/>
          <p:nvPr/>
        </p:nvSpPr>
        <p:spPr>
          <a:xfrm>
            <a:off x="1920240" y="3218688"/>
            <a:ext cx="2377440" cy="292608"/>
          </a:xfrm>
          <a:prstGeom prst="rect">
            <a:avLst/>
          </a:prstGeom>
          <a:noFill/>
          <a:ln/>
        </p:spPr>
        <p:txBody>
          <a:bodyPr wrap="square" lIns="0" tIns="0" rIns="0" bIns="0" rtlCol="0" anchor="t"/>
          <a:lstStyle/>
          <a:p>
            <a:pPr algn="l" indent="0" marL="0">
              <a:buNone/>
            </a:pPr>
            <a:r>
              <a:rPr lang="en-US" sz="1400" dirty="0">
                <a:solidFill>
                  <a:schemeClr val="bg1"/>
                </a:solidFill>
              </a:rPr>
              <a:t>Dots in MgO</a:t>
            </a:r>
            <a:endParaRPr lang="en-US" sz="1400" dirty="0"/>
          </a:p>
        </p:txBody>
      </p:sp>
      <p:sp>
        <p:nvSpPr>
          <p:cNvPr id="13" name="To unlock"/>
          <p:cNvSpPr/>
          <p:nvPr/>
        </p:nvSpPr>
        <p:spPr>
          <a:xfrm>
            <a:off x="4709160" y="1600200"/>
            <a:ext cx="3931920" cy="2926080"/>
          </a:xfrm>
          <a:prstGeom prst="roundRect">
            <a:avLst>
              <a:gd name="adj" fmla="val 3125"/>
            </a:avLst>
          </a:prstGeom>
          <a:solidFill>
            <a:schemeClr val="tx2"/>
          </a:solidFill>
          <a:ln w="12700">
            <a:solidFill>
              <a:srgbClr val="2A3A55"/>
            </a:solidFill>
            <a:prstDash val="solid"/>
          </a:ln>
        </p:spPr>
      </p:sp>
      <p:sp>
        <p:nvSpPr>
          <p:cNvPr id="14" name="Text 11"/>
          <p:cNvSpPr txBox="1"/>
          <p:nvPr/>
        </p:nvSpPr>
        <p:spPr>
          <a:xfrm>
            <a:off x="4937760" y="1783080"/>
            <a:ext cx="3474720" cy="320040"/>
          </a:xfrm>
          <a:prstGeom prst="rect">
            <a:avLst/>
          </a:prstGeom>
          <a:noFill/>
          <a:ln/>
        </p:spPr>
        <p:txBody>
          <a:bodyPr wrap="square" lIns="0" tIns="0" rIns="0" bIns="0" rtlCol="0" anchor="t"/>
          <a:lstStyle/>
          <a:p>
            <a:pPr algn="l" indent="0" marL="0">
              <a:buNone/>
            </a:pPr>
            <a:r>
              <a:rPr lang="en-US" sz="1600" b="1" dirty="0">
                <a:solidFill>
                  <a:schemeClr val="accent4"/>
                </a:solidFill>
              </a:rPr>
              <a:t>To unlock the next section</a:t>
            </a:r>
            <a:endParaRPr lang="en-US" sz="1600" dirty="0"/>
          </a:p>
        </p:txBody>
      </p:sp>
      <p:sp>
        <p:nvSpPr>
          <p:cNvPr id="15" name="Checkbox"/>
          <p:cNvSpPr/>
          <p:nvPr/>
        </p:nvSpPr>
        <p:spPr>
          <a:xfrm>
            <a:off x="4937760" y="2286000"/>
            <a:ext cx="182880" cy="182880"/>
          </a:xfrm>
          <a:prstGeom prst="rect">
            <a:avLst/>
          </a:prstGeom>
          <a:solidFill>
            <a:schemeClr val="tx2"/>
          </a:solidFill>
          <a:ln w="12700">
            <a:solidFill>
              <a:schemeClr val="bg2"/>
            </a:solidFill>
            <a:prstDash val="solid"/>
          </a:ln>
        </p:spPr>
      </p:sp>
      <p:sp>
        <p:nvSpPr>
          <p:cNvPr id="16" name="Text 13"/>
          <p:cNvSpPr txBox="1"/>
          <p:nvPr/>
        </p:nvSpPr>
        <p:spPr>
          <a:xfrm>
            <a:off x="5257800" y="2221992"/>
            <a:ext cx="3200400" cy="457200"/>
          </a:xfrm>
          <a:prstGeom prst="rect">
            <a:avLst/>
          </a:prstGeom>
          <a:noFill/>
          <a:ln/>
        </p:spPr>
        <p:txBody>
          <a:bodyPr wrap="square" lIns="0" tIns="0" rIns="0" bIns="0" rtlCol="0" anchor="t"/>
          <a:lstStyle/>
          <a:p>
            <a:pPr algn="l" indent="0" marL="0">
              <a:buNone/>
            </a:pPr>
            <a:r>
              <a:rPr lang="en-US" sz="1400" dirty="0">
                <a:solidFill>
                  <a:schemeClr val="bg1"/>
                </a:solidFill>
              </a:rPr>
              <a:t>Move the dots for 2 pairs</a:t>
            </a:r>
            <a:endParaRPr lang="en-US" sz="1400" dirty="0"/>
          </a:p>
        </p:txBody>
      </p:sp>
      <p:sp>
        <p:nvSpPr>
          <p:cNvPr id="17" name="Checkbox"/>
          <p:cNvSpPr/>
          <p:nvPr/>
        </p:nvSpPr>
        <p:spPr>
          <a:xfrm>
            <a:off x="4937760" y="2834640"/>
            <a:ext cx="182880" cy="182880"/>
          </a:xfrm>
          <a:prstGeom prst="rect">
            <a:avLst/>
          </a:prstGeom>
          <a:solidFill>
            <a:schemeClr val="tx2"/>
          </a:solidFill>
          <a:ln w="12700">
            <a:solidFill>
              <a:schemeClr val="bg2"/>
            </a:solidFill>
            <a:prstDash val="solid"/>
          </a:ln>
        </p:spPr>
      </p:sp>
      <p:sp>
        <p:nvSpPr>
          <p:cNvPr id="18" name="Text 15"/>
          <p:cNvSpPr txBox="1"/>
          <p:nvPr/>
        </p:nvSpPr>
        <p:spPr>
          <a:xfrm>
            <a:off x="5257800" y="2770632"/>
            <a:ext cx="3200400" cy="457200"/>
          </a:xfrm>
          <a:prstGeom prst="rect">
            <a:avLst/>
          </a:prstGeom>
          <a:noFill/>
          <a:ln/>
        </p:spPr>
        <p:txBody>
          <a:bodyPr wrap="square" lIns="0" tIns="0" rIns="0" bIns="0" rtlCol="0" anchor="t"/>
          <a:lstStyle/>
          <a:p>
            <a:pPr algn="l" indent="0" marL="0">
              <a:buNone/>
            </a:pPr>
            <a:r>
              <a:rPr lang="en-US" sz="1400" dirty="0">
                <a:solidFill>
                  <a:schemeClr val="bg1"/>
                </a:solidFill>
              </a:rPr>
              <a:t>Answer the quick check correctly</a:t>
            </a:r>
            <a:endParaRPr lang="en-US" sz="14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FB1C7"/>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1234440" y="292608"/>
            <a:ext cx="7452360" cy="548640"/>
          </a:xfrm>
          <a:prstGeom prst="rect">
            <a:avLst/>
          </a:prstGeom>
          <a:noFill/>
          <a:ln/>
        </p:spPr>
        <p:txBody>
          <a:bodyPr wrap="square" lIns="0" tIns="0" rIns="0" bIns="0" rtlCol="0" anchor="ctr"/>
          <a:lstStyle/>
          <a:p>
            <a:pPr algn="l" indent="0" marL="0">
              <a:buNone/>
            </a:pPr>
            <a:r>
              <a:rPr lang="en-US" sz="2800" b="1" dirty="0">
                <a:solidFill>
                  <a:schemeClr val="bg1"/>
                </a:solidFill>
                <a:latin typeface="Arial" pitchFamily="34" charset="0"/>
                <a:ea typeface="Arial" pitchFamily="34" charset="-122"/>
                <a:cs typeface="Arial" pitchFamily="34" charset="-120"/>
              </a:rPr>
              <a:t>A faster way to draw it</a:t>
            </a:r>
            <a:endParaRPr lang="en-US" sz="2800" dirty="0"/>
          </a:p>
        </p:txBody>
      </p:sp>
      <p:pic>
        <p:nvPicPr>
          <p:cNvPr id="3" name="Icon 3" descr="Section 3 icon">    </p:cNvPr>
          <p:cNvPicPr>
            <a:picLocks noChangeAspect="1"/>
          </p:cNvPicPr>
          <p:nvPr/>
        </p:nvPicPr>
        <p:blipFill>
          <a:blip r:embed="rId1"/>
          <a:stretch>
            <a:fillRect/>
          </a:stretch>
        </p:blipFill>
        <p:spPr>
          <a:xfrm>
            <a:off x="502920" y="201168"/>
            <a:ext cx="566928" cy="627239"/>
          </a:xfrm>
          <a:prstGeom prst="rect">
            <a:avLst/>
          </a:prstGeom>
        </p:spPr>
      </p:pic>
      <p:sp>
        <p:nvSpPr>
          <p:cNvPr id="4" name="Tag Read"/>
          <p:cNvSpPr/>
          <p:nvPr/>
        </p:nvSpPr>
        <p:spPr>
          <a:xfrm>
            <a:off x="1234440" y="45720"/>
            <a:ext cx="1051560" cy="219456"/>
          </a:xfrm>
          <a:prstGeom prst="roundRect">
            <a:avLst>
              <a:gd name="adj" fmla="val 41667"/>
            </a:avLst>
          </a:prstGeom>
          <a:solidFill>
            <a:srgbClr val="25305A"/>
          </a:solidFill>
          <a:ln/>
        </p:spPr>
        <p:txBody>
          <a:bodyPr wrap="square" lIns="0" tIns="0" rIns="0" bIns="0" rtlCol="0" anchor="ctr"/>
          <a:lstStyle/>
          <a:p>
            <a:pPr algn="ctr" indent="0" marL="0">
              <a:buNone/>
            </a:pPr>
            <a:r>
              <a:rPr lang="en-US" sz="1000" b="1" dirty="0">
                <a:solidFill>
                  <a:srgbClr val="C3CFFC"/>
                </a:solidFill>
              </a:rPr>
              <a:t>Read</a:t>
            </a:r>
            <a:endParaRPr lang="en-US" sz="1000" dirty="0"/>
          </a:p>
        </p:txBody>
      </p:sp>
      <p:sp>
        <p:nvSpPr>
          <p:cNvPr id="5" name="Text 2"/>
          <p:cNvSpPr txBox="1"/>
          <p:nvPr/>
        </p:nvSpPr>
        <p:spPr>
          <a:xfrm>
            <a:off x="502920" y="960120"/>
            <a:ext cx="8138160" cy="1097280"/>
          </a:xfrm>
          <a:prstGeom prst="rect">
            <a:avLst/>
          </a:prstGeom>
          <a:noFill/>
          <a:ln/>
        </p:spPr>
        <p:txBody>
          <a:bodyPr wrap="square" lIns="0" tIns="0" rIns="0" bIns="0" rtlCol="0" anchor="t"/>
          <a:lstStyle/>
          <a:p>
            <a:pPr algn="l" indent="0" marL="0">
              <a:spcAft>
                <a:spcPts val="800"/>
              </a:spcAft>
              <a:buNone/>
            </a:pPr>
            <a:r>
              <a:rPr lang="en-US" sz="1500" dirty="0">
                <a:solidFill>
                  <a:schemeClr val="bg1"/>
                </a:solidFill>
              </a:rPr>
              <a:t>An </a:t>
            </a:r>
            <a:pPr algn="l" indent="0" marL="0">
              <a:spcAft>
                <a:spcPts val="800"/>
              </a:spcAft>
              <a:buNone/>
            </a:pPr>
            <a:r>
              <a:rPr lang="en-US" sz="1500" b="1" dirty="0">
                <a:solidFill>
                  <a:schemeClr val="accent1"/>
                </a:solidFill>
              </a:rPr>
              <a:t>electron-dot diagram</a:t>
            </a:r>
            <a:pPr algn="l" indent="0" marL="0">
              <a:spcAft>
                <a:spcPts val="800"/>
              </a:spcAft>
              <a:buNone/>
            </a:pPr>
            <a:r>
              <a:rPr lang="en-US" sz="1500" dirty="0">
                <a:solidFill>
                  <a:schemeClr val="bg1"/>
                </a:solidFill>
              </a:rPr>
              <a:t> shows only the element symbol and its valence electrons as dots: top, right, bottom, left, then pairs.</a:t>
            </a:r>
            <a:endParaRPr lang="en-US" sz="1500" dirty="0"/>
          </a:p>
          <a:p>
            <a:pPr algn="l" indent="0" marL="0">
              <a:spcAft>
                <a:spcPts val="800"/>
              </a:spcAft>
              <a:buNone/>
            </a:pPr>
            <a:r>
              <a:rPr lang="en-US" sz="1500" dirty="0">
                <a:solidFill>
                  <a:schemeClr val="bg1"/>
                </a:solidFill>
              </a:rPr>
              <a:t>Move each dot from the metal to the nonmetal. The metal ends with no dots; the nonmetal ends with 8. Add brackets and charges.</a:t>
            </a:r>
            <a:endParaRPr lang="en-US" sz="1500" dirty="0"/>
          </a:p>
        </p:txBody>
      </p:sp>
      <p:sp>
        <p:nvSpPr>
          <p:cNvPr id="6" name="Text 3"/>
          <p:cNvSpPr txBox="1"/>
          <p:nvPr/>
        </p:nvSpPr>
        <p:spPr>
          <a:xfrm>
            <a:off x="502920" y="2240280"/>
            <a:ext cx="914400" cy="274320"/>
          </a:xfrm>
          <a:prstGeom prst="rect">
            <a:avLst/>
          </a:prstGeom>
          <a:noFill/>
          <a:ln/>
        </p:spPr>
        <p:txBody>
          <a:bodyPr wrap="square" lIns="0" tIns="0" rIns="0" bIns="0" rtlCol="0" anchor="t"/>
          <a:lstStyle/>
          <a:p>
            <a:pPr algn="l" indent="0" marL="0">
              <a:buNone/>
            </a:pPr>
            <a:r>
              <a:rPr lang="en-US" sz="1300" b="1" dirty="0">
                <a:solidFill>
                  <a:schemeClr val="accent2"/>
                </a:solidFill>
              </a:rPr>
              <a:t>Before</a:t>
            </a:r>
            <a:endParaRPr lang="en-US" sz="1300" dirty="0"/>
          </a:p>
        </p:txBody>
      </p:sp>
      <p:pic>
        <p:nvPicPr>
          <p:cNvPr id="7" name="nacl_dots_before" descr="Na with one dot and Cl with seven dots">    </p:cNvPr>
          <p:cNvPicPr>
            <a:picLocks noChangeAspect="1"/>
          </p:cNvPicPr>
          <p:nvPr/>
        </p:nvPicPr>
        <p:blipFill>
          <a:blip r:embed="rId2"/>
          <a:stretch>
            <a:fillRect/>
          </a:stretch>
        </p:blipFill>
        <p:spPr>
          <a:xfrm>
            <a:off x="502920" y="2514600"/>
            <a:ext cx="3931920" cy="1007499"/>
          </a:xfrm>
          <a:prstGeom prst="rect">
            <a:avLst/>
          </a:prstGeom>
        </p:spPr>
      </p:pic>
      <p:sp>
        <p:nvSpPr>
          <p:cNvPr id="8" name="Text 4"/>
          <p:cNvSpPr txBox="1"/>
          <p:nvPr/>
        </p:nvSpPr>
        <p:spPr>
          <a:xfrm>
            <a:off x="4709160" y="2240280"/>
            <a:ext cx="914400" cy="274320"/>
          </a:xfrm>
          <a:prstGeom prst="rect">
            <a:avLst/>
          </a:prstGeom>
          <a:noFill/>
          <a:ln/>
        </p:spPr>
        <p:txBody>
          <a:bodyPr wrap="square" lIns="0" tIns="0" rIns="0" bIns="0" rtlCol="0" anchor="t"/>
          <a:lstStyle/>
          <a:p>
            <a:pPr algn="l" indent="0" marL="0">
              <a:buNone/>
            </a:pPr>
            <a:r>
              <a:rPr lang="en-US" sz="1300" b="1" dirty="0">
                <a:solidFill>
                  <a:schemeClr val="accent2"/>
                </a:solidFill>
              </a:rPr>
              <a:t>After</a:t>
            </a:r>
            <a:endParaRPr lang="en-US" sz="1300" dirty="0"/>
          </a:p>
        </p:txBody>
      </p:sp>
      <p:pic>
        <p:nvPicPr>
          <p:cNvPr id="9" name="nacl_dots_after" descr="Na plus with no dots and Cl minus with eight dots">    </p:cNvPr>
          <p:cNvPicPr>
            <a:picLocks noChangeAspect="1"/>
          </p:cNvPicPr>
          <p:nvPr/>
        </p:nvPicPr>
        <p:blipFill>
          <a:blip r:embed="rId3"/>
          <a:stretch>
            <a:fillRect/>
          </a:stretch>
        </p:blipFill>
        <p:spPr>
          <a:xfrm>
            <a:off x="4709160" y="2514600"/>
            <a:ext cx="3931920" cy="1007499"/>
          </a:xfrm>
          <a:prstGeom prst="rect">
            <a:avLst/>
          </a:prstGeom>
        </p:spPr>
      </p:pic>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FB1C7"/>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1234440" y="292608"/>
            <a:ext cx="7452360" cy="548640"/>
          </a:xfrm>
          <a:prstGeom prst="rect">
            <a:avLst/>
          </a:prstGeom>
          <a:noFill/>
          <a:ln/>
        </p:spPr>
        <p:txBody>
          <a:bodyPr wrap="square" lIns="0" tIns="0" rIns="0" bIns="0" rtlCol="0" anchor="ctr"/>
          <a:lstStyle/>
          <a:p>
            <a:pPr algn="l" indent="0" marL="0">
              <a:buNone/>
            </a:pPr>
            <a:r>
              <a:rPr lang="en-US" sz="2800" b="1" dirty="0">
                <a:solidFill>
                  <a:schemeClr val="bg1"/>
                </a:solidFill>
                <a:latin typeface="Arial" pitchFamily="34" charset="0"/>
                <a:ea typeface="Arial" pitchFamily="34" charset="-122"/>
                <a:cs typeface="Arial" pitchFamily="34" charset="-120"/>
              </a:rPr>
              <a:t>Move the dots</a:t>
            </a:r>
            <a:endParaRPr lang="en-US" sz="2800" dirty="0"/>
          </a:p>
        </p:txBody>
      </p:sp>
      <p:pic>
        <p:nvPicPr>
          <p:cNvPr id="3" name="Icon 3" descr="Section 3 icon">    </p:cNvPr>
          <p:cNvPicPr>
            <a:picLocks noChangeAspect="1"/>
          </p:cNvPicPr>
          <p:nvPr/>
        </p:nvPicPr>
        <p:blipFill>
          <a:blip r:embed="rId1"/>
          <a:stretch>
            <a:fillRect/>
          </a:stretch>
        </p:blipFill>
        <p:spPr>
          <a:xfrm>
            <a:off x="502920" y="201168"/>
            <a:ext cx="566928" cy="627239"/>
          </a:xfrm>
          <a:prstGeom prst="rect">
            <a:avLst/>
          </a:prstGeom>
        </p:spPr>
      </p:pic>
      <p:sp>
        <p:nvSpPr>
          <p:cNvPr id="4" name="Tag Try it"/>
          <p:cNvSpPr/>
          <p:nvPr/>
        </p:nvSpPr>
        <p:spPr>
          <a:xfrm>
            <a:off x="1234440" y="45720"/>
            <a:ext cx="1051560" cy="219456"/>
          </a:xfrm>
          <a:prstGeom prst="roundRect">
            <a:avLst>
              <a:gd name="adj" fmla="val 41667"/>
            </a:avLst>
          </a:prstGeom>
          <a:solidFill>
            <a:srgbClr val="5FE1FF"/>
          </a:solidFill>
          <a:ln/>
        </p:spPr>
        <p:txBody>
          <a:bodyPr wrap="square" lIns="0" tIns="0" rIns="0" bIns="0" rtlCol="0" anchor="ctr"/>
          <a:lstStyle/>
          <a:p>
            <a:pPr algn="ctr" indent="0" marL="0">
              <a:buNone/>
            </a:pPr>
            <a:r>
              <a:rPr lang="en-US" sz="1000" b="1" dirty="0">
                <a:solidFill>
                  <a:srgbClr val="0B2630"/>
                </a:solidFill>
              </a:rPr>
              <a:t>Try it</a:t>
            </a:r>
            <a:endParaRPr lang="en-US" sz="1000" dirty="0"/>
          </a:p>
        </p:txBody>
      </p:sp>
      <p:sp>
        <p:nvSpPr>
          <p:cNvPr id="5" name="Text 2"/>
          <p:cNvSpPr txBox="1"/>
          <p:nvPr/>
        </p:nvSpPr>
        <p:spPr>
          <a:xfrm>
            <a:off x="502920" y="960120"/>
            <a:ext cx="8138160" cy="365760"/>
          </a:xfrm>
          <a:prstGeom prst="rect">
            <a:avLst/>
          </a:prstGeom>
          <a:noFill/>
          <a:ln/>
        </p:spPr>
        <p:txBody>
          <a:bodyPr wrap="square" lIns="0" tIns="0" rIns="0" bIns="0" rtlCol="0" anchor="t"/>
          <a:lstStyle/>
          <a:p>
            <a:pPr algn="l" indent="0" marL="0">
              <a:buNone/>
            </a:pPr>
            <a:r>
              <a:rPr lang="en-US" sz="1600" b="1" dirty="0">
                <a:solidFill>
                  <a:schemeClr val="bg1"/>
                </a:solidFill>
              </a:rPr>
              <a:t>How many dots move? Which ions form?</a:t>
            </a:r>
            <a:endParaRPr lang="en-US" sz="1600" dirty="0"/>
          </a:p>
        </p:txBody>
      </p:sp>
      <p:pic>
        <p:nvPicPr>
          <p:cNvPr id="6" name="kcl_dots_before" descr="K + Cl">    </p:cNvPr>
          <p:cNvPicPr>
            <a:picLocks noChangeAspect="1"/>
          </p:cNvPicPr>
          <p:nvPr/>
        </p:nvPicPr>
        <p:blipFill>
          <a:blip r:embed="rId2"/>
          <a:stretch>
            <a:fillRect/>
          </a:stretch>
        </p:blipFill>
        <p:spPr>
          <a:xfrm>
            <a:off x="502920" y="1463040"/>
            <a:ext cx="4572000" cy="1171510"/>
          </a:xfrm>
          <a:prstGeom prst="rect">
            <a:avLst/>
          </a:prstGeom>
        </p:spPr>
      </p:pic>
      <p:sp>
        <p:nvSpPr>
          <p:cNvPr id="7" name="Text 3"/>
          <p:cNvSpPr txBox="1"/>
          <p:nvPr/>
        </p:nvSpPr>
        <p:spPr>
          <a:xfrm>
            <a:off x="5349240" y="1645920"/>
            <a:ext cx="3291840" cy="365760"/>
          </a:xfrm>
          <a:prstGeom prst="rect">
            <a:avLst/>
          </a:prstGeom>
          <a:noFill/>
          <a:ln/>
        </p:spPr>
        <p:txBody>
          <a:bodyPr wrap="square" lIns="0" tIns="0" rIns="0" bIns="0" rtlCol="0" anchor="t"/>
          <a:lstStyle/>
          <a:p>
            <a:pPr algn="l" indent="0" marL="0">
              <a:buNone/>
            </a:pPr>
            <a:r>
              <a:rPr lang="en-US" sz="1600" b="1" dirty="0">
                <a:solidFill>
                  <a:schemeClr val="bg1"/>
                </a:solidFill>
              </a:rPr>
              <a:t>K + Cl</a:t>
            </a:r>
            <a:endParaRPr lang="en-US" sz="1600" dirty="0"/>
          </a:p>
        </p:txBody>
      </p:sp>
      <p:sp>
        <p:nvSpPr>
          <p:cNvPr id="8" name="Text 4"/>
          <p:cNvSpPr txBox="1"/>
          <p:nvPr/>
        </p:nvSpPr>
        <p:spPr>
          <a:xfrm>
            <a:off x="5349240" y="2057400"/>
            <a:ext cx="3291840" cy="548640"/>
          </a:xfrm>
          <a:prstGeom prst="rect">
            <a:avLst/>
          </a:prstGeom>
          <a:noFill/>
          <a:ln/>
        </p:spPr>
        <p:txBody>
          <a:bodyPr wrap="square" lIns="0" tIns="0" rIns="0" bIns="0" rtlCol="0" anchor="t"/>
          <a:lstStyle/>
          <a:p>
            <a:pPr algn="l" indent="0" marL="0">
              <a:buNone/>
            </a:pPr>
            <a:r>
              <a:rPr lang="en-US" sz="1500" dirty="0">
                <a:solidFill>
                  <a:schemeClr val="bg2"/>
                </a:solidFill>
              </a:rPr>
              <a:t>How many dots move? Which ions form?</a:t>
            </a:r>
            <a:endParaRPr lang="en-US" sz="1500" dirty="0"/>
          </a:p>
        </p:txBody>
      </p:sp>
      <p:pic>
        <p:nvPicPr>
          <p:cNvPr id="9" name="mgo_dots_before" descr="Mg + O">    </p:cNvPr>
          <p:cNvPicPr>
            <a:picLocks noChangeAspect="1"/>
          </p:cNvPicPr>
          <p:nvPr/>
        </p:nvPicPr>
        <p:blipFill>
          <a:blip r:embed="rId3"/>
          <a:stretch>
            <a:fillRect/>
          </a:stretch>
        </p:blipFill>
        <p:spPr>
          <a:xfrm>
            <a:off x="502920" y="3108960"/>
            <a:ext cx="4572000" cy="1171510"/>
          </a:xfrm>
          <a:prstGeom prst="rect">
            <a:avLst/>
          </a:prstGeom>
        </p:spPr>
      </p:pic>
      <p:sp>
        <p:nvSpPr>
          <p:cNvPr id="10" name="Text 5"/>
          <p:cNvSpPr txBox="1"/>
          <p:nvPr/>
        </p:nvSpPr>
        <p:spPr>
          <a:xfrm>
            <a:off x="5349240" y="3291840"/>
            <a:ext cx="3291840" cy="365760"/>
          </a:xfrm>
          <a:prstGeom prst="rect">
            <a:avLst/>
          </a:prstGeom>
          <a:noFill/>
          <a:ln/>
        </p:spPr>
        <p:txBody>
          <a:bodyPr wrap="square" lIns="0" tIns="0" rIns="0" bIns="0" rtlCol="0" anchor="t"/>
          <a:lstStyle/>
          <a:p>
            <a:pPr algn="l" indent="0" marL="0">
              <a:buNone/>
            </a:pPr>
            <a:r>
              <a:rPr lang="en-US" sz="1600" b="1" dirty="0">
                <a:solidFill>
                  <a:schemeClr val="bg1"/>
                </a:solidFill>
              </a:rPr>
              <a:t>Mg + O</a:t>
            </a:r>
            <a:endParaRPr lang="en-US" sz="1600" dirty="0"/>
          </a:p>
        </p:txBody>
      </p:sp>
      <p:sp>
        <p:nvSpPr>
          <p:cNvPr id="11" name="Text 6"/>
          <p:cNvSpPr txBox="1"/>
          <p:nvPr/>
        </p:nvSpPr>
        <p:spPr>
          <a:xfrm>
            <a:off x="5349240" y="3703320"/>
            <a:ext cx="3291840" cy="548640"/>
          </a:xfrm>
          <a:prstGeom prst="rect">
            <a:avLst/>
          </a:prstGeom>
          <a:noFill/>
          <a:ln/>
        </p:spPr>
        <p:txBody>
          <a:bodyPr wrap="square" lIns="0" tIns="0" rIns="0" bIns="0" rtlCol="0" anchor="t"/>
          <a:lstStyle/>
          <a:p>
            <a:pPr algn="l" indent="0" marL="0">
              <a:buNone/>
            </a:pPr>
            <a:r>
              <a:rPr lang="en-US" sz="1500" dirty="0">
                <a:solidFill>
                  <a:schemeClr val="bg2"/>
                </a:solidFill>
              </a:rPr>
              <a:t>How many dots move? Which ions form?</a:t>
            </a:r>
            <a:endParaRPr lang="en-US" sz="15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FB1C7"/>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1234440" y="292608"/>
            <a:ext cx="7452360" cy="548640"/>
          </a:xfrm>
          <a:prstGeom prst="rect">
            <a:avLst/>
          </a:prstGeom>
          <a:noFill/>
          <a:ln/>
        </p:spPr>
        <p:txBody>
          <a:bodyPr wrap="square" lIns="0" tIns="0" rIns="0" bIns="0" rtlCol="0" anchor="ctr"/>
          <a:lstStyle/>
          <a:p>
            <a:pPr algn="l" indent="0" marL="0">
              <a:buNone/>
            </a:pPr>
            <a:r>
              <a:rPr lang="en-US" sz="2800" b="1" dirty="0">
                <a:solidFill>
                  <a:schemeClr val="bg1"/>
                </a:solidFill>
                <a:latin typeface="Arial" pitchFamily="34" charset="0"/>
                <a:ea typeface="Arial" pitchFamily="34" charset="-122"/>
                <a:cs typeface="Arial" pitchFamily="34" charset="-120"/>
              </a:rPr>
              <a:t>Move the dots</a:t>
            </a:r>
            <a:endParaRPr lang="en-US" sz="2800" dirty="0"/>
          </a:p>
        </p:txBody>
      </p:sp>
      <p:pic>
        <p:nvPicPr>
          <p:cNvPr id="3" name="Icon 3" descr="Section 3 icon">    </p:cNvPr>
          <p:cNvPicPr>
            <a:picLocks noChangeAspect="1"/>
          </p:cNvPicPr>
          <p:nvPr/>
        </p:nvPicPr>
        <p:blipFill>
          <a:blip r:embed="rId1"/>
          <a:stretch>
            <a:fillRect/>
          </a:stretch>
        </p:blipFill>
        <p:spPr>
          <a:xfrm>
            <a:off x="502920" y="201168"/>
            <a:ext cx="566928" cy="627239"/>
          </a:xfrm>
          <a:prstGeom prst="rect">
            <a:avLst/>
          </a:prstGeom>
        </p:spPr>
      </p:pic>
      <p:sp>
        <p:nvSpPr>
          <p:cNvPr id="4" name="Tag Try it"/>
          <p:cNvSpPr/>
          <p:nvPr/>
        </p:nvSpPr>
        <p:spPr>
          <a:xfrm>
            <a:off x="1234440" y="45720"/>
            <a:ext cx="1051560" cy="219456"/>
          </a:xfrm>
          <a:prstGeom prst="roundRect">
            <a:avLst>
              <a:gd name="adj" fmla="val 41667"/>
            </a:avLst>
          </a:prstGeom>
          <a:solidFill>
            <a:srgbClr val="5FE1FF"/>
          </a:solidFill>
          <a:ln/>
        </p:spPr>
        <p:txBody>
          <a:bodyPr wrap="square" lIns="0" tIns="0" rIns="0" bIns="0" rtlCol="0" anchor="ctr"/>
          <a:lstStyle/>
          <a:p>
            <a:pPr algn="ctr" indent="0" marL="0">
              <a:buNone/>
            </a:pPr>
            <a:r>
              <a:rPr lang="en-US" sz="1000" b="1" dirty="0">
                <a:solidFill>
                  <a:srgbClr val="0B2630"/>
                </a:solidFill>
              </a:rPr>
              <a:t>Try it</a:t>
            </a:r>
            <a:endParaRPr lang="en-US" sz="1000" dirty="0"/>
          </a:p>
        </p:txBody>
      </p:sp>
      <p:sp>
        <p:nvSpPr>
          <p:cNvPr id="5" name="Tag Answer"/>
          <p:cNvSpPr/>
          <p:nvPr/>
        </p:nvSpPr>
        <p:spPr>
          <a:xfrm>
            <a:off x="2377440" y="45720"/>
            <a:ext cx="1051560" cy="219456"/>
          </a:xfrm>
          <a:prstGeom prst="roundRect">
            <a:avLst>
              <a:gd name="adj" fmla="val 41667"/>
            </a:avLst>
          </a:prstGeom>
          <a:solidFill>
            <a:srgbClr val="4ADE80"/>
          </a:solidFill>
          <a:ln/>
        </p:spPr>
        <p:txBody>
          <a:bodyPr wrap="square" lIns="0" tIns="0" rIns="0" bIns="0" rtlCol="0" anchor="ctr"/>
          <a:lstStyle/>
          <a:p>
            <a:pPr algn="ctr" indent="0" marL="0">
              <a:buNone/>
            </a:pPr>
            <a:r>
              <a:rPr lang="en-US" sz="1000" b="1" dirty="0">
                <a:solidFill>
                  <a:srgbClr val="06240F"/>
                </a:solidFill>
              </a:rPr>
              <a:t>Answer</a:t>
            </a:r>
            <a:endParaRPr lang="en-US" sz="1000" dirty="0"/>
          </a:p>
        </p:txBody>
      </p:sp>
      <p:sp>
        <p:nvSpPr>
          <p:cNvPr id="6" name="Text 3"/>
          <p:cNvSpPr txBox="1"/>
          <p:nvPr/>
        </p:nvSpPr>
        <p:spPr>
          <a:xfrm>
            <a:off x="502920" y="960120"/>
            <a:ext cx="8138160" cy="365760"/>
          </a:xfrm>
          <a:prstGeom prst="rect">
            <a:avLst/>
          </a:prstGeom>
          <a:noFill/>
          <a:ln/>
        </p:spPr>
        <p:txBody>
          <a:bodyPr wrap="square" lIns="0" tIns="0" rIns="0" bIns="0" rtlCol="0" anchor="t"/>
          <a:lstStyle/>
          <a:p>
            <a:pPr algn="l" indent="0" marL="0">
              <a:buNone/>
            </a:pPr>
            <a:r>
              <a:rPr lang="en-US" sz="1600" b="1" dirty="0">
                <a:solidFill>
                  <a:schemeClr val="bg1"/>
                </a:solidFill>
              </a:rPr>
              <a:t>Every valence dot moves from the metal to the nonmetal.</a:t>
            </a:r>
            <a:endParaRPr lang="en-US" sz="1600" dirty="0"/>
          </a:p>
        </p:txBody>
      </p:sp>
      <p:pic>
        <p:nvPicPr>
          <p:cNvPr id="7" name="kcl_dots_after" descr="K + Cl">    </p:cNvPr>
          <p:cNvPicPr>
            <a:picLocks noChangeAspect="1"/>
          </p:cNvPicPr>
          <p:nvPr/>
        </p:nvPicPr>
        <p:blipFill>
          <a:blip r:embed="rId2"/>
          <a:stretch>
            <a:fillRect/>
          </a:stretch>
        </p:blipFill>
        <p:spPr>
          <a:xfrm>
            <a:off x="502920" y="1463040"/>
            <a:ext cx="4572000" cy="1171510"/>
          </a:xfrm>
          <a:prstGeom prst="rect">
            <a:avLst/>
          </a:prstGeom>
        </p:spPr>
      </p:pic>
      <p:sp>
        <p:nvSpPr>
          <p:cNvPr id="8" name="Text 4"/>
          <p:cNvSpPr txBox="1"/>
          <p:nvPr/>
        </p:nvSpPr>
        <p:spPr>
          <a:xfrm>
            <a:off x="5349240" y="1645920"/>
            <a:ext cx="3291840" cy="365760"/>
          </a:xfrm>
          <a:prstGeom prst="rect">
            <a:avLst/>
          </a:prstGeom>
          <a:noFill/>
          <a:ln/>
        </p:spPr>
        <p:txBody>
          <a:bodyPr wrap="square" lIns="0" tIns="0" rIns="0" bIns="0" rtlCol="0" anchor="t"/>
          <a:lstStyle/>
          <a:p>
            <a:pPr algn="l" indent="0" marL="0">
              <a:buNone/>
            </a:pPr>
            <a:r>
              <a:rPr lang="en-US" sz="1600" b="1" dirty="0">
                <a:solidFill>
                  <a:schemeClr val="bg1"/>
                </a:solidFill>
              </a:rPr>
              <a:t>K + Cl</a:t>
            </a:r>
            <a:endParaRPr lang="en-US" sz="1600" dirty="0"/>
          </a:p>
        </p:txBody>
      </p:sp>
      <p:sp>
        <p:nvSpPr>
          <p:cNvPr id="9" name="Text 5"/>
          <p:cNvSpPr txBox="1"/>
          <p:nvPr/>
        </p:nvSpPr>
        <p:spPr>
          <a:xfrm>
            <a:off x="5349240" y="2057400"/>
            <a:ext cx="3291840" cy="548640"/>
          </a:xfrm>
          <a:prstGeom prst="rect">
            <a:avLst/>
          </a:prstGeom>
          <a:noFill/>
          <a:ln/>
        </p:spPr>
        <p:txBody>
          <a:bodyPr wrap="square" lIns="0" tIns="0" rIns="0" bIns="0" rtlCol="0" anchor="t"/>
          <a:lstStyle/>
          <a:p>
            <a:pPr algn="l" indent="0" marL="0">
              <a:buNone/>
            </a:pPr>
            <a:r>
              <a:rPr lang="en-US" sz="1500" dirty="0">
                <a:solidFill>
                  <a:schemeClr val="accent4"/>
                </a:solidFill>
              </a:rPr>
              <a:t>1 dot moves: K⁺ and Cl⁻ (KCl)</a:t>
            </a:r>
            <a:endParaRPr lang="en-US" sz="1500" dirty="0"/>
          </a:p>
        </p:txBody>
      </p:sp>
      <p:pic>
        <p:nvPicPr>
          <p:cNvPr id="10" name="mgo_dots_after" descr="Mg + O">    </p:cNvPr>
          <p:cNvPicPr>
            <a:picLocks noChangeAspect="1"/>
          </p:cNvPicPr>
          <p:nvPr/>
        </p:nvPicPr>
        <p:blipFill>
          <a:blip r:embed="rId3"/>
          <a:stretch>
            <a:fillRect/>
          </a:stretch>
        </p:blipFill>
        <p:spPr>
          <a:xfrm>
            <a:off x="502920" y="3108960"/>
            <a:ext cx="4572000" cy="1171510"/>
          </a:xfrm>
          <a:prstGeom prst="rect">
            <a:avLst/>
          </a:prstGeom>
        </p:spPr>
      </p:pic>
      <p:sp>
        <p:nvSpPr>
          <p:cNvPr id="11" name="Text 6"/>
          <p:cNvSpPr txBox="1"/>
          <p:nvPr/>
        </p:nvSpPr>
        <p:spPr>
          <a:xfrm>
            <a:off x="5349240" y="3291840"/>
            <a:ext cx="3291840" cy="365760"/>
          </a:xfrm>
          <a:prstGeom prst="rect">
            <a:avLst/>
          </a:prstGeom>
          <a:noFill/>
          <a:ln/>
        </p:spPr>
        <p:txBody>
          <a:bodyPr wrap="square" lIns="0" tIns="0" rIns="0" bIns="0" rtlCol="0" anchor="t"/>
          <a:lstStyle/>
          <a:p>
            <a:pPr algn="l" indent="0" marL="0">
              <a:buNone/>
            </a:pPr>
            <a:r>
              <a:rPr lang="en-US" sz="1600" b="1" dirty="0">
                <a:solidFill>
                  <a:schemeClr val="bg1"/>
                </a:solidFill>
              </a:rPr>
              <a:t>Mg + O</a:t>
            </a:r>
            <a:endParaRPr lang="en-US" sz="1600" dirty="0"/>
          </a:p>
        </p:txBody>
      </p:sp>
      <p:sp>
        <p:nvSpPr>
          <p:cNvPr id="12" name="Text 7"/>
          <p:cNvSpPr txBox="1"/>
          <p:nvPr/>
        </p:nvSpPr>
        <p:spPr>
          <a:xfrm>
            <a:off x="5349240" y="3703320"/>
            <a:ext cx="3291840" cy="548640"/>
          </a:xfrm>
          <a:prstGeom prst="rect">
            <a:avLst/>
          </a:prstGeom>
          <a:noFill/>
          <a:ln/>
        </p:spPr>
        <p:txBody>
          <a:bodyPr wrap="square" lIns="0" tIns="0" rIns="0" bIns="0" rtlCol="0" anchor="t"/>
          <a:lstStyle/>
          <a:p>
            <a:pPr algn="l" indent="0" marL="0">
              <a:buNone/>
            </a:pPr>
            <a:r>
              <a:rPr lang="en-US" sz="1500" dirty="0">
                <a:solidFill>
                  <a:schemeClr val="accent4"/>
                </a:solidFill>
              </a:rPr>
              <a:t>2 dots move: Mg²⁺ and O²⁻ (MgO)</a:t>
            </a:r>
            <a:endParaRPr lang="en-US" sz="15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FB1C7"/>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1234440" y="292608"/>
            <a:ext cx="7452360" cy="548640"/>
          </a:xfrm>
          <a:prstGeom prst="rect">
            <a:avLst/>
          </a:prstGeom>
          <a:noFill/>
          <a:ln/>
        </p:spPr>
        <p:txBody>
          <a:bodyPr wrap="square" lIns="0" tIns="0" rIns="0" bIns="0" rtlCol="0" anchor="ctr"/>
          <a:lstStyle/>
          <a:p>
            <a:pPr algn="l" indent="0" marL="0">
              <a:buNone/>
            </a:pPr>
            <a:r>
              <a:rPr lang="en-US" sz="2800" b="1" dirty="0">
                <a:solidFill>
                  <a:schemeClr val="bg1"/>
                </a:solidFill>
                <a:latin typeface="Arial" pitchFamily="34" charset="0"/>
                <a:ea typeface="Arial" pitchFamily="34" charset="-122"/>
                <a:cs typeface="Arial" pitchFamily="34" charset="-120"/>
              </a:rPr>
              <a:t>Quick check</a:t>
            </a:r>
            <a:endParaRPr lang="en-US" sz="2800" dirty="0"/>
          </a:p>
        </p:txBody>
      </p:sp>
      <p:pic>
        <p:nvPicPr>
          <p:cNvPr id="3" name="Icon 3" descr="Section 3 icon">    </p:cNvPr>
          <p:cNvPicPr>
            <a:picLocks noChangeAspect="1"/>
          </p:cNvPicPr>
          <p:nvPr/>
        </p:nvPicPr>
        <p:blipFill>
          <a:blip r:embed="rId1"/>
          <a:stretch>
            <a:fillRect/>
          </a:stretch>
        </p:blipFill>
        <p:spPr>
          <a:xfrm>
            <a:off x="502920" y="201168"/>
            <a:ext cx="566928" cy="627239"/>
          </a:xfrm>
          <a:prstGeom prst="rect">
            <a:avLst/>
          </a:prstGeom>
        </p:spPr>
      </p:pic>
      <p:sp>
        <p:nvSpPr>
          <p:cNvPr id="4" name="Tag Quick check"/>
          <p:cNvSpPr/>
          <p:nvPr/>
        </p:nvSpPr>
        <p:spPr>
          <a:xfrm>
            <a:off x="1234440" y="45720"/>
            <a:ext cx="1051560" cy="219456"/>
          </a:xfrm>
          <a:prstGeom prst="roundRect">
            <a:avLst>
              <a:gd name="adj" fmla="val 41667"/>
            </a:avLst>
          </a:prstGeom>
          <a:solidFill>
            <a:srgbClr val="F6B93B"/>
          </a:solidFill>
          <a:ln/>
        </p:spPr>
        <p:txBody>
          <a:bodyPr wrap="square" lIns="0" tIns="0" rIns="0" bIns="0" rtlCol="0" anchor="ctr"/>
          <a:lstStyle/>
          <a:p>
            <a:pPr algn="ctr" indent="0" marL="0">
              <a:buNone/>
            </a:pPr>
            <a:r>
              <a:rPr lang="en-US" sz="1000" b="1" dirty="0">
                <a:solidFill>
                  <a:srgbClr val="241703"/>
                </a:solidFill>
              </a:rPr>
              <a:t>Quick check</a:t>
            </a:r>
            <a:endParaRPr lang="en-US" sz="1000" dirty="0"/>
          </a:p>
        </p:txBody>
      </p:sp>
      <p:sp>
        <p:nvSpPr>
          <p:cNvPr id="5" name="Text 2"/>
          <p:cNvSpPr txBox="1"/>
          <p:nvPr/>
        </p:nvSpPr>
        <p:spPr>
          <a:xfrm>
            <a:off x="502920" y="960120"/>
            <a:ext cx="8138160" cy="731520"/>
          </a:xfrm>
          <a:prstGeom prst="rect">
            <a:avLst/>
          </a:prstGeom>
          <a:noFill/>
          <a:ln/>
        </p:spPr>
        <p:txBody>
          <a:bodyPr wrap="square" lIns="0" tIns="0" rIns="0" bIns="0" rtlCol="0" anchor="t"/>
          <a:lstStyle/>
          <a:p>
            <a:pPr algn="l" indent="0" marL="0">
              <a:buNone/>
            </a:pPr>
            <a:r>
              <a:rPr lang="en-US" sz="1800" b="1" dirty="0">
                <a:solidFill>
                  <a:schemeClr val="bg1"/>
                </a:solidFill>
              </a:rPr>
              <a:t>In an electron-dot diagram of MgO, how many dots move from magnesium to oxygen?</a:t>
            </a:r>
            <a:endParaRPr lang="en-US" sz="1800" dirty="0"/>
          </a:p>
        </p:txBody>
      </p:sp>
      <p:sp>
        <p:nvSpPr>
          <p:cNvPr id="6" name="Option A"/>
          <p:cNvSpPr/>
          <p:nvPr/>
        </p:nvSpPr>
        <p:spPr>
          <a:xfrm>
            <a:off x="502920" y="1828800"/>
            <a:ext cx="8138160" cy="438912"/>
          </a:xfrm>
          <a:prstGeom prst="roundRect">
            <a:avLst>
              <a:gd name="adj" fmla="val 20833"/>
            </a:avLst>
          </a:prstGeom>
          <a:solidFill>
            <a:schemeClr val="tx2"/>
          </a:solidFill>
          <a:ln w="12700">
            <a:solidFill>
              <a:srgbClr val="2A3A55"/>
            </a:solidFill>
            <a:prstDash val="solid"/>
          </a:ln>
        </p:spPr>
      </p:sp>
      <p:sp>
        <p:nvSpPr>
          <p:cNvPr id="7" name="Letter"/>
          <p:cNvSpPr/>
          <p:nvPr/>
        </p:nvSpPr>
        <p:spPr>
          <a:xfrm>
            <a:off x="621792" y="1911096"/>
            <a:ext cx="292608" cy="274320"/>
          </a:xfrm>
          <a:prstGeom prst="roundRect">
            <a:avLst>
              <a:gd name="adj" fmla="val 20000"/>
            </a:avLst>
          </a:prstGeom>
          <a:solidFill>
            <a:srgbClr val="2A3A55"/>
          </a:solidFill>
          <a:ln/>
        </p:spPr>
        <p:txBody>
          <a:bodyPr wrap="square" lIns="0" tIns="0" rIns="0" bIns="0" rtlCol="0" anchor="ctr"/>
          <a:lstStyle/>
          <a:p>
            <a:pPr algn="ctr" indent="0" marL="0">
              <a:buNone/>
            </a:pPr>
            <a:r>
              <a:rPr lang="en-US" sz="1200" b="1" dirty="0">
                <a:solidFill>
                  <a:srgbClr val="E6EDF7"/>
                </a:solidFill>
              </a:rPr>
              <a:t>A</a:t>
            </a:r>
            <a:endParaRPr lang="en-US" sz="1200" dirty="0"/>
          </a:p>
        </p:txBody>
      </p:sp>
      <p:sp>
        <p:nvSpPr>
          <p:cNvPr id="8" name="Text 5"/>
          <p:cNvSpPr txBox="1"/>
          <p:nvPr/>
        </p:nvSpPr>
        <p:spPr>
          <a:xfrm>
            <a:off x="1024128" y="1883664"/>
            <a:ext cx="7498080" cy="347472"/>
          </a:xfrm>
          <a:prstGeom prst="rect">
            <a:avLst/>
          </a:prstGeom>
          <a:noFill/>
          <a:ln/>
        </p:spPr>
        <p:txBody>
          <a:bodyPr wrap="square" lIns="0" tIns="0" rIns="0" bIns="0" rtlCol="0" anchor="ctr"/>
          <a:lstStyle/>
          <a:p>
            <a:pPr algn="l" indent="0" marL="0">
              <a:buNone/>
            </a:pPr>
            <a:r>
              <a:rPr lang="en-US" sz="1500" dirty="0">
                <a:solidFill>
                  <a:schemeClr val="bg1"/>
                </a:solidFill>
              </a:rPr>
              <a:t>1</a:t>
            </a:r>
            <a:endParaRPr lang="en-US" sz="1500" dirty="0"/>
          </a:p>
        </p:txBody>
      </p:sp>
      <p:sp>
        <p:nvSpPr>
          <p:cNvPr id="9" name="Option B"/>
          <p:cNvSpPr/>
          <p:nvPr/>
        </p:nvSpPr>
        <p:spPr>
          <a:xfrm>
            <a:off x="502920" y="2359152"/>
            <a:ext cx="8138160" cy="438912"/>
          </a:xfrm>
          <a:prstGeom prst="roundRect">
            <a:avLst>
              <a:gd name="adj" fmla="val 20833"/>
            </a:avLst>
          </a:prstGeom>
          <a:solidFill>
            <a:schemeClr val="tx2"/>
          </a:solidFill>
          <a:ln w="12700">
            <a:solidFill>
              <a:srgbClr val="2A3A55"/>
            </a:solidFill>
            <a:prstDash val="solid"/>
          </a:ln>
        </p:spPr>
      </p:sp>
      <p:sp>
        <p:nvSpPr>
          <p:cNvPr id="10" name="Letter"/>
          <p:cNvSpPr/>
          <p:nvPr/>
        </p:nvSpPr>
        <p:spPr>
          <a:xfrm>
            <a:off x="621792" y="2441448"/>
            <a:ext cx="292608" cy="274320"/>
          </a:xfrm>
          <a:prstGeom prst="roundRect">
            <a:avLst>
              <a:gd name="adj" fmla="val 20000"/>
            </a:avLst>
          </a:prstGeom>
          <a:solidFill>
            <a:srgbClr val="2A3A55"/>
          </a:solidFill>
          <a:ln/>
        </p:spPr>
        <p:txBody>
          <a:bodyPr wrap="square" lIns="0" tIns="0" rIns="0" bIns="0" rtlCol="0" anchor="ctr"/>
          <a:lstStyle/>
          <a:p>
            <a:pPr algn="ctr" indent="0" marL="0">
              <a:buNone/>
            </a:pPr>
            <a:r>
              <a:rPr lang="en-US" sz="1200" b="1" dirty="0">
                <a:solidFill>
                  <a:srgbClr val="E6EDF7"/>
                </a:solidFill>
              </a:rPr>
              <a:t>B</a:t>
            </a:r>
            <a:endParaRPr lang="en-US" sz="1200" dirty="0"/>
          </a:p>
        </p:txBody>
      </p:sp>
      <p:sp>
        <p:nvSpPr>
          <p:cNvPr id="11" name="Text 8"/>
          <p:cNvSpPr txBox="1"/>
          <p:nvPr/>
        </p:nvSpPr>
        <p:spPr>
          <a:xfrm>
            <a:off x="1024128" y="2414016"/>
            <a:ext cx="7498080" cy="347472"/>
          </a:xfrm>
          <a:prstGeom prst="rect">
            <a:avLst/>
          </a:prstGeom>
          <a:noFill/>
          <a:ln/>
        </p:spPr>
        <p:txBody>
          <a:bodyPr wrap="square" lIns="0" tIns="0" rIns="0" bIns="0" rtlCol="0" anchor="ctr"/>
          <a:lstStyle/>
          <a:p>
            <a:pPr algn="l" indent="0" marL="0">
              <a:buNone/>
            </a:pPr>
            <a:r>
              <a:rPr lang="en-US" sz="1500" dirty="0">
                <a:solidFill>
                  <a:schemeClr val="bg1"/>
                </a:solidFill>
              </a:rPr>
              <a:t>6</a:t>
            </a:r>
            <a:endParaRPr lang="en-US" sz="1500" dirty="0"/>
          </a:p>
        </p:txBody>
      </p:sp>
      <p:sp>
        <p:nvSpPr>
          <p:cNvPr id="12" name="Option C"/>
          <p:cNvSpPr/>
          <p:nvPr/>
        </p:nvSpPr>
        <p:spPr>
          <a:xfrm>
            <a:off x="502920" y="2889504"/>
            <a:ext cx="8138160" cy="438912"/>
          </a:xfrm>
          <a:prstGeom prst="roundRect">
            <a:avLst>
              <a:gd name="adj" fmla="val 20833"/>
            </a:avLst>
          </a:prstGeom>
          <a:solidFill>
            <a:schemeClr val="tx2"/>
          </a:solidFill>
          <a:ln w="12700">
            <a:solidFill>
              <a:srgbClr val="2A3A55"/>
            </a:solidFill>
            <a:prstDash val="solid"/>
          </a:ln>
        </p:spPr>
      </p:sp>
      <p:sp>
        <p:nvSpPr>
          <p:cNvPr id="13" name="Letter"/>
          <p:cNvSpPr/>
          <p:nvPr/>
        </p:nvSpPr>
        <p:spPr>
          <a:xfrm>
            <a:off x="621792" y="2971800"/>
            <a:ext cx="292608" cy="274320"/>
          </a:xfrm>
          <a:prstGeom prst="roundRect">
            <a:avLst>
              <a:gd name="adj" fmla="val 20000"/>
            </a:avLst>
          </a:prstGeom>
          <a:solidFill>
            <a:srgbClr val="2A3A55"/>
          </a:solidFill>
          <a:ln/>
        </p:spPr>
        <p:txBody>
          <a:bodyPr wrap="square" lIns="0" tIns="0" rIns="0" bIns="0" rtlCol="0" anchor="ctr"/>
          <a:lstStyle/>
          <a:p>
            <a:pPr algn="ctr" indent="0" marL="0">
              <a:buNone/>
            </a:pPr>
            <a:r>
              <a:rPr lang="en-US" sz="1200" b="1" dirty="0">
                <a:solidFill>
                  <a:srgbClr val="E6EDF7"/>
                </a:solidFill>
              </a:rPr>
              <a:t>C</a:t>
            </a:r>
            <a:endParaRPr lang="en-US" sz="1200" dirty="0"/>
          </a:p>
        </p:txBody>
      </p:sp>
      <p:sp>
        <p:nvSpPr>
          <p:cNvPr id="14" name="Text 11"/>
          <p:cNvSpPr txBox="1"/>
          <p:nvPr/>
        </p:nvSpPr>
        <p:spPr>
          <a:xfrm>
            <a:off x="1024128" y="2944368"/>
            <a:ext cx="7498080" cy="347472"/>
          </a:xfrm>
          <a:prstGeom prst="rect">
            <a:avLst/>
          </a:prstGeom>
          <a:noFill/>
          <a:ln/>
        </p:spPr>
        <p:txBody>
          <a:bodyPr wrap="square" lIns="0" tIns="0" rIns="0" bIns="0" rtlCol="0" anchor="ctr"/>
          <a:lstStyle/>
          <a:p>
            <a:pPr algn="l" indent="0" marL="0">
              <a:buNone/>
            </a:pPr>
            <a:r>
              <a:rPr lang="en-US" sz="1500" dirty="0">
                <a:solidFill>
                  <a:schemeClr val="bg1"/>
                </a:solidFill>
              </a:rPr>
              <a:t>8</a:t>
            </a:r>
            <a:endParaRPr lang="en-US" sz="1500" dirty="0"/>
          </a:p>
        </p:txBody>
      </p:sp>
      <p:sp>
        <p:nvSpPr>
          <p:cNvPr id="15" name="Option D"/>
          <p:cNvSpPr/>
          <p:nvPr/>
        </p:nvSpPr>
        <p:spPr>
          <a:xfrm>
            <a:off x="502920" y="3419856"/>
            <a:ext cx="8138160" cy="438912"/>
          </a:xfrm>
          <a:prstGeom prst="roundRect">
            <a:avLst>
              <a:gd name="adj" fmla="val 20833"/>
            </a:avLst>
          </a:prstGeom>
          <a:solidFill>
            <a:schemeClr val="tx2"/>
          </a:solidFill>
          <a:ln w="12700">
            <a:solidFill>
              <a:srgbClr val="2A3A55"/>
            </a:solidFill>
            <a:prstDash val="solid"/>
          </a:ln>
        </p:spPr>
      </p:sp>
      <p:sp>
        <p:nvSpPr>
          <p:cNvPr id="16" name="Letter"/>
          <p:cNvSpPr/>
          <p:nvPr/>
        </p:nvSpPr>
        <p:spPr>
          <a:xfrm>
            <a:off x="621792" y="3502152"/>
            <a:ext cx="292608" cy="274320"/>
          </a:xfrm>
          <a:prstGeom prst="roundRect">
            <a:avLst>
              <a:gd name="adj" fmla="val 20000"/>
            </a:avLst>
          </a:prstGeom>
          <a:solidFill>
            <a:srgbClr val="2A3A55"/>
          </a:solidFill>
          <a:ln/>
        </p:spPr>
        <p:txBody>
          <a:bodyPr wrap="square" lIns="0" tIns="0" rIns="0" bIns="0" rtlCol="0" anchor="ctr"/>
          <a:lstStyle/>
          <a:p>
            <a:pPr algn="ctr" indent="0" marL="0">
              <a:buNone/>
            </a:pPr>
            <a:r>
              <a:rPr lang="en-US" sz="1200" b="1" dirty="0">
                <a:solidFill>
                  <a:srgbClr val="E6EDF7"/>
                </a:solidFill>
              </a:rPr>
              <a:t>D</a:t>
            </a:r>
            <a:endParaRPr lang="en-US" sz="1200" dirty="0"/>
          </a:p>
        </p:txBody>
      </p:sp>
      <p:sp>
        <p:nvSpPr>
          <p:cNvPr id="17" name="Text 14"/>
          <p:cNvSpPr txBox="1"/>
          <p:nvPr/>
        </p:nvSpPr>
        <p:spPr>
          <a:xfrm>
            <a:off x="1024128" y="3474720"/>
            <a:ext cx="7498080" cy="347472"/>
          </a:xfrm>
          <a:prstGeom prst="rect">
            <a:avLst/>
          </a:prstGeom>
          <a:noFill/>
          <a:ln/>
        </p:spPr>
        <p:txBody>
          <a:bodyPr wrap="square" lIns="0" tIns="0" rIns="0" bIns="0" rtlCol="0" anchor="ctr"/>
          <a:lstStyle/>
          <a:p>
            <a:pPr algn="l" indent="0" marL="0">
              <a:buNone/>
            </a:pPr>
            <a:r>
              <a:rPr lang="en-US" sz="1500" dirty="0">
                <a:solidFill>
                  <a:schemeClr val="bg1"/>
                </a:solidFill>
              </a:rPr>
              <a:t>2</a:t>
            </a:r>
            <a:endParaRPr lang="en-US" sz="15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FB1C7"/>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1234440" y="292608"/>
            <a:ext cx="7452360" cy="548640"/>
          </a:xfrm>
          <a:prstGeom prst="rect">
            <a:avLst/>
          </a:prstGeom>
          <a:noFill/>
          <a:ln/>
        </p:spPr>
        <p:txBody>
          <a:bodyPr wrap="square" lIns="0" tIns="0" rIns="0" bIns="0" rtlCol="0" anchor="ctr"/>
          <a:lstStyle/>
          <a:p>
            <a:pPr algn="l" indent="0" marL="0">
              <a:buNone/>
            </a:pPr>
            <a:r>
              <a:rPr lang="en-US" sz="2800" b="1" dirty="0">
                <a:solidFill>
                  <a:schemeClr val="bg1"/>
                </a:solidFill>
                <a:latin typeface="Arial" pitchFamily="34" charset="0"/>
                <a:ea typeface="Arial" pitchFamily="34" charset="-122"/>
                <a:cs typeface="Arial" pitchFamily="34" charset="-120"/>
              </a:rPr>
              <a:t>Quick check</a:t>
            </a:r>
            <a:endParaRPr lang="en-US" sz="2800" dirty="0"/>
          </a:p>
        </p:txBody>
      </p:sp>
      <p:pic>
        <p:nvPicPr>
          <p:cNvPr id="3" name="Icon 3" descr="Section 3 icon">    </p:cNvPr>
          <p:cNvPicPr>
            <a:picLocks noChangeAspect="1"/>
          </p:cNvPicPr>
          <p:nvPr/>
        </p:nvPicPr>
        <p:blipFill>
          <a:blip r:embed="rId1"/>
          <a:stretch>
            <a:fillRect/>
          </a:stretch>
        </p:blipFill>
        <p:spPr>
          <a:xfrm>
            <a:off x="502920" y="201168"/>
            <a:ext cx="566928" cy="627239"/>
          </a:xfrm>
          <a:prstGeom prst="rect">
            <a:avLst/>
          </a:prstGeom>
        </p:spPr>
      </p:pic>
      <p:sp>
        <p:nvSpPr>
          <p:cNvPr id="4" name="Tag Quick check"/>
          <p:cNvSpPr/>
          <p:nvPr/>
        </p:nvSpPr>
        <p:spPr>
          <a:xfrm>
            <a:off x="1234440" y="45720"/>
            <a:ext cx="1051560" cy="219456"/>
          </a:xfrm>
          <a:prstGeom prst="roundRect">
            <a:avLst>
              <a:gd name="adj" fmla="val 41667"/>
            </a:avLst>
          </a:prstGeom>
          <a:solidFill>
            <a:srgbClr val="F6B93B"/>
          </a:solidFill>
          <a:ln/>
        </p:spPr>
        <p:txBody>
          <a:bodyPr wrap="square" lIns="0" tIns="0" rIns="0" bIns="0" rtlCol="0" anchor="ctr"/>
          <a:lstStyle/>
          <a:p>
            <a:pPr algn="ctr" indent="0" marL="0">
              <a:buNone/>
            </a:pPr>
            <a:r>
              <a:rPr lang="en-US" sz="1000" b="1" dirty="0">
                <a:solidFill>
                  <a:srgbClr val="241703"/>
                </a:solidFill>
              </a:rPr>
              <a:t>Quick check</a:t>
            </a:r>
            <a:endParaRPr lang="en-US" sz="1000" dirty="0"/>
          </a:p>
        </p:txBody>
      </p:sp>
      <p:sp>
        <p:nvSpPr>
          <p:cNvPr id="5" name="Tag Answer"/>
          <p:cNvSpPr/>
          <p:nvPr/>
        </p:nvSpPr>
        <p:spPr>
          <a:xfrm>
            <a:off x="2377440" y="45720"/>
            <a:ext cx="1051560" cy="219456"/>
          </a:xfrm>
          <a:prstGeom prst="roundRect">
            <a:avLst>
              <a:gd name="adj" fmla="val 41667"/>
            </a:avLst>
          </a:prstGeom>
          <a:solidFill>
            <a:srgbClr val="4ADE80"/>
          </a:solidFill>
          <a:ln/>
        </p:spPr>
        <p:txBody>
          <a:bodyPr wrap="square" lIns="0" tIns="0" rIns="0" bIns="0" rtlCol="0" anchor="ctr"/>
          <a:lstStyle/>
          <a:p>
            <a:pPr algn="ctr" indent="0" marL="0">
              <a:buNone/>
            </a:pPr>
            <a:r>
              <a:rPr lang="en-US" sz="1000" b="1" dirty="0">
                <a:solidFill>
                  <a:srgbClr val="06240F"/>
                </a:solidFill>
              </a:rPr>
              <a:t>Answer</a:t>
            </a:r>
            <a:endParaRPr lang="en-US" sz="1000" dirty="0"/>
          </a:p>
        </p:txBody>
      </p:sp>
      <p:sp>
        <p:nvSpPr>
          <p:cNvPr id="6" name="Text 3"/>
          <p:cNvSpPr txBox="1"/>
          <p:nvPr/>
        </p:nvSpPr>
        <p:spPr>
          <a:xfrm>
            <a:off x="502920" y="960120"/>
            <a:ext cx="8138160" cy="731520"/>
          </a:xfrm>
          <a:prstGeom prst="rect">
            <a:avLst/>
          </a:prstGeom>
          <a:noFill/>
          <a:ln/>
        </p:spPr>
        <p:txBody>
          <a:bodyPr wrap="square" lIns="0" tIns="0" rIns="0" bIns="0" rtlCol="0" anchor="t"/>
          <a:lstStyle/>
          <a:p>
            <a:pPr algn="l" indent="0" marL="0">
              <a:buNone/>
            </a:pPr>
            <a:r>
              <a:rPr lang="en-US" sz="1800" b="1" dirty="0">
                <a:solidFill>
                  <a:schemeClr val="bg1"/>
                </a:solidFill>
              </a:rPr>
              <a:t>In an electron-dot diagram of MgO, how many dots move from magnesium to oxygen?</a:t>
            </a:r>
            <a:endParaRPr lang="en-US" sz="1800" dirty="0"/>
          </a:p>
        </p:txBody>
      </p:sp>
      <p:sp>
        <p:nvSpPr>
          <p:cNvPr id="7" name="Option A"/>
          <p:cNvSpPr/>
          <p:nvPr/>
        </p:nvSpPr>
        <p:spPr>
          <a:xfrm>
            <a:off x="502920" y="1828800"/>
            <a:ext cx="8138160" cy="438912"/>
          </a:xfrm>
          <a:prstGeom prst="roundRect">
            <a:avLst>
              <a:gd name="adj" fmla="val 20833"/>
            </a:avLst>
          </a:prstGeom>
          <a:solidFill>
            <a:schemeClr val="tx2"/>
          </a:solidFill>
          <a:ln w="12700">
            <a:solidFill>
              <a:srgbClr val="2A3A55"/>
            </a:solidFill>
            <a:prstDash val="solid"/>
          </a:ln>
        </p:spPr>
      </p:sp>
      <p:sp>
        <p:nvSpPr>
          <p:cNvPr id="8" name="Letter"/>
          <p:cNvSpPr/>
          <p:nvPr/>
        </p:nvSpPr>
        <p:spPr>
          <a:xfrm>
            <a:off x="621792" y="1911096"/>
            <a:ext cx="292608" cy="274320"/>
          </a:xfrm>
          <a:prstGeom prst="roundRect">
            <a:avLst>
              <a:gd name="adj" fmla="val 20000"/>
            </a:avLst>
          </a:prstGeom>
          <a:solidFill>
            <a:srgbClr val="2A3A55"/>
          </a:solidFill>
          <a:ln/>
        </p:spPr>
        <p:txBody>
          <a:bodyPr wrap="square" lIns="0" tIns="0" rIns="0" bIns="0" rtlCol="0" anchor="ctr"/>
          <a:lstStyle/>
          <a:p>
            <a:pPr algn="ctr" indent="0" marL="0">
              <a:buNone/>
            </a:pPr>
            <a:r>
              <a:rPr lang="en-US" sz="1200" b="1" dirty="0">
                <a:solidFill>
                  <a:srgbClr val="E6EDF7"/>
                </a:solidFill>
              </a:rPr>
              <a:t>A</a:t>
            </a:r>
            <a:endParaRPr lang="en-US" sz="1200" dirty="0"/>
          </a:p>
        </p:txBody>
      </p:sp>
      <p:sp>
        <p:nvSpPr>
          <p:cNvPr id="9" name="Text 6"/>
          <p:cNvSpPr txBox="1"/>
          <p:nvPr/>
        </p:nvSpPr>
        <p:spPr>
          <a:xfrm>
            <a:off x="1024128" y="1883664"/>
            <a:ext cx="7498080" cy="347472"/>
          </a:xfrm>
          <a:prstGeom prst="rect">
            <a:avLst/>
          </a:prstGeom>
          <a:noFill/>
          <a:ln/>
        </p:spPr>
        <p:txBody>
          <a:bodyPr wrap="square" lIns="0" tIns="0" rIns="0" bIns="0" rtlCol="0" anchor="ctr"/>
          <a:lstStyle/>
          <a:p>
            <a:pPr algn="l" indent="0" marL="0">
              <a:buNone/>
            </a:pPr>
            <a:r>
              <a:rPr lang="en-US" sz="1500" dirty="0">
                <a:solidFill>
                  <a:srgbClr val="9FB1C7"/>
                </a:solidFill>
              </a:rPr>
              <a:t>1</a:t>
            </a:r>
            <a:endParaRPr lang="en-US" sz="1500" dirty="0"/>
          </a:p>
        </p:txBody>
      </p:sp>
      <p:sp>
        <p:nvSpPr>
          <p:cNvPr id="10" name="Option B"/>
          <p:cNvSpPr/>
          <p:nvPr/>
        </p:nvSpPr>
        <p:spPr>
          <a:xfrm>
            <a:off x="502920" y="2359152"/>
            <a:ext cx="8138160" cy="438912"/>
          </a:xfrm>
          <a:prstGeom prst="roundRect">
            <a:avLst>
              <a:gd name="adj" fmla="val 20833"/>
            </a:avLst>
          </a:prstGeom>
          <a:solidFill>
            <a:schemeClr val="tx2"/>
          </a:solidFill>
          <a:ln w="12700">
            <a:solidFill>
              <a:srgbClr val="2A3A55"/>
            </a:solidFill>
            <a:prstDash val="solid"/>
          </a:ln>
        </p:spPr>
      </p:sp>
      <p:sp>
        <p:nvSpPr>
          <p:cNvPr id="11" name="Letter"/>
          <p:cNvSpPr/>
          <p:nvPr/>
        </p:nvSpPr>
        <p:spPr>
          <a:xfrm>
            <a:off x="621792" y="2441448"/>
            <a:ext cx="292608" cy="274320"/>
          </a:xfrm>
          <a:prstGeom prst="roundRect">
            <a:avLst>
              <a:gd name="adj" fmla="val 20000"/>
            </a:avLst>
          </a:prstGeom>
          <a:solidFill>
            <a:srgbClr val="2A3A55"/>
          </a:solidFill>
          <a:ln/>
        </p:spPr>
        <p:txBody>
          <a:bodyPr wrap="square" lIns="0" tIns="0" rIns="0" bIns="0" rtlCol="0" anchor="ctr"/>
          <a:lstStyle/>
          <a:p>
            <a:pPr algn="ctr" indent="0" marL="0">
              <a:buNone/>
            </a:pPr>
            <a:r>
              <a:rPr lang="en-US" sz="1200" b="1" dirty="0">
                <a:solidFill>
                  <a:srgbClr val="E6EDF7"/>
                </a:solidFill>
              </a:rPr>
              <a:t>B</a:t>
            </a:r>
            <a:endParaRPr lang="en-US" sz="1200" dirty="0"/>
          </a:p>
        </p:txBody>
      </p:sp>
      <p:sp>
        <p:nvSpPr>
          <p:cNvPr id="12" name="Text 9"/>
          <p:cNvSpPr txBox="1"/>
          <p:nvPr/>
        </p:nvSpPr>
        <p:spPr>
          <a:xfrm>
            <a:off x="1024128" y="2414016"/>
            <a:ext cx="7498080" cy="347472"/>
          </a:xfrm>
          <a:prstGeom prst="rect">
            <a:avLst/>
          </a:prstGeom>
          <a:noFill/>
          <a:ln/>
        </p:spPr>
        <p:txBody>
          <a:bodyPr wrap="square" lIns="0" tIns="0" rIns="0" bIns="0" rtlCol="0" anchor="ctr"/>
          <a:lstStyle/>
          <a:p>
            <a:pPr algn="l" indent="0" marL="0">
              <a:buNone/>
            </a:pPr>
            <a:r>
              <a:rPr lang="en-US" sz="1500" dirty="0">
                <a:solidFill>
                  <a:srgbClr val="9FB1C7"/>
                </a:solidFill>
              </a:rPr>
              <a:t>6</a:t>
            </a:r>
            <a:endParaRPr lang="en-US" sz="1500" dirty="0"/>
          </a:p>
        </p:txBody>
      </p:sp>
      <p:sp>
        <p:nvSpPr>
          <p:cNvPr id="13" name="Option C"/>
          <p:cNvSpPr/>
          <p:nvPr/>
        </p:nvSpPr>
        <p:spPr>
          <a:xfrm>
            <a:off x="502920" y="2889504"/>
            <a:ext cx="8138160" cy="438912"/>
          </a:xfrm>
          <a:prstGeom prst="roundRect">
            <a:avLst>
              <a:gd name="adj" fmla="val 20833"/>
            </a:avLst>
          </a:prstGeom>
          <a:solidFill>
            <a:schemeClr val="tx2"/>
          </a:solidFill>
          <a:ln w="12700">
            <a:solidFill>
              <a:srgbClr val="2A3A55"/>
            </a:solidFill>
            <a:prstDash val="solid"/>
          </a:ln>
        </p:spPr>
      </p:sp>
      <p:sp>
        <p:nvSpPr>
          <p:cNvPr id="14" name="Letter"/>
          <p:cNvSpPr/>
          <p:nvPr/>
        </p:nvSpPr>
        <p:spPr>
          <a:xfrm>
            <a:off x="621792" y="2971800"/>
            <a:ext cx="292608" cy="274320"/>
          </a:xfrm>
          <a:prstGeom prst="roundRect">
            <a:avLst>
              <a:gd name="adj" fmla="val 20000"/>
            </a:avLst>
          </a:prstGeom>
          <a:solidFill>
            <a:srgbClr val="2A3A55"/>
          </a:solidFill>
          <a:ln/>
        </p:spPr>
        <p:txBody>
          <a:bodyPr wrap="square" lIns="0" tIns="0" rIns="0" bIns="0" rtlCol="0" anchor="ctr"/>
          <a:lstStyle/>
          <a:p>
            <a:pPr algn="ctr" indent="0" marL="0">
              <a:buNone/>
            </a:pPr>
            <a:r>
              <a:rPr lang="en-US" sz="1200" b="1" dirty="0">
                <a:solidFill>
                  <a:srgbClr val="E6EDF7"/>
                </a:solidFill>
              </a:rPr>
              <a:t>C</a:t>
            </a:r>
            <a:endParaRPr lang="en-US" sz="1200" dirty="0"/>
          </a:p>
        </p:txBody>
      </p:sp>
      <p:sp>
        <p:nvSpPr>
          <p:cNvPr id="15" name="Text 12"/>
          <p:cNvSpPr txBox="1"/>
          <p:nvPr/>
        </p:nvSpPr>
        <p:spPr>
          <a:xfrm>
            <a:off x="1024128" y="2944368"/>
            <a:ext cx="7498080" cy="347472"/>
          </a:xfrm>
          <a:prstGeom prst="rect">
            <a:avLst/>
          </a:prstGeom>
          <a:noFill/>
          <a:ln/>
        </p:spPr>
        <p:txBody>
          <a:bodyPr wrap="square" lIns="0" tIns="0" rIns="0" bIns="0" rtlCol="0" anchor="ctr"/>
          <a:lstStyle/>
          <a:p>
            <a:pPr algn="l" indent="0" marL="0">
              <a:buNone/>
            </a:pPr>
            <a:r>
              <a:rPr lang="en-US" sz="1500" dirty="0">
                <a:solidFill>
                  <a:srgbClr val="9FB1C7"/>
                </a:solidFill>
              </a:rPr>
              <a:t>8</a:t>
            </a:r>
            <a:endParaRPr lang="en-US" sz="1500" dirty="0"/>
          </a:p>
        </p:txBody>
      </p:sp>
      <p:sp>
        <p:nvSpPr>
          <p:cNvPr id="16" name="Option D"/>
          <p:cNvSpPr/>
          <p:nvPr/>
        </p:nvSpPr>
        <p:spPr>
          <a:xfrm>
            <a:off x="502920" y="3419856"/>
            <a:ext cx="8138160" cy="438912"/>
          </a:xfrm>
          <a:prstGeom prst="roundRect">
            <a:avLst>
              <a:gd name="adj" fmla="val 20833"/>
            </a:avLst>
          </a:prstGeom>
          <a:solidFill>
            <a:srgbClr val="153D2A"/>
          </a:solidFill>
          <a:ln w="25400">
            <a:solidFill>
              <a:srgbClr val="4ADE80"/>
            </a:solidFill>
            <a:prstDash val="solid"/>
          </a:ln>
        </p:spPr>
      </p:sp>
      <p:sp>
        <p:nvSpPr>
          <p:cNvPr id="17" name="Letter"/>
          <p:cNvSpPr/>
          <p:nvPr/>
        </p:nvSpPr>
        <p:spPr>
          <a:xfrm>
            <a:off x="621792" y="3502152"/>
            <a:ext cx="292608" cy="274320"/>
          </a:xfrm>
          <a:prstGeom prst="roundRect">
            <a:avLst>
              <a:gd name="adj" fmla="val 20000"/>
            </a:avLst>
          </a:prstGeom>
          <a:solidFill>
            <a:srgbClr val="4ADE80"/>
          </a:solidFill>
          <a:ln/>
        </p:spPr>
        <p:txBody>
          <a:bodyPr wrap="square" lIns="0" tIns="0" rIns="0" bIns="0" rtlCol="0" anchor="ctr"/>
          <a:lstStyle/>
          <a:p>
            <a:pPr algn="ctr" indent="0" marL="0">
              <a:buNone/>
            </a:pPr>
            <a:r>
              <a:rPr lang="en-US" sz="1200" b="1" dirty="0">
                <a:solidFill>
                  <a:srgbClr val="06240F"/>
                </a:solidFill>
              </a:rPr>
              <a:t>D</a:t>
            </a:r>
            <a:endParaRPr lang="en-US" sz="1200" dirty="0"/>
          </a:p>
        </p:txBody>
      </p:sp>
      <p:sp>
        <p:nvSpPr>
          <p:cNvPr id="18" name="Text 15"/>
          <p:cNvSpPr txBox="1"/>
          <p:nvPr/>
        </p:nvSpPr>
        <p:spPr>
          <a:xfrm>
            <a:off x="1024128" y="3474720"/>
            <a:ext cx="7498080" cy="347472"/>
          </a:xfrm>
          <a:prstGeom prst="rect">
            <a:avLst/>
          </a:prstGeom>
          <a:noFill/>
          <a:ln/>
        </p:spPr>
        <p:txBody>
          <a:bodyPr wrap="square" lIns="0" tIns="0" rIns="0" bIns="0" rtlCol="0" anchor="ctr"/>
          <a:lstStyle/>
          <a:p>
            <a:pPr algn="l" indent="0" marL="0">
              <a:buNone/>
            </a:pPr>
            <a:r>
              <a:rPr lang="en-US" sz="1500" dirty="0">
                <a:solidFill>
                  <a:schemeClr val="bg1"/>
                </a:solidFill>
              </a:rPr>
              <a:t>2</a:t>
            </a:r>
            <a:endParaRPr lang="en-US" sz="1500" dirty="0"/>
          </a:p>
        </p:txBody>
      </p:sp>
      <p:sp>
        <p:nvSpPr>
          <p:cNvPr id="19" name="Why"/>
          <p:cNvSpPr/>
          <p:nvPr/>
        </p:nvSpPr>
        <p:spPr>
          <a:xfrm>
            <a:off x="502920" y="3995928"/>
            <a:ext cx="8138160" cy="566928"/>
          </a:xfrm>
          <a:prstGeom prst="roundRect">
            <a:avLst>
              <a:gd name="adj" fmla="val 16129"/>
            </a:avLst>
          </a:prstGeom>
          <a:solidFill>
            <a:srgbClr val="153D2A"/>
          </a:solidFill>
          <a:ln w="12700">
            <a:solidFill>
              <a:srgbClr val="2F6B47"/>
            </a:solidFill>
            <a:prstDash val="solid"/>
          </a:ln>
        </p:spPr>
      </p:sp>
      <p:sp>
        <p:nvSpPr>
          <p:cNvPr id="20" name="Text 17"/>
          <p:cNvSpPr txBox="1"/>
          <p:nvPr/>
        </p:nvSpPr>
        <p:spPr>
          <a:xfrm>
            <a:off x="685800" y="4050792"/>
            <a:ext cx="7772400" cy="475488"/>
          </a:xfrm>
          <a:prstGeom prst="rect">
            <a:avLst/>
          </a:prstGeom>
          <a:noFill/>
          <a:ln/>
        </p:spPr>
        <p:txBody>
          <a:bodyPr wrap="square" lIns="0" tIns="0" rIns="0" bIns="0" rtlCol="0" anchor="ctr"/>
          <a:lstStyle/>
          <a:p>
            <a:pPr algn="l" indent="0" marL="0">
              <a:buNone/>
            </a:pPr>
            <a:r>
              <a:rPr lang="en-US" sz="1400" b="1" dirty="0">
                <a:solidFill>
                  <a:schemeClr val="accent4"/>
                </a:solidFill>
              </a:rPr>
              <a:t>Why: </a:t>
            </a:r>
            <a:pPr algn="l" indent="0" marL="0">
              <a:buNone/>
            </a:pPr>
            <a:r>
              <a:rPr lang="en-US" sz="1400" dirty="0">
                <a:solidFill>
                  <a:schemeClr val="bg1"/>
                </a:solidFill>
              </a:rPr>
              <a:t>Magnesium has 2 valence electrons and oxygen needs 2 more. Both move: Mg²⁺ and O²⁻.</a:t>
            </a:r>
            <a:endParaRPr lang="en-US" sz="14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FB1C7"/>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body" hasCustomPrompt="1"/>
          </p:nvPr>
        </p:nvSpPr>
        <p:spPr>
          <a:xfrm>
            <a:off x="1645920" y="274320"/>
            <a:ext cx="6949440" cy="274320"/>
          </a:xfrm>
          <a:prstGeom prst="rect">
            <a:avLst/>
          </a:prstGeom>
          <a:noFill/>
          <a:ln/>
        </p:spPr>
        <p:txBody>
          <a:bodyPr wrap="square" lIns="0" tIns="0" rIns="0" bIns="0" rtlCol="0"/>
          <a:lstStyle/>
          <a:p>
            <a:pPr indent="0" marL="0">
              <a:buNone/>
            </a:pPr>
            <a:r>
              <a:rPr lang="en-US" sz="1300" dirty="0">
                <a:solidFill>
                  <a:schemeClr val="bg2"/>
                </a:solidFill>
              </a:rPr>
              <a:t>Section 4 of 9 · about 5 min</a:t>
            </a:r>
            <a:endParaRPr lang="en-US" sz="1300" dirty="0"/>
          </a:p>
        </p:txBody>
      </p:sp>
      <p:sp>
        <p:nvSpPr>
          <p:cNvPr id="3" name="Text 0"/>
          <p:cNvSpPr/>
          <p:nvPr>
            <p:ph idx="100" type="title" hasCustomPrompt="1"/>
          </p:nvPr>
        </p:nvSpPr>
        <p:spPr>
          <a:xfrm>
            <a:off x="1645920" y="548640"/>
            <a:ext cx="7040880" cy="685800"/>
          </a:xfrm>
          <a:prstGeom prst="rect">
            <a:avLst/>
          </a:prstGeom>
          <a:noFill/>
          <a:ln/>
        </p:spPr>
        <p:txBody>
          <a:bodyPr wrap="square" lIns="0" tIns="0" rIns="0" bIns="0" rtlCol="0" anchor="ctr"/>
          <a:lstStyle/>
          <a:p>
            <a:pPr algn="l" indent="0" marL="0">
              <a:buNone/>
            </a:pPr>
            <a:r>
              <a:rPr lang="en-US" sz="3000" b="1" dirty="0">
                <a:solidFill>
                  <a:schemeClr val="bg1"/>
                </a:solidFill>
                <a:latin typeface="Arial" pitchFamily="34" charset="0"/>
                <a:ea typeface="Arial" pitchFamily="34" charset="-122"/>
                <a:cs typeface="Arial" pitchFamily="34" charset="-120"/>
              </a:rPr>
              <a:t>When one electron is not enough</a:t>
            </a:r>
            <a:endParaRPr lang="en-US" sz="3000" dirty="0"/>
          </a:p>
        </p:txBody>
      </p:sp>
      <p:pic>
        <p:nvPicPr>
          <p:cNvPr id="4" name="Icon 4" descr="Section 4 icon">    </p:cNvPr>
          <p:cNvPicPr>
            <a:picLocks noChangeAspect="1"/>
          </p:cNvPicPr>
          <p:nvPr/>
        </p:nvPicPr>
        <p:blipFill>
          <a:blip r:embed="rId1"/>
          <a:stretch>
            <a:fillRect/>
          </a:stretch>
        </p:blipFill>
        <p:spPr>
          <a:xfrm>
            <a:off x="502920" y="274320"/>
            <a:ext cx="914400" cy="1011677"/>
          </a:xfrm>
          <a:prstGeom prst="rect">
            <a:avLst/>
          </a:prstGeom>
        </p:spPr>
      </p:pic>
      <p:sp>
        <p:nvSpPr>
          <p:cNvPr id="5" name="In this section"/>
          <p:cNvSpPr/>
          <p:nvPr/>
        </p:nvSpPr>
        <p:spPr>
          <a:xfrm>
            <a:off x="502920" y="1600200"/>
            <a:ext cx="3931920" cy="2926080"/>
          </a:xfrm>
          <a:prstGeom prst="roundRect">
            <a:avLst>
              <a:gd name="adj" fmla="val 3125"/>
            </a:avLst>
          </a:prstGeom>
          <a:solidFill>
            <a:schemeClr val="tx2"/>
          </a:solidFill>
          <a:ln w="12700">
            <a:solidFill>
              <a:srgbClr val="2A3A55"/>
            </a:solidFill>
            <a:prstDash val="solid"/>
          </a:ln>
        </p:spPr>
      </p:sp>
      <p:sp>
        <p:nvSpPr>
          <p:cNvPr id="6" name="Text 3"/>
          <p:cNvSpPr txBox="1"/>
          <p:nvPr/>
        </p:nvSpPr>
        <p:spPr>
          <a:xfrm>
            <a:off x="731520" y="1783080"/>
            <a:ext cx="3474720" cy="320040"/>
          </a:xfrm>
          <a:prstGeom prst="rect">
            <a:avLst/>
          </a:prstGeom>
          <a:noFill/>
          <a:ln/>
        </p:spPr>
        <p:txBody>
          <a:bodyPr wrap="square" lIns="0" tIns="0" rIns="0" bIns="0" rtlCol="0" anchor="t"/>
          <a:lstStyle/>
          <a:p>
            <a:pPr algn="l" indent="0" marL="0">
              <a:buNone/>
            </a:pPr>
            <a:r>
              <a:rPr lang="en-US" sz="1600" b="1" dirty="0">
                <a:solidFill>
                  <a:schemeClr val="accent1"/>
                </a:solidFill>
              </a:rPr>
              <a:t>In this section</a:t>
            </a:r>
            <a:endParaRPr lang="en-US" sz="1600" dirty="0"/>
          </a:p>
        </p:txBody>
      </p:sp>
      <p:sp>
        <p:nvSpPr>
          <p:cNvPr id="7" name="Tag Read"/>
          <p:cNvSpPr/>
          <p:nvPr/>
        </p:nvSpPr>
        <p:spPr>
          <a:xfrm>
            <a:off x="731520" y="2240280"/>
            <a:ext cx="1051560" cy="219456"/>
          </a:xfrm>
          <a:prstGeom prst="roundRect">
            <a:avLst>
              <a:gd name="adj" fmla="val 41667"/>
            </a:avLst>
          </a:prstGeom>
          <a:solidFill>
            <a:srgbClr val="25305A"/>
          </a:solidFill>
          <a:ln/>
        </p:spPr>
        <p:txBody>
          <a:bodyPr wrap="square" lIns="0" tIns="0" rIns="0" bIns="0" rtlCol="0" anchor="ctr"/>
          <a:lstStyle/>
          <a:p>
            <a:pPr algn="ctr" indent="0" marL="0">
              <a:buNone/>
            </a:pPr>
            <a:r>
              <a:rPr lang="en-US" sz="1000" b="1" dirty="0">
                <a:solidFill>
                  <a:srgbClr val="C3CFFC"/>
                </a:solidFill>
              </a:rPr>
              <a:t>Read</a:t>
            </a:r>
            <a:endParaRPr lang="en-US" sz="1000" dirty="0"/>
          </a:p>
        </p:txBody>
      </p:sp>
      <p:sp>
        <p:nvSpPr>
          <p:cNvPr id="8" name="Text 5"/>
          <p:cNvSpPr txBox="1"/>
          <p:nvPr/>
        </p:nvSpPr>
        <p:spPr>
          <a:xfrm>
            <a:off x="1920240" y="2212848"/>
            <a:ext cx="2377440" cy="292608"/>
          </a:xfrm>
          <a:prstGeom prst="rect">
            <a:avLst/>
          </a:prstGeom>
          <a:noFill/>
          <a:ln/>
        </p:spPr>
        <p:txBody>
          <a:bodyPr wrap="square" lIns="0" tIns="0" rIns="0" bIns="0" rtlCol="0" anchor="t"/>
          <a:lstStyle/>
          <a:p>
            <a:pPr algn="l" indent="0" marL="0">
              <a:buNone/>
            </a:pPr>
            <a:r>
              <a:rPr lang="en-US" sz="1400" dirty="0">
                <a:solidFill>
                  <a:schemeClr val="bg1"/>
                </a:solidFill>
              </a:rPr>
              <a:t>Sometimes you need more atoms</a:t>
            </a:r>
            <a:endParaRPr lang="en-US" sz="1400" dirty="0"/>
          </a:p>
        </p:txBody>
      </p:sp>
      <p:sp>
        <p:nvSpPr>
          <p:cNvPr id="9" name="Tag Try it"/>
          <p:cNvSpPr/>
          <p:nvPr/>
        </p:nvSpPr>
        <p:spPr>
          <a:xfrm>
            <a:off x="731520" y="2743200"/>
            <a:ext cx="1051560" cy="219456"/>
          </a:xfrm>
          <a:prstGeom prst="roundRect">
            <a:avLst>
              <a:gd name="adj" fmla="val 41667"/>
            </a:avLst>
          </a:prstGeom>
          <a:solidFill>
            <a:srgbClr val="5FE1FF"/>
          </a:solidFill>
          <a:ln/>
        </p:spPr>
        <p:txBody>
          <a:bodyPr wrap="square" lIns="0" tIns="0" rIns="0" bIns="0" rtlCol="0" anchor="ctr"/>
          <a:lstStyle/>
          <a:p>
            <a:pPr algn="ctr" indent="0" marL="0">
              <a:buNone/>
            </a:pPr>
            <a:r>
              <a:rPr lang="en-US" sz="1000" b="1" dirty="0">
                <a:solidFill>
                  <a:srgbClr val="0B2630"/>
                </a:solidFill>
              </a:rPr>
              <a:t>Try it</a:t>
            </a:r>
            <a:endParaRPr lang="en-US" sz="1000" dirty="0"/>
          </a:p>
        </p:txBody>
      </p:sp>
      <p:sp>
        <p:nvSpPr>
          <p:cNvPr id="10" name="Text 7"/>
          <p:cNvSpPr txBox="1"/>
          <p:nvPr/>
        </p:nvSpPr>
        <p:spPr>
          <a:xfrm>
            <a:off x="1920240" y="2715768"/>
            <a:ext cx="2377440" cy="292608"/>
          </a:xfrm>
          <a:prstGeom prst="rect">
            <a:avLst/>
          </a:prstGeom>
          <a:noFill/>
          <a:ln/>
        </p:spPr>
        <p:txBody>
          <a:bodyPr wrap="square" lIns="0" tIns="0" rIns="0" bIns="0" rtlCol="0" anchor="t"/>
          <a:lstStyle/>
          <a:p>
            <a:pPr algn="l" indent="0" marL="0">
              <a:buNone/>
            </a:pPr>
            <a:r>
              <a:rPr lang="en-US" sz="1400" dirty="0">
                <a:solidFill>
                  <a:schemeClr val="bg1"/>
                </a:solidFill>
              </a:rPr>
              <a:t>Build the compound</a:t>
            </a:r>
            <a:endParaRPr lang="en-US" sz="1400" dirty="0"/>
          </a:p>
        </p:txBody>
      </p:sp>
      <p:sp>
        <p:nvSpPr>
          <p:cNvPr id="11" name="Tag Quick check"/>
          <p:cNvSpPr/>
          <p:nvPr/>
        </p:nvSpPr>
        <p:spPr>
          <a:xfrm>
            <a:off x="731520" y="3246120"/>
            <a:ext cx="1051560" cy="219456"/>
          </a:xfrm>
          <a:prstGeom prst="roundRect">
            <a:avLst>
              <a:gd name="adj" fmla="val 41667"/>
            </a:avLst>
          </a:prstGeom>
          <a:solidFill>
            <a:srgbClr val="F6B93B"/>
          </a:solidFill>
          <a:ln/>
        </p:spPr>
        <p:txBody>
          <a:bodyPr wrap="square" lIns="0" tIns="0" rIns="0" bIns="0" rtlCol="0" anchor="ctr"/>
          <a:lstStyle/>
          <a:p>
            <a:pPr algn="ctr" indent="0" marL="0">
              <a:buNone/>
            </a:pPr>
            <a:r>
              <a:rPr lang="en-US" sz="1000" b="1" dirty="0">
                <a:solidFill>
                  <a:srgbClr val="241703"/>
                </a:solidFill>
              </a:rPr>
              <a:t>Quick check</a:t>
            </a:r>
            <a:endParaRPr lang="en-US" sz="1000" dirty="0"/>
          </a:p>
        </p:txBody>
      </p:sp>
      <p:sp>
        <p:nvSpPr>
          <p:cNvPr id="12" name="Text 9"/>
          <p:cNvSpPr txBox="1"/>
          <p:nvPr/>
        </p:nvSpPr>
        <p:spPr>
          <a:xfrm>
            <a:off x="1920240" y="3218688"/>
            <a:ext cx="2377440" cy="292608"/>
          </a:xfrm>
          <a:prstGeom prst="rect">
            <a:avLst/>
          </a:prstGeom>
          <a:noFill/>
          <a:ln/>
        </p:spPr>
        <p:txBody>
          <a:bodyPr wrap="square" lIns="0" tIns="0" rIns="0" bIns="0" rtlCol="0" anchor="t"/>
          <a:lstStyle/>
          <a:p>
            <a:pPr algn="l" indent="0" marL="0">
              <a:buNone/>
            </a:pPr>
            <a:r>
              <a:rPr lang="en-US" sz="1400" dirty="0">
                <a:solidFill>
                  <a:schemeClr val="bg1"/>
                </a:solidFill>
              </a:rPr>
              <a:t>Calcium and fluorine</a:t>
            </a:r>
            <a:endParaRPr lang="en-US" sz="1400" dirty="0"/>
          </a:p>
        </p:txBody>
      </p:sp>
      <p:sp>
        <p:nvSpPr>
          <p:cNvPr id="13" name="To unlock"/>
          <p:cNvSpPr/>
          <p:nvPr/>
        </p:nvSpPr>
        <p:spPr>
          <a:xfrm>
            <a:off x="4709160" y="1600200"/>
            <a:ext cx="3931920" cy="2926080"/>
          </a:xfrm>
          <a:prstGeom prst="roundRect">
            <a:avLst>
              <a:gd name="adj" fmla="val 3125"/>
            </a:avLst>
          </a:prstGeom>
          <a:solidFill>
            <a:schemeClr val="tx2"/>
          </a:solidFill>
          <a:ln w="12700">
            <a:solidFill>
              <a:srgbClr val="2A3A55"/>
            </a:solidFill>
            <a:prstDash val="solid"/>
          </a:ln>
        </p:spPr>
      </p:sp>
      <p:sp>
        <p:nvSpPr>
          <p:cNvPr id="14" name="Text 11"/>
          <p:cNvSpPr txBox="1"/>
          <p:nvPr/>
        </p:nvSpPr>
        <p:spPr>
          <a:xfrm>
            <a:off x="4937760" y="1783080"/>
            <a:ext cx="3474720" cy="320040"/>
          </a:xfrm>
          <a:prstGeom prst="rect">
            <a:avLst/>
          </a:prstGeom>
          <a:noFill/>
          <a:ln/>
        </p:spPr>
        <p:txBody>
          <a:bodyPr wrap="square" lIns="0" tIns="0" rIns="0" bIns="0" rtlCol="0" anchor="t"/>
          <a:lstStyle/>
          <a:p>
            <a:pPr algn="l" indent="0" marL="0">
              <a:buNone/>
            </a:pPr>
            <a:r>
              <a:rPr lang="en-US" sz="1600" b="1" dirty="0">
                <a:solidFill>
                  <a:schemeClr val="accent4"/>
                </a:solidFill>
              </a:rPr>
              <a:t>To unlock the next section</a:t>
            </a:r>
            <a:endParaRPr lang="en-US" sz="1600" dirty="0"/>
          </a:p>
        </p:txBody>
      </p:sp>
      <p:sp>
        <p:nvSpPr>
          <p:cNvPr id="15" name="Checkbox"/>
          <p:cNvSpPr/>
          <p:nvPr/>
        </p:nvSpPr>
        <p:spPr>
          <a:xfrm>
            <a:off x="4937760" y="2286000"/>
            <a:ext cx="182880" cy="182880"/>
          </a:xfrm>
          <a:prstGeom prst="rect">
            <a:avLst/>
          </a:prstGeom>
          <a:solidFill>
            <a:schemeClr val="tx2"/>
          </a:solidFill>
          <a:ln w="12700">
            <a:solidFill>
              <a:schemeClr val="bg2"/>
            </a:solidFill>
            <a:prstDash val="solid"/>
          </a:ln>
        </p:spPr>
      </p:sp>
      <p:sp>
        <p:nvSpPr>
          <p:cNvPr id="16" name="Text 13"/>
          <p:cNvSpPr txBox="1"/>
          <p:nvPr/>
        </p:nvSpPr>
        <p:spPr>
          <a:xfrm>
            <a:off x="5257800" y="2221992"/>
            <a:ext cx="3200400" cy="457200"/>
          </a:xfrm>
          <a:prstGeom prst="rect">
            <a:avLst/>
          </a:prstGeom>
          <a:noFill/>
          <a:ln/>
        </p:spPr>
        <p:txBody>
          <a:bodyPr wrap="square" lIns="0" tIns="0" rIns="0" bIns="0" rtlCol="0" anchor="t"/>
          <a:lstStyle/>
          <a:p>
            <a:pPr algn="l" indent="0" marL="0">
              <a:buNone/>
            </a:pPr>
            <a:r>
              <a:rPr lang="en-US" sz="1400" dirty="0">
                <a:solidFill>
                  <a:schemeClr val="bg1"/>
                </a:solidFill>
              </a:rPr>
              <a:t>Build 2 compounds with the right number of atoms</a:t>
            </a:r>
            <a:endParaRPr lang="en-US" sz="1400" dirty="0"/>
          </a:p>
        </p:txBody>
      </p:sp>
      <p:sp>
        <p:nvSpPr>
          <p:cNvPr id="17" name="Checkbox"/>
          <p:cNvSpPr/>
          <p:nvPr/>
        </p:nvSpPr>
        <p:spPr>
          <a:xfrm>
            <a:off x="4937760" y="2834640"/>
            <a:ext cx="182880" cy="182880"/>
          </a:xfrm>
          <a:prstGeom prst="rect">
            <a:avLst/>
          </a:prstGeom>
          <a:solidFill>
            <a:schemeClr val="tx2"/>
          </a:solidFill>
          <a:ln w="12700">
            <a:solidFill>
              <a:schemeClr val="bg2"/>
            </a:solidFill>
            <a:prstDash val="solid"/>
          </a:ln>
        </p:spPr>
      </p:sp>
      <p:sp>
        <p:nvSpPr>
          <p:cNvPr id="18" name="Text 15"/>
          <p:cNvSpPr txBox="1"/>
          <p:nvPr/>
        </p:nvSpPr>
        <p:spPr>
          <a:xfrm>
            <a:off x="5257800" y="2770632"/>
            <a:ext cx="3200400" cy="457200"/>
          </a:xfrm>
          <a:prstGeom prst="rect">
            <a:avLst/>
          </a:prstGeom>
          <a:noFill/>
          <a:ln/>
        </p:spPr>
        <p:txBody>
          <a:bodyPr wrap="square" lIns="0" tIns="0" rIns="0" bIns="0" rtlCol="0" anchor="t"/>
          <a:lstStyle/>
          <a:p>
            <a:pPr algn="l" indent="0" marL="0">
              <a:buNone/>
            </a:pPr>
            <a:r>
              <a:rPr lang="en-US" sz="1400" dirty="0">
                <a:solidFill>
                  <a:schemeClr val="bg1"/>
                </a:solidFill>
              </a:rPr>
              <a:t>Answer the quick check correctly</a:t>
            </a:r>
            <a:endParaRPr lang="en-US" sz="14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FB1C7"/>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1234440" y="292608"/>
            <a:ext cx="7452360" cy="548640"/>
          </a:xfrm>
          <a:prstGeom prst="rect">
            <a:avLst/>
          </a:prstGeom>
          <a:noFill/>
          <a:ln/>
        </p:spPr>
        <p:txBody>
          <a:bodyPr wrap="square" lIns="0" tIns="0" rIns="0" bIns="0" rtlCol="0" anchor="ctr"/>
          <a:lstStyle/>
          <a:p>
            <a:pPr algn="l" indent="0" marL="0">
              <a:buNone/>
            </a:pPr>
            <a:r>
              <a:rPr lang="en-US" sz="2800" b="1" dirty="0">
                <a:solidFill>
                  <a:schemeClr val="bg1"/>
                </a:solidFill>
                <a:latin typeface="Arial" pitchFamily="34" charset="0"/>
                <a:ea typeface="Arial" pitchFamily="34" charset="-122"/>
                <a:cs typeface="Arial" pitchFamily="34" charset="-120"/>
              </a:rPr>
              <a:t>Sometimes you need more atoms</a:t>
            </a:r>
            <a:endParaRPr lang="en-US" sz="2800" dirty="0"/>
          </a:p>
        </p:txBody>
      </p:sp>
      <p:pic>
        <p:nvPicPr>
          <p:cNvPr id="3" name="Icon 4" descr="Section 4 icon">    </p:cNvPr>
          <p:cNvPicPr>
            <a:picLocks noChangeAspect="1"/>
          </p:cNvPicPr>
          <p:nvPr/>
        </p:nvPicPr>
        <p:blipFill>
          <a:blip r:embed="rId1"/>
          <a:stretch>
            <a:fillRect/>
          </a:stretch>
        </p:blipFill>
        <p:spPr>
          <a:xfrm>
            <a:off x="502920" y="201168"/>
            <a:ext cx="566928" cy="627239"/>
          </a:xfrm>
          <a:prstGeom prst="rect">
            <a:avLst/>
          </a:prstGeom>
        </p:spPr>
      </p:pic>
      <p:sp>
        <p:nvSpPr>
          <p:cNvPr id="4" name="Tag Read"/>
          <p:cNvSpPr/>
          <p:nvPr/>
        </p:nvSpPr>
        <p:spPr>
          <a:xfrm>
            <a:off x="1234440" y="45720"/>
            <a:ext cx="1051560" cy="219456"/>
          </a:xfrm>
          <a:prstGeom prst="roundRect">
            <a:avLst>
              <a:gd name="adj" fmla="val 41667"/>
            </a:avLst>
          </a:prstGeom>
          <a:solidFill>
            <a:srgbClr val="25305A"/>
          </a:solidFill>
          <a:ln/>
        </p:spPr>
        <p:txBody>
          <a:bodyPr wrap="square" lIns="0" tIns="0" rIns="0" bIns="0" rtlCol="0" anchor="ctr"/>
          <a:lstStyle/>
          <a:p>
            <a:pPr algn="ctr" indent="0" marL="0">
              <a:buNone/>
            </a:pPr>
            <a:r>
              <a:rPr lang="en-US" sz="1000" b="1" dirty="0">
                <a:solidFill>
                  <a:srgbClr val="C3CFFC"/>
                </a:solidFill>
              </a:rPr>
              <a:t>Read</a:t>
            </a:r>
            <a:endParaRPr lang="en-US" sz="1000" dirty="0"/>
          </a:p>
        </p:txBody>
      </p:sp>
      <p:sp>
        <p:nvSpPr>
          <p:cNvPr id="5" name="Text 2"/>
          <p:cNvSpPr txBox="1"/>
          <p:nvPr/>
        </p:nvSpPr>
        <p:spPr>
          <a:xfrm>
            <a:off x="502920" y="960120"/>
            <a:ext cx="3657600" cy="2011680"/>
          </a:xfrm>
          <a:prstGeom prst="rect">
            <a:avLst/>
          </a:prstGeom>
          <a:noFill/>
          <a:ln/>
        </p:spPr>
        <p:txBody>
          <a:bodyPr wrap="square" lIns="0" tIns="0" rIns="0" bIns="0" rtlCol="0" anchor="t"/>
          <a:lstStyle/>
          <a:p>
            <a:pPr algn="l" indent="0" marL="0">
              <a:spcAft>
                <a:spcPts val="1000"/>
              </a:spcAft>
              <a:buNone/>
            </a:pPr>
            <a:r>
              <a:rPr lang="en-US" sz="1500" dirty="0">
                <a:solidFill>
                  <a:schemeClr val="bg1"/>
                </a:solidFill>
              </a:rPr>
              <a:t>Magnesium gives </a:t>
            </a:r>
            <a:pPr algn="l" indent="0" marL="0">
              <a:spcAft>
                <a:spcPts val="1000"/>
              </a:spcAft>
              <a:buNone/>
            </a:pPr>
            <a:r>
              <a:rPr lang="en-US" sz="1500" b="1" dirty="0">
                <a:solidFill>
                  <a:schemeClr val="bg1"/>
                </a:solidFill>
              </a:rPr>
              <a:t>2</a:t>
            </a:r>
            <a:pPr algn="l" indent="0" marL="0">
              <a:spcAft>
                <a:spcPts val="1000"/>
              </a:spcAft>
              <a:buNone/>
            </a:pPr>
            <a:r>
              <a:rPr lang="en-US" sz="1500" dirty="0">
                <a:solidFill>
                  <a:schemeClr val="bg1"/>
                </a:solidFill>
              </a:rPr>
              <a:t> electrons, but one chlorine takes only </a:t>
            </a:r>
            <a:pPr algn="l" indent="0" marL="0">
              <a:spcAft>
                <a:spcPts val="1000"/>
              </a:spcAft>
              <a:buNone/>
            </a:pPr>
            <a:r>
              <a:rPr lang="en-US" sz="1500" b="1" dirty="0">
                <a:solidFill>
                  <a:schemeClr val="bg1"/>
                </a:solidFill>
              </a:rPr>
              <a:t>1</a:t>
            </a:r>
            <a:pPr algn="l" indent="0" marL="0">
              <a:spcAft>
                <a:spcPts val="1000"/>
              </a:spcAft>
              <a:buNone/>
            </a:pPr>
            <a:r>
              <a:rPr lang="en-US" sz="1500" dirty="0">
                <a:solidFill>
                  <a:schemeClr val="bg1"/>
                </a:solidFill>
              </a:rPr>
              <a:t>. So magnesium needs two chlorine atoms.</a:t>
            </a:r>
            <a:endParaRPr lang="en-US" sz="1500" dirty="0"/>
          </a:p>
          <a:p>
            <a:pPr algn="l" indent="0" marL="0">
              <a:spcAft>
                <a:spcPts val="1000"/>
              </a:spcAft>
              <a:buNone/>
            </a:pPr>
            <a:r>
              <a:rPr lang="en-US" sz="1500" b="1" dirty="0">
                <a:solidFill>
                  <a:schemeClr val="accent2"/>
                </a:solidFill>
              </a:rPr>
              <a:t>The rule: </a:t>
            </a:r>
            <a:pPr algn="l" indent="0" marL="0">
              <a:spcAft>
                <a:spcPts val="1000"/>
              </a:spcAft>
              <a:buNone/>
            </a:pPr>
            <a:r>
              <a:rPr lang="en-US" sz="1500" dirty="0">
                <a:solidFill>
                  <a:schemeClr val="bg1"/>
                </a:solidFill>
              </a:rPr>
              <a:t>electrons given = electrons taken.</a:t>
            </a:r>
            <a:endParaRPr lang="en-US" sz="1500" dirty="0"/>
          </a:p>
        </p:txBody>
      </p:sp>
      <p:pic>
        <p:nvPicPr>
          <p:cNvPr id="6" name="mgcl2_before" descr="1  Before">    </p:cNvPr>
          <p:cNvPicPr>
            <a:picLocks noChangeAspect="1"/>
          </p:cNvPicPr>
          <p:nvPr/>
        </p:nvPicPr>
        <p:blipFill>
          <a:blip r:embed="rId2"/>
          <a:stretch>
            <a:fillRect/>
          </a:stretch>
        </p:blipFill>
        <p:spPr>
          <a:xfrm>
            <a:off x="5257800" y="914400"/>
            <a:ext cx="3154680" cy="1267505"/>
          </a:xfrm>
          <a:prstGeom prst="rect">
            <a:avLst/>
          </a:prstGeom>
        </p:spPr>
      </p:pic>
      <p:sp>
        <p:nvSpPr>
          <p:cNvPr id="7" name="Text 3"/>
          <p:cNvSpPr txBox="1"/>
          <p:nvPr/>
        </p:nvSpPr>
        <p:spPr>
          <a:xfrm>
            <a:off x="4434840" y="1371600"/>
            <a:ext cx="777240" cy="457200"/>
          </a:xfrm>
          <a:prstGeom prst="rect">
            <a:avLst/>
          </a:prstGeom>
          <a:noFill/>
          <a:ln/>
        </p:spPr>
        <p:txBody>
          <a:bodyPr wrap="square" lIns="0" tIns="0" rIns="0" bIns="0" rtlCol="0" anchor="t"/>
          <a:lstStyle/>
          <a:p>
            <a:pPr algn="l" indent="0" marL="0">
              <a:buNone/>
            </a:pPr>
            <a:r>
              <a:rPr lang="en-US" sz="1200" b="1" dirty="0">
                <a:solidFill>
                  <a:schemeClr val="accent2"/>
                </a:solidFill>
              </a:rPr>
              <a:t>1  Before</a:t>
            </a:r>
            <a:endParaRPr lang="en-US" sz="1200" dirty="0"/>
          </a:p>
        </p:txBody>
      </p:sp>
      <p:pic>
        <p:nvPicPr>
          <p:cNvPr id="8" name="mgcl2_mid" descr="2  Electrons move">    </p:cNvPr>
          <p:cNvPicPr>
            <a:picLocks noChangeAspect="1"/>
          </p:cNvPicPr>
          <p:nvPr/>
        </p:nvPicPr>
        <p:blipFill>
          <a:blip r:embed="rId3"/>
          <a:stretch>
            <a:fillRect/>
          </a:stretch>
        </p:blipFill>
        <p:spPr>
          <a:xfrm>
            <a:off x="5257800" y="2258568"/>
            <a:ext cx="3154680" cy="1267505"/>
          </a:xfrm>
          <a:prstGeom prst="rect">
            <a:avLst/>
          </a:prstGeom>
        </p:spPr>
      </p:pic>
      <p:sp>
        <p:nvSpPr>
          <p:cNvPr id="9" name="Text 4"/>
          <p:cNvSpPr txBox="1"/>
          <p:nvPr/>
        </p:nvSpPr>
        <p:spPr>
          <a:xfrm>
            <a:off x="4434840" y="2715768"/>
            <a:ext cx="777240" cy="457200"/>
          </a:xfrm>
          <a:prstGeom prst="rect">
            <a:avLst/>
          </a:prstGeom>
          <a:noFill/>
          <a:ln/>
        </p:spPr>
        <p:txBody>
          <a:bodyPr wrap="square" lIns="0" tIns="0" rIns="0" bIns="0" rtlCol="0" anchor="t"/>
          <a:lstStyle/>
          <a:p>
            <a:pPr algn="l" indent="0" marL="0">
              <a:buNone/>
            </a:pPr>
            <a:r>
              <a:rPr lang="en-US" sz="1200" b="1" dirty="0">
                <a:solidFill>
                  <a:schemeClr val="accent2"/>
                </a:solidFill>
              </a:rPr>
              <a:t>2  Electrons move</a:t>
            </a:r>
            <a:endParaRPr lang="en-US" sz="1200" dirty="0"/>
          </a:p>
        </p:txBody>
      </p:sp>
      <p:pic>
        <p:nvPicPr>
          <p:cNvPr id="10" name="mgcl2_after" descr="3  MgCl₂">    </p:cNvPr>
          <p:cNvPicPr>
            <a:picLocks noChangeAspect="1"/>
          </p:cNvPicPr>
          <p:nvPr/>
        </p:nvPicPr>
        <p:blipFill>
          <a:blip r:embed="rId4"/>
          <a:stretch>
            <a:fillRect/>
          </a:stretch>
        </p:blipFill>
        <p:spPr>
          <a:xfrm>
            <a:off x="5257800" y="3602736"/>
            <a:ext cx="3154680" cy="1267505"/>
          </a:xfrm>
          <a:prstGeom prst="rect">
            <a:avLst/>
          </a:prstGeom>
        </p:spPr>
      </p:pic>
      <p:sp>
        <p:nvSpPr>
          <p:cNvPr id="11" name="Text 5"/>
          <p:cNvSpPr txBox="1"/>
          <p:nvPr/>
        </p:nvSpPr>
        <p:spPr>
          <a:xfrm>
            <a:off x="4434840" y="4059936"/>
            <a:ext cx="777240" cy="457200"/>
          </a:xfrm>
          <a:prstGeom prst="rect">
            <a:avLst/>
          </a:prstGeom>
          <a:noFill/>
          <a:ln/>
        </p:spPr>
        <p:txBody>
          <a:bodyPr wrap="square" lIns="0" tIns="0" rIns="0" bIns="0" rtlCol="0" anchor="t"/>
          <a:lstStyle/>
          <a:p>
            <a:pPr algn="l" indent="0" marL="0">
              <a:buNone/>
            </a:pPr>
            <a:r>
              <a:rPr lang="en-US" sz="1200" b="1" dirty="0">
                <a:solidFill>
                  <a:schemeClr val="accent2"/>
                </a:solidFill>
              </a:rPr>
              <a:t>3  MgCl₂</a:t>
            </a:r>
            <a:endParaRPr lang="en-US" sz="1200" dirty="0"/>
          </a:p>
        </p:txBody>
      </p:sp>
      <p:sp>
        <p:nvSpPr>
          <p:cNvPr id="12" name="Example"/>
          <p:cNvSpPr/>
          <p:nvPr/>
        </p:nvSpPr>
        <p:spPr>
          <a:xfrm>
            <a:off x="502920" y="3246120"/>
            <a:ext cx="3657600" cy="1097280"/>
          </a:xfrm>
          <a:prstGeom prst="roundRect">
            <a:avLst>
              <a:gd name="adj" fmla="val 8333"/>
            </a:avLst>
          </a:prstGeom>
          <a:solidFill>
            <a:srgbClr val="1E2B45"/>
          </a:solidFill>
          <a:ln w="12700">
            <a:solidFill>
              <a:srgbClr val="2A3A55"/>
            </a:solidFill>
            <a:prstDash val="solid"/>
          </a:ln>
        </p:spPr>
      </p:sp>
      <p:sp>
        <p:nvSpPr>
          <p:cNvPr id="13" name="Text 7"/>
          <p:cNvSpPr txBox="1"/>
          <p:nvPr/>
        </p:nvSpPr>
        <p:spPr>
          <a:xfrm>
            <a:off x="685800" y="3337560"/>
            <a:ext cx="3291840" cy="914400"/>
          </a:xfrm>
          <a:prstGeom prst="rect">
            <a:avLst/>
          </a:prstGeom>
          <a:noFill/>
          <a:ln/>
        </p:spPr>
        <p:txBody>
          <a:bodyPr wrap="square" lIns="0" tIns="0" rIns="0" bIns="0" rtlCol="0" anchor="ctr"/>
          <a:lstStyle/>
          <a:p>
            <a:pPr algn="l" indent="0" marL="0">
              <a:buNone/>
            </a:pPr>
            <a:r>
              <a:rPr lang="en-US" sz="1400" dirty="0">
                <a:solidFill>
                  <a:schemeClr val="bg1"/>
                </a:solidFill>
              </a:rPr>
              <a:t>It works the other way too: oxygen takes 2 electrons, but sodium gives only 1, so oxygen needs two sodium atoms: Na₂O.</a:t>
            </a:r>
            <a:endParaRPr lang="en-US" sz="14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FB1C7"/>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1234440" y="292608"/>
            <a:ext cx="7452360" cy="548640"/>
          </a:xfrm>
          <a:prstGeom prst="rect">
            <a:avLst/>
          </a:prstGeom>
          <a:noFill/>
          <a:ln/>
        </p:spPr>
        <p:txBody>
          <a:bodyPr wrap="square" lIns="0" tIns="0" rIns="0" bIns="0" rtlCol="0" anchor="ctr"/>
          <a:lstStyle/>
          <a:p>
            <a:pPr algn="l" indent="0" marL="0">
              <a:buNone/>
            </a:pPr>
            <a:r>
              <a:rPr lang="en-US" sz="2800" b="1" dirty="0">
                <a:solidFill>
                  <a:schemeClr val="bg1"/>
                </a:solidFill>
                <a:latin typeface="Arial" pitchFamily="34" charset="0"/>
                <a:ea typeface="Arial" pitchFamily="34" charset="-122"/>
                <a:cs typeface="Arial" pitchFamily="34" charset="-120"/>
              </a:rPr>
              <a:t>Build the compound</a:t>
            </a:r>
            <a:endParaRPr lang="en-US" sz="2800" dirty="0"/>
          </a:p>
        </p:txBody>
      </p:sp>
      <p:pic>
        <p:nvPicPr>
          <p:cNvPr id="3" name="Icon 4" descr="Section 4 icon">    </p:cNvPr>
          <p:cNvPicPr>
            <a:picLocks noChangeAspect="1"/>
          </p:cNvPicPr>
          <p:nvPr/>
        </p:nvPicPr>
        <p:blipFill>
          <a:blip r:embed="rId1"/>
          <a:stretch>
            <a:fillRect/>
          </a:stretch>
        </p:blipFill>
        <p:spPr>
          <a:xfrm>
            <a:off x="502920" y="201168"/>
            <a:ext cx="566928" cy="627239"/>
          </a:xfrm>
          <a:prstGeom prst="rect">
            <a:avLst/>
          </a:prstGeom>
        </p:spPr>
      </p:pic>
      <p:sp>
        <p:nvSpPr>
          <p:cNvPr id="4" name="Tag Try it"/>
          <p:cNvSpPr/>
          <p:nvPr/>
        </p:nvSpPr>
        <p:spPr>
          <a:xfrm>
            <a:off x="1234440" y="45720"/>
            <a:ext cx="1051560" cy="219456"/>
          </a:xfrm>
          <a:prstGeom prst="roundRect">
            <a:avLst>
              <a:gd name="adj" fmla="val 41667"/>
            </a:avLst>
          </a:prstGeom>
          <a:solidFill>
            <a:srgbClr val="5FE1FF"/>
          </a:solidFill>
          <a:ln/>
        </p:spPr>
        <p:txBody>
          <a:bodyPr wrap="square" lIns="0" tIns="0" rIns="0" bIns="0" rtlCol="0" anchor="ctr"/>
          <a:lstStyle/>
          <a:p>
            <a:pPr algn="ctr" indent="0" marL="0">
              <a:buNone/>
            </a:pPr>
            <a:r>
              <a:rPr lang="en-US" sz="1000" b="1" dirty="0">
                <a:solidFill>
                  <a:srgbClr val="0B2630"/>
                </a:solidFill>
              </a:rPr>
              <a:t>Try it</a:t>
            </a:r>
            <a:endParaRPr lang="en-US" sz="1000" dirty="0"/>
          </a:p>
        </p:txBody>
      </p:sp>
      <p:sp>
        <p:nvSpPr>
          <p:cNvPr id="5" name="Text 2"/>
          <p:cNvSpPr txBox="1"/>
          <p:nvPr/>
        </p:nvSpPr>
        <p:spPr>
          <a:xfrm>
            <a:off x="502920" y="960120"/>
            <a:ext cx="8138160" cy="365760"/>
          </a:xfrm>
          <a:prstGeom prst="rect">
            <a:avLst/>
          </a:prstGeom>
          <a:noFill/>
          <a:ln/>
        </p:spPr>
        <p:txBody>
          <a:bodyPr wrap="square" lIns="0" tIns="0" rIns="0" bIns="0" rtlCol="0" anchor="t"/>
          <a:lstStyle/>
          <a:p>
            <a:pPr algn="l" indent="0" marL="0">
              <a:buNone/>
            </a:pPr>
            <a:r>
              <a:rPr lang="en-US" sz="1600" b="1" dirty="0">
                <a:solidFill>
                  <a:schemeClr val="bg1"/>
                </a:solidFill>
              </a:rPr>
              <a:t>How many of each atom do you need?</a:t>
            </a:r>
            <a:endParaRPr lang="en-US" sz="1600" dirty="0"/>
          </a:p>
        </p:txBody>
      </p:sp>
      <p:sp>
        <p:nvSpPr>
          <p:cNvPr id="6" name="Text 3"/>
          <p:cNvSpPr txBox="1"/>
          <p:nvPr/>
        </p:nvSpPr>
        <p:spPr>
          <a:xfrm>
            <a:off x="502920" y="1508760"/>
            <a:ext cx="3657600" cy="365760"/>
          </a:xfrm>
          <a:prstGeom prst="rect">
            <a:avLst/>
          </a:prstGeom>
          <a:noFill/>
          <a:ln/>
        </p:spPr>
        <p:txBody>
          <a:bodyPr wrap="square" lIns="0" tIns="0" rIns="0" bIns="0" rtlCol="0" anchor="t"/>
          <a:lstStyle/>
          <a:p>
            <a:pPr algn="l" indent="0" marL="0">
              <a:buNone/>
            </a:pPr>
            <a:r>
              <a:rPr lang="en-US" sz="1600" b="1" dirty="0">
                <a:solidFill>
                  <a:schemeClr val="bg1"/>
                </a:solidFill>
              </a:rPr>
              <a:t>Magnesium + chlorine</a:t>
            </a:r>
            <a:endParaRPr lang="en-US" sz="1600" dirty="0"/>
          </a:p>
        </p:txBody>
      </p:sp>
      <p:sp>
        <p:nvSpPr>
          <p:cNvPr id="7" name="Text 4"/>
          <p:cNvSpPr txBox="1"/>
          <p:nvPr/>
        </p:nvSpPr>
        <p:spPr>
          <a:xfrm>
            <a:off x="502920" y="1920240"/>
            <a:ext cx="3657600" cy="320040"/>
          </a:xfrm>
          <a:prstGeom prst="rect">
            <a:avLst/>
          </a:prstGeom>
          <a:noFill/>
          <a:ln/>
        </p:spPr>
        <p:txBody>
          <a:bodyPr wrap="square" lIns="0" tIns="0" rIns="0" bIns="0" rtlCol="0" anchor="t"/>
          <a:lstStyle/>
          <a:p>
            <a:pPr algn="l" indent="0" marL="0">
              <a:buNone/>
            </a:pPr>
            <a:r>
              <a:rPr lang="en-US" sz="1400" dirty="0">
                <a:solidFill>
                  <a:schemeClr val="bg2"/>
                </a:solidFill>
              </a:rPr>
              <a:t>Mg gives 2 · Cl takes 1</a:t>
            </a:r>
            <a:endParaRPr lang="en-US" sz="1400" dirty="0"/>
          </a:p>
        </p:txBody>
      </p:sp>
      <p:sp>
        <p:nvSpPr>
          <p:cNvPr id="8" name="Text 5"/>
          <p:cNvSpPr txBox="1"/>
          <p:nvPr/>
        </p:nvSpPr>
        <p:spPr>
          <a:xfrm>
            <a:off x="502920" y="2331720"/>
            <a:ext cx="3657600" cy="365760"/>
          </a:xfrm>
          <a:prstGeom prst="rect">
            <a:avLst/>
          </a:prstGeom>
          <a:noFill/>
          <a:ln/>
        </p:spPr>
        <p:txBody>
          <a:bodyPr wrap="square" lIns="0" tIns="0" rIns="0" bIns="0" rtlCol="0" anchor="t"/>
          <a:lstStyle/>
          <a:p>
            <a:pPr algn="l" indent="0" marL="0">
              <a:buNone/>
            </a:pPr>
            <a:r>
              <a:rPr lang="en-US" sz="1500" dirty="0">
                <a:solidFill>
                  <a:schemeClr val="bg2"/>
                </a:solidFill>
              </a:rPr>
              <a:t>How many of each atom?</a:t>
            </a:r>
            <a:endParaRPr lang="en-US" sz="1500" dirty="0"/>
          </a:p>
        </p:txBody>
      </p:sp>
      <p:sp>
        <p:nvSpPr>
          <p:cNvPr id="9" name="Text 6"/>
          <p:cNvSpPr txBox="1"/>
          <p:nvPr/>
        </p:nvSpPr>
        <p:spPr>
          <a:xfrm>
            <a:off x="502920" y="3154680"/>
            <a:ext cx="3657600" cy="365760"/>
          </a:xfrm>
          <a:prstGeom prst="rect">
            <a:avLst/>
          </a:prstGeom>
          <a:noFill/>
          <a:ln/>
        </p:spPr>
        <p:txBody>
          <a:bodyPr wrap="square" lIns="0" tIns="0" rIns="0" bIns="0" rtlCol="0" anchor="t"/>
          <a:lstStyle/>
          <a:p>
            <a:pPr algn="l" indent="0" marL="0">
              <a:buNone/>
            </a:pPr>
            <a:r>
              <a:rPr lang="en-US" sz="1600" b="1" dirty="0">
                <a:solidFill>
                  <a:schemeClr val="bg1"/>
                </a:solidFill>
              </a:rPr>
              <a:t>Sodium + oxygen</a:t>
            </a:r>
            <a:endParaRPr lang="en-US" sz="1600" dirty="0"/>
          </a:p>
        </p:txBody>
      </p:sp>
      <p:sp>
        <p:nvSpPr>
          <p:cNvPr id="10" name="Text 7"/>
          <p:cNvSpPr txBox="1"/>
          <p:nvPr/>
        </p:nvSpPr>
        <p:spPr>
          <a:xfrm>
            <a:off x="502920" y="3566160"/>
            <a:ext cx="3657600" cy="320040"/>
          </a:xfrm>
          <a:prstGeom prst="rect">
            <a:avLst/>
          </a:prstGeom>
          <a:noFill/>
          <a:ln/>
        </p:spPr>
        <p:txBody>
          <a:bodyPr wrap="square" lIns="0" tIns="0" rIns="0" bIns="0" rtlCol="0" anchor="t"/>
          <a:lstStyle/>
          <a:p>
            <a:pPr algn="l" indent="0" marL="0">
              <a:buNone/>
            </a:pPr>
            <a:r>
              <a:rPr lang="en-US" sz="1400" dirty="0">
                <a:solidFill>
                  <a:schemeClr val="bg2"/>
                </a:solidFill>
              </a:rPr>
              <a:t>Na gives 1 · O takes 2</a:t>
            </a:r>
            <a:endParaRPr lang="en-US" sz="1400" dirty="0"/>
          </a:p>
        </p:txBody>
      </p:sp>
      <p:sp>
        <p:nvSpPr>
          <p:cNvPr id="11" name="Text 8"/>
          <p:cNvSpPr txBox="1"/>
          <p:nvPr/>
        </p:nvSpPr>
        <p:spPr>
          <a:xfrm>
            <a:off x="502920" y="3977640"/>
            <a:ext cx="3657600" cy="365760"/>
          </a:xfrm>
          <a:prstGeom prst="rect">
            <a:avLst/>
          </a:prstGeom>
          <a:noFill/>
          <a:ln/>
        </p:spPr>
        <p:txBody>
          <a:bodyPr wrap="square" lIns="0" tIns="0" rIns="0" bIns="0" rtlCol="0" anchor="t"/>
          <a:lstStyle/>
          <a:p>
            <a:pPr algn="l" indent="0" marL="0">
              <a:buNone/>
            </a:pPr>
            <a:r>
              <a:rPr lang="en-US" sz="1500" dirty="0">
                <a:solidFill>
                  <a:schemeClr val="bg2"/>
                </a:solidFill>
              </a:rPr>
              <a:t>How many of each atom?</a:t>
            </a:r>
            <a:endParaRPr lang="en-US" sz="15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FB1C7"/>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1234440" y="292608"/>
            <a:ext cx="7452360" cy="548640"/>
          </a:xfrm>
          <a:prstGeom prst="rect">
            <a:avLst/>
          </a:prstGeom>
          <a:noFill/>
          <a:ln/>
        </p:spPr>
        <p:txBody>
          <a:bodyPr wrap="square" lIns="0" tIns="0" rIns="0" bIns="0" rtlCol="0" anchor="ctr"/>
          <a:lstStyle/>
          <a:p>
            <a:pPr algn="l" indent="0" marL="0">
              <a:buNone/>
            </a:pPr>
            <a:r>
              <a:rPr lang="en-US" sz="2800" b="1" dirty="0">
                <a:solidFill>
                  <a:schemeClr val="bg1"/>
                </a:solidFill>
                <a:latin typeface="Arial" pitchFamily="34" charset="0"/>
                <a:ea typeface="Arial" pitchFamily="34" charset="-122"/>
                <a:cs typeface="Arial" pitchFamily="34" charset="-120"/>
              </a:rPr>
              <a:t>Build the compound</a:t>
            </a:r>
            <a:endParaRPr lang="en-US" sz="2800" dirty="0"/>
          </a:p>
        </p:txBody>
      </p:sp>
      <p:pic>
        <p:nvPicPr>
          <p:cNvPr id="3" name="Icon 4" descr="Section 4 icon">    </p:cNvPr>
          <p:cNvPicPr>
            <a:picLocks noChangeAspect="1"/>
          </p:cNvPicPr>
          <p:nvPr/>
        </p:nvPicPr>
        <p:blipFill>
          <a:blip r:embed="rId1"/>
          <a:stretch>
            <a:fillRect/>
          </a:stretch>
        </p:blipFill>
        <p:spPr>
          <a:xfrm>
            <a:off x="502920" y="201168"/>
            <a:ext cx="566928" cy="627239"/>
          </a:xfrm>
          <a:prstGeom prst="rect">
            <a:avLst/>
          </a:prstGeom>
        </p:spPr>
      </p:pic>
      <p:sp>
        <p:nvSpPr>
          <p:cNvPr id="4" name="Tag Try it"/>
          <p:cNvSpPr/>
          <p:nvPr/>
        </p:nvSpPr>
        <p:spPr>
          <a:xfrm>
            <a:off x="1234440" y="45720"/>
            <a:ext cx="1051560" cy="219456"/>
          </a:xfrm>
          <a:prstGeom prst="roundRect">
            <a:avLst>
              <a:gd name="adj" fmla="val 41667"/>
            </a:avLst>
          </a:prstGeom>
          <a:solidFill>
            <a:srgbClr val="5FE1FF"/>
          </a:solidFill>
          <a:ln/>
        </p:spPr>
        <p:txBody>
          <a:bodyPr wrap="square" lIns="0" tIns="0" rIns="0" bIns="0" rtlCol="0" anchor="ctr"/>
          <a:lstStyle/>
          <a:p>
            <a:pPr algn="ctr" indent="0" marL="0">
              <a:buNone/>
            </a:pPr>
            <a:r>
              <a:rPr lang="en-US" sz="1000" b="1" dirty="0">
                <a:solidFill>
                  <a:srgbClr val="0B2630"/>
                </a:solidFill>
              </a:rPr>
              <a:t>Try it</a:t>
            </a:r>
            <a:endParaRPr lang="en-US" sz="1000" dirty="0"/>
          </a:p>
        </p:txBody>
      </p:sp>
      <p:sp>
        <p:nvSpPr>
          <p:cNvPr id="5" name="Tag Answer"/>
          <p:cNvSpPr/>
          <p:nvPr/>
        </p:nvSpPr>
        <p:spPr>
          <a:xfrm>
            <a:off x="2377440" y="45720"/>
            <a:ext cx="1051560" cy="219456"/>
          </a:xfrm>
          <a:prstGeom prst="roundRect">
            <a:avLst>
              <a:gd name="adj" fmla="val 41667"/>
            </a:avLst>
          </a:prstGeom>
          <a:solidFill>
            <a:srgbClr val="4ADE80"/>
          </a:solidFill>
          <a:ln/>
        </p:spPr>
        <p:txBody>
          <a:bodyPr wrap="square" lIns="0" tIns="0" rIns="0" bIns="0" rtlCol="0" anchor="ctr"/>
          <a:lstStyle/>
          <a:p>
            <a:pPr algn="ctr" indent="0" marL="0">
              <a:buNone/>
            </a:pPr>
            <a:r>
              <a:rPr lang="en-US" sz="1000" b="1" dirty="0">
                <a:solidFill>
                  <a:srgbClr val="06240F"/>
                </a:solidFill>
              </a:rPr>
              <a:t>Answer</a:t>
            </a:r>
            <a:endParaRPr lang="en-US" sz="1000" dirty="0"/>
          </a:p>
        </p:txBody>
      </p:sp>
      <p:sp>
        <p:nvSpPr>
          <p:cNvPr id="6" name="Text 3"/>
          <p:cNvSpPr txBox="1"/>
          <p:nvPr/>
        </p:nvSpPr>
        <p:spPr>
          <a:xfrm>
            <a:off x="502920" y="960120"/>
            <a:ext cx="8138160" cy="365760"/>
          </a:xfrm>
          <a:prstGeom prst="rect">
            <a:avLst/>
          </a:prstGeom>
          <a:noFill/>
          <a:ln/>
        </p:spPr>
        <p:txBody>
          <a:bodyPr wrap="square" lIns="0" tIns="0" rIns="0" bIns="0" rtlCol="0" anchor="t"/>
          <a:lstStyle/>
          <a:p>
            <a:pPr algn="l" indent="0" marL="0">
              <a:buNone/>
            </a:pPr>
            <a:r>
              <a:rPr lang="en-US" sz="1600" b="1" dirty="0">
                <a:solidFill>
                  <a:schemeClr val="bg1"/>
                </a:solidFill>
              </a:rPr>
              <a:t>How many of each atom do you need?</a:t>
            </a:r>
            <a:endParaRPr lang="en-US" sz="1600" dirty="0"/>
          </a:p>
        </p:txBody>
      </p:sp>
      <p:sp>
        <p:nvSpPr>
          <p:cNvPr id="7" name="Text 4"/>
          <p:cNvSpPr txBox="1"/>
          <p:nvPr/>
        </p:nvSpPr>
        <p:spPr>
          <a:xfrm>
            <a:off x="502920" y="1508760"/>
            <a:ext cx="3657600" cy="365760"/>
          </a:xfrm>
          <a:prstGeom prst="rect">
            <a:avLst/>
          </a:prstGeom>
          <a:noFill/>
          <a:ln/>
        </p:spPr>
        <p:txBody>
          <a:bodyPr wrap="square" lIns="0" tIns="0" rIns="0" bIns="0" rtlCol="0" anchor="t"/>
          <a:lstStyle/>
          <a:p>
            <a:pPr algn="l" indent="0" marL="0">
              <a:buNone/>
            </a:pPr>
            <a:r>
              <a:rPr lang="en-US" sz="1600" b="1" dirty="0">
                <a:solidFill>
                  <a:schemeClr val="bg1"/>
                </a:solidFill>
              </a:rPr>
              <a:t>Magnesium + chlorine</a:t>
            </a:r>
            <a:endParaRPr lang="en-US" sz="1600" dirty="0"/>
          </a:p>
        </p:txBody>
      </p:sp>
      <p:sp>
        <p:nvSpPr>
          <p:cNvPr id="8" name="Text 5"/>
          <p:cNvSpPr txBox="1"/>
          <p:nvPr/>
        </p:nvSpPr>
        <p:spPr>
          <a:xfrm>
            <a:off x="502920" y="1920240"/>
            <a:ext cx="3657600" cy="320040"/>
          </a:xfrm>
          <a:prstGeom prst="rect">
            <a:avLst/>
          </a:prstGeom>
          <a:noFill/>
          <a:ln/>
        </p:spPr>
        <p:txBody>
          <a:bodyPr wrap="square" lIns="0" tIns="0" rIns="0" bIns="0" rtlCol="0" anchor="t"/>
          <a:lstStyle/>
          <a:p>
            <a:pPr algn="l" indent="0" marL="0">
              <a:buNone/>
            </a:pPr>
            <a:r>
              <a:rPr lang="en-US" sz="1400" dirty="0">
                <a:solidFill>
                  <a:schemeClr val="bg2"/>
                </a:solidFill>
              </a:rPr>
              <a:t>Mg gives 2 · Cl takes 1</a:t>
            </a:r>
            <a:endParaRPr lang="en-US" sz="1400" dirty="0"/>
          </a:p>
        </p:txBody>
      </p:sp>
      <p:sp>
        <p:nvSpPr>
          <p:cNvPr id="9" name="Text 6"/>
          <p:cNvSpPr txBox="1"/>
          <p:nvPr/>
        </p:nvSpPr>
        <p:spPr>
          <a:xfrm>
            <a:off x="502920" y="2331720"/>
            <a:ext cx="3657600" cy="365760"/>
          </a:xfrm>
          <a:prstGeom prst="rect">
            <a:avLst/>
          </a:prstGeom>
          <a:noFill/>
          <a:ln/>
        </p:spPr>
        <p:txBody>
          <a:bodyPr wrap="square" lIns="0" tIns="0" rIns="0" bIns="0" rtlCol="0" anchor="t"/>
          <a:lstStyle/>
          <a:p>
            <a:pPr algn="l" indent="0" marL="0">
              <a:buNone/>
            </a:pPr>
            <a:r>
              <a:rPr lang="en-US" sz="1500" b="1" dirty="0">
                <a:solidFill>
                  <a:schemeClr val="accent4"/>
                </a:solidFill>
              </a:rPr>
              <a:t>1 Mg and 2 Cl → MgCl₂</a:t>
            </a:r>
            <a:endParaRPr lang="en-US" sz="1500" dirty="0"/>
          </a:p>
        </p:txBody>
      </p:sp>
      <p:pic>
        <p:nvPicPr>
          <p:cNvPr id="10" name="mgcl2_after" descr="1 Mg and 2 Cl → MgCl₂">    </p:cNvPr>
          <p:cNvPicPr>
            <a:picLocks noChangeAspect="1"/>
          </p:cNvPicPr>
          <p:nvPr/>
        </p:nvPicPr>
        <p:blipFill>
          <a:blip r:embed="rId2"/>
          <a:stretch>
            <a:fillRect/>
          </a:stretch>
        </p:blipFill>
        <p:spPr>
          <a:xfrm>
            <a:off x="4480560" y="1417320"/>
            <a:ext cx="4023360" cy="1616529"/>
          </a:xfrm>
          <a:prstGeom prst="rect">
            <a:avLst/>
          </a:prstGeom>
        </p:spPr>
      </p:pic>
      <p:sp>
        <p:nvSpPr>
          <p:cNvPr id="11" name="Text 7"/>
          <p:cNvSpPr txBox="1"/>
          <p:nvPr/>
        </p:nvSpPr>
        <p:spPr>
          <a:xfrm>
            <a:off x="502920" y="3154680"/>
            <a:ext cx="3657600" cy="365760"/>
          </a:xfrm>
          <a:prstGeom prst="rect">
            <a:avLst/>
          </a:prstGeom>
          <a:noFill/>
          <a:ln/>
        </p:spPr>
        <p:txBody>
          <a:bodyPr wrap="square" lIns="0" tIns="0" rIns="0" bIns="0" rtlCol="0" anchor="t"/>
          <a:lstStyle/>
          <a:p>
            <a:pPr algn="l" indent="0" marL="0">
              <a:buNone/>
            </a:pPr>
            <a:r>
              <a:rPr lang="en-US" sz="1600" b="1" dirty="0">
                <a:solidFill>
                  <a:schemeClr val="bg1"/>
                </a:solidFill>
              </a:rPr>
              <a:t>Sodium + oxygen</a:t>
            </a:r>
            <a:endParaRPr lang="en-US" sz="1600" dirty="0"/>
          </a:p>
        </p:txBody>
      </p:sp>
      <p:sp>
        <p:nvSpPr>
          <p:cNvPr id="12" name="Text 8"/>
          <p:cNvSpPr txBox="1"/>
          <p:nvPr/>
        </p:nvSpPr>
        <p:spPr>
          <a:xfrm>
            <a:off x="502920" y="3566160"/>
            <a:ext cx="3657600" cy="320040"/>
          </a:xfrm>
          <a:prstGeom prst="rect">
            <a:avLst/>
          </a:prstGeom>
          <a:noFill/>
          <a:ln/>
        </p:spPr>
        <p:txBody>
          <a:bodyPr wrap="square" lIns="0" tIns="0" rIns="0" bIns="0" rtlCol="0" anchor="t"/>
          <a:lstStyle/>
          <a:p>
            <a:pPr algn="l" indent="0" marL="0">
              <a:buNone/>
            </a:pPr>
            <a:r>
              <a:rPr lang="en-US" sz="1400" dirty="0">
                <a:solidFill>
                  <a:schemeClr val="bg2"/>
                </a:solidFill>
              </a:rPr>
              <a:t>Na gives 1 · O takes 2</a:t>
            </a:r>
            <a:endParaRPr lang="en-US" sz="1400" dirty="0"/>
          </a:p>
        </p:txBody>
      </p:sp>
      <p:sp>
        <p:nvSpPr>
          <p:cNvPr id="13" name="Text 9"/>
          <p:cNvSpPr txBox="1"/>
          <p:nvPr/>
        </p:nvSpPr>
        <p:spPr>
          <a:xfrm>
            <a:off x="502920" y="3977640"/>
            <a:ext cx="3657600" cy="365760"/>
          </a:xfrm>
          <a:prstGeom prst="rect">
            <a:avLst/>
          </a:prstGeom>
          <a:noFill/>
          <a:ln/>
        </p:spPr>
        <p:txBody>
          <a:bodyPr wrap="square" lIns="0" tIns="0" rIns="0" bIns="0" rtlCol="0" anchor="t"/>
          <a:lstStyle/>
          <a:p>
            <a:pPr algn="l" indent="0" marL="0">
              <a:buNone/>
            </a:pPr>
            <a:r>
              <a:rPr lang="en-US" sz="1500" b="1" dirty="0">
                <a:solidFill>
                  <a:schemeClr val="accent4"/>
                </a:solidFill>
              </a:rPr>
              <a:t>2 Na and 1 O → Na₂O</a:t>
            </a:r>
            <a:endParaRPr lang="en-US" sz="1500" dirty="0"/>
          </a:p>
        </p:txBody>
      </p:sp>
      <p:pic>
        <p:nvPicPr>
          <p:cNvPr id="14" name="na2o_after" descr="2 Na and 1 O → Na₂O">    </p:cNvPr>
          <p:cNvPicPr>
            <a:picLocks noChangeAspect="1"/>
          </p:cNvPicPr>
          <p:nvPr/>
        </p:nvPicPr>
        <p:blipFill>
          <a:blip r:embed="rId3"/>
          <a:stretch>
            <a:fillRect/>
          </a:stretch>
        </p:blipFill>
        <p:spPr>
          <a:xfrm>
            <a:off x="4480560" y="3063240"/>
            <a:ext cx="4023360" cy="1616529"/>
          </a:xfrm>
          <a:prstGeom prst="rect">
            <a:avLst/>
          </a:prstGeom>
        </p:spPr>
      </p:pic>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FB1C7"/>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1234440" y="292608"/>
            <a:ext cx="7452360" cy="548640"/>
          </a:xfrm>
          <a:prstGeom prst="rect">
            <a:avLst/>
          </a:prstGeom>
          <a:noFill/>
          <a:ln/>
        </p:spPr>
        <p:txBody>
          <a:bodyPr wrap="square" lIns="0" tIns="0" rIns="0" bIns="0" rtlCol="0" anchor="ctr"/>
          <a:lstStyle/>
          <a:p>
            <a:pPr algn="l" indent="0" marL="0">
              <a:buNone/>
            </a:pPr>
            <a:r>
              <a:rPr lang="en-US" sz="2800" b="1" dirty="0">
                <a:solidFill>
                  <a:schemeClr val="bg1"/>
                </a:solidFill>
                <a:latin typeface="Arial" pitchFamily="34" charset="0"/>
                <a:ea typeface="Arial" pitchFamily="34" charset="-122"/>
                <a:cs typeface="Arial" pitchFamily="34" charset="-120"/>
              </a:rPr>
              <a:t>Quick check</a:t>
            </a:r>
            <a:endParaRPr lang="en-US" sz="2800" dirty="0"/>
          </a:p>
        </p:txBody>
      </p:sp>
      <p:pic>
        <p:nvPicPr>
          <p:cNvPr id="3" name="Icon 4" descr="Section 4 icon">    </p:cNvPr>
          <p:cNvPicPr>
            <a:picLocks noChangeAspect="1"/>
          </p:cNvPicPr>
          <p:nvPr/>
        </p:nvPicPr>
        <p:blipFill>
          <a:blip r:embed="rId1"/>
          <a:stretch>
            <a:fillRect/>
          </a:stretch>
        </p:blipFill>
        <p:spPr>
          <a:xfrm>
            <a:off x="502920" y="201168"/>
            <a:ext cx="566928" cy="627239"/>
          </a:xfrm>
          <a:prstGeom prst="rect">
            <a:avLst/>
          </a:prstGeom>
        </p:spPr>
      </p:pic>
      <p:sp>
        <p:nvSpPr>
          <p:cNvPr id="4" name="Tag Quick check"/>
          <p:cNvSpPr/>
          <p:nvPr/>
        </p:nvSpPr>
        <p:spPr>
          <a:xfrm>
            <a:off x="1234440" y="45720"/>
            <a:ext cx="1051560" cy="219456"/>
          </a:xfrm>
          <a:prstGeom prst="roundRect">
            <a:avLst>
              <a:gd name="adj" fmla="val 41667"/>
            </a:avLst>
          </a:prstGeom>
          <a:solidFill>
            <a:srgbClr val="F6B93B"/>
          </a:solidFill>
          <a:ln/>
        </p:spPr>
        <p:txBody>
          <a:bodyPr wrap="square" lIns="0" tIns="0" rIns="0" bIns="0" rtlCol="0" anchor="ctr"/>
          <a:lstStyle/>
          <a:p>
            <a:pPr algn="ctr" indent="0" marL="0">
              <a:buNone/>
            </a:pPr>
            <a:r>
              <a:rPr lang="en-US" sz="1000" b="1" dirty="0">
                <a:solidFill>
                  <a:srgbClr val="241703"/>
                </a:solidFill>
              </a:rPr>
              <a:t>Quick check</a:t>
            </a:r>
            <a:endParaRPr lang="en-US" sz="1000" dirty="0"/>
          </a:p>
        </p:txBody>
      </p:sp>
      <p:sp>
        <p:nvSpPr>
          <p:cNvPr id="5" name="Text 2"/>
          <p:cNvSpPr txBox="1"/>
          <p:nvPr/>
        </p:nvSpPr>
        <p:spPr>
          <a:xfrm>
            <a:off x="502920" y="960120"/>
            <a:ext cx="8138160" cy="731520"/>
          </a:xfrm>
          <a:prstGeom prst="rect">
            <a:avLst/>
          </a:prstGeom>
          <a:noFill/>
          <a:ln/>
        </p:spPr>
        <p:txBody>
          <a:bodyPr wrap="square" lIns="0" tIns="0" rIns="0" bIns="0" rtlCol="0" anchor="t"/>
          <a:lstStyle/>
          <a:p>
            <a:pPr algn="l" indent="0" marL="0">
              <a:buNone/>
            </a:pPr>
            <a:r>
              <a:rPr lang="en-US" sz="1800" b="1" dirty="0">
                <a:solidFill>
                  <a:schemeClr val="bg1"/>
                </a:solidFill>
              </a:rPr>
              <a:t>Calcium gives 2 electrons. Fluorine takes 1. How many fluorine atoms does one calcium atom need?</a:t>
            </a:r>
            <a:endParaRPr lang="en-US" sz="1800" dirty="0"/>
          </a:p>
        </p:txBody>
      </p:sp>
      <p:sp>
        <p:nvSpPr>
          <p:cNvPr id="6" name="Option A"/>
          <p:cNvSpPr/>
          <p:nvPr/>
        </p:nvSpPr>
        <p:spPr>
          <a:xfrm>
            <a:off x="502920" y="1828800"/>
            <a:ext cx="8138160" cy="438912"/>
          </a:xfrm>
          <a:prstGeom prst="roundRect">
            <a:avLst>
              <a:gd name="adj" fmla="val 20833"/>
            </a:avLst>
          </a:prstGeom>
          <a:solidFill>
            <a:schemeClr val="tx2"/>
          </a:solidFill>
          <a:ln w="12700">
            <a:solidFill>
              <a:srgbClr val="2A3A55"/>
            </a:solidFill>
            <a:prstDash val="solid"/>
          </a:ln>
        </p:spPr>
      </p:sp>
      <p:sp>
        <p:nvSpPr>
          <p:cNvPr id="7" name="Letter"/>
          <p:cNvSpPr/>
          <p:nvPr/>
        </p:nvSpPr>
        <p:spPr>
          <a:xfrm>
            <a:off x="621792" y="1911096"/>
            <a:ext cx="292608" cy="274320"/>
          </a:xfrm>
          <a:prstGeom prst="roundRect">
            <a:avLst>
              <a:gd name="adj" fmla="val 20000"/>
            </a:avLst>
          </a:prstGeom>
          <a:solidFill>
            <a:srgbClr val="2A3A55"/>
          </a:solidFill>
          <a:ln/>
        </p:spPr>
        <p:txBody>
          <a:bodyPr wrap="square" lIns="0" tIns="0" rIns="0" bIns="0" rtlCol="0" anchor="ctr"/>
          <a:lstStyle/>
          <a:p>
            <a:pPr algn="ctr" indent="0" marL="0">
              <a:buNone/>
            </a:pPr>
            <a:r>
              <a:rPr lang="en-US" sz="1200" b="1" dirty="0">
                <a:solidFill>
                  <a:srgbClr val="E6EDF7"/>
                </a:solidFill>
              </a:rPr>
              <a:t>A</a:t>
            </a:r>
            <a:endParaRPr lang="en-US" sz="1200" dirty="0"/>
          </a:p>
        </p:txBody>
      </p:sp>
      <p:sp>
        <p:nvSpPr>
          <p:cNvPr id="8" name="Text 5"/>
          <p:cNvSpPr txBox="1"/>
          <p:nvPr/>
        </p:nvSpPr>
        <p:spPr>
          <a:xfrm>
            <a:off x="1024128" y="1883664"/>
            <a:ext cx="7498080" cy="347472"/>
          </a:xfrm>
          <a:prstGeom prst="rect">
            <a:avLst/>
          </a:prstGeom>
          <a:noFill/>
          <a:ln/>
        </p:spPr>
        <p:txBody>
          <a:bodyPr wrap="square" lIns="0" tIns="0" rIns="0" bIns="0" rtlCol="0" anchor="ctr"/>
          <a:lstStyle/>
          <a:p>
            <a:pPr algn="l" indent="0" marL="0">
              <a:buNone/>
            </a:pPr>
            <a:r>
              <a:rPr lang="en-US" sz="1500" dirty="0">
                <a:solidFill>
                  <a:schemeClr val="bg1"/>
                </a:solidFill>
              </a:rPr>
              <a:t>1</a:t>
            </a:r>
            <a:endParaRPr lang="en-US" sz="1500" dirty="0"/>
          </a:p>
        </p:txBody>
      </p:sp>
      <p:sp>
        <p:nvSpPr>
          <p:cNvPr id="9" name="Option B"/>
          <p:cNvSpPr/>
          <p:nvPr/>
        </p:nvSpPr>
        <p:spPr>
          <a:xfrm>
            <a:off x="502920" y="2359152"/>
            <a:ext cx="8138160" cy="438912"/>
          </a:xfrm>
          <a:prstGeom prst="roundRect">
            <a:avLst>
              <a:gd name="adj" fmla="val 20833"/>
            </a:avLst>
          </a:prstGeom>
          <a:solidFill>
            <a:schemeClr val="tx2"/>
          </a:solidFill>
          <a:ln w="12700">
            <a:solidFill>
              <a:srgbClr val="2A3A55"/>
            </a:solidFill>
            <a:prstDash val="solid"/>
          </a:ln>
        </p:spPr>
      </p:sp>
      <p:sp>
        <p:nvSpPr>
          <p:cNvPr id="10" name="Letter"/>
          <p:cNvSpPr/>
          <p:nvPr/>
        </p:nvSpPr>
        <p:spPr>
          <a:xfrm>
            <a:off x="621792" y="2441448"/>
            <a:ext cx="292608" cy="274320"/>
          </a:xfrm>
          <a:prstGeom prst="roundRect">
            <a:avLst>
              <a:gd name="adj" fmla="val 20000"/>
            </a:avLst>
          </a:prstGeom>
          <a:solidFill>
            <a:srgbClr val="2A3A55"/>
          </a:solidFill>
          <a:ln/>
        </p:spPr>
        <p:txBody>
          <a:bodyPr wrap="square" lIns="0" tIns="0" rIns="0" bIns="0" rtlCol="0" anchor="ctr"/>
          <a:lstStyle/>
          <a:p>
            <a:pPr algn="ctr" indent="0" marL="0">
              <a:buNone/>
            </a:pPr>
            <a:r>
              <a:rPr lang="en-US" sz="1200" b="1" dirty="0">
                <a:solidFill>
                  <a:srgbClr val="E6EDF7"/>
                </a:solidFill>
              </a:rPr>
              <a:t>B</a:t>
            </a:r>
            <a:endParaRPr lang="en-US" sz="1200" dirty="0"/>
          </a:p>
        </p:txBody>
      </p:sp>
      <p:sp>
        <p:nvSpPr>
          <p:cNvPr id="11" name="Text 8"/>
          <p:cNvSpPr txBox="1"/>
          <p:nvPr/>
        </p:nvSpPr>
        <p:spPr>
          <a:xfrm>
            <a:off x="1024128" y="2414016"/>
            <a:ext cx="7498080" cy="347472"/>
          </a:xfrm>
          <a:prstGeom prst="rect">
            <a:avLst/>
          </a:prstGeom>
          <a:noFill/>
          <a:ln/>
        </p:spPr>
        <p:txBody>
          <a:bodyPr wrap="square" lIns="0" tIns="0" rIns="0" bIns="0" rtlCol="0" anchor="ctr"/>
          <a:lstStyle/>
          <a:p>
            <a:pPr algn="l" indent="0" marL="0">
              <a:buNone/>
            </a:pPr>
            <a:r>
              <a:rPr lang="en-US" sz="1500" dirty="0">
                <a:solidFill>
                  <a:schemeClr val="bg1"/>
                </a:solidFill>
              </a:rPr>
              <a:t>3</a:t>
            </a:r>
            <a:endParaRPr lang="en-US" sz="1500" dirty="0"/>
          </a:p>
        </p:txBody>
      </p:sp>
      <p:sp>
        <p:nvSpPr>
          <p:cNvPr id="12" name="Option C"/>
          <p:cNvSpPr/>
          <p:nvPr/>
        </p:nvSpPr>
        <p:spPr>
          <a:xfrm>
            <a:off x="502920" y="2889504"/>
            <a:ext cx="8138160" cy="438912"/>
          </a:xfrm>
          <a:prstGeom prst="roundRect">
            <a:avLst>
              <a:gd name="adj" fmla="val 20833"/>
            </a:avLst>
          </a:prstGeom>
          <a:solidFill>
            <a:schemeClr val="tx2"/>
          </a:solidFill>
          <a:ln w="12700">
            <a:solidFill>
              <a:srgbClr val="2A3A55"/>
            </a:solidFill>
            <a:prstDash val="solid"/>
          </a:ln>
        </p:spPr>
      </p:sp>
      <p:sp>
        <p:nvSpPr>
          <p:cNvPr id="13" name="Letter"/>
          <p:cNvSpPr/>
          <p:nvPr/>
        </p:nvSpPr>
        <p:spPr>
          <a:xfrm>
            <a:off x="621792" y="2971800"/>
            <a:ext cx="292608" cy="274320"/>
          </a:xfrm>
          <a:prstGeom prst="roundRect">
            <a:avLst>
              <a:gd name="adj" fmla="val 20000"/>
            </a:avLst>
          </a:prstGeom>
          <a:solidFill>
            <a:srgbClr val="2A3A55"/>
          </a:solidFill>
          <a:ln/>
        </p:spPr>
        <p:txBody>
          <a:bodyPr wrap="square" lIns="0" tIns="0" rIns="0" bIns="0" rtlCol="0" anchor="ctr"/>
          <a:lstStyle/>
          <a:p>
            <a:pPr algn="ctr" indent="0" marL="0">
              <a:buNone/>
            </a:pPr>
            <a:r>
              <a:rPr lang="en-US" sz="1200" b="1" dirty="0">
                <a:solidFill>
                  <a:srgbClr val="E6EDF7"/>
                </a:solidFill>
              </a:rPr>
              <a:t>C</a:t>
            </a:r>
            <a:endParaRPr lang="en-US" sz="1200" dirty="0"/>
          </a:p>
        </p:txBody>
      </p:sp>
      <p:sp>
        <p:nvSpPr>
          <p:cNvPr id="14" name="Text 11"/>
          <p:cNvSpPr txBox="1"/>
          <p:nvPr/>
        </p:nvSpPr>
        <p:spPr>
          <a:xfrm>
            <a:off x="1024128" y="2944368"/>
            <a:ext cx="7498080" cy="347472"/>
          </a:xfrm>
          <a:prstGeom prst="rect">
            <a:avLst/>
          </a:prstGeom>
          <a:noFill/>
          <a:ln/>
        </p:spPr>
        <p:txBody>
          <a:bodyPr wrap="square" lIns="0" tIns="0" rIns="0" bIns="0" rtlCol="0" anchor="ctr"/>
          <a:lstStyle/>
          <a:p>
            <a:pPr algn="l" indent="0" marL="0">
              <a:buNone/>
            </a:pPr>
            <a:r>
              <a:rPr lang="en-US" sz="1500" dirty="0">
                <a:solidFill>
                  <a:schemeClr val="bg1"/>
                </a:solidFill>
              </a:rPr>
              <a:t>2</a:t>
            </a:r>
            <a:endParaRPr lang="en-US" sz="1500" dirty="0"/>
          </a:p>
        </p:txBody>
      </p:sp>
      <p:sp>
        <p:nvSpPr>
          <p:cNvPr id="15" name="Option D"/>
          <p:cNvSpPr/>
          <p:nvPr/>
        </p:nvSpPr>
        <p:spPr>
          <a:xfrm>
            <a:off x="502920" y="3419856"/>
            <a:ext cx="8138160" cy="438912"/>
          </a:xfrm>
          <a:prstGeom prst="roundRect">
            <a:avLst>
              <a:gd name="adj" fmla="val 20833"/>
            </a:avLst>
          </a:prstGeom>
          <a:solidFill>
            <a:schemeClr val="tx2"/>
          </a:solidFill>
          <a:ln w="12700">
            <a:solidFill>
              <a:srgbClr val="2A3A55"/>
            </a:solidFill>
            <a:prstDash val="solid"/>
          </a:ln>
        </p:spPr>
      </p:sp>
      <p:sp>
        <p:nvSpPr>
          <p:cNvPr id="16" name="Letter"/>
          <p:cNvSpPr/>
          <p:nvPr/>
        </p:nvSpPr>
        <p:spPr>
          <a:xfrm>
            <a:off x="621792" y="3502152"/>
            <a:ext cx="292608" cy="274320"/>
          </a:xfrm>
          <a:prstGeom prst="roundRect">
            <a:avLst>
              <a:gd name="adj" fmla="val 20000"/>
            </a:avLst>
          </a:prstGeom>
          <a:solidFill>
            <a:srgbClr val="2A3A55"/>
          </a:solidFill>
          <a:ln/>
        </p:spPr>
        <p:txBody>
          <a:bodyPr wrap="square" lIns="0" tIns="0" rIns="0" bIns="0" rtlCol="0" anchor="ctr"/>
          <a:lstStyle/>
          <a:p>
            <a:pPr algn="ctr" indent="0" marL="0">
              <a:buNone/>
            </a:pPr>
            <a:r>
              <a:rPr lang="en-US" sz="1200" b="1" dirty="0">
                <a:solidFill>
                  <a:srgbClr val="E6EDF7"/>
                </a:solidFill>
              </a:rPr>
              <a:t>D</a:t>
            </a:r>
            <a:endParaRPr lang="en-US" sz="1200" dirty="0"/>
          </a:p>
        </p:txBody>
      </p:sp>
      <p:sp>
        <p:nvSpPr>
          <p:cNvPr id="17" name="Text 14"/>
          <p:cNvSpPr txBox="1"/>
          <p:nvPr/>
        </p:nvSpPr>
        <p:spPr>
          <a:xfrm>
            <a:off x="1024128" y="3474720"/>
            <a:ext cx="7498080" cy="347472"/>
          </a:xfrm>
          <a:prstGeom prst="rect">
            <a:avLst/>
          </a:prstGeom>
          <a:noFill/>
          <a:ln/>
        </p:spPr>
        <p:txBody>
          <a:bodyPr wrap="square" lIns="0" tIns="0" rIns="0" bIns="0" rtlCol="0" anchor="ctr"/>
          <a:lstStyle/>
          <a:p>
            <a:pPr algn="l" indent="0" marL="0">
              <a:buNone/>
            </a:pPr>
            <a:r>
              <a:rPr lang="en-US" sz="1500" dirty="0">
                <a:solidFill>
                  <a:schemeClr val="bg1"/>
                </a:solidFill>
              </a:rPr>
              <a:t>4</a:t>
            </a:r>
            <a:endParaRPr lang="en-US" sz="15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FB1C7"/>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1234440" y="292608"/>
            <a:ext cx="7452360" cy="548640"/>
          </a:xfrm>
          <a:prstGeom prst="rect">
            <a:avLst/>
          </a:prstGeom>
          <a:noFill/>
          <a:ln/>
        </p:spPr>
        <p:txBody>
          <a:bodyPr wrap="square" lIns="0" tIns="0" rIns="0" bIns="0" rtlCol="0" anchor="ctr"/>
          <a:lstStyle/>
          <a:p>
            <a:pPr algn="l" indent="0" marL="0">
              <a:buNone/>
            </a:pPr>
            <a:r>
              <a:rPr lang="en-US" sz="2800" b="1" dirty="0">
                <a:solidFill>
                  <a:schemeClr val="bg1"/>
                </a:solidFill>
                <a:latin typeface="Arial" pitchFamily="34" charset="0"/>
                <a:ea typeface="Arial" pitchFamily="34" charset="-122"/>
                <a:cs typeface="Arial" pitchFamily="34" charset="-120"/>
              </a:rPr>
              <a:t>Quick check</a:t>
            </a:r>
            <a:endParaRPr lang="en-US" sz="2800" dirty="0"/>
          </a:p>
        </p:txBody>
      </p:sp>
      <p:pic>
        <p:nvPicPr>
          <p:cNvPr id="3" name="Icon 4" descr="Section 4 icon">    </p:cNvPr>
          <p:cNvPicPr>
            <a:picLocks noChangeAspect="1"/>
          </p:cNvPicPr>
          <p:nvPr/>
        </p:nvPicPr>
        <p:blipFill>
          <a:blip r:embed="rId1"/>
          <a:stretch>
            <a:fillRect/>
          </a:stretch>
        </p:blipFill>
        <p:spPr>
          <a:xfrm>
            <a:off x="502920" y="201168"/>
            <a:ext cx="566928" cy="627239"/>
          </a:xfrm>
          <a:prstGeom prst="rect">
            <a:avLst/>
          </a:prstGeom>
        </p:spPr>
      </p:pic>
      <p:sp>
        <p:nvSpPr>
          <p:cNvPr id="4" name="Tag Quick check"/>
          <p:cNvSpPr/>
          <p:nvPr/>
        </p:nvSpPr>
        <p:spPr>
          <a:xfrm>
            <a:off x="1234440" y="45720"/>
            <a:ext cx="1051560" cy="219456"/>
          </a:xfrm>
          <a:prstGeom prst="roundRect">
            <a:avLst>
              <a:gd name="adj" fmla="val 41667"/>
            </a:avLst>
          </a:prstGeom>
          <a:solidFill>
            <a:srgbClr val="F6B93B"/>
          </a:solidFill>
          <a:ln/>
        </p:spPr>
        <p:txBody>
          <a:bodyPr wrap="square" lIns="0" tIns="0" rIns="0" bIns="0" rtlCol="0" anchor="ctr"/>
          <a:lstStyle/>
          <a:p>
            <a:pPr algn="ctr" indent="0" marL="0">
              <a:buNone/>
            </a:pPr>
            <a:r>
              <a:rPr lang="en-US" sz="1000" b="1" dirty="0">
                <a:solidFill>
                  <a:srgbClr val="241703"/>
                </a:solidFill>
              </a:rPr>
              <a:t>Quick check</a:t>
            </a:r>
            <a:endParaRPr lang="en-US" sz="1000" dirty="0"/>
          </a:p>
        </p:txBody>
      </p:sp>
      <p:sp>
        <p:nvSpPr>
          <p:cNvPr id="5" name="Tag Answer"/>
          <p:cNvSpPr/>
          <p:nvPr/>
        </p:nvSpPr>
        <p:spPr>
          <a:xfrm>
            <a:off x="2377440" y="45720"/>
            <a:ext cx="1051560" cy="219456"/>
          </a:xfrm>
          <a:prstGeom prst="roundRect">
            <a:avLst>
              <a:gd name="adj" fmla="val 41667"/>
            </a:avLst>
          </a:prstGeom>
          <a:solidFill>
            <a:srgbClr val="4ADE80"/>
          </a:solidFill>
          <a:ln/>
        </p:spPr>
        <p:txBody>
          <a:bodyPr wrap="square" lIns="0" tIns="0" rIns="0" bIns="0" rtlCol="0" anchor="ctr"/>
          <a:lstStyle/>
          <a:p>
            <a:pPr algn="ctr" indent="0" marL="0">
              <a:buNone/>
            </a:pPr>
            <a:r>
              <a:rPr lang="en-US" sz="1000" b="1" dirty="0">
                <a:solidFill>
                  <a:srgbClr val="06240F"/>
                </a:solidFill>
              </a:rPr>
              <a:t>Answer</a:t>
            </a:r>
            <a:endParaRPr lang="en-US" sz="1000" dirty="0"/>
          </a:p>
        </p:txBody>
      </p:sp>
      <p:sp>
        <p:nvSpPr>
          <p:cNvPr id="6" name="Text 3"/>
          <p:cNvSpPr txBox="1"/>
          <p:nvPr/>
        </p:nvSpPr>
        <p:spPr>
          <a:xfrm>
            <a:off x="502920" y="960120"/>
            <a:ext cx="8138160" cy="731520"/>
          </a:xfrm>
          <a:prstGeom prst="rect">
            <a:avLst/>
          </a:prstGeom>
          <a:noFill/>
          <a:ln/>
        </p:spPr>
        <p:txBody>
          <a:bodyPr wrap="square" lIns="0" tIns="0" rIns="0" bIns="0" rtlCol="0" anchor="t"/>
          <a:lstStyle/>
          <a:p>
            <a:pPr algn="l" indent="0" marL="0">
              <a:buNone/>
            </a:pPr>
            <a:r>
              <a:rPr lang="en-US" sz="1800" b="1" dirty="0">
                <a:solidFill>
                  <a:schemeClr val="bg1"/>
                </a:solidFill>
              </a:rPr>
              <a:t>Calcium gives 2 electrons. Fluorine takes 1. How many fluorine atoms does one calcium atom need?</a:t>
            </a:r>
            <a:endParaRPr lang="en-US" sz="1800" dirty="0"/>
          </a:p>
        </p:txBody>
      </p:sp>
      <p:sp>
        <p:nvSpPr>
          <p:cNvPr id="7" name="Option A"/>
          <p:cNvSpPr/>
          <p:nvPr/>
        </p:nvSpPr>
        <p:spPr>
          <a:xfrm>
            <a:off x="502920" y="1828800"/>
            <a:ext cx="8138160" cy="438912"/>
          </a:xfrm>
          <a:prstGeom prst="roundRect">
            <a:avLst>
              <a:gd name="adj" fmla="val 20833"/>
            </a:avLst>
          </a:prstGeom>
          <a:solidFill>
            <a:schemeClr val="tx2"/>
          </a:solidFill>
          <a:ln w="12700">
            <a:solidFill>
              <a:srgbClr val="2A3A55"/>
            </a:solidFill>
            <a:prstDash val="solid"/>
          </a:ln>
        </p:spPr>
      </p:sp>
      <p:sp>
        <p:nvSpPr>
          <p:cNvPr id="8" name="Letter"/>
          <p:cNvSpPr/>
          <p:nvPr/>
        </p:nvSpPr>
        <p:spPr>
          <a:xfrm>
            <a:off x="621792" y="1911096"/>
            <a:ext cx="292608" cy="274320"/>
          </a:xfrm>
          <a:prstGeom prst="roundRect">
            <a:avLst>
              <a:gd name="adj" fmla="val 20000"/>
            </a:avLst>
          </a:prstGeom>
          <a:solidFill>
            <a:srgbClr val="2A3A55"/>
          </a:solidFill>
          <a:ln/>
        </p:spPr>
        <p:txBody>
          <a:bodyPr wrap="square" lIns="0" tIns="0" rIns="0" bIns="0" rtlCol="0" anchor="ctr"/>
          <a:lstStyle/>
          <a:p>
            <a:pPr algn="ctr" indent="0" marL="0">
              <a:buNone/>
            </a:pPr>
            <a:r>
              <a:rPr lang="en-US" sz="1200" b="1" dirty="0">
                <a:solidFill>
                  <a:srgbClr val="E6EDF7"/>
                </a:solidFill>
              </a:rPr>
              <a:t>A</a:t>
            </a:r>
            <a:endParaRPr lang="en-US" sz="1200" dirty="0"/>
          </a:p>
        </p:txBody>
      </p:sp>
      <p:sp>
        <p:nvSpPr>
          <p:cNvPr id="9" name="Text 6"/>
          <p:cNvSpPr txBox="1"/>
          <p:nvPr/>
        </p:nvSpPr>
        <p:spPr>
          <a:xfrm>
            <a:off x="1024128" y="1883664"/>
            <a:ext cx="7498080" cy="347472"/>
          </a:xfrm>
          <a:prstGeom prst="rect">
            <a:avLst/>
          </a:prstGeom>
          <a:noFill/>
          <a:ln/>
        </p:spPr>
        <p:txBody>
          <a:bodyPr wrap="square" lIns="0" tIns="0" rIns="0" bIns="0" rtlCol="0" anchor="ctr"/>
          <a:lstStyle/>
          <a:p>
            <a:pPr algn="l" indent="0" marL="0">
              <a:buNone/>
            </a:pPr>
            <a:r>
              <a:rPr lang="en-US" sz="1500" dirty="0">
                <a:solidFill>
                  <a:srgbClr val="9FB1C7"/>
                </a:solidFill>
              </a:rPr>
              <a:t>1</a:t>
            </a:r>
            <a:endParaRPr lang="en-US" sz="1500" dirty="0"/>
          </a:p>
        </p:txBody>
      </p:sp>
      <p:sp>
        <p:nvSpPr>
          <p:cNvPr id="10" name="Option B"/>
          <p:cNvSpPr/>
          <p:nvPr/>
        </p:nvSpPr>
        <p:spPr>
          <a:xfrm>
            <a:off x="502920" y="2359152"/>
            <a:ext cx="8138160" cy="438912"/>
          </a:xfrm>
          <a:prstGeom prst="roundRect">
            <a:avLst>
              <a:gd name="adj" fmla="val 20833"/>
            </a:avLst>
          </a:prstGeom>
          <a:solidFill>
            <a:schemeClr val="tx2"/>
          </a:solidFill>
          <a:ln w="12700">
            <a:solidFill>
              <a:srgbClr val="2A3A55"/>
            </a:solidFill>
            <a:prstDash val="solid"/>
          </a:ln>
        </p:spPr>
      </p:sp>
      <p:sp>
        <p:nvSpPr>
          <p:cNvPr id="11" name="Letter"/>
          <p:cNvSpPr/>
          <p:nvPr/>
        </p:nvSpPr>
        <p:spPr>
          <a:xfrm>
            <a:off x="621792" y="2441448"/>
            <a:ext cx="292608" cy="274320"/>
          </a:xfrm>
          <a:prstGeom prst="roundRect">
            <a:avLst>
              <a:gd name="adj" fmla="val 20000"/>
            </a:avLst>
          </a:prstGeom>
          <a:solidFill>
            <a:srgbClr val="2A3A55"/>
          </a:solidFill>
          <a:ln/>
        </p:spPr>
        <p:txBody>
          <a:bodyPr wrap="square" lIns="0" tIns="0" rIns="0" bIns="0" rtlCol="0" anchor="ctr"/>
          <a:lstStyle/>
          <a:p>
            <a:pPr algn="ctr" indent="0" marL="0">
              <a:buNone/>
            </a:pPr>
            <a:r>
              <a:rPr lang="en-US" sz="1200" b="1" dirty="0">
                <a:solidFill>
                  <a:srgbClr val="E6EDF7"/>
                </a:solidFill>
              </a:rPr>
              <a:t>B</a:t>
            </a:r>
            <a:endParaRPr lang="en-US" sz="1200" dirty="0"/>
          </a:p>
        </p:txBody>
      </p:sp>
      <p:sp>
        <p:nvSpPr>
          <p:cNvPr id="12" name="Text 9"/>
          <p:cNvSpPr txBox="1"/>
          <p:nvPr/>
        </p:nvSpPr>
        <p:spPr>
          <a:xfrm>
            <a:off x="1024128" y="2414016"/>
            <a:ext cx="7498080" cy="347472"/>
          </a:xfrm>
          <a:prstGeom prst="rect">
            <a:avLst/>
          </a:prstGeom>
          <a:noFill/>
          <a:ln/>
        </p:spPr>
        <p:txBody>
          <a:bodyPr wrap="square" lIns="0" tIns="0" rIns="0" bIns="0" rtlCol="0" anchor="ctr"/>
          <a:lstStyle/>
          <a:p>
            <a:pPr algn="l" indent="0" marL="0">
              <a:buNone/>
            </a:pPr>
            <a:r>
              <a:rPr lang="en-US" sz="1500" dirty="0">
                <a:solidFill>
                  <a:srgbClr val="9FB1C7"/>
                </a:solidFill>
              </a:rPr>
              <a:t>3</a:t>
            </a:r>
            <a:endParaRPr lang="en-US" sz="1500" dirty="0"/>
          </a:p>
        </p:txBody>
      </p:sp>
      <p:sp>
        <p:nvSpPr>
          <p:cNvPr id="13" name="Option C"/>
          <p:cNvSpPr/>
          <p:nvPr/>
        </p:nvSpPr>
        <p:spPr>
          <a:xfrm>
            <a:off x="502920" y="2889504"/>
            <a:ext cx="8138160" cy="438912"/>
          </a:xfrm>
          <a:prstGeom prst="roundRect">
            <a:avLst>
              <a:gd name="adj" fmla="val 20833"/>
            </a:avLst>
          </a:prstGeom>
          <a:solidFill>
            <a:srgbClr val="153D2A"/>
          </a:solidFill>
          <a:ln w="25400">
            <a:solidFill>
              <a:srgbClr val="4ADE80"/>
            </a:solidFill>
            <a:prstDash val="solid"/>
          </a:ln>
        </p:spPr>
      </p:sp>
      <p:sp>
        <p:nvSpPr>
          <p:cNvPr id="14" name="Letter"/>
          <p:cNvSpPr/>
          <p:nvPr/>
        </p:nvSpPr>
        <p:spPr>
          <a:xfrm>
            <a:off x="621792" y="2971800"/>
            <a:ext cx="292608" cy="274320"/>
          </a:xfrm>
          <a:prstGeom prst="roundRect">
            <a:avLst>
              <a:gd name="adj" fmla="val 20000"/>
            </a:avLst>
          </a:prstGeom>
          <a:solidFill>
            <a:srgbClr val="4ADE80"/>
          </a:solidFill>
          <a:ln/>
        </p:spPr>
        <p:txBody>
          <a:bodyPr wrap="square" lIns="0" tIns="0" rIns="0" bIns="0" rtlCol="0" anchor="ctr"/>
          <a:lstStyle/>
          <a:p>
            <a:pPr algn="ctr" indent="0" marL="0">
              <a:buNone/>
            </a:pPr>
            <a:r>
              <a:rPr lang="en-US" sz="1200" b="1" dirty="0">
                <a:solidFill>
                  <a:srgbClr val="06240F"/>
                </a:solidFill>
              </a:rPr>
              <a:t>C</a:t>
            </a:r>
            <a:endParaRPr lang="en-US" sz="1200" dirty="0"/>
          </a:p>
        </p:txBody>
      </p:sp>
      <p:sp>
        <p:nvSpPr>
          <p:cNvPr id="15" name="Text 12"/>
          <p:cNvSpPr txBox="1"/>
          <p:nvPr/>
        </p:nvSpPr>
        <p:spPr>
          <a:xfrm>
            <a:off x="1024128" y="2944368"/>
            <a:ext cx="7498080" cy="347472"/>
          </a:xfrm>
          <a:prstGeom prst="rect">
            <a:avLst/>
          </a:prstGeom>
          <a:noFill/>
          <a:ln/>
        </p:spPr>
        <p:txBody>
          <a:bodyPr wrap="square" lIns="0" tIns="0" rIns="0" bIns="0" rtlCol="0" anchor="ctr"/>
          <a:lstStyle/>
          <a:p>
            <a:pPr algn="l" indent="0" marL="0">
              <a:buNone/>
            </a:pPr>
            <a:r>
              <a:rPr lang="en-US" sz="1500" dirty="0">
                <a:solidFill>
                  <a:schemeClr val="bg1"/>
                </a:solidFill>
              </a:rPr>
              <a:t>2</a:t>
            </a:r>
            <a:endParaRPr lang="en-US" sz="1500" dirty="0"/>
          </a:p>
        </p:txBody>
      </p:sp>
      <p:sp>
        <p:nvSpPr>
          <p:cNvPr id="16" name="Option D"/>
          <p:cNvSpPr/>
          <p:nvPr/>
        </p:nvSpPr>
        <p:spPr>
          <a:xfrm>
            <a:off x="502920" y="3419856"/>
            <a:ext cx="8138160" cy="438912"/>
          </a:xfrm>
          <a:prstGeom prst="roundRect">
            <a:avLst>
              <a:gd name="adj" fmla="val 20833"/>
            </a:avLst>
          </a:prstGeom>
          <a:solidFill>
            <a:schemeClr val="tx2"/>
          </a:solidFill>
          <a:ln w="12700">
            <a:solidFill>
              <a:srgbClr val="2A3A55"/>
            </a:solidFill>
            <a:prstDash val="solid"/>
          </a:ln>
        </p:spPr>
      </p:sp>
      <p:sp>
        <p:nvSpPr>
          <p:cNvPr id="17" name="Letter"/>
          <p:cNvSpPr/>
          <p:nvPr/>
        </p:nvSpPr>
        <p:spPr>
          <a:xfrm>
            <a:off x="621792" y="3502152"/>
            <a:ext cx="292608" cy="274320"/>
          </a:xfrm>
          <a:prstGeom prst="roundRect">
            <a:avLst>
              <a:gd name="adj" fmla="val 20000"/>
            </a:avLst>
          </a:prstGeom>
          <a:solidFill>
            <a:srgbClr val="2A3A55"/>
          </a:solidFill>
          <a:ln/>
        </p:spPr>
        <p:txBody>
          <a:bodyPr wrap="square" lIns="0" tIns="0" rIns="0" bIns="0" rtlCol="0" anchor="ctr"/>
          <a:lstStyle/>
          <a:p>
            <a:pPr algn="ctr" indent="0" marL="0">
              <a:buNone/>
            </a:pPr>
            <a:r>
              <a:rPr lang="en-US" sz="1200" b="1" dirty="0">
                <a:solidFill>
                  <a:srgbClr val="E6EDF7"/>
                </a:solidFill>
              </a:rPr>
              <a:t>D</a:t>
            </a:r>
            <a:endParaRPr lang="en-US" sz="1200" dirty="0"/>
          </a:p>
        </p:txBody>
      </p:sp>
      <p:sp>
        <p:nvSpPr>
          <p:cNvPr id="18" name="Text 15"/>
          <p:cNvSpPr txBox="1"/>
          <p:nvPr/>
        </p:nvSpPr>
        <p:spPr>
          <a:xfrm>
            <a:off x="1024128" y="3474720"/>
            <a:ext cx="7498080" cy="347472"/>
          </a:xfrm>
          <a:prstGeom prst="rect">
            <a:avLst/>
          </a:prstGeom>
          <a:noFill/>
          <a:ln/>
        </p:spPr>
        <p:txBody>
          <a:bodyPr wrap="square" lIns="0" tIns="0" rIns="0" bIns="0" rtlCol="0" anchor="ctr"/>
          <a:lstStyle/>
          <a:p>
            <a:pPr algn="l" indent="0" marL="0">
              <a:buNone/>
            </a:pPr>
            <a:r>
              <a:rPr lang="en-US" sz="1500" dirty="0">
                <a:solidFill>
                  <a:srgbClr val="9FB1C7"/>
                </a:solidFill>
              </a:rPr>
              <a:t>4</a:t>
            </a:r>
            <a:endParaRPr lang="en-US" sz="1500" dirty="0"/>
          </a:p>
        </p:txBody>
      </p:sp>
      <p:sp>
        <p:nvSpPr>
          <p:cNvPr id="19" name="Why"/>
          <p:cNvSpPr/>
          <p:nvPr/>
        </p:nvSpPr>
        <p:spPr>
          <a:xfrm>
            <a:off x="502920" y="3995928"/>
            <a:ext cx="8138160" cy="566928"/>
          </a:xfrm>
          <a:prstGeom prst="roundRect">
            <a:avLst>
              <a:gd name="adj" fmla="val 16129"/>
            </a:avLst>
          </a:prstGeom>
          <a:solidFill>
            <a:srgbClr val="153D2A"/>
          </a:solidFill>
          <a:ln w="12700">
            <a:solidFill>
              <a:srgbClr val="2F6B47"/>
            </a:solidFill>
            <a:prstDash val="solid"/>
          </a:ln>
        </p:spPr>
      </p:sp>
      <p:sp>
        <p:nvSpPr>
          <p:cNvPr id="20" name="Text 17"/>
          <p:cNvSpPr txBox="1"/>
          <p:nvPr/>
        </p:nvSpPr>
        <p:spPr>
          <a:xfrm>
            <a:off x="685800" y="4050792"/>
            <a:ext cx="7772400" cy="475488"/>
          </a:xfrm>
          <a:prstGeom prst="rect">
            <a:avLst/>
          </a:prstGeom>
          <a:noFill/>
          <a:ln/>
        </p:spPr>
        <p:txBody>
          <a:bodyPr wrap="square" lIns="0" tIns="0" rIns="0" bIns="0" rtlCol="0" anchor="ctr"/>
          <a:lstStyle/>
          <a:p>
            <a:pPr algn="l" indent="0" marL="0">
              <a:buNone/>
            </a:pPr>
            <a:r>
              <a:rPr lang="en-US" sz="1400" b="1" dirty="0">
                <a:solidFill>
                  <a:schemeClr val="accent4"/>
                </a:solidFill>
              </a:rPr>
              <a:t>Why: </a:t>
            </a:r>
            <a:pPr algn="l" indent="0" marL="0">
              <a:buNone/>
            </a:pPr>
            <a:r>
              <a:rPr lang="en-US" sz="1400" dirty="0">
                <a:solidFill>
                  <a:schemeClr val="bg1"/>
                </a:solidFill>
              </a:rPr>
              <a:t>Each fluorine takes one electron, so two fluorines take calcium's two electrons: CaF₂.</a:t>
            </a:r>
            <a:endParaRPr lang="en-US" sz="14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FB1C7"/>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1" type="body" hasCustomPrompt="1"/>
          </p:nvPr>
        </p:nvSpPr>
        <p:spPr>
          <a:xfrm>
            <a:off x="1645920" y="274320"/>
            <a:ext cx="6949440" cy="274320"/>
          </a:xfrm>
          <a:prstGeom prst="rect">
            <a:avLst/>
          </a:prstGeom>
          <a:noFill/>
          <a:ln/>
        </p:spPr>
        <p:txBody>
          <a:bodyPr wrap="square" lIns="0" tIns="0" rIns="0" bIns="0" rtlCol="0"/>
          <a:lstStyle/>
          <a:p>
            <a:pPr indent="0" marL="0">
              <a:buNone/>
            </a:pPr>
            <a:r>
              <a:rPr lang="en-US" sz="1300" dirty="0">
                <a:solidFill>
                  <a:schemeClr val="bg2"/>
                </a:solidFill>
              </a:rPr>
              <a:t>Section 5 of 9 · about 5 min</a:t>
            </a:r>
            <a:endParaRPr lang="en-US" sz="1300" dirty="0"/>
          </a:p>
        </p:txBody>
      </p:sp>
      <p:sp>
        <p:nvSpPr>
          <p:cNvPr id="3" name="Text 0"/>
          <p:cNvSpPr/>
          <p:nvPr>
            <p:ph idx="100" type="title" hasCustomPrompt="1"/>
          </p:nvPr>
        </p:nvSpPr>
        <p:spPr>
          <a:xfrm>
            <a:off x="1645920" y="548640"/>
            <a:ext cx="7040880" cy="685800"/>
          </a:xfrm>
          <a:prstGeom prst="rect">
            <a:avLst/>
          </a:prstGeom>
          <a:noFill/>
          <a:ln/>
        </p:spPr>
        <p:txBody>
          <a:bodyPr wrap="square" lIns="0" tIns="0" rIns="0" bIns="0" rtlCol="0" anchor="ctr"/>
          <a:lstStyle/>
          <a:p>
            <a:pPr algn="l" indent="0" marL="0">
              <a:buNone/>
            </a:pPr>
            <a:r>
              <a:rPr lang="en-US" sz="3000" b="1" dirty="0">
                <a:solidFill>
                  <a:schemeClr val="bg1"/>
                </a:solidFill>
                <a:latin typeface="Arial" pitchFamily="34" charset="0"/>
                <a:ea typeface="Arial" pitchFamily="34" charset="-122"/>
                <a:cs typeface="Arial" pitchFamily="34" charset="-120"/>
              </a:rPr>
              <a:t>Writing ionic formulas</a:t>
            </a:r>
            <a:endParaRPr lang="en-US" sz="3000" dirty="0"/>
          </a:p>
        </p:txBody>
      </p:sp>
      <p:pic>
        <p:nvPicPr>
          <p:cNvPr id="4" name="Icon 5" descr="Section 5 icon">    </p:cNvPr>
          <p:cNvPicPr>
            <a:picLocks noChangeAspect="1"/>
          </p:cNvPicPr>
          <p:nvPr/>
        </p:nvPicPr>
        <p:blipFill>
          <a:blip r:embed="rId1"/>
          <a:stretch>
            <a:fillRect/>
          </a:stretch>
        </p:blipFill>
        <p:spPr>
          <a:xfrm>
            <a:off x="502920" y="274320"/>
            <a:ext cx="914400" cy="1011677"/>
          </a:xfrm>
          <a:prstGeom prst="rect">
            <a:avLst/>
          </a:prstGeom>
        </p:spPr>
      </p:pic>
      <p:sp>
        <p:nvSpPr>
          <p:cNvPr id="5" name="In this section"/>
          <p:cNvSpPr/>
          <p:nvPr/>
        </p:nvSpPr>
        <p:spPr>
          <a:xfrm>
            <a:off x="502920" y="1600200"/>
            <a:ext cx="3931920" cy="2926080"/>
          </a:xfrm>
          <a:prstGeom prst="roundRect">
            <a:avLst>
              <a:gd name="adj" fmla="val 3125"/>
            </a:avLst>
          </a:prstGeom>
          <a:solidFill>
            <a:schemeClr val="tx2"/>
          </a:solidFill>
          <a:ln w="12700">
            <a:solidFill>
              <a:srgbClr val="2A3A55"/>
            </a:solidFill>
            <a:prstDash val="solid"/>
          </a:ln>
        </p:spPr>
      </p:sp>
      <p:sp>
        <p:nvSpPr>
          <p:cNvPr id="6" name="Text 3"/>
          <p:cNvSpPr txBox="1"/>
          <p:nvPr/>
        </p:nvSpPr>
        <p:spPr>
          <a:xfrm>
            <a:off x="731520" y="1783080"/>
            <a:ext cx="3474720" cy="320040"/>
          </a:xfrm>
          <a:prstGeom prst="rect">
            <a:avLst/>
          </a:prstGeom>
          <a:noFill/>
          <a:ln/>
        </p:spPr>
        <p:txBody>
          <a:bodyPr wrap="square" lIns="0" tIns="0" rIns="0" bIns="0" rtlCol="0" anchor="t"/>
          <a:lstStyle/>
          <a:p>
            <a:pPr algn="l" indent="0" marL="0">
              <a:buNone/>
            </a:pPr>
            <a:r>
              <a:rPr lang="en-US" sz="1600" b="1" dirty="0">
                <a:solidFill>
                  <a:schemeClr val="accent1"/>
                </a:solidFill>
              </a:rPr>
              <a:t>In this section</a:t>
            </a:r>
            <a:endParaRPr lang="en-US" sz="1600" dirty="0"/>
          </a:p>
        </p:txBody>
      </p:sp>
      <p:sp>
        <p:nvSpPr>
          <p:cNvPr id="7" name="Tag Read"/>
          <p:cNvSpPr/>
          <p:nvPr/>
        </p:nvSpPr>
        <p:spPr>
          <a:xfrm>
            <a:off x="731520" y="2240280"/>
            <a:ext cx="1051560" cy="219456"/>
          </a:xfrm>
          <a:prstGeom prst="roundRect">
            <a:avLst>
              <a:gd name="adj" fmla="val 41667"/>
            </a:avLst>
          </a:prstGeom>
          <a:solidFill>
            <a:srgbClr val="25305A"/>
          </a:solidFill>
          <a:ln/>
        </p:spPr>
        <p:txBody>
          <a:bodyPr wrap="square" lIns="0" tIns="0" rIns="0" bIns="0" rtlCol="0" anchor="ctr"/>
          <a:lstStyle/>
          <a:p>
            <a:pPr algn="ctr" indent="0" marL="0">
              <a:buNone/>
            </a:pPr>
            <a:r>
              <a:rPr lang="en-US" sz="1000" b="1" dirty="0">
                <a:solidFill>
                  <a:srgbClr val="C3CFFC"/>
                </a:solidFill>
              </a:rPr>
              <a:t>Read</a:t>
            </a:r>
            <a:endParaRPr lang="en-US" sz="1000" dirty="0"/>
          </a:p>
        </p:txBody>
      </p:sp>
      <p:sp>
        <p:nvSpPr>
          <p:cNvPr id="8" name="Text 5"/>
          <p:cNvSpPr txBox="1"/>
          <p:nvPr/>
        </p:nvSpPr>
        <p:spPr>
          <a:xfrm>
            <a:off x="1920240" y="2212848"/>
            <a:ext cx="2377440" cy="292608"/>
          </a:xfrm>
          <a:prstGeom prst="rect">
            <a:avLst/>
          </a:prstGeom>
          <a:noFill/>
          <a:ln/>
        </p:spPr>
        <p:txBody>
          <a:bodyPr wrap="square" lIns="0" tIns="0" rIns="0" bIns="0" rtlCol="0" anchor="t"/>
          <a:lstStyle/>
          <a:p>
            <a:pPr algn="l" indent="0" marL="0">
              <a:buNone/>
            </a:pPr>
            <a:r>
              <a:rPr lang="en-US" sz="1400" dirty="0">
                <a:solidFill>
                  <a:schemeClr val="bg1"/>
                </a:solidFill>
              </a:rPr>
              <a:t>From ions to a formula</a:t>
            </a:r>
            <a:endParaRPr lang="en-US" sz="1400" dirty="0"/>
          </a:p>
        </p:txBody>
      </p:sp>
      <p:sp>
        <p:nvSpPr>
          <p:cNvPr id="9" name="Tag Try it"/>
          <p:cNvSpPr/>
          <p:nvPr/>
        </p:nvSpPr>
        <p:spPr>
          <a:xfrm>
            <a:off x="731520" y="2743200"/>
            <a:ext cx="1051560" cy="219456"/>
          </a:xfrm>
          <a:prstGeom prst="roundRect">
            <a:avLst>
              <a:gd name="adj" fmla="val 41667"/>
            </a:avLst>
          </a:prstGeom>
          <a:solidFill>
            <a:srgbClr val="5FE1FF"/>
          </a:solidFill>
          <a:ln/>
        </p:spPr>
        <p:txBody>
          <a:bodyPr wrap="square" lIns="0" tIns="0" rIns="0" bIns="0" rtlCol="0" anchor="ctr"/>
          <a:lstStyle/>
          <a:p>
            <a:pPr algn="ctr" indent="0" marL="0">
              <a:buNone/>
            </a:pPr>
            <a:r>
              <a:rPr lang="en-US" sz="1000" b="1" dirty="0">
                <a:solidFill>
                  <a:srgbClr val="0B2630"/>
                </a:solidFill>
              </a:rPr>
              <a:t>Try it</a:t>
            </a:r>
            <a:endParaRPr lang="en-US" sz="1000" dirty="0"/>
          </a:p>
        </p:txBody>
      </p:sp>
      <p:sp>
        <p:nvSpPr>
          <p:cNvPr id="10" name="Text 7"/>
          <p:cNvSpPr txBox="1"/>
          <p:nvPr/>
        </p:nvSpPr>
        <p:spPr>
          <a:xfrm>
            <a:off x="1920240" y="2715768"/>
            <a:ext cx="2377440" cy="292608"/>
          </a:xfrm>
          <a:prstGeom prst="rect">
            <a:avLst/>
          </a:prstGeom>
          <a:noFill/>
          <a:ln/>
        </p:spPr>
        <p:txBody>
          <a:bodyPr wrap="square" lIns="0" tIns="0" rIns="0" bIns="0" rtlCol="0" anchor="t"/>
          <a:lstStyle/>
          <a:p>
            <a:pPr algn="l" indent="0" marL="0">
              <a:buNone/>
            </a:pPr>
            <a:r>
              <a:rPr lang="en-US" sz="1400" dirty="0">
                <a:solidFill>
                  <a:schemeClr val="bg1"/>
                </a:solidFill>
              </a:rPr>
              <a:t>Formula builder</a:t>
            </a:r>
            <a:endParaRPr lang="en-US" sz="1400" dirty="0"/>
          </a:p>
        </p:txBody>
      </p:sp>
      <p:sp>
        <p:nvSpPr>
          <p:cNvPr id="11" name="Tag Quick check"/>
          <p:cNvSpPr/>
          <p:nvPr/>
        </p:nvSpPr>
        <p:spPr>
          <a:xfrm>
            <a:off x="731520" y="3246120"/>
            <a:ext cx="1051560" cy="219456"/>
          </a:xfrm>
          <a:prstGeom prst="roundRect">
            <a:avLst>
              <a:gd name="adj" fmla="val 41667"/>
            </a:avLst>
          </a:prstGeom>
          <a:solidFill>
            <a:srgbClr val="F6B93B"/>
          </a:solidFill>
          <a:ln/>
        </p:spPr>
        <p:txBody>
          <a:bodyPr wrap="square" lIns="0" tIns="0" rIns="0" bIns="0" rtlCol="0" anchor="ctr"/>
          <a:lstStyle/>
          <a:p>
            <a:pPr algn="ctr" indent="0" marL="0">
              <a:buNone/>
            </a:pPr>
            <a:r>
              <a:rPr lang="en-US" sz="1000" b="1" dirty="0">
                <a:solidFill>
                  <a:srgbClr val="241703"/>
                </a:solidFill>
              </a:rPr>
              <a:t>Quick check</a:t>
            </a:r>
            <a:endParaRPr lang="en-US" sz="1000" dirty="0"/>
          </a:p>
        </p:txBody>
      </p:sp>
      <p:sp>
        <p:nvSpPr>
          <p:cNvPr id="12" name="Text 9"/>
          <p:cNvSpPr txBox="1"/>
          <p:nvPr/>
        </p:nvSpPr>
        <p:spPr>
          <a:xfrm>
            <a:off x="1920240" y="3218688"/>
            <a:ext cx="2377440" cy="292608"/>
          </a:xfrm>
          <a:prstGeom prst="rect">
            <a:avLst/>
          </a:prstGeom>
          <a:noFill/>
          <a:ln/>
        </p:spPr>
        <p:txBody>
          <a:bodyPr wrap="square" lIns="0" tIns="0" rIns="0" bIns="0" rtlCol="0" anchor="t"/>
          <a:lstStyle/>
          <a:p>
            <a:pPr algn="l" indent="0" marL="0">
              <a:buNone/>
            </a:pPr>
            <a:r>
              <a:rPr lang="en-US" sz="1400" dirty="0">
                <a:solidFill>
                  <a:schemeClr val="bg1"/>
                </a:solidFill>
              </a:rPr>
              <a:t>Aluminum chloride</a:t>
            </a:r>
            <a:endParaRPr lang="en-US" sz="1400" dirty="0"/>
          </a:p>
        </p:txBody>
      </p:sp>
      <p:sp>
        <p:nvSpPr>
          <p:cNvPr id="13" name="To unlock"/>
          <p:cNvSpPr/>
          <p:nvPr/>
        </p:nvSpPr>
        <p:spPr>
          <a:xfrm>
            <a:off x="4709160" y="1600200"/>
            <a:ext cx="3931920" cy="2926080"/>
          </a:xfrm>
          <a:prstGeom prst="roundRect">
            <a:avLst>
              <a:gd name="adj" fmla="val 3125"/>
            </a:avLst>
          </a:prstGeom>
          <a:solidFill>
            <a:schemeClr val="tx2"/>
          </a:solidFill>
          <a:ln w="12700">
            <a:solidFill>
              <a:srgbClr val="2A3A55"/>
            </a:solidFill>
            <a:prstDash val="solid"/>
          </a:ln>
        </p:spPr>
      </p:sp>
      <p:sp>
        <p:nvSpPr>
          <p:cNvPr id="14" name="Text 11"/>
          <p:cNvSpPr txBox="1"/>
          <p:nvPr/>
        </p:nvSpPr>
        <p:spPr>
          <a:xfrm>
            <a:off x="4937760" y="1783080"/>
            <a:ext cx="3474720" cy="320040"/>
          </a:xfrm>
          <a:prstGeom prst="rect">
            <a:avLst/>
          </a:prstGeom>
          <a:noFill/>
          <a:ln/>
        </p:spPr>
        <p:txBody>
          <a:bodyPr wrap="square" lIns="0" tIns="0" rIns="0" bIns="0" rtlCol="0" anchor="t"/>
          <a:lstStyle/>
          <a:p>
            <a:pPr algn="l" indent="0" marL="0">
              <a:buNone/>
            </a:pPr>
            <a:r>
              <a:rPr lang="en-US" sz="1600" b="1" dirty="0">
                <a:solidFill>
                  <a:schemeClr val="accent4"/>
                </a:solidFill>
              </a:rPr>
              <a:t>To unlock the next section</a:t>
            </a:r>
            <a:endParaRPr lang="en-US" sz="1600" dirty="0"/>
          </a:p>
        </p:txBody>
      </p:sp>
      <p:sp>
        <p:nvSpPr>
          <p:cNvPr id="15" name="Checkbox"/>
          <p:cNvSpPr/>
          <p:nvPr/>
        </p:nvSpPr>
        <p:spPr>
          <a:xfrm>
            <a:off x="4937760" y="2286000"/>
            <a:ext cx="182880" cy="182880"/>
          </a:xfrm>
          <a:prstGeom prst="rect">
            <a:avLst/>
          </a:prstGeom>
          <a:solidFill>
            <a:schemeClr val="tx2"/>
          </a:solidFill>
          <a:ln w="12700">
            <a:solidFill>
              <a:schemeClr val="bg2"/>
            </a:solidFill>
            <a:prstDash val="solid"/>
          </a:ln>
        </p:spPr>
      </p:sp>
      <p:sp>
        <p:nvSpPr>
          <p:cNvPr id="16" name="Text 13"/>
          <p:cNvSpPr txBox="1"/>
          <p:nvPr/>
        </p:nvSpPr>
        <p:spPr>
          <a:xfrm>
            <a:off x="5257800" y="2221992"/>
            <a:ext cx="3200400" cy="457200"/>
          </a:xfrm>
          <a:prstGeom prst="rect">
            <a:avLst/>
          </a:prstGeom>
          <a:noFill/>
          <a:ln/>
        </p:spPr>
        <p:txBody>
          <a:bodyPr wrap="square" lIns="0" tIns="0" rIns="0" bIns="0" rtlCol="0" anchor="t"/>
          <a:lstStyle/>
          <a:p>
            <a:pPr algn="l" indent="0" marL="0">
              <a:buNone/>
            </a:pPr>
            <a:r>
              <a:rPr lang="en-US" sz="1400" dirty="0">
                <a:solidFill>
                  <a:schemeClr val="bg1"/>
                </a:solidFill>
              </a:rPr>
              <a:t>Write 3 formulas</a:t>
            </a:r>
            <a:endParaRPr lang="en-US" sz="1400" dirty="0"/>
          </a:p>
        </p:txBody>
      </p:sp>
      <p:sp>
        <p:nvSpPr>
          <p:cNvPr id="17" name="Checkbox"/>
          <p:cNvSpPr/>
          <p:nvPr/>
        </p:nvSpPr>
        <p:spPr>
          <a:xfrm>
            <a:off x="4937760" y="2834640"/>
            <a:ext cx="182880" cy="182880"/>
          </a:xfrm>
          <a:prstGeom prst="rect">
            <a:avLst/>
          </a:prstGeom>
          <a:solidFill>
            <a:schemeClr val="tx2"/>
          </a:solidFill>
          <a:ln w="12700">
            <a:solidFill>
              <a:schemeClr val="bg2"/>
            </a:solidFill>
            <a:prstDash val="solid"/>
          </a:ln>
        </p:spPr>
      </p:sp>
      <p:sp>
        <p:nvSpPr>
          <p:cNvPr id="18" name="Text 15"/>
          <p:cNvSpPr txBox="1"/>
          <p:nvPr/>
        </p:nvSpPr>
        <p:spPr>
          <a:xfrm>
            <a:off x="5257800" y="2770632"/>
            <a:ext cx="3200400" cy="457200"/>
          </a:xfrm>
          <a:prstGeom prst="rect">
            <a:avLst/>
          </a:prstGeom>
          <a:noFill/>
          <a:ln/>
        </p:spPr>
        <p:txBody>
          <a:bodyPr wrap="square" lIns="0" tIns="0" rIns="0" bIns="0" rtlCol="0" anchor="t"/>
          <a:lstStyle/>
          <a:p>
            <a:pPr algn="l" indent="0" marL="0">
              <a:buNone/>
            </a:pPr>
            <a:r>
              <a:rPr lang="en-US" sz="1400" dirty="0">
                <a:solidFill>
                  <a:schemeClr val="bg1"/>
                </a:solidFill>
              </a:rPr>
              <a:t>Answer the quick check correctly</a:t>
            </a:r>
            <a:endParaRPr lang="en-US" sz="14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FB1C7"/>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1234440" y="292608"/>
            <a:ext cx="7452360" cy="548640"/>
          </a:xfrm>
          <a:prstGeom prst="rect">
            <a:avLst/>
          </a:prstGeom>
          <a:noFill/>
          <a:ln/>
        </p:spPr>
        <p:txBody>
          <a:bodyPr wrap="square" lIns="0" tIns="0" rIns="0" bIns="0" rtlCol="0" anchor="ctr"/>
          <a:lstStyle/>
          <a:p>
            <a:pPr algn="l" indent="0" marL="0">
              <a:buNone/>
            </a:pPr>
            <a:r>
              <a:rPr lang="en-US" sz="2800" b="1" dirty="0">
                <a:solidFill>
                  <a:schemeClr val="bg1"/>
                </a:solidFill>
                <a:latin typeface="Arial" pitchFamily="34" charset="0"/>
                <a:ea typeface="Arial" pitchFamily="34" charset="-122"/>
                <a:cs typeface="Arial" pitchFamily="34" charset="-120"/>
              </a:rPr>
              <a:t>From ions to a formula</a:t>
            </a:r>
            <a:endParaRPr lang="en-US" sz="2800" dirty="0"/>
          </a:p>
        </p:txBody>
      </p:sp>
      <p:pic>
        <p:nvPicPr>
          <p:cNvPr id="3" name="Icon 5" descr="Section 5 icon">    </p:cNvPr>
          <p:cNvPicPr>
            <a:picLocks noChangeAspect="1"/>
          </p:cNvPicPr>
          <p:nvPr/>
        </p:nvPicPr>
        <p:blipFill>
          <a:blip r:embed="rId1"/>
          <a:stretch>
            <a:fillRect/>
          </a:stretch>
        </p:blipFill>
        <p:spPr>
          <a:xfrm>
            <a:off x="502920" y="201168"/>
            <a:ext cx="566928" cy="627239"/>
          </a:xfrm>
          <a:prstGeom prst="rect">
            <a:avLst/>
          </a:prstGeom>
        </p:spPr>
      </p:pic>
      <p:sp>
        <p:nvSpPr>
          <p:cNvPr id="4" name="Tag Read"/>
          <p:cNvSpPr/>
          <p:nvPr/>
        </p:nvSpPr>
        <p:spPr>
          <a:xfrm>
            <a:off x="1234440" y="45720"/>
            <a:ext cx="1051560" cy="219456"/>
          </a:xfrm>
          <a:prstGeom prst="roundRect">
            <a:avLst>
              <a:gd name="adj" fmla="val 41667"/>
            </a:avLst>
          </a:prstGeom>
          <a:solidFill>
            <a:srgbClr val="25305A"/>
          </a:solidFill>
          <a:ln/>
        </p:spPr>
        <p:txBody>
          <a:bodyPr wrap="square" lIns="0" tIns="0" rIns="0" bIns="0" rtlCol="0" anchor="ctr"/>
          <a:lstStyle/>
          <a:p>
            <a:pPr algn="ctr" indent="0" marL="0">
              <a:buNone/>
            </a:pPr>
            <a:r>
              <a:rPr lang="en-US" sz="1000" b="1" dirty="0">
                <a:solidFill>
                  <a:srgbClr val="C3CFFC"/>
                </a:solidFill>
              </a:rPr>
              <a:t>Read</a:t>
            </a:r>
            <a:endParaRPr lang="en-US" sz="1000" dirty="0"/>
          </a:p>
        </p:txBody>
      </p:sp>
      <p:sp>
        <p:nvSpPr>
          <p:cNvPr id="5" name="Text 2"/>
          <p:cNvSpPr txBox="1"/>
          <p:nvPr/>
        </p:nvSpPr>
        <p:spPr>
          <a:xfrm>
            <a:off x="502920" y="960120"/>
            <a:ext cx="8138160" cy="1280160"/>
          </a:xfrm>
          <a:prstGeom prst="rect">
            <a:avLst/>
          </a:prstGeom>
          <a:noFill/>
          <a:ln/>
        </p:spPr>
        <p:txBody>
          <a:bodyPr wrap="square" lIns="0" tIns="0" rIns="0" bIns="0" rtlCol="0" anchor="t"/>
          <a:lstStyle/>
          <a:p>
            <a:pPr algn="l" indent="0" marL="0">
              <a:spcAft>
                <a:spcPts val="800"/>
              </a:spcAft>
              <a:buNone/>
            </a:pPr>
            <a:r>
              <a:rPr lang="en-US" sz="1600" dirty="0">
                <a:solidFill>
                  <a:schemeClr val="bg1"/>
                </a:solidFill>
              </a:rPr>
              <a:t>1. Write the </a:t>
            </a:r>
            <a:pPr algn="l" indent="0" marL="0">
              <a:spcAft>
                <a:spcPts val="800"/>
              </a:spcAft>
              <a:buNone/>
            </a:pPr>
            <a:r>
              <a:rPr lang="en-US" sz="1600" b="1" dirty="0">
                <a:solidFill>
                  <a:schemeClr val="bg1"/>
                </a:solidFill>
              </a:rPr>
              <a:t>metal first</a:t>
            </a:r>
            <a:pPr algn="l" indent="0" marL="0">
              <a:spcAft>
                <a:spcPts val="800"/>
              </a:spcAft>
              <a:buNone/>
            </a:pPr>
            <a:r>
              <a:rPr lang="en-US" sz="1600" dirty="0">
                <a:solidFill>
                  <a:schemeClr val="bg1"/>
                </a:solidFill>
              </a:rPr>
              <a:t>, then the nonmetal.</a:t>
            </a:r>
            <a:endParaRPr lang="en-US" sz="1600" dirty="0"/>
          </a:p>
          <a:p>
            <a:pPr algn="l" indent="0" marL="0">
              <a:spcAft>
                <a:spcPts val="800"/>
              </a:spcAft>
              <a:buNone/>
            </a:pPr>
            <a:r>
              <a:rPr lang="en-US" sz="1600" dirty="0">
                <a:solidFill>
                  <a:schemeClr val="bg1"/>
                </a:solidFill>
              </a:rPr>
              <a:t>2. Use the smallest numbers that make the total charge </a:t>
            </a:r>
            <a:pPr algn="l" indent="0" marL="0">
              <a:spcAft>
                <a:spcPts val="800"/>
              </a:spcAft>
              <a:buNone/>
            </a:pPr>
            <a:r>
              <a:rPr lang="en-US" sz="1600" b="1" dirty="0">
                <a:solidFill>
                  <a:schemeClr val="bg1"/>
                </a:solidFill>
              </a:rPr>
              <a:t>zero</a:t>
            </a:r>
            <a:pPr algn="l" indent="0" marL="0">
              <a:spcAft>
                <a:spcPts val="800"/>
              </a:spcAft>
              <a:buNone/>
            </a:pPr>
            <a:r>
              <a:rPr lang="en-US" sz="1600" dirty="0">
                <a:solidFill>
                  <a:schemeClr val="bg1"/>
                </a:solidFill>
              </a:rPr>
              <a:t>.</a:t>
            </a:r>
            <a:endParaRPr lang="en-US" sz="1600" dirty="0"/>
          </a:p>
          <a:p>
            <a:pPr algn="l" indent="0" marL="0">
              <a:spcAft>
                <a:spcPts val="800"/>
              </a:spcAft>
              <a:buNone/>
            </a:pPr>
            <a:r>
              <a:rPr lang="en-US" sz="1600" dirty="0">
                <a:solidFill>
                  <a:schemeClr val="bg1"/>
                </a:solidFill>
              </a:rPr>
              <a:t>3. Show how many of each ion with a </a:t>
            </a:r>
            <a:pPr algn="l" indent="0" marL="0">
              <a:spcAft>
                <a:spcPts val="800"/>
              </a:spcAft>
              <a:buNone/>
            </a:pPr>
            <a:r>
              <a:rPr lang="en-US" sz="1600" b="1" dirty="0">
                <a:solidFill>
                  <a:schemeClr val="accent1"/>
                </a:solidFill>
              </a:rPr>
              <a:t>subscript</a:t>
            </a:r>
            <a:pPr algn="l" indent="0" marL="0">
              <a:spcAft>
                <a:spcPts val="800"/>
              </a:spcAft>
              <a:buNone/>
            </a:pPr>
            <a:r>
              <a:rPr lang="en-US" sz="1600" dirty="0">
                <a:solidFill>
                  <a:schemeClr val="bg1"/>
                </a:solidFill>
              </a:rPr>
              <a:t>. Don't write a 1.</a:t>
            </a:r>
            <a:endParaRPr lang="en-US" sz="1600" dirty="0"/>
          </a:p>
        </p:txBody>
      </p:sp>
      <p:sp>
        <p:nvSpPr>
          <p:cNvPr id="6" name="Text 3"/>
          <p:cNvSpPr txBox="1"/>
          <p:nvPr/>
        </p:nvSpPr>
        <p:spPr>
          <a:xfrm>
            <a:off x="502920" y="2331720"/>
            <a:ext cx="8138160" cy="365760"/>
          </a:xfrm>
          <a:prstGeom prst="rect">
            <a:avLst/>
          </a:prstGeom>
          <a:noFill/>
          <a:ln/>
        </p:spPr>
        <p:txBody>
          <a:bodyPr wrap="square" lIns="0" tIns="0" rIns="0" bIns="0" rtlCol="0" anchor="t"/>
          <a:lstStyle/>
          <a:p>
            <a:pPr algn="l" indent="0" marL="0">
              <a:buNone/>
            </a:pPr>
            <a:r>
              <a:rPr lang="en-US" sz="1500" b="1" dirty="0">
                <a:solidFill>
                  <a:schemeClr val="accent2"/>
                </a:solidFill>
              </a:rPr>
              <a:t>Example: Ca²⁺ and Cl⁻. One Ca²⁺ (+2) needs two Cl⁻ (−1 each) → CaCl₂</a:t>
            </a:r>
            <a:endParaRPr lang="en-US" sz="1500" dirty="0"/>
          </a:p>
        </p:txBody>
      </p:sp>
      <p:pic>
        <p:nvPicPr>
          <p:cNvPr id="7" name="formula_cacl2" descr="Formula builder: one Ca 2 plus and two Cl minus give a total charge of zero, CaCl2">    </p:cNvPr>
          <p:cNvPicPr>
            <a:picLocks noChangeAspect="1"/>
          </p:cNvPicPr>
          <p:nvPr/>
        </p:nvPicPr>
        <p:blipFill>
          <a:blip r:embed="rId2"/>
          <a:stretch>
            <a:fillRect/>
          </a:stretch>
        </p:blipFill>
        <p:spPr>
          <a:xfrm>
            <a:off x="502920" y="2834640"/>
            <a:ext cx="8138160" cy="1465597"/>
          </a:xfrm>
          <a:prstGeom prst="rect">
            <a:avLst/>
          </a:prstGeom>
        </p:spPr>
      </p:pic>
      <p:sp>
        <p:nvSpPr>
          <p:cNvPr id="8" name="Text 4"/>
          <p:cNvSpPr txBox="1"/>
          <p:nvPr/>
        </p:nvSpPr>
        <p:spPr>
          <a:xfrm>
            <a:off x="502920" y="4434840"/>
            <a:ext cx="8138160" cy="365760"/>
          </a:xfrm>
          <a:prstGeom prst="rect">
            <a:avLst/>
          </a:prstGeom>
          <a:noFill/>
          <a:ln/>
        </p:spPr>
        <p:txBody>
          <a:bodyPr wrap="square" lIns="0" tIns="0" rIns="0" bIns="0" rtlCol="0" anchor="t"/>
          <a:lstStyle/>
          <a:p>
            <a:pPr algn="l" indent="0" marL="0">
              <a:buNone/>
            </a:pPr>
            <a:r>
              <a:rPr lang="en-US" sz="1300" dirty="0">
                <a:solidFill>
                  <a:schemeClr val="bg2"/>
                </a:solidFill>
              </a:rPr>
              <a:t>Shortcut (criss-cross): each ion's charge becomes the other's subscript. Al³⁺ + O²⁻ → Al₂O₃. Reduce if you can.</a:t>
            </a:r>
            <a:endParaRPr lang="en-US" sz="13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FB1C7"/>
                </a:solidFil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1234440" y="292608"/>
            <a:ext cx="7452360" cy="548640"/>
          </a:xfrm>
          <a:prstGeom prst="rect">
            <a:avLst/>
          </a:prstGeom>
          <a:noFill/>
          <a:ln/>
        </p:spPr>
        <p:txBody>
          <a:bodyPr wrap="square" lIns="0" tIns="0" rIns="0" bIns="0" rtlCol="0" anchor="ctr"/>
          <a:lstStyle/>
          <a:p>
            <a:pPr algn="l" indent="0" marL="0">
              <a:buNone/>
            </a:pPr>
            <a:r>
              <a:rPr lang="en-US" sz="2800" b="1" dirty="0">
                <a:solidFill>
                  <a:schemeClr val="bg1"/>
                </a:solidFill>
                <a:latin typeface="Arial" pitchFamily="34" charset="0"/>
                <a:ea typeface="Arial" pitchFamily="34" charset="-122"/>
                <a:cs typeface="Arial" pitchFamily="34" charset="-120"/>
              </a:rPr>
              <a:t>Formula builder</a:t>
            </a:r>
            <a:endParaRPr lang="en-US" sz="2800" dirty="0"/>
          </a:p>
        </p:txBody>
      </p:sp>
      <p:pic>
        <p:nvPicPr>
          <p:cNvPr id="3" name="Icon 5" descr="Section 5 icon">    </p:cNvPr>
          <p:cNvPicPr>
            <a:picLocks noChangeAspect="1"/>
          </p:cNvPicPr>
          <p:nvPr/>
        </p:nvPicPr>
        <p:blipFill>
          <a:blip r:embed="rId1"/>
          <a:stretch>
            <a:fillRect/>
          </a:stretch>
        </p:blipFill>
        <p:spPr>
          <a:xfrm>
            <a:off x="502920" y="201168"/>
            <a:ext cx="566928" cy="627239"/>
          </a:xfrm>
          <a:prstGeom prst="rect">
            <a:avLst/>
          </a:prstGeom>
        </p:spPr>
      </p:pic>
      <p:sp>
        <p:nvSpPr>
          <p:cNvPr id="4" name="Tag Try it"/>
          <p:cNvSpPr/>
          <p:nvPr/>
        </p:nvSpPr>
        <p:spPr>
          <a:xfrm>
            <a:off x="1234440" y="45720"/>
            <a:ext cx="1051560" cy="219456"/>
          </a:xfrm>
          <a:prstGeom prst="roundRect">
            <a:avLst>
              <a:gd name="adj" fmla="val 41667"/>
            </a:avLst>
          </a:prstGeom>
          <a:solidFill>
            <a:srgbClr val="5FE1FF"/>
          </a:solidFill>
          <a:ln/>
        </p:spPr>
        <p:txBody>
          <a:bodyPr wrap="square" lIns="0" tIns="0" rIns="0" bIns="0" rtlCol="0" anchor="ctr"/>
          <a:lstStyle/>
          <a:p>
            <a:pPr algn="ctr" indent="0" marL="0">
              <a:buNone/>
            </a:pPr>
            <a:r>
              <a:rPr lang="en-US" sz="1000" b="1" dirty="0">
                <a:solidFill>
                  <a:srgbClr val="0B2630"/>
                </a:solidFill>
              </a:rPr>
              <a:t>Try it</a:t>
            </a:r>
            <a:endParaRPr lang="en-US" sz="1000" dirty="0"/>
          </a:p>
        </p:txBody>
      </p:sp>
      <p:sp>
        <p:nvSpPr>
          <p:cNvPr id="5" name="Text 2"/>
          <p:cNvSpPr txBox="1"/>
          <p:nvPr/>
        </p:nvSpPr>
        <p:spPr>
          <a:xfrm>
            <a:off x="502920" y="960120"/>
            <a:ext cx="8138160" cy="365760"/>
          </a:xfrm>
          <a:prstGeom prst="rect">
            <a:avLst/>
          </a:prstGeom>
          <a:noFill/>
          <a:ln/>
        </p:spPr>
        <p:txBody>
          <a:bodyPr wrap="square" lIns="0" tIns="0" rIns="0" bIns="0" rtlCol="0" anchor="t"/>
          <a:lstStyle/>
          <a:p>
            <a:pPr algn="l" indent="0" marL="0">
              <a:buNone/>
            </a:pPr>
            <a:r>
              <a:rPr lang="en-US" sz="1600" b="1" dirty="0">
                <a:solidFill>
                  <a:schemeClr val="bg1"/>
                </a:solidFill>
              </a:rPr>
              <a:t>Write the formula for each pair of ions.</a:t>
            </a:r>
            <a:endParaRPr lang="en-US" sz="1600" dirty="0"/>
          </a:p>
        </p:txBody>
      </p:sp>
      <p:sp>
        <p:nvSpPr>
          <p:cNvPr id="6" name="Round 1"/>
          <p:cNvSpPr/>
          <p:nvPr/>
        </p:nvSpPr>
        <p:spPr>
          <a:xfrm>
            <a:off x="502920" y="1554480"/>
            <a:ext cx="2606040" cy="2651760"/>
          </a:xfrm>
          <a:prstGeom prst="roundRect">
            <a:avLst>
              <a:gd name="adj" fmla="val 3509"/>
            </a:avLst>
          </a:prstGeom>
          <a:solidFill>
            <a:schemeClr val="tx2"/>
          </a:solidFill>
          <a:ln w="12700">
            <a:solidFill>
              <a:srgbClr val="2A3A55"/>
            </a:solidFill>
            <a:prstDash val="solid"/>
          </a:ln>
        </p:spPr>
      </p:sp>
      <p:sp>
        <p:nvSpPr>
          <p:cNvPr id="7" name="Text 4"/>
          <p:cNvSpPr txBox="1"/>
          <p:nvPr/>
        </p:nvSpPr>
        <p:spPr>
          <a:xfrm>
            <a:off x="685800" y="1737360"/>
            <a:ext cx="2240280" cy="457200"/>
          </a:xfrm>
          <a:prstGeom prst="rect">
            <a:avLst/>
          </a:prstGeom>
          <a:noFill/>
          <a:ln/>
        </p:spPr>
        <p:txBody>
          <a:bodyPr wrap="square" lIns="0" tIns="0" rIns="0" bIns="0" rtlCol="0" anchor="t"/>
          <a:lstStyle/>
          <a:p>
            <a:pPr algn="ctr" indent="0" marL="0">
              <a:buNone/>
            </a:pPr>
            <a:r>
              <a:rPr lang="en-US" sz="2000" b="1" dirty="0">
                <a:solidFill>
                  <a:schemeClr val="bg1"/>
                </a:solidFill>
              </a:rPr>
              <a:t>Ca²⁺ + Cl⁻</a:t>
            </a:r>
            <a:endParaRPr lang="en-US" sz="2000" dirty="0"/>
          </a:p>
        </p:txBody>
      </p:sp>
      <p:sp>
        <p:nvSpPr>
          <p:cNvPr id="8" name="Text 5"/>
          <p:cNvSpPr txBox="1"/>
          <p:nvPr/>
        </p:nvSpPr>
        <p:spPr>
          <a:xfrm>
            <a:off x="685800" y="2377440"/>
            <a:ext cx="2240280" cy="731520"/>
          </a:xfrm>
          <a:prstGeom prst="rect">
            <a:avLst/>
          </a:prstGeom>
          <a:noFill/>
          <a:ln/>
        </p:spPr>
        <p:txBody>
          <a:bodyPr wrap="square" lIns="0" tIns="0" rIns="0" bIns="0" rtlCol="0" anchor="t"/>
          <a:lstStyle/>
          <a:p>
            <a:pPr algn="ctr" indent="0" marL="0">
              <a:buNone/>
            </a:pPr>
            <a:r>
              <a:rPr lang="en-US" sz="3600" b="1" dirty="0">
                <a:solidFill>
                  <a:schemeClr val="bg2"/>
                </a:solidFill>
              </a:rPr>
              <a:t>?</a:t>
            </a:r>
            <a:endParaRPr lang="en-US" sz="3600" dirty="0"/>
          </a:p>
        </p:txBody>
      </p:sp>
      <p:sp>
        <p:nvSpPr>
          <p:cNvPr id="9" name="Round 2"/>
          <p:cNvSpPr/>
          <p:nvPr/>
        </p:nvSpPr>
        <p:spPr>
          <a:xfrm>
            <a:off x="3291840" y="1554480"/>
            <a:ext cx="2606040" cy="2651760"/>
          </a:xfrm>
          <a:prstGeom prst="roundRect">
            <a:avLst>
              <a:gd name="adj" fmla="val 3509"/>
            </a:avLst>
          </a:prstGeom>
          <a:solidFill>
            <a:schemeClr val="tx2"/>
          </a:solidFill>
          <a:ln w="12700">
            <a:solidFill>
              <a:srgbClr val="2A3A55"/>
            </a:solidFill>
            <a:prstDash val="solid"/>
          </a:ln>
        </p:spPr>
      </p:sp>
      <p:sp>
        <p:nvSpPr>
          <p:cNvPr id="10" name="Text 7"/>
          <p:cNvSpPr txBox="1"/>
          <p:nvPr/>
        </p:nvSpPr>
        <p:spPr>
          <a:xfrm>
            <a:off x="3474720" y="1737360"/>
            <a:ext cx="2240280" cy="457200"/>
          </a:xfrm>
          <a:prstGeom prst="rect">
            <a:avLst/>
          </a:prstGeom>
          <a:noFill/>
          <a:ln/>
        </p:spPr>
        <p:txBody>
          <a:bodyPr wrap="square" lIns="0" tIns="0" rIns="0" bIns="0" rtlCol="0" anchor="t"/>
          <a:lstStyle/>
          <a:p>
            <a:pPr algn="ctr" indent="0" marL="0">
              <a:buNone/>
            </a:pPr>
            <a:r>
              <a:rPr lang="en-US" sz="2000" b="1" dirty="0">
                <a:solidFill>
                  <a:schemeClr val="bg1"/>
                </a:solidFill>
              </a:rPr>
              <a:t>Li⁺ + O²⁻</a:t>
            </a:r>
            <a:endParaRPr lang="en-US" sz="2000" dirty="0"/>
          </a:p>
        </p:txBody>
      </p:sp>
      <p:sp>
        <p:nvSpPr>
          <p:cNvPr id="11" name="Text 8"/>
          <p:cNvSpPr txBox="1"/>
          <p:nvPr/>
        </p:nvSpPr>
        <p:spPr>
          <a:xfrm>
            <a:off x="3474720" y="2377440"/>
            <a:ext cx="2240280" cy="731520"/>
          </a:xfrm>
          <a:prstGeom prst="rect">
            <a:avLst/>
          </a:prstGeom>
          <a:noFill/>
          <a:ln/>
        </p:spPr>
        <p:txBody>
          <a:bodyPr wrap="square" lIns="0" tIns="0" rIns="0" bIns="0" rtlCol="0" anchor="t"/>
          <a:lstStyle/>
          <a:p>
            <a:pPr algn="ctr" indent="0" marL="0">
              <a:buNone/>
            </a:pPr>
            <a:r>
              <a:rPr lang="en-US" sz="3600" b="1" dirty="0">
                <a:solidFill>
                  <a:schemeClr val="bg2"/>
                </a:solidFill>
              </a:rPr>
              <a:t>?</a:t>
            </a:r>
            <a:endParaRPr lang="en-US" sz="3600" dirty="0"/>
          </a:p>
        </p:txBody>
      </p:sp>
      <p:sp>
        <p:nvSpPr>
          <p:cNvPr id="12" name="Round 3"/>
          <p:cNvSpPr/>
          <p:nvPr/>
        </p:nvSpPr>
        <p:spPr>
          <a:xfrm>
            <a:off x="6080760" y="1554480"/>
            <a:ext cx="2606040" cy="2651760"/>
          </a:xfrm>
          <a:prstGeom prst="roundRect">
            <a:avLst>
              <a:gd name="adj" fmla="val 3509"/>
            </a:avLst>
          </a:prstGeom>
          <a:solidFill>
            <a:schemeClr val="tx2"/>
          </a:solidFill>
          <a:ln w="12700">
            <a:solidFill>
              <a:srgbClr val="2A3A55"/>
            </a:solidFill>
            <a:prstDash val="solid"/>
          </a:ln>
        </p:spPr>
      </p:sp>
      <p:sp>
        <p:nvSpPr>
          <p:cNvPr id="13" name="Text 10"/>
          <p:cNvSpPr txBox="1"/>
          <p:nvPr/>
        </p:nvSpPr>
        <p:spPr>
          <a:xfrm>
            <a:off x="6263640" y="1737360"/>
            <a:ext cx="2240280" cy="457200"/>
          </a:xfrm>
          <a:prstGeom prst="rect">
            <a:avLst/>
          </a:prstGeom>
          <a:noFill/>
          <a:ln/>
        </p:spPr>
        <p:txBody>
          <a:bodyPr wrap="square" lIns="0" tIns="0" rIns="0" bIns="0" rtlCol="0" anchor="t"/>
          <a:lstStyle/>
          <a:p>
            <a:pPr algn="ctr" indent="0" marL="0">
              <a:buNone/>
            </a:pPr>
            <a:r>
              <a:rPr lang="en-US" sz="2000" b="1" dirty="0">
                <a:solidFill>
                  <a:schemeClr val="bg1"/>
                </a:solidFill>
              </a:rPr>
              <a:t>Al³⁺ + O²⁻</a:t>
            </a:r>
            <a:endParaRPr lang="en-US" sz="2000" dirty="0"/>
          </a:p>
        </p:txBody>
      </p:sp>
      <p:sp>
        <p:nvSpPr>
          <p:cNvPr id="14" name="Text 11"/>
          <p:cNvSpPr txBox="1"/>
          <p:nvPr/>
        </p:nvSpPr>
        <p:spPr>
          <a:xfrm>
            <a:off x="6263640" y="2377440"/>
            <a:ext cx="2240280" cy="731520"/>
          </a:xfrm>
          <a:prstGeom prst="rect">
            <a:avLst/>
          </a:prstGeom>
          <a:noFill/>
          <a:ln/>
        </p:spPr>
        <p:txBody>
          <a:bodyPr wrap="square" lIns="0" tIns="0" rIns="0" bIns="0" rtlCol="0" anchor="t"/>
          <a:lstStyle/>
          <a:p>
            <a:pPr algn="ctr" indent="0" marL="0">
              <a:buNone/>
            </a:pPr>
            <a:r>
              <a:rPr lang="en-US" sz="3600" b="1" dirty="0">
                <a:solidFill>
                  <a:schemeClr val="bg2"/>
                </a:solidFill>
              </a:rPr>
              <a:t>?</a:t>
            </a:r>
            <a:endParaRPr lang="en-US" sz="36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FB1C7"/>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1234440" y="292608"/>
            <a:ext cx="7452360" cy="548640"/>
          </a:xfrm>
          <a:prstGeom prst="rect">
            <a:avLst/>
          </a:prstGeom>
          <a:noFill/>
          <a:ln/>
        </p:spPr>
        <p:txBody>
          <a:bodyPr wrap="square" lIns="0" tIns="0" rIns="0" bIns="0" rtlCol="0" anchor="ctr"/>
          <a:lstStyle/>
          <a:p>
            <a:pPr algn="l" indent="0" marL="0">
              <a:buNone/>
            </a:pPr>
            <a:r>
              <a:rPr lang="en-US" sz="2800" b="1" dirty="0">
                <a:solidFill>
                  <a:schemeClr val="bg1"/>
                </a:solidFill>
                <a:latin typeface="Arial" pitchFamily="34" charset="0"/>
                <a:ea typeface="Arial" pitchFamily="34" charset="-122"/>
                <a:cs typeface="Arial" pitchFamily="34" charset="-120"/>
              </a:rPr>
              <a:t>Formula builder</a:t>
            </a:r>
            <a:endParaRPr lang="en-US" sz="2800" dirty="0"/>
          </a:p>
        </p:txBody>
      </p:sp>
      <p:pic>
        <p:nvPicPr>
          <p:cNvPr id="3" name="Icon 5" descr="Section 5 icon">    </p:cNvPr>
          <p:cNvPicPr>
            <a:picLocks noChangeAspect="1"/>
          </p:cNvPicPr>
          <p:nvPr/>
        </p:nvPicPr>
        <p:blipFill>
          <a:blip r:embed="rId1"/>
          <a:stretch>
            <a:fillRect/>
          </a:stretch>
        </p:blipFill>
        <p:spPr>
          <a:xfrm>
            <a:off x="502920" y="201168"/>
            <a:ext cx="566928" cy="627239"/>
          </a:xfrm>
          <a:prstGeom prst="rect">
            <a:avLst/>
          </a:prstGeom>
        </p:spPr>
      </p:pic>
      <p:sp>
        <p:nvSpPr>
          <p:cNvPr id="4" name="Tag Try it"/>
          <p:cNvSpPr/>
          <p:nvPr/>
        </p:nvSpPr>
        <p:spPr>
          <a:xfrm>
            <a:off x="1234440" y="45720"/>
            <a:ext cx="1051560" cy="219456"/>
          </a:xfrm>
          <a:prstGeom prst="roundRect">
            <a:avLst>
              <a:gd name="adj" fmla="val 41667"/>
            </a:avLst>
          </a:prstGeom>
          <a:solidFill>
            <a:srgbClr val="5FE1FF"/>
          </a:solidFill>
          <a:ln/>
        </p:spPr>
        <p:txBody>
          <a:bodyPr wrap="square" lIns="0" tIns="0" rIns="0" bIns="0" rtlCol="0" anchor="ctr"/>
          <a:lstStyle/>
          <a:p>
            <a:pPr algn="ctr" indent="0" marL="0">
              <a:buNone/>
            </a:pPr>
            <a:r>
              <a:rPr lang="en-US" sz="1000" b="1" dirty="0">
                <a:solidFill>
                  <a:srgbClr val="0B2630"/>
                </a:solidFill>
              </a:rPr>
              <a:t>Try it</a:t>
            </a:r>
            <a:endParaRPr lang="en-US" sz="1000" dirty="0"/>
          </a:p>
        </p:txBody>
      </p:sp>
      <p:sp>
        <p:nvSpPr>
          <p:cNvPr id="5" name="Tag Answer"/>
          <p:cNvSpPr/>
          <p:nvPr/>
        </p:nvSpPr>
        <p:spPr>
          <a:xfrm>
            <a:off x="2377440" y="45720"/>
            <a:ext cx="1051560" cy="219456"/>
          </a:xfrm>
          <a:prstGeom prst="roundRect">
            <a:avLst>
              <a:gd name="adj" fmla="val 41667"/>
            </a:avLst>
          </a:prstGeom>
          <a:solidFill>
            <a:srgbClr val="4ADE80"/>
          </a:solidFill>
          <a:ln/>
        </p:spPr>
        <p:txBody>
          <a:bodyPr wrap="square" lIns="0" tIns="0" rIns="0" bIns="0" rtlCol="0" anchor="ctr"/>
          <a:lstStyle/>
          <a:p>
            <a:pPr algn="ctr" indent="0" marL="0">
              <a:buNone/>
            </a:pPr>
            <a:r>
              <a:rPr lang="en-US" sz="1000" b="1" dirty="0">
                <a:solidFill>
                  <a:srgbClr val="06240F"/>
                </a:solidFill>
              </a:rPr>
              <a:t>Answer</a:t>
            </a:r>
            <a:endParaRPr lang="en-US" sz="1000" dirty="0"/>
          </a:p>
        </p:txBody>
      </p:sp>
      <p:sp>
        <p:nvSpPr>
          <p:cNvPr id="6" name="Text 3"/>
          <p:cNvSpPr txBox="1"/>
          <p:nvPr/>
        </p:nvSpPr>
        <p:spPr>
          <a:xfrm>
            <a:off x="502920" y="960120"/>
            <a:ext cx="8138160" cy="365760"/>
          </a:xfrm>
          <a:prstGeom prst="rect">
            <a:avLst/>
          </a:prstGeom>
          <a:noFill/>
          <a:ln/>
        </p:spPr>
        <p:txBody>
          <a:bodyPr wrap="square" lIns="0" tIns="0" rIns="0" bIns="0" rtlCol="0" anchor="t"/>
          <a:lstStyle/>
          <a:p>
            <a:pPr algn="l" indent="0" marL="0">
              <a:buNone/>
            </a:pPr>
            <a:r>
              <a:rPr lang="en-US" sz="1600" b="1" dirty="0">
                <a:solidFill>
                  <a:schemeClr val="bg1"/>
                </a:solidFill>
              </a:rPr>
              <a:t>Write the formula for each pair of ions.</a:t>
            </a:r>
            <a:endParaRPr lang="en-US" sz="1600" dirty="0"/>
          </a:p>
        </p:txBody>
      </p:sp>
      <p:sp>
        <p:nvSpPr>
          <p:cNvPr id="7" name="Round 1"/>
          <p:cNvSpPr/>
          <p:nvPr/>
        </p:nvSpPr>
        <p:spPr>
          <a:xfrm>
            <a:off x="502920" y="1554480"/>
            <a:ext cx="2606040" cy="2651760"/>
          </a:xfrm>
          <a:prstGeom prst="roundRect">
            <a:avLst>
              <a:gd name="adj" fmla="val 3509"/>
            </a:avLst>
          </a:prstGeom>
          <a:solidFill>
            <a:schemeClr val="tx2"/>
          </a:solidFill>
          <a:ln w="12700">
            <a:solidFill>
              <a:srgbClr val="4ADE80"/>
            </a:solidFill>
            <a:prstDash val="solid"/>
          </a:ln>
        </p:spPr>
      </p:sp>
      <p:sp>
        <p:nvSpPr>
          <p:cNvPr id="8" name="Text 5"/>
          <p:cNvSpPr txBox="1"/>
          <p:nvPr/>
        </p:nvSpPr>
        <p:spPr>
          <a:xfrm>
            <a:off x="685800" y="1737360"/>
            <a:ext cx="2240280" cy="457200"/>
          </a:xfrm>
          <a:prstGeom prst="rect">
            <a:avLst/>
          </a:prstGeom>
          <a:noFill/>
          <a:ln/>
        </p:spPr>
        <p:txBody>
          <a:bodyPr wrap="square" lIns="0" tIns="0" rIns="0" bIns="0" rtlCol="0" anchor="t"/>
          <a:lstStyle/>
          <a:p>
            <a:pPr algn="ctr" indent="0" marL="0">
              <a:buNone/>
            </a:pPr>
            <a:r>
              <a:rPr lang="en-US" sz="2000" b="1" dirty="0">
                <a:solidFill>
                  <a:schemeClr val="bg1"/>
                </a:solidFill>
              </a:rPr>
              <a:t>Ca²⁺ + Cl⁻</a:t>
            </a:r>
            <a:endParaRPr lang="en-US" sz="2000" dirty="0"/>
          </a:p>
        </p:txBody>
      </p:sp>
      <p:sp>
        <p:nvSpPr>
          <p:cNvPr id="9" name="Text 6"/>
          <p:cNvSpPr txBox="1"/>
          <p:nvPr/>
        </p:nvSpPr>
        <p:spPr>
          <a:xfrm>
            <a:off x="685800" y="2377440"/>
            <a:ext cx="2240280" cy="731520"/>
          </a:xfrm>
          <a:prstGeom prst="rect">
            <a:avLst/>
          </a:prstGeom>
          <a:noFill/>
          <a:ln/>
        </p:spPr>
        <p:txBody>
          <a:bodyPr wrap="square" lIns="0" tIns="0" rIns="0" bIns="0" rtlCol="0" anchor="t"/>
          <a:lstStyle/>
          <a:p>
            <a:pPr algn="ctr" indent="0" marL="0">
              <a:buNone/>
            </a:pPr>
            <a:r>
              <a:rPr lang="en-US" sz="3600" b="1" dirty="0">
                <a:solidFill>
                  <a:schemeClr val="accent2"/>
                </a:solidFill>
              </a:rPr>
              <a:t>CaCl₂</a:t>
            </a:r>
            <a:endParaRPr lang="en-US" sz="3600" dirty="0"/>
          </a:p>
        </p:txBody>
      </p:sp>
      <p:sp>
        <p:nvSpPr>
          <p:cNvPr id="10" name="Text 7"/>
          <p:cNvSpPr txBox="1"/>
          <p:nvPr/>
        </p:nvSpPr>
        <p:spPr>
          <a:xfrm>
            <a:off x="685800" y="3246120"/>
            <a:ext cx="2240280" cy="731520"/>
          </a:xfrm>
          <a:prstGeom prst="rect">
            <a:avLst/>
          </a:prstGeom>
          <a:noFill/>
          <a:ln/>
        </p:spPr>
        <p:txBody>
          <a:bodyPr wrap="square" lIns="0" tIns="0" rIns="0" bIns="0" rtlCol="0" anchor="t"/>
          <a:lstStyle/>
          <a:p>
            <a:pPr algn="ctr" indent="0" marL="0">
              <a:buNone/>
            </a:pPr>
            <a:r>
              <a:rPr lang="en-US" sz="1300" dirty="0">
                <a:solidFill>
                  <a:schemeClr val="bg2"/>
                </a:solidFill>
              </a:rPr>
              <a:t>+2 and 2 × (−1) = 0</a:t>
            </a:r>
            <a:endParaRPr lang="en-US" sz="1300" dirty="0"/>
          </a:p>
        </p:txBody>
      </p:sp>
      <p:sp>
        <p:nvSpPr>
          <p:cNvPr id="11" name="Round 2"/>
          <p:cNvSpPr/>
          <p:nvPr/>
        </p:nvSpPr>
        <p:spPr>
          <a:xfrm>
            <a:off x="3291840" y="1554480"/>
            <a:ext cx="2606040" cy="2651760"/>
          </a:xfrm>
          <a:prstGeom prst="roundRect">
            <a:avLst>
              <a:gd name="adj" fmla="val 3509"/>
            </a:avLst>
          </a:prstGeom>
          <a:solidFill>
            <a:schemeClr val="tx2"/>
          </a:solidFill>
          <a:ln w="12700">
            <a:solidFill>
              <a:srgbClr val="4ADE80"/>
            </a:solidFill>
            <a:prstDash val="solid"/>
          </a:ln>
        </p:spPr>
      </p:sp>
      <p:sp>
        <p:nvSpPr>
          <p:cNvPr id="12" name="Text 9"/>
          <p:cNvSpPr txBox="1"/>
          <p:nvPr/>
        </p:nvSpPr>
        <p:spPr>
          <a:xfrm>
            <a:off x="3474720" y="1737360"/>
            <a:ext cx="2240280" cy="457200"/>
          </a:xfrm>
          <a:prstGeom prst="rect">
            <a:avLst/>
          </a:prstGeom>
          <a:noFill/>
          <a:ln/>
        </p:spPr>
        <p:txBody>
          <a:bodyPr wrap="square" lIns="0" tIns="0" rIns="0" bIns="0" rtlCol="0" anchor="t"/>
          <a:lstStyle/>
          <a:p>
            <a:pPr algn="ctr" indent="0" marL="0">
              <a:buNone/>
            </a:pPr>
            <a:r>
              <a:rPr lang="en-US" sz="2000" b="1" dirty="0">
                <a:solidFill>
                  <a:schemeClr val="bg1"/>
                </a:solidFill>
              </a:rPr>
              <a:t>Li⁺ + O²⁻</a:t>
            </a:r>
            <a:endParaRPr lang="en-US" sz="2000" dirty="0"/>
          </a:p>
        </p:txBody>
      </p:sp>
      <p:sp>
        <p:nvSpPr>
          <p:cNvPr id="13" name="Text 10"/>
          <p:cNvSpPr txBox="1"/>
          <p:nvPr/>
        </p:nvSpPr>
        <p:spPr>
          <a:xfrm>
            <a:off x="3474720" y="2377440"/>
            <a:ext cx="2240280" cy="731520"/>
          </a:xfrm>
          <a:prstGeom prst="rect">
            <a:avLst/>
          </a:prstGeom>
          <a:noFill/>
          <a:ln/>
        </p:spPr>
        <p:txBody>
          <a:bodyPr wrap="square" lIns="0" tIns="0" rIns="0" bIns="0" rtlCol="0" anchor="t"/>
          <a:lstStyle/>
          <a:p>
            <a:pPr algn="ctr" indent="0" marL="0">
              <a:buNone/>
            </a:pPr>
            <a:r>
              <a:rPr lang="en-US" sz="3600" b="1" dirty="0">
                <a:solidFill>
                  <a:schemeClr val="accent2"/>
                </a:solidFill>
              </a:rPr>
              <a:t>Li₂O</a:t>
            </a:r>
            <a:endParaRPr lang="en-US" sz="3600" dirty="0"/>
          </a:p>
        </p:txBody>
      </p:sp>
      <p:sp>
        <p:nvSpPr>
          <p:cNvPr id="14" name="Text 11"/>
          <p:cNvSpPr txBox="1"/>
          <p:nvPr/>
        </p:nvSpPr>
        <p:spPr>
          <a:xfrm>
            <a:off x="3474720" y="3246120"/>
            <a:ext cx="2240280" cy="731520"/>
          </a:xfrm>
          <a:prstGeom prst="rect">
            <a:avLst/>
          </a:prstGeom>
          <a:noFill/>
          <a:ln/>
        </p:spPr>
        <p:txBody>
          <a:bodyPr wrap="square" lIns="0" tIns="0" rIns="0" bIns="0" rtlCol="0" anchor="t"/>
          <a:lstStyle/>
          <a:p>
            <a:pPr algn="ctr" indent="0" marL="0">
              <a:buNone/>
            </a:pPr>
            <a:r>
              <a:rPr lang="en-US" sz="1300" dirty="0">
                <a:solidFill>
                  <a:schemeClr val="bg2"/>
                </a:solidFill>
              </a:rPr>
              <a:t>2 × (+1) and −2 = 0</a:t>
            </a:r>
            <a:endParaRPr lang="en-US" sz="1300" dirty="0"/>
          </a:p>
        </p:txBody>
      </p:sp>
      <p:sp>
        <p:nvSpPr>
          <p:cNvPr id="15" name="Round 3"/>
          <p:cNvSpPr/>
          <p:nvPr/>
        </p:nvSpPr>
        <p:spPr>
          <a:xfrm>
            <a:off x="6080760" y="1554480"/>
            <a:ext cx="2606040" cy="2651760"/>
          </a:xfrm>
          <a:prstGeom prst="roundRect">
            <a:avLst>
              <a:gd name="adj" fmla="val 3509"/>
            </a:avLst>
          </a:prstGeom>
          <a:solidFill>
            <a:schemeClr val="tx2"/>
          </a:solidFill>
          <a:ln w="12700">
            <a:solidFill>
              <a:srgbClr val="4ADE80"/>
            </a:solidFill>
            <a:prstDash val="solid"/>
          </a:ln>
        </p:spPr>
      </p:sp>
      <p:sp>
        <p:nvSpPr>
          <p:cNvPr id="16" name="Text 13"/>
          <p:cNvSpPr txBox="1"/>
          <p:nvPr/>
        </p:nvSpPr>
        <p:spPr>
          <a:xfrm>
            <a:off x="6263640" y="1737360"/>
            <a:ext cx="2240280" cy="457200"/>
          </a:xfrm>
          <a:prstGeom prst="rect">
            <a:avLst/>
          </a:prstGeom>
          <a:noFill/>
          <a:ln/>
        </p:spPr>
        <p:txBody>
          <a:bodyPr wrap="square" lIns="0" tIns="0" rIns="0" bIns="0" rtlCol="0" anchor="t"/>
          <a:lstStyle/>
          <a:p>
            <a:pPr algn="ctr" indent="0" marL="0">
              <a:buNone/>
            </a:pPr>
            <a:r>
              <a:rPr lang="en-US" sz="2000" b="1" dirty="0">
                <a:solidFill>
                  <a:schemeClr val="bg1"/>
                </a:solidFill>
              </a:rPr>
              <a:t>Al³⁺ + O²⁻</a:t>
            </a:r>
            <a:endParaRPr lang="en-US" sz="2000" dirty="0"/>
          </a:p>
        </p:txBody>
      </p:sp>
      <p:sp>
        <p:nvSpPr>
          <p:cNvPr id="17" name="Text 14"/>
          <p:cNvSpPr txBox="1"/>
          <p:nvPr/>
        </p:nvSpPr>
        <p:spPr>
          <a:xfrm>
            <a:off x="6263640" y="2377440"/>
            <a:ext cx="2240280" cy="731520"/>
          </a:xfrm>
          <a:prstGeom prst="rect">
            <a:avLst/>
          </a:prstGeom>
          <a:noFill/>
          <a:ln/>
        </p:spPr>
        <p:txBody>
          <a:bodyPr wrap="square" lIns="0" tIns="0" rIns="0" bIns="0" rtlCol="0" anchor="t"/>
          <a:lstStyle/>
          <a:p>
            <a:pPr algn="ctr" indent="0" marL="0">
              <a:buNone/>
            </a:pPr>
            <a:r>
              <a:rPr lang="en-US" sz="3600" b="1" dirty="0">
                <a:solidFill>
                  <a:schemeClr val="accent2"/>
                </a:solidFill>
              </a:rPr>
              <a:t>Al₂O₃</a:t>
            </a:r>
            <a:endParaRPr lang="en-US" sz="3600" dirty="0"/>
          </a:p>
        </p:txBody>
      </p:sp>
      <p:sp>
        <p:nvSpPr>
          <p:cNvPr id="18" name="Text 15"/>
          <p:cNvSpPr txBox="1"/>
          <p:nvPr/>
        </p:nvSpPr>
        <p:spPr>
          <a:xfrm>
            <a:off x="6263640" y="3246120"/>
            <a:ext cx="2240280" cy="731520"/>
          </a:xfrm>
          <a:prstGeom prst="rect">
            <a:avLst/>
          </a:prstGeom>
          <a:noFill/>
          <a:ln/>
        </p:spPr>
        <p:txBody>
          <a:bodyPr wrap="square" lIns="0" tIns="0" rIns="0" bIns="0" rtlCol="0" anchor="t"/>
          <a:lstStyle/>
          <a:p>
            <a:pPr algn="ctr" indent="0" marL="0">
              <a:buNone/>
            </a:pPr>
            <a:r>
              <a:rPr lang="en-US" sz="1300" dirty="0">
                <a:solidFill>
                  <a:schemeClr val="bg2"/>
                </a:solidFill>
              </a:rPr>
              <a:t>2 × (+3) = +6 and 3 × (−2) = −6</a:t>
            </a:r>
            <a:endParaRPr lang="en-US" sz="13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FB1C7"/>
                </a:solidFil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1234440" y="292608"/>
            <a:ext cx="7452360" cy="548640"/>
          </a:xfrm>
          <a:prstGeom prst="rect">
            <a:avLst/>
          </a:prstGeom>
          <a:noFill/>
          <a:ln/>
        </p:spPr>
        <p:txBody>
          <a:bodyPr wrap="square" lIns="0" tIns="0" rIns="0" bIns="0" rtlCol="0" anchor="ctr"/>
          <a:lstStyle/>
          <a:p>
            <a:pPr algn="l" indent="0" marL="0">
              <a:buNone/>
            </a:pPr>
            <a:r>
              <a:rPr lang="en-US" sz="2800" b="1" dirty="0">
                <a:solidFill>
                  <a:schemeClr val="bg1"/>
                </a:solidFill>
                <a:latin typeface="Arial" pitchFamily="34" charset="0"/>
                <a:ea typeface="Arial" pitchFamily="34" charset="-122"/>
                <a:cs typeface="Arial" pitchFamily="34" charset="-120"/>
              </a:rPr>
              <a:t>Quick check</a:t>
            </a:r>
            <a:endParaRPr lang="en-US" sz="2800" dirty="0"/>
          </a:p>
        </p:txBody>
      </p:sp>
      <p:pic>
        <p:nvPicPr>
          <p:cNvPr id="3" name="Icon 5" descr="Section 5 icon">    </p:cNvPr>
          <p:cNvPicPr>
            <a:picLocks noChangeAspect="1"/>
          </p:cNvPicPr>
          <p:nvPr/>
        </p:nvPicPr>
        <p:blipFill>
          <a:blip r:embed="rId1"/>
          <a:stretch>
            <a:fillRect/>
          </a:stretch>
        </p:blipFill>
        <p:spPr>
          <a:xfrm>
            <a:off x="502920" y="201168"/>
            <a:ext cx="566928" cy="627239"/>
          </a:xfrm>
          <a:prstGeom prst="rect">
            <a:avLst/>
          </a:prstGeom>
        </p:spPr>
      </p:pic>
      <p:sp>
        <p:nvSpPr>
          <p:cNvPr id="4" name="Tag Quick check"/>
          <p:cNvSpPr/>
          <p:nvPr/>
        </p:nvSpPr>
        <p:spPr>
          <a:xfrm>
            <a:off x="1234440" y="45720"/>
            <a:ext cx="1051560" cy="219456"/>
          </a:xfrm>
          <a:prstGeom prst="roundRect">
            <a:avLst>
              <a:gd name="adj" fmla="val 41667"/>
            </a:avLst>
          </a:prstGeom>
          <a:solidFill>
            <a:srgbClr val="F6B93B"/>
          </a:solidFill>
          <a:ln/>
        </p:spPr>
        <p:txBody>
          <a:bodyPr wrap="square" lIns="0" tIns="0" rIns="0" bIns="0" rtlCol="0" anchor="ctr"/>
          <a:lstStyle/>
          <a:p>
            <a:pPr algn="ctr" indent="0" marL="0">
              <a:buNone/>
            </a:pPr>
            <a:r>
              <a:rPr lang="en-US" sz="1000" b="1" dirty="0">
                <a:solidFill>
                  <a:srgbClr val="241703"/>
                </a:solidFill>
              </a:rPr>
              <a:t>Quick check</a:t>
            </a:r>
            <a:endParaRPr lang="en-US" sz="1000" dirty="0"/>
          </a:p>
        </p:txBody>
      </p:sp>
      <p:sp>
        <p:nvSpPr>
          <p:cNvPr id="5" name="Text 2"/>
          <p:cNvSpPr txBox="1"/>
          <p:nvPr/>
        </p:nvSpPr>
        <p:spPr>
          <a:xfrm>
            <a:off x="502920" y="960120"/>
            <a:ext cx="8138160" cy="411480"/>
          </a:xfrm>
          <a:prstGeom prst="rect">
            <a:avLst/>
          </a:prstGeom>
          <a:noFill/>
          <a:ln/>
        </p:spPr>
        <p:txBody>
          <a:bodyPr wrap="square" lIns="0" tIns="0" rIns="0" bIns="0" rtlCol="0" anchor="t"/>
          <a:lstStyle/>
          <a:p>
            <a:pPr algn="l" indent="0" marL="0">
              <a:buNone/>
            </a:pPr>
            <a:r>
              <a:rPr lang="en-US" sz="1800" b="1" dirty="0">
                <a:solidFill>
                  <a:schemeClr val="bg1"/>
                </a:solidFill>
              </a:rPr>
              <a:t>Which is the correct formula for the compound of Al³⁺ and Cl⁻?</a:t>
            </a:r>
            <a:endParaRPr lang="en-US" sz="1800" dirty="0"/>
          </a:p>
        </p:txBody>
      </p:sp>
      <p:sp>
        <p:nvSpPr>
          <p:cNvPr id="6" name="Option A"/>
          <p:cNvSpPr/>
          <p:nvPr/>
        </p:nvSpPr>
        <p:spPr>
          <a:xfrm>
            <a:off x="502920" y="1508760"/>
            <a:ext cx="8138160" cy="438912"/>
          </a:xfrm>
          <a:prstGeom prst="roundRect">
            <a:avLst>
              <a:gd name="adj" fmla="val 20833"/>
            </a:avLst>
          </a:prstGeom>
          <a:solidFill>
            <a:schemeClr val="tx2"/>
          </a:solidFill>
          <a:ln w="12700">
            <a:solidFill>
              <a:srgbClr val="2A3A55"/>
            </a:solidFill>
            <a:prstDash val="solid"/>
          </a:ln>
        </p:spPr>
      </p:sp>
      <p:sp>
        <p:nvSpPr>
          <p:cNvPr id="7" name="Letter"/>
          <p:cNvSpPr/>
          <p:nvPr/>
        </p:nvSpPr>
        <p:spPr>
          <a:xfrm>
            <a:off x="621792" y="1591056"/>
            <a:ext cx="292608" cy="274320"/>
          </a:xfrm>
          <a:prstGeom prst="roundRect">
            <a:avLst>
              <a:gd name="adj" fmla="val 20000"/>
            </a:avLst>
          </a:prstGeom>
          <a:solidFill>
            <a:srgbClr val="2A3A55"/>
          </a:solidFill>
          <a:ln/>
        </p:spPr>
        <p:txBody>
          <a:bodyPr wrap="square" lIns="0" tIns="0" rIns="0" bIns="0" rtlCol="0" anchor="ctr"/>
          <a:lstStyle/>
          <a:p>
            <a:pPr algn="ctr" indent="0" marL="0">
              <a:buNone/>
            </a:pPr>
            <a:r>
              <a:rPr lang="en-US" sz="1200" b="1" dirty="0">
                <a:solidFill>
                  <a:srgbClr val="E6EDF7"/>
                </a:solidFill>
              </a:rPr>
              <a:t>A</a:t>
            </a:r>
            <a:endParaRPr lang="en-US" sz="1200" dirty="0"/>
          </a:p>
        </p:txBody>
      </p:sp>
      <p:sp>
        <p:nvSpPr>
          <p:cNvPr id="8" name="Text 5"/>
          <p:cNvSpPr txBox="1"/>
          <p:nvPr/>
        </p:nvSpPr>
        <p:spPr>
          <a:xfrm>
            <a:off x="1024128" y="1563624"/>
            <a:ext cx="7498080" cy="347472"/>
          </a:xfrm>
          <a:prstGeom prst="rect">
            <a:avLst/>
          </a:prstGeom>
          <a:noFill/>
          <a:ln/>
        </p:spPr>
        <p:txBody>
          <a:bodyPr wrap="square" lIns="0" tIns="0" rIns="0" bIns="0" rtlCol="0" anchor="ctr"/>
          <a:lstStyle/>
          <a:p>
            <a:pPr algn="l" indent="0" marL="0">
              <a:buNone/>
            </a:pPr>
            <a:r>
              <a:rPr lang="en-US" sz="1500" dirty="0">
                <a:solidFill>
                  <a:schemeClr val="bg1"/>
                </a:solidFill>
              </a:rPr>
              <a:t>AlCl</a:t>
            </a:r>
            <a:endParaRPr lang="en-US" sz="1500" dirty="0"/>
          </a:p>
        </p:txBody>
      </p:sp>
      <p:sp>
        <p:nvSpPr>
          <p:cNvPr id="9" name="Option B"/>
          <p:cNvSpPr/>
          <p:nvPr/>
        </p:nvSpPr>
        <p:spPr>
          <a:xfrm>
            <a:off x="502920" y="2039112"/>
            <a:ext cx="8138160" cy="438912"/>
          </a:xfrm>
          <a:prstGeom prst="roundRect">
            <a:avLst>
              <a:gd name="adj" fmla="val 20833"/>
            </a:avLst>
          </a:prstGeom>
          <a:solidFill>
            <a:schemeClr val="tx2"/>
          </a:solidFill>
          <a:ln w="12700">
            <a:solidFill>
              <a:srgbClr val="2A3A55"/>
            </a:solidFill>
            <a:prstDash val="solid"/>
          </a:ln>
        </p:spPr>
      </p:sp>
      <p:sp>
        <p:nvSpPr>
          <p:cNvPr id="10" name="Letter"/>
          <p:cNvSpPr/>
          <p:nvPr/>
        </p:nvSpPr>
        <p:spPr>
          <a:xfrm>
            <a:off x="621792" y="2121408"/>
            <a:ext cx="292608" cy="274320"/>
          </a:xfrm>
          <a:prstGeom prst="roundRect">
            <a:avLst>
              <a:gd name="adj" fmla="val 20000"/>
            </a:avLst>
          </a:prstGeom>
          <a:solidFill>
            <a:srgbClr val="2A3A55"/>
          </a:solidFill>
          <a:ln/>
        </p:spPr>
        <p:txBody>
          <a:bodyPr wrap="square" lIns="0" tIns="0" rIns="0" bIns="0" rtlCol="0" anchor="ctr"/>
          <a:lstStyle/>
          <a:p>
            <a:pPr algn="ctr" indent="0" marL="0">
              <a:buNone/>
            </a:pPr>
            <a:r>
              <a:rPr lang="en-US" sz="1200" b="1" dirty="0">
                <a:solidFill>
                  <a:srgbClr val="E6EDF7"/>
                </a:solidFill>
              </a:rPr>
              <a:t>B</a:t>
            </a:r>
            <a:endParaRPr lang="en-US" sz="1200" dirty="0"/>
          </a:p>
        </p:txBody>
      </p:sp>
      <p:sp>
        <p:nvSpPr>
          <p:cNvPr id="11" name="Text 8"/>
          <p:cNvSpPr txBox="1"/>
          <p:nvPr/>
        </p:nvSpPr>
        <p:spPr>
          <a:xfrm>
            <a:off x="1024128" y="2093976"/>
            <a:ext cx="7498080" cy="347472"/>
          </a:xfrm>
          <a:prstGeom prst="rect">
            <a:avLst/>
          </a:prstGeom>
          <a:noFill/>
          <a:ln/>
        </p:spPr>
        <p:txBody>
          <a:bodyPr wrap="square" lIns="0" tIns="0" rIns="0" bIns="0" rtlCol="0" anchor="ctr"/>
          <a:lstStyle/>
          <a:p>
            <a:pPr algn="l" indent="0" marL="0">
              <a:buNone/>
            </a:pPr>
            <a:r>
              <a:rPr lang="en-US" sz="1500" dirty="0">
                <a:solidFill>
                  <a:schemeClr val="bg1"/>
                </a:solidFill>
              </a:rPr>
              <a:t>Al₃Cl</a:t>
            </a:r>
            <a:endParaRPr lang="en-US" sz="1500" dirty="0"/>
          </a:p>
        </p:txBody>
      </p:sp>
      <p:sp>
        <p:nvSpPr>
          <p:cNvPr id="12" name="Option C"/>
          <p:cNvSpPr/>
          <p:nvPr/>
        </p:nvSpPr>
        <p:spPr>
          <a:xfrm>
            <a:off x="502920" y="2569464"/>
            <a:ext cx="8138160" cy="438912"/>
          </a:xfrm>
          <a:prstGeom prst="roundRect">
            <a:avLst>
              <a:gd name="adj" fmla="val 20833"/>
            </a:avLst>
          </a:prstGeom>
          <a:solidFill>
            <a:schemeClr val="tx2"/>
          </a:solidFill>
          <a:ln w="12700">
            <a:solidFill>
              <a:srgbClr val="2A3A55"/>
            </a:solidFill>
            <a:prstDash val="solid"/>
          </a:ln>
        </p:spPr>
      </p:sp>
      <p:sp>
        <p:nvSpPr>
          <p:cNvPr id="13" name="Letter"/>
          <p:cNvSpPr/>
          <p:nvPr/>
        </p:nvSpPr>
        <p:spPr>
          <a:xfrm>
            <a:off x="621792" y="2651760"/>
            <a:ext cx="292608" cy="274320"/>
          </a:xfrm>
          <a:prstGeom prst="roundRect">
            <a:avLst>
              <a:gd name="adj" fmla="val 20000"/>
            </a:avLst>
          </a:prstGeom>
          <a:solidFill>
            <a:srgbClr val="2A3A55"/>
          </a:solidFill>
          <a:ln/>
        </p:spPr>
        <p:txBody>
          <a:bodyPr wrap="square" lIns="0" tIns="0" rIns="0" bIns="0" rtlCol="0" anchor="ctr"/>
          <a:lstStyle/>
          <a:p>
            <a:pPr algn="ctr" indent="0" marL="0">
              <a:buNone/>
            </a:pPr>
            <a:r>
              <a:rPr lang="en-US" sz="1200" b="1" dirty="0">
                <a:solidFill>
                  <a:srgbClr val="E6EDF7"/>
                </a:solidFill>
              </a:rPr>
              <a:t>C</a:t>
            </a:r>
            <a:endParaRPr lang="en-US" sz="1200" dirty="0"/>
          </a:p>
        </p:txBody>
      </p:sp>
      <p:sp>
        <p:nvSpPr>
          <p:cNvPr id="14" name="Text 11"/>
          <p:cNvSpPr txBox="1"/>
          <p:nvPr/>
        </p:nvSpPr>
        <p:spPr>
          <a:xfrm>
            <a:off x="1024128" y="2624328"/>
            <a:ext cx="7498080" cy="347472"/>
          </a:xfrm>
          <a:prstGeom prst="rect">
            <a:avLst/>
          </a:prstGeom>
          <a:noFill/>
          <a:ln/>
        </p:spPr>
        <p:txBody>
          <a:bodyPr wrap="square" lIns="0" tIns="0" rIns="0" bIns="0" rtlCol="0" anchor="ctr"/>
          <a:lstStyle/>
          <a:p>
            <a:pPr algn="l" indent="0" marL="0">
              <a:buNone/>
            </a:pPr>
            <a:r>
              <a:rPr lang="en-US" sz="1500" dirty="0">
                <a:solidFill>
                  <a:schemeClr val="bg1"/>
                </a:solidFill>
              </a:rPr>
              <a:t>Cl₃Al</a:t>
            </a:r>
            <a:endParaRPr lang="en-US" sz="1500" dirty="0"/>
          </a:p>
        </p:txBody>
      </p:sp>
      <p:sp>
        <p:nvSpPr>
          <p:cNvPr id="15" name="Option D"/>
          <p:cNvSpPr/>
          <p:nvPr/>
        </p:nvSpPr>
        <p:spPr>
          <a:xfrm>
            <a:off x="502920" y="3099816"/>
            <a:ext cx="8138160" cy="438912"/>
          </a:xfrm>
          <a:prstGeom prst="roundRect">
            <a:avLst>
              <a:gd name="adj" fmla="val 20833"/>
            </a:avLst>
          </a:prstGeom>
          <a:solidFill>
            <a:schemeClr val="tx2"/>
          </a:solidFill>
          <a:ln w="12700">
            <a:solidFill>
              <a:srgbClr val="2A3A55"/>
            </a:solidFill>
            <a:prstDash val="solid"/>
          </a:ln>
        </p:spPr>
      </p:sp>
      <p:sp>
        <p:nvSpPr>
          <p:cNvPr id="16" name="Letter"/>
          <p:cNvSpPr/>
          <p:nvPr/>
        </p:nvSpPr>
        <p:spPr>
          <a:xfrm>
            <a:off x="621792" y="3182112"/>
            <a:ext cx="292608" cy="274320"/>
          </a:xfrm>
          <a:prstGeom prst="roundRect">
            <a:avLst>
              <a:gd name="adj" fmla="val 20000"/>
            </a:avLst>
          </a:prstGeom>
          <a:solidFill>
            <a:srgbClr val="2A3A55"/>
          </a:solidFill>
          <a:ln/>
        </p:spPr>
        <p:txBody>
          <a:bodyPr wrap="square" lIns="0" tIns="0" rIns="0" bIns="0" rtlCol="0" anchor="ctr"/>
          <a:lstStyle/>
          <a:p>
            <a:pPr algn="ctr" indent="0" marL="0">
              <a:buNone/>
            </a:pPr>
            <a:r>
              <a:rPr lang="en-US" sz="1200" b="1" dirty="0">
                <a:solidFill>
                  <a:srgbClr val="E6EDF7"/>
                </a:solidFill>
              </a:rPr>
              <a:t>D</a:t>
            </a:r>
            <a:endParaRPr lang="en-US" sz="1200" dirty="0"/>
          </a:p>
        </p:txBody>
      </p:sp>
      <p:sp>
        <p:nvSpPr>
          <p:cNvPr id="17" name="Text 14"/>
          <p:cNvSpPr txBox="1"/>
          <p:nvPr/>
        </p:nvSpPr>
        <p:spPr>
          <a:xfrm>
            <a:off x="1024128" y="3154680"/>
            <a:ext cx="7498080" cy="347472"/>
          </a:xfrm>
          <a:prstGeom prst="rect">
            <a:avLst/>
          </a:prstGeom>
          <a:noFill/>
          <a:ln/>
        </p:spPr>
        <p:txBody>
          <a:bodyPr wrap="square" lIns="0" tIns="0" rIns="0" bIns="0" rtlCol="0" anchor="ctr"/>
          <a:lstStyle/>
          <a:p>
            <a:pPr algn="l" indent="0" marL="0">
              <a:buNone/>
            </a:pPr>
            <a:r>
              <a:rPr lang="en-US" sz="1500" dirty="0">
                <a:solidFill>
                  <a:schemeClr val="bg1"/>
                </a:solidFill>
              </a:rPr>
              <a:t>AlCl₃</a:t>
            </a:r>
            <a:endParaRPr lang="en-US" sz="15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FB1C7"/>
                </a:solidFil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1234440" y="292608"/>
            <a:ext cx="7452360" cy="548640"/>
          </a:xfrm>
          <a:prstGeom prst="rect">
            <a:avLst/>
          </a:prstGeom>
          <a:noFill/>
          <a:ln/>
        </p:spPr>
        <p:txBody>
          <a:bodyPr wrap="square" lIns="0" tIns="0" rIns="0" bIns="0" rtlCol="0" anchor="ctr"/>
          <a:lstStyle/>
          <a:p>
            <a:pPr algn="l" indent="0" marL="0">
              <a:buNone/>
            </a:pPr>
            <a:r>
              <a:rPr lang="en-US" sz="2800" b="1" dirty="0">
                <a:solidFill>
                  <a:schemeClr val="bg1"/>
                </a:solidFill>
                <a:latin typeface="Arial" pitchFamily="34" charset="0"/>
                <a:ea typeface="Arial" pitchFamily="34" charset="-122"/>
                <a:cs typeface="Arial" pitchFamily="34" charset="-120"/>
              </a:rPr>
              <a:t>Quick check</a:t>
            </a:r>
            <a:endParaRPr lang="en-US" sz="2800" dirty="0"/>
          </a:p>
        </p:txBody>
      </p:sp>
      <p:pic>
        <p:nvPicPr>
          <p:cNvPr id="3" name="Icon 5" descr="Section 5 icon">    </p:cNvPr>
          <p:cNvPicPr>
            <a:picLocks noChangeAspect="1"/>
          </p:cNvPicPr>
          <p:nvPr/>
        </p:nvPicPr>
        <p:blipFill>
          <a:blip r:embed="rId1"/>
          <a:stretch>
            <a:fillRect/>
          </a:stretch>
        </p:blipFill>
        <p:spPr>
          <a:xfrm>
            <a:off x="502920" y="201168"/>
            <a:ext cx="566928" cy="627239"/>
          </a:xfrm>
          <a:prstGeom prst="rect">
            <a:avLst/>
          </a:prstGeom>
        </p:spPr>
      </p:pic>
      <p:sp>
        <p:nvSpPr>
          <p:cNvPr id="4" name="Tag Quick check"/>
          <p:cNvSpPr/>
          <p:nvPr/>
        </p:nvSpPr>
        <p:spPr>
          <a:xfrm>
            <a:off x="1234440" y="45720"/>
            <a:ext cx="1051560" cy="219456"/>
          </a:xfrm>
          <a:prstGeom prst="roundRect">
            <a:avLst>
              <a:gd name="adj" fmla="val 41667"/>
            </a:avLst>
          </a:prstGeom>
          <a:solidFill>
            <a:srgbClr val="F6B93B"/>
          </a:solidFill>
          <a:ln/>
        </p:spPr>
        <p:txBody>
          <a:bodyPr wrap="square" lIns="0" tIns="0" rIns="0" bIns="0" rtlCol="0" anchor="ctr"/>
          <a:lstStyle/>
          <a:p>
            <a:pPr algn="ctr" indent="0" marL="0">
              <a:buNone/>
            </a:pPr>
            <a:r>
              <a:rPr lang="en-US" sz="1000" b="1" dirty="0">
                <a:solidFill>
                  <a:srgbClr val="241703"/>
                </a:solidFill>
              </a:rPr>
              <a:t>Quick check</a:t>
            </a:r>
            <a:endParaRPr lang="en-US" sz="1000" dirty="0"/>
          </a:p>
        </p:txBody>
      </p:sp>
      <p:sp>
        <p:nvSpPr>
          <p:cNvPr id="5" name="Tag Answer"/>
          <p:cNvSpPr/>
          <p:nvPr/>
        </p:nvSpPr>
        <p:spPr>
          <a:xfrm>
            <a:off x="2377440" y="45720"/>
            <a:ext cx="1051560" cy="219456"/>
          </a:xfrm>
          <a:prstGeom prst="roundRect">
            <a:avLst>
              <a:gd name="adj" fmla="val 41667"/>
            </a:avLst>
          </a:prstGeom>
          <a:solidFill>
            <a:srgbClr val="4ADE80"/>
          </a:solidFill>
          <a:ln/>
        </p:spPr>
        <p:txBody>
          <a:bodyPr wrap="square" lIns="0" tIns="0" rIns="0" bIns="0" rtlCol="0" anchor="ctr"/>
          <a:lstStyle/>
          <a:p>
            <a:pPr algn="ctr" indent="0" marL="0">
              <a:buNone/>
            </a:pPr>
            <a:r>
              <a:rPr lang="en-US" sz="1000" b="1" dirty="0">
                <a:solidFill>
                  <a:srgbClr val="06240F"/>
                </a:solidFill>
              </a:rPr>
              <a:t>Answer</a:t>
            </a:r>
            <a:endParaRPr lang="en-US" sz="1000" dirty="0"/>
          </a:p>
        </p:txBody>
      </p:sp>
      <p:sp>
        <p:nvSpPr>
          <p:cNvPr id="6" name="Text 3"/>
          <p:cNvSpPr txBox="1"/>
          <p:nvPr/>
        </p:nvSpPr>
        <p:spPr>
          <a:xfrm>
            <a:off x="502920" y="960120"/>
            <a:ext cx="8138160" cy="411480"/>
          </a:xfrm>
          <a:prstGeom prst="rect">
            <a:avLst/>
          </a:prstGeom>
          <a:noFill/>
          <a:ln/>
        </p:spPr>
        <p:txBody>
          <a:bodyPr wrap="square" lIns="0" tIns="0" rIns="0" bIns="0" rtlCol="0" anchor="t"/>
          <a:lstStyle/>
          <a:p>
            <a:pPr algn="l" indent="0" marL="0">
              <a:buNone/>
            </a:pPr>
            <a:r>
              <a:rPr lang="en-US" sz="1800" b="1" dirty="0">
                <a:solidFill>
                  <a:schemeClr val="bg1"/>
                </a:solidFill>
              </a:rPr>
              <a:t>Which is the correct formula for the compound of Al³⁺ and Cl⁻?</a:t>
            </a:r>
            <a:endParaRPr lang="en-US" sz="1800" dirty="0"/>
          </a:p>
        </p:txBody>
      </p:sp>
      <p:sp>
        <p:nvSpPr>
          <p:cNvPr id="7" name="Option A"/>
          <p:cNvSpPr/>
          <p:nvPr/>
        </p:nvSpPr>
        <p:spPr>
          <a:xfrm>
            <a:off x="502920" y="1508760"/>
            <a:ext cx="8138160" cy="438912"/>
          </a:xfrm>
          <a:prstGeom prst="roundRect">
            <a:avLst>
              <a:gd name="adj" fmla="val 20833"/>
            </a:avLst>
          </a:prstGeom>
          <a:solidFill>
            <a:schemeClr val="tx2"/>
          </a:solidFill>
          <a:ln w="12700">
            <a:solidFill>
              <a:srgbClr val="2A3A55"/>
            </a:solidFill>
            <a:prstDash val="solid"/>
          </a:ln>
        </p:spPr>
      </p:sp>
      <p:sp>
        <p:nvSpPr>
          <p:cNvPr id="8" name="Letter"/>
          <p:cNvSpPr/>
          <p:nvPr/>
        </p:nvSpPr>
        <p:spPr>
          <a:xfrm>
            <a:off x="621792" y="1591056"/>
            <a:ext cx="292608" cy="274320"/>
          </a:xfrm>
          <a:prstGeom prst="roundRect">
            <a:avLst>
              <a:gd name="adj" fmla="val 20000"/>
            </a:avLst>
          </a:prstGeom>
          <a:solidFill>
            <a:srgbClr val="2A3A55"/>
          </a:solidFill>
          <a:ln/>
        </p:spPr>
        <p:txBody>
          <a:bodyPr wrap="square" lIns="0" tIns="0" rIns="0" bIns="0" rtlCol="0" anchor="ctr"/>
          <a:lstStyle/>
          <a:p>
            <a:pPr algn="ctr" indent="0" marL="0">
              <a:buNone/>
            </a:pPr>
            <a:r>
              <a:rPr lang="en-US" sz="1200" b="1" dirty="0">
                <a:solidFill>
                  <a:srgbClr val="E6EDF7"/>
                </a:solidFill>
              </a:rPr>
              <a:t>A</a:t>
            </a:r>
            <a:endParaRPr lang="en-US" sz="1200" dirty="0"/>
          </a:p>
        </p:txBody>
      </p:sp>
      <p:sp>
        <p:nvSpPr>
          <p:cNvPr id="9" name="Text 6"/>
          <p:cNvSpPr txBox="1"/>
          <p:nvPr/>
        </p:nvSpPr>
        <p:spPr>
          <a:xfrm>
            <a:off x="1024128" y="1563624"/>
            <a:ext cx="7498080" cy="347472"/>
          </a:xfrm>
          <a:prstGeom prst="rect">
            <a:avLst/>
          </a:prstGeom>
          <a:noFill/>
          <a:ln/>
        </p:spPr>
        <p:txBody>
          <a:bodyPr wrap="square" lIns="0" tIns="0" rIns="0" bIns="0" rtlCol="0" anchor="ctr"/>
          <a:lstStyle/>
          <a:p>
            <a:pPr algn="l" indent="0" marL="0">
              <a:buNone/>
            </a:pPr>
            <a:r>
              <a:rPr lang="en-US" sz="1500" dirty="0">
                <a:solidFill>
                  <a:srgbClr val="9FB1C7"/>
                </a:solidFill>
              </a:rPr>
              <a:t>AlCl</a:t>
            </a:r>
            <a:endParaRPr lang="en-US" sz="1500" dirty="0"/>
          </a:p>
        </p:txBody>
      </p:sp>
      <p:sp>
        <p:nvSpPr>
          <p:cNvPr id="10" name="Option B"/>
          <p:cNvSpPr/>
          <p:nvPr/>
        </p:nvSpPr>
        <p:spPr>
          <a:xfrm>
            <a:off x="502920" y="2039112"/>
            <a:ext cx="8138160" cy="438912"/>
          </a:xfrm>
          <a:prstGeom prst="roundRect">
            <a:avLst>
              <a:gd name="adj" fmla="val 20833"/>
            </a:avLst>
          </a:prstGeom>
          <a:solidFill>
            <a:schemeClr val="tx2"/>
          </a:solidFill>
          <a:ln w="12700">
            <a:solidFill>
              <a:srgbClr val="2A3A55"/>
            </a:solidFill>
            <a:prstDash val="solid"/>
          </a:ln>
        </p:spPr>
      </p:sp>
      <p:sp>
        <p:nvSpPr>
          <p:cNvPr id="11" name="Letter"/>
          <p:cNvSpPr/>
          <p:nvPr/>
        </p:nvSpPr>
        <p:spPr>
          <a:xfrm>
            <a:off x="621792" y="2121408"/>
            <a:ext cx="292608" cy="274320"/>
          </a:xfrm>
          <a:prstGeom prst="roundRect">
            <a:avLst>
              <a:gd name="adj" fmla="val 20000"/>
            </a:avLst>
          </a:prstGeom>
          <a:solidFill>
            <a:srgbClr val="2A3A55"/>
          </a:solidFill>
          <a:ln/>
        </p:spPr>
        <p:txBody>
          <a:bodyPr wrap="square" lIns="0" tIns="0" rIns="0" bIns="0" rtlCol="0" anchor="ctr"/>
          <a:lstStyle/>
          <a:p>
            <a:pPr algn="ctr" indent="0" marL="0">
              <a:buNone/>
            </a:pPr>
            <a:r>
              <a:rPr lang="en-US" sz="1200" b="1" dirty="0">
                <a:solidFill>
                  <a:srgbClr val="E6EDF7"/>
                </a:solidFill>
              </a:rPr>
              <a:t>B</a:t>
            </a:r>
            <a:endParaRPr lang="en-US" sz="1200" dirty="0"/>
          </a:p>
        </p:txBody>
      </p:sp>
      <p:sp>
        <p:nvSpPr>
          <p:cNvPr id="12" name="Text 9"/>
          <p:cNvSpPr txBox="1"/>
          <p:nvPr/>
        </p:nvSpPr>
        <p:spPr>
          <a:xfrm>
            <a:off x="1024128" y="2093976"/>
            <a:ext cx="7498080" cy="347472"/>
          </a:xfrm>
          <a:prstGeom prst="rect">
            <a:avLst/>
          </a:prstGeom>
          <a:noFill/>
          <a:ln/>
        </p:spPr>
        <p:txBody>
          <a:bodyPr wrap="square" lIns="0" tIns="0" rIns="0" bIns="0" rtlCol="0" anchor="ctr"/>
          <a:lstStyle/>
          <a:p>
            <a:pPr algn="l" indent="0" marL="0">
              <a:buNone/>
            </a:pPr>
            <a:r>
              <a:rPr lang="en-US" sz="1500" dirty="0">
                <a:solidFill>
                  <a:srgbClr val="9FB1C7"/>
                </a:solidFill>
              </a:rPr>
              <a:t>Al₃Cl</a:t>
            </a:r>
            <a:endParaRPr lang="en-US" sz="1500" dirty="0"/>
          </a:p>
        </p:txBody>
      </p:sp>
      <p:sp>
        <p:nvSpPr>
          <p:cNvPr id="13" name="Option C"/>
          <p:cNvSpPr/>
          <p:nvPr/>
        </p:nvSpPr>
        <p:spPr>
          <a:xfrm>
            <a:off x="502920" y="2569464"/>
            <a:ext cx="8138160" cy="438912"/>
          </a:xfrm>
          <a:prstGeom prst="roundRect">
            <a:avLst>
              <a:gd name="adj" fmla="val 20833"/>
            </a:avLst>
          </a:prstGeom>
          <a:solidFill>
            <a:schemeClr val="tx2"/>
          </a:solidFill>
          <a:ln w="12700">
            <a:solidFill>
              <a:srgbClr val="2A3A55"/>
            </a:solidFill>
            <a:prstDash val="solid"/>
          </a:ln>
        </p:spPr>
      </p:sp>
      <p:sp>
        <p:nvSpPr>
          <p:cNvPr id="14" name="Letter"/>
          <p:cNvSpPr/>
          <p:nvPr/>
        </p:nvSpPr>
        <p:spPr>
          <a:xfrm>
            <a:off x="621792" y="2651760"/>
            <a:ext cx="292608" cy="274320"/>
          </a:xfrm>
          <a:prstGeom prst="roundRect">
            <a:avLst>
              <a:gd name="adj" fmla="val 20000"/>
            </a:avLst>
          </a:prstGeom>
          <a:solidFill>
            <a:srgbClr val="2A3A55"/>
          </a:solidFill>
          <a:ln/>
        </p:spPr>
        <p:txBody>
          <a:bodyPr wrap="square" lIns="0" tIns="0" rIns="0" bIns="0" rtlCol="0" anchor="ctr"/>
          <a:lstStyle/>
          <a:p>
            <a:pPr algn="ctr" indent="0" marL="0">
              <a:buNone/>
            </a:pPr>
            <a:r>
              <a:rPr lang="en-US" sz="1200" b="1" dirty="0">
                <a:solidFill>
                  <a:srgbClr val="E6EDF7"/>
                </a:solidFill>
              </a:rPr>
              <a:t>C</a:t>
            </a:r>
            <a:endParaRPr lang="en-US" sz="1200" dirty="0"/>
          </a:p>
        </p:txBody>
      </p:sp>
      <p:sp>
        <p:nvSpPr>
          <p:cNvPr id="15" name="Text 12"/>
          <p:cNvSpPr txBox="1"/>
          <p:nvPr/>
        </p:nvSpPr>
        <p:spPr>
          <a:xfrm>
            <a:off x="1024128" y="2624328"/>
            <a:ext cx="7498080" cy="347472"/>
          </a:xfrm>
          <a:prstGeom prst="rect">
            <a:avLst/>
          </a:prstGeom>
          <a:noFill/>
          <a:ln/>
        </p:spPr>
        <p:txBody>
          <a:bodyPr wrap="square" lIns="0" tIns="0" rIns="0" bIns="0" rtlCol="0" anchor="ctr"/>
          <a:lstStyle/>
          <a:p>
            <a:pPr algn="l" indent="0" marL="0">
              <a:buNone/>
            </a:pPr>
            <a:r>
              <a:rPr lang="en-US" sz="1500" dirty="0">
                <a:solidFill>
                  <a:srgbClr val="9FB1C7"/>
                </a:solidFill>
              </a:rPr>
              <a:t>Cl₃Al</a:t>
            </a:r>
            <a:endParaRPr lang="en-US" sz="1500" dirty="0"/>
          </a:p>
        </p:txBody>
      </p:sp>
      <p:sp>
        <p:nvSpPr>
          <p:cNvPr id="16" name="Option D"/>
          <p:cNvSpPr/>
          <p:nvPr/>
        </p:nvSpPr>
        <p:spPr>
          <a:xfrm>
            <a:off x="502920" y="3099816"/>
            <a:ext cx="8138160" cy="438912"/>
          </a:xfrm>
          <a:prstGeom prst="roundRect">
            <a:avLst>
              <a:gd name="adj" fmla="val 20833"/>
            </a:avLst>
          </a:prstGeom>
          <a:solidFill>
            <a:srgbClr val="153D2A"/>
          </a:solidFill>
          <a:ln w="25400">
            <a:solidFill>
              <a:srgbClr val="4ADE80"/>
            </a:solidFill>
            <a:prstDash val="solid"/>
          </a:ln>
        </p:spPr>
      </p:sp>
      <p:sp>
        <p:nvSpPr>
          <p:cNvPr id="17" name="Letter"/>
          <p:cNvSpPr/>
          <p:nvPr/>
        </p:nvSpPr>
        <p:spPr>
          <a:xfrm>
            <a:off x="621792" y="3182112"/>
            <a:ext cx="292608" cy="274320"/>
          </a:xfrm>
          <a:prstGeom prst="roundRect">
            <a:avLst>
              <a:gd name="adj" fmla="val 20000"/>
            </a:avLst>
          </a:prstGeom>
          <a:solidFill>
            <a:srgbClr val="4ADE80"/>
          </a:solidFill>
          <a:ln/>
        </p:spPr>
        <p:txBody>
          <a:bodyPr wrap="square" lIns="0" tIns="0" rIns="0" bIns="0" rtlCol="0" anchor="ctr"/>
          <a:lstStyle/>
          <a:p>
            <a:pPr algn="ctr" indent="0" marL="0">
              <a:buNone/>
            </a:pPr>
            <a:r>
              <a:rPr lang="en-US" sz="1200" b="1" dirty="0">
                <a:solidFill>
                  <a:srgbClr val="06240F"/>
                </a:solidFill>
              </a:rPr>
              <a:t>D</a:t>
            </a:r>
            <a:endParaRPr lang="en-US" sz="1200" dirty="0"/>
          </a:p>
        </p:txBody>
      </p:sp>
      <p:sp>
        <p:nvSpPr>
          <p:cNvPr id="18" name="Text 15"/>
          <p:cNvSpPr txBox="1"/>
          <p:nvPr/>
        </p:nvSpPr>
        <p:spPr>
          <a:xfrm>
            <a:off x="1024128" y="3154680"/>
            <a:ext cx="7498080" cy="347472"/>
          </a:xfrm>
          <a:prstGeom prst="rect">
            <a:avLst/>
          </a:prstGeom>
          <a:noFill/>
          <a:ln/>
        </p:spPr>
        <p:txBody>
          <a:bodyPr wrap="square" lIns="0" tIns="0" rIns="0" bIns="0" rtlCol="0" anchor="ctr"/>
          <a:lstStyle/>
          <a:p>
            <a:pPr algn="l" indent="0" marL="0">
              <a:buNone/>
            </a:pPr>
            <a:r>
              <a:rPr lang="en-US" sz="1500" dirty="0">
                <a:solidFill>
                  <a:schemeClr val="bg1"/>
                </a:solidFill>
              </a:rPr>
              <a:t>AlCl₃</a:t>
            </a:r>
            <a:endParaRPr lang="en-US" sz="1500" dirty="0"/>
          </a:p>
        </p:txBody>
      </p:sp>
      <p:sp>
        <p:nvSpPr>
          <p:cNvPr id="19" name="Why"/>
          <p:cNvSpPr/>
          <p:nvPr/>
        </p:nvSpPr>
        <p:spPr>
          <a:xfrm>
            <a:off x="502920" y="3675888"/>
            <a:ext cx="8138160" cy="566928"/>
          </a:xfrm>
          <a:prstGeom prst="roundRect">
            <a:avLst>
              <a:gd name="adj" fmla="val 16129"/>
            </a:avLst>
          </a:prstGeom>
          <a:solidFill>
            <a:srgbClr val="153D2A"/>
          </a:solidFill>
          <a:ln w="12700">
            <a:solidFill>
              <a:srgbClr val="2F6B47"/>
            </a:solidFill>
            <a:prstDash val="solid"/>
          </a:ln>
        </p:spPr>
      </p:sp>
      <p:sp>
        <p:nvSpPr>
          <p:cNvPr id="20" name="Text 17"/>
          <p:cNvSpPr txBox="1"/>
          <p:nvPr/>
        </p:nvSpPr>
        <p:spPr>
          <a:xfrm>
            <a:off x="685800" y="3730752"/>
            <a:ext cx="7772400" cy="475488"/>
          </a:xfrm>
          <a:prstGeom prst="rect">
            <a:avLst/>
          </a:prstGeom>
          <a:noFill/>
          <a:ln/>
        </p:spPr>
        <p:txBody>
          <a:bodyPr wrap="square" lIns="0" tIns="0" rIns="0" bIns="0" rtlCol="0" anchor="ctr"/>
          <a:lstStyle/>
          <a:p>
            <a:pPr algn="l" indent="0" marL="0">
              <a:buNone/>
            </a:pPr>
            <a:r>
              <a:rPr lang="en-US" sz="1400" b="1" dirty="0">
                <a:solidFill>
                  <a:schemeClr val="accent4"/>
                </a:solidFill>
              </a:rPr>
              <a:t>Why: </a:t>
            </a:r>
            <a:pPr algn="l" indent="0" marL="0">
              <a:buNone/>
            </a:pPr>
            <a:r>
              <a:rPr lang="en-US" sz="1400" dirty="0">
                <a:solidFill>
                  <a:schemeClr val="bg1"/>
                </a:solidFill>
              </a:rPr>
              <a:t>Al³⁺ (+3) needs three Cl⁻ (−1 each). Metal first, and the 3 goes after Cl: AlCl₃.</a:t>
            </a:r>
            <a:endParaRPr lang="en-US" sz="14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FB1C7"/>
                </a:solidFill>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1" type="body" hasCustomPrompt="1"/>
          </p:nvPr>
        </p:nvSpPr>
        <p:spPr>
          <a:xfrm>
            <a:off x="1645920" y="274320"/>
            <a:ext cx="6949440" cy="274320"/>
          </a:xfrm>
          <a:prstGeom prst="rect">
            <a:avLst/>
          </a:prstGeom>
          <a:noFill/>
          <a:ln/>
        </p:spPr>
        <p:txBody>
          <a:bodyPr wrap="square" lIns="0" tIns="0" rIns="0" bIns="0" rtlCol="0"/>
          <a:lstStyle/>
          <a:p>
            <a:pPr indent="0" marL="0">
              <a:buNone/>
            </a:pPr>
            <a:r>
              <a:rPr lang="en-US" sz="1300" dirty="0">
                <a:solidFill>
                  <a:schemeClr val="bg2"/>
                </a:solidFill>
              </a:rPr>
              <a:t>Section 6 of 9 · about 3 min</a:t>
            </a:r>
            <a:endParaRPr lang="en-US" sz="1300" dirty="0"/>
          </a:p>
        </p:txBody>
      </p:sp>
      <p:sp>
        <p:nvSpPr>
          <p:cNvPr id="3" name="Text 0"/>
          <p:cNvSpPr/>
          <p:nvPr>
            <p:ph idx="100" type="title" hasCustomPrompt="1"/>
          </p:nvPr>
        </p:nvSpPr>
        <p:spPr>
          <a:xfrm>
            <a:off x="1645920" y="548640"/>
            <a:ext cx="7040880" cy="685800"/>
          </a:xfrm>
          <a:prstGeom prst="rect">
            <a:avLst/>
          </a:prstGeom>
          <a:noFill/>
          <a:ln/>
        </p:spPr>
        <p:txBody>
          <a:bodyPr wrap="square" lIns="0" tIns="0" rIns="0" bIns="0" rtlCol="0" anchor="ctr"/>
          <a:lstStyle/>
          <a:p>
            <a:pPr algn="l" indent="0" marL="0">
              <a:buNone/>
            </a:pPr>
            <a:r>
              <a:rPr lang="en-US" sz="3000" b="1" dirty="0">
                <a:solidFill>
                  <a:schemeClr val="bg1"/>
                </a:solidFill>
                <a:latin typeface="Arial" pitchFamily="34" charset="0"/>
                <a:ea typeface="Arial" pitchFamily="34" charset="-122"/>
                <a:cs typeface="Arial" pitchFamily="34" charset="-120"/>
              </a:rPr>
              <a:t>Naming ionic compounds</a:t>
            </a:r>
            <a:endParaRPr lang="en-US" sz="3000" dirty="0"/>
          </a:p>
        </p:txBody>
      </p:sp>
      <p:pic>
        <p:nvPicPr>
          <p:cNvPr id="4" name="Icon 6" descr="Section 6 icon">    </p:cNvPr>
          <p:cNvPicPr>
            <a:picLocks noChangeAspect="1"/>
          </p:cNvPicPr>
          <p:nvPr/>
        </p:nvPicPr>
        <p:blipFill>
          <a:blip r:embed="rId1"/>
          <a:stretch>
            <a:fillRect/>
          </a:stretch>
        </p:blipFill>
        <p:spPr>
          <a:xfrm>
            <a:off x="502920" y="274320"/>
            <a:ext cx="914400" cy="1011677"/>
          </a:xfrm>
          <a:prstGeom prst="rect">
            <a:avLst/>
          </a:prstGeom>
        </p:spPr>
      </p:pic>
      <p:sp>
        <p:nvSpPr>
          <p:cNvPr id="5" name="In this section"/>
          <p:cNvSpPr/>
          <p:nvPr/>
        </p:nvSpPr>
        <p:spPr>
          <a:xfrm>
            <a:off x="502920" y="1600200"/>
            <a:ext cx="3931920" cy="2926080"/>
          </a:xfrm>
          <a:prstGeom prst="roundRect">
            <a:avLst>
              <a:gd name="adj" fmla="val 3125"/>
            </a:avLst>
          </a:prstGeom>
          <a:solidFill>
            <a:schemeClr val="tx2"/>
          </a:solidFill>
          <a:ln w="12700">
            <a:solidFill>
              <a:srgbClr val="2A3A55"/>
            </a:solidFill>
            <a:prstDash val="solid"/>
          </a:ln>
        </p:spPr>
      </p:sp>
      <p:sp>
        <p:nvSpPr>
          <p:cNvPr id="6" name="Text 3"/>
          <p:cNvSpPr txBox="1"/>
          <p:nvPr/>
        </p:nvSpPr>
        <p:spPr>
          <a:xfrm>
            <a:off x="731520" y="1783080"/>
            <a:ext cx="3474720" cy="320040"/>
          </a:xfrm>
          <a:prstGeom prst="rect">
            <a:avLst/>
          </a:prstGeom>
          <a:noFill/>
          <a:ln/>
        </p:spPr>
        <p:txBody>
          <a:bodyPr wrap="square" lIns="0" tIns="0" rIns="0" bIns="0" rtlCol="0" anchor="t"/>
          <a:lstStyle/>
          <a:p>
            <a:pPr algn="l" indent="0" marL="0">
              <a:buNone/>
            </a:pPr>
            <a:r>
              <a:rPr lang="en-US" sz="1600" b="1" dirty="0">
                <a:solidFill>
                  <a:schemeClr val="accent1"/>
                </a:solidFill>
              </a:rPr>
              <a:t>In this section</a:t>
            </a:r>
            <a:endParaRPr lang="en-US" sz="1600" dirty="0"/>
          </a:p>
        </p:txBody>
      </p:sp>
      <p:sp>
        <p:nvSpPr>
          <p:cNvPr id="7" name="Tag Read"/>
          <p:cNvSpPr/>
          <p:nvPr/>
        </p:nvSpPr>
        <p:spPr>
          <a:xfrm>
            <a:off x="731520" y="2240280"/>
            <a:ext cx="1051560" cy="219456"/>
          </a:xfrm>
          <a:prstGeom prst="roundRect">
            <a:avLst>
              <a:gd name="adj" fmla="val 41667"/>
            </a:avLst>
          </a:prstGeom>
          <a:solidFill>
            <a:srgbClr val="25305A"/>
          </a:solidFill>
          <a:ln/>
        </p:spPr>
        <p:txBody>
          <a:bodyPr wrap="square" lIns="0" tIns="0" rIns="0" bIns="0" rtlCol="0" anchor="ctr"/>
          <a:lstStyle/>
          <a:p>
            <a:pPr algn="ctr" indent="0" marL="0">
              <a:buNone/>
            </a:pPr>
            <a:r>
              <a:rPr lang="en-US" sz="1000" b="1" dirty="0">
                <a:solidFill>
                  <a:srgbClr val="C3CFFC"/>
                </a:solidFill>
              </a:rPr>
              <a:t>Read</a:t>
            </a:r>
            <a:endParaRPr lang="en-US" sz="1000" dirty="0"/>
          </a:p>
        </p:txBody>
      </p:sp>
      <p:sp>
        <p:nvSpPr>
          <p:cNvPr id="8" name="Text 5"/>
          <p:cNvSpPr txBox="1"/>
          <p:nvPr/>
        </p:nvSpPr>
        <p:spPr>
          <a:xfrm>
            <a:off x="1920240" y="2212848"/>
            <a:ext cx="2377440" cy="292608"/>
          </a:xfrm>
          <a:prstGeom prst="rect">
            <a:avLst/>
          </a:prstGeom>
          <a:noFill/>
          <a:ln/>
        </p:spPr>
        <p:txBody>
          <a:bodyPr wrap="square" lIns="0" tIns="0" rIns="0" bIns="0" rtlCol="0" anchor="t"/>
          <a:lstStyle/>
          <a:p>
            <a:pPr algn="l" indent="0" marL="0">
              <a:buNone/>
            </a:pPr>
            <a:r>
              <a:rPr lang="en-US" sz="1400" dirty="0">
                <a:solidFill>
                  <a:schemeClr val="bg1"/>
                </a:solidFill>
              </a:rPr>
              <a:t>Two words, one rule</a:t>
            </a:r>
            <a:endParaRPr lang="en-US" sz="1400" dirty="0"/>
          </a:p>
        </p:txBody>
      </p:sp>
      <p:sp>
        <p:nvSpPr>
          <p:cNvPr id="9" name="Tag Try it"/>
          <p:cNvSpPr/>
          <p:nvPr/>
        </p:nvSpPr>
        <p:spPr>
          <a:xfrm>
            <a:off x="731520" y="2743200"/>
            <a:ext cx="1051560" cy="219456"/>
          </a:xfrm>
          <a:prstGeom prst="roundRect">
            <a:avLst>
              <a:gd name="adj" fmla="val 41667"/>
            </a:avLst>
          </a:prstGeom>
          <a:solidFill>
            <a:srgbClr val="5FE1FF"/>
          </a:solidFill>
          <a:ln/>
        </p:spPr>
        <p:txBody>
          <a:bodyPr wrap="square" lIns="0" tIns="0" rIns="0" bIns="0" rtlCol="0" anchor="ctr"/>
          <a:lstStyle/>
          <a:p>
            <a:pPr algn="ctr" indent="0" marL="0">
              <a:buNone/>
            </a:pPr>
            <a:r>
              <a:rPr lang="en-US" sz="1000" b="1" dirty="0">
                <a:solidFill>
                  <a:srgbClr val="0B2630"/>
                </a:solidFill>
              </a:rPr>
              <a:t>Try it</a:t>
            </a:r>
            <a:endParaRPr lang="en-US" sz="1000" dirty="0"/>
          </a:p>
        </p:txBody>
      </p:sp>
      <p:sp>
        <p:nvSpPr>
          <p:cNvPr id="10" name="Text 7"/>
          <p:cNvSpPr txBox="1"/>
          <p:nvPr/>
        </p:nvSpPr>
        <p:spPr>
          <a:xfrm>
            <a:off x="1920240" y="2715768"/>
            <a:ext cx="2377440" cy="292608"/>
          </a:xfrm>
          <a:prstGeom prst="rect">
            <a:avLst/>
          </a:prstGeom>
          <a:noFill/>
          <a:ln/>
        </p:spPr>
        <p:txBody>
          <a:bodyPr wrap="square" lIns="0" tIns="0" rIns="0" bIns="0" rtlCol="0" anchor="t"/>
          <a:lstStyle/>
          <a:p>
            <a:pPr algn="l" indent="0" marL="0">
              <a:buNone/>
            </a:pPr>
            <a:r>
              <a:rPr lang="en-US" sz="1400" dirty="0">
                <a:solidFill>
                  <a:schemeClr val="bg1"/>
                </a:solidFill>
              </a:rPr>
              <a:t>Name it</a:t>
            </a:r>
            <a:endParaRPr lang="en-US" sz="1400" dirty="0"/>
          </a:p>
        </p:txBody>
      </p:sp>
      <p:sp>
        <p:nvSpPr>
          <p:cNvPr id="11" name="Tag Quick check"/>
          <p:cNvSpPr/>
          <p:nvPr/>
        </p:nvSpPr>
        <p:spPr>
          <a:xfrm>
            <a:off x="731520" y="3246120"/>
            <a:ext cx="1051560" cy="219456"/>
          </a:xfrm>
          <a:prstGeom prst="roundRect">
            <a:avLst>
              <a:gd name="adj" fmla="val 41667"/>
            </a:avLst>
          </a:prstGeom>
          <a:solidFill>
            <a:srgbClr val="F6B93B"/>
          </a:solidFill>
          <a:ln/>
        </p:spPr>
        <p:txBody>
          <a:bodyPr wrap="square" lIns="0" tIns="0" rIns="0" bIns="0" rtlCol="0" anchor="ctr"/>
          <a:lstStyle/>
          <a:p>
            <a:pPr algn="ctr" indent="0" marL="0">
              <a:buNone/>
            </a:pPr>
            <a:r>
              <a:rPr lang="en-US" sz="1000" b="1" dirty="0">
                <a:solidFill>
                  <a:srgbClr val="241703"/>
                </a:solidFill>
              </a:rPr>
              <a:t>Quick check</a:t>
            </a:r>
            <a:endParaRPr lang="en-US" sz="1000" dirty="0"/>
          </a:p>
        </p:txBody>
      </p:sp>
      <p:sp>
        <p:nvSpPr>
          <p:cNvPr id="12" name="Text 9"/>
          <p:cNvSpPr txBox="1"/>
          <p:nvPr/>
        </p:nvSpPr>
        <p:spPr>
          <a:xfrm>
            <a:off x="1920240" y="3218688"/>
            <a:ext cx="2377440" cy="292608"/>
          </a:xfrm>
          <a:prstGeom prst="rect">
            <a:avLst/>
          </a:prstGeom>
          <a:noFill/>
          <a:ln/>
        </p:spPr>
        <p:txBody>
          <a:bodyPr wrap="square" lIns="0" tIns="0" rIns="0" bIns="0" rtlCol="0" anchor="t"/>
          <a:lstStyle/>
          <a:p>
            <a:pPr algn="l" indent="0" marL="0">
              <a:buNone/>
            </a:pPr>
            <a:r>
              <a:rPr lang="en-US" sz="1400" dirty="0">
                <a:solidFill>
                  <a:schemeClr val="bg1"/>
                </a:solidFill>
              </a:rPr>
              <a:t>Name Li₂O</a:t>
            </a:r>
            <a:endParaRPr lang="en-US" sz="1400" dirty="0"/>
          </a:p>
        </p:txBody>
      </p:sp>
      <p:sp>
        <p:nvSpPr>
          <p:cNvPr id="13" name="To unlock"/>
          <p:cNvSpPr/>
          <p:nvPr/>
        </p:nvSpPr>
        <p:spPr>
          <a:xfrm>
            <a:off x="4709160" y="1600200"/>
            <a:ext cx="3931920" cy="2926080"/>
          </a:xfrm>
          <a:prstGeom prst="roundRect">
            <a:avLst>
              <a:gd name="adj" fmla="val 3125"/>
            </a:avLst>
          </a:prstGeom>
          <a:solidFill>
            <a:schemeClr val="tx2"/>
          </a:solidFill>
          <a:ln w="12700">
            <a:solidFill>
              <a:srgbClr val="2A3A55"/>
            </a:solidFill>
            <a:prstDash val="solid"/>
          </a:ln>
        </p:spPr>
      </p:sp>
      <p:sp>
        <p:nvSpPr>
          <p:cNvPr id="14" name="Text 11"/>
          <p:cNvSpPr txBox="1"/>
          <p:nvPr/>
        </p:nvSpPr>
        <p:spPr>
          <a:xfrm>
            <a:off x="4937760" y="1783080"/>
            <a:ext cx="3474720" cy="320040"/>
          </a:xfrm>
          <a:prstGeom prst="rect">
            <a:avLst/>
          </a:prstGeom>
          <a:noFill/>
          <a:ln/>
        </p:spPr>
        <p:txBody>
          <a:bodyPr wrap="square" lIns="0" tIns="0" rIns="0" bIns="0" rtlCol="0" anchor="t"/>
          <a:lstStyle/>
          <a:p>
            <a:pPr algn="l" indent="0" marL="0">
              <a:buNone/>
            </a:pPr>
            <a:r>
              <a:rPr lang="en-US" sz="1600" b="1" dirty="0">
                <a:solidFill>
                  <a:schemeClr val="accent4"/>
                </a:solidFill>
              </a:rPr>
              <a:t>To unlock the next section</a:t>
            </a:r>
            <a:endParaRPr lang="en-US" sz="1600" dirty="0"/>
          </a:p>
        </p:txBody>
      </p:sp>
      <p:sp>
        <p:nvSpPr>
          <p:cNvPr id="15" name="Checkbox"/>
          <p:cNvSpPr/>
          <p:nvPr/>
        </p:nvSpPr>
        <p:spPr>
          <a:xfrm>
            <a:off x="4937760" y="2286000"/>
            <a:ext cx="182880" cy="182880"/>
          </a:xfrm>
          <a:prstGeom prst="rect">
            <a:avLst/>
          </a:prstGeom>
          <a:solidFill>
            <a:schemeClr val="tx2"/>
          </a:solidFill>
          <a:ln w="12700">
            <a:solidFill>
              <a:schemeClr val="bg2"/>
            </a:solidFill>
            <a:prstDash val="solid"/>
          </a:ln>
        </p:spPr>
      </p:sp>
      <p:sp>
        <p:nvSpPr>
          <p:cNvPr id="16" name="Text 13"/>
          <p:cNvSpPr txBox="1"/>
          <p:nvPr/>
        </p:nvSpPr>
        <p:spPr>
          <a:xfrm>
            <a:off x="5257800" y="2221992"/>
            <a:ext cx="3200400" cy="457200"/>
          </a:xfrm>
          <a:prstGeom prst="rect">
            <a:avLst/>
          </a:prstGeom>
          <a:noFill/>
          <a:ln/>
        </p:spPr>
        <p:txBody>
          <a:bodyPr wrap="square" lIns="0" tIns="0" rIns="0" bIns="0" rtlCol="0" anchor="t"/>
          <a:lstStyle/>
          <a:p>
            <a:pPr algn="l" indent="0" marL="0">
              <a:buNone/>
            </a:pPr>
            <a:r>
              <a:rPr lang="en-US" sz="1400" dirty="0">
                <a:solidFill>
                  <a:schemeClr val="bg1"/>
                </a:solidFill>
              </a:rPr>
              <a:t>Answer 3 naming rounds</a:t>
            </a:r>
            <a:endParaRPr lang="en-US" sz="1400" dirty="0"/>
          </a:p>
        </p:txBody>
      </p:sp>
      <p:sp>
        <p:nvSpPr>
          <p:cNvPr id="17" name="Checkbox"/>
          <p:cNvSpPr/>
          <p:nvPr/>
        </p:nvSpPr>
        <p:spPr>
          <a:xfrm>
            <a:off x="4937760" y="2834640"/>
            <a:ext cx="182880" cy="182880"/>
          </a:xfrm>
          <a:prstGeom prst="rect">
            <a:avLst/>
          </a:prstGeom>
          <a:solidFill>
            <a:schemeClr val="tx2"/>
          </a:solidFill>
          <a:ln w="12700">
            <a:solidFill>
              <a:schemeClr val="bg2"/>
            </a:solidFill>
            <a:prstDash val="solid"/>
          </a:ln>
        </p:spPr>
      </p:sp>
      <p:sp>
        <p:nvSpPr>
          <p:cNvPr id="18" name="Text 15"/>
          <p:cNvSpPr txBox="1"/>
          <p:nvPr/>
        </p:nvSpPr>
        <p:spPr>
          <a:xfrm>
            <a:off x="5257800" y="2770632"/>
            <a:ext cx="3200400" cy="457200"/>
          </a:xfrm>
          <a:prstGeom prst="rect">
            <a:avLst/>
          </a:prstGeom>
          <a:noFill/>
          <a:ln/>
        </p:spPr>
        <p:txBody>
          <a:bodyPr wrap="square" lIns="0" tIns="0" rIns="0" bIns="0" rtlCol="0" anchor="t"/>
          <a:lstStyle/>
          <a:p>
            <a:pPr algn="l" indent="0" marL="0">
              <a:buNone/>
            </a:pPr>
            <a:r>
              <a:rPr lang="en-US" sz="1400" dirty="0">
                <a:solidFill>
                  <a:schemeClr val="bg1"/>
                </a:solidFill>
              </a:rPr>
              <a:t>Answer the quick check correctly</a:t>
            </a:r>
            <a:endParaRPr lang="en-US" sz="14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FB1C7"/>
                </a:solidFill>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1234440" y="292608"/>
            <a:ext cx="7452360" cy="548640"/>
          </a:xfrm>
          <a:prstGeom prst="rect">
            <a:avLst/>
          </a:prstGeom>
          <a:noFill/>
          <a:ln/>
        </p:spPr>
        <p:txBody>
          <a:bodyPr wrap="square" lIns="0" tIns="0" rIns="0" bIns="0" rtlCol="0" anchor="ctr"/>
          <a:lstStyle/>
          <a:p>
            <a:pPr algn="l" indent="0" marL="0">
              <a:buNone/>
            </a:pPr>
            <a:r>
              <a:rPr lang="en-US" sz="2800" b="1" dirty="0">
                <a:solidFill>
                  <a:schemeClr val="bg1"/>
                </a:solidFill>
                <a:latin typeface="Arial" pitchFamily="34" charset="0"/>
                <a:ea typeface="Arial" pitchFamily="34" charset="-122"/>
                <a:cs typeface="Arial" pitchFamily="34" charset="-120"/>
              </a:rPr>
              <a:t>Two words, one rule</a:t>
            </a:r>
            <a:endParaRPr lang="en-US" sz="2800" dirty="0"/>
          </a:p>
        </p:txBody>
      </p:sp>
      <p:pic>
        <p:nvPicPr>
          <p:cNvPr id="3" name="Icon 6" descr="Section 6 icon">    </p:cNvPr>
          <p:cNvPicPr>
            <a:picLocks noChangeAspect="1"/>
          </p:cNvPicPr>
          <p:nvPr/>
        </p:nvPicPr>
        <p:blipFill>
          <a:blip r:embed="rId1"/>
          <a:stretch>
            <a:fillRect/>
          </a:stretch>
        </p:blipFill>
        <p:spPr>
          <a:xfrm>
            <a:off x="502920" y="201168"/>
            <a:ext cx="566928" cy="627239"/>
          </a:xfrm>
          <a:prstGeom prst="rect">
            <a:avLst/>
          </a:prstGeom>
        </p:spPr>
      </p:pic>
      <p:sp>
        <p:nvSpPr>
          <p:cNvPr id="4" name="Tag Read"/>
          <p:cNvSpPr/>
          <p:nvPr/>
        </p:nvSpPr>
        <p:spPr>
          <a:xfrm>
            <a:off x="1234440" y="45720"/>
            <a:ext cx="1051560" cy="219456"/>
          </a:xfrm>
          <a:prstGeom prst="roundRect">
            <a:avLst>
              <a:gd name="adj" fmla="val 41667"/>
            </a:avLst>
          </a:prstGeom>
          <a:solidFill>
            <a:srgbClr val="25305A"/>
          </a:solidFill>
          <a:ln/>
        </p:spPr>
        <p:txBody>
          <a:bodyPr wrap="square" lIns="0" tIns="0" rIns="0" bIns="0" rtlCol="0" anchor="ctr"/>
          <a:lstStyle/>
          <a:p>
            <a:pPr algn="ctr" indent="0" marL="0">
              <a:buNone/>
            </a:pPr>
            <a:r>
              <a:rPr lang="en-US" sz="1000" b="1" dirty="0">
                <a:solidFill>
                  <a:srgbClr val="C3CFFC"/>
                </a:solidFill>
              </a:rPr>
              <a:t>Read</a:t>
            </a:r>
            <a:endParaRPr lang="en-US" sz="1000" dirty="0"/>
          </a:p>
        </p:txBody>
      </p:sp>
      <p:sp>
        <p:nvSpPr>
          <p:cNvPr id="5" name="Text 2"/>
          <p:cNvSpPr txBox="1"/>
          <p:nvPr/>
        </p:nvSpPr>
        <p:spPr>
          <a:xfrm>
            <a:off x="502920" y="960120"/>
            <a:ext cx="8138160" cy="1280160"/>
          </a:xfrm>
          <a:prstGeom prst="rect">
            <a:avLst/>
          </a:prstGeom>
          <a:noFill/>
          <a:ln/>
        </p:spPr>
        <p:txBody>
          <a:bodyPr wrap="square" lIns="0" tIns="0" rIns="0" bIns="0" rtlCol="0" anchor="t"/>
          <a:lstStyle/>
          <a:p>
            <a:pPr algn="l" indent="0" marL="0">
              <a:spcAft>
                <a:spcPts val="800"/>
              </a:spcAft>
              <a:buNone/>
            </a:pPr>
            <a:r>
              <a:rPr lang="en-US" sz="1600" dirty="0">
                <a:solidFill>
                  <a:schemeClr val="bg1"/>
                </a:solidFill>
              </a:rPr>
              <a:t>1. Say the </a:t>
            </a:r>
            <a:pPr algn="l" indent="0" marL="0">
              <a:spcAft>
                <a:spcPts val="800"/>
              </a:spcAft>
              <a:buNone/>
            </a:pPr>
            <a:r>
              <a:rPr lang="en-US" sz="1600" b="1" dirty="0">
                <a:solidFill>
                  <a:schemeClr val="bg1"/>
                </a:solidFill>
              </a:rPr>
              <a:t>metal's</a:t>
            </a:r>
            <a:pPr algn="l" indent="0" marL="0">
              <a:spcAft>
                <a:spcPts val="800"/>
              </a:spcAft>
              <a:buNone/>
            </a:pPr>
            <a:r>
              <a:rPr lang="en-US" sz="1600" dirty="0">
                <a:solidFill>
                  <a:schemeClr val="bg1"/>
                </a:solidFill>
              </a:rPr>
              <a:t> name as it is: sodium, magnesium.</a:t>
            </a:r>
            <a:endParaRPr lang="en-US" sz="1600" dirty="0"/>
          </a:p>
          <a:p>
            <a:pPr algn="l" indent="0" marL="0">
              <a:spcAft>
                <a:spcPts val="800"/>
              </a:spcAft>
              <a:buNone/>
            </a:pPr>
            <a:r>
              <a:rPr lang="en-US" sz="1600" dirty="0">
                <a:solidFill>
                  <a:schemeClr val="bg1"/>
                </a:solidFill>
              </a:rPr>
              <a:t>2. Change the nonmetal's ending to </a:t>
            </a:r>
            <a:pPr algn="l" indent="0" marL="0">
              <a:spcAft>
                <a:spcPts val="800"/>
              </a:spcAft>
              <a:buNone/>
            </a:pPr>
            <a:r>
              <a:rPr lang="en-US" sz="1600" b="1" dirty="0">
                <a:solidFill>
                  <a:schemeClr val="accent1"/>
                </a:solidFill>
              </a:rPr>
              <a:t>-ide</a:t>
            </a:r>
            <a:pPr algn="l" indent="0" marL="0">
              <a:spcAft>
                <a:spcPts val="800"/>
              </a:spcAft>
              <a:buNone/>
            </a:pPr>
            <a:r>
              <a:rPr lang="en-US" sz="1600" dirty="0">
                <a:solidFill>
                  <a:schemeClr val="bg1"/>
                </a:solidFill>
              </a:rPr>
              <a:t>.</a:t>
            </a:r>
            <a:endParaRPr lang="en-US" sz="1600" dirty="0"/>
          </a:p>
          <a:p>
            <a:pPr algn="l" indent="0" marL="0">
              <a:spcAft>
                <a:spcPts val="800"/>
              </a:spcAft>
              <a:buNone/>
            </a:pPr>
            <a:r>
              <a:rPr lang="en-US" sz="1600" dirty="0">
                <a:solidFill>
                  <a:schemeClr val="bg1"/>
                </a:solidFill>
              </a:rPr>
              <a:t>Subscripts don't change the name: CaCl₂ is just calcium chloride.</a:t>
            </a:r>
            <a:endParaRPr lang="en-US" sz="1600" dirty="0"/>
          </a:p>
        </p:txBody>
      </p:sp>
      <p:sp>
        <p:nvSpPr>
          <p:cNvPr id="6" name="Ide fluorine"/>
          <p:cNvSpPr/>
          <p:nvPr/>
        </p:nvSpPr>
        <p:spPr>
          <a:xfrm>
            <a:off x="502920" y="2606040"/>
            <a:ext cx="2606040" cy="731520"/>
          </a:xfrm>
          <a:prstGeom prst="roundRect">
            <a:avLst>
              <a:gd name="adj" fmla="val 12500"/>
            </a:avLst>
          </a:prstGeom>
          <a:solidFill>
            <a:schemeClr val="tx2"/>
          </a:solidFill>
          <a:ln w="12700">
            <a:solidFill>
              <a:srgbClr val="2A3A55"/>
            </a:solidFill>
            <a:prstDash val="solid"/>
          </a:ln>
        </p:spPr>
      </p:sp>
      <p:sp>
        <p:nvSpPr>
          <p:cNvPr id="7" name="Text 4"/>
          <p:cNvSpPr txBox="1"/>
          <p:nvPr/>
        </p:nvSpPr>
        <p:spPr>
          <a:xfrm>
            <a:off x="685800" y="2697480"/>
            <a:ext cx="2286000" cy="548640"/>
          </a:xfrm>
          <a:prstGeom prst="rect">
            <a:avLst/>
          </a:prstGeom>
          <a:noFill/>
          <a:ln/>
        </p:spPr>
        <p:txBody>
          <a:bodyPr wrap="square" lIns="0" tIns="0" rIns="0" bIns="0" rtlCol="0" anchor="ctr"/>
          <a:lstStyle/>
          <a:p>
            <a:pPr algn="l" indent="0" marL="0">
              <a:buNone/>
            </a:pPr>
            <a:r>
              <a:rPr lang="en-US" sz="1600" dirty="0">
                <a:solidFill>
                  <a:schemeClr val="bg2"/>
                </a:solidFill>
              </a:rPr>
              <a:t>fluorine → </a:t>
            </a:r>
            <a:pPr algn="l" indent="0" marL="0">
              <a:buNone/>
            </a:pPr>
            <a:r>
              <a:rPr lang="en-US" sz="1600" b="1" dirty="0">
                <a:solidFill>
                  <a:schemeClr val="accent2"/>
                </a:solidFill>
              </a:rPr>
              <a:t>fluoride</a:t>
            </a:r>
            <a:endParaRPr lang="en-US" sz="1600" dirty="0"/>
          </a:p>
        </p:txBody>
      </p:sp>
      <p:sp>
        <p:nvSpPr>
          <p:cNvPr id="8" name="Ide chlorine"/>
          <p:cNvSpPr/>
          <p:nvPr/>
        </p:nvSpPr>
        <p:spPr>
          <a:xfrm>
            <a:off x="3291840" y="2606040"/>
            <a:ext cx="2606040" cy="731520"/>
          </a:xfrm>
          <a:prstGeom prst="roundRect">
            <a:avLst>
              <a:gd name="adj" fmla="val 12500"/>
            </a:avLst>
          </a:prstGeom>
          <a:solidFill>
            <a:schemeClr val="tx2"/>
          </a:solidFill>
          <a:ln w="12700">
            <a:solidFill>
              <a:srgbClr val="2A3A55"/>
            </a:solidFill>
            <a:prstDash val="solid"/>
          </a:ln>
        </p:spPr>
      </p:sp>
      <p:sp>
        <p:nvSpPr>
          <p:cNvPr id="9" name="Text 6"/>
          <p:cNvSpPr txBox="1"/>
          <p:nvPr/>
        </p:nvSpPr>
        <p:spPr>
          <a:xfrm>
            <a:off x="3474720" y="2697480"/>
            <a:ext cx="2286000" cy="548640"/>
          </a:xfrm>
          <a:prstGeom prst="rect">
            <a:avLst/>
          </a:prstGeom>
          <a:noFill/>
          <a:ln/>
        </p:spPr>
        <p:txBody>
          <a:bodyPr wrap="square" lIns="0" tIns="0" rIns="0" bIns="0" rtlCol="0" anchor="ctr"/>
          <a:lstStyle/>
          <a:p>
            <a:pPr algn="l" indent="0" marL="0">
              <a:buNone/>
            </a:pPr>
            <a:r>
              <a:rPr lang="en-US" sz="1600" dirty="0">
                <a:solidFill>
                  <a:schemeClr val="bg2"/>
                </a:solidFill>
              </a:rPr>
              <a:t>chlorine → </a:t>
            </a:r>
            <a:pPr algn="l" indent="0" marL="0">
              <a:buNone/>
            </a:pPr>
            <a:r>
              <a:rPr lang="en-US" sz="1600" b="1" dirty="0">
                <a:solidFill>
                  <a:schemeClr val="accent2"/>
                </a:solidFill>
              </a:rPr>
              <a:t>chloride</a:t>
            </a:r>
            <a:endParaRPr lang="en-US" sz="1600" dirty="0"/>
          </a:p>
        </p:txBody>
      </p:sp>
      <p:sp>
        <p:nvSpPr>
          <p:cNvPr id="10" name="Ide bromine"/>
          <p:cNvSpPr/>
          <p:nvPr/>
        </p:nvSpPr>
        <p:spPr>
          <a:xfrm>
            <a:off x="6080760" y="2606040"/>
            <a:ext cx="2606040" cy="731520"/>
          </a:xfrm>
          <a:prstGeom prst="roundRect">
            <a:avLst>
              <a:gd name="adj" fmla="val 12500"/>
            </a:avLst>
          </a:prstGeom>
          <a:solidFill>
            <a:schemeClr val="tx2"/>
          </a:solidFill>
          <a:ln w="12700">
            <a:solidFill>
              <a:srgbClr val="2A3A55"/>
            </a:solidFill>
            <a:prstDash val="solid"/>
          </a:ln>
        </p:spPr>
      </p:sp>
      <p:sp>
        <p:nvSpPr>
          <p:cNvPr id="11" name="Text 8"/>
          <p:cNvSpPr txBox="1"/>
          <p:nvPr/>
        </p:nvSpPr>
        <p:spPr>
          <a:xfrm>
            <a:off x="6263640" y="2697480"/>
            <a:ext cx="2286000" cy="548640"/>
          </a:xfrm>
          <a:prstGeom prst="rect">
            <a:avLst/>
          </a:prstGeom>
          <a:noFill/>
          <a:ln/>
        </p:spPr>
        <p:txBody>
          <a:bodyPr wrap="square" lIns="0" tIns="0" rIns="0" bIns="0" rtlCol="0" anchor="ctr"/>
          <a:lstStyle/>
          <a:p>
            <a:pPr algn="l" indent="0" marL="0">
              <a:buNone/>
            </a:pPr>
            <a:r>
              <a:rPr lang="en-US" sz="1600" dirty="0">
                <a:solidFill>
                  <a:schemeClr val="bg2"/>
                </a:solidFill>
              </a:rPr>
              <a:t>bromine → </a:t>
            </a:r>
            <a:pPr algn="l" indent="0" marL="0">
              <a:buNone/>
            </a:pPr>
            <a:r>
              <a:rPr lang="en-US" sz="1600" b="1" dirty="0">
                <a:solidFill>
                  <a:schemeClr val="accent2"/>
                </a:solidFill>
              </a:rPr>
              <a:t>bromide</a:t>
            </a:r>
            <a:endParaRPr lang="en-US" sz="1600" dirty="0"/>
          </a:p>
        </p:txBody>
      </p:sp>
      <p:sp>
        <p:nvSpPr>
          <p:cNvPr id="12" name="Ide oxygen"/>
          <p:cNvSpPr/>
          <p:nvPr/>
        </p:nvSpPr>
        <p:spPr>
          <a:xfrm>
            <a:off x="502920" y="3520440"/>
            <a:ext cx="2606040" cy="731520"/>
          </a:xfrm>
          <a:prstGeom prst="roundRect">
            <a:avLst>
              <a:gd name="adj" fmla="val 12500"/>
            </a:avLst>
          </a:prstGeom>
          <a:solidFill>
            <a:schemeClr val="tx2"/>
          </a:solidFill>
          <a:ln w="12700">
            <a:solidFill>
              <a:srgbClr val="2A3A55"/>
            </a:solidFill>
            <a:prstDash val="solid"/>
          </a:ln>
        </p:spPr>
      </p:sp>
      <p:sp>
        <p:nvSpPr>
          <p:cNvPr id="13" name="Text 10"/>
          <p:cNvSpPr txBox="1"/>
          <p:nvPr/>
        </p:nvSpPr>
        <p:spPr>
          <a:xfrm>
            <a:off x="685800" y="3611880"/>
            <a:ext cx="2286000" cy="548640"/>
          </a:xfrm>
          <a:prstGeom prst="rect">
            <a:avLst/>
          </a:prstGeom>
          <a:noFill/>
          <a:ln/>
        </p:spPr>
        <p:txBody>
          <a:bodyPr wrap="square" lIns="0" tIns="0" rIns="0" bIns="0" rtlCol="0" anchor="ctr"/>
          <a:lstStyle/>
          <a:p>
            <a:pPr algn="l" indent="0" marL="0">
              <a:buNone/>
            </a:pPr>
            <a:r>
              <a:rPr lang="en-US" sz="1600" dirty="0">
                <a:solidFill>
                  <a:schemeClr val="bg2"/>
                </a:solidFill>
              </a:rPr>
              <a:t>oxygen → </a:t>
            </a:r>
            <a:pPr algn="l" indent="0" marL="0">
              <a:buNone/>
            </a:pPr>
            <a:r>
              <a:rPr lang="en-US" sz="1600" b="1" dirty="0">
                <a:solidFill>
                  <a:schemeClr val="accent2"/>
                </a:solidFill>
              </a:rPr>
              <a:t>oxide</a:t>
            </a:r>
            <a:endParaRPr lang="en-US" sz="1600" dirty="0"/>
          </a:p>
        </p:txBody>
      </p:sp>
      <p:sp>
        <p:nvSpPr>
          <p:cNvPr id="14" name="Ide sulfur"/>
          <p:cNvSpPr/>
          <p:nvPr/>
        </p:nvSpPr>
        <p:spPr>
          <a:xfrm>
            <a:off x="3291840" y="3520440"/>
            <a:ext cx="2606040" cy="731520"/>
          </a:xfrm>
          <a:prstGeom prst="roundRect">
            <a:avLst>
              <a:gd name="adj" fmla="val 12500"/>
            </a:avLst>
          </a:prstGeom>
          <a:solidFill>
            <a:schemeClr val="tx2"/>
          </a:solidFill>
          <a:ln w="12700">
            <a:solidFill>
              <a:srgbClr val="2A3A55"/>
            </a:solidFill>
            <a:prstDash val="solid"/>
          </a:ln>
        </p:spPr>
      </p:sp>
      <p:sp>
        <p:nvSpPr>
          <p:cNvPr id="15" name="Text 12"/>
          <p:cNvSpPr txBox="1"/>
          <p:nvPr/>
        </p:nvSpPr>
        <p:spPr>
          <a:xfrm>
            <a:off x="3474720" y="3611880"/>
            <a:ext cx="2286000" cy="548640"/>
          </a:xfrm>
          <a:prstGeom prst="rect">
            <a:avLst/>
          </a:prstGeom>
          <a:noFill/>
          <a:ln/>
        </p:spPr>
        <p:txBody>
          <a:bodyPr wrap="square" lIns="0" tIns="0" rIns="0" bIns="0" rtlCol="0" anchor="ctr"/>
          <a:lstStyle/>
          <a:p>
            <a:pPr algn="l" indent="0" marL="0">
              <a:buNone/>
            </a:pPr>
            <a:r>
              <a:rPr lang="en-US" sz="1600" dirty="0">
                <a:solidFill>
                  <a:schemeClr val="bg2"/>
                </a:solidFill>
              </a:rPr>
              <a:t>sulfur → </a:t>
            </a:r>
            <a:pPr algn="l" indent="0" marL="0">
              <a:buNone/>
            </a:pPr>
            <a:r>
              <a:rPr lang="en-US" sz="1600" b="1" dirty="0">
                <a:solidFill>
                  <a:schemeClr val="accent2"/>
                </a:solidFill>
              </a:rPr>
              <a:t>sulfide</a:t>
            </a:r>
            <a:endParaRPr lang="en-US" sz="1600" dirty="0"/>
          </a:p>
        </p:txBody>
      </p:sp>
      <p:sp>
        <p:nvSpPr>
          <p:cNvPr id="16" name="Ide nitrogen"/>
          <p:cNvSpPr/>
          <p:nvPr/>
        </p:nvSpPr>
        <p:spPr>
          <a:xfrm>
            <a:off x="6080760" y="3520440"/>
            <a:ext cx="2606040" cy="731520"/>
          </a:xfrm>
          <a:prstGeom prst="roundRect">
            <a:avLst>
              <a:gd name="adj" fmla="val 12500"/>
            </a:avLst>
          </a:prstGeom>
          <a:solidFill>
            <a:schemeClr val="tx2"/>
          </a:solidFill>
          <a:ln w="12700">
            <a:solidFill>
              <a:srgbClr val="2A3A55"/>
            </a:solidFill>
            <a:prstDash val="solid"/>
          </a:ln>
        </p:spPr>
      </p:sp>
      <p:sp>
        <p:nvSpPr>
          <p:cNvPr id="17" name="Text 14"/>
          <p:cNvSpPr txBox="1"/>
          <p:nvPr/>
        </p:nvSpPr>
        <p:spPr>
          <a:xfrm>
            <a:off x="6263640" y="3611880"/>
            <a:ext cx="2286000" cy="548640"/>
          </a:xfrm>
          <a:prstGeom prst="rect">
            <a:avLst/>
          </a:prstGeom>
          <a:noFill/>
          <a:ln/>
        </p:spPr>
        <p:txBody>
          <a:bodyPr wrap="square" lIns="0" tIns="0" rIns="0" bIns="0" rtlCol="0" anchor="ctr"/>
          <a:lstStyle/>
          <a:p>
            <a:pPr algn="l" indent="0" marL="0">
              <a:buNone/>
            </a:pPr>
            <a:r>
              <a:rPr lang="en-US" sz="1600" dirty="0">
                <a:solidFill>
                  <a:schemeClr val="bg2"/>
                </a:solidFill>
              </a:rPr>
              <a:t>nitrogen → </a:t>
            </a:r>
            <a:pPr algn="l" indent="0" marL="0">
              <a:buNone/>
            </a:pPr>
            <a:r>
              <a:rPr lang="en-US" sz="1600" b="1" dirty="0">
                <a:solidFill>
                  <a:schemeClr val="accent2"/>
                </a:solidFill>
              </a:rPr>
              <a:t>nitride</a:t>
            </a:r>
            <a:endParaRPr lang="en-US" sz="16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FB1C7"/>
                </a:solidFill>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1234440" y="292608"/>
            <a:ext cx="7452360" cy="548640"/>
          </a:xfrm>
          <a:prstGeom prst="rect">
            <a:avLst/>
          </a:prstGeom>
          <a:noFill/>
          <a:ln/>
        </p:spPr>
        <p:txBody>
          <a:bodyPr wrap="square" lIns="0" tIns="0" rIns="0" bIns="0" rtlCol="0" anchor="ctr"/>
          <a:lstStyle/>
          <a:p>
            <a:pPr algn="l" indent="0" marL="0">
              <a:buNone/>
            </a:pPr>
            <a:r>
              <a:rPr lang="en-US" sz="2800" b="1" dirty="0">
                <a:solidFill>
                  <a:schemeClr val="bg1"/>
                </a:solidFill>
                <a:latin typeface="Arial" pitchFamily="34" charset="0"/>
                <a:ea typeface="Arial" pitchFamily="34" charset="-122"/>
                <a:cs typeface="Arial" pitchFamily="34" charset="-120"/>
              </a:rPr>
              <a:t>Name it</a:t>
            </a:r>
            <a:endParaRPr lang="en-US" sz="2800" dirty="0"/>
          </a:p>
        </p:txBody>
      </p:sp>
      <p:pic>
        <p:nvPicPr>
          <p:cNvPr id="3" name="Icon 6" descr="Section 6 icon">    </p:cNvPr>
          <p:cNvPicPr>
            <a:picLocks noChangeAspect="1"/>
          </p:cNvPicPr>
          <p:nvPr/>
        </p:nvPicPr>
        <p:blipFill>
          <a:blip r:embed="rId1"/>
          <a:stretch>
            <a:fillRect/>
          </a:stretch>
        </p:blipFill>
        <p:spPr>
          <a:xfrm>
            <a:off x="502920" y="201168"/>
            <a:ext cx="566928" cy="627239"/>
          </a:xfrm>
          <a:prstGeom prst="rect">
            <a:avLst/>
          </a:prstGeom>
        </p:spPr>
      </p:pic>
      <p:sp>
        <p:nvSpPr>
          <p:cNvPr id="4" name="Tag Try it"/>
          <p:cNvSpPr/>
          <p:nvPr/>
        </p:nvSpPr>
        <p:spPr>
          <a:xfrm>
            <a:off x="1234440" y="45720"/>
            <a:ext cx="1051560" cy="219456"/>
          </a:xfrm>
          <a:prstGeom prst="roundRect">
            <a:avLst>
              <a:gd name="adj" fmla="val 41667"/>
            </a:avLst>
          </a:prstGeom>
          <a:solidFill>
            <a:srgbClr val="5FE1FF"/>
          </a:solidFill>
          <a:ln/>
        </p:spPr>
        <p:txBody>
          <a:bodyPr wrap="square" lIns="0" tIns="0" rIns="0" bIns="0" rtlCol="0" anchor="ctr"/>
          <a:lstStyle/>
          <a:p>
            <a:pPr algn="ctr" indent="0" marL="0">
              <a:buNone/>
            </a:pPr>
            <a:r>
              <a:rPr lang="en-US" sz="1000" b="1" dirty="0">
                <a:solidFill>
                  <a:srgbClr val="0B2630"/>
                </a:solidFill>
              </a:rPr>
              <a:t>Try it</a:t>
            </a:r>
            <a:endParaRPr lang="en-US" sz="1000" dirty="0"/>
          </a:p>
        </p:txBody>
      </p:sp>
      <p:sp>
        <p:nvSpPr>
          <p:cNvPr id="5" name="Text 2"/>
          <p:cNvSpPr txBox="1"/>
          <p:nvPr/>
        </p:nvSpPr>
        <p:spPr>
          <a:xfrm>
            <a:off x="502920" y="960120"/>
            <a:ext cx="8138160" cy="365760"/>
          </a:xfrm>
          <a:prstGeom prst="rect">
            <a:avLst/>
          </a:prstGeom>
          <a:noFill/>
          <a:ln/>
        </p:spPr>
        <p:txBody>
          <a:bodyPr wrap="square" lIns="0" tIns="0" rIns="0" bIns="0" rtlCol="0" anchor="t"/>
          <a:lstStyle/>
          <a:p>
            <a:pPr algn="l" indent="0" marL="0">
              <a:buNone/>
            </a:pPr>
            <a:r>
              <a:rPr lang="en-US" sz="1600" b="1" dirty="0">
                <a:solidFill>
                  <a:schemeClr val="bg1"/>
                </a:solidFill>
              </a:rPr>
              <a:t>Name each compound.</a:t>
            </a:r>
            <a:endParaRPr lang="en-US" sz="1600" dirty="0"/>
          </a:p>
        </p:txBody>
      </p:sp>
      <p:sp>
        <p:nvSpPr>
          <p:cNvPr id="6" name="Name KBr"/>
          <p:cNvSpPr/>
          <p:nvPr/>
        </p:nvSpPr>
        <p:spPr>
          <a:xfrm>
            <a:off x="502920" y="1508760"/>
            <a:ext cx="8138160" cy="777240"/>
          </a:xfrm>
          <a:prstGeom prst="roundRect">
            <a:avLst>
              <a:gd name="adj" fmla="val 11765"/>
            </a:avLst>
          </a:prstGeom>
          <a:solidFill>
            <a:schemeClr val="tx2"/>
          </a:solidFill>
          <a:ln w="12700">
            <a:solidFill>
              <a:srgbClr val="2A3A55"/>
            </a:solidFill>
            <a:prstDash val="solid"/>
          </a:ln>
        </p:spPr>
      </p:sp>
      <p:sp>
        <p:nvSpPr>
          <p:cNvPr id="7" name="Text 4"/>
          <p:cNvSpPr txBox="1"/>
          <p:nvPr/>
        </p:nvSpPr>
        <p:spPr>
          <a:xfrm>
            <a:off x="731520" y="1618488"/>
            <a:ext cx="1463040" cy="548640"/>
          </a:xfrm>
          <a:prstGeom prst="rect">
            <a:avLst/>
          </a:prstGeom>
          <a:noFill/>
          <a:ln/>
        </p:spPr>
        <p:txBody>
          <a:bodyPr wrap="square" lIns="0" tIns="0" rIns="0" bIns="0" rtlCol="0" anchor="ctr"/>
          <a:lstStyle/>
          <a:p>
            <a:pPr algn="l" indent="0" marL="0">
              <a:buNone/>
            </a:pPr>
            <a:r>
              <a:rPr lang="en-US" sz="2400" b="1" dirty="0">
                <a:solidFill>
                  <a:schemeClr val="bg1"/>
                </a:solidFill>
              </a:rPr>
              <a:t>KBr</a:t>
            </a:r>
            <a:endParaRPr lang="en-US" sz="2400" dirty="0"/>
          </a:p>
        </p:txBody>
      </p:sp>
      <p:sp>
        <p:nvSpPr>
          <p:cNvPr id="8" name="Text 5"/>
          <p:cNvSpPr txBox="1"/>
          <p:nvPr/>
        </p:nvSpPr>
        <p:spPr>
          <a:xfrm>
            <a:off x="2377440" y="1618488"/>
            <a:ext cx="6035040" cy="548640"/>
          </a:xfrm>
          <a:prstGeom prst="rect">
            <a:avLst/>
          </a:prstGeom>
          <a:noFill/>
          <a:ln/>
        </p:spPr>
        <p:txBody>
          <a:bodyPr wrap="square" lIns="0" tIns="0" rIns="0" bIns="0" rtlCol="0" anchor="ctr"/>
          <a:lstStyle/>
          <a:p>
            <a:pPr algn="l" indent="0" marL="0">
              <a:buNone/>
            </a:pPr>
            <a:r>
              <a:rPr lang="en-US" sz="2000" dirty="0">
                <a:solidFill>
                  <a:schemeClr val="bg2"/>
                </a:solidFill>
              </a:rPr>
              <a:t>?</a:t>
            </a:r>
            <a:endParaRPr lang="en-US" sz="2000" dirty="0"/>
          </a:p>
        </p:txBody>
      </p:sp>
      <p:sp>
        <p:nvSpPr>
          <p:cNvPr id="9" name="Name MgO"/>
          <p:cNvSpPr/>
          <p:nvPr/>
        </p:nvSpPr>
        <p:spPr>
          <a:xfrm>
            <a:off x="502920" y="2468880"/>
            <a:ext cx="8138160" cy="777240"/>
          </a:xfrm>
          <a:prstGeom prst="roundRect">
            <a:avLst>
              <a:gd name="adj" fmla="val 11765"/>
            </a:avLst>
          </a:prstGeom>
          <a:solidFill>
            <a:schemeClr val="tx2"/>
          </a:solidFill>
          <a:ln w="12700">
            <a:solidFill>
              <a:srgbClr val="2A3A55"/>
            </a:solidFill>
            <a:prstDash val="solid"/>
          </a:ln>
        </p:spPr>
      </p:sp>
      <p:sp>
        <p:nvSpPr>
          <p:cNvPr id="10" name="Text 7"/>
          <p:cNvSpPr txBox="1"/>
          <p:nvPr/>
        </p:nvSpPr>
        <p:spPr>
          <a:xfrm>
            <a:off x="731520" y="2578608"/>
            <a:ext cx="1463040" cy="548640"/>
          </a:xfrm>
          <a:prstGeom prst="rect">
            <a:avLst/>
          </a:prstGeom>
          <a:noFill/>
          <a:ln/>
        </p:spPr>
        <p:txBody>
          <a:bodyPr wrap="square" lIns="0" tIns="0" rIns="0" bIns="0" rtlCol="0" anchor="ctr"/>
          <a:lstStyle/>
          <a:p>
            <a:pPr algn="l" indent="0" marL="0">
              <a:buNone/>
            </a:pPr>
            <a:r>
              <a:rPr lang="en-US" sz="2400" b="1" dirty="0">
                <a:solidFill>
                  <a:schemeClr val="bg1"/>
                </a:solidFill>
              </a:rPr>
              <a:t>MgO</a:t>
            </a:r>
            <a:endParaRPr lang="en-US" sz="2400" dirty="0"/>
          </a:p>
        </p:txBody>
      </p:sp>
      <p:sp>
        <p:nvSpPr>
          <p:cNvPr id="11" name="Text 8"/>
          <p:cNvSpPr txBox="1"/>
          <p:nvPr/>
        </p:nvSpPr>
        <p:spPr>
          <a:xfrm>
            <a:off x="2377440" y="2578608"/>
            <a:ext cx="6035040" cy="548640"/>
          </a:xfrm>
          <a:prstGeom prst="rect">
            <a:avLst/>
          </a:prstGeom>
          <a:noFill/>
          <a:ln/>
        </p:spPr>
        <p:txBody>
          <a:bodyPr wrap="square" lIns="0" tIns="0" rIns="0" bIns="0" rtlCol="0" anchor="ctr"/>
          <a:lstStyle/>
          <a:p>
            <a:pPr algn="l" indent="0" marL="0">
              <a:buNone/>
            </a:pPr>
            <a:r>
              <a:rPr lang="en-US" sz="2000" dirty="0">
                <a:solidFill>
                  <a:schemeClr val="bg2"/>
                </a:solidFill>
              </a:rPr>
              <a:t>?</a:t>
            </a:r>
            <a:endParaRPr lang="en-US" sz="2000" dirty="0"/>
          </a:p>
        </p:txBody>
      </p:sp>
      <p:sp>
        <p:nvSpPr>
          <p:cNvPr id="12" name="Name CaF₂"/>
          <p:cNvSpPr/>
          <p:nvPr/>
        </p:nvSpPr>
        <p:spPr>
          <a:xfrm>
            <a:off x="502920" y="3429000"/>
            <a:ext cx="8138160" cy="777240"/>
          </a:xfrm>
          <a:prstGeom prst="roundRect">
            <a:avLst>
              <a:gd name="adj" fmla="val 11765"/>
            </a:avLst>
          </a:prstGeom>
          <a:solidFill>
            <a:schemeClr val="tx2"/>
          </a:solidFill>
          <a:ln w="12700">
            <a:solidFill>
              <a:srgbClr val="2A3A55"/>
            </a:solidFill>
            <a:prstDash val="solid"/>
          </a:ln>
        </p:spPr>
      </p:sp>
      <p:sp>
        <p:nvSpPr>
          <p:cNvPr id="13" name="Text 10"/>
          <p:cNvSpPr txBox="1"/>
          <p:nvPr/>
        </p:nvSpPr>
        <p:spPr>
          <a:xfrm>
            <a:off x="731520" y="3538728"/>
            <a:ext cx="1463040" cy="548640"/>
          </a:xfrm>
          <a:prstGeom prst="rect">
            <a:avLst/>
          </a:prstGeom>
          <a:noFill/>
          <a:ln/>
        </p:spPr>
        <p:txBody>
          <a:bodyPr wrap="square" lIns="0" tIns="0" rIns="0" bIns="0" rtlCol="0" anchor="ctr"/>
          <a:lstStyle/>
          <a:p>
            <a:pPr algn="l" indent="0" marL="0">
              <a:buNone/>
            </a:pPr>
            <a:r>
              <a:rPr lang="en-US" sz="2400" b="1" dirty="0">
                <a:solidFill>
                  <a:schemeClr val="bg1"/>
                </a:solidFill>
              </a:rPr>
              <a:t>CaF₂</a:t>
            </a:r>
            <a:endParaRPr lang="en-US" sz="2400" dirty="0"/>
          </a:p>
        </p:txBody>
      </p:sp>
      <p:sp>
        <p:nvSpPr>
          <p:cNvPr id="14" name="Text 11"/>
          <p:cNvSpPr txBox="1"/>
          <p:nvPr/>
        </p:nvSpPr>
        <p:spPr>
          <a:xfrm>
            <a:off x="2377440" y="3538728"/>
            <a:ext cx="6035040" cy="548640"/>
          </a:xfrm>
          <a:prstGeom prst="rect">
            <a:avLst/>
          </a:prstGeom>
          <a:noFill/>
          <a:ln/>
        </p:spPr>
        <p:txBody>
          <a:bodyPr wrap="square" lIns="0" tIns="0" rIns="0" bIns="0" rtlCol="0" anchor="ctr"/>
          <a:lstStyle/>
          <a:p>
            <a:pPr algn="l" indent="0" marL="0">
              <a:buNone/>
            </a:pPr>
            <a:r>
              <a:rPr lang="en-US" sz="2000" dirty="0">
                <a:solidFill>
                  <a:schemeClr val="bg2"/>
                </a:solidFill>
              </a:rPr>
              <a:t>?</a:t>
            </a:r>
            <a:endParaRPr lang="en-US" sz="20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FB1C7"/>
                </a:solidFill>
              </a:defRPr>
            </a:lvl1pPr>
          </a:lstStyle>
          <a:p>
            <a:pPr algn="l"/>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1234440" y="292608"/>
            <a:ext cx="7452360" cy="548640"/>
          </a:xfrm>
          <a:prstGeom prst="rect">
            <a:avLst/>
          </a:prstGeom>
          <a:noFill/>
          <a:ln/>
        </p:spPr>
        <p:txBody>
          <a:bodyPr wrap="square" lIns="0" tIns="0" rIns="0" bIns="0" rtlCol="0" anchor="ctr"/>
          <a:lstStyle/>
          <a:p>
            <a:pPr algn="l" indent="0" marL="0">
              <a:buNone/>
            </a:pPr>
            <a:r>
              <a:rPr lang="en-US" sz="2800" b="1" dirty="0">
                <a:solidFill>
                  <a:schemeClr val="bg1"/>
                </a:solidFill>
                <a:latin typeface="Arial" pitchFamily="34" charset="0"/>
                <a:ea typeface="Arial" pitchFamily="34" charset="-122"/>
                <a:cs typeface="Arial" pitchFamily="34" charset="-120"/>
              </a:rPr>
              <a:t>Name it</a:t>
            </a:r>
            <a:endParaRPr lang="en-US" sz="2800" dirty="0"/>
          </a:p>
        </p:txBody>
      </p:sp>
      <p:pic>
        <p:nvPicPr>
          <p:cNvPr id="3" name="Icon 6" descr="Section 6 icon">    </p:cNvPr>
          <p:cNvPicPr>
            <a:picLocks noChangeAspect="1"/>
          </p:cNvPicPr>
          <p:nvPr/>
        </p:nvPicPr>
        <p:blipFill>
          <a:blip r:embed="rId1"/>
          <a:stretch>
            <a:fillRect/>
          </a:stretch>
        </p:blipFill>
        <p:spPr>
          <a:xfrm>
            <a:off x="502920" y="201168"/>
            <a:ext cx="566928" cy="627239"/>
          </a:xfrm>
          <a:prstGeom prst="rect">
            <a:avLst/>
          </a:prstGeom>
        </p:spPr>
      </p:pic>
      <p:sp>
        <p:nvSpPr>
          <p:cNvPr id="4" name="Tag Try it"/>
          <p:cNvSpPr/>
          <p:nvPr/>
        </p:nvSpPr>
        <p:spPr>
          <a:xfrm>
            <a:off x="1234440" y="45720"/>
            <a:ext cx="1051560" cy="219456"/>
          </a:xfrm>
          <a:prstGeom prst="roundRect">
            <a:avLst>
              <a:gd name="adj" fmla="val 41667"/>
            </a:avLst>
          </a:prstGeom>
          <a:solidFill>
            <a:srgbClr val="5FE1FF"/>
          </a:solidFill>
          <a:ln/>
        </p:spPr>
        <p:txBody>
          <a:bodyPr wrap="square" lIns="0" tIns="0" rIns="0" bIns="0" rtlCol="0" anchor="ctr"/>
          <a:lstStyle/>
          <a:p>
            <a:pPr algn="ctr" indent="0" marL="0">
              <a:buNone/>
            </a:pPr>
            <a:r>
              <a:rPr lang="en-US" sz="1000" b="1" dirty="0">
                <a:solidFill>
                  <a:srgbClr val="0B2630"/>
                </a:solidFill>
              </a:rPr>
              <a:t>Try it</a:t>
            </a:r>
            <a:endParaRPr lang="en-US" sz="1000" dirty="0"/>
          </a:p>
        </p:txBody>
      </p:sp>
      <p:sp>
        <p:nvSpPr>
          <p:cNvPr id="5" name="Tag Answer"/>
          <p:cNvSpPr/>
          <p:nvPr/>
        </p:nvSpPr>
        <p:spPr>
          <a:xfrm>
            <a:off x="2377440" y="45720"/>
            <a:ext cx="1051560" cy="219456"/>
          </a:xfrm>
          <a:prstGeom prst="roundRect">
            <a:avLst>
              <a:gd name="adj" fmla="val 41667"/>
            </a:avLst>
          </a:prstGeom>
          <a:solidFill>
            <a:srgbClr val="4ADE80"/>
          </a:solidFill>
          <a:ln/>
        </p:spPr>
        <p:txBody>
          <a:bodyPr wrap="square" lIns="0" tIns="0" rIns="0" bIns="0" rtlCol="0" anchor="ctr"/>
          <a:lstStyle/>
          <a:p>
            <a:pPr algn="ctr" indent="0" marL="0">
              <a:buNone/>
            </a:pPr>
            <a:r>
              <a:rPr lang="en-US" sz="1000" b="1" dirty="0">
                <a:solidFill>
                  <a:srgbClr val="06240F"/>
                </a:solidFill>
              </a:rPr>
              <a:t>Answer</a:t>
            </a:r>
            <a:endParaRPr lang="en-US" sz="1000" dirty="0"/>
          </a:p>
        </p:txBody>
      </p:sp>
      <p:sp>
        <p:nvSpPr>
          <p:cNvPr id="6" name="Text 3"/>
          <p:cNvSpPr txBox="1"/>
          <p:nvPr/>
        </p:nvSpPr>
        <p:spPr>
          <a:xfrm>
            <a:off x="502920" y="960120"/>
            <a:ext cx="8138160" cy="365760"/>
          </a:xfrm>
          <a:prstGeom prst="rect">
            <a:avLst/>
          </a:prstGeom>
          <a:noFill/>
          <a:ln/>
        </p:spPr>
        <p:txBody>
          <a:bodyPr wrap="square" lIns="0" tIns="0" rIns="0" bIns="0" rtlCol="0" anchor="t"/>
          <a:lstStyle/>
          <a:p>
            <a:pPr algn="l" indent="0" marL="0">
              <a:buNone/>
            </a:pPr>
            <a:r>
              <a:rPr lang="en-US" sz="1600" b="1" dirty="0">
                <a:solidFill>
                  <a:schemeClr val="bg1"/>
                </a:solidFill>
              </a:rPr>
              <a:t>Name each compound.</a:t>
            </a:r>
            <a:endParaRPr lang="en-US" sz="1600" dirty="0"/>
          </a:p>
        </p:txBody>
      </p:sp>
      <p:sp>
        <p:nvSpPr>
          <p:cNvPr id="7" name="Name KBr"/>
          <p:cNvSpPr/>
          <p:nvPr/>
        </p:nvSpPr>
        <p:spPr>
          <a:xfrm>
            <a:off x="502920" y="1508760"/>
            <a:ext cx="8138160" cy="777240"/>
          </a:xfrm>
          <a:prstGeom prst="roundRect">
            <a:avLst>
              <a:gd name="adj" fmla="val 11765"/>
            </a:avLst>
          </a:prstGeom>
          <a:solidFill>
            <a:schemeClr val="tx2"/>
          </a:solidFill>
          <a:ln w="12700">
            <a:solidFill>
              <a:srgbClr val="4ADE80"/>
            </a:solidFill>
            <a:prstDash val="solid"/>
          </a:ln>
        </p:spPr>
      </p:sp>
      <p:sp>
        <p:nvSpPr>
          <p:cNvPr id="8" name="Text 5"/>
          <p:cNvSpPr txBox="1"/>
          <p:nvPr/>
        </p:nvSpPr>
        <p:spPr>
          <a:xfrm>
            <a:off x="731520" y="1618488"/>
            <a:ext cx="1463040" cy="548640"/>
          </a:xfrm>
          <a:prstGeom prst="rect">
            <a:avLst/>
          </a:prstGeom>
          <a:noFill/>
          <a:ln/>
        </p:spPr>
        <p:txBody>
          <a:bodyPr wrap="square" lIns="0" tIns="0" rIns="0" bIns="0" rtlCol="0" anchor="ctr"/>
          <a:lstStyle/>
          <a:p>
            <a:pPr algn="l" indent="0" marL="0">
              <a:buNone/>
            </a:pPr>
            <a:r>
              <a:rPr lang="en-US" sz="2400" b="1" dirty="0">
                <a:solidFill>
                  <a:schemeClr val="bg1"/>
                </a:solidFill>
              </a:rPr>
              <a:t>KBr</a:t>
            </a:r>
            <a:endParaRPr lang="en-US" sz="2400" dirty="0"/>
          </a:p>
        </p:txBody>
      </p:sp>
      <p:sp>
        <p:nvSpPr>
          <p:cNvPr id="9" name="Text 6"/>
          <p:cNvSpPr txBox="1"/>
          <p:nvPr/>
        </p:nvSpPr>
        <p:spPr>
          <a:xfrm>
            <a:off x="2377440" y="1618488"/>
            <a:ext cx="6035040" cy="548640"/>
          </a:xfrm>
          <a:prstGeom prst="rect">
            <a:avLst/>
          </a:prstGeom>
          <a:noFill/>
          <a:ln/>
        </p:spPr>
        <p:txBody>
          <a:bodyPr wrap="square" lIns="0" tIns="0" rIns="0" bIns="0" rtlCol="0" anchor="ctr"/>
          <a:lstStyle/>
          <a:p>
            <a:pPr algn="l" indent="0" marL="0">
              <a:buNone/>
            </a:pPr>
            <a:r>
              <a:rPr lang="en-US" sz="2000" dirty="0">
                <a:solidFill>
                  <a:schemeClr val="accent4"/>
                </a:solidFill>
              </a:rPr>
              <a:t>potassium bromide</a:t>
            </a:r>
            <a:endParaRPr lang="en-US" sz="2000" dirty="0"/>
          </a:p>
        </p:txBody>
      </p:sp>
      <p:sp>
        <p:nvSpPr>
          <p:cNvPr id="10" name="Name MgO"/>
          <p:cNvSpPr/>
          <p:nvPr/>
        </p:nvSpPr>
        <p:spPr>
          <a:xfrm>
            <a:off x="502920" y="2468880"/>
            <a:ext cx="8138160" cy="777240"/>
          </a:xfrm>
          <a:prstGeom prst="roundRect">
            <a:avLst>
              <a:gd name="adj" fmla="val 11765"/>
            </a:avLst>
          </a:prstGeom>
          <a:solidFill>
            <a:schemeClr val="tx2"/>
          </a:solidFill>
          <a:ln w="12700">
            <a:solidFill>
              <a:srgbClr val="4ADE80"/>
            </a:solidFill>
            <a:prstDash val="solid"/>
          </a:ln>
        </p:spPr>
      </p:sp>
      <p:sp>
        <p:nvSpPr>
          <p:cNvPr id="11" name="Text 8"/>
          <p:cNvSpPr txBox="1"/>
          <p:nvPr/>
        </p:nvSpPr>
        <p:spPr>
          <a:xfrm>
            <a:off x="731520" y="2578608"/>
            <a:ext cx="1463040" cy="548640"/>
          </a:xfrm>
          <a:prstGeom prst="rect">
            <a:avLst/>
          </a:prstGeom>
          <a:noFill/>
          <a:ln/>
        </p:spPr>
        <p:txBody>
          <a:bodyPr wrap="square" lIns="0" tIns="0" rIns="0" bIns="0" rtlCol="0" anchor="ctr"/>
          <a:lstStyle/>
          <a:p>
            <a:pPr algn="l" indent="0" marL="0">
              <a:buNone/>
            </a:pPr>
            <a:r>
              <a:rPr lang="en-US" sz="2400" b="1" dirty="0">
                <a:solidFill>
                  <a:schemeClr val="bg1"/>
                </a:solidFill>
              </a:rPr>
              <a:t>MgO</a:t>
            </a:r>
            <a:endParaRPr lang="en-US" sz="2400" dirty="0"/>
          </a:p>
        </p:txBody>
      </p:sp>
      <p:sp>
        <p:nvSpPr>
          <p:cNvPr id="12" name="Text 9"/>
          <p:cNvSpPr txBox="1"/>
          <p:nvPr/>
        </p:nvSpPr>
        <p:spPr>
          <a:xfrm>
            <a:off x="2377440" y="2578608"/>
            <a:ext cx="6035040" cy="548640"/>
          </a:xfrm>
          <a:prstGeom prst="rect">
            <a:avLst/>
          </a:prstGeom>
          <a:noFill/>
          <a:ln/>
        </p:spPr>
        <p:txBody>
          <a:bodyPr wrap="square" lIns="0" tIns="0" rIns="0" bIns="0" rtlCol="0" anchor="ctr"/>
          <a:lstStyle/>
          <a:p>
            <a:pPr algn="l" indent="0" marL="0">
              <a:buNone/>
            </a:pPr>
            <a:r>
              <a:rPr lang="en-US" sz="2000" dirty="0">
                <a:solidFill>
                  <a:schemeClr val="accent4"/>
                </a:solidFill>
              </a:rPr>
              <a:t>magnesium oxide</a:t>
            </a:r>
            <a:endParaRPr lang="en-US" sz="2000" dirty="0"/>
          </a:p>
        </p:txBody>
      </p:sp>
      <p:sp>
        <p:nvSpPr>
          <p:cNvPr id="13" name="Name CaF₂"/>
          <p:cNvSpPr/>
          <p:nvPr/>
        </p:nvSpPr>
        <p:spPr>
          <a:xfrm>
            <a:off x="502920" y="3429000"/>
            <a:ext cx="8138160" cy="777240"/>
          </a:xfrm>
          <a:prstGeom prst="roundRect">
            <a:avLst>
              <a:gd name="adj" fmla="val 11765"/>
            </a:avLst>
          </a:prstGeom>
          <a:solidFill>
            <a:schemeClr val="tx2"/>
          </a:solidFill>
          <a:ln w="12700">
            <a:solidFill>
              <a:srgbClr val="4ADE80"/>
            </a:solidFill>
            <a:prstDash val="solid"/>
          </a:ln>
        </p:spPr>
      </p:sp>
      <p:sp>
        <p:nvSpPr>
          <p:cNvPr id="14" name="Text 11"/>
          <p:cNvSpPr txBox="1"/>
          <p:nvPr/>
        </p:nvSpPr>
        <p:spPr>
          <a:xfrm>
            <a:off x="731520" y="3538728"/>
            <a:ext cx="1463040" cy="548640"/>
          </a:xfrm>
          <a:prstGeom prst="rect">
            <a:avLst/>
          </a:prstGeom>
          <a:noFill/>
          <a:ln/>
        </p:spPr>
        <p:txBody>
          <a:bodyPr wrap="square" lIns="0" tIns="0" rIns="0" bIns="0" rtlCol="0" anchor="ctr"/>
          <a:lstStyle/>
          <a:p>
            <a:pPr algn="l" indent="0" marL="0">
              <a:buNone/>
            </a:pPr>
            <a:r>
              <a:rPr lang="en-US" sz="2400" b="1" dirty="0">
                <a:solidFill>
                  <a:schemeClr val="bg1"/>
                </a:solidFill>
              </a:rPr>
              <a:t>CaF₂</a:t>
            </a:r>
            <a:endParaRPr lang="en-US" sz="2400" dirty="0"/>
          </a:p>
        </p:txBody>
      </p:sp>
      <p:sp>
        <p:nvSpPr>
          <p:cNvPr id="15" name="Text 12"/>
          <p:cNvSpPr txBox="1"/>
          <p:nvPr/>
        </p:nvSpPr>
        <p:spPr>
          <a:xfrm>
            <a:off x="2377440" y="3538728"/>
            <a:ext cx="6035040" cy="548640"/>
          </a:xfrm>
          <a:prstGeom prst="rect">
            <a:avLst/>
          </a:prstGeom>
          <a:noFill/>
          <a:ln/>
        </p:spPr>
        <p:txBody>
          <a:bodyPr wrap="square" lIns="0" tIns="0" rIns="0" bIns="0" rtlCol="0" anchor="ctr"/>
          <a:lstStyle/>
          <a:p>
            <a:pPr algn="l" indent="0" marL="0">
              <a:buNone/>
            </a:pPr>
            <a:r>
              <a:rPr lang="en-US" sz="2000" dirty="0">
                <a:solidFill>
                  <a:schemeClr val="accent4"/>
                </a:solidFill>
              </a:rPr>
              <a:t>calcium fluoride</a:t>
            </a:r>
            <a:endParaRPr lang="en-US" sz="20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FB1C7"/>
                </a:solidFill>
              </a:defRPr>
            </a:lvl1pPr>
          </a:lstStyle>
          <a:p>
            <a:pPr algn="l"/>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1234440" y="292608"/>
            <a:ext cx="7452360" cy="548640"/>
          </a:xfrm>
          <a:prstGeom prst="rect">
            <a:avLst/>
          </a:prstGeom>
          <a:noFill/>
          <a:ln/>
        </p:spPr>
        <p:txBody>
          <a:bodyPr wrap="square" lIns="0" tIns="0" rIns="0" bIns="0" rtlCol="0" anchor="ctr"/>
          <a:lstStyle/>
          <a:p>
            <a:pPr algn="l" indent="0" marL="0">
              <a:buNone/>
            </a:pPr>
            <a:r>
              <a:rPr lang="en-US" sz="2800" b="1" dirty="0">
                <a:solidFill>
                  <a:schemeClr val="bg1"/>
                </a:solidFill>
                <a:latin typeface="Arial" pitchFamily="34" charset="0"/>
                <a:ea typeface="Arial" pitchFamily="34" charset="-122"/>
                <a:cs typeface="Arial" pitchFamily="34" charset="-120"/>
              </a:rPr>
              <a:t>Quick check</a:t>
            </a:r>
            <a:endParaRPr lang="en-US" sz="2800" dirty="0"/>
          </a:p>
        </p:txBody>
      </p:sp>
      <p:pic>
        <p:nvPicPr>
          <p:cNvPr id="3" name="Icon 6" descr="Section 6 icon">    </p:cNvPr>
          <p:cNvPicPr>
            <a:picLocks noChangeAspect="1"/>
          </p:cNvPicPr>
          <p:nvPr/>
        </p:nvPicPr>
        <p:blipFill>
          <a:blip r:embed="rId1"/>
          <a:stretch>
            <a:fillRect/>
          </a:stretch>
        </p:blipFill>
        <p:spPr>
          <a:xfrm>
            <a:off x="502920" y="201168"/>
            <a:ext cx="566928" cy="627239"/>
          </a:xfrm>
          <a:prstGeom prst="rect">
            <a:avLst/>
          </a:prstGeom>
        </p:spPr>
      </p:pic>
      <p:sp>
        <p:nvSpPr>
          <p:cNvPr id="4" name="Tag Quick check"/>
          <p:cNvSpPr/>
          <p:nvPr/>
        </p:nvSpPr>
        <p:spPr>
          <a:xfrm>
            <a:off x="1234440" y="45720"/>
            <a:ext cx="1051560" cy="219456"/>
          </a:xfrm>
          <a:prstGeom prst="roundRect">
            <a:avLst>
              <a:gd name="adj" fmla="val 41667"/>
            </a:avLst>
          </a:prstGeom>
          <a:solidFill>
            <a:srgbClr val="F6B93B"/>
          </a:solidFill>
          <a:ln/>
        </p:spPr>
        <p:txBody>
          <a:bodyPr wrap="square" lIns="0" tIns="0" rIns="0" bIns="0" rtlCol="0" anchor="ctr"/>
          <a:lstStyle/>
          <a:p>
            <a:pPr algn="ctr" indent="0" marL="0">
              <a:buNone/>
            </a:pPr>
            <a:r>
              <a:rPr lang="en-US" sz="1000" b="1" dirty="0">
                <a:solidFill>
                  <a:srgbClr val="241703"/>
                </a:solidFill>
              </a:rPr>
              <a:t>Quick check</a:t>
            </a:r>
            <a:endParaRPr lang="en-US" sz="1000" dirty="0"/>
          </a:p>
        </p:txBody>
      </p:sp>
      <p:sp>
        <p:nvSpPr>
          <p:cNvPr id="5" name="Text 2"/>
          <p:cNvSpPr txBox="1"/>
          <p:nvPr/>
        </p:nvSpPr>
        <p:spPr>
          <a:xfrm>
            <a:off x="502920" y="960120"/>
            <a:ext cx="8138160" cy="411480"/>
          </a:xfrm>
          <a:prstGeom prst="rect">
            <a:avLst/>
          </a:prstGeom>
          <a:noFill/>
          <a:ln/>
        </p:spPr>
        <p:txBody>
          <a:bodyPr wrap="square" lIns="0" tIns="0" rIns="0" bIns="0" rtlCol="0" anchor="t"/>
          <a:lstStyle/>
          <a:p>
            <a:pPr algn="l" indent="0" marL="0">
              <a:buNone/>
            </a:pPr>
            <a:r>
              <a:rPr lang="en-US" sz="1800" b="1" dirty="0">
                <a:solidFill>
                  <a:schemeClr val="bg1"/>
                </a:solidFill>
              </a:rPr>
              <a:t>What is the name of Li₂O?</a:t>
            </a:r>
            <a:endParaRPr lang="en-US" sz="1800" dirty="0"/>
          </a:p>
        </p:txBody>
      </p:sp>
      <p:sp>
        <p:nvSpPr>
          <p:cNvPr id="6" name="Option A"/>
          <p:cNvSpPr/>
          <p:nvPr/>
        </p:nvSpPr>
        <p:spPr>
          <a:xfrm>
            <a:off x="502920" y="1508760"/>
            <a:ext cx="8138160" cy="438912"/>
          </a:xfrm>
          <a:prstGeom prst="roundRect">
            <a:avLst>
              <a:gd name="adj" fmla="val 20833"/>
            </a:avLst>
          </a:prstGeom>
          <a:solidFill>
            <a:schemeClr val="tx2"/>
          </a:solidFill>
          <a:ln w="12700">
            <a:solidFill>
              <a:srgbClr val="2A3A55"/>
            </a:solidFill>
            <a:prstDash val="solid"/>
          </a:ln>
        </p:spPr>
      </p:sp>
      <p:sp>
        <p:nvSpPr>
          <p:cNvPr id="7" name="Letter"/>
          <p:cNvSpPr/>
          <p:nvPr/>
        </p:nvSpPr>
        <p:spPr>
          <a:xfrm>
            <a:off x="621792" y="1591056"/>
            <a:ext cx="292608" cy="274320"/>
          </a:xfrm>
          <a:prstGeom prst="roundRect">
            <a:avLst>
              <a:gd name="adj" fmla="val 20000"/>
            </a:avLst>
          </a:prstGeom>
          <a:solidFill>
            <a:srgbClr val="2A3A55"/>
          </a:solidFill>
          <a:ln/>
        </p:spPr>
        <p:txBody>
          <a:bodyPr wrap="square" lIns="0" tIns="0" rIns="0" bIns="0" rtlCol="0" anchor="ctr"/>
          <a:lstStyle/>
          <a:p>
            <a:pPr algn="ctr" indent="0" marL="0">
              <a:buNone/>
            </a:pPr>
            <a:r>
              <a:rPr lang="en-US" sz="1200" b="1" dirty="0">
                <a:solidFill>
                  <a:srgbClr val="E6EDF7"/>
                </a:solidFill>
              </a:rPr>
              <a:t>A</a:t>
            </a:r>
            <a:endParaRPr lang="en-US" sz="1200" dirty="0"/>
          </a:p>
        </p:txBody>
      </p:sp>
      <p:sp>
        <p:nvSpPr>
          <p:cNvPr id="8" name="Text 5"/>
          <p:cNvSpPr txBox="1"/>
          <p:nvPr/>
        </p:nvSpPr>
        <p:spPr>
          <a:xfrm>
            <a:off x="1024128" y="1563624"/>
            <a:ext cx="7498080" cy="347472"/>
          </a:xfrm>
          <a:prstGeom prst="rect">
            <a:avLst/>
          </a:prstGeom>
          <a:noFill/>
          <a:ln/>
        </p:spPr>
        <p:txBody>
          <a:bodyPr wrap="square" lIns="0" tIns="0" rIns="0" bIns="0" rtlCol="0" anchor="ctr"/>
          <a:lstStyle/>
          <a:p>
            <a:pPr algn="l" indent="0" marL="0">
              <a:buNone/>
            </a:pPr>
            <a:r>
              <a:rPr lang="en-US" sz="1500" dirty="0">
                <a:solidFill>
                  <a:schemeClr val="bg1"/>
                </a:solidFill>
              </a:rPr>
              <a:t>dilithium oxide</a:t>
            </a:r>
            <a:endParaRPr lang="en-US" sz="1500" dirty="0"/>
          </a:p>
        </p:txBody>
      </p:sp>
      <p:sp>
        <p:nvSpPr>
          <p:cNvPr id="9" name="Option B"/>
          <p:cNvSpPr/>
          <p:nvPr/>
        </p:nvSpPr>
        <p:spPr>
          <a:xfrm>
            <a:off x="502920" y="2039112"/>
            <a:ext cx="8138160" cy="438912"/>
          </a:xfrm>
          <a:prstGeom prst="roundRect">
            <a:avLst>
              <a:gd name="adj" fmla="val 20833"/>
            </a:avLst>
          </a:prstGeom>
          <a:solidFill>
            <a:schemeClr val="tx2"/>
          </a:solidFill>
          <a:ln w="12700">
            <a:solidFill>
              <a:srgbClr val="2A3A55"/>
            </a:solidFill>
            <a:prstDash val="solid"/>
          </a:ln>
        </p:spPr>
      </p:sp>
      <p:sp>
        <p:nvSpPr>
          <p:cNvPr id="10" name="Letter"/>
          <p:cNvSpPr/>
          <p:nvPr/>
        </p:nvSpPr>
        <p:spPr>
          <a:xfrm>
            <a:off x="621792" y="2121408"/>
            <a:ext cx="292608" cy="274320"/>
          </a:xfrm>
          <a:prstGeom prst="roundRect">
            <a:avLst>
              <a:gd name="adj" fmla="val 20000"/>
            </a:avLst>
          </a:prstGeom>
          <a:solidFill>
            <a:srgbClr val="2A3A55"/>
          </a:solidFill>
          <a:ln/>
        </p:spPr>
        <p:txBody>
          <a:bodyPr wrap="square" lIns="0" tIns="0" rIns="0" bIns="0" rtlCol="0" anchor="ctr"/>
          <a:lstStyle/>
          <a:p>
            <a:pPr algn="ctr" indent="0" marL="0">
              <a:buNone/>
            </a:pPr>
            <a:r>
              <a:rPr lang="en-US" sz="1200" b="1" dirty="0">
                <a:solidFill>
                  <a:srgbClr val="E6EDF7"/>
                </a:solidFill>
              </a:rPr>
              <a:t>B</a:t>
            </a:r>
            <a:endParaRPr lang="en-US" sz="1200" dirty="0"/>
          </a:p>
        </p:txBody>
      </p:sp>
      <p:sp>
        <p:nvSpPr>
          <p:cNvPr id="11" name="Text 8"/>
          <p:cNvSpPr txBox="1"/>
          <p:nvPr/>
        </p:nvSpPr>
        <p:spPr>
          <a:xfrm>
            <a:off x="1024128" y="2093976"/>
            <a:ext cx="7498080" cy="347472"/>
          </a:xfrm>
          <a:prstGeom prst="rect">
            <a:avLst/>
          </a:prstGeom>
          <a:noFill/>
          <a:ln/>
        </p:spPr>
        <p:txBody>
          <a:bodyPr wrap="square" lIns="0" tIns="0" rIns="0" bIns="0" rtlCol="0" anchor="ctr"/>
          <a:lstStyle/>
          <a:p>
            <a:pPr algn="l" indent="0" marL="0">
              <a:buNone/>
            </a:pPr>
            <a:r>
              <a:rPr lang="en-US" sz="1500" dirty="0">
                <a:solidFill>
                  <a:schemeClr val="bg1"/>
                </a:solidFill>
              </a:rPr>
              <a:t>lithium oxygen</a:t>
            </a:r>
            <a:endParaRPr lang="en-US" sz="1500" dirty="0"/>
          </a:p>
        </p:txBody>
      </p:sp>
      <p:sp>
        <p:nvSpPr>
          <p:cNvPr id="12" name="Option C"/>
          <p:cNvSpPr/>
          <p:nvPr/>
        </p:nvSpPr>
        <p:spPr>
          <a:xfrm>
            <a:off x="502920" y="2569464"/>
            <a:ext cx="8138160" cy="438912"/>
          </a:xfrm>
          <a:prstGeom prst="roundRect">
            <a:avLst>
              <a:gd name="adj" fmla="val 20833"/>
            </a:avLst>
          </a:prstGeom>
          <a:solidFill>
            <a:schemeClr val="tx2"/>
          </a:solidFill>
          <a:ln w="12700">
            <a:solidFill>
              <a:srgbClr val="2A3A55"/>
            </a:solidFill>
            <a:prstDash val="solid"/>
          </a:ln>
        </p:spPr>
      </p:sp>
      <p:sp>
        <p:nvSpPr>
          <p:cNvPr id="13" name="Letter"/>
          <p:cNvSpPr/>
          <p:nvPr/>
        </p:nvSpPr>
        <p:spPr>
          <a:xfrm>
            <a:off x="621792" y="2651760"/>
            <a:ext cx="292608" cy="274320"/>
          </a:xfrm>
          <a:prstGeom prst="roundRect">
            <a:avLst>
              <a:gd name="adj" fmla="val 20000"/>
            </a:avLst>
          </a:prstGeom>
          <a:solidFill>
            <a:srgbClr val="2A3A55"/>
          </a:solidFill>
          <a:ln/>
        </p:spPr>
        <p:txBody>
          <a:bodyPr wrap="square" lIns="0" tIns="0" rIns="0" bIns="0" rtlCol="0" anchor="ctr"/>
          <a:lstStyle/>
          <a:p>
            <a:pPr algn="ctr" indent="0" marL="0">
              <a:buNone/>
            </a:pPr>
            <a:r>
              <a:rPr lang="en-US" sz="1200" b="1" dirty="0">
                <a:solidFill>
                  <a:srgbClr val="E6EDF7"/>
                </a:solidFill>
              </a:rPr>
              <a:t>C</a:t>
            </a:r>
            <a:endParaRPr lang="en-US" sz="1200" dirty="0"/>
          </a:p>
        </p:txBody>
      </p:sp>
      <p:sp>
        <p:nvSpPr>
          <p:cNvPr id="14" name="Text 11"/>
          <p:cNvSpPr txBox="1"/>
          <p:nvPr/>
        </p:nvSpPr>
        <p:spPr>
          <a:xfrm>
            <a:off x="1024128" y="2624328"/>
            <a:ext cx="7498080" cy="347472"/>
          </a:xfrm>
          <a:prstGeom prst="rect">
            <a:avLst/>
          </a:prstGeom>
          <a:noFill/>
          <a:ln/>
        </p:spPr>
        <p:txBody>
          <a:bodyPr wrap="square" lIns="0" tIns="0" rIns="0" bIns="0" rtlCol="0" anchor="ctr"/>
          <a:lstStyle/>
          <a:p>
            <a:pPr algn="l" indent="0" marL="0">
              <a:buNone/>
            </a:pPr>
            <a:r>
              <a:rPr lang="en-US" sz="1500" dirty="0">
                <a:solidFill>
                  <a:schemeClr val="bg1"/>
                </a:solidFill>
              </a:rPr>
              <a:t>lithium oxide</a:t>
            </a:r>
            <a:endParaRPr lang="en-US" sz="1500" dirty="0"/>
          </a:p>
        </p:txBody>
      </p:sp>
      <p:sp>
        <p:nvSpPr>
          <p:cNvPr id="15" name="Option D"/>
          <p:cNvSpPr/>
          <p:nvPr/>
        </p:nvSpPr>
        <p:spPr>
          <a:xfrm>
            <a:off x="502920" y="3099816"/>
            <a:ext cx="8138160" cy="438912"/>
          </a:xfrm>
          <a:prstGeom prst="roundRect">
            <a:avLst>
              <a:gd name="adj" fmla="val 20833"/>
            </a:avLst>
          </a:prstGeom>
          <a:solidFill>
            <a:schemeClr val="tx2"/>
          </a:solidFill>
          <a:ln w="12700">
            <a:solidFill>
              <a:srgbClr val="2A3A55"/>
            </a:solidFill>
            <a:prstDash val="solid"/>
          </a:ln>
        </p:spPr>
      </p:sp>
      <p:sp>
        <p:nvSpPr>
          <p:cNvPr id="16" name="Letter"/>
          <p:cNvSpPr/>
          <p:nvPr/>
        </p:nvSpPr>
        <p:spPr>
          <a:xfrm>
            <a:off x="621792" y="3182112"/>
            <a:ext cx="292608" cy="274320"/>
          </a:xfrm>
          <a:prstGeom prst="roundRect">
            <a:avLst>
              <a:gd name="adj" fmla="val 20000"/>
            </a:avLst>
          </a:prstGeom>
          <a:solidFill>
            <a:srgbClr val="2A3A55"/>
          </a:solidFill>
          <a:ln/>
        </p:spPr>
        <p:txBody>
          <a:bodyPr wrap="square" lIns="0" tIns="0" rIns="0" bIns="0" rtlCol="0" anchor="ctr"/>
          <a:lstStyle/>
          <a:p>
            <a:pPr algn="ctr" indent="0" marL="0">
              <a:buNone/>
            </a:pPr>
            <a:r>
              <a:rPr lang="en-US" sz="1200" b="1" dirty="0">
                <a:solidFill>
                  <a:srgbClr val="E6EDF7"/>
                </a:solidFill>
              </a:rPr>
              <a:t>D</a:t>
            </a:r>
            <a:endParaRPr lang="en-US" sz="1200" dirty="0"/>
          </a:p>
        </p:txBody>
      </p:sp>
      <p:sp>
        <p:nvSpPr>
          <p:cNvPr id="17" name="Text 14"/>
          <p:cNvSpPr txBox="1"/>
          <p:nvPr/>
        </p:nvSpPr>
        <p:spPr>
          <a:xfrm>
            <a:off x="1024128" y="3154680"/>
            <a:ext cx="7498080" cy="347472"/>
          </a:xfrm>
          <a:prstGeom prst="rect">
            <a:avLst/>
          </a:prstGeom>
          <a:noFill/>
          <a:ln/>
        </p:spPr>
        <p:txBody>
          <a:bodyPr wrap="square" lIns="0" tIns="0" rIns="0" bIns="0" rtlCol="0" anchor="ctr"/>
          <a:lstStyle/>
          <a:p>
            <a:pPr algn="l" indent="0" marL="0">
              <a:buNone/>
            </a:pPr>
            <a:r>
              <a:rPr lang="en-US" sz="1500" dirty="0">
                <a:solidFill>
                  <a:schemeClr val="bg1"/>
                </a:solidFill>
              </a:rPr>
              <a:t>lithium dioxide</a:t>
            </a:r>
            <a:endParaRPr lang="en-US" sz="15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FB1C7"/>
                </a:solidFill>
              </a:defRPr>
            </a:lvl1pPr>
          </a:lstStyle>
          <a:p>
            <a:pPr algn="l"/>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1234440" y="292608"/>
            <a:ext cx="7452360" cy="548640"/>
          </a:xfrm>
          <a:prstGeom prst="rect">
            <a:avLst/>
          </a:prstGeom>
          <a:noFill/>
          <a:ln/>
        </p:spPr>
        <p:txBody>
          <a:bodyPr wrap="square" lIns="0" tIns="0" rIns="0" bIns="0" rtlCol="0" anchor="ctr"/>
          <a:lstStyle/>
          <a:p>
            <a:pPr algn="l" indent="0" marL="0">
              <a:buNone/>
            </a:pPr>
            <a:r>
              <a:rPr lang="en-US" sz="2800" b="1" dirty="0">
                <a:solidFill>
                  <a:schemeClr val="bg1"/>
                </a:solidFill>
                <a:latin typeface="Arial" pitchFamily="34" charset="0"/>
                <a:ea typeface="Arial" pitchFamily="34" charset="-122"/>
                <a:cs typeface="Arial" pitchFamily="34" charset="-120"/>
              </a:rPr>
              <a:t>Quick check</a:t>
            </a:r>
            <a:endParaRPr lang="en-US" sz="2800" dirty="0"/>
          </a:p>
        </p:txBody>
      </p:sp>
      <p:pic>
        <p:nvPicPr>
          <p:cNvPr id="3" name="Icon 6" descr="Section 6 icon">    </p:cNvPr>
          <p:cNvPicPr>
            <a:picLocks noChangeAspect="1"/>
          </p:cNvPicPr>
          <p:nvPr/>
        </p:nvPicPr>
        <p:blipFill>
          <a:blip r:embed="rId1"/>
          <a:stretch>
            <a:fillRect/>
          </a:stretch>
        </p:blipFill>
        <p:spPr>
          <a:xfrm>
            <a:off x="502920" y="201168"/>
            <a:ext cx="566928" cy="627239"/>
          </a:xfrm>
          <a:prstGeom prst="rect">
            <a:avLst/>
          </a:prstGeom>
        </p:spPr>
      </p:pic>
      <p:sp>
        <p:nvSpPr>
          <p:cNvPr id="4" name="Tag Quick check"/>
          <p:cNvSpPr/>
          <p:nvPr/>
        </p:nvSpPr>
        <p:spPr>
          <a:xfrm>
            <a:off x="1234440" y="45720"/>
            <a:ext cx="1051560" cy="219456"/>
          </a:xfrm>
          <a:prstGeom prst="roundRect">
            <a:avLst>
              <a:gd name="adj" fmla="val 41667"/>
            </a:avLst>
          </a:prstGeom>
          <a:solidFill>
            <a:srgbClr val="F6B93B"/>
          </a:solidFill>
          <a:ln/>
        </p:spPr>
        <p:txBody>
          <a:bodyPr wrap="square" lIns="0" tIns="0" rIns="0" bIns="0" rtlCol="0" anchor="ctr"/>
          <a:lstStyle/>
          <a:p>
            <a:pPr algn="ctr" indent="0" marL="0">
              <a:buNone/>
            </a:pPr>
            <a:r>
              <a:rPr lang="en-US" sz="1000" b="1" dirty="0">
                <a:solidFill>
                  <a:srgbClr val="241703"/>
                </a:solidFill>
              </a:rPr>
              <a:t>Quick check</a:t>
            </a:r>
            <a:endParaRPr lang="en-US" sz="1000" dirty="0"/>
          </a:p>
        </p:txBody>
      </p:sp>
      <p:sp>
        <p:nvSpPr>
          <p:cNvPr id="5" name="Tag Answer"/>
          <p:cNvSpPr/>
          <p:nvPr/>
        </p:nvSpPr>
        <p:spPr>
          <a:xfrm>
            <a:off x="2377440" y="45720"/>
            <a:ext cx="1051560" cy="219456"/>
          </a:xfrm>
          <a:prstGeom prst="roundRect">
            <a:avLst>
              <a:gd name="adj" fmla="val 41667"/>
            </a:avLst>
          </a:prstGeom>
          <a:solidFill>
            <a:srgbClr val="4ADE80"/>
          </a:solidFill>
          <a:ln/>
        </p:spPr>
        <p:txBody>
          <a:bodyPr wrap="square" lIns="0" tIns="0" rIns="0" bIns="0" rtlCol="0" anchor="ctr"/>
          <a:lstStyle/>
          <a:p>
            <a:pPr algn="ctr" indent="0" marL="0">
              <a:buNone/>
            </a:pPr>
            <a:r>
              <a:rPr lang="en-US" sz="1000" b="1" dirty="0">
                <a:solidFill>
                  <a:srgbClr val="06240F"/>
                </a:solidFill>
              </a:rPr>
              <a:t>Answer</a:t>
            </a:r>
            <a:endParaRPr lang="en-US" sz="1000" dirty="0"/>
          </a:p>
        </p:txBody>
      </p:sp>
      <p:sp>
        <p:nvSpPr>
          <p:cNvPr id="6" name="Text 3"/>
          <p:cNvSpPr txBox="1"/>
          <p:nvPr/>
        </p:nvSpPr>
        <p:spPr>
          <a:xfrm>
            <a:off x="502920" y="960120"/>
            <a:ext cx="8138160" cy="411480"/>
          </a:xfrm>
          <a:prstGeom prst="rect">
            <a:avLst/>
          </a:prstGeom>
          <a:noFill/>
          <a:ln/>
        </p:spPr>
        <p:txBody>
          <a:bodyPr wrap="square" lIns="0" tIns="0" rIns="0" bIns="0" rtlCol="0" anchor="t"/>
          <a:lstStyle/>
          <a:p>
            <a:pPr algn="l" indent="0" marL="0">
              <a:buNone/>
            </a:pPr>
            <a:r>
              <a:rPr lang="en-US" sz="1800" b="1" dirty="0">
                <a:solidFill>
                  <a:schemeClr val="bg1"/>
                </a:solidFill>
              </a:rPr>
              <a:t>What is the name of Li₂O?</a:t>
            </a:r>
            <a:endParaRPr lang="en-US" sz="1800" dirty="0"/>
          </a:p>
        </p:txBody>
      </p:sp>
      <p:sp>
        <p:nvSpPr>
          <p:cNvPr id="7" name="Option A"/>
          <p:cNvSpPr/>
          <p:nvPr/>
        </p:nvSpPr>
        <p:spPr>
          <a:xfrm>
            <a:off x="502920" y="1508760"/>
            <a:ext cx="8138160" cy="438912"/>
          </a:xfrm>
          <a:prstGeom prst="roundRect">
            <a:avLst>
              <a:gd name="adj" fmla="val 20833"/>
            </a:avLst>
          </a:prstGeom>
          <a:solidFill>
            <a:schemeClr val="tx2"/>
          </a:solidFill>
          <a:ln w="12700">
            <a:solidFill>
              <a:srgbClr val="2A3A55"/>
            </a:solidFill>
            <a:prstDash val="solid"/>
          </a:ln>
        </p:spPr>
      </p:sp>
      <p:sp>
        <p:nvSpPr>
          <p:cNvPr id="8" name="Letter"/>
          <p:cNvSpPr/>
          <p:nvPr/>
        </p:nvSpPr>
        <p:spPr>
          <a:xfrm>
            <a:off x="621792" y="1591056"/>
            <a:ext cx="292608" cy="274320"/>
          </a:xfrm>
          <a:prstGeom prst="roundRect">
            <a:avLst>
              <a:gd name="adj" fmla="val 20000"/>
            </a:avLst>
          </a:prstGeom>
          <a:solidFill>
            <a:srgbClr val="2A3A55"/>
          </a:solidFill>
          <a:ln/>
        </p:spPr>
        <p:txBody>
          <a:bodyPr wrap="square" lIns="0" tIns="0" rIns="0" bIns="0" rtlCol="0" anchor="ctr"/>
          <a:lstStyle/>
          <a:p>
            <a:pPr algn="ctr" indent="0" marL="0">
              <a:buNone/>
            </a:pPr>
            <a:r>
              <a:rPr lang="en-US" sz="1200" b="1" dirty="0">
                <a:solidFill>
                  <a:srgbClr val="E6EDF7"/>
                </a:solidFill>
              </a:rPr>
              <a:t>A</a:t>
            </a:r>
            <a:endParaRPr lang="en-US" sz="1200" dirty="0"/>
          </a:p>
        </p:txBody>
      </p:sp>
      <p:sp>
        <p:nvSpPr>
          <p:cNvPr id="9" name="Text 6"/>
          <p:cNvSpPr txBox="1"/>
          <p:nvPr/>
        </p:nvSpPr>
        <p:spPr>
          <a:xfrm>
            <a:off x="1024128" y="1563624"/>
            <a:ext cx="7498080" cy="347472"/>
          </a:xfrm>
          <a:prstGeom prst="rect">
            <a:avLst/>
          </a:prstGeom>
          <a:noFill/>
          <a:ln/>
        </p:spPr>
        <p:txBody>
          <a:bodyPr wrap="square" lIns="0" tIns="0" rIns="0" bIns="0" rtlCol="0" anchor="ctr"/>
          <a:lstStyle/>
          <a:p>
            <a:pPr algn="l" indent="0" marL="0">
              <a:buNone/>
            </a:pPr>
            <a:r>
              <a:rPr lang="en-US" sz="1500" dirty="0">
                <a:solidFill>
                  <a:srgbClr val="9FB1C7"/>
                </a:solidFill>
              </a:rPr>
              <a:t>dilithium oxide</a:t>
            </a:r>
            <a:endParaRPr lang="en-US" sz="1500" dirty="0"/>
          </a:p>
        </p:txBody>
      </p:sp>
      <p:sp>
        <p:nvSpPr>
          <p:cNvPr id="10" name="Option B"/>
          <p:cNvSpPr/>
          <p:nvPr/>
        </p:nvSpPr>
        <p:spPr>
          <a:xfrm>
            <a:off x="502920" y="2039112"/>
            <a:ext cx="8138160" cy="438912"/>
          </a:xfrm>
          <a:prstGeom prst="roundRect">
            <a:avLst>
              <a:gd name="adj" fmla="val 20833"/>
            </a:avLst>
          </a:prstGeom>
          <a:solidFill>
            <a:schemeClr val="tx2"/>
          </a:solidFill>
          <a:ln w="12700">
            <a:solidFill>
              <a:srgbClr val="2A3A55"/>
            </a:solidFill>
            <a:prstDash val="solid"/>
          </a:ln>
        </p:spPr>
      </p:sp>
      <p:sp>
        <p:nvSpPr>
          <p:cNvPr id="11" name="Letter"/>
          <p:cNvSpPr/>
          <p:nvPr/>
        </p:nvSpPr>
        <p:spPr>
          <a:xfrm>
            <a:off x="621792" y="2121408"/>
            <a:ext cx="292608" cy="274320"/>
          </a:xfrm>
          <a:prstGeom prst="roundRect">
            <a:avLst>
              <a:gd name="adj" fmla="val 20000"/>
            </a:avLst>
          </a:prstGeom>
          <a:solidFill>
            <a:srgbClr val="2A3A55"/>
          </a:solidFill>
          <a:ln/>
        </p:spPr>
        <p:txBody>
          <a:bodyPr wrap="square" lIns="0" tIns="0" rIns="0" bIns="0" rtlCol="0" anchor="ctr"/>
          <a:lstStyle/>
          <a:p>
            <a:pPr algn="ctr" indent="0" marL="0">
              <a:buNone/>
            </a:pPr>
            <a:r>
              <a:rPr lang="en-US" sz="1200" b="1" dirty="0">
                <a:solidFill>
                  <a:srgbClr val="E6EDF7"/>
                </a:solidFill>
              </a:rPr>
              <a:t>B</a:t>
            </a:r>
            <a:endParaRPr lang="en-US" sz="1200" dirty="0"/>
          </a:p>
        </p:txBody>
      </p:sp>
      <p:sp>
        <p:nvSpPr>
          <p:cNvPr id="12" name="Text 9"/>
          <p:cNvSpPr txBox="1"/>
          <p:nvPr/>
        </p:nvSpPr>
        <p:spPr>
          <a:xfrm>
            <a:off x="1024128" y="2093976"/>
            <a:ext cx="7498080" cy="347472"/>
          </a:xfrm>
          <a:prstGeom prst="rect">
            <a:avLst/>
          </a:prstGeom>
          <a:noFill/>
          <a:ln/>
        </p:spPr>
        <p:txBody>
          <a:bodyPr wrap="square" lIns="0" tIns="0" rIns="0" bIns="0" rtlCol="0" anchor="ctr"/>
          <a:lstStyle/>
          <a:p>
            <a:pPr algn="l" indent="0" marL="0">
              <a:buNone/>
            </a:pPr>
            <a:r>
              <a:rPr lang="en-US" sz="1500" dirty="0">
                <a:solidFill>
                  <a:srgbClr val="9FB1C7"/>
                </a:solidFill>
              </a:rPr>
              <a:t>lithium oxygen</a:t>
            </a:r>
            <a:endParaRPr lang="en-US" sz="1500" dirty="0"/>
          </a:p>
        </p:txBody>
      </p:sp>
      <p:sp>
        <p:nvSpPr>
          <p:cNvPr id="13" name="Option C"/>
          <p:cNvSpPr/>
          <p:nvPr/>
        </p:nvSpPr>
        <p:spPr>
          <a:xfrm>
            <a:off x="502920" y="2569464"/>
            <a:ext cx="8138160" cy="438912"/>
          </a:xfrm>
          <a:prstGeom prst="roundRect">
            <a:avLst>
              <a:gd name="adj" fmla="val 20833"/>
            </a:avLst>
          </a:prstGeom>
          <a:solidFill>
            <a:srgbClr val="153D2A"/>
          </a:solidFill>
          <a:ln w="25400">
            <a:solidFill>
              <a:srgbClr val="4ADE80"/>
            </a:solidFill>
            <a:prstDash val="solid"/>
          </a:ln>
        </p:spPr>
      </p:sp>
      <p:sp>
        <p:nvSpPr>
          <p:cNvPr id="14" name="Letter"/>
          <p:cNvSpPr/>
          <p:nvPr/>
        </p:nvSpPr>
        <p:spPr>
          <a:xfrm>
            <a:off x="621792" y="2651760"/>
            <a:ext cx="292608" cy="274320"/>
          </a:xfrm>
          <a:prstGeom prst="roundRect">
            <a:avLst>
              <a:gd name="adj" fmla="val 20000"/>
            </a:avLst>
          </a:prstGeom>
          <a:solidFill>
            <a:srgbClr val="4ADE80"/>
          </a:solidFill>
          <a:ln/>
        </p:spPr>
        <p:txBody>
          <a:bodyPr wrap="square" lIns="0" tIns="0" rIns="0" bIns="0" rtlCol="0" anchor="ctr"/>
          <a:lstStyle/>
          <a:p>
            <a:pPr algn="ctr" indent="0" marL="0">
              <a:buNone/>
            </a:pPr>
            <a:r>
              <a:rPr lang="en-US" sz="1200" b="1" dirty="0">
                <a:solidFill>
                  <a:srgbClr val="06240F"/>
                </a:solidFill>
              </a:rPr>
              <a:t>C</a:t>
            </a:r>
            <a:endParaRPr lang="en-US" sz="1200" dirty="0"/>
          </a:p>
        </p:txBody>
      </p:sp>
      <p:sp>
        <p:nvSpPr>
          <p:cNvPr id="15" name="Text 12"/>
          <p:cNvSpPr txBox="1"/>
          <p:nvPr/>
        </p:nvSpPr>
        <p:spPr>
          <a:xfrm>
            <a:off x="1024128" y="2624328"/>
            <a:ext cx="7498080" cy="347472"/>
          </a:xfrm>
          <a:prstGeom prst="rect">
            <a:avLst/>
          </a:prstGeom>
          <a:noFill/>
          <a:ln/>
        </p:spPr>
        <p:txBody>
          <a:bodyPr wrap="square" lIns="0" tIns="0" rIns="0" bIns="0" rtlCol="0" anchor="ctr"/>
          <a:lstStyle/>
          <a:p>
            <a:pPr algn="l" indent="0" marL="0">
              <a:buNone/>
            </a:pPr>
            <a:r>
              <a:rPr lang="en-US" sz="1500" dirty="0">
                <a:solidFill>
                  <a:schemeClr val="bg1"/>
                </a:solidFill>
              </a:rPr>
              <a:t>lithium oxide</a:t>
            </a:r>
            <a:endParaRPr lang="en-US" sz="1500" dirty="0"/>
          </a:p>
        </p:txBody>
      </p:sp>
      <p:sp>
        <p:nvSpPr>
          <p:cNvPr id="16" name="Option D"/>
          <p:cNvSpPr/>
          <p:nvPr/>
        </p:nvSpPr>
        <p:spPr>
          <a:xfrm>
            <a:off x="502920" y="3099816"/>
            <a:ext cx="8138160" cy="438912"/>
          </a:xfrm>
          <a:prstGeom prst="roundRect">
            <a:avLst>
              <a:gd name="adj" fmla="val 20833"/>
            </a:avLst>
          </a:prstGeom>
          <a:solidFill>
            <a:schemeClr val="tx2"/>
          </a:solidFill>
          <a:ln w="12700">
            <a:solidFill>
              <a:srgbClr val="2A3A55"/>
            </a:solidFill>
            <a:prstDash val="solid"/>
          </a:ln>
        </p:spPr>
      </p:sp>
      <p:sp>
        <p:nvSpPr>
          <p:cNvPr id="17" name="Letter"/>
          <p:cNvSpPr/>
          <p:nvPr/>
        </p:nvSpPr>
        <p:spPr>
          <a:xfrm>
            <a:off x="621792" y="3182112"/>
            <a:ext cx="292608" cy="274320"/>
          </a:xfrm>
          <a:prstGeom prst="roundRect">
            <a:avLst>
              <a:gd name="adj" fmla="val 20000"/>
            </a:avLst>
          </a:prstGeom>
          <a:solidFill>
            <a:srgbClr val="2A3A55"/>
          </a:solidFill>
          <a:ln/>
        </p:spPr>
        <p:txBody>
          <a:bodyPr wrap="square" lIns="0" tIns="0" rIns="0" bIns="0" rtlCol="0" anchor="ctr"/>
          <a:lstStyle/>
          <a:p>
            <a:pPr algn="ctr" indent="0" marL="0">
              <a:buNone/>
            </a:pPr>
            <a:r>
              <a:rPr lang="en-US" sz="1200" b="1" dirty="0">
                <a:solidFill>
                  <a:srgbClr val="E6EDF7"/>
                </a:solidFill>
              </a:rPr>
              <a:t>D</a:t>
            </a:r>
            <a:endParaRPr lang="en-US" sz="1200" dirty="0"/>
          </a:p>
        </p:txBody>
      </p:sp>
      <p:sp>
        <p:nvSpPr>
          <p:cNvPr id="18" name="Text 15"/>
          <p:cNvSpPr txBox="1"/>
          <p:nvPr/>
        </p:nvSpPr>
        <p:spPr>
          <a:xfrm>
            <a:off x="1024128" y="3154680"/>
            <a:ext cx="7498080" cy="347472"/>
          </a:xfrm>
          <a:prstGeom prst="rect">
            <a:avLst/>
          </a:prstGeom>
          <a:noFill/>
          <a:ln/>
        </p:spPr>
        <p:txBody>
          <a:bodyPr wrap="square" lIns="0" tIns="0" rIns="0" bIns="0" rtlCol="0" anchor="ctr"/>
          <a:lstStyle/>
          <a:p>
            <a:pPr algn="l" indent="0" marL="0">
              <a:buNone/>
            </a:pPr>
            <a:r>
              <a:rPr lang="en-US" sz="1500" dirty="0">
                <a:solidFill>
                  <a:srgbClr val="9FB1C7"/>
                </a:solidFill>
              </a:rPr>
              <a:t>lithium dioxide</a:t>
            </a:r>
            <a:endParaRPr lang="en-US" sz="1500" dirty="0"/>
          </a:p>
        </p:txBody>
      </p:sp>
      <p:sp>
        <p:nvSpPr>
          <p:cNvPr id="19" name="Why"/>
          <p:cNvSpPr/>
          <p:nvPr/>
        </p:nvSpPr>
        <p:spPr>
          <a:xfrm>
            <a:off x="502920" y="3675888"/>
            <a:ext cx="8138160" cy="566928"/>
          </a:xfrm>
          <a:prstGeom prst="roundRect">
            <a:avLst>
              <a:gd name="adj" fmla="val 16129"/>
            </a:avLst>
          </a:prstGeom>
          <a:solidFill>
            <a:srgbClr val="153D2A"/>
          </a:solidFill>
          <a:ln w="12700">
            <a:solidFill>
              <a:srgbClr val="2F6B47"/>
            </a:solidFill>
            <a:prstDash val="solid"/>
          </a:ln>
        </p:spPr>
      </p:sp>
      <p:sp>
        <p:nvSpPr>
          <p:cNvPr id="20" name="Text 17"/>
          <p:cNvSpPr txBox="1"/>
          <p:nvPr/>
        </p:nvSpPr>
        <p:spPr>
          <a:xfrm>
            <a:off x="685800" y="3730752"/>
            <a:ext cx="7772400" cy="475488"/>
          </a:xfrm>
          <a:prstGeom prst="rect">
            <a:avLst/>
          </a:prstGeom>
          <a:noFill/>
          <a:ln/>
        </p:spPr>
        <p:txBody>
          <a:bodyPr wrap="square" lIns="0" tIns="0" rIns="0" bIns="0" rtlCol="0" anchor="ctr"/>
          <a:lstStyle/>
          <a:p>
            <a:pPr algn="l" indent="0" marL="0">
              <a:buNone/>
            </a:pPr>
            <a:r>
              <a:rPr lang="en-US" sz="1400" b="1" dirty="0">
                <a:solidFill>
                  <a:schemeClr val="accent4"/>
                </a:solidFill>
              </a:rPr>
              <a:t>Why: </a:t>
            </a:r>
            <a:pPr algn="l" indent="0" marL="0">
              <a:buNone/>
            </a:pPr>
            <a:r>
              <a:rPr lang="en-US" sz="1400" dirty="0">
                <a:solidFill>
                  <a:schemeClr val="bg1"/>
                </a:solidFill>
              </a:rPr>
              <a:t>Metal name first, then oxygen → oxide. Subscripts are not part of the name.</a:t>
            </a:r>
            <a:endParaRPr lang="en-US" sz="14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FB1C7"/>
                </a:solidFill>
              </a:defRPr>
            </a:lvl1pPr>
          </a:lstStyle>
          <a:p>
            <a:pPr algn="l"/>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1" type="body" hasCustomPrompt="1"/>
          </p:nvPr>
        </p:nvSpPr>
        <p:spPr>
          <a:xfrm>
            <a:off x="1645920" y="274320"/>
            <a:ext cx="6949440" cy="274320"/>
          </a:xfrm>
          <a:prstGeom prst="rect">
            <a:avLst/>
          </a:prstGeom>
          <a:noFill/>
          <a:ln/>
        </p:spPr>
        <p:txBody>
          <a:bodyPr wrap="square" lIns="0" tIns="0" rIns="0" bIns="0" rtlCol="0"/>
          <a:lstStyle/>
          <a:p>
            <a:pPr indent="0" marL="0">
              <a:buNone/>
            </a:pPr>
            <a:r>
              <a:rPr lang="en-US" sz="1300" dirty="0">
                <a:solidFill>
                  <a:schemeClr val="bg2"/>
                </a:solidFill>
              </a:rPr>
              <a:t>Section 7 of 9 · about 3 min</a:t>
            </a:r>
            <a:endParaRPr lang="en-US" sz="1300" dirty="0"/>
          </a:p>
        </p:txBody>
      </p:sp>
      <p:sp>
        <p:nvSpPr>
          <p:cNvPr id="3" name="Text 0"/>
          <p:cNvSpPr/>
          <p:nvPr>
            <p:ph idx="100" type="title" hasCustomPrompt="1"/>
          </p:nvPr>
        </p:nvSpPr>
        <p:spPr>
          <a:xfrm>
            <a:off x="1645920" y="548640"/>
            <a:ext cx="7040880" cy="685800"/>
          </a:xfrm>
          <a:prstGeom prst="rect">
            <a:avLst/>
          </a:prstGeom>
          <a:noFill/>
          <a:ln/>
        </p:spPr>
        <p:txBody>
          <a:bodyPr wrap="square" lIns="0" tIns="0" rIns="0" bIns="0" rtlCol="0" anchor="ctr"/>
          <a:lstStyle/>
          <a:p>
            <a:pPr algn="l" indent="0" marL="0">
              <a:buNone/>
            </a:pPr>
            <a:r>
              <a:rPr lang="en-US" sz="3000" b="1" dirty="0">
                <a:solidFill>
                  <a:schemeClr val="bg1"/>
                </a:solidFill>
                <a:latin typeface="Arial" pitchFamily="34" charset="0"/>
                <a:ea typeface="Arial" pitchFamily="34" charset="-122"/>
                <a:cs typeface="Arial" pitchFamily="34" charset="-120"/>
              </a:rPr>
              <a:t>Crystals and properties</a:t>
            </a:r>
            <a:endParaRPr lang="en-US" sz="3000" dirty="0"/>
          </a:p>
        </p:txBody>
      </p:sp>
      <p:pic>
        <p:nvPicPr>
          <p:cNvPr id="4" name="Icon 7" descr="Section 7 icon">    </p:cNvPr>
          <p:cNvPicPr>
            <a:picLocks noChangeAspect="1"/>
          </p:cNvPicPr>
          <p:nvPr/>
        </p:nvPicPr>
        <p:blipFill>
          <a:blip r:embed="rId1"/>
          <a:stretch>
            <a:fillRect/>
          </a:stretch>
        </p:blipFill>
        <p:spPr>
          <a:xfrm>
            <a:off x="502920" y="274320"/>
            <a:ext cx="914400" cy="1011677"/>
          </a:xfrm>
          <a:prstGeom prst="rect">
            <a:avLst/>
          </a:prstGeom>
        </p:spPr>
      </p:pic>
      <p:sp>
        <p:nvSpPr>
          <p:cNvPr id="5" name="In this section"/>
          <p:cNvSpPr/>
          <p:nvPr/>
        </p:nvSpPr>
        <p:spPr>
          <a:xfrm>
            <a:off x="502920" y="1600200"/>
            <a:ext cx="3931920" cy="2926080"/>
          </a:xfrm>
          <a:prstGeom prst="roundRect">
            <a:avLst>
              <a:gd name="adj" fmla="val 3125"/>
            </a:avLst>
          </a:prstGeom>
          <a:solidFill>
            <a:schemeClr val="tx2"/>
          </a:solidFill>
          <a:ln w="12700">
            <a:solidFill>
              <a:srgbClr val="2A3A55"/>
            </a:solidFill>
            <a:prstDash val="solid"/>
          </a:ln>
        </p:spPr>
      </p:sp>
      <p:sp>
        <p:nvSpPr>
          <p:cNvPr id="6" name="Text 3"/>
          <p:cNvSpPr txBox="1"/>
          <p:nvPr/>
        </p:nvSpPr>
        <p:spPr>
          <a:xfrm>
            <a:off x="731520" y="1783080"/>
            <a:ext cx="3474720" cy="320040"/>
          </a:xfrm>
          <a:prstGeom prst="rect">
            <a:avLst/>
          </a:prstGeom>
          <a:noFill/>
          <a:ln/>
        </p:spPr>
        <p:txBody>
          <a:bodyPr wrap="square" lIns="0" tIns="0" rIns="0" bIns="0" rtlCol="0" anchor="t"/>
          <a:lstStyle/>
          <a:p>
            <a:pPr algn="l" indent="0" marL="0">
              <a:buNone/>
            </a:pPr>
            <a:r>
              <a:rPr lang="en-US" sz="1600" b="1" dirty="0">
                <a:solidFill>
                  <a:schemeClr val="accent1"/>
                </a:solidFill>
              </a:rPr>
              <a:t>In this section</a:t>
            </a:r>
            <a:endParaRPr lang="en-US" sz="1600" dirty="0"/>
          </a:p>
        </p:txBody>
      </p:sp>
      <p:sp>
        <p:nvSpPr>
          <p:cNvPr id="7" name="Tag Read"/>
          <p:cNvSpPr/>
          <p:nvPr/>
        </p:nvSpPr>
        <p:spPr>
          <a:xfrm>
            <a:off x="731520" y="2240280"/>
            <a:ext cx="1051560" cy="219456"/>
          </a:xfrm>
          <a:prstGeom prst="roundRect">
            <a:avLst>
              <a:gd name="adj" fmla="val 41667"/>
            </a:avLst>
          </a:prstGeom>
          <a:solidFill>
            <a:srgbClr val="25305A"/>
          </a:solidFill>
          <a:ln/>
        </p:spPr>
        <p:txBody>
          <a:bodyPr wrap="square" lIns="0" tIns="0" rIns="0" bIns="0" rtlCol="0" anchor="ctr"/>
          <a:lstStyle/>
          <a:p>
            <a:pPr algn="ctr" indent="0" marL="0">
              <a:buNone/>
            </a:pPr>
            <a:r>
              <a:rPr lang="en-US" sz="1000" b="1" dirty="0">
                <a:solidFill>
                  <a:srgbClr val="C3CFFC"/>
                </a:solidFill>
              </a:rPr>
              <a:t>Read</a:t>
            </a:r>
            <a:endParaRPr lang="en-US" sz="1000" dirty="0"/>
          </a:p>
        </p:txBody>
      </p:sp>
      <p:sp>
        <p:nvSpPr>
          <p:cNvPr id="8" name="Text 5"/>
          <p:cNvSpPr txBox="1"/>
          <p:nvPr/>
        </p:nvSpPr>
        <p:spPr>
          <a:xfrm>
            <a:off x="1920240" y="2212848"/>
            <a:ext cx="2377440" cy="292608"/>
          </a:xfrm>
          <a:prstGeom prst="rect">
            <a:avLst/>
          </a:prstGeom>
          <a:noFill/>
          <a:ln/>
        </p:spPr>
        <p:txBody>
          <a:bodyPr wrap="square" lIns="0" tIns="0" rIns="0" bIns="0" rtlCol="0" anchor="t"/>
          <a:lstStyle/>
          <a:p>
            <a:pPr algn="l" indent="0" marL="0">
              <a:buNone/>
            </a:pPr>
            <a:r>
              <a:rPr lang="en-US" sz="1400" dirty="0">
                <a:solidFill>
                  <a:schemeClr val="bg1"/>
                </a:solidFill>
              </a:rPr>
              <a:t>Ions stack into crystals</a:t>
            </a:r>
            <a:endParaRPr lang="en-US" sz="1400" dirty="0"/>
          </a:p>
        </p:txBody>
      </p:sp>
      <p:sp>
        <p:nvSpPr>
          <p:cNvPr id="9" name="Tag Try it"/>
          <p:cNvSpPr/>
          <p:nvPr/>
        </p:nvSpPr>
        <p:spPr>
          <a:xfrm>
            <a:off x="731520" y="2743200"/>
            <a:ext cx="1051560" cy="219456"/>
          </a:xfrm>
          <a:prstGeom prst="roundRect">
            <a:avLst>
              <a:gd name="adj" fmla="val 41667"/>
            </a:avLst>
          </a:prstGeom>
          <a:solidFill>
            <a:srgbClr val="5FE1FF"/>
          </a:solidFill>
          <a:ln/>
        </p:spPr>
        <p:txBody>
          <a:bodyPr wrap="square" lIns="0" tIns="0" rIns="0" bIns="0" rtlCol="0" anchor="ctr"/>
          <a:lstStyle/>
          <a:p>
            <a:pPr algn="ctr" indent="0" marL="0">
              <a:buNone/>
            </a:pPr>
            <a:r>
              <a:rPr lang="en-US" sz="1000" b="1" dirty="0">
                <a:solidFill>
                  <a:srgbClr val="0B2630"/>
                </a:solidFill>
              </a:rPr>
              <a:t>Try it</a:t>
            </a:r>
            <a:endParaRPr lang="en-US" sz="1000" dirty="0"/>
          </a:p>
        </p:txBody>
      </p:sp>
      <p:sp>
        <p:nvSpPr>
          <p:cNvPr id="10" name="Text 7"/>
          <p:cNvSpPr txBox="1"/>
          <p:nvPr/>
        </p:nvSpPr>
        <p:spPr>
          <a:xfrm>
            <a:off x="1920240" y="2715768"/>
            <a:ext cx="2377440" cy="292608"/>
          </a:xfrm>
          <a:prstGeom prst="rect">
            <a:avLst/>
          </a:prstGeom>
          <a:noFill/>
          <a:ln/>
        </p:spPr>
        <p:txBody>
          <a:bodyPr wrap="square" lIns="0" tIns="0" rIns="0" bIns="0" rtlCol="0" anchor="t"/>
          <a:lstStyle/>
          <a:p>
            <a:pPr algn="l" indent="0" marL="0">
              <a:buNone/>
            </a:pPr>
            <a:r>
              <a:rPr lang="en-US" sz="1400" dirty="0">
                <a:solidFill>
                  <a:schemeClr val="bg1"/>
                </a:solidFill>
              </a:rPr>
              <a:t>Crystal simulator</a:t>
            </a:r>
            <a:endParaRPr lang="en-US" sz="1400" dirty="0"/>
          </a:p>
        </p:txBody>
      </p:sp>
      <p:sp>
        <p:nvSpPr>
          <p:cNvPr id="11" name="Tag Try it"/>
          <p:cNvSpPr/>
          <p:nvPr/>
        </p:nvSpPr>
        <p:spPr>
          <a:xfrm>
            <a:off x="731520" y="3246120"/>
            <a:ext cx="1051560" cy="219456"/>
          </a:xfrm>
          <a:prstGeom prst="roundRect">
            <a:avLst>
              <a:gd name="adj" fmla="val 41667"/>
            </a:avLst>
          </a:prstGeom>
          <a:solidFill>
            <a:srgbClr val="5FE1FF"/>
          </a:solidFill>
          <a:ln/>
        </p:spPr>
        <p:txBody>
          <a:bodyPr wrap="square" lIns="0" tIns="0" rIns="0" bIns="0" rtlCol="0" anchor="ctr"/>
          <a:lstStyle/>
          <a:p>
            <a:pPr algn="ctr" indent="0" marL="0">
              <a:buNone/>
            </a:pPr>
            <a:r>
              <a:rPr lang="en-US" sz="1000" b="1" dirty="0">
                <a:solidFill>
                  <a:srgbClr val="0B2630"/>
                </a:solidFill>
              </a:rPr>
              <a:t>Try it</a:t>
            </a:r>
            <a:endParaRPr lang="en-US" sz="1000" dirty="0"/>
          </a:p>
        </p:txBody>
      </p:sp>
      <p:sp>
        <p:nvSpPr>
          <p:cNvPr id="12" name="Text 9"/>
          <p:cNvSpPr txBox="1"/>
          <p:nvPr/>
        </p:nvSpPr>
        <p:spPr>
          <a:xfrm>
            <a:off x="1920240" y="3218688"/>
            <a:ext cx="2377440" cy="292608"/>
          </a:xfrm>
          <a:prstGeom prst="rect">
            <a:avLst/>
          </a:prstGeom>
          <a:noFill/>
          <a:ln/>
        </p:spPr>
        <p:txBody>
          <a:bodyPr wrap="square" lIns="0" tIns="0" rIns="0" bIns="0" rtlCol="0" anchor="t"/>
          <a:lstStyle/>
          <a:p>
            <a:pPr algn="l" indent="0" marL="0">
              <a:buNone/>
            </a:pPr>
            <a:r>
              <a:rPr lang="en-US" sz="1400" dirty="0">
                <a:solidFill>
                  <a:schemeClr val="bg1"/>
                </a:solidFill>
              </a:rPr>
              <a:t>True or false?</a:t>
            </a:r>
            <a:endParaRPr lang="en-US" sz="1400" dirty="0"/>
          </a:p>
        </p:txBody>
      </p:sp>
      <p:sp>
        <p:nvSpPr>
          <p:cNvPr id="13" name="Tag Quick check"/>
          <p:cNvSpPr/>
          <p:nvPr/>
        </p:nvSpPr>
        <p:spPr>
          <a:xfrm>
            <a:off x="731520" y="3749040"/>
            <a:ext cx="1051560" cy="219456"/>
          </a:xfrm>
          <a:prstGeom prst="roundRect">
            <a:avLst>
              <a:gd name="adj" fmla="val 41667"/>
            </a:avLst>
          </a:prstGeom>
          <a:solidFill>
            <a:srgbClr val="F6B93B"/>
          </a:solidFill>
          <a:ln/>
        </p:spPr>
        <p:txBody>
          <a:bodyPr wrap="square" lIns="0" tIns="0" rIns="0" bIns="0" rtlCol="0" anchor="ctr"/>
          <a:lstStyle/>
          <a:p>
            <a:pPr algn="ctr" indent="0" marL="0">
              <a:buNone/>
            </a:pPr>
            <a:r>
              <a:rPr lang="en-US" sz="1000" b="1" dirty="0">
                <a:solidFill>
                  <a:srgbClr val="241703"/>
                </a:solidFill>
              </a:rPr>
              <a:t>Quick check</a:t>
            </a:r>
            <a:endParaRPr lang="en-US" sz="1000" dirty="0"/>
          </a:p>
        </p:txBody>
      </p:sp>
      <p:sp>
        <p:nvSpPr>
          <p:cNvPr id="14" name="Text 11"/>
          <p:cNvSpPr txBox="1"/>
          <p:nvPr/>
        </p:nvSpPr>
        <p:spPr>
          <a:xfrm>
            <a:off x="1920240" y="3721608"/>
            <a:ext cx="2377440" cy="292608"/>
          </a:xfrm>
          <a:prstGeom prst="rect">
            <a:avLst/>
          </a:prstGeom>
          <a:noFill/>
          <a:ln/>
        </p:spPr>
        <p:txBody>
          <a:bodyPr wrap="square" lIns="0" tIns="0" rIns="0" bIns="0" rtlCol="0" anchor="t"/>
          <a:lstStyle/>
          <a:p>
            <a:pPr algn="l" indent="0" marL="0">
              <a:buNone/>
            </a:pPr>
            <a:r>
              <a:rPr lang="en-US" sz="1400" dirty="0">
                <a:solidFill>
                  <a:schemeClr val="bg1"/>
                </a:solidFill>
              </a:rPr>
              <a:t>Salt water</a:t>
            </a:r>
            <a:endParaRPr lang="en-US" sz="1400" dirty="0"/>
          </a:p>
        </p:txBody>
      </p:sp>
      <p:sp>
        <p:nvSpPr>
          <p:cNvPr id="15" name="To unlock"/>
          <p:cNvSpPr/>
          <p:nvPr/>
        </p:nvSpPr>
        <p:spPr>
          <a:xfrm>
            <a:off x="4709160" y="1600200"/>
            <a:ext cx="3931920" cy="2926080"/>
          </a:xfrm>
          <a:prstGeom prst="roundRect">
            <a:avLst>
              <a:gd name="adj" fmla="val 3125"/>
            </a:avLst>
          </a:prstGeom>
          <a:solidFill>
            <a:schemeClr val="tx2"/>
          </a:solidFill>
          <a:ln w="12700">
            <a:solidFill>
              <a:srgbClr val="2A3A55"/>
            </a:solidFill>
            <a:prstDash val="solid"/>
          </a:ln>
        </p:spPr>
      </p:sp>
      <p:sp>
        <p:nvSpPr>
          <p:cNvPr id="16" name="Text 13"/>
          <p:cNvSpPr txBox="1"/>
          <p:nvPr/>
        </p:nvSpPr>
        <p:spPr>
          <a:xfrm>
            <a:off x="4937760" y="1783080"/>
            <a:ext cx="3474720" cy="320040"/>
          </a:xfrm>
          <a:prstGeom prst="rect">
            <a:avLst/>
          </a:prstGeom>
          <a:noFill/>
          <a:ln/>
        </p:spPr>
        <p:txBody>
          <a:bodyPr wrap="square" lIns="0" tIns="0" rIns="0" bIns="0" rtlCol="0" anchor="t"/>
          <a:lstStyle/>
          <a:p>
            <a:pPr algn="l" indent="0" marL="0">
              <a:buNone/>
            </a:pPr>
            <a:r>
              <a:rPr lang="en-US" sz="1600" b="1" dirty="0">
                <a:solidFill>
                  <a:schemeClr val="accent4"/>
                </a:solidFill>
              </a:rPr>
              <a:t>To unlock the next section</a:t>
            </a:r>
            <a:endParaRPr lang="en-US" sz="1600" dirty="0"/>
          </a:p>
        </p:txBody>
      </p:sp>
      <p:sp>
        <p:nvSpPr>
          <p:cNvPr id="17" name="Checkbox"/>
          <p:cNvSpPr/>
          <p:nvPr/>
        </p:nvSpPr>
        <p:spPr>
          <a:xfrm>
            <a:off x="4937760" y="2286000"/>
            <a:ext cx="182880" cy="182880"/>
          </a:xfrm>
          <a:prstGeom prst="rect">
            <a:avLst/>
          </a:prstGeom>
          <a:solidFill>
            <a:schemeClr val="tx2"/>
          </a:solidFill>
          <a:ln w="12700">
            <a:solidFill>
              <a:schemeClr val="bg2"/>
            </a:solidFill>
            <a:prstDash val="solid"/>
          </a:ln>
        </p:spPr>
      </p:sp>
      <p:sp>
        <p:nvSpPr>
          <p:cNvPr id="18" name="Text 15"/>
          <p:cNvSpPr txBox="1"/>
          <p:nvPr/>
        </p:nvSpPr>
        <p:spPr>
          <a:xfrm>
            <a:off x="5257800" y="2221992"/>
            <a:ext cx="3200400" cy="457200"/>
          </a:xfrm>
          <a:prstGeom prst="rect">
            <a:avLst/>
          </a:prstGeom>
          <a:noFill/>
          <a:ln/>
        </p:spPr>
        <p:txBody>
          <a:bodyPr wrap="square" lIns="0" tIns="0" rIns="0" bIns="0" rtlCol="0" anchor="t"/>
          <a:lstStyle/>
          <a:p>
            <a:pPr algn="l" indent="0" marL="0">
              <a:buNone/>
            </a:pPr>
            <a:r>
              <a:rPr lang="en-US" sz="1400" dirty="0">
                <a:solidFill>
                  <a:schemeClr val="bg1"/>
                </a:solidFill>
              </a:rPr>
              <a:t>Try the crystal as a solid and dissolved</a:t>
            </a:r>
            <a:endParaRPr lang="en-US" sz="1400" dirty="0"/>
          </a:p>
        </p:txBody>
      </p:sp>
      <p:sp>
        <p:nvSpPr>
          <p:cNvPr id="19" name="Checkbox"/>
          <p:cNvSpPr/>
          <p:nvPr/>
        </p:nvSpPr>
        <p:spPr>
          <a:xfrm>
            <a:off x="4937760" y="2834640"/>
            <a:ext cx="182880" cy="182880"/>
          </a:xfrm>
          <a:prstGeom prst="rect">
            <a:avLst/>
          </a:prstGeom>
          <a:solidFill>
            <a:schemeClr val="tx2"/>
          </a:solidFill>
          <a:ln w="12700">
            <a:solidFill>
              <a:schemeClr val="bg2"/>
            </a:solidFill>
            <a:prstDash val="solid"/>
          </a:ln>
        </p:spPr>
      </p:sp>
      <p:sp>
        <p:nvSpPr>
          <p:cNvPr id="20" name="Text 17"/>
          <p:cNvSpPr txBox="1"/>
          <p:nvPr/>
        </p:nvSpPr>
        <p:spPr>
          <a:xfrm>
            <a:off x="5257800" y="2770632"/>
            <a:ext cx="3200400" cy="457200"/>
          </a:xfrm>
          <a:prstGeom prst="rect">
            <a:avLst/>
          </a:prstGeom>
          <a:noFill/>
          <a:ln/>
        </p:spPr>
        <p:txBody>
          <a:bodyPr wrap="square" lIns="0" tIns="0" rIns="0" bIns="0" rtlCol="0" anchor="t"/>
          <a:lstStyle/>
          <a:p>
            <a:pPr algn="l" indent="0" marL="0">
              <a:buNone/>
            </a:pPr>
            <a:r>
              <a:rPr lang="en-US" sz="1400" dirty="0">
                <a:solidFill>
                  <a:schemeClr val="bg1"/>
                </a:solidFill>
              </a:rPr>
              <a:t>Sort the property statements</a:t>
            </a:r>
            <a:endParaRPr lang="en-US" sz="1400" dirty="0"/>
          </a:p>
        </p:txBody>
      </p:sp>
      <p:sp>
        <p:nvSpPr>
          <p:cNvPr id="21" name="Checkbox"/>
          <p:cNvSpPr/>
          <p:nvPr/>
        </p:nvSpPr>
        <p:spPr>
          <a:xfrm>
            <a:off x="4937760" y="3383280"/>
            <a:ext cx="182880" cy="182880"/>
          </a:xfrm>
          <a:prstGeom prst="rect">
            <a:avLst/>
          </a:prstGeom>
          <a:solidFill>
            <a:schemeClr val="tx2"/>
          </a:solidFill>
          <a:ln w="12700">
            <a:solidFill>
              <a:schemeClr val="bg2"/>
            </a:solidFill>
            <a:prstDash val="solid"/>
          </a:ln>
        </p:spPr>
      </p:sp>
      <p:sp>
        <p:nvSpPr>
          <p:cNvPr id="22" name="Text 19"/>
          <p:cNvSpPr txBox="1"/>
          <p:nvPr/>
        </p:nvSpPr>
        <p:spPr>
          <a:xfrm>
            <a:off x="5257800" y="3319272"/>
            <a:ext cx="3200400" cy="457200"/>
          </a:xfrm>
          <a:prstGeom prst="rect">
            <a:avLst/>
          </a:prstGeom>
          <a:noFill/>
          <a:ln/>
        </p:spPr>
        <p:txBody>
          <a:bodyPr wrap="square" lIns="0" tIns="0" rIns="0" bIns="0" rtlCol="0" anchor="t"/>
          <a:lstStyle/>
          <a:p>
            <a:pPr algn="l" indent="0" marL="0">
              <a:buNone/>
            </a:pPr>
            <a:r>
              <a:rPr lang="en-US" sz="1400" dirty="0">
                <a:solidFill>
                  <a:schemeClr val="bg1"/>
                </a:solidFill>
              </a:rPr>
              <a:t>Answer the quick check correctly</a:t>
            </a:r>
            <a:endParaRPr lang="en-US" sz="14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FB1C7"/>
                </a:solidFill>
              </a:defRPr>
            </a:lvl1pPr>
          </a:lstStyle>
          <a:p>
            <a:pPr algn="l"/>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1234440" y="292608"/>
            <a:ext cx="7452360" cy="548640"/>
          </a:xfrm>
          <a:prstGeom prst="rect">
            <a:avLst/>
          </a:prstGeom>
          <a:noFill/>
          <a:ln/>
        </p:spPr>
        <p:txBody>
          <a:bodyPr wrap="square" lIns="0" tIns="0" rIns="0" bIns="0" rtlCol="0" anchor="ctr"/>
          <a:lstStyle/>
          <a:p>
            <a:pPr algn="l" indent="0" marL="0">
              <a:buNone/>
            </a:pPr>
            <a:r>
              <a:rPr lang="en-US" sz="2800" b="1" dirty="0">
                <a:solidFill>
                  <a:schemeClr val="bg1"/>
                </a:solidFill>
                <a:latin typeface="Arial" pitchFamily="34" charset="0"/>
                <a:ea typeface="Arial" pitchFamily="34" charset="-122"/>
                <a:cs typeface="Arial" pitchFamily="34" charset="-120"/>
              </a:rPr>
              <a:t>Ions stack into crystals</a:t>
            </a:r>
            <a:endParaRPr lang="en-US" sz="2800" dirty="0"/>
          </a:p>
        </p:txBody>
      </p:sp>
      <p:pic>
        <p:nvPicPr>
          <p:cNvPr id="3" name="Icon 7" descr="Section 7 icon">    </p:cNvPr>
          <p:cNvPicPr>
            <a:picLocks noChangeAspect="1"/>
          </p:cNvPicPr>
          <p:nvPr/>
        </p:nvPicPr>
        <p:blipFill>
          <a:blip r:embed="rId1"/>
          <a:stretch>
            <a:fillRect/>
          </a:stretch>
        </p:blipFill>
        <p:spPr>
          <a:xfrm>
            <a:off x="502920" y="201168"/>
            <a:ext cx="566928" cy="627239"/>
          </a:xfrm>
          <a:prstGeom prst="rect">
            <a:avLst/>
          </a:prstGeom>
        </p:spPr>
      </p:pic>
      <p:sp>
        <p:nvSpPr>
          <p:cNvPr id="4" name="Tag Read"/>
          <p:cNvSpPr/>
          <p:nvPr/>
        </p:nvSpPr>
        <p:spPr>
          <a:xfrm>
            <a:off x="1234440" y="45720"/>
            <a:ext cx="1051560" cy="219456"/>
          </a:xfrm>
          <a:prstGeom prst="roundRect">
            <a:avLst>
              <a:gd name="adj" fmla="val 41667"/>
            </a:avLst>
          </a:prstGeom>
          <a:solidFill>
            <a:srgbClr val="25305A"/>
          </a:solidFill>
          <a:ln/>
        </p:spPr>
        <p:txBody>
          <a:bodyPr wrap="square" lIns="0" tIns="0" rIns="0" bIns="0" rtlCol="0" anchor="ctr"/>
          <a:lstStyle/>
          <a:p>
            <a:pPr algn="ctr" indent="0" marL="0">
              <a:buNone/>
            </a:pPr>
            <a:r>
              <a:rPr lang="en-US" sz="1000" b="1" dirty="0">
                <a:solidFill>
                  <a:srgbClr val="C3CFFC"/>
                </a:solidFill>
              </a:rPr>
              <a:t>Read</a:t>
            </a:r>
            <a:endParaRPr lang="en-US" sz="1000" dirty="0"/>
          </a:p>
        </p:txBody>
      </p:sp>
      <p:sp>
        <p:nvSpPr>
          <p:cNvPr id="5" name="Text 2"/>
          <p:cNvSpPr txBox="1"/>
          <p:nvPr/>
        </p:nvSpPr>
        <p:spPr>
          <a:xfrm>
            <a:off x="502920" y="960120"/>
            <a:ext cx="4114800" cy="3566160"/>
          </a:xfrm>
          <a:prstGeom prst="rect">
            <a:avLst/>
          </a:prstGeom>
          <a:noFill/>
          <a:ln/>
        </p:spPr>
        <p:txBody>
          <a:bodyPr wrap="square" lIns="0" tIns="0" rIns="0" bIns="0" rtlCol="0" anchor="t"/>
          <a:lstStyle/>
          <a:p>
            <a:pPr algn="l" indent="0" marL="0">
              <a:spcAft>
                <a:spcPts val="1000"/>
              </a:spcAft>
              <a:buNone/>
            </a:pPr>
            <a:r>
              <a:rPr lang="en-US" sz="1500" dirty="0">
                <a:solidFill>
                  <a:schemeClr val="bg1"/>
                </a:solidFill>
              </a:rPr>
              <a:t>Each positive ion is surrounded by negative ions and each negative ion by positive ions, in a repeating </a:t>
            </a:r>
            <a:pPr algn="l" indent="0" marL="0">
              <a:spcAft>
                <a:spcPts val="1000"/>
              </a:spcAft>
              <a:buNone/>
            </a:pPr>
            <a:r>
              <a:rPr lang="en-US" sz="1500" b="1" dirty="0">
                <a:solidFill>
                  <a:schemeClr val="accent1"/>
                </a:solidFill>
              </a:rPr>
              <a:t>crystal lattice</a:t>
            </a:r>
            <a:pPr algn="l" indent="0" marL="0">
              <a:spcAft>
                <a:spcPts val="1000"/>
              </a:spcAft>
              <a:buNone/>
            </a:pPr>
            <a:r>
              <a:rPr lang="en-US" sz="1500" dirty="0">
                <a:solidFill>
                  <a:schemeClr val="bg1"/>
                </a:solidFill>
              </a:rPr>
              <a:t>.</a:t>
            </a:r>
            <a:endParaRPr lang="en-US" sz="1500" dirty="0"/>
          </a:p>
          <a:p>
            <a:pPr algn="l" indent="0" marL="0">
              <a:spcAft>
                <a:spcPts val="1000"/>
              </a:spcAft>
              <a:buNone/>
            </a:pPr>
            <a:r>
              <a:rPr lang="en-US" sz="1500" b="1" dirty="0">
                <a:solidFill>
                  <a:schemeClr val="bg1"/>
                </a:solidFill>
              </a:rPr>
              <a:t>High melting point: </a:t>
            </a:r>
            <a:pPr algn="l" indent="0" marL="0">
              <a:spcAft>
                <a:spcPts val="1000"/>
              </a:spcAft>
              <a:buNone/>
            </a:pPr>
            <a:r>
              <a:rPr lang="en-US" sz="1500" dirty="0">
                <a:solidFill>
                  <a:schemeClr val="bg1"/>
                </a:solidFill>
              </a:rPr>
              <a:t>lots of attractions to break.</a:t>
            </a:r>
            <a:endParaRPr lang="en-US" sz="1500" dirty="0"/>
          </a:p>
          <a:p>
            <a:pPr algn="l" indent="0" marL="0">
              <a:spcAft>
                <a:spcPts val="1000"/>
              </a:spcAft>
              <a:buNone/>
            </a:pPr>
            <a:r>
              <a:rPr lang="en-US" sz="1500" b="1" dirty="0">
                <a:solidFill>
                  <a:schemeClr val="bg1"/>
                </a:solidFill>
              </a:rPr>
              <a:t>Hard but brittle: </a:t>
            </a:r>
            <a:pPr algn="l" indent="0" marL="0">
              <a:spcAft>
                <a:spcPts val="1000"/>
              </a:spcAft>
              <a:buNone/>
            </a:pPr>
            <a:r>
              <a:rPr lang="en-US" sz="1500" dirty="0">
                <a:solidFill>
                  <a:schemeClr val="bg1"/>
                </a:solidFill>
              </a:rPr>
              <a:t>shift a layer and like charges repel.</a:t>
            </a:r>
            <a:endParaRPr lang="en-US" sz="1500" dirty="0"/>
          </a:p>
          <a:p>
            <a:pPr algn="l" indent="0" marL="0">
              <a:spcAft>
                <a:spcPts val="1000"/>
              </a:spcAft>
              <a:buNone/>
            </a:pPr>
            <a:r>
              <a:rPr lang="en-US" sz="1500" b="1" dirty="0">
                <a:solidFill>
                  <a:schemeClr val="bg1"/>
                </a:solidFill>
              </a:rPr>
              <a:t>Conducts only when melted or dissolved: </a:t>
            </a:r>
            <a:pPr algn="l" indent="0" marL="0">
              <a:spcAft>
                <a:spcPts val="1000"/>
              </a:spcAft>
              <a:buNone/>
            </a:pPr>
            <a:r>
              <a:rPr lang="en-US" sz="1500" dirty="0">
                <a:solidFill>
                  <a:schemeClr val="bg1"/>
                </a:solidFill>
              </a:rPr>
              <a:t>then the ions can move.</a:t>
            </a:r>
            <a:endParaRPr lang="en-US" sz="1500" dirty="0"/>
          </a:p>
        </p:txBody>
      </p:sp>
      <p:pic>
        <p:nvPicPr>
          <p:cNvPr id="6" name="lattice_solid" descr="Solid sodium chloride lattice with the bulb off">    </p:cNvPr>
          <p:cNvPicPr>
            <a:picLocks noChangeAspect="1"/>
          </p:cNvPicPr>
          <p:nvPr/>
        </p:nvPicPr>
        <p:blipFill>
          <a:blip r:embed="rId2"/>
          <a:stretch>
            <a:fillRect/>
          </a:stretch>
        </p:blipFill>
        <p:spPr>
          <a:xfrm>
            <a:off x="4846320" y="960120"/>
            <a:ext cx="3794760" cy="2197288"/>
          </a:xfrm>
          <a:prstGeom prst="rect">
            <a:avLst/>
          </a:prstGeom>
        </p:spPr>
      </p:pic>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FB1C7"/>
                </a:solidFill>
              </a:defRPr>
            </a:lvl1pPr>
          </a:lstStyle>
          <a:p>
            <a:pPr algn="l"/>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1234440" y="292608"/>
            <a:ext cx="7452360" cy="548640"/>
          </a:xfrm>
          <a:prstGeom prst="rect">
            <a:avLst/>
          </a:prstGeom>
          <a:noFill/>
          <a:ln/>
        </p:spPr>
        <p:txBody>
          <a:bodyPr wrap="square" lIns="0" tIns="0" rIns="0" bIns="0" rtlCol="0" anchor="ctr"/>
          <a:lstStyle/>
          <a:p>
            <a:pPr algn="l" indent="0" marL="0">
              <a:buNone/>
            </a:pPr>
            <a:r>
              <a:rPr lang="en-US" sz="2800" b="1" dirty="0">
                <a:solidFill>
                  <a:schemeClr val="bg1"/>
                </a:solidFill>
                <a:latin typeface="Arial" pitchFamily="34" charset="0"/>
                <a:ea typeface="Arial" pitchFamily="34" charset="-122"/>
                <a:cs typeface="Arial" pitchFamily="34" charset="-120"/>
              </a:rPr>
              <a:t>Crystal simulator: solid vs. dissolved</a:t>
            </a:r>
            <a:endParaRPr lang="en-US" sz="2800" dirty="0"/>
          </a:p>
        </p:txBody>
      </p:sp>
      <p:pic>
        <p:nvPicPr>
          <p:cNvPr id="3" name="Icon 7" descr="Section 7 icon">    </p:cNvPr>
          <p:cNvPicPr>
            <a:picLocks noChangeAspect="1"/>
          </p:cNvPicPr>
          <p:nvPr/>
        </p:nvPicPr>
        <p:blipFill>
          <a:blip r:embed="rId1"/>
          <a:stretch>
            <a:fillRect/>
          </a:stretch>
        </p:blipFill>
        <p:spPr>
          <a:xfrm>
            <a:off x="502920" y="201168"/>
            <a:ext cx="566928" cy="627239"/>
          </a:xfrm>
          <a:prstGeom prst="rect">
            <a:avLst/>
          </a:prstGeom>
        </p:spPr>
      </p:pic>
      <p:sp>
        <p:nvSpPr>
          <p:cNvPr id="4" name="Tag Try it"/>
          <p:cNvSpPr/>
          <p:nvPr/>
        </p:nvSpPr>
        <p:spPr>
          <a:xfrm>
            <a:off x="1234440" y="45720"/>
            <a:ext cx="1051560" cy="219456"/>
          </a:xfrm>
          <a:prstGeom prst="roundRect">
            <a:avLst>
              <a:gd name="adj" fmla="val 41667"/>
            </a:avLst>
          </a:prstGeom>
          <a:solidFill>
            <a:srgbClr val="5FE1FF"/>
          </a:solidFill>
          <a:ln/>
        </p:spPr>
        <p:txBody>
          <a:bodyPr wrap="square" lIns="0" tIns="0" rIns="0" bIns="0" rtlCol="0" anchor="ctr"/>
          <a:lstStyle/>
          <a:p>
            <a:pPr algn="ctr" indent="0" marL="0">
              <a:buNone/>
            </a:pPr>
            <a:r>
              <a:rPr lang="en-US" sz="1000" b="1" dirty="0">
                <a:solidFill>
                  <a:srgbClr val="0B2630"/>
                </a:solidFill>
              </a:rPr>
              <a:t>Try it</a:t>
            </a:r>
            <a:endParaRPr lang="en-US" sz="1000" dirty="0"/>
          </a:p>
        </p:txBody>
      </p:sp>
      <p:sp>
        <p:nvSpPr>
          <p:cNvPr id="5" name="Text 2"/>
          <p:cNvSpPr txBox="1"/>
          <p:nvPr/>
        </p:nvSpPr>
        <p:spPr>
          <a:xfrm>
            <a:off x="502920" y="914400"/>
            <a:ext cx="3931920" cy="320040"/>
          </a:xfrm>
          <a:prstGeom prst="rect">
            <a:avLst/>
          </a:prstGeom>
          <a:noFill/>
          <a:ln/>
        </p:spPr>
        <p:txBody>
          <a:bodyPr wrap="square" lIns="0" tIns="0" rIns="0" bIns="0" rtlCol="0" anchor="t"/>
          <a:lstStyle/>
          <a:p>
            <a:pPr algn="l" indent="0" marL="0">
              <a:buNone/>
            </a:pPr>
            <a:r>
              <a:rPr lang="en-US" sz="1600" b="1" dirty="0">
                <a:solidFill>
                  <a:schemeClr val="accent5"/>
                </a:solidFill>
              </a:rPr>
              <a:t>Solid crystal</a:t>
            </a:r>
            <a:endParaRPr lang="en-US" sz="1600" dirty="0"/>
          </a:p>
        </p:txBody>
      </p:sp>
      <p:pic>
        <p:nvPicPr>
          <p:cNvPr id="6" name="lattice_solid" descr="Solid: ions locked in place, bulb off">    </p:cNvPr>
          <p:cNvPicPr>
            <a:picLocks noChangeAspect="1"/>
          </p:cNvPicPr>
          <p:nvPr/>
        </p:nvPicPr>
        <p:blipFill>
          <a:blip r:embed="rId2"/>
          <a:stretch>
            <a:fillRect/>
          </a:stretch>
        </p:blipFill>
        <p:spPr>
          <a:xfrm>
            <a:off x="502920" y="1280160"/>
            <a:ext cx="3931920" cy="2276709"/>
          </a:xfrm>
          <a:prstGeom prst="rect">
            <a:avLst/>
          </a:prstGeom>
        </p:spPr>
      </p:pic>
      <p:sp>
        <p:nvSpPr>
          <p:cNvPr id="7" name="Text 3"/>
          <p:cNvSpPr txBox="1"/>
          <p:nvPr/>
        </p:nvSpPr>
        <p:spPr>
          <a:xfrm>
            <a:off x="4709160" y="914400"/>
            <a:ext cx="3931920" cy="320040"/>
          </a:xfrm>
          <a:prstGeom prst="rect">
            <a:avLst/>
          </a:prstGeom>
          <a:noFill/>
          <a:ln/>
        </p:spPr>
        <p:txBody>
          <a:bodyPr wrap="square" lIns="0" tIns="0" rIns="0" bIns="0" rtlCol="0" anchor="t"/>
          <a:lstStyle/>
          <a:p>
            <a:pPr algn="l" indent="0" marL="0">
              <a:buNone/>
            </a:pPr>
            <a:r>
              <a:rPr lang="en-US" sz="1600" b="1" dirty="0">
                <a:solidFill>
                  <a:schemeClr val="accent2"/>
                </a:solidFill>
              </a:rPr>
              <a:t>Melted or dissolved</a:t>
            </a:r>
            <a:endParaRPr lang="en-US" sz="1600" dirty="0"/>
          </a:p>
        </p:txBody>
      </p:sp>
      <p:pic>
        <p:nvPicPr>
          <p:cNvPr id="8" name="lattice_free" descr="Dissolved: ions move, bulb lit">    </p:cNvPr>
          <p:cNvPicPr>
            <a:picLocks noChangeAspect="1"/>
          </p:cNvPicPr>
          <p:nvPr/>
        </p:nvPicPr>
        <p:blipFill>
          <a:blip r:embed="rId3"/>
          <a:stretch>
            <a:fillRect/>
          </a:stretch>
        </p:blipFill>
        <p:spPr>
          <a:xfrm>
            <a:off x="4709160" y="1280160"/>
            <a:ext cx="3931920" cy="2276709"/>
          </a:xfrm>
          <a:prstGeom prst="rect">
            <a:avLst/>
          </a:prstGeom>
        </p:spPr>
      </p:pic>
      <p:sp>
        <p:nvSpPr>
          <p:cNvPr id="9" name="Text 4"/>
          <p:cNvSpPr txBox="1"/>
          <p:nvPr/>
        </p:nvSpPr>
        <p:spPr>
          <a:xfrm>
            <a:off x="502920" y="3703320"/>
            <a:ext cx="8138160" cy="640080"/>
          </a:xfrm>
          <a:prstGeom prst="rect">
            <a:avLst/>
          </a:prstGeom>
          <a:noFill/>
          <a:ln/>
        </p:spPr>
        <p:txBody>
          <a:bodyPr wrap="square" lIns="0" tIns="0" rIns="0" bIns="0" rtlCol="0" anchor="t"/>
          <a:lstStyle/>
          <a:p>
            <a:pPr algn="l" indent="0" marL="0">
              <a:buNone/>
            </a:pPr>
            <a:r>
              <a:rPr lang="en-US" sz="1500" dirty="0">
                <a:solidFill>
                  <a:schemeClr val="bg1"/>
                </a:solidFill>
              </a:rPr>
              <a:t>Solid: ions only vibrate, so no current flows. Dissolved: ions move and carry the current, so the bulb lights.</a:t>
            </a:r>
            <a:endParaRPr lang="en-US" sz="15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FB1C7"/>
                </a:solidFill>
              </a:defRPr>
            </a:lvl1pPr>
          </a:lstStyle>
          <a:p>
            <a:pPr algn="l"/>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1234440" y="292608"/>
            <a:ext cx="7452360" cy="548640"/>
          </a:xfrm>
          <a:prstGeom prst="rect">
            <a:avLst/>
          </a:prstGeom>
          <a:noFill/>
          <a:ln/>
        </p:spPr>
        <p:txBody>
          <a:bodyPr wrap="square" lIns="0" tIns="0" rIns="0" bIns="0" rtlCol="0" anchor="ctr"/>
          <a:lstStyle/>
          <a:p>
            <a:pPr algn="l" indent="0" marL="0">
              <a:buNone/>
            </a:pPr>
            <a:r>
              <a:rPr lang="en-US" sz="2800" b="1" dirty="0">
                <a:solidFill>
                  <a:schemeClr val="bg1"/>
                </a:solidFill>
                <a:latin typeface="Arial" pitchFamily="34" charset="0"/>
                <a:ea typeface="Arial" pitchFamily="34" charset="-122"/>
                <a:cs typeface="Arial" pitchFamily="34" charset="-120"/>
              </a:rPr>
              <a:t>True or false?</a:t>
            </a:r>
            <a:endParaRPr lang="en-US" sz="2800" dirty="0"/>
          </a:p>
        </p:txBody>
      </p:sp>
      <p:pic>
        <p:nvPicPr>
          <p:cNvPr id="3" name="Icon 7" descr="Section 7 icon">    </p:cNvPr>
          <p:cNvPicPr>
            <a:picLocks noChangeAspect="1"/>
          </p:cNvPicPr>
          <p:nvPr/>
        </p:nvPicPr>
        <p:blipFill>
          <a:blip r:embed="rId1"/>
          <a:stretch>
            <a:fillRect/>
          </a:stretch>
        </p:blipFill>
        <p:spPr>
          <a:xfrm>
            <a:off x="502920" y="201168"/>
            <a:ext cx="566928" cy="627239"/>
          </a:xfrm>
          <a:prstGeom prst="rect">
            <a:avLst/>
          </a:prstGeom>
        </p:spPr>
      </p:pic>
      <p:sp>
        <p:nvSpPr>
          <p:cNvPr id="4" name="Tag Try it"/>
          <p:cNvSpPr/>
          <p:nvPr/>
        </p:nvSpPr>
        <p:spPr>
          <a:xfrm>
            <a:off x="1234440" y="45720"/>
            <a:ext cx="1051560" cy="219456"/>
          </a:xfrm>
          <a:prstGeom prst="roundRect">
            <a:avLst>
              <a:gd name="adj" fmla="val 41667"/>
            </a:avLst>
          </a:prstGeom>
          <a:solidFill>
            <a:srgbClr val="5FE1FF"/>
          </a:solidFill>
          <a:ln/>
        </p:spPr>
        <p:txBody>
          <a:bodyPr wrap="square" lIns="0" tIns="0" rIns="0" bIns="0" rtlCol="0" anchor="ctr"/>
          <a:lstStyle/>
          <a:p>
            <a:pPr algn="ctr" indent="0" marL="0">
              <a:buNone/>
            </a:pPr>
            <a:r>
              <a:rPr lang="en-US" sz="1000" b="1" dirty="0">
                <a:solidFill>
                  <a:srgbClr val="0B2630"/>
                </a:solidFill>
              </a:rPr>
              <a:t>Try it</a:t>
            </a:r>
            <a:endParaRPr lang="en-US" sz="1000" dirty="0"/>
          </a:p>
        </p:txBody>
      </p:sp>
      <p:sp>
        <p:nvSpPr>
          <p:cNvPr id="5" name="Text 2"/>
          <p:cNvSpPr txBox="1"/>
          <p:nvPr/>
        </p:nvSpPr>
        <p:spPr>
          <a:xfrm>
            <a:off x="502920" y="960120"/>
            <a:ext cx="8138160" cy="365760"/>
          </a:xfrm>
          <a:prstGeom prst="rect">
            <a:avLst/>
          </a:prstGeom>
          <a:noFill/>
          <a:ln/>
        </p:spPr>
        <p:txBody>
          <a:bodyPr wrap="square" lIns="0" tIns="0" rIns="0" bIns="0" rtlCol="0" anchor="t"/>
          <a:lstStyle/>
          <a:p>
            <a:pPr algn="l" indent="0" marL="0">
              <a:buNone/>
            </a:pPr>
            <a:r>
              <a:rPr lang="en-US" sz="1600" b="1" dirty="0">
                <a:solidFill>
                  <a:schemeClr val="bg1"/>
                </a:solidFill>
              </a:rPr>
              <a:t>Is each statement about ionic compounds true or false?</a:t>
            </a:r>
            <a:endParaRPr lang="en-US" sz="1600" dirty="0"/>
          </a:p>
        </p:txBody>
      </p:sp>
      <p:sp>
        <p:nvSpPr>
          <p:cNvPr id="6" name="Statement 1"/>
          <p:cNvSpPr/>
          <p:nvPr/>
        </p:nvSpPr>
        <p:spPr>
          <a:xfrm>
            <a:off x="502920" y="1508760"/>
            <a:ext cx="8138160" cy="777240"/>
          </a:xfrm>
          <a:prstGeom prst="roundRect">
            <a:avLst>
              <a:gd name="adj" fmla="val 11765"/>
            </a:avLst>
          </a:prstGeom>
          <a:solidFill>
            <a:schemeClr val="tx2"/>
          </a:solidFill>
          <a:ln w="12700">
            <a:solidFill>
              <a:srgbClr val="2A3A55"/>
            </a:solidFill>
            <a:prstDash val="solid"/>
          </a:ln>
        </p:spPr>
      </p:sp>
      <p:sp>
        <p:nvSpPr>
          <p:cNvPr id="7" name="Text 4"/>
          <p:cNvSpPr txBox="1"/>
          <p:nvPr/>
        </p:nvSpPr>
        <p:spPr>
          <a:xfrm>
            <a:off x="731520" y="1618488"/>
            <a:ext cx="6035040" cy="548640"/>
          </a:xfrm>
          <a:prstGeom prst="rect">
            <a:avLst/>
          </a:prstGeom>
          <a:noFill/>
          <a:ln/>
        </p:spPr>
        <p:txBody>
          <a:bodyPr wrap="square" lIns="0" tIns="0" rIns="0" bIns="0" rtlCol="0" anchor="ctr"/>
          <a:lstStyle/>
          <a:p>
            <a:pPr algn="l" indent="0" marL="0">
              <a:buNone/>
            </a:pPr>
            <a:r>
              <a:rPr lang="en-US" sz="1800" dirty="0">
                <a:solidFill>
                  <a:schemeClr val="bg1"/>
                </a:solidFill>
              </a:rPr>
              <a:t>They have high melting points</a:t>
            </a:r>
            <a:endParaRPr lang="en-US" sz="1800" dirty="0"/>
          </a:p>
        </p:txBody>
      </p:sp>
      <p:sp>
        <p:nvSpPr>
          <p:cNvPr id="8" name="Text 5"/>
          <p:cNvSpPr txBox="1"/>
          <p:nvPr/>
        </p:nvSpPr>
        <p:spPr>
          <a:xfrm>
            <a:off x="6858000" y="1618488"/>
            <a:ext cx="1554480" cy="548640"/>
          </a:xfrm>
          <a:prstGeom prst="rect">
            <a:avLst/>
          </a:prstGeom>
          <a:noFill/>
          <a:ln/>
        </p:spPr>
        <p:txBody>
          <a:bodyPr wrap="square" lIns="0" tIns="0" rIns="0" bIns="0" rtlCol="0" anchor="ctr"/>
          <a:lstStyle/>
          <a:p>
            <a:pPr algn="ctr" indent="0" marL="0">
              <a:buNone/>
            </a:pPr>
            <a:r>
              <a:rPr lang="en-US" sz="2000" b="1" dirty="0">
                <a:solidFill>
                  <a:schemeClr val="bg2"/>
                </a:solidFill>
              </a:rPr>
              <a:t>?</a:t>
            </a:r>
            <a:endParaRPr lang="en-US" sz="2000" dirty="0"/>
          </a:p>
        </p:txBody>
      </p:sp>
      <p:sp>
        <p:nvSpPr>
          <p:cNvPr id="9" name="Statement 2"/>
          <p:cNvSpPr/>
          <p:nvPr/>
        </p:nvSpPr>
        <p:spPr>
          <a:xfrm>
            <a:off x="502920" y="2468880"/>
            <a:ext cx="8138160" cy="777240"/>
          </a:xfrm>
          <a:prstGeom prst="roundRect">
            <a:avLst>
              <a:gd name="adj" fmla="val 11765"/>
            </a:avLst>
          </a:prstGeom>
          <a:solidFill>
            <a:schemeClr val="tx2"/>
          </a:solidFill>
          <a:ln w="12700">
            <a:solidFill>
              <a:srgbClr val="2A3A55"/>
            </a:solidFill>
            <a:prstDash val="solid"/>
          </a:ln>
        </p:spPr>
      </p:sp>
      <p:sp>
        <p:nvSpPr>
          <p:cNvPr id="10" name="Text 7"/>
          <p:cNvSpPr txBox="1"/>
          <p:nvPr/>
        </p:nvSpPr>
        <p:spPr>
          <a:xfrm>
            <a:off x="731520" y="2578608"/>
            <a:ext cx="6035040" cy="548640"/>
          </a:xfrm>
          <a:prstGeom prst="rect">
            <a:avLst/>
          </a:prstGeom>
          <a:noFill/>
          <a:ln/>
        </p:spPr>
        <p:txBody>
          <a:bodyPr wrap="square" lIns="0" tIns="0" rIns="0" bIns="0" rtlCol="0" anchor="ctr"/>
          <a:lstStyle/>
          <a:p>
            <a:pPr algn="l" indent="0" marL="0">
              <a:buNone/>
            </a:pPr>
            <a:r>
              <a:rPr lang="en-US" sz="1800" dirty="0">
                <a:solidFill>
                  <a:schemeClr val="bg1"/>
                </a:solidFill>
              </a:rPr>
              <a:t>They conduct electricity as solids</a:t>
            </a:r>
            <a:endParaRPr lang="en-US" sz="1800" dirty="0"/>
          </a:p>
        </p:txBody>
      </p:sp>
      <p:sp>
        <p:nvSpPr>
          <p:cNvPr id="11" name="Text 8"/>
          <p:cNvSpPr txBox="1"/>
          <p:nvPr/>
        </p:nvSpPr>
        <p:spPr>
          <a:xfrm>
            <a:off x="6858000" y="2578608"/>
            <a:ext cx="1554480" cy="548640"/>
          </a:xfrm>
          <a:prstGeom prst="rect">
            <a:avLst/>
          </a:prstGeom>
          <a:noFill/>
          <a:ln/>
        </p:spPr>
        <p:txBody>
          <a:bodyPr wrap="square" lIns="0" tIns="0" rIns="0" bIns="0" rtlCol="0" anchor="ctr"/>
          <a:lstStyle/>
          <a:p>
            <a:pPr algn="ctr" indent="0" marL="0">
              <a:buNone/>
            </a:pPr>
            <a:r>
              <a:rPr lang="en-US" sz="2000" b="1" dirty="0">
                <a:solidFill>
                  <a:schemeClr val="bg2"/>
                </a:solidFill>
              </a:rPr>
              <a:t>?</a:t>
            </a:r>
            <a:endParaRPr lang="en-US" sz="2000" dirty="0"/>
          </a:p>
        </p:txBody>
      </p:sp>
      <p:sp>
        <p:nvSpPr>
          <p:cNvPr id="12" name="Statement 3"/>
          <p:cNvSpPr/>
          <p:nvPr/>
        </p:nvSpPr>
        <p:spPr>
          <a:xfrm>
            <a:off x="502920" y="3429000"/>
            <a:ext cx="8138160" cy="777240"/>
          </a:xfrm>
          <a:prstGeom prst="roundRect">
            <a:avLst>
              <a:gd name="adj" fmla="val 11765"/>
            </a:avLst>
          </a:prstGeom>
          <a:solidFill>
            <a:schemeClr val="tx2"/>
          </a:solidFill>
          <a:ln w="12700">
            <a:solidFill>
              <a:srgbClr val="2A3A55"/>
            </a:solidFill>
            <a:prstDash val="solid"/>
          </a:ln>
        </p:spPr>
      </p:sp>
      <p:sp>
        <p:nvSpPr>
          <p:cNvPr id="13" name="Text 10"/>
          <p:cNvSpPr txBox="1"/>
          <p:nvPr/>
        </p:nvSpPr>
        <p:spPr>
          <a:xfrm>
            <a:off x="731520" y="3538728"/>
            <a:ext cx="6035040" cy="548640"/>
          </a:xfrm>
          <a:prstGeom prst="rect">
            <a:avLst/>
          </a:prstGeom>
          <a:noFill/>
          <a:ln/>
        </p:spPr>
        <p:txBody>
          <a:bodyPr wrap="square" lIns="0" tIns="0" rIns="0" bIns="0" rtlCol="0" anchor="ctr"/>
          <a:lstStyle/>
          <a:p>
            <a:pPr algn="l" indent="0" marL="0">
              <a:buNone/>
            </a:pPr>
            <a:r>
              <a:rPr lang="en-US" sz="1800" dirty="0">
                <a:solidFill>
                  <a:schemeClr val="bg1"/>
                </a:solidFill>
              </a:rPr>
              <a:t>They conduct when dissolved in water</a:t>
            </a:r>
            <a:endParaRPr lang="en-US" sz="1800" dirty="0"/>
          </a:p>
        </p:txBody>
      </p:sp>
      <p:sp>
        <p:nvSpPr>
          <p:cNvPr id="14" name="Text 11"/>
          <p:cNvSpPr txBox="1"/>
          <p:nvPr/>
        </p:nvSpPr>
        <p:spPr>
          <a:xfrm>
            <a:off x="6858000" y="3538728"/>
            <a:ext cx="1554480" cy="548640"/>
          </a:xfrm>
          <a:prstGeom prst="rect">
            <a:avLst/>
          </a:prstGeom>
          <a:noFill/>
          <a:ln/>
        </p:spPr>
        <p:txBody>
          <a:bodyPr wrap="square" lIns="0" tIns="0" rIns="0" bIns="0" rtlCol="0" anchor="ctr"/>
          <a:lstStyle/>
          <a:p>
            <a:pPr algn="ctr" indent="0" marL="0">
              <a:buNone/>
            </a:pPr>
            <a:r>
              <a:rPr lang="en-US" sz="2000" b="1" dirty="0">
                <a:solidFill>
                  <a:schemeClr val="bg2"/>
                </a:solidFill>
              </a:rPr>
              <a:t>?</a:t>
            </a:r>
            <a:endParaRPr lang="en-US" sz="20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FB1C7"/>
                </a:solidFill>
              </a:defRPr>
            </a:lvl1pPr>
          </a:lstStyle>
          <a:p>
            <a:pPr algn="l"/>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1234440" y="292608"/>
            <a:ext cx="7452360" cy="548640"/>
          </a:xfrm>
          <a:prstGeom prst="rect">
            <a:avLst/>
          </a:prstGeom>
          <a:noFill/>
          <a:ln/>
        </p:spPr>
        <p:txBody>
          <a:bodyPr wrap="square" lIns="0" tIns="0" rIns="0" bIns="0" rtlCol="0" anchor="ctr"/>
          <a:lstStyle/>
          <a:p>
            <a:pPr algn="l" indent="0" marL="0">
              <a:buNone/>
            </a:pPr>
            <a:r>
              <a:rPr lang="en-US" sz="2800" b="1" dirty="0">
                <a:solidFill>
                  <a:schemeClr val="bg1"/>
                </a:solidFill>
                <a:latin typeface="Arial" pitchFamily="34" charset="0"/>
                <a:ea typeface="Arial" pitchFamily="34" charset="-122"/>
                <a:cs typeface="Arial" pitchFamily="34" charset="-120"/>
              </a:rPr>
              <a:t>True or false?</a:t>
            </a:r>
            <a:endParaRPr lang="en-US" sz="2800" dirty="0"/>
          </a:p>
        </p:txBody>
      </p:sp>
      <p:pic>
        <p:nvPicPr>
          <p:cNvPr id="3" name="Icon 7" descr="Section 7 icon">    </p:cNvPr>
          <p:cNvPicPr>
            <a:picLocks noChangeAspect="1"/>
          </p:cNvPicPr>
          <p:nvPr/>
        </p:nvPicPr>
        <p:blipFill>
          <a:blip r:embed="rId1"/>
          <a:stretch>
            <a:fillRect/>
          </a:stretch>
        </p:blipFill>
        <p:spPr>
          <a:xfrm>
            <a:off x="502920" y="201168"/>
            <a:ext cx="566928" cy="627239"/>
          </a:xfrm>
          <a:prstGeom prst="rect">
            <a:avLst/>
          </a:prstGeom>
        </p:spPr>
      </p:pic>
      <p:sp>
        <p:nvSpPr>
          <p:cNvPr id="4" name="Tag Try it"/>
          <p:cNvSpPr/>
          <p:nvPr/>
        </p:nvSpPr>
        <p:spPr>
          <a:xfrm>
            <a:off x="1234440" y="45720"/>
            <a:ext cx="1051560" cy="219456"/>
          </a:xfrm>
          <a:prstGeom prst="roundRect">
            <a:avLst>
              <a:gd name="adj" fmla="val 41667"/>
            </a:avLst>
          </a:prstGeom>
          <a:solidFill>
            <a:srgbClr val="5FE1FF"/>
          </a:solidFill>
          <a:ln/>
        </p:spPr>
        <p:txBody>
          <a:bodyPr wrap="square" lIns="0" tIns="0" rIns="0" bIns="0" rtlCol="0" anchor="ctr"/>
          <a:lstStyle/>
          <a:p>
            <a:pPr algn="ctr" indent="0" marL="0">
              <a:buNone/>
            </a:pPr>
            <a:r>
              <a:rPr lang="en-US" sz="1000" b="1" dirty="0">
                <a:solidFill>
                  <a:srgbClr val="0B2630"/>
                </a:solidFill>
              </a:rPr>
              <a:t>Try it</a:t>
            </a:r>
            <a:endParaRPr lang="en-US" sz="1000" dirty="0"/>
          </a:p>
        </p:txBody>
      </p:sp>
      <p:sp>
        <p:nvSpPr>
          <p:cNvPr id="5" name="Tag Answer"/>
          <p:cNvSpPr/>
          <p:nvPr/>
        </p:nvSpPr>
        <p:spPr>
          <a:xfrm>
            <a:off x="2377440" y="45720"/>
            <a:ext cx="1051560" cy="219456"/>
          </a:xfrm>
          <a:prstGeom prst="roundRect">
            <a:avLst>
              <a:gd name="adj" fmla="val 41667"/>
            </a:avLst>
          </a:prstGeom>
          <a:solidFill>
            <a:srgbClr val="4ADE80"/>
          </a:solidFill>
          <a:ln/>
        </p:spPr>
        <p:txBody>
          <a:bodyPr wrap="square" lIns="0" tIns="0" rIns="0" bIns="0" rtlCol="0" anchor="ctr"/>
          <a:lstStyle/>
          <a:p>
            <a:pPr algn="ctr" indent="0" marL="0">
              <a:buNone/>
            </a:pPr>
            <a:r>
              <a:rPr lang="en-US" sz="1000" b="1" dirty="0">
                <a:solidFill>
                  <a:srgbClr val="06240F"/>
                </a:solidFill>
              </a:rPr>
              <a:t>Answer</a:t>
            </a:r>
            <a:endParaRPr lang="en-US" sz="1000" dirty="0"/>
          </a:p>
        </p:txBody>
      </p:sp>
      <p:sp>
        <p:nvSpPr>
          <p:cNvPr id="6" name="Text 3"/>
          <p:cNvSpPr txBox="1"/>
          <p:nvPr/>
        </p:nvSpPr>
        <p:spPr>
          <a:xfrm>
            <a:off x="502920" y="960120"/>
            <a:ext cx="8138160" cy="365760"/>
          </a:xfrm>
          <a:prstGeom prst="rect">
            <a:avLst/>
          </a:prstGeom>
          <a:noFill/>
          <a:ln/>
        </p:spPr>
        <p:txBody>
          <a:bodyPr wrap="square" lIns="0" tIns="0" rIns="0" bIns="0" rtlCol="0" anchor="t"/>
          <a:lstStyle/>
          <a:p>
            <a:pPr algn="l" indent="0" marL="0">
              <a:buNone/>
            </a:pPr>
            <a:r>
              <a:rPr lang="en-US" sz="1600" b="1" dirty="0">
                <a:solidFill>
                  <a:schemeClr val="bg1"/>
                </a:solidFill>
              </a:rPr>
              <a:t>Is each statement about ionic compounds true or false?</a:t>
            </a:r>
            <a:endParaRPr lang="en-US" sz="1600" dirty="0"/>
          </a:p>
        </p:txBody>
      </p:sp>
      <p:sp>
        <p:nvSpPr>
          <p:cNvPr id="7" name="Statement 1"/>
          <p:cNvSpPr/>
          <p:nvPr/>
        </p:nvSpPr>
        <p:spPr>
          <a:xfrm>
            <a:off x="502920" y="1508760"/>
            <a:ext cx="8138160" cy="777240"/>
          </a:xfrm>
          <a:prstGeom prst="roundRect">
            <a:avLst>
              <a:gd name="adj" fmla="val 11765"/>
            </a:avLst>
          </a:prstGeom>
          <a:solidFill>
            <a:schemeClr val="tx2"/>
          </a:solidFill>
          <a:ln w="12700">
            <a:solidFill>
              <a:srgbClr val="4ADE80"/>
            </a:solidFill>
            <a:prstDash val="solid"/>
          </a:ln>
        </p:spPr>
      </p:sp>
      <p:sp>
        <p:nvSpPr>
          <p:cNvPr id="8" name="Text 5"/>
          <p:cNvSpPr txBox="1"/>
          <p:nvPr/>
        </p:nvSpPr>
        <p:spPr>
          <a:xfrm>
            <a:off x="731520" y="1618488"/>
            <a:ext cx="6035040" cy="548640"/>
          </a:xfrm>
          <a:prstGeom prst="rect">
            <a:avLst/>
          </a:prstGeom>
          <a:noFill/>
          <a:ln/>
        </p:spPr>
        <p:txBody>
          <a:bodyPr wrap="square" lIns="0" tIns="0" rIns="0" bIns="0" rtlCol="0" anchor="ctr"/>
          <a:lstStyle/>
          <a:p>
            <a:pPr algn="l" indent="0" marL="0">
              <a:buNone/>
            </a:pPr>
            <a:r>
              <a:rPr lang="en-US" sz="1800" dirty="0">
                <a:solidFill>
                  <a:schemeClr val="bg1"/>
                </a:solidFill>
              </a:rPr>
              <a:t>They have high melting points</a:t>
            </a:r>
            <a:endParaRPr lang="en-US" sz="1800" dirty="0"/>
          </a:p>
        </p:txBody>
      </p:sp>
      <p:sp>
        <p:nvSpPr>
          <p:cNvPr id="9" name="Text 6"/>
          <p:cNvSpPr txBox="1"/>
          <p:nvPr/>
        </p:nvSpPr>
        <p:spPr>
          <a:xfrm>
            <a:off x="6858000" y="1618488"/>
            <a:ext cx="1554480" cy="548640"/>
          </a:xfrm>
          <a:prstGeom prst="rect">
            <a:avLst/>
          </a:prstGeom>
          <a:noFill/>
          <a:ln/>
        </p:spPr>
        <p:txBody>
          <a:bodyPr wrap="square" lIns="0" tIns="0" rIns="0" bIns="0" rtlCol="0" anchor="ctr"/>
          <a:lstStyle/>
          <a:p>
            <a:pPr algn="ctr" indent="0" marL="0">
              <a:buNone/>
            </a:pPr>
            <a:r>
              <a:rPr lang="en-US" sz="2000" b="1" dirty="0">
                <a:solidFill>
                  <a:schemeClr val="accent4"/>
                </a:solidFill>
              </a:rPr>
              <a:t>True</a:t>
            </a:r>
            <a:endParaRPr lang="en-US" sz="2000" dirty="0"/>
          </a:p>
        </p:txBody>
      </p:sp>
      <p:sp>
        <p:nvSpPr>
          <p:cNvPr id="10" name="Statement 2"/>
          <p:cNvSpPr/>
          <p:nvPr/>
        </p:nvSpPr>
        <p:spPr>
          <a:xfrm>
            <a:off x="502920" y="2468880"/>
            <a:ext cx="8138160" cy="777240"/>
          </a:xfrm>
          <a:prstGeom prst="roundRect">
            <a:avLst>
              <a:gd name="adj" fmla="val 11765"/>
            </a:avLst>
          </a:prstGeom>
          <a:solidFill>
            <a:schemeClr val="tx2"/>
          </a:solidFill>
          <a:ln w="12700">
            <a:solidFill>
              <a:srgbClr val="F87171"/>
            </a:solidFill>
            <a:prstDash val="solid"/>
          </a:ln>
        </p:spPr>
      </p:sp>
      <p:sp>
        <p:nvSpPr>
          <p:cNvPr id="11" name="Text 8"/>
          <p:cNvSpPr txBox="1"/>
          <p:nvPr/>
        </p:nvSpPr>
        <p:spPr>
          <a:xfrm>
            <a:off x="731520" y="2578608"/>
            <a:ext cx="6035040" cy="548640"/>
          </a:xfrm>
          <a:prstGeom prst="rect">
            <a:avLst/>
          </a:prstGeom>
          <a:noFill/>
          <a:ln/>
        </p:spPr>
        <p:txBody>
          <a:bodyPr wrap="square" lIns="0" tIns="0" rIns="0" bIns="0" rtlCol="0" anchor="ctr"/>
          <a:lstStyle/>
          <a:p>
            <a:pPr algn="l" indent="0" marL="0">
              <a:buNone/>
            </a:pPr>
            <a:r>
              <a:rPr lang="en-US" sz="1800" dirty="0">
                <a:solidFill>
                  <a:schemeClr val="bg1"/>
                </a:solidFill>
              </a:rPr>
              <a:t>They conduct electricity as solids</a:t>
            </a:r>
            <a:endParaRPr lang="en-US" sz="1800" dirty="0"/>
          </a:p>
        </p:txBody>
      </p:sp>
      <p:sp>
        <p:nvSpPr>
          <p:cNvPr id="12" name="Text 9"/>
          <p:cNvSpPr txBox="1"/>
          <p:nvPr/>
        </p:nvSpPr>
        <p:spPr>
          <a:xfrm>
            <a:off x="6858000" y="2578608"/>
            <a:ext cx="1554480" cy="548640"/>
          </a:xfrm>
          <a:prstGeom prst="rect">
            <a:avLst/>
          </a:prstGeom>
          <a:noFill/>
          <a:ln/>
        </p:spPr>
        <p:txBody>
          <a:bodyPr wrap="square" lIns="0" tIns="0" rIns="0" bIns="0" rtlCol="0" anchor="ctr"/>
          <a:lstStyle/>
          <a:p>
            <a:pPr algn="ctr" indent="0" marL="0">
              <a:buNone/>
            </a:pPr>
            <a:r>
              <a:rPr lang="en-US" sz="2000" b="1" dirty="0">
                <a:solidFill>
                  <a:schemeClr val="accent6"/>
                </a:solidFill>
              </a:rPr>
              <a:t>False</a:t>
            </a:r>
            <a:endParaRPr lang="en-US" sz="2000" dirty="0"/>
          </a:p>
        </p:txBody>
      </p:sp>
      <p:sp>
        <p:nvSpPr>
          <p:cNvPr id="13" name="Statement 3"/>
          <p:cNvSpPr/>
          <p:nvPr/>
        </p:nvSpPr>
        <p:spPr>
          <a:xfrm>
            <a:off x="502920" y="3429000"/>
            <a:ext cx="8138160" cy="777240"/>
          </a:xfrm>
          <a:prstGeom prst="roundRect">
            <a:avLst>
              <a:gd name="adj" fmla="val 11765"/>
            </a:avLst>
          </a:prstGeom>
          <a:solidFill>
            <a:schemeClr val="tx2"/>
          </a:solidFill>
          <a:ln w="12700">
            <a:solidFill>
              <a:srgbClr val="4ADE80"/>
            </a:solidFill>
            <a:prstDash val="solid"/>
          </a:ln>
        </p:spPr>
      </p:sp>
      <p:sp>
        <p:nvSpPr>
          <p:cNvPr id="14" name="Text 11"/>
          <p:cNvSpPr txBox="1"/>
          <p:nvPr/>
        </p:nvSpPr>
        <p:spPr>
          <a:xfrm>
            <a:off x="731520" y="3538728"/>
            <a:ext cx="6035040" cy="548640"/>
          </a:xfrm>
          <a:prstGeom prst="rect">
            <a:avLst/>
          </a:prstGeom>
          <a:noFill/>
          <a:ln/>
        </p:spPr>
        <p:txBody>
          <a:bodyPr wrap="square" lIns="0" tIns="0" rIns="0" bIns="0" rtlCol="0" anchor="ctr"/>
          <a:lstStyle/>
          <a:p>
            <a:pPr algn="l" indent="0" marL="0">
              <a:buNone/>
            </a:pPr>
            <a:r>
              <a:rPr lang="en-US" sz="1800" dirty="0">
                <a:solidFill>
                  <a:schemeClr val="bg1"/>
                </a:solidFill>
              </a:rPr>
              <a:t>They conduct when dissolved in water</a:t>
            </a:r>
            <a:endParaRPr lang="en-US" sz="1800" dirty="0"/>
          </a:p>
        </p:txBody>
      </p:sp>
      <p:sp>
        <p:nvSpPr>
          <p:cNvPr id="15" name="Text 12"/>
          <p:cNvSpPr txBox="1"/>
          <p:nvPr/>
        </p:nvSpPr>
        <p:spPr>
          <a:xfrm>
            <a:off x="6858000" y="3538728"/>
            <a:ext cx="1554480" cy="548640"/>
          </a:xfrm>
          <a:prstGeom prst="rect">
            <a:avLst/>
          </a:prstGeom>
          <a:noFill/>
          <a:ln/>
        </p:spPr>
        <p:txBody>
          <a:bodyPr wrap="square" lIns="0" tIns="0" rIns="0" bIns="0" rtlCol="0" anchor="ctr"/>
          <a:lstStyle/>
          <a:p>
            <a:pPr algn="ctr" indent="0" marL="0">
              <a:buNone/>
            </a:pPr>
            <a:r>
              <a:rPr lang="en-US" sz="2000" b="1" dirty="0">
                <a:solidFill>
                  <a:schemeClr val="accent4"/>
                </a:solidFill>
              </a:rPr>
              <a:t>True</a:t>
            </a:r>
            <a:endParaRPr lang="en-US" sz="20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FB1C7"/>
                </a:solidFill>
              </a:defRPr>
            </a:lvl1pPr>
          </a:lstStyle>
          <a:p>
            <a:pPr algn="l"/>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1234440" y="292608"/>
            <a:ext cx="7452360" cy="548640"/>
          </a:xfrm>
          <a:prstGeom prst="rect">
            <a:avLst/>
          </a:prstGeom>
          <a:noFill/>
          <a:ln/>
        </p:spPr>
        <p:txBody>
          <a:bodyPr wrap="square" lIns="0" tIns="0" rIns="0" bIns="0" rtlCol="0" anchor="ctr"/>
          <a:lstStyle/>
          <a:p>
            <a:pPr algn="l" indent="0" marL="0">
              <a:buNone/>
            </a:pPr>
            <a:r>
              <a:rPr lang="en-US" sz="2800" b="1" dirty="0">
                <a:solidFill>
                  <a:schemeClr val="bg1"/>
                </a:solidFill>
                <a:latin typeface="Arial" pitchFamily="34" charset="0"/>
                <a:ea typeface="Arial" pitchFamily="34" charset="-122"/>
                <a:cs typeface="Arial" pitchFamily="34" charset="-120"/>
              </a:rPr>
              <a:t>Quick check</a:t>
            </a:r>
            <a:endParaRPr lang="en-US" sz="2800" dirty="0"/>
          </a:p>
        </p:txBody>
      </p:sp>
      <p:pic>
        <p:nvPicPr>
          <p:cNvPr id="3" name="Icon 7" descr="Section 7 icon">    </p:cNvPr>
          <p:cNvPicPr>
            <a:picLocks noChangeAspect="1"/>
          </p:cNvPicPr>
          <p:nvPr/>
        </p:nvPicPr>
        <p:blipFill>
          <a:blip r:embed="rId1"/>
          <a:stretch>
            <a:fillRect/>
          </a:stretch>
        </p:blipFill>
        <p:spPr>
          <a:xfrm>
            <a:off x="502920" y="201168"/>
            <a:ext cx="566928" cy="627239"/>
          </a:xfrm>
          <a:prstGeom prst="rect">
            <a:avLst/>
          </a:prstGeom>
        </p:spPr>
      </p:pic>
      <p:sp>
        <p:nvSpPr>
          <p:cNvPr id="4" name="Tag Quick check"/>
          <p:cNvSpPr/>
          <p:nvPr/>
        </p:nvSpPr>
        <p:spPr>
          <a:xfrm>
            <a:off x="1234440" y="45720"/>
            <a:ext cx="1051560" cy="219456"/>
          </a:xfrm>
          <a:prstGeom prst="roundRect">
            <a:avLst>
              <a:gd name="adj" fmla="val 41667"/>
            </a:avLst>
          </a:prstGeom>
          <a:solidFill>
            <a:srgbClr val="F6B93B"/>
          </a:solidFill>
          <a:ln/>
        </p:spPr>
        <p:txBody>
          <a:bodyPr wrap="square" lIns="0" tIns="0" rIns="0" bIns="0" rtlCol="0" anchor="ctr"/>
          <a:lstStyle/>
          <a:p>
            <a:pPr algn="ctr" indent="0" marL="0">
              <a:buNone/>
            </a:pPr>
            <a:r>
              <a:rPr lang="en-US" sz="1000" b="1" dirty="0">
                <a:solidFill>
                  <a:srgbClr val="241703"/>
                </a:solidFill>
              </a:rPr>
              <a:t>Quick check</a:t>
            </a:r>
            <a:endParaRPr lang="en-US" sz="1000" dirty="0"/>
          </a:p>
        </p:txBody>
      </p:sp>
      <p:sp>
        <p:nvSpPr>
          <p:cNvPr id="5" name="Text 2"/>
          <p:cNvSpPr txBox="1"/>
          <p:nvPr/>
        </p:nvSpPr>
        <p:spPr>
          <a:xfrm>
            <a:off x="502920" y="960120"/>
            <a:ext cx="8138160" cy="411480"/>
          </a:xfrm>
          <a:prstGeom prst="rect">
            <a:avLst/>
          </a:prstGeom>
          <a:noFill/>
          <a:ln/>
        </p:spPr>
        <p:txBody>
          <a:bodyPr wrap="square" lIns="0" tIns="0" rIns="0" bIns="0" rtlCol="0" anchor="t"/>
          <a:lstStyle/>
          <a:p>
            <a:pPr algn="l" indent="0" marL="0">
              <a:buNone/>
            </a:pPr>
            <a:r>
              <a:rPr lang="en-US" sz="1800" b="1" dirty="0">
                <a:solidFill>
                  <a:schemeClr val="bg1"/>
                </a:solidFill>
              </a:rPr>
              <a:t>Why does salt water conduct electricity but solid salt does not?</a:t>
            </a:r>
            <a:endParaRPr lang="en-US" sz="1800" dirty="0"/>
          </a:p>
        </p:txBody>
      </p:sp>
      <p:sp>
        <p:nvSpPr>
          <p:cNvPr id="6" name="Option A"/>
          <p:cNvSpPr/>
          <p:nvPr/>
        </p:nvSpPr>
        <p:spPr>
          <a:xfrm>
            <a:off x="502920" y="1508760"/>
            <a:ext cx="8138160" cy="438912"/>
          </a:xfrm>
          <a:prstGeom prst="roundRect">
            <a:avLst>
              <a:gd name="adj" fmla="val 20833"/>
            </a:avLst>
          </a:prstGeom>
          <a:solidFill>
            <a:schemeClr val="tx2"/>
          </a:solidFill>
          <a:ln w="12700">
            <a:solidFill>
              <a:srgbClr val="2A3A55"/>
            </a:solidFill>
            <a:prstDash val="solid"/>
          </a:ln>
        </p:spPr>
      </p:sp>
      <p:sp>
        <p:nvSpPr>
          <p:cNvPr id="7" name="Letter"/>
          <p:cNvSpPr/>
          <p:nvPr/>
        </p:nvSpPr>
        <p:spPr>
          <a:xfrm>
            <a:off x="621792" y="1591056"/>
            <a:ext cx="292608" cy="274320"/>
          </a:xfrm>
          <a:prstGeom prst="roundRect">
            <a:avLst>
              <a:gd name="adj" fmla="val 20000"/>
            </a:avLst>
          </a:prstGeom>
          <a:solidFill>
            <a:srgbClr val="2A3A55"/>
          </a:solidFill>
          <a:ln/>
        </p:spPr>
        <p:txBody>
          <a:bodyPr wrap="square" lIns="0" tIns="0" rIns="0" bIns="0" rtlCol="0" anchor="ctr"/>
          <a:lstStyle/>
          <a:p>
            <a:pPr algn="ctr" indent="0" marL="0">
              <a:buNone/>
            </a:pPr>
            <a:r>
              <a:rPr lang="en-US" sz="1200" b="1" dirty="0">
                <a:solidFill>
                  <a:srgbClr val="E6EDF7"/>
                </a:solidFill>
              </a:rPr>
              <a:t>A</a:t>
            </a:r>
            <a:endParaRPr lang="en-US" sz="1200" dirty="0"/>
          </a:p>
        </p:txBody>
      </p:sp>
      <p:sp>
        <p:nvSpPr>
          <p:cNvPr id="8" name="Text 5"/>
          <p:cNvSpPr txBox="1"/>
          <p:nvPr/>
        </p:nvSpPr>
        <p:spPr>
          <a:xfrm>
            <a:off x="1024128" y="1563624"/>
            <a:ext cx="7498080" cy="347472"/>
          </a:xfrm>
          <a:prstGeom prst="rect">
            <a:avLst/>
          </a:prstGeom>
          <a:noFill/>
          <a:ln/>
        </p:spPr>
        <p:txBody>
          <a:bodyPr wrap="square" lIns="0" tIns="0" rIns="0" bIns="0" rtlCol="0" anchor="ctr"/>
          <a:lstStyle/>
          <a:p>
            <a:pPr algn="l" indent="0" marL="0">
              <a:buNone/>
            </a:pPr>
            <a:r>
              <a:rPr lang="en-US" sz="1500" dirty="0">
                <a:solidFill>
                  <a:schemeClr val="bg1"/>
                </a:solidFill>
              </a:rPr>
              <a:t>Water has more electrons</a:t>
            </a:r>
            <a:endParaRPr lang="en-US" sz="1500" dirty="0"/>
          </a:p>
        </p:txBody>
      </p:sp>
      <p:sp>
        <p:nvSpPr>
          <p:cNvPr id="9" name="Option B"/>
          <p:cNvSpPr/>
          <p:nvPr/>
        </p:nvSpPr>
        <p:spPr>
          <a:xfrm>
            <a:off x="502920" y="2039112"/>
            <a:ext cx="8138160" cy="438912"/>
          </a:xfrm>
          <a:prstGeom prst="roundRect">
            <a:avLst>
              <a:gd name="adj" fmla="val 20833"/>
            </a:avLst>
          </a:prstGeom>
          <a:solidFill>
            <a:schemeClr val="tx2"/>
          </a:solidFill>
          <a:ln w="12700">
            <a:solidFill>
              <a:srgbClr val="2A3A55"/>
            </a:solidFill>
            <a:prstDash val="solid"/>
          </a:ln>
        </p:spPr>
      </p:sp>
      <p:sp>
        <p:nvSpPr>
          <p:cNvPr id="10" name="Letter"/>
          <p:cNvSpPr/>
          <p:nvPr/>
        </p:nvSpPr>
        <p:spPr>
          <a:xfrm>
            <a:off x="621792" y="2121408"/>
            <a:ext cx="292608" cy="274320"/>
          </a:xfrm>
          <a:prstGeom prst="roundRect">
            <a:avLst>
              <a:gd name="adj" fmla="val 20000"/>
            </a:avLst>
          </a:prstGeom>
          <a:solidFill>
            <a:srgbClr val="2A3A55"/>
          </a:solidFill>
          <a:ln/>
        </p:spPr>
        <p:txBody>
          <a:bodyPr wrap="square" lIns="0" tIns="0" rIns="0" bIns="0" rtlCol="0" anchor="ctr"/>
          <a:lstStyle/>
          <a:p>
            <a:pPr algn="ctr" indent="0" marL="0">
              <a:buNone/>
            </a:pPr>
            <a:r>
              <a:rPr lang="en-US" sz="1200" b="1" dirty="0">
                <a:solidFill>
                  <a:srgbClr val="E6EDF7"/>
                </a:solidFill>
              </a:rPr>
              <a:t>B</a:t>
            </a:r>
            <a:endParaRPr lang="en-US" sz="1200" dirty="0"/>
          </a:p>
        </p:txBody>
      </p:sp>
      <p:sp>
        <p:nvSpPr>
          <p:cNvPr id="11" name="Text 8"/>
          <p:cNvSpPr txBox="1"/>
          <p:nvPr/>
        </p:nvSpPr>
        <p:spPr>
          <a:xfrm>
            <a:off x="1024128" y="2093976"/>
            <a:ext cx="7498080" cy="347472"/>
          </a:xfrm>
          <a:prstGeom prst="rect">
            <a:avLst/>
          </a:prstGeom>
          <a:noFill/>
          <a:ln/>
        </p:spPr>
        <p:txBody>
          <a:bodyPr wrap="square" lIns="0" tIns="0" rIns="0" bIns="0" rtlCol="0" anchor="ctr"/>
          <a:lstStyle/>
          <a:p>
            <a:pPr algn="l" indent="0" marL="0">
              <a:buNone/>
            </a:pPr>
            <a:r>
              <a:rPr lang="en-US" sz="1500" dirty="0">
                <a:solidFill>
                  <a:schemeClr val="bg1"/>
                </a:solidFill>
              </a:rPr>
              <a:t>Dissolved ions can move, but in a solid they are locked in place</a:t>
            </a:r>
            <a:endParaRPr lang="en-US" sz="1500" dirty="0"/>
          </a:p>
        </p:txBody>
      </p:sp>
      <p:sp>
        <p:nvSpPr>
          <p:cNvPr id="12" name="Option C"/>
          <p:cNvSpPr/>
          <p:nvPr/>
        </p:nvSpPr>
        <p:spPr>
          <a:xfrm>
            <a:off x="502920" y="2569464"/>
            <a:ext cx="8138160" cy="438912"/>
          </a:xfrm>
          <a:prstGeom prst="roundRect">
            <a:avLst>
              <a:gd name="adj" fmla="val 20833"/>
            </a:avLst>
          </a:prstGeom>
          <a:solidFill>
            <a:schemeClr val="tx2"/>
          </a:solidFill>
          <a:ln w="12700">
            <a:solidFill>
              <a:srgbClr val="2A3A55"/>
            </a:solidFill>
            <a:prstDash val="solid"/>
          </a:ln>
        </p:spPr>
      </p:sp>
      <p:sp>
        <p:nvSpPr>
          <p:cNvPr id="13" name="Letter"/>
          <p:cNvSpPr/>
          <p:nvPr/>
        </p:nvSpPr>
        <p:spPr>
          <a:xfrm>
            <a:off x="621792" y="2651760"/>
            <a:ext cx="292608" cy="274320"/>
          </a:xfrm>
          <a:prstGeom prst="roundRect">
            <a:avLst>
              <a:gd name="adj" fmla="val 20000"/>
            </a:avLst>
          </a:prstGeom>
          <a:solidFill>
            <a:srgbClr val="2A3A55"/>
          </a:solidFill>
          <a:ln/>
        </p:spPr>
        <p:txBody>
          <a:bodyPr wrap="square" lIns="0" tIns="0" rIns="0" bIns="0" rtlCol="0" anchor="ctr"/>
          <a:lstStyle/>
          <a:p>
            <a:pPr algn="ctr" indent="0" marL="0">
              <a:buNone/>
            </a:pPr>
            <a:r>
              <a:rPr lang="en-US" sz="1200" b="1" dirty="0">
                <a:solidFill>
                  <a:srgbClr val="E6EDF7"/>
                </a:solidFill>
              </a:rPr>
              <a:t>C</a:t>
            </a:r>
            <a:endParaRPr lang="en-US" sz="1200" dirty="0"/>
          </a:p>
        </p:txBody>
      </p:sp>
      <p:sp>
        <p:nvSpPr>
          <p:cNvPr id="14" name="Text 11"/>
          <p:cNvSpPr txBox="1"/>
          <p:nvPr/>
        </p:nvSpPr>
        <p:spPr>
          <a:xfrm>
            <a:off x="1024128" y="2624328"/>
            <a:ext cx="7498080" cy="347472"/>
          </a:xfrm>
          <a:prstGeom prst="rect">
            <a:avLst/>
          </a:prstGeom>
          <a:noFill/>
          <a:ln/>
        </p:spPr>
        <p:txBody>
          <a:bodyPr wrap="square" lIns="0" tIns="0" rIns="0" bIns="0" rtlCol="0" anchor="ctr"/>
          <a:lstStyle/>
          <a:p>
            <a:pPr algn="l" indent="0" marL="0">
              <a:buNone/>
            </a:pPr>
            <a:r>
              <a:rPr lang="en-US" sz="1500" dirty="0">
                <a:solidFill>
                  <a:schemeClr val="bg1"/>
                </a:solidFill>
              </a:rPr>
              <a:t>Solid salt has no ions</a:t>
            </a:r>
            <a:endParaRPr lang="en-US" sz="1500" dirty="0"/>
          </a:p>
        </p:txBody>
      </p:sp>
      <p:sp>
        <p:nvSpPr>
          <p:cNvPr id="15" name="Option D"/>
          <p:cNvSpPr/>
          <p:nvPr/>
        </p:nvSpPr>
        <p:spPr>
          <a:xfrm>
            <a:off x="502920" y="3099816"/>
            <a:ext cx="8138160" cy="438912"/>
          </a:xfrm>
          <a:prstGeom prst="roundRect">
            <a:avLst>
              <a:gd name="adj" fmla="val 20833"/>
            </a:avLst>
          </a:prstGeom>
          <a:solidFill>
            <a:schemeClr val="tx2"/>
          </a:solidFill>
          <a:ln w="12700">
            <a:solidFill>
              <a:srgbClr val="2A3A55"/>
            </a:solidFill>
            <a:prstDash val="solid"/>
          </a:ln>
        </p:spPr>
      </p:sp>
      <p:sp>
        <p:nvSpPr>
          <p:cNvPr id="16" name="Letter"/>
          <p:cNvSpPr/>
          <p:nvPr/>
        </p:nvSpPr>
        <p:spPr>
          <a:xfrm>
            <a:off x="621792" y="3182112"/>
            <a:ext cx="292608" cy="274320"/>
          </a:xfrm>
          <a:prstGeom prst="roundRect">
            <a:avLst>
              <a:gd name="adj" fmla="val 20000"/>
            </a:avLst>
          </a:prstGeom>
          <a:solidFill>
            <a:srgbClr val="2A3A55"/>
          </a:solidFill>
          <a:ln/>
        </p:spPr>
        <p:txBody>
          <a:bodyPr wrap="square" lIns="0" tIns="0" rIns="0" bIns="0" rtlCol="0" anchor="ctr"/>
          <a:lstStyle/>
          <a:p>
            <a:pPr algn="ctr" indent="0" marL="0">
              <a:buNone/>
            </a:pPr>
            <a:r>
              <a:rPr lang="en-US" sz="1200" b="1" dirty="0">
                <a:solidFill>
                  <a:srgbClr val="E6EDF7"/>
                </a:solidFill>
              </a:rPr>
              <a:t>D</a:t>
            </a:r>
            <a:endParaRPr lang="en-US" sz="1200" dirty="0"/>
          </a:p>
        </p:txBody>
      </p:sp>
      <p:sp>
        <p:nvSpPr>
          <p:cNvPr id="17" name="Text 14"/>
          <p:cNvSpPr txBox="1"/>
          <p:nvPr/>
        </p:nvSpPr>
        <p:spPr>
          <a:xfrm>
            <a:off x="1024128" y="3154680"/>
            <a:ext cx="7498080" cy="347472"/>
          </a:xfrm>
          <a:prstGeom prst="rect">
            <a:avLst/>
          </a:prstGeom>
          <a:noFill/>
          <a:ln/>
        </p:spPr>
        <p:txBody>
          <a:bodyPr wrap="square" lIns="0" tIns="0" rIns="0" bIns="0" rtlCol="0" anchor="ctr"/>
          <a:lstStyle/>
          <a:p>
            <a:pPr algn="l" indent="0" marL="0">
              <a:buNone/>
            </a:pPr>
            <a:r>
              <a:rPr lang="en-US" sz="1500" dirty="0">
                <a:solidFill>
                  <a:schemeClr val="bg1"/>
                </a:solidFill>
              </a:rPr>
              <a:t>Salt water is a metal</a:t>
            </a:r>
            <a:endParaRPr lang="en-US" sz="15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FB1C7"/>
                </a:solidFill>
              </a:defRPr>
            </a:lvl1pPr>
          </a:lstStyle>
          <a:p>
            <a:pPr algn="l"/>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1234440" y="292608"/>
            <a:ext cx="7452360" cy="548640"/>
          </a:xfrm>
          <a:prstGeom prst="rect">
            <a:avLst/>
          </a:prstGeom>
          <a:noFill/>
          <a:ln/>
        </p:spPr>
        <p:txBody>
          <a:bodyPr wrap="square" lIns="0" tIns="0" rIns="0" bIns="0" rtlCol="0" anchor="ctr"/>
          <a:lstStyle/>
          <a:p>
            <a:pPr algn="l" indent="0" marL="0">
              <a:buNone/>
            </a:pPr>
            <a:r>
              <a:rPr lang="en-US" sz="2800" b="1" dirty="0">
                <a:solidFill>
                  <a:schemeClr val="bg1"/>
                </a:solidFill>
                <a:latin typeface="Arial" pitchFamily="34" charset="0"/>
                <a:ea typeface="Arial" pitchFamily="34" charset="-122"/>
                <a:cs typeface="Arial" pitchFamily="34" charset="-120"/>
              </a:rPr>
              <a:t>Quick check</a:t>
            </a:r>
            <a:endParaRPr lang="en-US" sz="2800" dirty="0"/>
          </a:p>
        </p:txBody>
      </p:sp>
      <p:pic>
        <p:nvPicPr>
          <p:cNvPr id="3" name="Icon 7" descr="Section 7 icon">    </p:cNvPr>
          <p:cNvPicPr>
            <a:picLocks noChangeAspect="1"/>
          </p:cNvPicPr>
          <p:nvPr/>
        </p:nvPicPr>
        <p:blipFill>
          <a:blip r:embed="rId1"/>
          <a:stretch>
            <a:fillRect/>
          </a:stretch>
        </p:blipFill>
        <p:spPr>
          <a:xfrm>
            <a:off x="502920" y="201168"/>
            <a:ext cx="566928" cy="627239"/>
          </a:xfrm>
          <a:prstGeom prst="rect">
            <a:avLst/>
          </a:prstGeom>
        </p:spPr>
      </p:pic>
      <p:sp>
        <p:nvSpPr>
          <p:cNvPr id="4" name="Tag Quick check"/>
          <p:cNvSpPr/>
          <p:nvPr/>
        </p:nvSpPr>
        <p:spPr>
          <a:xfrm>
            <a:off x="1234440" y="45720"/>
            <a:ext cx="1051560" cy="219456"/>
          </a:xfrm>
          <a:prstGeom prst="roundRect">
            <a:avLst>
              <a:gd name="adj" fmla="val 41667"/>
            </a:avLst>
          </a:prstGeom>
          <a:solidFill>
            <a:srgbClr val="F6B93B"/>
          </a:solidFill>
          <a:ln/>
        </p:spPr>
        <p:txBody>
          <a:bodyPr wrap="square" lIns="0" tIns="0" rIns="0" bIns="0" rtlCol="0" anchor="ctr"/>
          <a:lstStyle/>
          <a:p>
            <a:pPr algn="ctr" indent="0" marL="0">
              <a:buNone/>
            </a:pPr>
            <a:r>
              <a:rPr lang="en-US" sz="1000" b="1" dirty="0">
                <a:solidFill>
                  <a:srgbClr val="241703"/>
                </a:solidFill>
              </a:rPr>
              <a:t>Quick check</a:t>
            </a:r>
            <a:endParaRPr lang="en-US" sz="1000" dirty="0"/>
          </a:p>
        </p:txBody>
      </p:sp>
      <p:sp>
        <p:nvSpPr>
          <p:cNvPr id="5" name="Tag Answer"/>
          <p:cNvSpPr/>
          <p:nvPr/>
        </p:nvSpPr>
        <p:spPr>
          <a:xfrm>
            <a:off x="2377440" y="45720"/>
            <a:ext cx="1051560" cy="219456"/>
          </a:xfrm>
          <a:prstGeom prst="roundRect">
            <a:avLst>
              <a:gd name="adj" fmla="val 41667"/>
            </a:avLst>
          </a:prstGeom>
          <a:solidFill>
            <a:srgbClr val="4ADE80"/>
          </a:solidFill>
          <a:ln/>
        </p:spPr>
        <p:txBody>
          <a:bodyPr wrap="square" lIns="0" tIns="0" rIns="0" bIns="0" rtlCol="0" anchor="ctr"/>
          <a:lstStyle/>
          <a:p>
            <a:pPr algn="ctr" indent="0" marL="0">
              <a:buNone/>
            </a:pPr>
            <a:r>
              <a:rPr lang="en-US" sz="1000" b="1" dirty="0">
                <a:solidFill>
                  <a:srgbClr val="06240F"/>
                </a:solidFill>
              </a:rPr>
              <a:t>Answer</a:t>
            </a:r>
            <a:endParaRPr lang="en-US" sz="1000" dirty="0"/>
          </a:p>
        </p:txBody>
      </p:sp>
      <p:sp>
        <p:nvSpPr>
          <p:cNvPr id="6" name="Text 3"/>
          <p:cNvSpPr txBox="1"/>
          <p:nvPr/>
        </p:nvSpPr>
        <p:spPr>
          <a:xfrm>
            <a:off x="502920" y="960120"/>
            <a:ext cx="8138160" cy="411480"/>
          </a:xfrm>
          <a:prstGeom prst="rect">
            <a:avLst/>
          </a:prstGeom>
          <a:noFill/>
          <a:ln/>
        </p:spPr>
        <p:txBody>
          <a:bodyPr wrap="square" lIns="0" tIns="0" rIns="0" bIns="0" rtlCol="0" anchor="t"/>
          <a:lstStyle/>
          <a:p>
            <a:pPr algn="l" indent="0" marL="0">
              <a:buNone/>
            </a:pPr>
            <a:r>
              <a:rPr lang="en-US" sz="1800" b="1" dirty="0">
                <a:solidFill>
                  <a:schemeClr val="bg1"/>
                </a:solidFill>
              </a:rPr>
              <a:t>Why does salt water conduct electricity but solid salt does not?</a:t>
            </a:r>
            <a:endParaRPr lang="en-US" sz="1800" dirty="0"/>
          </a:p>
        </p:txBody>
      </p:sp>
      <p:sp>
        <p:nvSpPr>
          <p:cNvPr id="7" name="Option A"/>
          <p:cNvSpPr/>
          <p:nvPr/>
        </p:nvSpPr>
        <p:spPr>
          <a:xfrm>
            <a:off x="502920" y="1508760"/>
            <a:ext cx="8138160" cy="438912"/>
          </a:xfrm>
          <a:prstGeom prst="roundRect">
            <a:avLst>
              <a:gd name="adj" fmla="val 20833"/>
            </a:avLst>
          </a:prstGeom>
          <a:solidFill>
            <a:schemeClr val="tx2"/>
          </a:solidFill>
          <a:ln w="12700">
            <a:solidFill>
              <a:srgbClr val="2A3A55"/>
            </a:solidFill>
            <a:prstDash val="solid"/>
          </a:ln>
        </p:spPr>
      </p:sp>
      <p:sp>
        <p:nvSpPr>
          <p:cNvPr id="8" name="Letter"/>
          <p:cNvSpPr/>
          <p:nvPr/>
        </p:nvSpPr>
        <p:spPr>
          <a:xfrm>
            <a:off x="621792" y="1591056"/>
            <a:ext cx="292608" cy="274320"/>
          </a:xfrm>
          <a:prstGeom prst="roundRect">
            <a:avLst>
              <a:gd name="adj" fmla="val 20000"/>
            </a:avLst>
          </a:prstGeom>
          <a:solidFill>
            <a:srgbClr val="2A3A55"/>
          </a:solidFill>
          <a:ln/>
        </p:spPr>
        <p:txBody>
          <a:bodyPr wrap="square" lIns="0" tIns="0" rIns="0" bIns="0" rtlCol="0" anchor="ctr"/>
          <a:lstStyle/>
          <a:p>
            <a:pPr algn="ctr" indent="0" marL="0">
              <a:buNone/>
            </a:pPr>
            <a:r>
              <a:rPr lang="en-US" sz="1200" b="1" dirty="0">
                <a:solidFill>
                  <a:srgbClr val="E6EDF7"/>
                </a:solidFill>
              </a:rPr>
              <a:t>A</a:t>
            </a:r>
            <a:endParaRPr lang="en-US" sz="1200" dirty="0"/>
          </a:p>
        </p:txBody>
      </p:sp>
      <p:sp>
        <p:nvSpPr>
          <p:cNvPr id="9" name="Text 6"/>
          <p:cNvSpPr txBox="1"/>
          <p:nvPr/>
        </p:nvSpPr>
        <p:spPr>
          <a:xfrm>
            <a:off x="1024128" y="1563624"/>
            <a:ext cx="7498080" cy="347472"/>
          </a:xfrm>
          <a:prstGeom prst="rect">
            <a:avLst/>
          </a:prstGeom>
          <a:noFill/>
          <a:ln/>
        </p:spPr>
        <p:txBody>
          <a:bodyPr wrap="square" lIns="0" tIns="0" rIns="0" bIns="0" rtlCol="0" anchor="ctr"/>
          <a:lstStyle/>
          <a:p>
            <a:pPr algn="l" indent="0" marL="0">
              <a:buNone/>
            </a:pPr>
            <a:r>
              <a:rPr lang="en-US" sz="1500" dirty="0">
                <a:solidFill>
                  <a:srgbClr val="9FB1C7"/>
                </a:solidFill>
              </a:rPr>
              <a:t>Water has more electrons</a:t>
            </a:r>
            <a:endParaRPr lang="en-US" sz="1500" dirty="0"/>
          </a:p>
        </p:txBody>
      </p:sp>
      <p:sp>
        <p:nvSpPr>
          <p:cNvPr id="10" name="Option B"/>
          <p:cNvSpPr/>
          <p:nvPr/>
        </p:nvSpPr>
        <p:spPr>
          <a:xfrm>
            <a:off x="502920" y="2039112"/>
            <a:ext cx="8138160" cy="438912"/>
          </a:xfrm>
          <a:prstGeom prst="roundRect">
            <a:avLst>
              <a:gd name="adj" fmla="val 20833"/>
            </a:avLst>
          </a:prstGeom>
          <a:solidFill>
            <a:srgbClr val="153D2A"/>
          </a:solidFill>
          <a:ln w="25400">
            <a:solidFill>
              <a:srgbClr val="4ADE80"/>
            </a:solidFill>
            <a:prstDash val="solid"/>
          </a:ln>
        </p:spPr>
      </p:sp>
      <p:sp>
        <p:nvSpPr>
          <p:cNvPr id="11" name="Letter"/>
          <p:cNvSpPr/>
          <p:nvPr/>
        </p:nvSpPr>
        <p:spPr>
          <a:xfrm>
            <a:off x="621792" y="2121408"/>
            <a:ext cx="292608" cy="274320"/>
          </a:xfrm>
          <a:prstGeom prst="roundRect">
            <a:avLst>
              <a:gd name="adj" fmla="val 20000"/>
            </a:avLst>
          </a:prstGeom>
          <a:solidFill>
            <a:srgbClr val="4ADE80"/>
          </a:solidFill>
          <a:ln/>
        </p:spPr>
        <p:txBody>
          <a:bodyPr wrap="square" lIns="0" tIns="0" rIns="0" bIns="0" rtlCol="0" anchor="ctr"/>
          <a:lstStyle/>
          <a:p>
            <a:pPr algn="ctr" indent="0" marL="0">
              <a:buNone/>
            </a:pPr>
            <a:r>
              <a:rPr lang="en-US" sz="1200" b="1" dirty="0">
                <a:solidFill>
                  <a:srgbClr val="06240F"/>
                </a:solidFill>
              </a:rPr>
              <a:t>B</a:t>
            </a:r>
            <a:endParaRPr lang="en-US" sz="1200" dirty="0"/>
          </a:p>
        </p:txBody>
      </p:sp>
      <p:sp>
        <p:nvSpPr>
          <p:cNvPr id="12" name="Text 9"/>
          <p:cNvSpPr txBox="1"/>
          <p:nvPr/>
        </p:nvSpPr>
        <p:spPr>
          <a:xfrm>
            <a:off x="1024128" y="2093976"/>
            <a:ext cx="7498080" cy="347472"/>
          </a:xfrm>
          <a:prstGeom prst="rect">
            <a:avLst/>
          </a:prstGeom>
          <a:noFill/>
          <a:ln/>
        </p:spPr>
        <p:txBody>
          <a:bodyPr wrap="square" lIns="0" tIns="0" rIns="0" bIns="0" rtlCol="0" anchor="ctr"/>
          <a:lstStyle/>
          <a:p>
            <a:pPr algn="l" indent="0" marL="0">
              <a:buNone/>
            </a:pPr>
            <a:r>
              <a:rPr lang="en-US" sz="1500" dirty="0">
                <a:solidFill>
                  <a:schemeClr val="bg1"/>
                </a:solidFill>
              </a:rPr>
              <a:t>Dissolved ions can move, but in a solid they are locked in place</a:t>
            </a:r>
            <a:endParaRPr lang="en-US" sz="1500" dirty="0"/>
          </a:p>
        </p:txBody>
      </p:sp>
      <p:sp>
        <p:nvSpPr>
          <p:cNvPr id="13" name="Option C"/>
          <p:cNvSpPr/>
          <p:nvPr/>
        </p:nvSpPr>
        <p:spPr>
          <a:xfrm>
            <a:off x="502920" y="2569464"/>
            <a:ext cx="8138160" cy="438912"/>
          </a:xfrm>
          <a:prstGeom prst="roundRect">
            <a:avLst>
              <a:gd name="adj" fmla="val 20833"/>
            </a:avLst>
          </a:prstGeom>
          <a:solidFill>
            <a:schemeClr val="tx2"/>
          </a:solidFill>
          <a:ln w="12700">
            <a:solidFill>
              <a:srgbClr val="2A3A55"/>
            </a:solidFill>
            <a:prstDash val="solid"/>
          </a:ln>
        </p:spPr>
      </p:sp>
      <p:sp>
        <p:nvSpPr>
          <p:cNvPr id="14" name="Letter"/>
          <p:cNvSpPr/>
          <p:nvPr/>
        </p:nvSpPr>
        <p:spPr>
          <a:xfrm>
            <a:off x="621792" y="2651760"/>
            <a:ext cx="292608" cy="274320"/>
          </a:xfrm>
          <a:prstGeom prst="roundRect">
            <a:avLst>
              <a:gd name="adj" fmla="val 20000"/>
            </a:avLst>
          </a:prstGeom>
          <a:solidFill>
            <a:srgbClr val="2A3A55"/>
          </a:solidFill>
          <a:ln/>
        </p:spPr>
        <p:txBody>
          <a:bodyPr wrap="square" lIns="0" tIns="0" rIns="0" bIns="0" rtlCol="0" anchor="ctr"/>
          <a:lstStyle/>
          <a:p>
            <a:pPr algn="ctr" indent="0" marL="0">
              <a:buNone/>
            </a:pPr>
            <a:r>
              <a:rPr lang="en-US" sz="1200" b="1" dirty="0">
                <a:solidFill>
                  <a:srgbClr val="E6EDF7"/>
                </a:solidFill>
              </a:rPr>
              <a:t>C</a:t>
            </a:r>
            <a:endParaRPr lang="en-US" sz="1200" dirty="0"/>
          </a:p>
        </p:txBody>
      </p:sp>
      <p:sp>
        <p:nvSpPr>
          <p:cNvPr id="15" name="Text 12"/>
          <p:cNvSpPr txBox="1"/>
          <p:nvPr/>
        </p:nvSpPr>
        <p:spPr>
          <a:xfrm>
            <a:off x="1024128" y="2624328"/>
            <a:ext cx="7498080" cy="347472"/>
          </a:xfrm>
          <a:prstGeom prst="rect">
            <a:avLst/>
          </a:prstGeom>
          <a:noFill/>
          <a:ln/>
        </p:spPr>
        <p:txBody>
          <a:bodyPr wrap="square" lIns="0" tIns="0" rIns="0" bIns="0" rtlCol="0" anchor="ctr"/>
          <a:lstStyle/>
          <a:p>
            <a:pPr algn="l" indent="0" marL="0">
              <a:buNone/>
            </a:pPr>
            <a:r>
              <a:rPr lang="en-US" sz="1500" dirty="0">
                <a:solidFill>
                  <a:srgbClr val="9FB1C7"/>
                </a:solidFill>
              </a:rPr>
              <a:t>Solid salt has no ions</a:t>
            </a:r>
            <a:endParaRPr lang="en-US" sz="1500" dirty="0"/>
          </a:p>
        </p:txBody>
      </p:sp>
      <p:sp>
        <p:nvSpPr>
          <p:cNvPr id="16" name="Option D"/>
          <p:cNvSpPr/>
          <p:nvPr/>
        </p:nvSpPr>
        <p:spPr>
          <a:xfrm>
            <a:off x="502920" y="3099816"/>
            <a:ext cx="8138160" cy="438912"/>
          </a:xfrm>
          <a:prstGeom prst="roundRect">
            <a:avLst>
              <a:gd name="adj" fmla="val 20833"/>
            </a:avLst>
          </a:prstGeom>
          <a:solidFill>
            <a:schemeClr val="tx2"/>
          </a:solidFill>
          <a:ln w="12700">
            <a:solidFill>
              <a:srgbClr val="2A3A55"/>
            </a:solidFill>
            <a:prstDash val="solid"/>
          </a:ln>
        </p:spPr>
      </p:sp>
      <p:sp>
        <p:nvSpPr>
          <p:cNvPr id="17" name="Letter"/>
          <p:cNvSpPr/>
          <p:nvPr/>
        </p:nvSpPr>
        <p:spPr>
          <a:xfrm>
            <a:off x="621792" y="3182112"/>
            <a:ext cx="292608" cy="274320"/>
          </a:xfrm>
          <a:prstGeom prst="roundRect">
            <a:avLst>
              <a:gd name="adj" fmla="val 20000"/>
            </a:avLst>
          </a:prstGeom>
          <a:solidFill>
            <a:srgbClr val="2A3A55"/>
          </a:solidFill>
          <a:ln/>
        </p:spPr>
        <p:txBody>
          <a:bodyPr wrap="square" lIns="0" tIns="0" rIns="0" bIns="0" rtlCol="0" anchor="ctr"/>
          <a:lstStyle/>
          <a:p>
            <a:pPr algn="ctr" indent="0" marL="0">
              <a:buNone/>
            </a:pPr>
            <a:r>
              <a:rPr lang="en-US" sz="1200" b="1" dirty="0">
                <a:solidFill>
                  <a:srgbClr val="E6EDF7"/>
                </a:solidFill>
              </a:rPr>
              <a:t>D</a:t>
            </a:r>
            <a:endParaRPr lang="en-US" sz="1200" dirty="0"/>
          </a:p>
        </p:txBody>
      </p:sp>
      <p:sp>
        <p:nvSpPr>
          <p:cNvPr id="18" name="Text 15"/>
          <p:cNvSpPr txBox="1"/>
          <p:nvPr/>
        </p:nvSpPr>
        <p:spPr>
          <a:xfrm>
            <a:off x="1024128" y="3154680"/>
            <a:ext cx="7498080" cy="347472"/>
          </a:xfrm>
          <a:prstGeom prst="rect">
            <a:avLst/>
          </a:prstGeom>
          <a:noFill/>
          <a:ln/>
        </p:spPr>
        <p:txBody>
          <a:bodyPr wrap="square" lIns="0" tIns="0" rIns="0" bIns="0" rtlCol="0" anchor="ctr"/>
          <a:lstStyle/>
          <a:p>
            <a:pPr algn="l" indent="0" marL="0">
              <a:buNone/>
            </a:pPr>
            <a:r>
              <a:rPr lang="en-US" sz="1500" dirty="0">
                <a:solidFill>
                  <a:srgbClr val="9FB1C7"/>
                </a:solidFill>
              </a:rPr>
              <a:t>Salt water is a metal</a:t>
            </a:r>
            <a:endParaRPr lang="en-US" sz="1500" dirty="0"/>
          </a:p>
        </p:txBody>
      </p:sp>
      <p:sp>
        <p:nvSpPr>
          <p:cNvPr id="19" name="Why"/>
          <p:cNvSpPr/>
          <p:nvPr/>
        </p:nvSpPr>
        <p:spPr>
          <a:xfrm>
            <a:off x="502920" y="3675888"/>
            <a:ext cx="8138160" cy="566928"/>
          </a:xfrm>
          <a:prstGeom prst="roundRect">
            <a:avLst>
              <a:gd name="adj" fmla="val 16129"/>
            </a:avLst>
          </a:prstGeom>
          <a:solidFill>
            <a:srgbClr val="153D2A"/>
          </a:solidFill>
          <a:ln w="12700">
            <a:solidFill>
              <a:srgbClr val="2F6B47"/>
            </a:solidFill>
            <a:prstDash val="solid"/>
          </a:ln>
        </p:spPr>
      </p:sp>
      <p:sp>
        <p:nvSpPr>
          <p:cNvPr id="20" name="Text 17"/>
          <p:cNvSpPr txBox="1"/>
          <p:nvPr/>
        </p:nvSpPr>
        <p:spPr>
          <a:xfrm>
            <a:off x="685800" y="3730752"/>
            <a:ext cx="7772400" cy="475488"/>
          </a:xfrm>
          <a:prstGeom prst="rect">
            <a:avLst/>
          </a:prstGeom>
          <a:noFill/>
          <a:ln/>
        </p:spPr>
        <p:txBody>
          <a:bodyPr wrap="square" lIns="0" tIns="0" rIns="0" bIns="0" rtlCol="0" anchor="ctr"/>
          <a:lstStyle/>
          <a:p>
            <a:pPr algn="l" indent="0" marL="0">
              <a:buNone/>
            </a:pPr>
            <a:r>
              <a:rPr lang="en-US" sz="1400" b="1" dirty="0">
                <a:solidFill>
                  <a:schemeClr val="accent4"/>
                </a:solidFill>
              </a:rPr>
              <a:t>Why: </a:t>
            </a:r>
            <a:pPr algn="l" indent="0" marL="0">
              <a:buNone/>
            </a:pPr>
            <a:r>
              <a:rPr lang="en-US" sz="1400" dirty="0">
                <a:solidFill>
                  <a:schemeClr val="bg1"/>
                </a:solidFill>
              </a:rPr>
              <a:t>Current needs moving charged particles. In solution, Na⁺ and Cl⁻ are free to move.</a:t>
            </a:r>
            <a:endParaRPr lang="en-US" sz="14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FB1C7"/>
                </a:solidFill>
              </a:defRPr>
            </a:lvl1pPr>
          </a:lstStyle>
          <a:p>
            <a:pPr algn="l"/>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1" type="body" hasCustomPrompt="1"/>
          </p:nvPr>
        </p:nvSpPr>
        <p:spPr>
          <a:xfrm>
            <a:off x="1645920" y="274320"/>
            <a:ext cx="6949440" cy="274320"/>
          </a:xfrm>
          <a:prstGeom prst="rect">
            <a:avLst/>
          </a:prstGeom>
          <a:noFill/>
          <a:ln/>
        </p:spPr>
        <p:txBody>
          <a:bodyPr wrap="square" lIns="0" tIns="0" rIns="0" bIns="0" rtlCol="0"/>
          <a:lstStyle/>
          <a:p>
            <a:pPr indent="0" marL="0">
              <a:buNone/>
            </a:pPr>
            <a:r>
              <a:rPr lang="en-US" sz="1300" dirty="0">
                <a:solidFill>
                  <a:schemeClr val="bg2"/>
                </a:solidFill>
              </a:rPr>
              <a:t>Section 8 of 9 · about 3 min</a:t>
            </a:r>
            <a:endParaRPr lang="en-US" sz="1300" dirty="0"/>
          </a:p>
        </p:txBody>
      </p:sp>
      <p:sp>
        <p:nvSpPr>
          <p:cNvPr id="3" name="Text 0"/>
          <p:cNvSpPr/>
          <p:nvPr>
            <p:ph idx="100" type="title" hasCustomPrompt="1"/>
          </p:nvPr>
        </p:nvSpPr>
        <p:spPr>
          <a:xfrm>
            <a:off x="1645920" y="548640"/>
            <a:ext cx="7040880" cy="685800"/>
          </a:xfrm>
          <a:prstGeom prst="rect">
            <a:avLst/>
          </a:prstGeom>
          <a:noFill/>
          <a:ln/>
        </p:spPr>
        <p:txBody>
          <a:bodyPr wrap="square" lIns="0" tIns="0" rIns="0" bIns="0" rtlCol="0" anchor="ctr"/>
          <a:lstStyle/>
          <a:p>
            <a:pPr algn="l" indent="0" marL="0">
              <a:buNone/>
            </a:pPr>
            <a:r>
              <a:rPr lang="en-US" sz="3000" b="1" dirty="0">
                <a:solidFill>
                  <a:schemeClr val="bg1"/>
                </a:solidFill>
                <a:latin typeface="Arial" pitchFamily="34" charset="0"/>
                <a:ea typeface="Arial" pitchFamily="34" charset="-122"/>
                <a:cs typeface="Arial" pitchFamily="34" charset="-120"/>
              </a:rPr>
              <a:t>Spot the mistake</a:t>
            </a:r>
            <a:endParaRPr lang="en-US" sz="3000" dirty="0"/>
          </a:p>
        </p:txBody>
      </p:sp>
      <p:pic>
        <p:nvPicPr>
          <p:cNvPr id="4" name="Icon 8" descr="Section 8 icon">    </p:cNvPr>
          <p:cNvPicPr>
            <a:picLocks noChangeAspect="1"/>
          </p:cNvPicPr>
          <p:nvPr/>
        </p:nvPicPr>
        <p:blipFill>
          <a:blip r:embed="rId1"/>
          <a:stretch>
            <a:fillRect/>
          </a:stretch>
        </p:blipFill>
        <p:spPr>
          <a:xfrm>
            <a:off x="502920" y="274320"/>
            <a:ext cx="914400" cy="1011677"/>
          </a:xfrm>
          <a:prstGeom prst="rect">
            <a:avLst/>
          </a:prstGeom>
        </p:spPr>
      </p:pic>
      <p:sp>
        <p:nvSpPr>
          <p:cNvPr id="5" name="In this section"/>
          <p:cNvSpPr/>
          <p:nvPr/>
        </p:nvSpPr>
        <p:spPr>
          <a:xfrm>
            <a:off x="502920" y="1600200"/>
            <a:ext cx="3931920" cy="2926080"/>
          </a:xfrm>
          <a:prstGeom prst="roundRect">
            <a:avLst>
              <a:gd name="adj" fmla="val 3125"/>
            </a:avLst>
          </a:prstGeom>
          <a:solidFill>
            <a:schemeClr val="tx2"/>
          </a:solidFill>
          <a:ln w="12700">
            <a:solidFill>
              <a:srgbClr val="2A3A55"/>
            </a:solidFill>
            <a:prstDash val="solid"/>
          </a:ln>
        </p:spPr>
      </p:sp>
      <p:sp>
        <p:nvSpPr>
          <p:cNvPr id="6" name="Text 3"/>
          <p:cNvSpPr txBox="1"/>
          <p:nvPr/>
        </p:nvSpPr>
        <p:spPr>
          <a:xfrm>
            <a:off x="731520" y="1783080"/>
            <a:ext cx="3474720" cy="320040"/>
          </a:xfrm>
          <a:prstGeom prst="rect">
            <a:avLst/>
          </a:prstGeom>
          <a:noFill/>
          <a:ln/>
        </p:spPr>
        <p:txBody>
          <a:bodyPr wrap="square" lIns="0" tIns="0" rIns="0" bIns="0" rtlCol="0" anchor="t"/>
          <a:lstStyle/>
          <a:p>
            <a:pPr algn="l" indent="0" marL="0">
              <a:buNone/>
            </a:pPr>
            <a:r>
              <a:rPr lang="en-US" sz="1600" b="1" dirty="0">
                <a:solidFill>
                  <a:schemeClr val="accent1"/>
                </a:solidFill>
              </a:rPr>
              <a:t>In this section</a:t>
            </a:r>
            <a:endParaRPr lang="en-US" sz="1600" dirty="0"/>
          </a:p>
        </p:txBody>
      </p:sp>
      <p:sp>
        <p:nvSpPr>
          <p:cNvPr id="7" name="Tag Read"/>
          <p:cNvSpPr/>
          <p:nvPr/>
        </p:nvSpPr>
        <p:spPr>
          <a:xfrm>
            <a:off x="731520" y="2240280"/>
            <a:ext cx="1051560" cy="219456"/>
          </a:xfrm>
          <a:prstGeom prst="roundRect">
            <a:avLst>
              <a:gd name="adj" fmla="val 41667"/>
            </a:avLst>
          </a:prstGeom>
          <a:solidFill>
            <a:srgbClr val="25305A"/>
          </a:solidFill>
          <a:ln/>
        </p:spPr>
        <p:txBody>
          <a:bodyPr wrap="square" lIns="0" tIns="0" rIns="0" bIns="0" rtlCol="0" anchor="ctr"/>
          <a:lstStyle/>
          <a:p>
            <a:pPr algn="ctr" indent="0" marL="0">
              <a:buNone/>
            </a:pPr>
            <a:r>
              <a:rPr lang="en-US" sz="1000" b="1" dirty="0">
                <a:solidFill>
                  <a:srgbClr val="C3CFFC"/>
                </a:solidFill>
              </a:rPr>
              <a:t>Read</a:t>
            </a:r>
            <a:endParaRPr lang="en-US" sz="1000" dirty="0"/>
          </a:p>
        </p:txBody>
      </p:sp>
      <p:sp>
        <p:nvSpPr>
          <p:cNvPr id="8" name="Text 5"/>
          <p:cNvSpPr txBox="1"/>
          <p:nvPr/>
        </p:nvSpPr>
        <p:spPr>
          <a:xfrm>
            <a:off x="1920240" y="2212848"/>
            <a:ext cx="2377440" cy="292608"/>
          </a:xfrm>
          <a:prstGeom prst="rect">
            <a:avLst/>
          </a:prstGeom>
          <a:noFill/>
          <a:ln/>
        </p:spPr>
        <p:txBody>
          <a:bodyPr wrap="square" lIns="0" tIns="0" rIns="0" bIns="0" rtlCol="0" anchor="t"/>
          <a:lstStyle/>
          <a:p>
            <a:pPr algn="l" indent="0" marL="0">
              <a:buNone/>
            </a:pPr>
            <a:r>
              <a:rPr lang="en-US" sz="1400" dirty="0">
                <a:solidFill>
                  <a:schemeClr val="bg1"/>
                </a:solidFill>
              </a:rPr>
              <a:t>Check the work</a:t>
            </a:r>
            <a:endParaRPr lang="en-US" sz="1400" dirty="0"/>
          </a:p>
        </p:txBody>
      </p:sp>
      <p:sp>
        <p:nvSpPr>
          <p:cNvPr id="9" name="Tag Try it"/>
          <p:cNvSpPr/>
          <p:nvPr/>
        </p:nvSpPr>
        <p:spPr>
          <a:xfrm>
            <a:off x="731520" y="2743200"/>
            <a:ext cx="1051560" cy="219456"/>
          </a:xfrm>
          <a:prstGeom prst="roundRect">
            <a:avLst>
              <a:gd name="adj" fmla="val 41667"/>
            </a:avLst>
          </a:prstGeom>
          <a:solidFill>
            <a:srgbClr val="5FE1FF"/>
          </a:solidFill>
          <a:ln/>
        </p:spPr>
        <p:txBody>
          <a:bodyPr wrap="square" lIns="0" tIns="0" rIns="0" bIns="0" rtlCol="0" anchor="ctr"/>
          <a:lstStyle/>
          <a:p>
            <a:pPr algn="ctr" indent="0" marL="0">
              <a:buNone/>
            </a:pPr>
            <a:r>
              <a:rPr lang="en-US" sz="1000" b="1" dirty="0">
                <a:solidFill>
                  <a:srgbClr val="0B2630"/>
                </a:solidFill>
              </a:rPr>
              <a:t>Try it</a:t>
            </a:r>
            <a:endParaRPr lang="en-US" sz="1000" dirty="0"/>
          </a:p>
        </p:txBody>
      </p:sp>
      <p:sp>
        <p:nvSpPr>
          <p:cNvPr id="10" name="Text 7"/>
          <p:cNvSpPr txBox="1"/>
          <p:nvPr/>
        </p:nvSpPr>
        <p:spPr>
          <a:xfrm>
            <a:off x="1920240" y="2715768"/>
            <a:ext cx="2377440" cy="292608"/>
          </a:xfrm>
          <a:prstGeom prst="rect">
            <a:avLst/>
          </a:prstGeom>
          <a:noFill/>
          <a:ln/>
        </p:spPr>
        <p:txBody>
          <a:bodyPr wrap="square" lIns="0" tIns="0" rIns="0" bIns="0" rtlCol="0" anchor="t"/>
          <a:lstStyle/>
          <a:p>
            <a:pPr algn="l" indent="0" marL="0">
              <a:buNone/>
            </a:pPr>
            <a:r>
              <a:rPr lang="en-US" sz="1400" dirty="0">
                <a:solidFill>
                  <a:schemeClr val="bg1"/>
                </a:solidFill>
              </a:rPr>
              <a:t>Spot the mistake</a:t>
            </a:r>
            <a:endParaRPr lang="en-US" sz="1400" dirty="0"/>
          </a:p>
        </p:txBody>
      </p:sp>
      <p:sp>
        <p:nvSpPr>
          <p:cNvPr id="11" name="Tag Quick check"/>
          <p:cNvSpPr/>
          <p:nvPr/>
        </p:nvSpPr>
        <p:spPr>
          <a:xfrm>
            <a:off x="731520" y="3246120"/>
            <a:ext cx="1051560" cy="219456"/>
          </a:xfrm>
          <a:prstGeom prst="roundRect">
            <a:avLst>
              <a:gd name="adj" fmla="val 41667"/>
            </a:avLst>
          </a:prstGeom>
          <a:solidFill>
            <a:srgbClr val="F6B93B"/>
          </a:solidFill>
          <a:ln/>
        </p:spPr>
        <p:txBody>
          <a:bodyPr wrap="square" lIns="0" tIns="0" rIns="0" bIns="0" rtlCol="0" anchor="ctr"/>
          <a:lstStyle/>
          <a:p>
            <a:pPr algn="ctr" indent="0" marL="0">
              <a:buNone/>
            </a:pPr>
            <a:r>
              <a:rPr lang="en-US" sz="1000" b="1" dirty="0">
                <a:solidFill>
                  <a:srgbClr val="241703"/>
                </a:solidFill>
              </a:rPr>
              <a:t>Quick check</a:t>
            </a:r>
            <a:endParaRPr lang="en-US" sz="1000" dirty="0"/>
          </a:p>
        </p:txBody>
      </p:sp>
      <p:sp>
        <p:nvSpPr>
          <p:cNvPr id="12" name="Text 9"/>
          <p:cNvSpPr txBox="1"/>
          <p:nvPr/>
        </p:nvSpPr>
        <p:spPr>
          <a:xfrm>
            <a:off x="1920240" y="3218688"/>
            <a:ext cx="2377440" cy="292608"/>
          </a:xfrm>
          <a:prstGeom prst="rect">
            <a:avLst/>
          </a:prstGeom>
          <a:noFill/>
          <a:ln/>
        </p:spPr>
        <p:txBody>
          <a:bodyPr wrap="square" lIns="0" tIns="0" rIns="0" bIns="0" rtlCol="0" anchor="t"/>
          <a:lstStyle/>
          <a:p>
            <a:pPr algn="l" indent="0" marL="0">
              <a:buNone/>
            </a:pPr>
            <a:r>
              <a:rPr lang="en-US" sz="1400" dirty="0">
                <a:solidFill>
                  <a:schemeClr val="bg1"/>
                </a:solidFill>
              </a:rPr>
              <a:t>Correct formula</a:t>
            </a:r>
            <a:endParaRPr lang="en-US" sz="1400" dirty="0"/>
          </a:p>
        </p:txBody>
      </p:sp>
      <p:sp>
        <p:nvSpPr>
          <p:cNvPr id="13" name="To unlock"/>
          <p:cNvSpPr/>
          <p:nvPr/>
        </p:nvSpPr>
        <p:spPr>
          <a:xfrm>
            <a:off x="4709160" y="1600200"/>
            <a:ext cx="3931920" cy="2926080"/>
          </a:xfrm>
          <a:prstGeom prst="roundRect">
            <a:avLst>
              <a:gd name="adj" fmla="val 3125"/>
            </a:avLst>
          </a:prstGeom>
          <a:solidFill>
            <a:schemeClr val="tx2"/>
          </a:solidFill>
          <a:ln w="12700">
            <a:solidFill>
              <a:srgbClr val="2A3A55"/>
            </a:solidFill>
            <a:prstDash val="solid"/>
          </a:ln>
        </p:spPr>
      </p:sp>
      <p:sp>
        <p:nvSpPr>
          <p:cNvPr id="14" name="Text 11"/>
          <p:cNvSpPr txBox="1"/>
          <p:nvPr/>
        </p:nvSpPr>
        <p:spPr>
          <a:xfrm>
            <a:off x="4937760" y="1783080"/>
            <a:ext cx="3474720" cy="320040"/>
          </a:xfrm>
          <a:prstGeom prst="rect">
            <a:avLst/>
          </a:prstGeom>
          <a:noFill/>
          <a:ln/>
        </p:spPr>
        <p:txBody>
          <a:bodyPr wrap="square" lIns="0" tIns="0" rIns="0" bIns="0" rtlCol="0" anchor="t"/>
          <a:lstStyle/>
          <a:p>
            <a:pPr algn="l" indent="0" marL="0">
              <a:buNone/>
            </a:pPr>
            <a:r>
              <a:rPr lang="en-US" sz="1600" b="1" dirty="0">
                <a:solidFill>
                  <a:schemeClr val="accent4"/>
                </a:solidFill>
              </a:rPr>
              <a:t>To unlock the next section</a:t>
            </a:r>
            <a:endParaRPr lang="en-US" sz="1600" dirty="0"/>
          </a:p>
        </p:txBody>
      </p:sp>
      <p:sp>
        <p:nvSpPr>
          <p:cNvPr id="15" name="Checkbox"/>
          <p:cNvSpPr/>
          <p:nvPr/>
        </p:nvSpPr>
        <p:spPr>
          <a:xfrm>
            <a:off x="4937760" y="2286000"/>
            <a:ext cx="182880" cy="182880"/>
          </a:xfrm>
          <a:prstGeom prst="rect">
            <a:avLst/>
          </a:prstGeom>
          <a:solidFill>
            <a:schemeClr val="tx2"/>
          </a:solidFill>
          <a:ln w="12700">
            <a:solidFill>
              <a:schemeClr val="bg2"/>
            </a:solidFill>
            <a:prstDash val="solid"/>
          </a:ln>
        </p:spPr>
      </p:sp>
      <p:sp>
        <p:nvSpPr>
          <p:cNvPr id="16" name="Text 13"/>
          <p:cNvSpPr txBox="1"/>
          <p:nvPr/>
        </p:nvSpPr>
        <p:spPr>
          <a:xfrm>
            <a:off x="5257800" y="2221992"/>
            <a:ext cx="3200400" cy="457200"/>
          </a:xfrm>
          <a:prstGeom prst="rect">
            <a:avLst/>
          </a:prstGeom>
          <a:noFill/>
          <a:ln/>
        </p:spPr>
        <p:txBody>
          <a:bodyPr wrap="square" lIns="0" tIns="0" rIns="0" bIns="0" rtlCol="0" anchor="t"/>
          <a:lstStyle/>
          <a:p>
            <a:pPr algn="l" indent="0" marL="0">
              <a:buNone/>
            </a:pPr>
            <a:r>
              <a:rPr lang="en-US" sz="1400" dirty="0">
                <a:solidFill>
                  <a:schemeClr val="bg1"/>
                </a:solidFill>
              </a:rPr>
              <a:t>Find the mistake in 3 student examples</a:t>
            </a:r>
            <a:endParaRPr lang="en-US" sz="1400" dirty="0"/>
          </a:p>
        </p:txBody>
      </p:sp>
      <p:sp>
        <p:nvSpPr>
          <p:cNvPr id="17" name="Checkbox"/>
          <p:cNvSpPr/>
          <p:nvPr/>
        </p:nvSpPr>
        <p:spPr>
          <a:xfrm>
            <a:off x="4937760" y="2834640"/>
            <a:ext cx="182880" cy="182880"/>
          </a:xfrm>
          <a:prstGeom prst="rect">
            <a:avLst/>
          </a:prstGeom>
          <a:solidFill>
            <a:schemeClr val="tx2"/>
          </a:solidFill>
          <a:ln w="12700">
            <a:solidFill>
              <a:schemeClr val="bg2"/>
            </a:solidFill>
            <a:prstDash val="solid"/>
          </a:ln>
        </p:spPr>
      </p:sp>
      <p:sp>
        <p:nvSpPr>
          <p:cNvPr id="18" name="Text 15"/>
          <p:cNvSpPr txBox="1"/>
          <p:nvPr/>
        </p:nvSpPr>
        <p:spPr>
          <a:xfrm>
            <a:off x="5257800" y="2770632"/>
            <a:ext cx="3200400" cy="457200"/>
          </a:xfrm>
          <a:prstGeom prst="rect">
            <a:avLst/>
          </a:prstGeom>
          <a:noFill/>
          <a:ln/>
        </p:spPr>
        <p:txBody>
          <a:bodyPr wrap="square" lIns="0" tIns="0" rIns="0" bIns="0" rtlCol="0" anchor="t"/>
          <a:lstStyle/>
          <a:p>
            <a:pPr algn="l" indent="0" marL="0">
              <a:buNone/>
            </a:pPr>
            <a:r>
              <a:rPr lang="en-US" sz="1400" dirty="0">
                <a:solidFill>
                  <a:schemeClr val="bg1"/>
                </a:solidFill>
              </a:rPr>
              <a:t>Answer the quick check correctly</a:t>
            </a:r>
            <a:endParaRPr lang="en-US" sz="14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FB1C7"/>
                </a:solidFill>
              </a:defRPr>
            </a:lvl1pPr>
          </a:lstStyle>
          <a:p>
            <a:pPr algn="l"/>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1234440" y="292608"/>
            <a:ext cx="7452360" cy="548640"/>
          </a:xfrm>
          <a:prstGeom prst="rect">
            <a:avLst/>
          </a:prstGeom>
          <a:noFill/>
          <a:ln/>
        </p:spPr>
        <p:txBody>
          <a:bodyPr wrap="square" lIns="0" tIns="0" rIns="0" bIns="0" rtlCol="0" anchor="ctr"/>
          <a:lstStyle/>
          <a:p>
            <a:pPr algn="l" indent="0" marL="0">
              <a:buNone/>
            </a:pPr>
            <a:r>
              <a:rPr lang="en-US" sz="2800" b="1" dirty="0">
                <a:solidFill>
                  <a:schemeClr val="bg1"/>
                </a:solidFill>
                <a:latin typeface="Arial" pitchFamily="34" charset="0"/>
                <a:ea typeface="Arial" pitchFamily="34" charset="-122"/>
                <a:cs typeface="Arial" pitchFamily="34" charset="-120"/>
              </a:rPr>
              <a:t>Check the work</a:t>
            </a:r>
            <a:endParaRPr lang="en-US" sz="2800" dirty="0"/>
          </a:p>
        </p:txBody>
      </p:sp>
      <p:pic>
        <p:nvPicPr>
          <p:cNvPr id="3" name="Icon 8" descr="Section 8 icon">    </p:cNvPr>
          <p:cNvPicPr>
            <a:picLocks noChangeAspect="1"/>
          </p:cNvPicPr>
          <p:nvPr/>
        </p:nvPicPr>
        <p:blipFill>
          <a:blip r:embed="rId1"/>
          <a:stretch>
            <a:fillRect/>
          </a:stretch>
        </p:blipFill>
        <p:spPr>
          <a:xfrm>
            <a:off x="502920" y="201168"/>
            <a:ext cx="566928" cy="627239"/>
          </a:xfrm>
          <a:prstGeom prst="rect">
            <a:avLst/>
          </a:prstGeom>
        </p:spPr>
      </p:pic>
      <p:sp>
        <p:nvSpPr>
          <p:cNvPr id="4" name="Tag Read"/>
          <p:cNvSpPr/>
          <p:nvPr/>
        </p:nvSpPr>
        <p:spPr>
          <a:xfrm>
            <a:off x="1234440" y="45720"/>
            <a:ext cx="1051560" cy="219456"/>
          </a:xfrm>
          <a:prstGeom prst="roundRect">
            <a:avLst>
              <a:gd name="adj" fmla="val 41667"/>
            </a:avLst>
          </a:prstGeom>
          <a:solidFill>
            <a:srgbClr val="25305A"/>
          </a:solidFill>
          <a:ln/>
        </p:spPr>
        <p:txBody>
          <a:bodyPr wrap="square" lIns="0" tIns="0" rIns="0" bIns="0" rtlCol="0" anchor="ctr"/>
          <a:lstStyle/>
          <a:p>
            <a:pPr algn="ctr" indent="0" marL="0">
              <a:buNone/>
            </a:pPr>
            <a:r>
              <a:rPr lang="en-US" sz="1000" b="1" dirty="0">
                <a:solidFill>
                  <a:srgbClr val="C3CFFC"/>
                </a:solidFill>
              </a:rPr>
              <a:t>Read</a:t>
            </a:r>
            <a:endParaRPr lang="en-US" sz="1000" dirty="0"/>
          </a:p>
        </p:txBody>
      </p:sp>
      <p:sp>
        <p:nvSpPr>
          <p:cNvPr id="5" name="Check Direction"/>
          <p:cNvSpPr/>
          <p:nvPr/>
        </p:nvSpPr>
        <p:spPr>
          <a:xfrm>
            <a:off x="502920" y="1005840"/>
            <a:ext cx="3977640" cy="1463040"/>
          </a:xfrm>
          <a:prstGeom prst="roundRect">
            <a:avLst>
              <a:gd name="adj" fmla="val 6250"/>
            </a:avLst>
          </a:prstGeom>
          <a:solidFill>
            <a:schemeClr val="tx2"/>
          </a:solidFill>
          <a:ln w="12700">
            <a:solidFill>
              <a:srgbClr val="2A3A55"/>
            </a:solidFill>
            <a:prstDash val="solid"/>
          </a:ln>
        </p:spPr>
      </p:sp>
      <p:sp>
        <p:nvSpPr>
          <p:cNvPr id="6" name="Number"/>
          <p:cNvSpPr/>
          <p:nvPr/>
        </p:nvSpPr>
        <p:spPr>
          <a:xfrm>
            <a:off x="731520" y="1280160"/>
            <a:ext cx="502920" cy="502920"/>
          </a:xfrm>
          <a:prstGeom prst="ellipse">
            <a:avLst/>
          </a:prstGeom>
          <a:solidFill>
            <a:schemeClr val="accent2"/>
          </a:solidFill>
          <a:ln w="12700">
            <a:solidFill>
              <a:schemeClr val="accent2"/>
            </a:solidFill>
            <a:prstDash val="solid"/>
          </a:ln>
        </p:spPr>
      </p:sp>
      <p:sp>
        <p:nvSpPr>
          <p:cNvPr id="7" name="Text 4"/>
          <p:cNvSpPr txBox="1"/>
          <p:nvPr/>
        </p:nvSpPr>
        <p:spPr>
          <a:xfrm>
            <a:off x="731520" y="1280160"/>
            <a:ext cx="502920" cy="502920"/>
          </a:xfrm>
          <a:prstGeom prst="rect">
            <a:avLst/>
          </a:prstGeom>
          <a:noFill/>
          <a:ln/>
        </p:spPr>
        <p:txBody>
          <a:bodyPr wrap="square" lIns="0" tIns="0" rIns="0" bIns="0" rtlCol="0" anchor="ctr"/>
          <a:lstStyle/>
          <a:p>
            <a:pPr algn="ctr" indent="0" marL="0">
              <a:buNone/>
            </a:pPr>
            <a:r>
              <a:rPr lang="en-US" sz="1800" b="1" dirty="0">
                <a:solidFill>
                  <a:srgbClr val="241703"/>
                </a:solidFill>
              </a:rPr>
              <a:t>1</a:t>
            </a:r>
            <a:endParaRPr lang="en-US" sz="1800" dirty="0"/>
          </a:p>
        </p:txBody>
      </p:sp>
      <p:sp>
        <p:nvSpPr>
          <p:cNvPr id="8" name="Text 5"/>
          <p:cNvSpPr txBox="1"/>
          <p:nvPr/>
        </p:nvSpPr>
        <p:spPr>
          <a:xfrm>
            <a:off x="1417320" y="1234440"/>
            <a:ext cx="2834640" cy="365760"/>
          </a:xfrm>
          <a:prstGeom prst="rect">
            <a:avLst/>
          </a:prstGeom>
          <a:noFill/>
          <a:ln/>
        </p:spPr>
        <p:txBody>
          <a:bodyPr wrap="square" lIns="0" tIns="0" rIns="0" bIns="0" rtlCol="0" anchor="t"/>
          <a:lstStyle/>
          <a:p>
            <a:pPr algn="l" indent="0" marL="0">
              <a:buNone/>
            </a:pPr>
            <a:r>
              <a:rPr lang="en-US" sz="1800" b="1" dirty="0">
                <a:solidFill>
                  <a:schemeClr val="bg1"/>
                </a:solidFill>
              </a:rPr>
              <a:t>Direction</a:t>
            </a:r>
            <a:endParaRPr lang="en-US" sz="1800" dirty="0"/>
          </a:p>
        </p:txBody>
      </p:sp>
      <p:sp>
        <p:nvSpPr>
          <p:cNvPr id="9" name="Text 6"/>
          <p:cNvSpPr txBox="1"/>
          <p:nvPr/>
        </p:nvSpPr>
        <p:spPr>
          <a:xfrm>
            <a:off x="1417320" y="1645920"/>
            <a:ext cx="2926080" cy="685800"/>
          </a:xfrm>
          <a:prstGeom prst="rect">
            <a:avLst/>
          </a:prstGeom>
          <a:noFill/>
          <a:ln/>
        </p:spPr>
        <p:txBody>
          <a:bodyPr wrap="square" lIns="0" tIns="0" rIns="0" bIns="0" rtlCol="0" anchor="t"/>
          <a:lstStyle/>
          <a:p>
            <a:pPr algn="l" indent="0" marL="0">
              <a:buNone/>
            </a:pPr>
            <a:r>
              <a:rPr lang="en-US" sz="1400" dirty="0">
                <a:solidFill>
                  <a:schemeClr val="bg2"/>
                </a:solidFill>
              </a:rPr>
              <a:t>Did the electrons move from the metal to the nonmetal?</a:t>
            </a:r>
            <a:endParaRPr lang="en-US" sz="1400" dirty="0"/>
          </a:p>
        </p:txBody>
      </p:sp>
      <p:sp>
        <p:nvSpPr>
          <p:cNvPr id="10" name="Check Balance"/>
          <p:cNvSpPr/>
          <p:nvPr/>
        </p:nvSpPr>
        <p:spPr>
          <a:xfrm>
            <a:off x="4663440" y="1005840"/>
            <a:ext cx="3977640" cy="1463040"/>
          </a:xfrm>
          <a:prstGeom prst="roundRect">
            <a:avLst>
              <a:gd name="adj" fmla="val 6250"/>
            </a:avLst>
          </a:prstGeom>
          <a:solidFill>
            <a:schemeClr val="tx2"/>
          </a:solidFill>
          <a:ln w="12700">
            <a:solidFill>
              <a:srgbClr val="2A3A55"/>
            </a:solidFill>
            <a:prstDash val="solid"/>
          </a:ln>
        </p:spPr>
      </p:sp>
      <p:sp>
        <p:nvSpPr>
          <p:cNvPr id="11" name="Number"/>
          <p:cNvSpPr/>
          <p:nvPr/>
        </p:nvSpPr>
        <p:spPr>
          <a:xfrm>
            <a:off x="4892040" y="1280160"/>
            <a:ext cx="502920" cy="502920"/>
          </a:xfrm>
          <a:prstGeom prst="ellipse">
            <a:avLst/>
          </a:prstGeom>
          <a:solidFill>
            <a:schemeClr val="accent2"/>
          </a:solidFill>
          <a:ln w="12700">
            <a:solidFill>
              <a:schemeClr val="accent2"/>
            </a:solidFill>
            <a:prstDash val="solid"/>
          </a:ln>
        </p:spPr>
      </p:sp>
      <p:sp>
        <p:nvSpPr>
          <p:cNvPr id="12" name="Text 9"/>
          <p:cNvSpPr txBox="1"/>
          <p:nvPr/>
        </p:nvSpPr>
        <p:spPr>
          <a:xfrm>
            <a:off x="4892040" y="1280160"/>
            <a:ext cx="502920" cy="502920"/>
          </a:xfrm>
          <a:prstGeom prst="rect">
            <a:avLst/>
          </a:prstGeom>
          <a:noFill/>
          <a:ln/>
        </p:spPr>
        <p:txBody>
          <a:bodyPr wrap="square" lIns="0" tIns="0" rIns="0" bIns="0" rtlCol="0" anchor="ctr"/>
          <a:lstStyle/>
          <a:p>
            <a:pPr algn="ctr" indent="0" marL="0">
              <a:buNone/>
            </a:pPr>
            <a:r>
              <a:rPr lang="en-US" sz="1800" b="1" dirty="0">
                <a:solidFill>
                  <a:srgbClr val="241703"/>
                </a:solidFill>
              </a:rPr>
              <a:t>2</a:t>
            </a:r>
            <a:endParaRPr lang="en-US" sz="1800" dirty="0"/>
          </a:p>
        </p:txBody>
      </p:sp>
      <p:sp>
        <p:nvSpPr>
          <p:cNvPr id="13" name="Text 10"/>
          <p:cNvSpPr txBox="1"/>
          <p:nvPr/>
        </p:nvSpPr>
        <p:spPr>
          <a:xfrm>
            <a:off x="5577840" y="1234440"/>
            <a:ext cx="2834640" cy="365760"/>
          </a:xfrm>
          <a:prstGeom prst="rect">
            <a:avLst/>
          </a:prstGeom>
          <a:noFill/>
          <a:ln/>
        </p:spPr>
        <p:txBody>
          <a:bodyPr wrap="square" lIns="0" tIns="0" rIns="0" bIns="0" rtlCol="0" anchor="t"/>
          <a:lstStyle/>
          <a:p>
            <a:pPr algn="l" indent="0" marL="0">
              <a:buNone/>
            </a:pPr>
            <a:r>
              <a:rPr lang="en-US" sz="1800" b="1" dirty="0">
                <a:solidFill>
                  <a:schemeClr val="bg1"/>
                </a:solidFill>
              </a:rPr>
              <a:t>Balance</a:t>
            </a:r>
            <a:endParaRPr lang="en-US" sz="1800" dirty="0"/>
          </a:p>
        </p:txBody>
      </p:sp>
      <p:sp>
        <p:nvSpPr>
          <p:cNvPr id="14" name="Text 11"/>
          <p:cNvSpPr txBox="1"/>
          <p:nvPr/>
        </p:nvSpPr>
        <p:spPr>
          <a:xfrm>
            <a:off x="5577840" y="1645920"/>
            <a:ext cx="2926080" cy="685800"/>
          </a:xfrm>
          <a:prstGeom prst="rect">
            <a:avLst/>
          </a:prstGeom>
          <a:noFill/>
          <a:ln/>
        </p:spPr>
        <p:txBody>
          <a:bodyPr wrap="square" lIns="0" tIns="0" rIns="0" bIns="0" rtlCol="0" anchor="t"/>
          <a:lstStyle/>
          <a:p>
            <a:pPr algn="l" indent="0" marL="0">
              <a:buNone/>
            </a:pPr>
            <a:r>
              <a:rPr lang="en-US" sz="1400" dirty="0">
                <a:solidFill>
                  <a:schemeClr val="bg2"/>
                </a:solidFill>
              </a:rPr>
              <a:t>Do electrons given equal electrons taken?</a:t>
            </a:r>
            <a:endParaRPr lang="en-US" sz="1400" dirty="0"/>
          </a:p>
        </p:txBody>
      </p:sp>
      <p:sp>
        <p:nvSpPr>
          <p:cNvPr id="15" name="Check Formula"/>
          <p:cNvSpPr/>
          <p:nvPr/>
        </p:nvSpPr>
        <p:spPr>
          <a:xfrm>
            <a:off x="502920" y="2697480"/>
            <a:ext cx="3977640" cy="1463040"/>
          </a:xfrm>
          <a:prstGeom prst="roundRect">
            <a:avLst>
              <a:gd name="adj" fmla="val 6250"/>
            </a:avLst>
          </a:prstGeom>
          <a:solidFill>
            <a:schemeClr val="tx2"/>
          </a:solidFill>
          <a:ln w="12700">
            <a:solidFill>
              <a:srgbClr val="2A3A55"/>
            </a:solidFill>
            <a:prstDash val="solid"/>
          </a:ln>
        </p:spPr>
      </p:sp>
      <p:sp>
        <p:nvSpPr>
          <p:cNvPr id="16" name="Number"/>
          <p:cNvSpPr/>
          <p:nvPr/>
        </p:nvSpPr>
        <p:spPr>
          <a:xfrm>
            <a:off x="731520" y="2971800"/>
            <a:ext cx="502920" cy="502920"/>
          </a:xfrm>
          <a:prstGeom prst="ellipse">
            <a:avLst/>
          </a:prstGeom>
          <a:solidFill>
            <a:schemeClr val="accent2"/>
          </a:solidFill>
          <a:ln w="12700">
            <a:solidFill>
              <a:schemeClr val="accent2"/>
            </a:solidFill>
            <a:prstDash val="solid"/>
          </a:ln>
        </p:spPr>
      </p:sp>
      <p:sp>
        <p:nvSpPr>
          <p:cNvPr id="17" name="Text 14"/>
          <p:cNvSpPr txBox="1"/>
          <p:nvPr/>
        </p:nvSpPr>
        <p:spPr>
          <a:xfrm>
            <a:off x="731520" y="2971800"/>
            <a:ext cx="502920" cy="502920"/>
          </a:xfrm>
          <a:prstGeom prst="rect">
            <a:avLst/>
          </a:prstGeom>
          <a:noFill/>
          <a:ln/>
        </p:spPr>
        <p:txBody>
          <a:bodyPr wrap="square" lIns="0" tIns="0" rIns="0" bIns="0" rtlCol="0" anchor="ctr"/>
          <a:lstStyle/>
          <a:p>
            <a:pPr algn="ctr" indent="0" marL="0">
              <a:buNone/>
            </a:pPr>
            <a:r>
              <a:rPr lang="en-US" sz="1800" b="1" dirty="0">
                <a:solidFill>
                  <a:srgbClr val="241703"/>
                </a:solidFill>
              </a:rPr>
              <a:t>3</a:t>
            </a:r>
            <a:endParaRPr lang="en-US" sz="1800" dirty="0"/>
          </a:p>
        </p:txBody>
      </p:sp>
      <p:sp>
        <p:nvSpPr>
          <p:cNvPr id="18" name="Text 15"/>
          <p:cNvSpPr txBox="1"/>
          <p:nvPr/>
        </p:nvSpPr>
        <p:spPr>
          <a:xfrm>
            <a:off x="1417320" y="2926080"/>
            <a:ext cx="2834640" cy="365760"/>
          </a:xfrm>
          <a:prstGeom prst="rect">
            <a:avLst/>
          </a:prstGeom>
          <a:noFill/>
          <a:ln/>
        </p:spPr>
        <p:txBody>
          <a:bodyPr wrap="square" lIns="0" tIns="0" rIns="0" bIns="0" rtlCol="0" anchor="t"/>
          <a:lstStyle/>
          <a:p>
            <a:pPr algn="l" indent="0" marL="0">
              <a:buNone/>
            </a:pPr>
            <a:r>
              <a:rPr lang="en-US" sz="1800" b="1" dirty="0">
                <a:solidFill>
                  <a:schemeClr val="bg1"/>
                </a:solidFill>
              </a:rPr>
              <a:t>Formula</a:t>
            </a:r>
            <a:endParaRPr lang="en-US" sz="1800" dirty="0"/>
          </a:p>
        </p:txBody>
      </p:sp>
      <p:sp>
        <p:nvSpPr>
          <p:cNvPr id="19" name="Text 16"/>
          <p:cNvSpPr txBox="1"/>
          <p:nvPr/>
        </p:nvSpPr>
        <p:spPr>
          <a:xfrm>
            <a:off x="1417320" y="3337560"/>
            <a:ext cx="2926080" cy="685800"/>
          </a:xfrm>
          <a:prstGeom prst="rect">
            <a:avLst/>
          </a:prstGeom>
          <a:noFill/>
          <a:ln/>
        </p:spPr>
        <p:txBody>
          <a:bodyPr wrap="square" lIns="0" tIns="0" rIns="0" bIns="0" rtlCol="0" anchor="t"/>
          <a:lstStyle/>
          <a:p>
            <a:pPr algn="l" indent="0" marL="0">
              <a:buNone/>
            </a:pPr>
            <a:r>
              <a:rPr lang="en-US" sz="1400" dirty="0">
                <a:solidFill>
                  <a:schemeClr val="bg2"/>
                </a:solidFill>
              </a:rPr>
              <a:t>Metal first, smallest numbers, total charge zero?</a:t>
            </a:r>
            <a:endParaRPr lang="en-US" sz="1400" dirty="0"/>
          </a:p>
        </p:txBody>
      </p:sp>
      <p:sp>
        <p:nvSpPr>
          <p:cNvPr id="20" name="Check Name"/>
          <p:cNvSpPr/>
          <p:nvPr/>
        </p:nvSpPr>
        <p:spPr>
          <a:xfrm>
            <a:off x="4663440" y="2697480"/>
            <a:ext cx="3977640" cy="1463040"/>
          </a:xfrm>
          <a:prstGeom prst="roundRect">
            <a:avLst>
              <a:gd name="adj" fmla="val 6250"/>
            </a:avLst>
          </a:prstGeom>
          <a:solidFill>
            <a:schemeClr val="tx2"/>
          </a:solidFill>
          <a:ln w="12700">
            <a:solidFill>
              <a:srgbClr val="2A3A55"/>
            </a:solidFill>
            <a:prstDash val="solid"/>
          </a:ln>
        </p:spPr>
      </p:sp>
      <p:sp>
        <p:nvSpPr>
          <p:cNvPr id="21" name="Number"/>
          <p:cNvSpPr/>
          <p:nvPr/>
        </p:nvSpPr>
        <p:spPr>
          <a:xfrm>
            <a:off x="4892040" y="2971800"/>
            <a:ext cx="502920" cy="502920"/>
          </a:xfrm>
          <a:prstGeom prst="ellipse">
            <a:avLst/>
          </a:prstGeom>
          <a:solidFill>
            <a:schemeClr val="accent2"/>
          </a:solidFill>
          <a:ln w="12700">
            <a:solidFill>
              <a:schemeClr val="accent2"/>
            </a:solidFill>
            <a:prstDash val="solid"/>
          </a:ln>
        </p:spPr>
      </p:sp>
      <p:sp>
        <p:nvSpPr>
          <p:cNvPr id="22" name="Text 19"/>
          <p:cNvSpPr txBox="1"/>
          <p:nvPr/>
        </p:nvSpPr>
        <p:spPr>
          <a:xfrm>
            <a:off x="4892040" y="2971800"/>
            <a:ext cx="502920" cy="502920"/>
          </a:xfrm>
          <a:prstGeom prst="rect">
            <a:avLst/>
          </a:prstGeom>
          <a:noFill/>
          <a:ln/>
        </p:spPr>
        <p:txBody>
          <a:bodyPr wrap="square" lIns="0" tIns="0" rIns="0" bIns="0" rtlCol="0" anchor="ctr"/>
          <a:lstStyle/>
          <a:p>
            <a:pPr algn="ctr" indent="0" marL="0">
              <a:buNone/>
            </a:pPr>
            <a:r>
              <a:rPr lang="en-US" sz="1800" b="1" dirty="0">
                <a:solidFill>
                  <a:srgbClr val="241703"/>
                </a:solidFill>
              </a:rPr>
              <a:t>4</a:t>
            </a:r>
            <a:endParaRPr lang="en-US" sz="1800" dirty="0"/>
          </a:p>
        </p:txBody>
      </p:sp>
      <p:sp>
        <p:nvSpPr>
          <p:cNvPr id="23" name="Text 20"/>
          <p:cNvSpPr txBox="1"/>
          <p:nvPr/>
        </p:nvSpPr>
        <p:spPr>
          <a:xfrm>
            <a:off x="5577840" y="2926080"/>
            <a:ext cx="2834640" cy="365760"/>
          </a:xfrm>
          <a:prstGeom prst="rect">
            <a:avLst/>
          </a:prstGeom>
          <a:noFill/>
          <a:ln/>
        </p:spPr>
        <p:txBody>
          <a:bodyPr wrap="square" lIns="0" tIns="0" rIns="0" bIns="0" rtlCol="0" anchor="t"/>
          <a:lstStyle/>
          <a:p>
            <a:pPr algn="l" indent="0" marL="0">
              <a:buNone/>
            </a:pPr>
            <a:r>
              <a:rPr lang="en-US" sz="1800" b="1" dirty="0">
                <a:solidFill>
                  <a:schemeClr val="bg1"/>
                </a:solidFill>
              </a:rPr>
              <a:t>Name</a:t>
            </a:r>
            <a:endParaRPr lang="en-US" sz="1800" dirty="0"/>
          </a:p>
        </p:txBody>
      </p:sp>
      <p:sp>
        <p:nvSpPr>
          <p:cNvPr id="24" name="Text 21"/>
          <p:cNvSpPr txBox="1"/>
          <p:nvPr/>
        </p:nvSpPr>
        <p:spPr>
          <a:xfrm>
            <a:off x="5577840" y="3337560"/>
            <a:ext cx="2926080" cy="685800"/>
          </a:xfrm>
          <a:prstGeom prst="rect">
            <a:avLst/>
          </a:prstGeom>
          <a:noFill/>
          <a:ln/>
        </p:spPr>
        <p:txBody>
          <a:bodyPr wrap="square" lIns="0" tIns="0" rIns="0" bIns="0" rtlCol="0" anchor="t"/>
          <a:lstStyle/>
          <a:p>
            <a:pPr algn="l" indent="0" marL="0">
              <a:buNone/>
            </a:pPr>
            <a:r>
              <a:rPr lang="en-US" sz="1400" dirty="0">
                <a:solidFill>
                  <a:schemeClr val="bg2"/>
                </a:solidFill>
              </a:rPr>
              <a:t>Does the nonmetal end in -ide?</a:t>
            </a:r>
            <a:endParaRPr lang="en-US" sz="14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FB1C7"/>
                </a:solidFill>
              </a:defRPr>
            </a:lvl1pPr>
          </a:lstStyle>
          <a:p>
            <a:pPr algn="l"/>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1234440" y="292608"/>
            <a:ext cx="7452360" cy="548640"/>
          </a:xfrm>
          <a:prstGeom prst="rect">
            <a:avLst/>
          </a:prstGeom>
          <a:noFill/>
          <a:ln/>
        </p:spPr>
        <p:txBody>
          <a:bodyPr wrap="square" lIns="0" tIns="0" rIns="0" bIns="0" rtlCol="0" anchor="ctr"/>
          <a:lstStyle/>
          <a:p>
            <a:pPr algn="l" indent="0" marL="0">
              <a:buNone/>
            </a:pPr>
            <a:r>
              <a:rPr lang="en-US" sz="2800" b="1" dirty="0">
                <a:solidFill>
                  <a:schemeClr val="bg1"/>
                </a:solidFill>
                <a:latin typeface="Arial" pitchFamily="34" charset="0"/>
                <a:ea typeface="Arial" pitchFamily="34" charset="-122"/>
                <a:cs typeface="Arial" pitchFamily="34" charset="-120"/>
              </a:rPr>
              <a:t>Spot the mistake</a:t>
            </a:r>
            <a:endParaRPr lang="en-US" sz="2800" dirty="0"/>
          </a:p>
        </p:txBody>
      </p:sp>
      <p:pic>
        <p:nvPicPr>
          <p:cNvPr id="3" name="Icon 8" descr="Section 8 icon">    </p:cNvPr>
          <p:cNvPicPr>
            <a:picLocks noChangeAspect="1"/>
          </p:cNvPicPr>
          <p:nvPr/>
        </p:nvPicPr>
        <p:blipFill>
          <a:blip r:embed="rId1"/>
          <a:stretch>
            <a:fillRect/>
          </a:stretch>
        </p:blipFill>
        <p:spPr>
          <a:xfrm>
            <a:off x="502920" y="201168"/>
            <a:ext cx="566928" cy="627239"/>
          </a:xfrm>
          <a:prstGeom prst="rect">
            <a:avLst/>
          </a:prstGeom>
        </p:spPr>
      </p:pic>
      <p:sp>
        <p:nvSpPr>
          <p:cNvPr id="4" name="Tag Try it"/>
          <p:cNvSpPr/>
          <p:nvPr/>
        </p:nvSpPr>
        <p:spPr>
          <a:xfrm>
            <a:off x="1234440" y="45720"/>
            <a:ext cx="1051560" cy="219456"/>
          </a:xfrm>
          <a:prstGeom prst="roundRect">
            <a:avLst>
              <a:gd name="adj" fmla="val 41667"/>
            </a:avLst>
          </a:prstGeom>
          <a:solidFill>
            <a:srgbClr val="5FE1FF"/>
          </a:solidFill>
          <a:ln/>
        </p:spPr>
        <p:txBody>
          <a:bodyPr wrap="square" lIns="0" tIns="0" rIns="0" bIns="0" rtlCol="0" anchor="ctr"/>
          <a:lstStyle/>
          <a:p>
            <a:pPr algn="ctr" indent="0" marL="0">
              <a:buNone/>
            </a:pPr>
            <a:r>
              <a:rPr lang="en-US" sz="1000" b="1" dirty="0">
                <a:solidFill>
                  <a:srgbClr val="0B2630"/>
                </a:solidFill>
              </a:rPr>
              <a:t>Try it</a:t>
            </a:r>
            <a:endParaRPr lang="en-US" sz="1000" dirty="0"/>
          </a:p>
        </p:txBody>
      </p:sp>
      <p:sp>
        <p:nvSpPr>
          <p:cNvPr id="5" name="Text 2"/>
          <p:cNvSpPr txBox="1"/>
          <p:nvPr/>
        </p:nvSpPr>
        <p:spPr>
          <a:xfrm>
            <a:off x="502920" y="960120"/>
            <a:ext cx="8138160" cy="365760"/>
          </a:xfrm>
          <a:prstGeom prst="rect">
            <a:avLst/>
          </a:prstGeom>
          <a:noFill/>
          <a:ln/>
        </p:spPr>
        <p:txBody>
          <a:bodyPr wrap="square" lIns="0" tIns="0" rIns="0" bIns="0" rtlCol="0" anchor="t"/>
          <a:lstStyle/>
          <a:p>
            <a:pPr algn="l" indent="0" marL="0">
              <a:buNone/>
            </a:pPr>
            <a:r>
              <a:rPr lang="en-US" sz="1600" b="1" dirty="0">
                <a:solidFill>
                  <a:schemeClr val="bg1"/>
                </a:solidFill>
              </a:rPr>
              <a:t>Each student example has one mistake. Find it.</a:t>
            </a:r>
            <a:endParaRPr lang="en-US" sz="1600" dirty="0"/>
          </a:p>
        </p:txBody>
      </p:sp>
      <p:sp>
        <p:nvSpPr>
          <p:cNvPr id="6" name="Mistake 1"/>
          <p:cNvSpPr/>
          <p:nvPr/>
        </p:nvSpPr>
        <p:spPr>
          <a:xfrm>
            <a:off x="502920" y="1463040"/>
            <a:ext cx="8138160" cy="960120"/>
          </a:xfrm>
          <a:prstGeom prst="roundRect">
            <a:avLst>
              <a:gd name="adj" fmla="val 9524"/>
            </a:avLst>
          </a:prstGeom>
          <a:solidFill>
            <a:schemeClr val="tx2"/>
          </a:solidFill>
          <a:ln w="12700">
            <a:solidFill>
              <a:srgbClr val="2A3A55"/>
            </a:solidFill>
            <a:prstDash val="solid"/>
          </a:ln>
        </p:spPr>
      </p:sp>
      <p:sp>
        <p:nvSpPr>
          <p:cNvPr id="7" name="Text 4"/>
          <p:cNvSpPr txBox="1"/>
          <p:nvPr/>
        </p:nvSpPr>
        <p:spPr>
          <a:xfrm>
            <a:off x="731520" y="1554480"/>
            <a:ext cx="7680960" cy="365760"/>
          </a:xfrm>
          <a:prstGeom prst="rect">
            <a:avLst/>
          </a:prstGeom>
          <a:noFill/>
          <a:ln/>
        </p:spPr>
        <p:txBody>
          <a:bodyPr wrap="square" lIns="0" tIns="0" rIns="0" bIns="0" rtlCol="0" anchor="t"/>
          <a:lstStyle/>
          <a:p>
            <a:pPr algn="l" indent="0" marL="0">
              <a:buNone/>
            </a:pPr>
            <a:r>
              <a:rPr lang="en-US" sz="1500" b="1" dirty="0">
                <a:solidFill>
                  <a:schemeClr val="bg1"/>
                </a:solidFill>
              </a:rPr>
              <a:t>1. A student drew an arrow showing an electron moving from chlorine to sodium.</a:t>
            </a:r>
            <a:endParaRPr lang="en-US" sz="1500" dirty="0"/>
          </a:p>
        </p:txBody>
      </p:sp>
      <p:sp>
        <p:nvSpPr>
          <p:cNvPr id="8" name="Text 5"/>
          <p:cNvSpPr txBox="1"/>
          <p:nvPr/>
        </p:nvSpPr>
        <p:spPr>
          <a:xfrm>
            <a:off x="731520" y="1965960"/>
            <a:ext cx="7680960" cy="365760"/>
          </a:xfrm>
          <a:prstGeom prst="rect">
            <a:avLst/>
          </a:prstGeom>
          <a:noFill/>
          <a:ln/>
        </p:spPr>
        <p:txBody>
          <a:bodyPr wrap="square" lIns="0" tIns="0" rIns="0" bIns="0" rtlCol="0" anchor="t"/>
          <a:lstStyle/>
          <a:p>
            <a:pPr algn="l" indent="0" marL="0">
              <a:buNone/>
            </a:pPr>
            <a:r>
              <a:rPr lang="en-US" sz="1500" dirty="0">
                <a:solidFill>
                  <a:schemeClr val="bg2"/>
                </a:solidFill>
              </a:rPr>
              <a:t>What is wrong?</a:t>
            </a:r>
            <a:endParaRPr lang="en-US" sz="1500" dirty="0"/>
          </a:p>
        </p:txBody>
      </p:sp>
      <p:sp>
        <p:nvSpPr>
          <p:cNvPr id="9" name="Mistake 2"/>
          <p:cNvSpPr/>
          <p:nvPr/>
        </p:nvSpPr>
        <p:spPr>
          <a:xfrm>
            <a:off x="502920" y="2560320"/>
            <a:ext cx="8138160" cy="960120"/>
          </a:xfrm>
          <a:prstGeom prst="roundRect">
            <a:avLst>
              <a:gd name="adj" fmla="val 9524"/>
            </a:avLst>
          </a:prstGeom>
          <a:solidFill>
            <a:schemeClr val="tx2"/>
          </a:solidFill>
          <a:ln w="12700">
            <a:solidFill>
              <a:srgbClr val="2A3A55"/>
            </a:solidFill>
            <a:prstDash val="solid"/>
          </a:ln>
        </p:spPr>
      </p:sp>
      <p:sp>
        <p:nvSpPr>
          <p:cNvPr id="10" name="Text 7"/>
          <p:cNvSpPr txBox="1"/>
          <p:nvPr/>
        </p:nvSpPr>
        <p:spPr>
          <a:xfrm>
            <a:off x="731520" y="2651760"/>
            <a:ext cx="7680960" cy="365760"/>
          </a:xfrm>
          <a:prstGeom prst="rect">
            <a:avLst/>
          </a:prstGeom>
          <a:noFill/>
          <a:ln/>
        </p:spPr>
        <p:txBody>
          <a:bodyPr wrap="square" lIns="0" tIns="0" rIns="0" bIns="0" rtlCol="0" anchor="t"/>
          <a:lstStyle/>
          <a:p>
            <a:pPr algn="l" indent="0" marL="0">
              <a:buNone/>
            </a:pPr>
            <a:r>
              <a:rPr lang="en-US" sz="1500" b="1" dirty="0">
                <a:solidFill>
                  <a:schemeClr val="bg1"/>
                </a:solidFill>
              </a:rPr>
              <a:t>2. A student wrote the formula of magnesium chloride as MgCl.</a:t>
            </a:r>
            <a:endParaRPr lang="en-US" sz="1500" dirty="0"/>
          </a:p>
        </p:txBody>
      </p:sp>
      <p:sp>
        <p:nvSpPr>
          <p:cNvPr id="11" name="Text 8"/>
          <p:cNvSpPr txBox="1"/>
          <p:nvPr/>
        </p:nvSpPr>
        <p:spPr>
          <a:xfrm>
            <a:off x="731520" y="3063240"/>
            <a:ext cx="7680960" cy="365760"/>
          </a:xfrm>
          <a:prstGeom prst="rect">
            <a:avLst/>
          </a:prstGeom>
          <a:noFill/>
          <a:ln/>
        </p:spPr>
        <p:txBody>
          <a:bodyPr wrap="square" lIns="0" tIns="0" rIns="0" bIns="0" rtlCol="0" anchor="t"/>
          <a:lstStyle/>
          <a:p>
            <a:pPr algn="l" indent="0" marL="0">
              <a:buNone/>
            </a:pPr>
            <a:r>
              <a:rPr lang="en-US" sz="1500" dirty="0">
                <a:solidFill>
                  <a:schemeClr val="bg2"/>
                </a:solidFill>
              </a:rPr>
              <a:t>What is wrong?</a:t>
            </a:r>
            <a:endParaRPr lang="en-US" sz="1500" dirty="0"/>
          </a:p>
        </p:txBody>
      </p:sp>
      <p:sp>
        <p:nvSpPr>
          <p:cNvPr id="12" name="Mistake 3"/>
          <p:cNvSpPr/>
          <p:nvPr/>
        </p:nvSpPr>
        <p:spPr>
          <a:xfrm>
            <a:off x="502920" y="3657600"/>
            <a:ext cx="8138160" cy="960120"/>
          </a:xfrm>
          <a:prstGeom prst="roundRect">
            <a:avLst>
              <a:gd name="adj" fmla="val 9524"/>
            </a:avLst>
          </a:prstGeom>
          <a:solidFill>
            <a:schemeClr val="tx2"/>
          </a:solidFill>
          <a:ln w="12700">
            <a:solidFill>
              <a:srgbClr val="2A3A55"/>
            </a:solidFill>
            <a:prstDash val="solid"/>
          </a:ln>
        </p:spPr>
      </p:sp>
      <p:sp>
        <p:nvSpPr>
          <p:cNvPr id="13" name="Text 10"/>
          <p:cNvSpPr txBox="1"/>
          <p:nvPr/>
        </p:nvSpPr>
        <p:spPr>
          <a:xfrm>
            <a:off x="731520" y="3749040"/>
            <a:ext cx="7680960" cy="365760"/>
          </a:xfrm>
          <a:prstGeom prst="rect">
            <a:avLst/>
          </a:prstGeom>
          <a:noFill/>
          <a:ln/>
        </p:spPr>
        <p:txBody>
          <a:bodyPr wrap="square" lIns="0" tIns="0" rIns="0" bIns="0" rtlCol="0" anchor="t"/>
          <a:lstStyle/>
          <a:p>
            <a:pPr algn="l" indent="0" marL="0">
              <a:buNone/>
            </a:pPr>
            <a:r>
              <a:rPr lang="en-US" sz="1500" b="1" dirty="0">
                <a:solidFill>
                  <a:schemeClr val="bg1"/>
                </a:solidFill>
              </a:rPr>
              <a:t>3. A student named NaCl "sodium chlorine."</a:t>
            </a:r>
            <a:endParaRPr lang="en-US" sz="1500" dirty="0"/>
          </a:p>
        </p:txBody>
      </p:sp>
      <p:sp>
        <p:nvSpPr>
          <p:cNvPr id="14" name="Text 11"/>
          <p:cNvSpPr txBox="1"/>
          <p:nvPr/>
        </p:nvSpPr>
        <p:spPr>
          <a:xfrm>
            <a:off x="731520" y="4160520"/>
            <a:ext cx="7680960" cy="365760"/>
          </a:xfrm>
          <a:prstGeom prst="rect">
            <a:avLst/>
          </a:prstGeom>
          <a:noFill/>
          <a:ln/>
        </p:spPr>
        <p:txBody>
          <a:bodyPr wrap="square" lIns="0" tIns="0" rIns="0" bIns="0" rtlCol="0" anchor="t"/>
          <a:lstStyle/>
          <a:p>
            <a:pPr algn="l" indent="0" marL="0">
              <a:buNone/>
            </a:pPr>
            <a:r>
              <a:rPr lang="en-US" sz="1500" dirty="0">
                <a:solidFill>
                  <a:schemeClr val="bg2"/>
                </a:solidFill>
              </a:rPr>
              <a:t>What is wrong?</a:t>
            </a:r>
            <a:endParaRPr lang="en-US" sz="15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FB1C7"/>
                </a:solidFill>
              </a:defRPr>
            </a:lvl1pPr>
          </a:lstStyle>
          <a:p>
            <a:pPr algn="l"/>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1234440" y="292608"/>
            <a:ext cx="7452360" cy="548640"/>
          </a:xfrm>
          <a:prstGeom prst="rect">
            <a:avLst/>
          </a:prstGeom>
          <a:noFill/>
          <a:ln/>
        </p:spPr>
        <p:txBody>
          <a:bodyPr wrap="square" lIns="0" tIns="0" rIns="0" bIns="0" rtlCol="0" anchor="ctr"/>
          <a:lstStyle/>
          <a:p>
            <a:pPr algn="l" indent="0" marL="0">
              <a:buNone/>
            </a:pPr>
            <a:r>
              <a:rPr lang="en-US" sz="2800" b="1" dirty="0">
                <a:solidFill>
                  <a:schemeClr val="bg1"/>
                </a:solidFill>
                <a:latin typeface="Arial" pitchFamily="34" charset="0"/>
                <a:ea typeface="Arial" pitchFamily="34" charset="-122"/>
                <a:cs typeface="Arial" pitchFamily="34" charset="-120"/>
              </a:rPr>
              <a:t>Spot the mistake</a:t>
            </a:r>
            <a:endParaRPr lang="en-US" sz="2800" dirty="0"/>
          </a:p>
        </p:txBody>
      </p:sp>
      <p:pic>
        <p:nvPicPr>
          <p:cNvPr id="3" name="Icon 8" descr="Section 8 icon">    </p:cNvPr>
          <p:cNvPicPr>
            <a:picLocks noChangeAspect="1"/>
          </p:cNvPicPr>
          <p:nvPr/>
        </p:nvPicPr>
        <p:blipFill>
          <a:blip r:embed="rId1"/>
          <a:stretch>
            <a:fillRect/>
          </a:stretch>
        </p:blipFill>
        <p:spPr>
          <a:xfrm>
            <a:off x="502920" y="201168"/>
            <a:ext cx="566928" cy="627239"/>
          </a:xfrm>
          <a:prstGeom prst="rect">
            <a:avLst/>
          </a:prstGeom>
        </p:spPr>
      </p:pic>
      <p:sp>
        <p:nvSpPr>
          <p:cNvPr id="4" name="Tag Try it"/>
          <p:cNvSpPr/>
          <p:nvPr/>
        </p:nvSpPr>
        <p:spPr>
          <a:xfrm>
            <a:off x="1234440" y="45720"/>
            <a:ext cx="1051560" cy="219456"/>
          </a:xfrm>
          <a:prstGeom prst="roundRect">
            <a:avLst>
              <a:gd name="adj" fmla="val 41667"/>
            </a:avLst>
          </a:prstGeom>
          <a:solidFill>
            <a:srgbClr val="5FE1FF"/>
          </a:solidFill>
          <a:ln/>
        </p:spPr>
        <p:txBody>
          <a:bodyPr wrap="square" lIns="0" tIns="0" rIns="0" bIns="0" rtlCol="0" anchor="ctr"/>
          <a:lstStyle/>
          <a:p>
            <a:pPr algn="ctr" indent="0" marL="0">
              <a:buNone/>
            </a:pPr>
            <a:r>
              <a:rPr lang="en-US" sz="1000" b="1" dirty="0">
                <a:solidFill>
                  <a:srgbClr val="0B2630"/>
                </a:solidFill>
              </a:rPr>
              <a:t>Try it</a:t>
            </a:r>
            <a:endParaRPr lang="en-US" sz="1000" dirty="0"/>
          </a:p>
        </p:txBody>
      </p:sp>
      <p:sp>
        <p:nvSpPr>
          <p:cNvPr id="5" name="Tag Answer"/>
          <p:cNvSpPr/>
          <p:nvPr/>
        </p:nvSpPr>
        <p:spPr>
          <a:xfrm>
            <a:off x="2377440" y="45720"/>
            <a:ext cx="1051560" cy="219456"/>
          </a:xfrm>
          <a:prstGeom prst="roundRect">
            <a:avLst>
              <a:gd name="adj" fmla="val 41667"/>
            </a:avLst>
          </a:prstGeom>
          <a:solidFill>
            <a:srgbClr val="4ADE80"/>
          </a:solidFill>
          <a:ln/>
        </p:spPr>
        <p:txBody>
          <a:bodyPr wrap="square" lIns="0" tIns="0" rIns="0" bIns="0" rtlCol="0" anchor="ctr"/>
          <a:lstStyle/>
          <a:p>
            <a:pPr algn="ctr" indent="0" marL="0">
              <a:buNone/>
            </a:pPr>
            <a:r>
              <a:rPr lang="en-US" sz="1000" b="1" dirty="0">
                <a:solidFill>
                  <a:srgbClr val="06240F"/>
                </a:solidFill>
              </a:rPr>
              <a:t>Answer</a:t>
            </a:r>
            <a:endParaRPr lang="en-US" sz="1000" dirty="0"/>
          </a:p>
        </p:txBody>
      </p:sp>
      <p:sp>
        <p:nvSpPr>
          <p:cNvPr id="6" name="Text 3"/>
          <p:cNvSpPr txBox="1"/>
          <p:nvPr/>
        </p:nvSpPr>
        <p:spPr>
          <a:xfrm>
            <a:off x="502920" y="960120"/>
            <a:ext cx="8138160" cy="365760"/>
          </a:xfrm>
          <a:prstGeom prst="rect">
            <a:avLst/>
          </a:prstGeom>
          <a:noFill/>
          <a:ln/>
        </p:spPr>
        <p:txBody>
          <a:bodyPr wrap="square" lIns="0" tIns="0" rIns="0" bIns="0" rtlCol="0" anchor="t"/>
          <a:lstStyle/>
          <a:p>
            <a:pPr algn="l" indent="0" marL="0">
              <a:buNone/>
            </a:pPr>
            <a:r>
              <a:rPr lang="en-US" sz="1600" b="1" dirty="0">
                <a:solidFill>
                  <a:schemeClr val="bg1"/>
                </a:solidFill>
              </a:rPr>
              <a:t>Each student example has one mistake. Find it.</a:t>
            </a:r>
            <a:endParaRPr lang="en-US" sz="1600" dirty="0"/>
          </a:p>
        </p:txBody>
      </p:sp>
      <p:sp>
        <p:nvSpPr>
          <p:cNvPr id="7" name="Mistake 1"/>
          <p:cNvSpPr/>
          <p:nvPr/>
        </p:nvSpPr>
        <p:spPr>
          <a:xfrm>
            <a:off x="502920" y="1463040"/>
            <a:ext cx="8138160" cy="960120"/>
          </a:xfrm>
          <a:prstGeom prst="roundRect">
            <a:avLst>
              <a:gd name="adj" fmla="val 9524"/>
            </a:avLst>
          </a:prstGeom>
          <a:solidFill>
            <a:schemeClr val="tx2"/>
          </a:solidFill>
          <a:ln w="12700">
            <a:solidFill>
              <a:srgbClr val="4ADE80"/>
            </a:solidFill>
            <a:prstDash val="solid"/>
          </a:ln>
        </p:spPr>
      </p:sp>
      <p:sp>
        <p:nvSpPr>
          <p:cNvPr id="8" name="Text 5"/>
          <p:cNvSpPr txBox="1"/>
          <p:nvPr/>
        </p:nvSpPr>
        <p:spPr>
          <a:xfrm>
            <a:off x="731520" y="1554480"/>
            <a:ext cx="7680960" cy="365760"/>
          </a:xfrm>
          <a:prstGeom prst="rect">
            <a:avLst/>
          </a:prstGeom>
          <a:noFill/>
          <a:ln/>
        </p:spPr>
        <p:txBody>
          <a:bodyPr wrap="square" lIns="0" tIns="0" rIns="0" bIns="0" rtlCol="0" anchor="t"/>
          <a:lstStyle/>
          <a:p>
            <a:pPr algn="l" indent="0" marL="0">
              <a:buNone/>
            </a:pPr>
            <a:r>
              <a:rPr lang="en-US" sz="1500" b="1" dirty="0">
                <a:solidFill>
                  <a:schemeClr val="bg1"/>
                </a:solidFill>
              </a:rPr>
              <a:t>1. A student drew an arrow showing an electron moving from chlorine to sodium.</a:t>
            </a:r>
            <a:endParaRPr lang="en-US" sz="1500" dirty="0"/>
          </a:p>
        </p:txBody>
      </p:sp>
      <p:sp>
        <p:nvSpPr>
          <p:cNvPr id="9" name="Text 6"/>
          <p:cNvSpPr txBox="1"/>
          <p:nvPr/>
        </p:nvSpPr>
        <p:spPr>
          <a:xfrm>
            <a:off x="731520" y="1965960"/>
            <a:ext cx="7680960" cy="365760"/>
          </a:xfrm>
          <a:prstGeom prst="rect">
            <a:avLst/>
          </a:prstGeom>
          <a:noFill/>
          <a:ln/>
        </p:spPr>
        <p:txBody>
          <a:bodyPr wrap="square" lIns="0" tIns="0" rIns="0" bIns="0" rtlCol="0" anchor="t"/>
          <a:lstStyle/>
          <a:p>
            <a:pPr algn="l" indent="0" marL="0">
              <a:buNone/>
            </a:pPr>
            <a:r>
              <a:rPr lang="en-US" sz="1500" dirty="0">
                <a:solidFill>
                  <a:schemeClr val="accent4"/>
                </a:solidFill>
              </a:rPr>
              <a:t>Fix: The electron should move from sodium (the metal) to chlorine.</a:t>
            </a:r>
            <a:endParaRPr lang="en-US" sz="1500" dirty="0"/>
          </a:p>
        </p:txBody>
      </p:sp>
      <p:sp>
        <p:nvSpPr>
          <p:cNvPr id="10" name="Mistake 2"/>
          <p:cNvSpPr/>
          <p:nvPr/>
        </p:nvSpPr>
        <p:spPr>
          <a:xfrm>
            <a:off x="502920" y="2560320"/>
            <a:ext cx="8138160" cy="960120"/>
          </a:xfrm>
          <a:prstGeom prst="roundRect">
            <a:avLst>
              <a:gd name="adj" fmla="val 9524"/>
            </a:avLst>
          </a:prstGeom>
          <a:solidFill>
            <a:schemeClr val="tx2"/>
          </a:solidFill>
          <a:ln w="12700">
            <a:solidFill>
              <a:srgbClr val="4ADE80"/>
            </a:solidFill>
            <a:prstDash val="solid"/>
          </a:ln>
        </p:spPr>
      </p:sp>
      <p:sp>
        <p:nvSpPr>
          <p:cNvPr id="11" name="Text 8"/>
          <p:cNvSpPr txBox="1"/>
          <p:nvPr/>
        </p:nvSpPr>
        <p:spPr>
          <a:xfrm>
            <a:off x="731520" y="2651760"/>
            <a:ext cx="7680960" cy="365760"/>
          </a:xfrm>
          <a:prstGeom prst="rect">
            <a:avLst/>
          </a:prstGeom>
          <a:noFill/>
          <a:ln/>
        </p:spPr>
        <p:txBody>
          <a:bodyPr wrap="square" lIns="0" tIns="0" rIns="0" bIns="0" rtlCol="0" anchor="t"/>
          <a:lstStyle/>
          <a:p>
            <a:pPr algn="l" indent="0" marL="0">
              <a:buNone/>
            </a:pPr>
            <a:r>
              <a:rPr lang="en-US" sz="1500" b="1" dirty="0">
                <a:solidFill>
                  <a:schemeClr val="bg1"/>
                </a:solidFill>
              </a:rPr>
              <a:t>2. A student wrote the formula of magnesium chloride as MgCl.</a:t>
            </a:r>
            <a:endParaRPr lang="en-US" sz="1500" dirty="0"/>
          </a:p>
        </p:txBody>
      </p:sp>
      <p:sp>
        <p:nvSpPr>
          <p:cNvPr id="12" name="Text 9"/>
          <p:cNvSpPr txBox="1"/>
          <p:nvPr/>
        </p:nvSpPr>
        <p:spPr>
          <a:xfrm>
            <a:off x="731520" y="3063240"/>
            <a:ext cx="7680960" cy="365760"/>
          </a:xfrm>
          <a:prstGeom prst="rect">
            <a:avLst/>
          </a:prstGeom>
          <a:noFill/>
          <a:ln/>
        </p:spPr>
        <p:txBody>
          <a:bodyPr wrap="square" lIns="0" tIns="0" rIns="0" bIns="0" rtlCol="0" anchor="t"/>
          <a:lstStyle/>
          <a:p>
            <a:pPr algn="l" indent="0" marL="0">
              <a:buNone/>
            </a:pPr>
            <a:r>
              <a:rPr lang="en-US" sz="1500" dirty="0">
                <a:solidFill>
                  <a:schemeClr val="accent4"/>
                </a:solidFill>
              </a:rPr>
              <a:t>Fix: It should be MgCl₂: Mg²⁺ needs two Cl⁻.</a:t>
            </a:r>
            <a:endParaRPr lang="en-US" sz="1500" dirty="0"/>
          </a:p>
        </p:txBody>
      </p:sp>
      <p:sp>
        <p:nvSpPr>
          <p:cNvPr id="13" name="Mistake 3"/>
          <p:cNvSpPr/>
          <p:nvPr/>
        </p:nvSpPr>
        <p:spPr>
          <a:xfrm>
            <a:off x="502920" y="3657600"/>
            <a:ext cx="8138160" cy="960120"/>
          </a:xfrm>
          <a:prstGeom prst="roundRect">
            <a:avLst>
              <a:gd name="adj" fmla="val 9524"/>
            </a:avLst>
          </a:prstGeom>
          <a:solidFill>
            <a:schemeClr val="tx2"/>
          </a:solidFill>
          <a:ln w="12700">
            <a:solidFill>
              <a:srgbClr val="4ADE80"/>
            </a:solidFill>
            <a:prstDash val="solid"/>
          </a:ln>
        </p:spPr>
      </p:sp>
      <p:sp>
        <p:nvSpPr>
          <p:cNvPr id="14" name="Text 11"/>
          <p:cNvSpPr txBox="1"/>
          <p:nvPr/>
        </p:nvSpPr>
        <p:spPr>
          <a:xfrm>
            <a:off x="731520" y="3749040"/>
            <a:ext cx="7680960" cy="365760"/>
          </a:xfrm>
          <a:prstGeom prst="rect">
            <a:avLst/>
          </a:prstGeom>
          <a:noFill/>
          <a:ln/>
        </p:spPr>
        <p:txBody>
          <a:bodyPr wrap="square" lIns="0" tIns="0" rIns="0" bIns="0" rtlCol="0" anchor="t"/>
          <a:lstStyle/>
          <a:p>
            <a:pPr algn="l" indent="0" marL="0">
              <a:buNone/>
            </a:pPr>
            <a:r>
              <a:rPr lang="en-US" sz="1500" b="1" dirty="0">
                <a:solidFill>
                  <a:schemeClr val="bg1"/>
                </a:solidFill>
              </a:rPr>
              <a:t>3. A student named NaCl "sodium chlorine."</a:t>
            </a:r>
            <a:endParaRPr lang="en-US" sz="1500" dirty="0"/>
          </a:p>
        </p:txBody>
      </p:sp>
      <p:sp>
        <p:nvSpPr>
          <p:cNvPr id="15" name="Text 12"/>
          <p:cNvSpPr txBox="1"/>
          <p:nvPr/>
        </p:nvSpPr>
        <p:spPr>
          <a:xfrm>
            <a:off x="731520" y="4160520"/>
            <a:ext cx="7680960" cy="365760"/>
          </a:xfrm>
          <a:prstGeom prst="rect">
            <a:avLst/>
          </a:prstGeom>
          <a:noFill/>
          <a:ln/>
        </p:spPr>
        <p:txBody>
          <a:bodyPr wrap="square" lIns="0" tIns="0" rIns="0" bIns="0" rtlCol="0" anchor="t"/>
          <a:lstStyle/>
          <a:p>
            <a:pPr algn="l" indent="0" marL="0">
              <a:buNone/>
            </a:pPr>
            <a:r>
              <a:rPr lang="en-US" sz="1500" dirty="0">
                <a:solidFill>
                  <a:schemeClr val="accent4"/>
                </a:solidFill>
              </a:rPr>
              <a:t>Fix: The nonmetal ends in -ide: sodium chloride.</a:t>
            </a:r>
            <a:endParaRPr lang="en-US" sz="15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FB1C7"/>
                </a:solidFill>
              </a:defRPr>
            </a:lvl1pPr>
          </a:lstStyle>
          <a:p>
            <a:pPr algn="l"/>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1234440" y="292608"/>
            <a:ext cx="7452360" cy="548640"/>
          </a:xfrm>
          <a:prstGeom prst="rect">
            <a:avLst/>
          </a:prstGeom>
          <a:noFill/>
          <a:ln/>
        </p:spPr>
        <p:txBody>
          <a:bodyPr wrap="square" lIns="0" tIns="0" rIns="0" bIns="0" rtlCol="0" anchor="ctr"/>
          <a:lstStyle/>
          <a:p>
            <a:pPr algn="l" indent="0" marL="0">
              <a:buNone/>
            </a:pPr>
            <a:r>
              <a:rPr lang="en-US" sz="2800" b="1" dirty="0">
                <a:solidFill>
                  <a:schemeClr val="bg1"/>
                </a:solidFill>
                <a:latin typeface="Arial" pitchFamily="34" charset="0"/>
                <a:ea typeface="Arial" pitchFamily="34" charset="-122"/>
                <a:cs typeface="Arial" pitchFamily="34" charset="-120"/>
              </a:rPr>
              <a:t>Quick check</a:t>
            </a:r>
            <a:endParaRPr lang="en-US" sz="2800" dirty="0"/>
          </a:p>
        </p:txBody>
      </p:sp>
      <p:pic>
        <p:nvPicPr>
          <p:cNvPr id="3" name="Icon 8" descr="Section 8 icon">    </p:cNvPr>
          <p:cNvPicPr>
            <a:picLocks noChangeAspect="1"/>
          </p:cNvPicPr>
          <p:nvPr/>
        </p:nvPicPr>
        <p:blipFill>
          <a:blip r:embed="rId1"/>
          <a:stretch>
            <a:fillRect/>
          </a:stretch>
        </p:blipFill>
        <p:spPr>
          <a:xfrm>
            <a:off x="502920" y="201168"/>
            <a:ext cx="566928" cy="627239"/>
          </a:xfrm>
          <a:prstGeom prst="rect">
            <a:avLst/>
          </a:prstGeom>
        </p:spPr>
      </p:pic>
      <p:sp>
        <p:nvSpPr>
          <p:cNvPr id="4" name="Tag Quick check"/>
          <p:cNvSpPr/>
          <p:nvPr/>
        </p:nvSpPr>
        <p:spPr>
          <a:xfrm>
            <a:off x="1234440" y="45720"/>
            <a:ext cx="1051560" cy="219456"/>
          </a:xfrm>
          <a:prstGeom prst="roundRect">
            <a:avLst>
              <a:gd name="adj" fmla="val 41667"/>
            </a:avLst>
          </a:prstGeom>
          <a:solidFill>
            <a:srgbClr val="F6B93B"/>
          </a:solidFill>
          <a:ln/>
        </p:spPr>
        <p:txBody>
          <a:bodyPr wrap="square" lIns="0" tIns="0" rIns="0" bIns="0" rtlCol="0" anchor="ctr"/>
          <a:lstStyle/>
          <a:p>
            <a:pPr algn="ctr" indent="0" marL="0">
              <a:buNone/>
            </a:pPr>
            <a:r>
              <a:rPr lang="en-US" sz="1000" b="1" dirty="0">
                <a:solidFill>
                  <a:srgbClr val="241703"/>
                </a:solidFill>
              </a:rPr>
              <a:t>Quick check</a:t>
            </a:r>
            <a:endParaRPr lang="en-US" sz="1000" dirty="0"/>
          </a:p>
        </p:txBody>
      </p:sp>
      <p:sp>
        <p:nvSpPr>
          <p:cNvPr id="5" name="Text 2"/>
          <p:cNvSpPr txBox="1"/>
          <p:nvPr/>
        </p:nvSpPr>
        <p:spPr>
          <a:xfrm>
            <a:off x="502920" y="960120"/>
            <a:ext cx="8138160" cy="411480"/>
          </a:xfrm>
          <a:prstGeom prst="rect">
            <a:avLst/>
          </a:prstGeom>
          <a:noFill/>
          <a:ln/>
        </p:spPr>
        <p:txBody>
          <a:bodyPr wrap="square" lIns="0" tIns="0" rIns="0" bIns="0" rtlCol="0" anchor="t"/>
          <a:lstStyle/>
          <a:p>
            <a:pPr algn="l" indent="0" marL="0">
              <a:buNone/>
            </a:pPr>
            <a:r>
              <a:rPr lang="en-US" sz="1800" b="1" dirty="0">
                <a:solidFill>
                  <a:schemeClr val="bg1"/>
                </a:solidFill>
              </a:rPr>
              <a:t>Which formula is written correctly?</a:t>
            </a:r>
            <a:endParaRPr lang="en-US" sz="1800" dirty="0"/>
          </a:p>
        </p:txBody>
      </p:sp>
      <p:sp>
        <p:nvSpPr>
          <p:cNvPr id="6" name="Option A"/>
          <p:cNvSpPr/>
          <p:nvPr/>
        </p:nvSpPr>
        <p:spPr>
          <a:xfrm>
            <a:off x="502920" y="1508760"/>
            <a:ext cx="8138160" cy="438912"/>
          </a:xfrm>
          <a:prstGeom prst="roundRect">
            <a:avLst>
              <a:gd name="adj" fmla="val 20833"/>
            </a:avLst>
          </a:prstGeom>
          <a:solidFill>
            <a:schemeClr val="tx2"/>
          </a:solidFill>
          <a:ln w="12700">
            <a:solidFill>
              <a:srgbClr val="2A3A55"/>
            </a:solidFill>
            <a:prstDash val="solid"/>
          </a:ln>
        </p:spPr>
      </p:sp>
      <p:sp>
        <p:nvSpPr>
          <p:cNvPr id="7" name="Letter"/>
          <p:cNvSpPr/>
          <p:nvPr/>
        </p:nvSpPr>
        <p:spPr>
          <a:xfrm>
            <a:off x="621792" y="1591056"/>
            <a:ext cx="292608" cy="274320"/>
          </a:xfrm>
          <a:prstGeom prst="roundRect">
            <a:avLst>
              <a:gd name="adj" fmla="val 20000"/>
            </a:avLst>
          </a:prstGeom>
          <a:solidFill>
            <a:srgbClr val="2A3A55"/>
          </a:solidFill>
          <a:ln/>
        </p:spPr>
        <p:txBody>
          <a:bodyPr wrap="square" lIns="0" tIns="0" rIns="0" bIns="0" rtlCol="0" anchor="ctr"/>
          <a:lstStyle/>
          <a:p>
            <a:pPr algn="ctr" indent="0" marL="0">
              <a:buNone/>
            </a:pPr>
            <a:r>
              <a:rPr lang="en-US" sz="1200" b="1" dirty="0">
                <a:solidFill>
                  <a:srgbClr val="E6EDF7"/>
                </a:solidFill>
              </a:rPr>
              <a:t>A</a:t>
            </a:r>
            <a:endParaRPr lang="en-US" sz="1200" dirty="0"/>
          </a:p>
        </p:txBody>
      </p:sp>
      <p:sp>
        <p:nvSpPr>
          <p:cNvPr id="8" name="Text 5"/>
          <p:cNvSpPr txBox="1"/>
          <p:nvPr/>
        </p:nvSpPr>
        <p:spPr>
          <a:xfrm>
            <a:off x="1024128" y="1563624"/>
            <a:ext cx="7498080" cy="347472"/>
          </a:xfrm>
          <a:prstGeom prst="rect">
            <a:avLst/>
          </a:prstGeom>
          <a:noFill/>
          <a:ln/>
        </p:spPr>
        <p:txBody>
          <a:bodyPr wrap="square" lIns="0" tIns="0" rIns="0" bIns="0" rtlCol="0" anchor="ctr"/>
          <a:lstStyle/>
          <a:p>
            <a:pPr algn="l" indent="0" marL="0">
              <a:buNone/>
            </a:pPr>
            <a:r>
              <a:rPr lang="en-US" sz="1500" dirty="0">
                <a:solidFill>
                  <a:schemeClr val="bg1"/>
                </a:solidFill>
              </a:rPr>
              <a:t>Cl₂Ca</a:t>
            </a:r>
            <a:endParaRPr lang="en-US" sz="1500" dirty="0"/>
          </a:p>
        </p:txBody>
      </p:sp>
      <p:sp>
        <p:nvSpPr>
          <p:cNvPr id="9" name="Option B"/>
          <p:cNvSpPr/>
          <p:nvPr/>
        </p:nvSpPr>
        <p:spPr>
          <a:xfrm>
            <a:off x="502920" y="2039112"/>
            <a:ext cx="8138160" cy="438912"/>
          </a:xfrm>
          <a:prstGeom prst="roundRect">
            <a:avLst>
              <a:gd name="adj" fmla="val 20833"/>
            </a:avLst>
          </a:prstGeom>
          <a:solidFill>
            <a:schemeClr val="tx2"/>
          </a:solidFill>
          <a:ln w="12700">
            <a:solidFill>
              <a:srgbClr val="2A3A55"/>
            </a:solidFill>
            <a:prstDash val="solid"/>
          </a:ln>
        </p:spPr>
      </p:sp>
      <p:sp>
        <p:nvSpPr>
          <p:cNvPr id="10" name="Letter"/>
          <p:cNvSpPr/>
          <p:nvPr/>
        </p:nvSpPr>
        <p:spPr>
          <a:xfrm>
            <a:off x="621792" y="2121408"/>
            <a:ext cx="292608" cy="274320"/>
          </a:xfrm>
          <a:prstGeom prst="roundRect">
            <a:avLst>
              <a:gd name="adj" fmla="val 20000"/>
            </a:avLst>
          </a:prstGeom>
          <a:solidFill>
            <a:srgbClr val="2A3A55"/>
          </a:solidFill>
          <a:ln/>
        </p:spPr>
        <p:txBody>
          <a:bodyPr wrap="square" lIns="0" tIns="0" rIns="0" bIns="0" rtlCol="0" anchor="ctr"/>
          <a:lstStyle/>
          <a:p>
            <a:pPr algn="ctr" indent="0" marL="0">
              <a:buNone/>
            </a:pPr>
            <a:r>
              <a:rPr lang="en-US" sz="1200" b="1" dirty="0">
                <a:solidFill>
                  <a:srgbClr val="E6EDF7"/>
                </a:solidFill>
              </a:rPr>
              <a:t>B</a:t>
            </a:r>
            <a:endParaRPr lang="en-US" sz="1200" dirty="0"/>
          </a:p>
        </p:txBody>
      </p:sp>
      <p:sp>
        <p:nvSpPr>
          <p:cNvPr id="11" name="Text 8"/>
          <p:cNvSpPr txBox="1"/>
          <p:nvPr/>
        </p:nvSpPr>
        <p:spPr>
          <a:xfrm>
            <a:off x="1024128" y="2093976"/>
            <a:ext cx="7498080" cy="347472"/>
          </a:xfrm>
          <a:prstGeom prst="rect">
            <a:avLst/>
          </a:prstGeom>
          <a:noFill/>
          <a:ln/>
        </p:spPr>
        <p:txBody>
          <a:bodyPr wrap="square" lIns="0" tIns="0" rIns="0" bIns="0" rtlCol="0" anchor="ctr"/>
          <a:lstStyle/>
          <a:p>
            <a:pPr algn="l" indent="0" marL="0">
              <a:buNone/>
            </a:pPr>
            <a:r>
              <a:rPr lang="en-US" sz="1500" dirty="0">
                <a:solidFill>
                  <a:schemeClr val="bg1"/>
                </a:solidFill>
              </a:rPr>
              <a:t>CaCl</a:t>
            </a:r>
            <a:endParaRPr lang="en-US" sz="1500" dirty="0"/>
          </a:p>
        </p:txBody>
      </p:sp>
      <p:sp>
        <p:nvSpPr>
          <p:cNvPr id="12" name="Option C"/>
          <p:cNvSpPr/>
          <p:nvPr/>
        </p:nvSpPr>
        <p:spPr>
          <a:xfrm>
            <a:off x="502920" y="2569464"/>
            <a:ext cx="8138160" cy="438912"/>
          </a:xfrm>
          <a:prstGeom prst="roundRect">
            <a:avLst>
              <a:gd name="adj" fmla="val 20833"/>
            </a:avLst>
          </a:prstGeom>
          <a:solidFill>
            <a:schemeClr val="tx2"/>
          </a:solidFill>
          <a:ln w="12700">
            <a:solidFill>
              <a:srgbClr val="2A3A55"/>
            </a:solidFill>
            <a:prstDash val="solid"/>
          </a:ln>
        </p:spPr>
      </p:sp>
      <p:sp>
        <p:nvSpPr>
          <p:cNvPr id="13" name="Letter"/>
          <p:cNvSpPr/>
          <p:nvPr/>
        </p:nvSpPr>
        <p:spPr>
          <a:xfrm>
            <a:off x="621792" y="2651760"/>
            <a:ext cx="292608" cy="274320"/>
          </a:xfrm>
          <a:prstGeom prst="roundRect">
            <a:avLst>
              <a:gd name="adj" fmla="val 20000"/>
            </a:avLst>
          </a:prstGeom>
          <a:solidFill>
            <a:srgbClr val="2A3A55"/>
          </a:solidFill>
          <a:ln/>
        </p:spPr>
        <p:txBody>
          <a:bodyPr wrap="square" lIns="0" tIns="0" rIns="0" bIns="0" rtlCol="0" anchor="ctr"/>
          <a:lstStyle/>
          <a:p>
            <a:pPr algn="ctr" indent="0" marL="0">
              <a:buNone/>
            </a:pPr>
            <a:r>
              <a:rPr lang="en-US" sz="1200" b="1" dirty="0">
                <a:solidFill>
                  <a:srgbClr val="E6EDF7"/>
                </a:solidFill>
              </a:rPr>
              <a:t>C</a:t>
            </a:r>
            <a:endParaRPr lang="en-US" sz="1200" dirty="0"/>
          </a:p>
        </p:txBody>
      </p:sp>
      <p:sp>
        <p:nvSpPr>
          <p:cNvPr id="14" name="Text 11"/>
          <p:cNvSpPr txBox="1"/>
          <p:nvPr/>
        </p:nvSpPr>
        <p:spPr>
          <a:xfrm>
            <a:off x="1024128" y="2624328"/>
            <a:ext cx="7498080" cy="347472"/>
          </a:xfrm>
          <a:prstGeom prst="rect">
            <a:avLst/>
          </a:prstGeom>
          <a:noFill/>
          <a:ln/>
        </p:spPr>
        <p:txBody>
          <a:bodyPr wrap="square" lIns="0" tIns="0" rIns="0" bIns="0" rtlCol="0" anchor="ctr"/>
          <a:lstStyle/>
          <a:p>
            <a:pPr algn="l" indent="0" marL="0">
              <a:buNone/>
            </a:pPr>
            <a:r>
              <a:rPr lang="en-US" sz="1500" dirty="0">
                <a:solidFill>
                  <a:schemeClr val="bg1"/>
                </a:solidFill>
              </a:rPr>
              <a:t>CaCl₂</a:t>
            </a:r>
            <a:endParaRPr lang="en-US" sz="1500" dirty="0"/>
          </a:p>
        </p:txBody>
      </p:sp>
      <p:sp>
        <p:nvSpPr>
          <p:cNvPr id="15" name="Option D"/>
          <p:cNvSpPr/>
          <p:nvPr/>
        </p:nvSpPr>
        <p:spPr>
          <a:xfrm>
            <a:off x="502920" y="3099816"/>
            <a:ext cx="8138160" cy="438912"/>
          </a:xfrm>
          <a:prstGeom prst="roundRect">
            <a:avLst>
              <a:gd name="adj" fmla="val 20833"/>
            </a:avLst>
          </a:prstGeom>
          <a:solidFill>
            <a:schemeClr val="tx2"/>
          </a:solidFill>
          <a:ln w="12700">
            <a:solidFill>
              <a:srgbClr val="2A3A55"/>
            </a:solidFill>
            <a:prstDash val="solid"/>
          </a:ln>
        </p:spPr>
      </p:sp>
      <p:sp>
        <p:nvSpPr>
          <p:cNvPr id="16" name="Letter"/>
          <p:cNvSpPr/>
          <p:nvPr/>
        </p:nvSpPr>
        <p:spPr>
          <a:xfrm>
            <a:off x="621792" y="3182112"/>
            <a:ext cx="292608" cy="274320"/>
          </a:xfrm>
          <a:prstGeom prst="roundRect">
            <a:avLst>
              <a:gd name="adj" fmla="val 20000"/>
            </a:avLst>
          </a:prstGeom>
          <a:solidFill>
            <a:srgbClr val="2A3A55"/>
          </a:solidFill>
          <a:ln/>
        </p:spPr>
        <p:txBody>
          <a:bodyPr wrap="square" lIns="0" tIns="0" rIns="0" bIns="0" rtlCol="0" anchor="ctr"/>
          <a:lstStyle/>
          <a:p>
            <a:pPr algn="ctr" indent="0" marL="0">
              <a:buNone/>
            </a:pPr>
            <a:r>
              <a:rPr lang="en-US" sz="1200" b="1" dirty="0">
                <a:solidFill>
                  <a:srgbClr val="E6EDF7"/>
                </a:solidFill>
              </a:rPr>
              <a:t>D</a:t>
            </a:r>
            <a:endParaRPr lang="en-US" sz="1200" dirty="0"/>
          </a:p>
        </p:txBody>
      </p:sp>
      <p:sp>
        <p:nvSpPr>
          <p:cNvPr id="17" name="Text 14"/>
          <p:cNvSpPr txBox="1"/>
          <p:nvPr/>
        </p:nvSpPr>
        <p:spPr>
          <a:xfrm>
            <a:off x="1024128" y="3154680"/>
            <a:ext cx="7498080" cy="347472"/>
          </a:xfrm>
          <a:prstGeom prst="rect">
            <a:avLst/>
          </a:prstGeom>
          <a:noFill/>
          <a:ln/>
        </p:spPr>
        <p:txBody>
          <a:bodyPr wrap="square" lIns="0" tIns="0" rIns="0" bIns="0" rtlCol="0" anchor="ctr"/>
          <a:lstStyle/>
          <a:p>
            <a:pPr algn="l" indent="0" marL="0">
              <a:buNone/>
            </a:pPr>
            <a:r>
              <a:rPr lang="en-US" sz="1500" dirty="0">
                <a:solidFill>
                  <a:schemeClr val="bg1"/>
                </a:solidFill>
              </a:rPr>
              <a:t>Ca₂Cl</a:t>
            </a:r>
            <a:endParaRPr lang="en-US" sz="15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FB1C7"/>
                </a:solidFill>
              </a:defRPr>
            </a:lvl1pPr>
          </a:lstStyle>
          <a:p>
            <a:pPr algn="l"/>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1234440" y="292608"/>
            <a:ext cx="7452360" cy="548640"/>
          </a:xfrm>
          <a:prstGeom prst="rect">
            <a:avLst/>
          </a:prstGeom>
          <a:noFill/>
          <a:ln/>
        </p:spPr>
        <p:txBody>
          <a:bodyPr wrap="square" lIns="0" tIns="0" rIns="0" bIns="0" rtlCol="0" anchor="ctr"/>
          <a:lstStyle/>
          <a:p>
            <a:pPr algn="l" indent="0" marL="0">
              <a:buNone/>
            </a:pPr>
            <a:r>
              <a:rPr lang="en-US" sz="2800" b="1" dirty="0">
                <a:solidFill>
                  <a:schemeClr val="bg1"/>
                </a:solidFill>
                <a:latin typeface="Arial" pitchFamily="34" charset="0"/>
                <a:ea typeface="Arial" pitchFamily="34" charset="-122"/>
                <a:cs typeface="Arial" pitchFamily="34" charset="-120"/>
              </a:rPr>
              <a:t>Quick check</a:t>
            </a:r>
            <a:endParaRPr lang="en-US" sz="2800" dirty="0"/>
          </a:p>
        </p:txBody>
      </p:sp>
      <p:pic>
        <p:nvPicPr>
          <p:cNvPr id="3" name="Icon 8" descr="Section 8 icon">    </p:cNvPr>
          <p:cNvPicPr>
            <a:picLocks noChangeAspect="1"/>
          </p:cNvPicPr>
          <p:nvPr/>
        </p:nvPicPr>
        <p:blipFill>
          <a:blip r:embed="rId1"/>
          <a:stretch>
            <a:fillRect/>
          </a:stretch>
        </p:blipFill>
        <p:spPr>
          <a:xfrm>
            <a:off x="502920" y="201168"/>
            <a:ext cx="566928" cy="627239"/>
          </a:xfrm>
          <a:prstGeom prst="rect">
            <a:avLst/>
          </a:prstGeom>
        </p:spPr>
      </p:pic>
      <p:sp>
        <p:nvSpPr>
          <p:cNvPr id="4" name="Tag Quick check"/>
          <p:cNvSpPr/>
          <p:nvPr/>
        </p:nvSpPr>
        <p:spPr>
          <a:xfrm>
            <a:off x="1234440" y="45720"/>
            <a:ext cx="1051560" cy="219456"/>
          </a:xfrm>
          <a:prstGeom prst="roundRect">
            <a:avLst>
              <a:gd name="adj" fmla="val 41667"/>
            </a:avLst>
          </a:prstGeom>
          <a:solidFill>
            <a:srgbClr val="F6B93B"/>
          </a:solidFill>
          <a:ln/>
        </p:spPr>
        <p:txBody>
          <a:bodyPr wrap="square" lIns="0" tIns="0" rIns="0" bIns="0" rtlCol="0" anchor="ctr"/>
          <a:lstStyle/>
          <a:p>
            <a:pPr algn="ctr" indent="0" marL="0">
              <a:buNone/>
            </a:pPr>
            <a:r>
              <a:rPr lang="en-US" sz="1000" b="1" dirty="0">
                <a:solidFill>
                  <a:srgbClr val="241703"/>
                </a:solidFill>
              </a:rPr>
              <a:t>Quick check</a:t>
            </a:r>
            <a:endParaRPr lang="en-US" sz="1000" dirty="0"/>
          </a:p>
        </p:txBody>
      </p:sp>
      <p:sp>
        <p:nvSpPr>
          <p:cNvPr id="5" name="Tag Answer"/>
          <p:cNvSpPr/>
          <p:nvPr/>
        </p:nvSpPr>
        <p:spPr>
          <a:xfrm>
            <a:off x="2377440" y="45720"/>
            <a:ext cx="1051560" cy="219456"/>
          </a:xfrm>
          <a:prstGeom prst="roundRect">
            <a:avLst>
              <a:gd name="adj" fmla="val 41667"/>
            </a:avLst>
          </a:prstGeom>
          <a:solidFill>
            <a:srgbClr val="4ADE80"/>
          </a:solidFill>
          <a:ln/>
        </p:spPr>
        <p:txBody>
          <a:bodyPr wrap="square" lIns="0" tIns="0" rIns="0" bIns="0" rtlCol="0" anchor="ctr"/>
          <a:lstStyle/>
          <a:p>
            <a:pPr algn="ctr" indent="0" marL="0">
              <a:buNone/>
            </a:pPr>
            <a:r>
              <a:rPr lang="en-US" sz="1000" b="1" dirty="0">
                <a:solidFill>
                  <a:srgbClr val="06240F"/>
                </a:solidFill>
              </a:rPr>
              <a:t>Answer</a:t>
            </a:r>
            <a:endParaRPr lang="en-US" sz="1000" dirty="0"/>
          </a:p>
        </p:txBody>
      </p:sp>
      <p:sp>
        <p:nvSpPr>
          <p:cNvPr id="6" name="Text 3"/>
          <p:cNvSpPr txBox="1"/>
          <p:nvPr/>
        </p:nvSpPr>
        <p:spPr>
          <a:xfrm>
            <a:off x="502920" y="960120"/>
            <a:ext cx="8138160" cy="411480"/>
          </a:xfrm>
          <a:prstGeom prst="rect">
            <a:avLst/>
          </a:prstGeom>
          <a:noFill/>
          <a:ln/>
        </p:spPr>
        <p:txBody>
          <a:bodyPr wrap="square" lIns="0" tIns="0" rIns="0" bIns="0" rtlCol="0" anchor="t"/>
          <a:lstStyle/>
          <a:p>
            <a:pPr algn="l" indent="0" marL="0">
              <a:buNone/>
            </a:pPr>
            <a:r>
              <a:rPr lang="en-US" sz="1800" b="1" dirty="0">
                <a:solidFill>
                  <a:schemeClr val="bg1"/>
                </a:solidFill>
              </a:rPr>
              <a:t>Which formula is written correctly?</a:t>
            </a:r>
            <a:endParaRPr lang="en-US" sz="1800" dirty="0"/>
          </a:p>
        </p:txBody>
      </p:sp>
      <p:sp>
        <p:nvSpPr>
          <p:cNvPr id="7" name="Option A"/>
          <p:cNvSpPr/>
          <p:nvPr/>
        </p:nvSpPr>
        <p:spPr>
          <a:xfrm>
            <a:off x="502920" y="1508760"/>
            <a:ext cx="8138160" cy="438912"/>
          </a:xfrm>
          <a:prstGeom prst="roundRect">
            <a:avLst>
              <a:gd name="adj" fmla="val 20833"/>
            </a:avLst>
          </a:prstGeom>
          <a:solidFill>
            <a:schemeClr val="tx2"/>
          </a:solidFill>
          <a:ln w="12700">
            <a:solidFill>
              <a:srgbClr val="2A3A55"/>
            </a:solidFill>
            <a:prstDash val="solid"/>
          </a:ln>
        </p:spPr>
      </p:sp>
      <p:sp>
        <p:nvSpPr>
          <p:cNvPr id="8" name="Letter"/>
          <p:cNvSpPr/>
          <p:nvPr/>
        </p:nvSpPr>
        <p:spPr>
          <a:xfrm>
            <a:off x="621792" y="1591056"/>
            <a:ext cx="292608" cy="274320"/>
          </a:xfrm>
          <a:prstGeom prst="roundRect">
            <a:avLst>
              <a:gd name="adj" fmla="val 20000"/>
            </a:avLst>
          </a:prstGeom>
          <a:solidFill>
            <a:srgbClr val="2A3A55"/>
          </a:solidFill>
          <a:ln/>
        </p:spPr>
        <p:txBody>
          <a:bodyPr wrap="square" lIns="0" tIns="0" rIns="0" bIns="0" rtlCol="0" anchor="ctr"/>
          <a:lstStyle/>
          <a:p>
            <a:pPr algn="ctr" indent="0" marL="0">
              <a:buNone/>
            </a:pPr>
            <a:r>
              <a:rPr lang="en-US" sz="1200" b="1" dirty="0">
                <a:solidFill>
                  <a:srgbClr val="E6EDF7"/>
                </a:solidFill>
              </a:rPr>
              <a:t>A</a:t>
            </a:r>
            <a:endParaRPr lang="en-US" sz="1200" dirty="0"/>
          </a:p>
        </p:txBody>
      </p:sp>
      <p:sp>
        <p:nvSpPr>
          <p:cNvPr id="9" name="Text 6"/>
          <p:cNvSpPr txBox="1"/>
          <p:nvPr/>
        </p:nvSpPr>
        <p:spPr>
          <a:xfrm>
            <a:off x="1024128" y="1563624"/>
            <a:ext cx="7498080" cy="347472"/>
          </a:xfrm>
          <a:prstGeom prst="rect">
            <a:avLst/>
          </a:prstGeom>
          <a:noFill/>
          <a:ln/>
        </p:spPr>
        <p:txBody>
          <a:bodyPr wrap="square" lIns="0" tIns="0" rIns="0" bIns="0" rtlCol="0" anchor="ctr"/>
          <a:lstStyle/>
          <a:p>
            <a:pPr algn="l" indent="0" marL="0">
              <a:buNone/>
            </a:pPr>
            <a:r>
              <a:rPr lang="en-US" sz="1500" dirty="0">
                <a:solidFill>
                  <a:srgbClr val="9FB1C7"/>
                </a:solidFill>
              </a:rPr>
              <a:t>Cl₂Ca</a:t>
            </a:r>
            <a:endParaRPr lang="en-US" sz="1500" dirty="0"/>
          </a:p>
        </p:txBody>
      </p:sp>
      <p:sp>
        <p:nvSpPr>
          <p:cNvPr id="10" name="Option B"/>
          <p:cNvSpPr/>
          <p:nvPr/>
        </p:nvSpPr>
        <p:spPr>
          <a:xfrm>
            <a:off x="502920" y="2039112"/>
            <a:ext cx="8138160" cy="438912"/>
          </a:xfrm>
          <a:prstGeom prst="roundRect">
            <a:avLst>
              <a:gd name="adj" fmla="val 20833"/>
            </a:avLst>
          </a:prstGeom>
          <a:solidFill>
            <a:schemeClr val="tx2"/>
          </a:solidFill>
          <a:ln w="12700">
            <a:solidFill>
              <a:srgbClr val="2A3A55"/>
            </a:solidFill>
            <a:prstDash val="solid"/>
          </a:ln>
        </p:spPr>
      </p:sp>
      <p:sp>
        <p:nvSpPr>
          <p:cNvPr id="11" name="Letter"/>
          <p:cNvSpPr/>
          <p:nvPr/>
        </p:nvSpPr>
        <p:spPr>
          <a:xfrm>
            <a:off x="621792" y="2121408"/>
            <a:ext cx="292608" cy="274320"/>
          </a:xfrm>
          <a:prstGeom prst="roundRect">
            <a:avLst>
              <a:gd name="adj" fmla="val 20000"/>
            </a:avLst>
          </a:prstGeom>
          <a:solidFill>
            <a:srgbClr val="2A3A55"/>
          </a:solidFill>
          <a:ln/>
        </p:spPr>
        <p:txBody>
          <a:bodyPr wrap="square" lIns="0" tIns="0" rIns="0" bIns="0" rtlCol="0" anchor="ctr"/>
          <a:lstStyle/>
          <a:p>
            <a:pPr algn="ctr" indent="0" marL="0">
              <a:buNone/>
            </a:pPr>
            <a:r>
              <a:rPr lang="en-US" sz="1200" b="1" dirty="0">
                <a:solidFill>
                  <a:srgbClr val="E6EDF7"/>
                </a:solidFill>
              </a:rPr>
              <a:t>B</a:t>
            </a:r>
            <a:endParaRPr lang="en-US" sz="1200" dirty="0"/>
          </a:p>
        </p:txBody>
      </p:sp>
      <p:sp>
        <p:nvSpPr>
          <p:cNvPr id="12" name="Text 9"/>
          <p:cNvSpPr txBox="1"/>
          <p:nvPr/>
        </p:nvSpPr>
        <p:spPr>
          <a:xfrm>
            <a:off x="1024128" y="2093976"/>
            <a:ext cx="7498080" cy="347472"/>
          </a:xfrm>
          <a:prstGeom prst="rect">
            <a:avLst/>
          </a:prstGeom>
          <a:noFill/>
          <a:ln/>
        </p:spPr>
        <p:txBody>
          <a:bodyPr wrap="square" lIns="0" tIns="0" rIns="0" bIns="0" rtlCol="0" anchor="ctr"/>
          <a:lstStyle/>
          <a:p>
            <a:pPr algn="l" indent="0" marL="0">
              <a:buNone/>
            </a:pPr>
            <a:r>
              <a:rPr lang="en-US" sz="1500" dirty="0">
                <a:solidFill>
                  <a:srgbClr val="9FB1C7"/>
                </a:solidFill>
              </a:rPr>
              <a:t>CaCl</a:t>
            </a:r>
            <a:endParaRPr lang="en-US" sz="1500" dirty="0"/>
          </a:p>
        </p:txBody>
      </p:sp>
      <p:sp>
        <p:nvSpPr>
          <p:cNvPr id="13" name="Option C"/>
          <p:cNvSpPr/>
          <p:nvPr/>
        </p:nvSpPr>
        <p:spPr>
          <a:xfrm>
            <a:off x="502920" y="2569464"/>
            <a:ext cx="8138160" cy="438912"/>
          </a:xfrm>
          <a:prstGeom prst="roundRect">
            <a:avLst>
              <a:gd name="adj" fmla="val 20833"/>
            </a:avLst>
          </a:prstGeom>
          <a:solidFill>
            <a:srgbClr val="153D2A"/>
          </a:solidFill>
          <a:ln w="25400">
            <a:solidFill>
              <a:srgbClr val="4ADE80"/>
            </a:solidFill>
            <a:prstDash val="solid"/>
          </a:ln>
        </p:spPr>
      </p:sp>
      <p:sp>
        <p:nvSpPr>
          <p:cNvPr id="14" name="Letter"/>
          <p:cNvSpPr/>
          <p:nvPr/>
        </p:nvSpPr>
        <p:spPr>
          <a:xfrm>
            <a:off x="621792" y="2651760"/>
            <a:ext cx="292608" cy="274320"/>
          </a:xfrm>
          <a:prstGeom prst="roundRect">
            <a:avLst>
              <a:gd name="adj" fmla="val 20000"/>
            </a:avLst>
          </a:prstGeom>
          <a:solidFill>
            <a:srgbClr val="4ADE80"/>
          </a:solidFill>
          <a:ln/>
        </p:spPr>
        <p:txBody>
          <a:bodyPr wrap="square" lIns="0" tIns="0" rIns="0" bIns="0" rtlCol="0" anchor="ctr"/>
          <a:lstStyle/>
          <a:p>
            <a:pPr algn="ctr" indent="0" marL="0">
              <a:buNone/>
            </a:pPr>
            <a:r>
              <a:rPr lang="en-US" sz="1200" b="1" dirty="0">
                <a:solidFill>
                  <a:srgbClr val="06240F"/>
                </a:solidFill>
              </a:rPr>
              <a:t>C</a:t>
            </a:r>
            <a:endParaRPr lang="en-US" sz="1200" dirty="0"/>
          </a:p>
        </p:txBody>
      </p:sp>
      <p:sp>
        <p:nvSpPr>
          <p:cNvPr id="15" name="Text 12"/>
          <p:cNvSpPr txBox="1"/>
          <p:nvPr/>
        </p:nvSpPr>
        <p:spPr>
          <a:xfrm>
            <a:off x="1024128" y="2624328"/>
            <a:ext cx="7498080" cy="347472"/>
          </a:xfrm>
          <a:prstGeom prst="rect">
            <a:avLst/>
          </a:prstGeom>
          <a:noFill/>
          <a:ln/>
        </p:spPr>
        <p:txBody>
          <a:bodyPr wrap="square" lIns="0" tIns="0" rIns="0" bIns="0" rtlCol="0" anchor="ctr"/>
          <a:lstStyle/>
          <a:p>
            <a:pPr algn="l" indent="0" marL="0">
              <a:buNone/>
            </a:pPr>
            <a:r>
              <a:rPr lang="en-US" sz="1500" dirty="0">
                <a:solidFill>
                  <a:schemeClr val="bg1"/>
                </a:solidFill>
              </a:rPr>
              <a:t>CaCl₂</a:t>
            </a:r>
            <a:endParaRPr lang="en-US" sz="1500" dirty="0"/>
          </a:p>
        </p:txBody>
      </p:sp>
      <p:sp>
        <p:nvSpPr>
          <p:cNvPr id="16" name="Option D"/>
          <p:cNvSpPr/>
          <p:nvPr/>
        </p:nvSpPr>
        <p:spPr>
          <a:xfrm>
            <a:off x="502920" y="3099816"/>
            <a:ext cx="8138160" cy="438912"/>
          </a:xfrm>
          <a:prstGeom prst="roundRect">
            <a:avLst>
              <a:gd name="adj" fmla="val 20833"/>
            </a:avLst>
          </a:prstGeom>
          <a:solidFill>
            <a:schemeClr val="tx2"/>
          </a:solidFill>
          <a:ln w="12700">
            <a:solidFill>
              <a:srgbClr val="2A3A55"/>
            </a:solidFill>
            <a:prstDash val="solid"/>
          </a:ln>
        </p:spPr>
      </p:sp>
      <p:sp>
        <p:nvSpPr>
          <p:cNvPr id="17" name="Letter"/>
          <p:cNvSpPr/>
          <p:nvPr/>
        </p:nvSpPr>
        <p:spPr>
          <a:xfrm>
            <a:off x="621792" y="3182112"/>
            <a:ext cx="292608" cy="274320"/>
          </a:xfrm>
          <a:prstGeom prst="roundRect">
            <a:avLst>
              <a:gd name="adj" fmla="val 20000"/>
            </a:avLst>
          </a:prstGeom>
          <a:solidFill>
            <a:srgbClr val="2A3A55"/>
          </a:solidFill>
          <a:ln/>
        </p:spPr>
        <p:txBody>
          <a:bodyPr wrap="square" lIns="0" tIns="0" rIns="0" bIns="0" rtlCol="0" anchor="ctr"/>
          <a:lstStyle/>
          <a:p>
            <a:pPr algn="ctr" indent="0" marL="0">
              <a:buNone/>
            </a:pPr>
            <a:r>
              <a:rPr lang="en-US" sz="1200" b="1" dirty="0">
                <a:solidFill>
                  <a:srgbClr val="E6EDF7"/>
                </a:solidFill>
              </a:rPr>
              <a:t>D</a:t>
            </a:r>
            <a:endParaRPr lang="en-US" sz="1200" dirty="0"/>
          </a:p>
        </p:txBody>
      </p:sp>
      <p:sp>
        <p:nvSpPr>
          <p:cNvPr id="18" name="Text 15"/>
          <p:cNvSpPr txBox="1"/>
          <p:nvPr/>
        </p:nvSpPr>
        <p:spPr>
          <a:xfrm>
            <a:off x="1024128" y="3154680"/>
            <a:ext cx="7498080" cy="347472"/>
          </a:xfrm>
          <a:prstGeom prst="rect">
            <a:avLst/>
          </a:prstGeom>
          <a:noFill/>
          <a:ln/>
        </p:spPr>
        <p:txBody>
          <a:bodyPr wrap="square" lIns="0" tIns="0" rIns="0" bIns="0" rtlCol="0" anchor="ctr"/>
          <a:lstStyle/>
          <a:p>
            <a:pPr algn="l" indent="0" marL="0">
              <a:buNone/>
            </a:pPr>
            <a:r>
              <a:rPr lang="en-US" sz="1500" dirty="0">
                <a:solidFill>
                  <a:srgbClr val="9FB1C7"/>
                </a:solidFill>
              </a:rPr>
              <a:t>Ca₂Cl</a:t>
            </a:r>
            <a:endParaRPr lang="en-US" sz="1500" dirty="0"/>
          </a:p>
        </p:txBody>
      </p:sp>
      <p:sp>
        <p:nvSpPr>
          <p:cNvPr id="19" name="Why"/>
          <p:cNvSpPr/>
          <p:nvPr/>
        </p:nvSpPr>
        <p:spPr>
          <a:xfrm>
            <a:off x="502920" y="3675888"/>
            <a:ext cx="8138160" cy="566928"/>
          </a:xfrm>
          <a:prstGeom prst="roundRect">
            <a:avLst>
              <a:gd name="adj" fmla="val 16129"/>
            </a:avLst>
          </a:prstGeom>
          <a:solidFill>
            <a:srgbClr val="153D2A"/>
          </a:solidFill>
          <a:ln w="12700">
            <a:solidFill>
              <a:srgbClr val="2F6B47"/>
            </a:solidFill>
            <a:prstDash val="solid"/>
          </a:ln>
        </p:spPr>
      </p:sp>
      <p:sp>
        <p:nvSpPr>
          <p:cNvPr id="20" name="Text 17"/>
          <p:cNvSpPr txBox="1"/>
          <p:nvPr/>
        </p:nvSpPr>
        <p:spPr>
          <a:xfrm>
            <a:off x="685800" y="3730752"/>
            <a:ext cx="7772400" cy="475488"/>
          </a:xfrm>
          <a:prstGeom prst="rect">
            <a:avLst/>
          </a:prstGeom>
          <a:noFill/>
          <a:ln/>
        </p:spPr>
        <p:txBody>
          <a:bodyPr wrap="square" lIns="0" tIns="0" rIns="0" bIns="0" rtlCol="0" anchor="ctr"/>
          <a:lstStyle/>
          <a:p>
            <a:pPr algn="l" indent="0" marL="0">
              <a:buNone/>
            </a:pPr>
            <a:r>
              <a:rPr lang="en-US" sz="1400" b="1" dirty="0">
                <a:solidFill>
                  <a:schemeClr val="accent4"/>
                </a:solidFill>
              </a:rPr>
              <a:t>Why: </a:t>
            </a:r>
            <a:pPr algn="l" indent="0" marL="0">
              <a:buNone/>
            </a:pPr>
            <a:r>
              <a:rPr lang="en-US" sz="1400" dirty="0">
                <a:solidFill>
                  <a:schemeClr val="bg1"/>
                </a:solidFill>
              </a:rPr>
              <a:t>Metal first, and Ca²⁺ needs two Cl⁻: CaCl₂.</a:t>
            </a:r>
            <a:endParaRPr lang="en-US" sz="14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FB1C7"/>
                </a:solidFill>
              </a:defRPr>
            </a:lvl1pPr>
          </a:lstStyle>
          <a:p>
            <a:pPr algn="l"/>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1" type="body" hasCustomPrompt="1"/>
          </p:nvPr>
        </p:nvSpPr>
        <p:spPr>
          <a:xfrm>
            <a:off x="1645920" y="274320"/>
            <a:ext cx="6949440" cy="274320"/>
          </a:xfrm>
          <a:prstGeom prst="rect">
            <a:avLst/>
          </a:prstGeom>
          <a:noFill/>
          <a:ln/>
        </p:spPr>
        <p:txBody>
          <a:bodyPr wrap="square" lIns="0" tIns="0" rIns="0" bIns="0" rtlCol="0"/>
          <a:lstStyle/>
          <a:p>
            <a:pPr indent="0" marL="0">
              <a:buNone/>
            </a:pPr>
            <a:r>
              <a:rPr lang="en-US" sz="1300" dirty="0">
                <a:solidFill>
                  <a:schemeClr val="bg2"/>
                </a:solidFill>
              </a:rPr>
              <a:t>Section 9 of 9 · about 7 min</a:t>
            </a:r>
            <a:endParaRPr lang="en-US" sz="1300" dirty="0"/>
          </a:p>
        </p:txBody>
      </p:sp>
      <p:sp>
        <p:nvSpPr>
          <p:cNvPr id="3" name="Text 0"/>
          <p:cNvSpPr/>
          <p:nvPr>
            <p:ph idx="100" type="title" hasCustomPrompt="1"/>
          </p:nvPr>
        </p:nvSpPr>
        <p:spPr>
          <a:xfrm>
            <a:off x="1645920" y="548640"/>
            <a:ext cx="7040880" cy="685800"/>
          </a:xfrm>
          <a:prstGeom prst="rect">
            <a:avLst/>
          </a:prstGeom>
          <a:noFill/>
          <a:ln/>
        </p:spPr>
        <p:txBody>
          <a:bodyPr wrap="square" lIns="0" tIns="0" rIns="0" bIns="0" rtlCol="0" anchor="ctr"/>
          <a:lstStyle/>
          <a:p>
            <a:pPr algn="l" indent="0" marL="0">
              <a:buNone/>
            </a:pPr>
            <a:r>
              <a:rPr lang="en-US" sz="3000" b="1" dirty="0">
                <a:solidFill>
                  <a:schemeClr val="bg1"/>
                </a:solidFill>
                <a:latin typeface="Arial" pitchFamily="34" charset="0"/>
                <a:ea typeface="Arial" pitchFamily="34" charset="-122"/>
                <a:cs typeface="Arial" pitchFamily="34" charset="-120"/>
              </a:rPr>
              <a:t>Final check</a:t>
            </a:r>
            <a:endParaRPr lang="en-US" sz="3000" dirty="0"/>
          </a:p>
        </p:txBody>
      </p:sp>
      <p:pic>
        <p:nvPicPr>
          <p:cNvPr id="4" name="Icon 9" descr="Section 9 icon">    </p:cNvPr>
          <p:cNvPicPr>
            <a:picLocks noChangeAspect="1"/>
          </p:cNvPicPr>
          <p:nvPr/>
        </p:nvPicPr>
        <p:blipFill>
          <a:blip r:embed="rId1"/>
          <a:stretch>
            <a:fillRect/>
          </a:stretch>
        </p:blipFill>
        <p:spPr>
          <a:xfrm>
            <a:off x="502920" y="274320"/>
            <a:ext cx="914400" cy="1011677"/>
          </a:xfrm>
          <a:prstGeom prst="rect">
            <a:avLst/>
          </a:prstGeom>
        </p:spPr>
      </p:pic>
      <p:sp>
        <p:nvSpPr>
          <p:cNvPr id="5" name="In this section"/>
          <p:cNvSpPr/>
          <p:nvPr/>
        </p:nvSpPr>
        <p:spPr>
          <a:xfrm>
            <a:off x="502920" y="1600200"/>
            <a:ext cx="3931920" cy="2926080"/>
          </a:xfrm>
          <a:prstGeom prst="roundRect">
            <a:avLst>
              <a:gd name="adj" fmla="val 3125"/>
            </a:avLst>
          </a:prstGeom>
          <a:solidFill>
            <a:schemeClr val="tx2"/>
          </a:solidFill>
          <a:ln w="12700">
            <a:solidFill>
              <a:srgbClr val="2A3A55"/>
            </a:solidFill>
            <a:prstDash val="solid"/>
          </a:ln>
        </p:spPr>
      </p:sp>
      <p:sp>
        <p:nvSpPr>
          <p:cNvPr id="6" name="Text 3"/>
          <p:cNvSpPr txBox="1"/>
          <p:nvPr/>
        </p:nvSpPr>
        <p:spPr>
          <a:xfrm>
            <a:off x="731520" y="1783080"/>
            <a:ext cx="3474720" cy="320040"/>
          </a:xfrm>
          <a:prstGeom prst="rect">
            <a:avLst/>
          </a:prstGeom>
          <a:noFill/>
          <a:ln/>
        </p:spPr>
        <p:txBody>
          <a:bodyPr wrap="square" lIns="0" tIns="0" rIns="0" bIns="0" rtlCol="0" anchor="t"/>
          <a:lstStyle/>
          <a:p>
            <a:pPr algn="l" indent="0" marL="0">
              <a:buNone/>
            </a:pPr>
            <a:r>
              <a:rPr lang="en-US" sz="1600" b="1" dirty="0">
                <a:solidFill>
                  <a:schemeClr val="accent1"/>
                </a:solidFill>
              </a:rPr>
              <a:t>In this section</a:t>
            </a:r>
            <a:endParaRPr lang="en-US" sz="1600" dirty="0"/>
          </a:p>
        </p:txBody>
      </p:sp>
      <p:sp>
        <p:nvSpPr>
          <p:cNvPr id="7" name="Tag Read"/>
          <p:cNvSpPr/>
          <p:nvPr/>
        </p:nvSpPr>
        <p:spPr>
          <a:xfrm>
            <a:off x="731520" y="2240280"/>
            <a:ext cx="1051560" cy="219456"/>
          </a:xfrm>
          <a:prstGeom prst="roundRect">
            <a:avLst>
              <a:gd name="adj" fmla="val 41667"/>
            </a:avLst>
          </a:prstGeom>
          <a:solidFill>
            <a:srgbClr val="25305A"/>
          </a:solidFill>
          <a:ln/>
        </p:spPr>
        <p:txBody>
          <a:bodyPr wrap="square" lIns="0" tIns="0" rIns="0" bIns="0" rtlCol="0" anchor="ctr"/>
          <a:lstStyle/>
          <a:p>
            <a:pPr algn="ctr" indent="0" marL="0">
              <a:buNone/>
            </a:pPr>
            <a:r>
              <a:rPr lang="en-US" sz="1000" b="1" dirty="0">
                <a:solidFill>
                  <a:srgbClr val="C3CFFC"/>
                </a:solidFill>
              </a:rPr>
              <a:t>Read</a:t>
            </a:r>
            <a:endParaRPr lang="en-US" sz="1000" dirty="0"/>
          </a:p>
        </p:txBody>
      </p:sp>
      <p:sp>
        <p:nvSpPr>
          <p:cNvPr id="8" name="Text 5"/>
          <p:cNvSpPr txBox="1"/>
          <p:nvPr/>
        </p:nvSpPr>
        <p:spPr>
          <a:xfrm>
            <a:off x="1920240" y="2212848"/>
            <a:ext cx="2377440" cy="292608"/>
          </a:xfrm>
          <a:prstGeom prst="rect">
            <a:avLst/>
          </a:prstGeom>
          <a:noFill/>
          <a:ln/>
        </p:spPr>
        <p:txBody>
          <a:bodyPr wrap="square" lIns="0" tIns="0" rIns="0" bIns="0" rtlCol="0" anchor="t"/>
          <a:lstStyle/>
          <a:p>
            <a:pPr algn="l" indent="0" marL="0">
              <a:buNone/>
            </a:pPr>
            <a:r>
              <a:rPr lang="en-US" sz="1400" dirty="0">
                <a:solidFill>
                  <a:schemeClr val="bg1"/>
                </a:solidFill>
              </a:rPr>
              <a:t>Ten questions on the Chromebook</a:t>
            </a:r>
            <a:endParaRPr lang="en-US" sz="1400" dirty="0"/>
          </a:p>
        </p:txBody>
      </p:sp>
      <p:sp>
        <p:nvSpPr>
          <p:cNvPr id="9" name="Tag Try it"/>
          <p:cNvSpPr/>
          <p:nvPr/>
        </p:nvSpPr>
        <p:spPr>
          <a:xfrm>
            <a:off x="731520" y="2743200"/>
            <a:ext cx="1051560" cy="219456"/>
          </a:xfrm>
          <a:prstGeom prst="roundRect">
            <a:avLst>
              <a:gd name="adj" fmla="val 41667"/>
            </a:avLst>
          </a:prstGeom>
          <a:solidFill>
            <a:srgbClr val="5FE1FF"/>
          </a:solidFill>
          <a:ln/>
        </p:spPr>
        <p:txBody>
          <a:bodyPr wrap="square" lIns="0" tIns="0" rIns="0" bIns="0" rtlCol="0" anchor="ctr"/>
          <a:lstStyle/>
          <a:p>
            <a:pPr algn="ctr" indent="0" marL="0">
              <a:buNone/>
            </a:pPr>
            <a:r>
              <a:rPr lang="en-US" sz="1000" b="1" dirty="0">
                <a:solidFill>
                  <a:srgbClr val="0B2630"/>
                </a:solidFill>
              </a:rPr>
              <a:t>Try it</a:t>
            </a:r>
            <a:endParaRPr lang="en-US" sz="1000" dirty="0"/>
          </a:p>
        </p:txBody>
      </p:sp>
      <p:sp>
        <p:nvSpPr>
          <p:cNvPr id="10" name="Text 7"/>
          <p:cNvSpPr txBox="1"/>
          <p:nvPr/>
        </p:nvSpPr>
        <p:spPr>
          <a:xfrm>
            <a:off x="1920240" y="2715768"/>
            <a:ext cx="2377440" cy="292608"/>
          </a:xfrm>
          <a:prstGeom prst="rect">
            <a:avLst/>
          </a:prstGeom>
          <a:noFill/>
          <a:ln/>
        </p:spPr>
        <p:txBody>
          <a:bodyPr wrap="square" lIns="0" tIns="0" rIns="0" bIns="0" rtlCol="0" anchor="t"/>
          <a:lstStyle/>
          <a:p>
            <a:pPr algn="l" indent="0" marL="0">
              <a:buNone/>
            </a:pPr>
            <a:r>
              <a:rPr lang="en-US" sz="1400" dirty="0">
                <a:solidFill>
                  <a:schemeClr val="bg1"/>
                </a:solidFill>
              </a:rPr>
              <a:t>Multiple choice, two-part, select all</a:t>
            </a:r>
            <a:endParaRPr lang="en-US" sz="1400" dirty="0"/>
          </a:p>
        </p:txBody>
      </p:sp>
      <p:sp>
        <p:nvSpPr>
          <p:cNvPr id="11" name="To unlock"/>
          <p:cNvSpPr/>
          <p:nvPr/>
        </p:nvSpPr>
        <p:spPr>
          <a:xfrm>
            <a:off x="4709160" y="1600200"/>
            <a:ext cx="3931920" cy="2926080"/>
          </a:xfrm>
          <a:prstGeom prst="roundRect">
            <a:avLst>
              <a:gd name="adj" fmla="val 3125"/>
            </a:avLst>
          </a:prstGeom>
          <a:solidFill>
            <a:schemeClr val="tx2"/>
          </a:solidFill>
          <a:ln w="12700">
            <a:solidFill>
              <a:srgbClr val="2A3A55"/>
            </a:solidFill>
            <a:prstDash val="solid"/>
          </a:ln>
        </p:spPr>
      </p:sp>
      <p:sp>
        <p:nvSpPr>
          <p:cNvPr id="12" name="Text 9"/>
          <p:cNvSpPr txBox="1"/>
          <p:nvPr/>
        </p:nvSpPr>
        <p:spPr>
          <a:xfrm>
            <a:off x="4937760" y="1783080"/>
            <a:ext cx="3474720" cy="320040"/>
          </a:xfrm>
          <a:prstGeom prst="rect">
            <a:avLst/>
          </a:prstGeom>
          <a:noFill/>
          <a:ln/>
        </p:spPr>
        <p:txBody>
          <a:bodyPr wrap="square" lIns="0" tIns="0" rIns="0" bIns="0" rtlCol="0" anchor="t"/>
          <a:lstStyle/>
          <a:p>
            <a:pPr algn="l" indent="0" marL="0">
              <a:buNone/>
            </a:pPr>
            <a:r>
              <a:rPr lang="en-US" sz="1600" b="1" dirty="0">
                <a:solidFill>
                  <a:schemeClr val="accent4"/>
                </a:solidFill>
              </a:rPr>
              <a:t>To unlock the next section</a:t>
            </a:r>
            <a:endParaRPr lang="en-US" sz="1600" dirty="0"/>
          </a:p>
        </p:txBody>
      </p:sp>
      <p:sp>
        <p:nvSpPr>
          <p:cNvPr id="13" name="Checkbox"/>
          <p:cNvSpPr/>
          <p:nvPr/>
        </p:nvSpPr>
        <p:spPr>
          <a:xfrm>
            <a:off x="4937760" y="2286000"/>
            <a:ext cx="182880" cy="182880"/>
          </a:xfrm>
          <a:prstGeom prst="rect">
            <a:avLst/>
          </a:prstGeom>
          <a:solidFill>
            <a:schemeClr val="tx2"/>
          </a:solidFill>
          <a:ln w="12700">
            <a:solidFill>
              <a:schemeClr val="bg2"/>
            </a:solidFill>
            <a:prstDash val="solid"/>
          </a:ln>
        </p:spPr>
      </p:sp>
      <p:sp>
        <p:nvSpPr>
          <p:cNvPr id="14" name="Text 11"/>
          <p:cNvSpPr txBox="1"/>
          <p:nvPr/>
        </p:nvSpPr>
        <p:spPr>
          <a:xfrm>
            <a:off x="5257800" y="2221992"/>
            <a:ext cx="3200400" cy="457200"/>
          </a:xfrm>
          <a:prstGeom prst="rect">
            <a:avLst/>
          </a:prstGeom>
          <a:noFill/>
          <a:ln/>
        </p:spPr>
        <p:txBody>
          <a:bodyPr wrap="square" lIns="0" tIns="0" rIns="0" bIns="0" rtlCol="0" anchor="t"/>
          <a:lstStyle/>
          <a:p>
            <a:pPr algn="l" indent="0" marL="0">
              <a:buNone/>
            </a:pPr>
            <a:r>
              <a:rPr lang="en-US" sz="1400" dirty="0">
                <a:solidFill>
                  <a:schemeClr val="bg1"/>
                </a:solidFill>
              </a:rPr>
              <a:t>Score 8 or more out of 10</a:t>
            </a:r>
            <a:endParaRPr lang="en-US" sz="14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FB1C7"/>
                </a:solidFill>
              </a:defRPr>
            </a:lvl1pPr>
          </a:lstStyle>
          <a:p>
            <a:pPr algn="l"/>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1234440" y="292608"/>
            <a:ext cx="7452360" cy="548640"/>
          </a:xfrm>
          <a:prstGeom prst="rect">
            <a:avLst/>
          </a:prstGeom>
          <a:noFill/>
          <a:ln/>
        </p:spPr>
        <p:txBody>
          <a:bodyPr wrap="square" lIns="0" tIns="0" rIns="0" bIns="0" rtlCol="0" anchor="ctr"/>
          <a:lstStyle/>
          <a:p>
            <a:pPr algn="l" indent="0" marL="0">
              <a:buNone/>
            </a:pPr>
            <a:r>
              <a:rPr lang="en-US" sz="2800" b="1" dirty="0">
                <a:solidFill>
                  <a:schemeClr val="bg1"/>
                </a:solidFill>
                <a:latin typeface="Arial" pitchFamily="34" charset="0"/>
                <a:ea typeface="Arial" pitchFamily="34" charset="-122"/>
                <a:cs typeface="Arial" pitchFamily="34" charset="-120"/>
              </a:rPr>
              <a:t>Wrap-up: how does an ionic bond form?</a:t>
            </a:r>
            <a:endParaRPr lang="en-US" sz="2800" dirty="0"/>
          </a:p>
        </p:txBody>
      </p:sp>
      <p:sp>
        <p:nvSpPr>
          <p:cNvPr id="3" name="Step 1"/>
          <p:cNvSpPr/>
          <p:nvPr/>
        </p:nvSpPr>
        <p:spPr>
          <a:xfrm>
            <a:off x="502920" y="1188720"/>
            <a:ext cx="1874520" cy="1371600"/>
          </a:xfrm>
          <a:prstGeom prst="roundRect">
            <a:avLst>
              <a:gd name="adj" fmla="val 6667"/>
            </a:avLst>
          </a:prstGeom>
          <a:solidFill>
            <a:schemeClr val="tx2"/>
          </a:solidFill>
          <a:ln w="19050">
            <a:solidFill>
              <a:srgbClr val="5FE1FF"/>
            </a:solidFill>
            <a:prstDash val="solid"/>
          </a:ln>
        </p:spPr>
      </p:sp>
      <p:sp>
        <p:nvSpPr>
          <p:cNvPr id="4" name="Step number"/>
          <p:cNvSpPr/>
          <p:nvPr/>
        </p:nvSpPr>
        <p:spPr>
          <a:xfrm>
            <a:off x="640080" y="1298448"/>
            <a:ext cx="384048" cy="384048"/>
          </a:xfrm>
          <a:prstGeom prst="ellipse">
            <a:avLst/>
          </a:prstGeom>
          <a:solidFill>
            <a:schemeClr val="accent1"/>
          </a:solidFill>
          <a:ln w="12700">
            <a:solidFill>
              <a:schemeClr val="accent1"/>
            </a:solidFill>
            <a:prstDash val="solid"/>
          </a:ln>
        </p:spPr>
      </p:sp>
      <p:sp>
        <p:nvSpPr>
          <p:cNvPr id="5" name="Text 3"/>
          <p:cNvSpPr txBox="1"/>
          <p:nvPr/>
        </p:nvSpPr>
        <p:spPr>
          <a:xfrm>
            <a:off x="640080" y="1298448"/>
            <a:ext cx="384048" cy="384048"/>
          </a:xfrm>
          <a:prstGeom prst="rect">
            <a:avLst/>
          </a:prstGeom>
          <a:noFill/>
          <a:ln/>
        </p:spPr>
        <p:txBody>
          <a:bodyPr wrap="square" lIns="0" tIns="0" rIns="0" bIns="0" rtlCol="0" anchor="ctr"/>
          <a:lstStyle/>
          <a:p>
            <a:pPr algn="ctr" indent="0" marL="0">
              <a:buNone/>
            </a:pPr>
            <a:r>
              <a:rPr lang="en-US" sz="1400" b="1" dirty="0">
                <a:solidFill>
                  <a:srgbClr val="0B2630"/>
                </a:solidFill>
              </a:rPr>
              <a:t>1</a:t>
            </a:r>
            <a:endParaRPr lang="en-US" sz="1400" dirty="0"/>
          </a:p>
        </p:txBody>
      </p:sp>
      <p:sp>
        <p:nvSpPr>
          <p:cNvPr id="6" name="Text 4"/>
          <p:cNvSpPr txBox="1"/>
          <p:nvPr/>
        </p:nvSpPr>
        <p:spPr>
          <a:xfrm>
            <a:off x="640080" y="1783080"/>
            <a:ext cx="1645920" cy="731520"/>
          </a:xfrm>
          <a:prstGeom prst="rect">
            <a:avLst/>
          </a:prstGeom>
          <a:noFill/>
          <a:ln/>
        </p:spPr>
        <p:txBody>
          <a:bodyPr wrap="square" lIns="0" tIns="0" rIns="0" bIns="0" rtlCol="0" anchor="t"/>
          <a:lstStyle/>
          <a:p>
            <a:pPr algn="l" indent="0" marL="0">
              <a:buNone/>
            </a:pPr>
            <a:r>
              <a:rPr lang="en-US" sz="1400" b="1" dirty="0">
                <a:solidFill>
                  <a:schemeClr val="bg1"/>
                </a:solidFill>
              </a:rPr>
              <a:t>Metal has few valence electrons</a:t>
            </a:r>
            <a:endParaRPr lang="en-US" sz="1400" dirty="0"/>
          </a:p>
        </p:txBody>
      </p:sp>
      <p:sp>
        <p:nvSpPr>
          <p:cNvPr id="7" name="Step 2"/>
          <p:cNvSpPr/>
          <p:nvPr/>
        </p:nvSpPr>
        <p:spPr>
          <a:xfrm>
            <a:off x="2606040" y="1188720"/>
            <a:ext cx="1874520" cy="1371600"/>
          </a:xfrm>
          <a:prstGeom prst="roundRect">
            <a:avLst>
              <a:gd name="adj" fmla="val 6667"/>
            </a:avLst>
          </a:prstGeom>
          <a:solidFill>
            <a:schemeClr val="tx2"/>
          </a:solidFill>
          <a:ln w="19050">
            <a:solidFill>
              <a:srgbClr val="5FE1FF"/>
            </a:solidFill>
            <a:prstDash val="solid"/>
          </a:ln>
        </p:spPr>
      </p:sp>
      <p:sp>
        <p:nvSpPr>
          <p:cNvPr id="8" name="Step number"/>
          <p:cNvSpPr/>
          <p:nvPr/>
        </p:nvSpPr>
        <p:spPr>
          <a:xfrm>
            <a:off x="2743200" y="1298448"/>
            <a:ext cx="384048" cy="384048"/>
          </a:xfrm>
          <a:prstGeom prst="ellipse">
            <a:avLst/>
          </a:prstGeom>
          <a:solidFill>
            <a:schemeClr val="accent1"/>
          </a:solidFill>
          <a:ln w="12700">
            <a:solidFill>
              <a:schemeClr val="accent1"/>
            </a:solidFill>
            <a:prstDash val="solid"/>
          </a:ln>
        </p:spPr>
      </p:sp>
      <p:sp>
        <p:nvSpPr>
          <p:cNvPr id="9" name="Text 7"/>
          <p:cNvSpPr txBox="1"/>
          <p:nvPr/>
        </p:nvSpPr>
        <p:spPr>
          <a:xfrm>
            <a:off x="2743200" y="1298448"/>
            <a:ext cx="384048" cy="384048"/>
          </a:xfrm>
          <a:prstGeom prst="rect">
            <a:avLst/>
          </a:prstGeom>
          <a:noFill/>
          <a:ln/>
        </p:spPr>
        <p:txBody>
          <a:bodyPr wrap="square" lIns="0" tIns="0" rIns="0" bIns="0" rtlCol="0" anchor="ctr"/>
          <a:lstStyle/>
          <a:p>
            <a:pPr algn="ctr" indent="0" marL="0">
              <a:buNone/>
            </a:pPr>
            <a:r>
              <a:rPr lang="en-US" sz="1400" b="1" dirty="0">
                <a:solidFill>
                  <a:srgbClr val="0B2630"/>
                </a:solidFill>
              </a:rPr>
              <a:t>2</a:t>
            </a:r>
            <a:endParaRPr lang="en-US" sz="1400" dirty="0"/>
          </a:p>
        </p:txBody>
      </p:sp>
      <p:sp>
        <p:nvSpPr>
          <p:cNvPr id="10" name="Text 8"/>
          <p:cNvSpPr txBox="1"/>
          <p:nvPr/>
        </p:nvSpPr>
        <p:spPr>
          <a:xfrm>
            <a:off x="2743200" y="1783080"/>
            <a:ext cx="1645920" cy="731520"/>
          </a:xfrm>
          <a:prstGeom prst="rect">
            <a:avLst/>
          </a:prstGeom>
          <a:noFill/>
          <a:ln/>
        </p:spPr>
        <p:txBody>
          <a:bodyPr wrap="square" lIns="0" tIns="0" rIns="0" bIns="0" rtlCol="0" anchor="t"/>
          <a:lstStyle/>
          <a:p>
            <a:pPr algn="l" indent="0" marL="0">
              <a:buNone/>
            </a:pPr>
            <a:r>
              <a:rPr lang="en-US" sz="1400" b="1" dirty="0">
                <a:solidFill>
                  <a:schemeClr val="bg1"/>
                </a:solidFill>
              </a:rPr>
              <a:t>Electrons move to the nonmetal</a:t>
            </a:r>
            <a:endParaRPr lang="en-US" sz="1400" dirty="0"/>
          </a:p>
        </p:txBody>
      </p:sp>
      <p:sp>
        <p:nvSpPr>
          <p:cNvPr id="11" name="Step 3"/>
          <p:cNvSpPr/>
          <p:nvPr/>
        </p:nvSpPr>
        <p:spPr>
          <a:xfrm>
            <a:off x="4709160" y="1188720"/>
            <a:ext cx="1874520" cy="1371600"/>
          </a:xfrm>
          <a:prstGeom prst="roundRect">
            <a:avLst>
              <a:gd name="adj" fmla="val 6667"/>
            </a:avLst>
          </a:prstGeom>
          <a:solidFill>
            <a:schemeClr val="tx2"/>
          </a:solidFill>
          <a:ln w="19050">
            <a:solidFill>
              <a:srgbClr val="5FE1FF"/>
            </a:solidFill>
            <a:prstDash val="solid"/>
          </a:ln>
        </p:spPr>
      </p:sp>
      <p:sp>
        <p:nvSpPr>
          <p:cNvPr id="12" name="Step number"/>
          <p:cNvSpPr/>
          <p:nvPr/>
        </p:nvSpPr>
        <p:spPr>
          <a:xfrm>
            <a:off x="4846320" y="1298448"/>
            <a:ext cx="384048" cy="384048"/>
          </a:xfrm>
          <a:prstGeom prst="ellipse">
            <a:avLst/>
          </a:prstGeom>
          <a:solidFill>
            <a:schemeClr val="accent1"/>
          </a:solidFill>
          <a:ln w="12700">
            <a:solidFill>
              <a:schemeClr val="accent1"/>
            </a:solidFill>
            <a:prstDash val="solid"/>
          </a:ln>
        </p:spPr>
      </p:sp>
      <p:sp>
        <p:nvSpPr>
          <p:cNvPr id="13" name="Text 11"/>
          <p:cNvSpPr txBox="1"/>
          <p:nvPr/>
        </p:nvSpPr>
        <p:spPr>
          <a:xfrm>
            <a:off x="4846320" y="1298448"/>
            <a:ext cx="384048" cy="384048"/>
          </a:xfrm>
          <a:prstGeom prst="rect">
            <a:avLst/>
          </a:prstGeom>
          <a:noFill/>
          <a:ln/>
        </p:spPr>
        <p:txBody>
          <a:bodyPr wrap="square" lIns="0" tIns="0" rIns="0" bIns="0" rtlCol="0" anchor="ctr"/>
          <a:lstStyle/>
          <a:p>
            <a:pPr algn="ctr" indent="0" marL="0">
              <a:buNone/>
            </a:pPr>
            <a:r>
              <a:rPr lang="en-US" sz="1400" b="1" dirty="0">
                <a:solidFill>
                  <a:srgbClr val="0B2630"/>
                </a:solidFill>
              </a:rPr>
              <a:t>3</a:t>
            </a:r>
            <a:endParaRPr lang="en-US" sz="1400" dirty="0"/>
          </a:p>
        </p:txBody>
      </p:sp>
      <p:sp>
        <p:nvSpPr>
          <p:cNvPr id="14" name="Text 12"/>
          <p:cNvSpPr txBox="1"/>
          <p:nvPr/>
        </p:nvSpPr>
        <p:spPr>
          <a:xfrm>
            <a:off x="4846320" y="1783080"/>
            <a:ext cx="1645920" cy="731520"/>
          </a:xfrm>
          <a:prstGeom prst="rect">
            <a:avLst/>
          </a:prstGeom>
          <a:noFill/>
          <a:ln/>
        </p:spPr>
        <p:txBody>
          <a:bodyPr wrap="square" lIns="0" tIns="0" rIns="0" bIns="0" rtlCol="0" anchor="t"/>
          <a:lstStyle/>
          <a:p>
            <a:pPr algn="l" indent="0" marL="0">
              <a:buNone/>
            </a:pPr>
            <a:r>
              <a:rPr lang="en-US" sz="1400" b="1" dirty="0">
                <a:solidFill>
                  <a:schemeClr val="bg1"/>
                </a:solidFill>
              </a:rPr>
              <a:t>Both ions have full outer shells</a:t>
            </a:r>
            <a:endParaRPr lang="en-US" sz="1400" dirty="0"/>
          </a:p>
        </p:txBody>
      </p:sp>
      <p:sp>
        <p:nvSpPr>
          <p:cNvPr id="15" name="Step 4"/>
          <p:cNvSpPr/>
          <p:nvPr/>
        </p:nvSpPr>
        <p:spPr>
          <a:xfrm>
            <a:off x="6812280" y="1188720"/>
            <a:ext cx="1874520" cy="1371600"/>
          </a:xfrm>
          <a:prstGeom prst="roundRect">
            <a:avLst>
              <a:gd name="adj" fmla="val 6667"/>
            </a:avLst>
          </a:prstGeom>
          <a:solidFill>
            <a:schemeClr val="tx2"/>
          </a:solidFill>
          <a:ln w="19050">
            <a:solidFill>
              <a:srgbClr val="F6B93B"/>
            </a:solidFill>
            <a:prstDash val="solid"/>
          </a:ln>
        </p:spPr>
      </p:sp>
      <p:sp>
        <p:nvSpPr>
          <p:cNvPr id="16" name="Step number"/>
          <p:cNvSpPr/>
          <p:nvPr/>
        </p:nvSpPr>
        <p:spPr>
          <a:xfrm>
            <a:off x="6949440" y="1298448"/>
            <a:ext cx="384048" cy="384048"/>
          </a:xfrm>
          <a:prstGeom prst="ellipse">
            <a:avLst/>
          </a:prstGeom>
          <a:solidFill>
            <a:schemeClr val="accent2"/>
          </a:solidFill>
          <a:ln w="12700">
            <a:solidFill>
              <a:schemeClr val="accent2"/>
            </a:solidFill>
            <a:prstDash val="solid"/>
          </a:ln>
        </p:spPr>
      </p:sp>
      <p:sp>
        <p:nvSpPr>
          <p:cNvPr id="17" name="Text 15"/>
          <p:cNvSpPr txBox="1"/>
          <p:nvPr/>
        </p:nvSpPr>
        <p:spPr>
          <a:xfrm>
            <a:off x="6949440" y="1298448"/>
            <a:ext cx="384048" cy="384048"/>
          </a:xfrm>
          <a:prstGeom prst="rect">
            <a:avLst/>
          </a:prstGeom>
          <a:noFill/>
          <a:ln/>
        </p:spPr>
        <p:txBody>
          <a:bodyPr wrap="square" lIns="0" tIns="0" rIns="0" bIns="0" rtlCol="0" anchor="ctr"/>
          <a:lstStyle/>
          <a:p>
            <a:pPr algn="ctr" indent="0" marL="0">
              <a:buNone/>
            </a:pPr>
            <a:r>
              <a:rPr lang="en-US" sz="1400" b="1" dirty="0">
                <a:solidFill>
                  <a:srgbClr val="0B2630"/>
                </a:solidFill>
              </a:rPr>
              <a:t>4</a:t>
            </a:r>
            <a:endParaRPr lang="en-US" sz="1400" dirty="0"/>
          </a:p>
        </p:txBody>
      </p:sp>
      <p:sp>
        <p:nvSpPr>
          <p:cNvPr id="18" name="Text 16"/>
          <p:cNvSpPr txBox="1"/>
          <p:nvPr/>
        </p:nvSpPr>
        <p:spPr>
          <a:xfrm>
            <a:off x="6949440" y="1783080"/>
            <a:ext cx="1645920" cy="731520"/>
          </a:xfrm>
          <a:prstGeom prst="rect">
            <a:avLst/>
          </a:prstGeom>
          <a:noFill/>
          <a:ln/>
        </p:spPr>
        <p:txBody>
          <a:bodyPr wrap="square" lIns="0" tIns="0" rIns="0" bIns="0" rtlCol="0" anchor="t"/>
          <a:lstStyle/>
          <a:p>
            <a:pPr algn="l" indent="0" marL="0">
              <a:buNone/>
            </a:pPr>
            <a:r>
              <a:rPr lang="en-US" sz="1400" b="1" dirty="0">
                <a:solidFill>
                  <a:schemeClr val="bg1"/>
                </a:solidFill>
              </a:rPr>
              <a:t>+ and − ions attract in a lattice</a:t>
            </a:r>
            <a:endParaRPr lang="en-US" sz="1400" dirty="0"/>
          </a:p>
        </p:txBody>
      </p:sp>
      <p:pic>
        <p:nvPicPr>
          <p:cNvPr id="19" name="nacl_after" descr="Na plus and Cl minus attract">    </p:cNvPr>
          <p:cNvPicPr>
            <a:picLocks noChangeAspect="1"/>
          </p:cNvPicPr>
          <p:nvPr/>
        </p:nvPicPr>
        <p:blipFill>
          <a:blip r:embed="rId1"/>
          <a:stretch>
            <a:fillRect/>
          </a:stretch>
        </p:blipFill>
        <p:spPr>
          <a:xfrm>
            <a:off x="502920" y="2834640"/>
            <a:ext cx="4023360" cy="1616529"/>
          </a:xfrm>
          <a:prstGeom prst="rect">
            <a:avLst/>
          </a:prstGeom>
        </p:spPr>
      </p:pic>
      <p:sp>
        <p:nvSpPr>
          <p:cNvPr id="20" name="Text 17"/>
          <p:cNvSpPr txBox="1"/>
          <p:nvPr/>
        </p:nvSpPr>
        <p:spPr>
          <a:xfrm>
            <a:off x="4846320" y="3291840"/>
            <a:ext cx="3749040" cy="731520"/>
          </a:xfrm>
          <a:prstGeom prst="rect">
            <a:avLst/>
          </a:prstGeom>
          <a:noFill/>
          <a:ln/>
        </p:spPr>
        <p:txBody>
          <a:bodyPr wrap="square" lIns="0" tIns="0" rIns="0" bIns="0" rtlCol="0" anchor="t"/>
          <a:lstStyle/>
          <a:p>
            <a:pPr algn="l" indent="0" marL="0">
              <a:buNone/>
            </a:pPr>
            <a:r>
              <a:rPr lang="en-US" sz="1800" b="1" dirty="0">
                <a:solidFill>
                  <a:schemeClr val="accent2"/>
                </a:solidFill>
              </a:rPr>
              <a:t>Next: 20 to 30 minutes of worksheet practice.</a:t>
            </a:r>
            <a:endParaRPr lang="en-US" sz="18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FB1C7"/>
                </a:solidFill>
              </a:defRPr>
            </a:lvl1pPr>
          </a:lstStyle>
          <a:p>
            <a:pPr algn="l"/>
            <a:fld id="{F7021451-1387-4CA6-816F-3879F97B5CBC}" type="slidenum">
              <a:rPr b="0" lang="en-US"/>
              <a:t>55</a:t>
            </a:fld>
            <a:endParaRPr lang="en-US"/>
          </a:p>
        </p:txBody>
      </p:sp>
    </p:spTree>
  </p:cSld>
  <p:clrMapOvr>
    <a:masterClrMapping/>
  </p:clrMapOvr>
</p:sld>
</file>

<file path=ppt/theme/theme1.xml><?xml version="1.0" encoding="utf-8"?>
<a:theme xmlns:a="http://schemas.openxmlformats.org/drawingml/2006/main" name="Ionic Bonding">
  <a:themeElements>
    <a:clrScheme name="Ionic Bonding">
      <a:dk1>
        <a:srgbClr val="0E1626"/>
      </a:dk1>
      <a:lt1>
        <a:srgbClr val="E6EDF7"/>
      </a:lt1>
      <a:dk2>
        <a:srgbClr val="17233A"/>
      </a:dk2>
      <a:lt2>
        <a:srgbClr val="9FB1C7"/>
      </a:lt2>
      <a:accent1>
        <a:srgbClr val="5FE1FF"/>
      </a:accent1>
      <a:accent2>
        <a:srgbClr val="F6B93B"/>
      </a:accent2>
      <a:accent3>
        <a:srgbClr val="F472B6"/>
      </a:accent3>
      <a:accent4>
        <a:srgbClr val="4ADE80"/>
      </a:accent4>
      <a:accent5>
        <a:srgbClr val="60A5FA"/>
      </a:accent5>
      <a:accent6>
        <a:srgbClr val="F87171"/>
      </a:accent6>
      <a:hlink>
        <a:srgbClr val="5FE1FF"/>
      </a:hlink>
      <a:folHlink>
        <a:srgbClr val="F472B6"/>
      </a:folHlink>
    </a:clrScheme>
    <a:fontScheme name="Ionic Bonding">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Ionic Bonding</dc:title>
  <dc:subject>PptxGenJS Presentation</dc:subject>
  <dc:creator>PptxGenJS</dc:creator>
  <cp:lastModifiedBy>PptxGenJS</cp:lastModifiedBy>
  <cp:revision>1</cp:revision>
  <dcterms:created xsi:type="dcterms:W3CDTF">2026-10-28T15:29:42Z</dcterms:created>
  <dcterms:modified xsi:type="dcterms:W3CDTF">2026-10-28T15:29:42Z</dcterms:modified>
</cp:coreProperties>
</file>