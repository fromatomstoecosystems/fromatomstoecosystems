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notesMasterIdLst>
    <p:notesMasterId r:id="rId7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4e33a79d-e2e0-9ade-5f5c-7ed303ddb812}">
          <p14:sldIdLst>
            <p14:sldId id="256"/>
            <p14:sldId id="257"/>
            <p14:sldId id="258"/>
            <p14:sldId id="259"/>
          </p14:sldIdLst>
        </p14:section>
        <p14:section name="1. What photosynthesis does" id="{df5af69d-5f9d-71b5-f121-8b9d9b85dbc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2. Light and color" id="{1fcd87e9-7ada-a4d5-c413-e4e824e22207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3. Pigments and the absorption spectrum" id="{80342c58-40ad-9e8f-f624-7ee2f2ca9627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4. Which light drives photosynthesis?" id="{62e6cefb-c574-9dc6-396f-96a7eb28ac42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5. Stage 1: the light-dependent reactions" id="{f9f73427-36b2-8e4b-d56e-1553365c8d0e}">
          <p14:sldIdLst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6. Stage 2: the Calvin cycle" id="{2330d7ef-f8c4-4db6-6d86-71bc485a3763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</p14:sldIdLst>
        </p14:section>
        <p14:section name="7. How the two stages work together" id="{84624114-f52f-8c07-dd09-372bff0e3314}">
          <p14:sldIdLst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</p14:sldIdLst>
        </p14:section>
        <p14:section name="8. Final check" id="{ac6c8072-afe3-c87f-7b73-18fb2a89d373}">
          <p14:sldIdLst>
            <p14:sldId id="327"/>
            <p14:sldId id="328"/>
            <p14:sldId id="3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notesMaster" Target="notesMasters/notesMaster1.xml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follows the 60-minute self-taught lesson section by section. Read slides introduce each idea. Every question slide is followed by an answer slide, so students can think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sort each item (call them out, or use sticky notes on the board), then reveal the answer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 dioxide (CO₂): Taken in from the air.
Water (H₂O): Taken in by the roots.
Light energy: Absorbed by chlorophyll.
Glucose (C₆H₁₂O₆): The sugar the plant makes.
Oxygen (O₂): Released into the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The plant takes in CO₂ and water and uses light energy. Glucose and oxygen are what it makes.
If students chose A: Those are the products.
If students chose C: Glucose is made, not taken in.
If students chose D: Oxygen and glucose are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students do these missions in the interactive. Have students predict first,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You see the colors an object reflects. A tomato reflects red and absorbs the rest, just like a leaf reflects green.
If students chose A: Absorbed light doesn't reach your eye.
If students chose B: Tomatoes don't glow.
If students chose D: Reflecting every color equally would look white.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students do these missions in the interactive. Have students predict first,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At 480 nm the carotenoid line is near its peak; both chlorophylls are much lower.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Every line dips low between about 525 and 600 nm. That green-yellow light is reflected.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Each pigment absorbs a different set of colors. Together they capture more of the spectrum.
If students chose A: Accessory pigments are about absorbing.
If students chose C: Glucose is built in the Calvin cycle.
If students chose D: Leaves look green because chlorophyll reflects green.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Blue (26 bubbles per minute) and red (25) were highest. Green (5) was lowest.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Both graphs peak in the blue and red and dip in the green. Light must be absorbed before its energy can be used.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their CER before revealing a strong sample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each CER part is checked for key ideas: claim names red and blue; evidence uses bubble numbers; reasoning connects absorbed light to energy for photosynthesis.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D. Green light is mostly reflected. Light that isn't absorbed can't power photosynthesis.
If students chose A: All visible light carries energy.
If students chose B: Looking green means green is reflected.
If students chose C: Nothing shows chlorophyll breaking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sort each item (call them out, or use sticky notes on the board), then reveal the answer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energy: Absorbed by chlorophyll.
Water (H₂O): Split to release oxygen.
ADP: Empty carrier to be charged.
NADP⁺: Empty carrier to be charged.
Oxygen (O₂): Released from split water.
ATP: Charged carrier sent to stage 2.
NADPH: Charged carrier sent to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Light energy splits water in stage 1, and the oxygen is released as O₂.
If students chose A: CO₂ is used in stage 2 to build sugar.
If students chose C: Glucose is a product.
If students chose D: ATP carries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sort each item (call them out, or use sticky notes on the board), then reveal the answer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 dioxide (CO₂): Taken in from the air.
ATP: Energy from stage 1.
NADPH: Energy from stage 1.
Glucose (sugar): The sugar it builds.
ADP: Empty carrier sent back.
NADP⁺: Empty carrier sent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D. Light never hits the Calvin cycle directly, but it can't run without the charged carriers that light makes.
If students chose A: It needs ATP and NADPH, made while there is light.
If students chose B: Building sugar takes energy.
If students chose C: It happens in the stroma.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lesson, students do these missions in the interactive. Have students predict first,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Light off: see the dark simulator image in the lesson. CO₂ off: charged carriers pile up to nearly 100%.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sort each item (call them out, or use sticky notes on the board), then reveal the answer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Happens in the thylakoids: Where chlorophyll is.
Splits water: Stage 1.
Releases oxygen: From split water.
Makes ATP and NADPH: Charged carriers.
Happens in the stroma: The fluid around the thylakoids.
Uses carbon dioxide: Stage 2.
Builds glucose: Stage 2.
Uses ATP and NADPH: Spends the carriers.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a moment to pick an answer (hands up, whiteboards, or a quick poll) before revealing it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Without CO₂ the Calvin cycle can't build sugar or empty the carriers, so stage 1 slows down too.
If students chose A: Glucose is built from CO₂.
If students chose C: Sugar needs CO₂.
If students chose D: The stages trade carriers back and forth.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check questions come from a bank in the lesson and are not shown in this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1264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Lesson title</a:t>
            </a: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Section title</a:t>
            </a: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Slide 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Photosynthesis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Biology Unit 2: Cell Transport, Photosynthesis, and Cellular Respiration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28800"/>
            <a:ext cx="6126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Photosynthesis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Light, pigments, and the two stages: which colors plants use, how stage 1 charges up ATP and NADPH, and how the Calvin cycle spends them to build sugar.</a:t>
            </a:r>
            <a:endParaRPr lang="en-US" sz="2000" dirty="0"/>
          </a:p>
        </p:txBody>
      </p:sp>
      <p:pic>
        <p:nvPicPr>
          <p:cNvPr id="5" name="White light shining on a leaf" descr="White light shining on a lea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86576"/>
            <a:ext cx="4526280" cy="3284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 we are learning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Overview</a:t>
            </a:r>
            <a:endParaRPr lang="en-US" sz="1200" dirty="0"/>
          </a:p>
        </p:txBody>
      </p:sp>
      <p:sp>
        <p:nvSpPr>
          <p:cNvPr id="5" name="objective-card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Objective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I can explain how a plant captures light energy and stores it in glucose: which colors of light its pigments absorb, what the light-dependent reactions make, and how the Calvin cycle uses those products to build sugar.</a:t>
            </a:r>
            <a:endParaRPr lang="en-US" sz="1900" dirty="0"/>
          </a:p>
        </p:txBody>
      </p:sp>
      <p:sp>
        <p:nvSpPr>
          <p:cNvPr id="8" name="standard-card"/>
          <p:cNvSpPr/>
          <p:nvPr/>
        </p:nvSpPr>
        <p:spPr>
          <a:xfrm>
            <a:off x="6245352" y="164592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4"/>
                </a:solidFill>
              </a:rPr>
              <a:t>Standard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37744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NGSS HS-LS1-5.</a:t>
            </a:r>
            <a:pPr algn="l"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Use a model to illustrate how photosynthesis transforms light energy into stored chemical energy.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Lesson goals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Overview</a:t>
            </a:r>
            <a:endParaRPr lang="en-US" sz="1200" dirty="0"/>
          </a:p>
        </p:txBody>
      </p:sp>
      <p:sp>
        <p:nvSpPr>
          <p:cNvPr id="5" name="goal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6" name="checkbox"/>
          <p:cNvSpPr/>
          <p:nvPr/>
        </p:nvSpPr>
        <p:spPr>
          <a:xfrm>
            <a:off x="822960" y="1892808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D3429"/>
          </a:solidFill>
          <a:ln w="25400">
            <a:solidFill>
              <a:srgbClr val="3A5E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17320" y="1691640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 can explain what photosynthesis makes and where it happens.</a:t>
            </a:r>
            <a:endParaRPr lang="en-US" sz="1900" dirty="0"/>
          </a:p>
        </p:txBody>
      </p:sp>
      <p:sp>
        <p:nvSpPr>
          <p:cNvPr id="8" name="goal"/>
          <p:cNvSpPr/>
          <p:nvPr/>
        </p:nvSpPr>
        <p:spPr>
          <a:xfrm>
            <a:off x="548640" y="2578608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9" name="checkbox"/>
          <p:cNvSpPr/>
          <p:nvPr/>
        </p:nvSpPr>
        <p:spPr>
          <a:xfrm>
            <a:off x="822960" y="2779776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D3429"/>
          </a:solidFill>
          <a:ln w="25400">
            <a:solidFill>
              <a:srgbClr val="3A5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578608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 can explain why a leaf absorbs some colors of light and reflects others.</a:t>
            </a:r>
            <a:endParaRPr lang="en-US" sz="1900" dirty="0"/>
          </a:p>
        </p:txBody>
      </p:sp>
      <p:sp>
        <p:nvSpPr>
          <p:cNvPr id="11" name="goal"/>
          <p:cNvSpPr/>
          <p:nvPr/>
        </p:nvSpPr>
        <p:spPr>
          <a:xfrm>
            <a:off x="548640" y="3465576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2" name="checkbox"/>
          <p:cNvSpPr/>
          <p:nvPr/>
        </p:nvSpPr>
        <p:spPr>
          <a:xfrm>
            <a:off x="822960" y="3666744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D3429"/>
          </a:solidFill>
          <a:ln w="25400">
            <a:solidFill>
              <a:srgbClr val="3A5E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3465576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 can read absorption and action spectra and explain how they match.</a:t>
            </a:r>
            <a:endParaRPr lang="en-US" sz="1900" dirty="0"/>
          </a:p>
        </p:txBody>
      </p:sp>
      <p:sp>
        <p:nvSpPr>
          <p:cNvPr id="14" name="goal"/>
          <p:cNvSpPr/>
          <p:nvPr/>
        </p:nvSpPr>
        <p:spPr>
          <a:xfrm>
            <a:off x="548640" y="4352544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5" name="checkbox"/>
          <p:cNvSpPr/>
          <p:nvPr/>
        </p:nvSpPr>
        <p:spPr>
          <a:xfrm>
            <a:off x="822960" y="4553712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D3429"/>
          </a:solidFill>
          <a:ln w="25400">
            <a:solidFill>
              <a:srgbClr val="3A5E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4352544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 can describe what the light-dependent reactions use and make.</a:t>
            </a:r>
            <a:endParaRPr lang="en-US" sz="1900" dirty="0"/>
          </a:p>
        </p:txBody>
      </p:sp>
      <p:sp>
        <p:nvSpPr>
          <p:cNvPr id="17" name="goal"/>
          <p:cNvSpPr/>
          <p:nvPr/>
        </p:nvSpPr>
        <p:spPr>
          <a:xfrm>
            <a:off x="548640" y="5239512"/>
            <a:ext cx="11091672" cy="749808"/>
          </a:xfrm>
          <a:prstGeom prst="roundRect">
            <a:avLst>
              <a:gd name="adj" fmla="val 14634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8" name="checkbox"/>
          <p:cNvSpPr/>
          <p:nvPr/>
        </p:nvSpPr>
        <p:spPr>
          <a:xfrm>
            <a:off x="822960" y="5440680"/>
            <a:ext cx="347472" cy="347472"/>
          </a:xfrm>
          <a:prstGeom prst="roundRect">
            <a:avLst>
              <a:gd name="adj" fmla="val 18421"/>
            </a:avLst>
          </a:prstGeom>
          <a:solidFill>
            <a:srgbClr val="1D3429"/>
          </a:solidFill>
          <a:ln w="25400">
            <a:solidFill>
              <a:srgbClr val="3A5E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5239512"/>
            <a:ext cx="9966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I can explain how the Calvin cycle uses ATP, NADPH, and CO₂ to build sugar.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lesson map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Overview</a:t>
            </a:r>
            <a:endParaRPr lang="en-US" sz="1200" dirty="0"/>
          </a:p>
        </p:txBody>
      </p:sp>
      <p:sp>
        <p:nvSpPr>
          <p:cNvPr id="5" name="map-tile"/>
          <p:cNvSpPr/>
          <p:nvPr/>
        </p:nvSpPr>
        <p:spPr>
          <a:xfrm>
            <a:off x="548640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Cp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What photosynthesis does</a:t>
            </a:r>
            <a:endParaRPr lang="en-US" sz="1300" dirty="0"/>
          </a:p>
        </p:txBody>
      </p:sp>
      <p:sp>
        <p:nvSpPr>
          <p:cNvPr id="9" name="map-tile"/>
          <p:cNvSpPr/>
          <p:nvPr/>
        </p:nvSpPr>
        <p:spPr>
          <a:xfrm>
            <a:off x="1950415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41855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50415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Lt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950415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Light and color</a:t>
            </a:r>
            <a:endParaRPr lang="en-US" sz="1300" dirty="0"/>
          </a:p>
        </p:txBody>
      </p:sp>
      <p:sp>
        <p:nvSpPr>
          <p:cNvPr id="13" name="map-tile"/>
          <p:cNvSpPr/>
          <p:nvPr/>
        </p:nvSpPr>
        <p:spPr>
          <a:xfrm>
            <a:off x="3352190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3630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52190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Pg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3352190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Pigments and the absorption spectrum</a:t>
            </a:r>
            <a:endParaRPr lang="en-US" sz="1300" dirty="0"/>
          </a:p>
        </p:txBody>
      </p:sp>
      <p:sp>
        <p:nvSpPr>
          <p:cNvPr id="17" name="map-tile"/>
          <p:cNvSpPr/>
          <p:nvPr/>
        </p:nvSpPr>
        <p:spPr>
          <a:xfrm>
            <a:off x="4753966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5406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3966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4753966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Which light drives photosynthesis?</a:t>
            </a:r>
            <a:endParaRPr lang="en-US" sz="1300" dirty="0"/>
          </a:p>
        </p:txBody>
      </p:sp>
      <p:sp>
        <p:nvSpPr>
          <p:cNvPr id="21" name="map-tile"/>
          <p:cNvSpPr/>
          <p:nvPr/>
        </p:nvSpPr>
        <p:spPr>
          <a:xfrm>
            <a:off x="6155741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7181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55741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S1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6155741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Stage 1: the light-dependent reactions</a:t>
            </a:r>
            <a:endParaRPr lang="en-US" sz="1300" dirty="0"/>
          </a:p>
        </p:txBody>
      </p:sp>
      <p:sp>
        <p:nvSpPr>
          <p:cNvPr id="25" name="map-tile"/>
          <p:cNvSpPr/>
          <p:nvPr/>
        </p:nvSpPr>
        <p:spPr>
          <a:xfrm>
            <a:off x="7557516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48956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57516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S2</a:t>
            </a:r>
            <a:endParaRPr lang="en-US" sz="3200" dirty="0"/>
          </a:p>
        </p:txBody>
      </p:sp>
      <p:sp>
        <p:nvSpPr>
          <p:cNvPr id="28" name="Text 26"/>
          <p:cNvSpPr txBox="1"/>
          <p:nvPr/>
        </p:nvSpPr>
        <p:spPr>
          <a:xfrm>
            <a:off x="7557516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Stage 2: the Calvin cycle</a:t>
            </a:r>
            <a:endParaRPr lang="en-US" sz="1300" dirty="0"/>
          </a:p>
        </p:txBody>
      </p:sp>
      <p:sp>
        <p:nvSpPr>
          <p:cNvPr id="29" name="map-tile"/>
          <p:cNvSpPr/>
          <p:nvPr/>
        </p:nvSpPr>
        <p:spPr>
          <a:xfrm>
            <a:off x="8959291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050731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59291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⇄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8959291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How the two stages work together</a:t>
            </a:r>
            <a:endParaRPr lang="en-US" sz="1300" dirty="0"/>
          </a:p>
        </p:txBody>
      </p:sp>
      <p:sp>
        <p:nvSpPr>
          <p:cNvPr id="33" name="map-tile"/>
          <p:cNvSpPr/>
          <p:nvPr/>
        </p:nvSpPr>
        <p:spPr>
          <a:xfrm>
            <a:off x="10361066" y="1920240"/>
            <a:ext cx="1280160" cy="1243584"/>
          </a:xfrm>
          <a:prstGeom prst="roundRect">
            <a:avLst>
              <a:gd name="adj" fmla="val 8824"/>
            </a:avLst>
          </a:prstGeom>
          <a:solidFill>
            <a:srgbClr val="1F4A33"/>
          </a:solidFill>
          <a:ln w="22225">
            <a:solidFill>
              <a:schemeClr val="accent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452506" y="1975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361066" y="2176272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3200" dirty="0"/>
          </a:p>
        </p:txBody>
      </p:sp>
      <p:sp>
        <p:nvSpPr>
          <p:cNvPr id="36" name="Text 34"/>
          <p:cNvSpPr txBox="1"/>
          <p:nvPr/>
        </p:nvSpPr>
        <p:spPr>
          <a:xfrm>
            <a:off x="10361066" y="3310128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Final check</a:t>
            </a:r>
            <a:endParaRPr lang="en-US" sz="1300" dirty="0"/>
          </a:p>
        </p:txBody>
      </p:sp>
      <p:sp>
        <p:nvSpPr>
          <p:cNvPr id="37" name="callout"/>
          <p:cNvSpPr/>
          <p:nvPr/>
        </p:nvSpPr>
        <p:spPr>
          <a:xfrm>
            <a:off x="548640" y="48920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2A2412"/>
          </a:solidFill>
          <a:ln w="12700">
            <a:solidFill>
              <a:srgbClr val="6B5418"/>
            </a:solidFill>
            <a:prstDash val="solid"/>
          </a:ln>
        </p:spPr>
      </p:sp>
      <p:sp>
        <p:nvSpPr>
          <p:cNvPr id="38" name="callout-text"/>
          <p:cNvSpPr txBox="1"/>
          <p:nvPr/>
        </p:nvSpPr>
        <p:spPr>
          <a:xfrm>
            <a:off x="777240" y="48920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section has </a:t>
            </a:r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slides that introduce the idea, </a:t>
            </a:r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Try it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slides from the lesson activities, and a </a:t>
            </a:r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Quick check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. Every question slide is followed by an </a:t>
            </a:r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Answer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slide.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Cp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Chloroplast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1 of 8, about 6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 photosynthesis does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Plants make their own food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Inside a chloroplast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43434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Label the chloroplast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3657600" y="48280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ag-text"/>
          <p:cNvSpPr txBox="1"/>
          <p:nvPr/>
        </p:nvSpPr>
        <p:spPr>
          <a:xfrm>
            <a:off x="3657600" y="48280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45736" y="48006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 or out? (sort)</a:t>
            </a:r>
            <a:endParaRPr lang="en-US" sz="1700" dirty="0"/>
          </a:p>
        </p:txBody>
      </p:sp>
      <p:sp>
        <p:nvSpPr>
          <p:cNvPr id="20" name="tag"/>
          <p:cNvSpPr/>
          <p:nvPr/>
        </p:nvSpPr>
        <p:spPr>
          <a:xfrm>
            <a:off x="3657600" y="52852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21" name="tag-text"/>
          <p:cNvSpPr txBox="1"/>
          <p:nvPr/>
        </p:nvSpPr>
        <p:spPr>
          <a:xfrm>
            <a:off x="3657600" y="52852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80076" y="52578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Plants make their own food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Photosynthesis</a:t>
            </a:r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turns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light energy</a:t>
            </a:r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into </a:t>
            </a:r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chemical energy</a:t>
            </a:r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stored in sugar. The plant takes in carbon dioxide from the air and water from its roots, uses light to rearrange them, and makes glucose and oxygen.</a:t>
            </a:r>
            <a:endParaRPr lang="en-US" sz="2000" dirty="0"/>
          </a:p>
        </p:txBody>
      </p:sp>
      <p:sp>
        <p:nvSpPr>
          <p:cNvPr id="7" name="equation"/>
          <p:cNvSpPr/>
          <p:nvPr/>
        </p:nvSpPr>
        <p:spPr>
          <a:xfrm>
            <a:off x="548640" y="283464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6 CO₂ + 6 H₂O + light energy → C₆H₁₂O₆ + 6 O₂</a:t>
            </a:r>
            <a:endParaRPr lang="en-US" sz="2600" dirty="0"/>
          </a:p>
        </p:txBody>
      </p:sp>
      <p:sp>
        <p:nvSpPr>
          <p:cNvPr id="9" name="stage-card"/>
          <p:cNvSpPr/>
          <p:nvPr/>
        </p:nvSpPr>
        <p:spPr>
          <a:xfrm>
            <a:off x="548640" y="4023360"/>
            <a:ext cx="5449824" cy="2103120"/>
          </a:xfrm>
          <a:prstGeom prst="roundRect">
            <a:avLst>
              <a:gd name="adj" fmla="val 5217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Stage 1: light-dependent reactions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 the thylakoids. Capture light, split water, release O₂, and make the energy carriers ATP and NADPH.</a:t>
            </a:r>
            <a:endParaRPr lang="en-US" sz="1700" dirty="0"/>
          </a:p>
        </p:txBody>
      </p:sp>
      <p:sp>
        <p:nvSpPr>
          <p:cNvPr id="12" name="stage-card"/>
          <p:cNvSpPr/>
          <p:nvPr/>
        </p:nvSpPr>
        <p:spPr>
          <a:xfrm>
            <a:off x="6190488" y="4023360"/>
            <a:ext cx="5449824" cy="2103120"/>
          </a:xfrm>
          <a:prstGeom prst="roundRect">
            <a:avLst>
              <a:gd name="adj" fmla="val 5217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4808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Stage 2: Calvin cycle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64808" y="466344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 the stroma. Uses ATP and NADPH from stage 1 to build glucose from CO₂.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Inside a chloroplast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pic>
        <p:nvPicPr>
          <p:cNvPr id="6" name="Labeled chloroplast" descr="Labeled chloropla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25345"/>
            <a:ext cx="5669280" cy="3921711"/>
          </a:xfrm>
          <a:prstGeom prst="rect">
            <a:avLst/>
          </a:prstGeom>
        </p:spPr>
      </p:pic>
      <p:sp>
        <p:nvSpPr>
          <p:cNvPr id="7" name="part"/>
          <p:cNvSpPr/>
          <p:nvPr/>
        </p:nvSpPr>
        <p:spPr>
          <a:xfrm>
            <a:off x="6492240" y="1691640"/>
            <a:ext cx="5148072" cy="987552"/>
          </a:xfrm>
          <a:prstGeom prst="roundRect">
            <a:avLst>
              <a:gd name="adj" fmla="val 111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675120" y="1691640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Outer membrane.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Two membranes wrap the chloroplast and control what goes in and out.</a:t>
            </a:r>
            <a:endParaRPr lang="en-US" sz="1600" dirty="0"/>
          </a:p>
        </p:txBody>
      </p:sp>
      <p:sp>
        <p:nvSpPr>
          <p:cNvPr id="9" name="part"/>
          <p:cNvSpPr/>
          <p:nvPr/>
        </p:nvSpPr>
        <p:spPr>
          <a:xfrm>
            <a:off x="6492240" y="2807208"/>
            <a:ext cx="5148072" cy="987552"/>
          </a:xfrm>
          <a:prstGeom prst="roundRect">
            <a:avLst>
              <a:gd name="adj" fmla="val 111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675120" y="2807208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Thylakoid.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One flat sac packed with chlorophyll. Stage 1 happens here.</a:t>
            </a:r>
            <a:endParaRPr lang="en-US" sz="1600" dirty="0"/>
          </a:p>
        </p:txBody>
      </p:sp>
      <p:sp>
        <p:nvSpPr>
          <p:cNvPr id="11" name="part"/>
          <p:cNvSpPr/>
          <p:nvPr/>
        </p:nvSpPr>
        <p:spPr>
          <a:xfrm>
            <a:off x="6492240" y="3922776"/>
            <a:ext cx="5148072" cy="987552"/>
          </a:xfrm>
          <a:prstGeom prst="roundRect">
            <a:avLst>
              <a:gd name="adj" fmla="val 111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3922776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Granum.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A stack of thylakoids, like a stack of coins. Plural: grana.</a:t>
            </a:r>
            <a:endParaRPr lang="en-US" sz="1600" dirty="0"/>
          </a:p>
        </p:txBody>
      </p:sp>
      <p:sp>
        <p:nvSpPr>
          <p:cNvPr id="13" name="part"/>
          <p:cNvSpPr/>
          <p:nvPr/>
        </p:nvSpPr>
        <p:spPr>
          <a:xfrm>
            <a:off x="6492240" y="5038344"/>
            <a:ext cx="5148072" cy="987552"/>
          </a:xfrm>
          <a:prstGeom prst="roundRect">
            <a:avLst>
              <a:gd name="adj" fmla="val 111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5038344"/>
            <a:ext cx="4800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Stroma.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The thick fluid around the grana. Stage 2 happens here.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Label the chloroplast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Match each label to its number.</a:t>
            </a:r>
            <a:endParaRPr lang="en-US" sz="1700" dirty="0"/>
          </a:p>
        </p:txBody>
      </p:sp>
      <p:pic>
        <p:nvPicPr>
          <p:cNvPr id="7" name="Chloroplast with numbered pins" descr="Chloroplast with numbered p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009724"/>
            <a:ext cx="5696712" cy="3752952"/>
          </a:xfrm>
          <a:prstGeom prst="rect">
            <a:avLst/>
          </a:prstGeom>
        </p:spPr>
      </p:pic>
      <p:sp>
        <p:nvSpPr>
          <p:cNvPr id="8" name="label-row"/>
          <p:cNvSpPr/>
          <p:nvPr/>
        </p:nvSpPr>
        <p:spPr>
          <a:xfrm>
            <a:off x="548640" y="219456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94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_______________</a:t>
            </a:r>
            <a:endParaRPr lang="en-US" sz="1900" dirty="0"/>
          </a:p>
        </p:txBody>
      </p:sp>
      <p:sp>
        <p:nvSpPr>
          <p:cNvPr id="10" name="label-row"/>
          <p:cNvSpPr/>
          <p:nvPr/>
        </p:nvSpPr>
        <p:spPr>
          <a:xfrm>
            <a:off x="548640" y="315468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154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_______________</a:t>
            </a:r>
            <a:endParaRPr lang="en-US" sz="1900" dirty="0"/>
          </a:p>
        </p:txBody>
      </p:sp>
      <p:sp>
        <p:nvSpPr>
          <p:cNvPr id="12" name="label-row"/>
          <p:cNvSpPr/>
          <p:nvPr/>
        </p:nvSpPr>
        <p:spPr>
          <a:xfrm>
            <a:off x="548640" y="411480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_______________</a:t>
            </a:r>
            <a:endParaRPr lang="en-US" sz="1900" dirty="0"/>
          </a:p>
        </p:txBody>
      </p:sp>
      <p:sp>
        <p:nvSpPr>
          <p:cNvPr id="14" name="label-row"/>
          <p:cNvSpPr/>
          <p:nvPr/>
        </p:nvSpPr>
        <p:spPr>
          <a:xfrm>
            <a:off x="548640" y="50749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_______________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7150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Labels: Thylakoid · Outer membrane · Stroma (the fluid) · Granum (a stack of thylakoids)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Label the chloroplast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Answers</a:t>
            </a:r>
            <a:endParaRPr lang="en-US" sz="1700" dirty="0"/>
          </a:p>
        </p:txBody>
      </p:sp>
      <p:pic>
        <p:nvPicPr>
          <p:cNvPr id="7" name="Chloroplast with numbered pins" descr="Chloroplast with numbered pi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009724"/>
            <a:ext cx="5696712" cy="3752952"/>
          </a:xfrm>
          <a:prstGeom prst="rect">
            <a:avLst/>
          </a:prstGeom>
        </p:spPr>
      </p:pic>
      <p:sp>
        <p:nvSpPr>
          <p:cNvPr id="8" name="label-row"/>
          <p:cNvSpPr/>
          <p:nvPr/>
        </p:nvSpPr>
        <p:spPr>
          <a:xfrm>
            <a:off x="548640" y="219456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194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Outer membrane</a:t>
            </a:r>
            <a:endParaRPr lang="en-US" sz="1900" dirty="0"/>
          </a:p>
        </p:txBody>
      </p:sp>
      <p:sp>
        <p:nvSpPr>
          <p:cNvPr id="10" name="label-row"/>
          <p:cNvSpPr/>
          <p:nvPr/>
        </p:nvSpPr>
        <p:spPr>
          <a:xfrm>
            <a:off x="548640" y="315468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1546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2.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Granum (a stack of thylakoids)</a:t>
            </a:r>
            <a:endParaRPr lang="en-US" sz="1900" dirty="0"/>
          </a:p>
        </p:txBody>
      </p:sp>
      <p:sp>
        <p:nvSpPr>
          <p:cNvPr id="12" name="label-row"/>
          <p:cNvSpPr/>
          <p:nvPr/>
        </p:nvSpPr>
        <p:spPr>
          <a:xfrm>
            <a:off x="548640" y="411480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41148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3.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Thylakoid</a:t>
            </a:r>
            <a:endParaRPr lang="en-US" sz="1900" dirty="0"/>
          </a:p>
        </p:txBody>
      </p:sp>
      <p:sp>
        <p:nvSpPr>
          <p:cNvPr id="14" name="label-row"/>
          <p:cNvSpPr/>
          <p:nvPr/>
        </p:nvSpPr>
        <p:spPr>
          <a:xfrm>
            <a:off x="548640" y="50749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0749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4.</a:t>
            </a:r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 Stroma (the fluid)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 or out?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Does the plant take it in, or does photosynthesis make it?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2231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67712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67712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(H₂O)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2211019" y="2267712"/>
            <a:ext cx="1889150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1019" y="2267712"/>
            <a:ext cx="18891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 (C₆H₁₂O₆)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4228186" y="2267712"/>
            <a:ext cx="215798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28186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 (CO₂)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6514186" y="2267712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4186" y="2267712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 (O₂)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7993685" y="2267712"/>
            <a:ext cx="14410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93685" y="2267712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 energy</a:t>
            </a:r>
            <a:endParaRPr lang="en-US" sz="1500" dirty="0"/>
          </a:p>
        </p:txBody>
      </p:sp>
      <p:sp>
        <p:nvSpPr>
          <p:cNvPr id="18" name="bin"/>
          <p:cNvSpPr/>
          <p:nvPr/>
        </p:nvSpPr>
        <p:spPr>
          <a:xfrm>
            <a:off x="548640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Goes in (reactants)</a:t>
            </a:r>
            <a:endParaRPr lang="en-US" sz="1800" dirty="0"/>
          </a:p>
        </p:txBody>
      </p:sp>
      <p:sp>
        <p:nvSpPr>
          <p:cNvPr id="20" name="bin"/>
          <p:cNvSpPr/>
          <p:nvPr/>
        </p:nvSpPr>
        <p:spPr>
          <a:xfrm>
            <a:off x="6185916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68796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Comes out (products)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 or out?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Does the plant take it in, or does photosynthesis make it?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2231C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 sorted.</a:t>
            </a:r>
            <a:endParaRPr lang="en-US" sz="1800" dirty="0"/>
          </a:p>
        </p:txBody>
      </p:sp>
      <p:sp>
        <p:nvSpPr>
          <p:cNvPr id="9" name="bin"/>
          <p:cNvSpPr/>
          <p:nvPr/>
        </p:nvSpPr>
        <p:spPr>
          <a:xfrm>
            <a:off x="548640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Goes in (reactants)</a:t>
            </a:r>
            <a:endParaRPr lang="en-US" sz="1800" dirty="0"/>
          </a:p>
        </p:txBody>
      </p:sp>
      <p:sp>
        <p:nvSpPr>
          <p:cNvPr id="11" name="chip"/>
          <p:cNvSpPr/>
          <p:nvPr/>
        </p:nvSpPr>
        <p:spPr>
          <a:xfrm>
            <a:off x="731520" y="3931920"/>
            <a:ext cx="215798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319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 (CO₂)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2999232" y="3931920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9232" y="3931920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(H₂O)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731520" y="4443984"/>
            <a:ext cx="14410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443984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 energy</a:t>
            </a:r>
            <a:endParaRPr lang="en-US" sz="1500" dirty="0"/>
          </a:p>
        </p:txBody>
      </p:sp>
      <p:sp>
        <p:nvSpPr>
          <p:cNvPr id="17" name="bin"/>
          <p:cNvSpPr/>
          <p:nvPr/>
        </p:nvSpPr>
        <p:spPr>
          <a:xfrm>
            <a:off x="6185916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8796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Comes out (products)</a:t>
            </a:r>
            <a:endParaRPr lang="en-US" sz="1800" dirty="0"/>
          </a:p>
        </p:txBody>
      </p:sp>
      <p:sp>
        <p:nvSpPr>
          <p:cNvPr id="19" name="chip"/>
          <p:cNvSpPr/>
          <p:nvPr/>
        </p:nvSpPr>
        <p:spPr>
          <a:xfrm>
            <a:off x="6368796" y="3931920"/>
            <a:ext cx="1889150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8796" y="3931920"/>
            <a:ext cx="18891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 (C₆H₁₂O₆)</a:t>
            </a:r>
            <a:endParaRPr lang="en-US" sz="1500" dirty="0"/>
          </a:p>
        </p:txBody>
      </p:sp>
      <p:sp>
        <p:nvSpPr>
          <p:cNvPr id="21" name="chip"/>
          <p:cNvSpPr/>
          <p:nvPr/>
        </p:nvSpPr>
        <p:spPr>
          <a:xfrm>
            <a:off x="8367674" y="3931920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7674" y="3931920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 (O₂)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Which list shows only the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inputs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 (reactants) of photosynthesis?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Glucose and oxygen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Carbon dioxide, water, and light energy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Carbon dioxide, glucose, and light energy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Oxygen, water, and glucose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1 of 8: What photosynthesis does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Which list shows only the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inputs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 (reactants) of photosynthesis?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Glucose and oxygen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Carbon dioxide, water, and light energy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Carbon dioxide, glucose, and light energy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Oxygen, water, and glucose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B.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The plant takes in CO₂ and water and uses light energy. Glucose and oxygen are what it makes.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Lt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Light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2 of 8, about 7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Light and color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White light is a mix of colors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8862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Light lab (3 missions)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180076" y="43434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White light is a mix of colors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2 of 8: Light and color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Sunlight looks white, but it is a mix of every color. Each color has its own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wavelength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measured in nanometers (nm): violet is about 400 nm and red is about 700 nm.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When light hits something, it can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absorb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some colors and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reflect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others.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You see the colors that are reflected.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A red apple reflects red light and absorbs the rest.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A leaf absorbs most violet, blue, and red light and reflects much of the green. Only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absorbed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light can power photosynthesis.</a:t>
            </a:r>
            <a:endParaRPr lang="en-US" sz="1900" dirty="0"/>
          </a:p>
        </p:txBody>
      </p:sp>
      <p:pic>
        <p:nvPicPr>
          <p:cNvPr id="7" name="Visible spectrum from 400 to 700 nm" descr="Visible spectrum from 400 to 700 n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700982"/>
            <a:ext cx="11091672" cy="210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Light lab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2 of 8: Light and color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Shine different colors on a leaf and watch what is absorbed and reflected.</a:t>
            </a:r>
            <a:endParaRPr lang="en-US" sz="1700" dirty="0"/>
          </a:p>
        </p:txBody>
      </p:sp>
      <p:sp>
        <p:nvSpPr>
          <p:cNvPr id="7" name="mission"/>
          <p:cNvSpPr/>
          <p:nvPr/>
        </p:nvSpPr>
        <p:spPr>
          <a:xfrm>
            <a:off x="548640" y="2286000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1.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Find a color of light the leaf absorbs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at least 85%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of.</a:t>
            </a:r>
            <a:endParaRPr lang="en-US" sz="1700" dirty="0"/>
          </a:p>
        </p:txBody>
      </p:sp>
      <p:sp>
        <p:nvSpPr>
          <p:cNvPr id="9" name="mission"/>
          <p:cNvSpPr/>
          <p:nvPr/>
        </p:nvSpPr>
        <p:spPr>
          <a:xfrm>
            <a:off x="548640" y="3538728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2.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Find the color the leaf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reflects the most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mission"/>
          <p:cNvSpPr/>
          <p:nvPr/>
        </p:nvSpPr>
        <p:spPr>
          <a:xfrm>
            <a:off x="548640" y="4791456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91456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3.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Shine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white light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(all colors). What color reaches the eye?</a:t>
            </a:r>
            <a:endParaRPr lang="en-US" sz="1700" dirty="0"/>
          </a:p>
        </p:txBody>
      </p:sp>
      <p:pic>
        <p:nvPicPr>
          <p:cNvPr id="14" name="Lesson interactive" descr="Lesson intera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134281"/>
            <a:ext cx="4828032" cy="35038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Light lab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2 of 8: Light and color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What students should find:</a:t>
            </a:r>
            <a:endParaRPr lang="en-US" sz="1700" dirty="0"/>
          </a:p>
        </p:txBody>
      </p:sp>
      <p:sp>
        <p:nvSpPr>
          <p:cNvPr id="7" name="mission"/>
          <p:cNvSpPr/>
          <p:nvPr/>
        </p:nvSpPr>
        <p:spPr>
          <a:xfrm>
            <a:off x="548640" y="2286000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1.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Violet-blue (about 430–450 nm) or red (about 660 nm): about 95% absorbed.</a:t>
            </a:r>
            <a:endParaRPr lang="en-US" sz="1400" dirty="0"/>
          </a:p>
        </p:txBody>
      </p:sp>
      <p:sp>
        <p:nvSpPr>
          <p:cNvPr id="9" name="mission"/>
          <p:cNvSpPr/>
          <p:nvPr/>
        </p:nvSpPr>
        <p:spPr>
          <a:xfrm>
            <a:off x="548640" y="3538728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2.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Green, around 550 nm: about 80% reflected, only about 20% absorbed.</a:t>
            </a:r>
            <a:endParaRPr lang="en-US" sz="1400" dirty="0"/>
          </a:p>
        </p:txBody>
      </p:sp>
      <p:sp>
        <p:nvSpPr>
          <p:cNvPr id="11" name="mission"/>
          <p:cNvSpPr/>
          <p:nvPr/>
        </p:nvSpPr>
        <p:spPr>
          <a:xfrm>
            <a:off x="548640" y="4791456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91456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3.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The red and blue parts are absorbed. Mostly green bounces back, so the leaf looks green.</a:t>
            </a:r>
            <a:endParaRPr lang="en-US" sz="1400" dirty="0"/>
          </a:p>
        </p:txBody>
      </p:sp>
      <p:pic>
        <p:nvPicPr>
          <p:cNvPr id="14" name="Lesson interactive" descr="Lesson intera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134281"/>
            <a:ext cx="4828032" cy="35038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2 of 8: Light and color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ripe tomato looks red. Which statement explains why?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absorbs red light and reflects the other colors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makes its own red light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reflects red light and absorbs most other colors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reflects every color equally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2 of 8: Light and color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ripe tomato looks red. Which statement explains why?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absorbs red light and reflects the other colors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makes its own red light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reflects red light and absorbs most other colors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reflects every color equally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C.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You see the colors an object reflects. A tomato reflects red and absorbs the rest, just like a leaf reflects green.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Pg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Pigments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3 of 8, about 8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Pigments and the absorption spectrum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More than one pigment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8862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Read the absorption spectrum (3 missions)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43434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 graph questions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3657600" y="48280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18" name="tag-text"/>
          <p:cNvSpPr txBox="1"/>
          <p:nvPr/>
        </p:nvSpPr>
        <p:spPr>
          <a:xfrm>
            <a:off x="3657600" y="48280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80076" y="48006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More than one pigment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pigment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absorbs certain colors of light. The main one is 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chlorophyll a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. Chloroplasts also hold 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chlorophyll b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and orange-yellow 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carotenoids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. These accessory pigments absorb colors chlorophyll a misses and pass the energy along.</a:t>
            </a:r>
            <a:endParaRPr lang="en-US" sz="17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An </a:t>
            </a:r>
            <a:pPr algn="l"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absorption spectrum</a:t>
            </a:r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graphs how much light a pigment absorbs at each wavelength. Tall peak = lots absorbed. Low spot = reflected.</a:t>
            </a:r>
            <a:endParaRPr lang="en-US" sz="17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In fall, chlorophyll breaks down and the carotenoids' yellow and orange show.</a:t>
            </a:r>
            <a:endParaRPr lang="en-US" sz="1700" dirty="0"/>
          </a:p>
        </p:txBody>
      </p:sp>
      <p:pic>
        <p:nvPicPr>
          <p:cNvPr id="7" name="Absorption spectrum" descr="Absorption spectru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435478"/>
            <a:ext cx="5056632" cy="26271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583680" y="5897880"/>
            <a:ext cx="5056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Green: chlorophyll a · Yellow-green: chlorophyll b · Orange: carotenoids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Read the absorption spectrum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Use the graph to complete each mission.</a:t>
            </a:r>
            <a:endParaRPr lang="en-US" sz="1700" dirty="0"/>
          </a:p>
        </p:txBody>
      </p:sp>
      <p:sp>
        <p:nvSpPr>
          <p:cNvPr id="7" name="mission"/>
          <p:cNvSpPr/>
          <p:nvPr/>
        </p:nvSpPr>
        <p:spPr>
          <a:xfrm>
            <a:off x="548640" y="2286000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1.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Find chlorophyll a's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tallest peak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mission"/>
          <p:cNvSpPr/>
          <p:nvPr/>
        </p:nvSpPr>
        <p:spPr>
          <a:xfrm>
            <a:off x="548640" y="3538728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2.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Find a wavelength where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chlorophyll b absorbs more than chlorophyll a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11" name="mission"/>
          <p:cNvSpPr/>
          <p:nvPr/>
        </p:nvSpPr>
        <p:spPr>
          <a:xfrm>
            <a:off x="548640" y="4791456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91456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3.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Find a wavelength where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all three pigments absorb very little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pic>
        <p:nvPicPr>
          <p:cNvPr id="14" name="Lesson interactive" descr="Lesson intera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632022"/>
            <a:ext cx="4828032" cy="25083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Read the absorption spectrum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What students should find:</a:t>
            </a:r>
            <a:endParaRPr lang="en-US" sz="1700" dirty="0"/>
          </a:p>
        </p:txBody>
      </p:sp>
      <p:sp>
        <p:nvSpPr>
          <p:cNvPr id="7" name="mission"/>
          <p:cNvSpPr/>
          <p:nvPr/>
        </p:nvSpPr>
        <p:spPr>
          <a:xfrm>
            <a:off x="548640" y="2286000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1.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About 430 nm (violet-blue). Its second peak is in the red, near 660 nm.</a:t>
            </a:r>
            <a:endParaRPr lang="en-US" sz="1400" dirty="0"/>
          </a:p>
        </p:txBody>
      </p:sp>
      <p:sp>
        <p:nvSpPr>
          <p:cNvPr id="9" name="mission"/>
          <p:cNvSpPr/>
          <p:nvPr/>
        </p:nvSpPr>
        <p:spPr>
          <a:xfrm>
            <a:off x="548640" y="3538728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2.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About 455 nm or about 640 nm: chlorophyll b catches light chlorophyll a misses.</a:t>
            </a:r>
            <a:endParaRPr lang="en-US" sz="1400" dirty="0"/>
          </a:p>
        </p:txBody>
      </p:sp>
      <p:sp>
        <p:nvSpPr>
          <p:cNvPr id="11" name="mission"/>
          <p:cNvSpPr/>
          <p:nvPr/>
        </p:nvSpPr>
        <p:spPr>
          <a:xfrm>
            <a:off x="548640" y="4791456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91456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3.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About 525–600 nm (green-yellow). That light is reflected, which is why leaves look green.</a:t>
            </a:r>
            <a:endParaRPr lang="en-US" sz="1400" dirty="0"/>
          </a:p>
        </p:txBody>
      </p:sp>
      <p:pic>
        <p:nvPicPr>
          <p:cNvPr id="14" name="Lesson interactive" descr="Lesson intera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632022"/>
            <a:ext cx="4828032" cy="25083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Graph question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the graph. Which pigment absorbs the most light at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480 nm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Chlorophyll a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Chlorophyll b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Carotenoids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All three absorb the same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Graph question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Use the graph. Which pigment absorbs the most light at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480 nm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Chlorophyll a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Chlorophyll b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Carotenoids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 three absorb the same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C.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At 480 nm the carotenoid line is near its peak; both chlorophylls are much lower.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Graph question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Which range of wavelengths do all three pigments absorb the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least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400–450 nm (violet-blue)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450–500 nm (blue)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525–600 nm (green-yellow)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640–680 nm (red)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Graph question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Which range of wavelengths do all three pigments absorb the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least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400–450 nm (violet-blue)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450–500 nm (blue)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525–600 nm (green-yellow)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640–680 nm (red)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C.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Every line dips low between about 525 and 600 nm. That green-yellow light is reflected.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3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Why does a plant benefit from accessory pigments like chlorophyll b and carotenoids?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They reflect extra light so the leaf stays cool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They absorb wavelengths chlorophyll a misses, so the plant captures more light energy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They make glucose without any light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They are what make leaves look green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3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3 of 8: Pigments and the absorption spectrum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Why does a plant benefit from accessory pigments like chlorophyll b and carotenoids?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They reflect extra light so the leaf stays cool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They absorb wavelengths chlorophyll a misses, so the plant captures more light energy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They make glucose without any light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They are what make leaves look green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B.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Each pigment absorbs a different set of colors. Together they capture more of the spectrum.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Elodea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4 of 8, about 9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Which light drives photosynthesis?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Absorbed light should mean faster photosynthesis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8862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Elodea bubble lab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43434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 data questions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3657600" y="4828032"/>
            <a:ext cx="644652" cy="310896"/>
          </a:xfrm>
          <a:prstGeom prst="roundRect">
            <a:avLst>
              <a:gd name="adj" fmla="val 50000"/>
            </a:avLst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18" name="tag-text"/>
          <p:cNvSpPr txBox="1"/>
          <p:nvPr/>
        </p:nvSpPr>
        <p:spPr>
          <a:xfrm>
            <a:off x="3657600" y="4828032"/>
            <a:ext cx="644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F3A"/>
                </a:solidFill>
              </a:rPr>
              <a:t>CER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485132" y="4800600"/>
            <a:ext cx="70363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Claim, evidence, reasoning</a:t>
            </a:r>
            <a:endParaRPr lang="en-US" sz="1700" dirty="0"/>
          </a:p>
        </p:txBody>
      </p:sp>
      <p:sp>
        <p:nvSpPr>
          <p:cNvPr id="20" name="tag"/>
          <p:cNvSpPr/>
          <p:nvPr/>
        </p:nvSpPr>
        <p:spPr>
          <a:xfrm>
            <a:off x="3657600" y="52852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21" name="tag-text"/>
          <p:cNvSpPr txBox="1"/>
          <p:nvPr/>
        </p:nvSpPr>
        <p:spPr>
          <a:xfrm>
            <a:off x="3657600" y="52852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180076" y="52578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Which light drives photosynthesis?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The absorption spectrum shows which colors the pigments absorb. But does that light actually power photosynthesis?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Scientists measure how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fast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photosynthesis happens under each color. That graph is an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action spectrum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.</a:t>
            </a:r>
            <a:endParaRPr lang="en-US" sz="19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One way: put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elodea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, an underwater plant, under colored light and count the </a:t>
            </a:r>
            <a:pPr algn="l"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chemeClr val="tx1"/>
                </a:solidFill>
              </a:rPr>
              <a:t>oxygen bubbles</a:t>
            </a:r>
            <a:pPr algn="l"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chemeClr val="tx1"/>
                </a:solidFill>
              </a:rPr>
              <a:t> it gives off each minute. More bubbles = faster photosynthesis.</a:t>
            </a:r>
            <a:endParaRPr lang="en-US" sz="1900" dirty="0"/>
          </a:p>
        </p:txBody>
      </p:sp>
      <p:pic>
        <p:nvPicPr>
          <p:cNvPr id="7" name="Elodea under a colored filter" descr="Elodea under a colored fil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10186"/>
            <a:ext cx="5056632" cy="39520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Elodea bubble lab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Predict: which two filters will give the most oxygen bubbles? Which will give the fewest?</a:t>
            </a:r>
            <a:endParaRPr lang="en-US" sz="1800" dirty="0"/>
          </a:p>
        </p:txBody>
      </p:sp>
      <p:graphicFrame>
        <p:nvGraphicFramePr>
          <p:cNvPr id="33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852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Wavelength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Bubbles/min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Violet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?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</a:tbl>
          </a:graphicData>
        </a:graphic>
      </p:graphicFrame>
      <p:pic>
        <p:nvPicPr>
          <p:cNvPr id="8" name="Elodea setup" descr="Elodea set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945919"/>
            <a:ext cx="4965192" cy="388056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Elodea bubble lab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Results: bubbles of O₂ per minute</a:t>
            </a:r>
            <a:endParaRPr lang="en-US" sz="1800" dirty="0"/>
          </a:p>
        </p:txBody>
      </p:sp>
      <p:graphicFrame>
        <p:nvGraphicFramePr>
          <p:cNvPr id="34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852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Wavelength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Bubbles/min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Violet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 nm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2A"/>
                    </a:solidFill>
                  </a:tcPr>
                </a:tc>
              </a:tr>
            </a:tbl>
          </a:graphicData>
        </a:graphic>
      </p:graphicFrame>
      <p:pic>
        <p:nvPicPr>
          <p:cNvPr id="8" name="Action spectrum with bubble data compared to chlorophyll a" descr="Action spectrum with bubble data compared to chlorophyll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2596392"/>
            <a:ext cx="4965192" cy="257961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675120" y="5989320"/>
            <a:ext cx="4965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Dots: bubble data · dashed line: action spectrum · solid line: chlorophyll a absorption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question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Which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two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 filters made the elodea give off the most oxygen bubbles?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Green and yellow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Blue and red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Violet and orange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Yellow and red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question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Which </a:t>
            </a:r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two</a:t>
            </a:r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 filters made the elodea give off the most oxygen bubbles?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Green and yellow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Blue and red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Violet and orange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Yellow and red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B.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Blue (26 bubbles per minute) and red (25) were highest. Green (5) was lowest.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question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Compare the action spectrum to chlorophyll a's absorption spectrum. What does the match show?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Plants use green light more than any other color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Absorbed light is wasted, so absorption and rate are unrelated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colors pigments absorb best are the colors that drive photosynthesis fastest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Photosynthesis runs at the same rate under every color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Data question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Compare the action spectrum to chlorophyll a's absorption spectrum. What does the match show?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Plants use green light more than any other color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Absorbed light is wasted, so absorption and rate are unrelated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colors pigments absorb best are the colors that drive photosynthesis fastest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Photosynthesis runs at the same rate under every color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C.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Both graphs peak in the blue and red and dip in the green. Light must be absorbed before its energy can be used.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Claim, evidence, reasoning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644652" cy="310896"/>
          </a:xfrm>
          <a:prstGeom prst="roundRect">
            <a:avLst>
              <a:gd name="adj" fmla="val 50000"/>
            </a:avLst>
          </a:prstGeom>
          <a:solidFill>
            <a:srgbClr val="C79BFF"/>
          </a:solidFill>
          <a:ln w="12700">
            <a:solidFill>
              <a:srgbClr val="C79BFF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6446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F3A"/>
                </a:solidFill>
              </a:rPr>
              <a:t>CER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Which colors of light does a plant use best for photosynthesis? Use your elodea data and the absorption spectrum.</a:t>
            </a:r>
            <a:endParaRPr lang="en-US" sz="2100" dirty="0"/>
          </a:p>
        </p:txBody>
      </p:sp>
      <p:sp>
        <p:nvSpPr>
          <p:cNvPr id="7" name="cer-part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Claim: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Plants use …</a:t>
            </a:r>
            <a:endParaRPr lang="en-US" sz="1800" dirty="0"/>
          </a:p>
        </p:txBody>
      </p:sp>
      <p:sp>
        <p:nvSpPr>
          <p:cNvPr id="9" name="cer-part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Evidence: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In my data, …</a:t>
            </a:r>
            <a:endParaRPr lang="en-US" sz="1800" dirty="0"/>
          </a:p>
        </p:txBody>
      </p:sp>
      <p:sp>
        <p:nvSpPr>
          <p:cNvPr id="11" name="cer-part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0292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Reasoning: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This is because …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Claim, evidence, reasoning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tx1"/>
                </a:solidFill>
              </a:rPr>
              <a:t>Which colors of light does a plant use best for photosynthesis? Use your elodea data and the absorption spectrum.</a:t>
            </a:r>
            <a:endParaRPr lang="en-US" sz="2100" dirty="0"/>
          </a:p>
        </p:txBody>
      </p:sp>
      <p:sp>
        <p:nvSpPr>
          <p:cNvPr id="7" name="cer-part"/>
          <p:cNvSpPr/>
          <p:nvPr/>
        </p:nvSpPr>
        <p:spPr>
          <a:xfrm>
            <a:off x="548640" y="265176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5176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Claim: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Plants use red and blue light best.</a:t>
            </a:r>
            <a:endParaRPr lang="en-US" sz="1800" dirty="0"/>
          </a:p>
        </p:txBody>
      </p:sp>
      <p:sp>
        <p:nvSpPr>
          <p:cNvPr id="9" name="cer-part"/>
          <p:cNvSpPr/>
          <p:nvPr/>
        </p:nvSpPr>
        <p:spPr>
          <a:xfrm>
            <a:off x="548640" y="38404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84048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Evidence: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In my data, the elodea gave off 26 bubbles per minute under blue light and 25 under red light, but only 5 under green.</a:t>
            </a:r>
            <a:endParaRPr lang="en-US" sz="1800" dirty="0"/>
          </a:p>
        </p:txBody>
      </p:sp>
      <p:sp>
        <p:nvSpPr>
          <p:cNvPr id="11" name="cer-part"/>
          <p:cNvSpPr/>
          <p:nvPr/>
        </p:nvSpPr>
        <p:spPr>
          <a:xfrm>
            <a:off x="548640" y="502920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502920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Reasoning: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This is because chlorophyll absorbs blue and red light, and only absorbed light gives the plant energy for photosynthesis. Green light is mostly reflected.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4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Under green light, the elodea gave off only 5 bubbles per minute. Which explanation fits both graphs?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Green light has no energy at all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plant is green, so it absorbs green light best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Green light breaks down chlorophyll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Chlorophyll absorbs little green light, so little energy is captured for photosynthesis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4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4 of 8: Which light drives photosynthesis?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Under green light, the elodea gave off only 5 bubbles per minute. Which explanation fits both graphs?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Green light has no energy at all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plant is green, so it absorbs green light best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Green light breaks down chlorophyll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Chlorophyll absorbs little green light, so little energy is captured for photosynthesis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D.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Green light is mostly reflected. Light that isn't absorbed can't power photosynthesis.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S1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Stage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5 of 8, about 8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1: the light-dependent reactions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Light in, oxygen out, energy stored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3886200"/>
            <a:ext cx="6601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Step through stage 1 (5 steps)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43434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 or out? (sort)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3657600" y="48280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18" name="tag-text"/>
          <p:cNvSpPr txBox="1"/>
          <p:nvPr/>
        </p:nvSpPr>
        <p:spPr>
          <a:xfrm>
            <a:off x="3657600" y="48280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80076" y="48006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Light in, oxygen out, energy stored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Stage 1, the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light-dependent reactions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, happens in the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thylakoids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, where the chlorophyll is. Chlorophyll captures light energy, and that energy does two jobs: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1. Split water.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The oxygen is released into the air. That's the O₂ you breathe.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2. Charge up energy carriers.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ADP becomes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ATP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, and NADP⁺ becomes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NADPH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Think of them as batteries: ADP and NADP⁺ are empty, ATP and NADPH are charged and get carried to stage 2.</a:t>
            </a:r>
            <a:endParaRPr lang="en-US" sz="1800" dirty="0"/>
          </a:p>
        </p:txBody>
      </p:sp>
      <p:pic>
        <p:nvPicPr>
          <p:cNvPr id="7" name="Stage 1 summary diagram" descr="Stage 1 summar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75454"/>
            <a:ext cx="5239512" cy="34214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1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Stage 1 happens in the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thylakoids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the flat sacs packed with chlorophyll.</a:t>
            </a:r>
            <a:endParaRPr lang="en-US" sz="2000" dirty="0"/>
          </a:p>
        </p:txBody>
      </p:sp>
      <p:pic>
        <p:nvPicPr>
          <p:cNvPr id="8" name="Step through stage 1, step 1" descr="Step through stage 1, 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2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Light goes in.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Chlorophyll absorbs the light energy.</a:t>
            </a:r>
            <a:endParaRPr lang="en-US" sz="2000" dirty="0"/>
          </a:p>
        </p:txBody>
      </p:sp>
      <p:pic>
        <p:nvPicPr>
          <p:cNvPr id="8" name="Step through stage 1, step 2" descr="Step through stage 1, step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3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light energy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splits water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The oxygen is released into the air. That is where the O₂ from photosynthesis comes from.</a:t>
            </a:r>
            <a:endParaRPr lang="en-US" sz="2000" dirty="0"/>
          </a:p>
        </p:txBody>
      </p:sp>
      <p:pic>
        <p:nvPicPr>
          <p:cNvPr id="8" name="Step through stage 1, step 3" descr="Step through stage 1, step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4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energy also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charges up the carriers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: empty ADP becomes ATP, and empty NADP⁺ becomes NADPH.</a:t>
            </a:r>
            <a:endParaRPr lang="en-US" sz="2000" dirty="0"/>
          </a:p>
        </p:txBody>
      </p:sp>
      <p:pic>
        <p:nvPicPr>
          <p:cNvPr id="8" name="Step through stage 1, step 4" descr="Step through stage 1, step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1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5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Summary.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In: light, water, ADP, and NADP⁺. Out: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oxygen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(released), plus charged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ATP and NADPH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which go to stage 2.</a:t>
            </a:r>
            <a:endParaRPr lang="en-US" sz="2000" dirty="0"/>
          </a:p>
        </p:txBody>
      </p:sp>
      <p:pic>
        <p:nvPicPr>
          <p:cNvPr id="8" name="Step through stage 1, step 5" descr="Step through stage 1, step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1: in or out?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Is it used by the light-dependent reactions, or made by them?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2231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67712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67712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ATP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1494130" y="2267712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94130" y="2267712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ADP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2256739" y="2267712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6739" y="2267712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(H₂O)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3736238" y="2267712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36238" y="2267712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 (O₂)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5215738" y="2267712"/>
            <a:ext cx="14410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15738" y="2267712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 energy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6784848" y="2267712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84848" y="226771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NADPH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7726680" y="2267712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26680" y="226771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NADP⁺</a:t>
            </a:r>
            <a:endParaRPr lang="en-US" sz="1500" dirty="0"/>
          </a:p>
        </p:txBody>
      </p:sp>
      <p:sp>
        <p:nvSpPr>
          <p:cNvPr id="22" name="bin"/>
          <p:cNvSpPr/>
          <p:nvPr/>
        </p:nvSpPr>
        <p:spPr>
          <a:xfrm>
            <a:off x="548640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Used (goes in)</a:t>
            </a:r>
            <a:endParaRPr lang="en-US" sz="1800" dirty="0"/>
          </a:p>
        </p:txBody>
      </p:sp>
      <p:sp>
        <p:nvSpPr>
          <p:cNvPr id="24" name="bin"/>
          <p:cNvSpPr/>
          <p:nvPr/>
        </p:nvSpPr>
        <p:spPr>
          <a:xfrm>
            <a:off x="6185916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68796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Made (comes out)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1: in or out?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Is it used by the light-dependent reactions, or made by them?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2231C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 sorted.</a:t>
            </a:r>
            <a:endParaRPr lang="en-US" sz="1800" dirty="0"/>
          </a:p>
        </p:txBody>
      </p:sp>
      <p:sp>
        <p:nvSpPr>
          <p:cNvPr id="9" name="bin"/>
          <p:cNvSpPr/>
          <p:nvPr/>
        </p:nvSpPr>
        <p:spPr>
          <a:xfrm>
            <a:off x="548640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Used (goes in)</a:t>
            </a:r>
            <a:endParaRPr lang="en-US" sz="1800" dirty="0"/>
          </a:p>
        </p:txBody>
      </p:sp>
      <p:sp>
        <p:nvSpPr>
          <p:cNvPr id="11" name="chip"/>
          <p:cNvSpPr/>
          <p:nvPr/>
        </p:nvSpPr>
        <p:spPr>
          <a:xfrm>
            <a:off x="731520" y="3931920"/>
            <a:ext cx="14410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31920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Light energy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2282342" y="3931920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82342" y="3931920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Water (H₂O)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3743554" y="3931920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3554" y="3931920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ADP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4487875" y="3931920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87875" y="393192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NADP⁺</a:t>
            </a:r>
            <a:endParaRPr lang="en-US" sz="1500" dirty="0"/>
          </a:p>
        </p:txBody>
      </p:sp>
      <p:sp>
        <p:nvSpPr>
          <p:cNvPr id="19" name="bin"/>
          <p:cNvSpPr/>
          <p:nvPr/>
        </p:nvSpPr>
        <p:spPr>
          <a:xfrm>
            <a:off x="6185916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8796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Made (comes out)</a:t>
            </a:r>
            <a:endParaRPr lang="en-US" sz="1800" dirty="0"/>
          </a:p>
        </p:txBody>
      </p:sp>
      <p:sp>
        <p:nvSpPr>
          <p:cNvPr id="21" name="chip"/>
          <p:cNvSpPr/>
          <p:nvPr/>
        </p:nvSpPr>
        <p:spPr>
          <a:xfrm>
            <a:off x="6368796" y="3931920"/>
            <a:ext cx="1351483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68796" y="3931920"/>
            <a:ext cx="135148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Oxygen (O₂)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7830007" y="3931920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30007" y="3931920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ATP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8574329" y="3931920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74329" y="393192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5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oxygen released by photosynthesis comes from which molecule?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Carbon dioxide (CO₂)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Water (H₂O)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Glucose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ATP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5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5 of 8: Stage 1: the light-dependent reactions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The oxygen released by photosynthesis comes from which molecule?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Carbon dioxide (CO₂)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Water (H₂O)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Glucose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ATP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B.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Light energy splits water in stage 1, and the oxygen is released as O₂.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S2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Stage 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6 of 8, about 8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2: the Calvin cycle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Spending the energy to build sugar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19472" y="3886200"/>
            <a:ext cx="6601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Step through stage 2 (5 steps)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43434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 or out? (sort)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3657600" y="48280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18" name="tag-text"/>
          <p:cNvSpPr txBox="1"/>
          <p:nvPr/>
        </p:nvSpPr>
        <p:spPr>
          <a:xfrm>
            <a:off x="3657600" y="48280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80076" y="48006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Spending the energy to build sugar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Stage 2, the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Calvin cycle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, happens in the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stroma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. It takes in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carbon dioxide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from the air and uses the energy in the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ATP and NADPH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from stage 1 to build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sugar (glucose)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 used-up carriers, ADP and NADP⁺, go back to stage 1 to be recharged.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It's also called the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light-independent reactions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because it doesn't use light directly. That does </a:t>
            </a:r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not</a:t>
            </a:r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 mean it happens in the dark: it needs the ATP and NADPH that stage 1 makes with light.</a:t>
            </a:r>
            <a:endParaRPr lang="en-US" sz="1800" dirty="0"/>
          </a:p>
        </p:txBody>
      </p:sp>
      <p:pic>
        <p:nvPicPr>
          <p:cNvPr id="7" name="Stage 2 summary diagram" descr="Stage 2 summary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175454"/>
            <a:ext cx="5239512" cy="34214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1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Stage 2, the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Calvin cycle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runs in the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stroma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the fluid around the thylakoids.</a:t>
            </a:r>
            <a:endParaRPr lang="en-US" sz="2000" dirty="0"/>
          </a:p>
        </p:txBody>
      </p:sp>
      <p:pic>
        <p:nvPicPr>
          <p:cNvPr id="8" name="Step through stage 2, step 1" descr="Step through stage 2, 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2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Charged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ATP and NADPH arrive from stage 1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 They bring the energy captured from light.</a:t>
            </a:r>
            <a:endParaRPr lang="en-US" sz="2000" dirty="0"/>
          </a:p>
        </p:txBody>
      </p:sp>
      <p:pic>
        <p:nvPicPr>
          <p:cNvPr id="8" name="Step through stage 2, step 2" descr="Step through stage 2, step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3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Carbon dioxide comes in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from the air. The cycle uses the energy from ATP and NADPH to build the carbon into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sugar (glucose)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.</a:t>
            </a:r>
            <a:endParaRPr lang="en-US" sz="2000" dirty="0"/>
          </a:p>
        </p:txBody>
      </p:sp>
      <p:pic>
        <p:nvPicPr>
          <p:cNvPr id="8" name="Step through stage 2, step 3" descr="Step through stage 2, step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4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empty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ADP and NADP⁺ go back to stage 1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to be recharged.</a:t>
            </a:r>
            <a:endParaRPr lang="en-US" sz="2000" dirty="0"/>
          </a:p>
        </p:txBody>
      </p:sp>
      <p:pic>
        <p:nvPicPr>
          <p:cNvPr id="8" name="Step through stage 2, step 4" descr="Step through stage 2, step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Step through stage 2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Watch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Step 5 of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4206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Summary.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 In: CO₂, ATP, and NADPH. Out: </a:t>
            </a:r>
            <a:pPr algn="l"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sugar (glucose)</a:t>
            </a:r>
            <a:pPr algn="l"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, plus ADP and NADP⁺, which return to stage 1.</a:t>
            </a:r>
            <a:endParaRPr lang="en-US" sz="2000" dirty="0"/>
          </a:p>
        </p:txBody>
      </p:sp>
      <p:pic>
        <p:nvPicPr>
          <p:cNvPr id="8" name="Step through stage 2, step 5" descr="Step through stage 2, step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12687"/>
            <a:ext cx="6656832" cy="43470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2: in or out?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Is it used by the Calvin cycle, or made by it?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2231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67712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67712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ATP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1494130" y="2267712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94130" y="2267712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ADP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2256739" y="2267712"/>
            <a:ext cx="1709928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56739" y="226771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 (sugar)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4094683" y="2267712"/>
            <a:ext cx="215798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94683" y="226771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 (CO₂)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6380683" y="2267712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80683" y="226771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NADP⁺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7322515" y="2267712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22515" y="2267712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NADPH</a:t>
            </a:r>
            <a:endParaRPr lang="en-US" sz="1500" dirty="0"/>
          </a:p>
        </p:txBody>
      </p:sp>
      <p:sp>
        <p:nvSpPr>
          <p:cNvPr id="20" name="bin"/>
          <p:cNvSpPr/>
          <p:nvPr/>
        </p:nvSpPr>
        <p:spPr>
          <a:xfrm>
            <a:off x="548640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Used (goes in)</a:t>
            </a:r>
            <a:endParaRPr lang="en-US" sz="1800" dirty="0"/>
          </a:p>
        </p:txBody>
      </p:sp>
      <p:sp>
        <p:nvSpPr>
          <p:cNvPr id="22" name="bin"/>
          <p:cNvSpPr/>
          <p:nvPr/>
        </p:nvSpPr>
        <p:spPr>
          <a:xfrm>
            <a:off x="6185916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8796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Made (comes out)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Stage 2: in or out?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Is it used by the Calvin cycle, or made by it?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2231C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outputs of each stage are the inputs of the other.</a:t>
            </a:r>
            <a:endParaRPr lang="en-US" sz="1800" dirty="0"/>
          </a:p>
        </p:txBody>
      </p:sp>
      <p:sp>
        <p:nvSpPr>
          <p:cNvPr id="9" name="bin"/>
          <p:cNvSpPr/>
          <p:nvPr/>
        </p:nvSpPr>
        <p:spPr>
          <a:xfrm>
            <a:off x="548640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Used (goes in)</a:t>
            </a:r>
            <a:endParaRPr lang="en-US" sz="1800" dirty="0"/>
          </a:p>
        </p:txBody>
      </p:sp>
      <p:sp>
        <p:nvSpPr>
          <p:cNvPr id="11" name="chip"/>
          <p:cNvSpPr/>
          <p:nvPr/>
        </p:nvSpPr>
        <p:spPr>
          <a:xfrm>
            <a:off x="731520" y="3931920"/>
            <a:ext cx="215798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31920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Carbon dioxide (CO₂)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2999232" y="3931920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99232" y="3931920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ATP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3743554" y="3931920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43554" y="393192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NADPH</a:t>
            </a:r>
            <a:endParaRPr lang="en-US" sz="1500" dirty="0"/>
          </a:p>
        </p:txBody>
      </p:sp>
      <p:sp>
        <p:nvSpPr>
          <p:cNvPr id="17" name="bin"/>
          <p:cNvSpPr/>
          <p:nvPr/>
        </p:nvSpPr>
        <p:spPr>
          <a:xfrm>
            <a:off x="6185916" y="3291840"/>
            <a:ext cx="5454396" cy="2880360"/>
          </a:xfrm>
          <a:prstGeom prst="roundRect">
            <a:avLst>
              <a:gd name="adj" fmla="val 381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8796" y="340156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Made (comes out)</a:t>
            </a:r>
            <a:endParaRPr lang="en-US" sz="1800" dirty="0"/>
          </a:p>
        </p:txBody>
      </p:sp>
      <p:sp>
        <p:nvSpPr>
          <p:cNvPr id="19" name="chip"/>
          <p:cNvSpPr/>
          <p:nvPr/>
        </p:nvSpPr>
        <p:spPr>
          <a:xfrm>
            <a:off x="6368796" y="3931920"/>
            <a:ext cx="1709928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8796" y="3931920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Glucose (sugar)</a:t>
            </a:r>
            <a:endParaRPr lang="en-US" sz="1500" dirty="0"/>
          </a:p>
        </p:txBody>
      </p:sp>
      <p:sp>
        <p:nvSpPr>
          <p:cNvPr id="21" name="chip"/>
          <p:cNvSpPr/>
          <p:nvPr/>
        </p:nvSpPr>
        <p:spPr>
          <a:xfrm>
            <a:off x="8188452" y="3931920"/>
            <a:ext cx="6345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88452" y="3931920"/>
            <a:ext cx="6345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ADP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8932774" y="3931920"/>
            <a:ext cx="813816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32774" y="3931920"/>
            <a:ext cx="813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NADP⁺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6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Why is the Calvin cycle called "light-independent"?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only happens at night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doesn't need any energy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happens outside the chloroplast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doesn't use light directly, but it needs ATP and NADPH from the light-dependent reactions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6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6 of 8: Stage 2: the Calvin cycle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Why is the Calvin cycle called "light-independent"?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only happens at night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doesn't need any energy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It happens outside the chloroplast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It doesn't use light directly, but it needs ATP and NADPH from the light-dependent reactions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D.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Light never hits the Calvin cycle directly, but it can't run without the charged carriers that light makes.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⇄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Both stages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7 of 8, about 7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How the two stages work together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Two stages, one system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8862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Chloroplast simulator (3 missions)</a:t>
            </a:r>
            <a:endParaRPr lang="en-US" sz="1700" dirty="0"/>
          </a:p>
        </p:txBody>
      </p:sp>
      <p:sp>
        <p:nvSpPr>
          <p:cNvPr id="14" name="tag"/>
          <p:cNvSpPr/>
          <p:nvPr/>
        </p:nvSpPr>
        <p:spPr>
          <a:xfrm>
            <a:off x="3657600" y="43708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ag-text"/>
          <p:cNvSpPr txBox="1"/>
          <p:nvPr/>
        </p:nvSpPr>
        <p:spPr>
          <a:xfrm>
            <a:off x="3657600" y="43708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43434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Which stage? (sort)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3657600" y="48280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18" name="tag-text"/>
          <p:cNvSpPr txBox="1"/>
          <p:nvPr/>
        </p:nvSpPr>
        <p:spPr>
          <a:xfrm>
            <a:off x="3657600" y="48280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180076" y="48006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1 question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Two stages, one system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Read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5852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The two stages depend on each other. Stage 1 charges up ATP and NADPH. The Calvin cycle spends them to build sugar, then sends the empty ADP and NADP⁺ back to be recharged.</a:t>
            </a:r>
            <a:endParaRPr lang="en-US" sz="20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So if either stage stops, the other one soon stops too.</a:t>
            </a:r>
            <a:endParaRPr lang="en-US" sz="2000" dirty="0"/>
          </a:p>
        </p:txBody>
      </p:sp>
      <p:pic>
        <p:nvPicPr>
          <p:cNvPr id="7" name="Chloroplast simulator" descr="Chloroplast simul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10404"/>
            <a:ext cx="5239512" cy="375159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Chloroplast simulator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Predict what happens before revealing.</a:t>
            </a:r>
            <a:endParaRPr lang="en-US" sz="1700" dirty="0"/>
          </a:p>
        </p:txBody>
      </p:sp>
      <p:sp>
        <p:nvSpPr>
          <p:cNvPr id="7" name="mission"/>
          <p:cNvSpPr/>
          <p:nvPr/>
        </p:nvSpPr>
        <p:spPr>
          <a:xfrm>
            <a:off x="548640" y="2286000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1.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Turn light and CO₂ on. Make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 glucose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mission"/>
          <p:cNvSpPr/>
          <p:nvPr/>
        </p:nvSpPr>
        <p:spPr>
          <a:xfrm>
            <a:off x="548640" y="3538728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2.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Turn the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light off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but keep CO₂ on. What happens to the Calvin cycle?</a:t>
            </a:r>
            <a:endParaRPr lang="en-US" sz="1700" dirty="0"/>
          </a:p>
        </p:txBody>
      </p:sp>
      <p:sp>
        <p:nvSpPr>
          <p:cNvPr id="11" name="mission"/>
          <p:cNvSpPr/>
          <p:nvPr/>
        </p:nvSpPr>
        <p:spPr>
          <a:xfrm>
            <a:off x="548640" y="4791456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91456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Mission 3.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Light back on, but 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CO₂ at 0%</a:t>
            </a:r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. What happens?</a:t>
            </a:r>
            <a:endParaRPr lang="en-US" sz="1700" dirty="0"/>
          </a:p>
        </p:txBody>
      </p:sp>
      <p:pic>
        <p:nvPicPr>
          <p:cNvPr id="14" name="Lesson interactive" descr="Lesson intera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157718"/>
            <a:ext cx="4828032" cy="34569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Chloroplast simulator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What students should find:</a:t>
            </a:r>
            <a:endParaRPr lang="en-US" sz="1700" dirty="0"/>
          </a:p>
        </p:txBody>
      </p:sp>
      <p:sp>
        <p:nvSpPr>
          <p:cNvPr id="7" name="mission"/>
          <p:cNvSpPr/>
          <p:nvPr/>
        </p:nvSpPr>
        <p:spPr>
          <a:xfrm>
            <a:off x="548640" y="2286000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286000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1.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With light and CO₂ both on, the carriers cycle back and forth and sugar keeps coming.</a:t>
            </a:r>
            <a:endParaRPr lang="en-US" sz="1400" dirty="0"/>
          </a:p>
        </p:txBody>
      </p:sp>
      <p:sp>
        <p:nvSpPr>
          <p:cNvPr id="9" name="mission"/>
          <p:cNvSpPr/>
          <p:nvPr/>
        </p:nvSpPr>
        <p:spPr>
          <a:xfrm>
            <a:off x="548640" y="3538728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538728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2.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Nothing recharges ATP and NADPH. Once they run out, the Calvin cycle stops too, even with plenty of CO₂.</a:t>
            </a:r>
            <a:endParaRPr lang="en-US" sz="1400" dirty="0"/>
          </a:p>
        </p:txBody>
      </p:sp>
      <p:sp>
        <p:nvSpPr>
          <p:cNvPr id="11" name="mission"/>
          <p:cNvSpPr/>
          <p:nvPr/>
        </p:nvSpPr>
        <p:spPr>
          <a:xfrm>
            <a:off x="548640" y="4791456"/>
            <a:ext cx="6035040" cy="1143000"/>
          </a:xfrm>
          <a:prstGeom prst="roundRect">
            <a:avLst>
              <a:gd name="adj" fmla="val 9600"/>
            </a:avLst>
          </a:prstGeom>
          <a:solidFill>
            <a:srgbClr val="173A2A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791456"/>
            <a:ext cx="5623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Mission 3.</a:t>
            </a:r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Sugar stops right away. ATP and NADPH pile up; with no empty carriers left, stage 1 slows and O₂ stops.</a:t>
            </a:r>
            <a:endParaRPr lang="en-US" sz="1400" dirty="0"/>
          </a:p>
        </p:txBody>
      </p:sp>
      <p:pic>
        <p:nvPicPr>
          <p:cNvPr id="14" name="Lesson interactive" descr="Lesson interacti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2157718"/>
            <a:ext cx="4828032" cy="345696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Which stage?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1F00"/>
                </a:solidFill>
              </a:rPr>
              <a:t>Try it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Sort each statement into the stage it describes.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2231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chip"/>
          <p:cNvSpPr/>
          <p:nvPr/>
        </p:nvSpPr>
        <p:spPr>
          <a:xfrm>
            <a:off x="731520" y="2267712"/>
            <a:ext cx="1709928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267712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Releases oxygen</a:t>
            </a:r>
            <a:endParaRPr lang="en-US" sz="1500" dirty="0"/>
          </a:p>
        </p:txBody>
      </p:sp>
      <p:sp>
        <p:nvSpPr>
          <p:cNvPr id="10" name="chip"/>
          <p:cNvSpPr/>
          <p:nvPr/>
        </p:nvSpPr>
        <p:spPr>
          <a:xfrm>
            <a:off x="2569464" y="2267712"/>
            <a:ext cx="2068373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9464" y="2267712"/>
            <a:ext cx="20683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carbon dioxide</a:t>
            </a:r>
            <a:endParaRPr lang="en-US" sz="1500" dirty="0"/>
          </a:p>
        </p:txBody>
      </p:sp>
      <p:sp>
        <p:nvSpPr>
          <p:cNvPr id="12" name="chip"/>
          <p:cNvSpPr/>
          <p:nvPr/>
        </p:nvSpPr>
        <p:spPr>
          <a:xfrm>
            <a:off x="4765853" y="2267712"/>
            <a:ext cx="1620317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5853" y="2267712"/>
            <a:ext cx="1620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Builds glucose</a:t>
            </a:r>
            <a:endParaRPr lang="en-US" sz="1500" dirty="0"/>
          </a:p>
        </p:txBody>
      </p:sp>
      <p:sp>
        <p:nvSpPr>
          <p:cNvPr id="14" name="chip"/>
          <p:cNvSpPr/>
          <p:nvPr/>
        </p:nvSpPr>
        <p:spPr>
          <a:xfrm>
            <a:off x="6514186" y="2267712"/>
            <a:ext cx="2247595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4186" y="2267712"/>
            <a:ext cx="22475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in the stroma</a:t>
            </a:r>
            <a:endParaRPr lang="en-US" sz="1500" dirty="0"/>
          </a:p>
        </p:txBody>
      </p:sp>
      <p:sp>
        <p:nvSpPr>
          <p:cNvPr id="16" name="chip"/>
          <p:cNvSpPr/>
          <p:nvPr/>
        </p:nvSpPr>
        <p:spPr>
          <a:xfrm>
            <a:off x="8889797" y="2267712"/>
            <a:ext cx="1441094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89797" y="2267712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Splits water</a:t>
            </a:r>
            <a:endParaRPr lang="en-US" sz="1500" dirty="0"/>
          </a:p>
        </p:txBody>
      </p:sp>
      <p:sp>
        <p:nvSpPr>
          <p:cNvPr id="18" name="chip"/>
          <p:cNvSpPr/>
          <p:nvPr/>
        </p:nvSpPr>
        <p:spPr>
          <a:xfrm>
            <a:off x="731520" y="2798064"/>
            <a:ext cx="2606040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7980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in the thylakoids</a:t>
            </a:r>
            <a:endParaRPr lang="en-US" sz="1500" dirty="0"/>
          </a:p>
        </p:txBody>
      </p:sp>
      <p:sp>
        <p:nvSpPr>
          <p:cNvPr id="20" name="chip"/>
          <p:cNvSpPr/>
          <p:nvPr/>
        </p:nvSpPr>
        <p:spPr>
          <a:xfrm>
            <a:off x="3465576" y="2798064"/>
            <a:ext cx="1978762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65576" y="2798064"/>
            <a:ext cx="1978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ATP and NADPH</a:t>
            </a:r>
            <a:endParaRPr lang="en-US" sz="1500" dirty="0"/>
          </a:p>
        </p:txBody>
      </p:sp>
      <p:sp>
        <p:nvSpPr>
          <p:cNvPr id="22" name="chip"/>
          <p:cNvSpPr/>
          <p:nvPr/>
        </p:nvSpPr>
        <p:spPr>
          <a:xfrm>
            <a:off x="5572354" y="2798064"/>
            <a:ext cx="2068373" cy="402336"/>
          </a:xfrm>
          <a:prstGeom prst="roundRect">
            <a:avLst>
              <a:gd name="adj" fmla="val 22727"/>
            </a:avLst>
          </a:prstGeom>
          <a:solidFill>
            <a:srgbClr val="24402F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572354" y="2798064"/>
            <a:ext cx="20683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ATP and NADPH</a:t>
            </a:r>
            <a:endParaRPr lang="en-US" sz="1500" dirty="0"/>
          </a:p>
        </p:txBody>
      </p:sp>
      <p:sp>
        <p:nvSpPr>
          <p:cNvPr id="24" name="bin"/>
          <p:cNvSpPr/>
          <p:nvPr/>
        </p:nvSpPr>
        <p:spPr>
          <a:xfrm>
            <a:off x="548640" y="3429000"/>
            <a:ext cx="5454396" cy="2743200"/>
          </a:xfrm>
          <a:prstGeom prst="roundRect">
            <a:avLst>
              <a:gd name="adj" fmla="val 400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53872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Light-dependent reactions</a:t>
            </a:r>
            <a:endParaRPr lang="en-US" sz="1800" dirty="0"/>
          </a:p>
        </p:txBody>
      </p:sp>
      <p:sp>
        <p:nvSpPr>
          <p:cNvPr id="26" name="bin"/>
          <p:cNvSpPr/>
          <p:nvPr/>
        </p:nvSpPr>
        <p:spPr>
          <a:xfrm>
            <a:off x="6185916" y="3429000"/>
            <a:ext cx="5454396" cy="2743200"/>
          </a:xfrm>
          <a:prstGeom prst="roundRect">
            <a:avLst>
              <a:gd name="adj" fmla="val 400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8796" y="353872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Calvin cycle (light-independent)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Which stage?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Sort each statement into the stage it describes.</a:t>
            </a:r>
            <a:endParaRPr lang="en-US" sz="1800" dirty="0"/>
          </a:p>
        </p:txBody>
      </p:sp>
      <p:sp>
        <p:nvSpPr>
          <p:cNvPr id="7" name="tray"/>
          <p:cNvSpPr/>
          <p:nvPr/>
        </p:nvSpPr>
        <p:spPr>
          <a:xfrm>
            <a:off x="548640" y="210312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2231C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0312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 sorted.</a:t>
            </a:r>
            <a:endParaRPr lang="en-US" sz="1800" dirty="0"/>
          </a:p>
        </p:txBody>
      </p:sp>
      <p:sp>
        <p:nvSpPr>
          <p:cNvPr id="9" name="bin"/>
          <p:cNvSpPr/>
          <p:nvPr/>
        </p:nvSpPr>
        <p:spPr>
          <a:xfrm>
            <a:off x="548640" y="3429000"/>
            <a:ext cx="5454396" cy="2743200"/>
          </a:xfrm>
          <a:prstGeom prst="roundRect">
            <a:avLst>
              <a:gd name="adj" fmla="val 400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3872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Light-dependent reactions</a:t>
            </a:r>
            <a:endParaRPr lang="en-US" sz="1800" dirty="0"/>
          </a:p>
        </p:txBody>
      </p:sp>
      <p:sp>
        <p:nvSpPr>
          <p:cNvPr id="11" name="chip"/>
          <p:cNvSpPr/>
          <p:nvPr/>
        </p:nvSpPr>
        <p:spPr>
          <a:xfrm>
            <a:off x="731520" y="4069080"/>
            <a:ext cx="2606040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406908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in the thylakoids</a:t>
            </a:r>
            <a:endParaRPr lang="en-US" sz="1500" dirty="0"/>
          </a:p>
        </p:txBody>
      </p:sp>
      <p:sp>
        <p:nvSpPr>
          <p:cNvPr id="13" name="chip"/>
          <p:cNvSpPr/>
          <p:nvPr/>
        </p:nvSpPr>
        <p:spPr>
          <a:xfrm>
            <a:off x="3447288" y="4069080"/>
            <a:ext cx="1441094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4069080"/>
            <a:ext cx="144109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Splits water</a:t>
            </a:r>
            <a:endParaRPr lang="en-US" sz="1500" dirty="0"/>
          </a:p>
        </p:txBody>
      </p:sp>
      <p:sp>
        <p:nvSpPr>
          <p:cNvPr id="15" name="chip"/>
          <p:cNvSpPr/>
          <p:nvPr/>
        </p:nvSpPr>
        <p:spPr>
          <a:xfrm>
            <a:off x="731520" y="4581144"/>
            <a:ext cx="1709928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581144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Releases oxygen</a:t>
            </a:r>
            <a:endParaRPr lang="en-US" sz="1500" dirty="0"/>
          </a:p>
        </p:txBody>
      </p:sp>
      <p:sp>
        <p:nvSpPr>
          <p:cNvPr id="17" name="chip"/>
          <p:cNvSpPr/>
          <p:nvPr/>
        </p:nvSpPr>
        <p:spPr>
          <a:xfrm>
            <a:off x="2551176" y="4581144"/>
            <a:ext cx="2068373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51176" y="4581144"/>
            <a:ext cx="20683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Makes ATP and NADPH</a:t>
            </a:r>
            <a:endParaRPr lang="en-US" sz="1500" dirty="0"/>
          </a:p>
        </p:txBody>
      </p:sp>
      <p:sp>
        <p:nvSpPr>
          <p:cNvPr id="19" name="bin"/>
          <p:cNvSpPr/>
          <p:nvPr/>
        </p:nvSpPr>
        <p:spPr>
          <a:xfrm>
            <a:off x="6185916" y="3429000"/>
            <a:ext cx="5454396" cy="2743200"/>
          </a:xfrm>
          <a:prstGeom prst="roundRect">
            <a:avLst>
              <a:gd name="adj" fmla="val 4000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8796" y="3538728"/>
            <a:ext cx="50886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Calvin cycle (light-independent)</a:t>
            </a:r>
            <a:endParaRPr lang="en-US" sz="1800" dirty="0"/>
          </a:p>
        </p:txBody>
      </p:sp>
      <p:sp>
        <p:nvSpPr>
          <p:cNvPr id="21" name="chip"/>
          <p:cNvSpPr/>
          <p:nvPr/>
        </p:nvSpPr>
        <p:spPr>
          <a:xfrm>
            <a:off x="6368796" y="4069080"/>
            <a:ext cx="2247595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68796" y="4069080"/>
            <a:ext cx="22475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Happens in the stroma</a:t>
            </a:r>
            <a:endParaRPr lang="en-US" sz="1500" dirty="0"/>
          </a:p>
        </p:txBody>
      </p:sp>
      <p:sp>
        <p:nvSpPr>
          <p:cNvPr id="23" name="chip"/>
          <p:cNvSpPr/>
          <p:nvPr/>
        </p:nvSpPr>
        <p:spPr>
          <a:xfrm>
            <a:off x="8726119" y="4069080"/>
            <a:ext cx="2068373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26119" y="4069080"/>
            <a:ext cx="206837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carbon dioxide</a:t>
            </a:r>
            <a:endParaRPr lang="en-US" sz="1500" dirty="0"/>
          </a:p>
        </p:txBody>
      </p:sp>
      <p:sp>
        <p:nvSpPr>
          <p:cNvPr id="25" name="chip"/>
          <p:cNvSpPr/>
          <p:nvPr/>
        </p:nvSpPr>
        <p:spPr>
          <a:xfrm>
            <a:off x="6368796" y="4581144"/>
            <a:ext cx="1620317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68796" y="4581144"/>
            <a:ext cx="162031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Builds glucose</a:t>
            </a:r>
            <a:endParaRPr lang="en-US" sz="1500" dirty="0"/>
          </a:p>
        </p:txBody>
      </p:sp>
      <p:sp>
        <p:nvSpPr>
          <p:cNvPr id="27" name="chip"/>
          <p:cNvSpPr/>
          <p:nvPr/>
        </p:nvSpPr>
        <p:spPr>
          <a:xfrm>
            <a:off x="8098841" y="4581144"/>
            <a:ext cx="1978762" cy="402336"/>
          </a:xfrm>
          <a:prstGeom prst="roundRect">
            <a:avLst>
              <a:gd name="adj" fmla="val 22727"/>
            </a:avLst>
          </a:prstGeom>
          <a:solidFill>
            <a:srgbClr val="163A2B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98841" y="4581144"/>
            <a:ext cx="19787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Uses ATP and NADPH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7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FF9D5C"/>
          </a:solidFill>
          <a:ln w="12700">
            <a:solidFill>
              <a:srgbClr val="FF9D5C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1300"/>
                </a:solidFill>
              </a:rPr>
              <a:t>Quick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plant is kept in bright light but sealed with no CO₂. What happens?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plant makes glucose faster because it has more light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Sugar production stops, ATP and NADPH pile up, and then the light-dependent reactions slow down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Only oxygen production stops, and sugar production keeps going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/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Nothing changes, because the two stages don't depend on each other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Quick check 7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40F"/>
                </a:solidFill>
              </a:rPr>
              <a:t>Answer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7 of 8: How the two stages work together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 plant is kept in bright light but sealed with no CO₂. What happens?</a:t>
            </a:r>
            <a:endParaRPr lang="en-US" sz="2400" dirty="0"/>
          </a:p>
        </p:txBody>
      </p:sp>
      <p:sp>
        <p:nvSpPr>
          <p:cNvPr id="7" name="option-A"/>
          <p:cNvSpPr/>
          <p:nvPr/>
        </p:nvSpPr>
        <p:spPr>
          <a:xfrm>
            <a:off x="548640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8" name="badge-A"/>
          <p:cNvSpPr/>
          <p:nvPr/>
        </p:nvSpPr>
        <p:spPr>
          <a:xfrm>
            <a:off x="731520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The plant makes glucose faster because it has more light</a:t>
            </a:r>
            <a:endParaRPr lang="en-US" sz="1800" dirty="0"/>
          </a:p>
        </p:txBody>
      </p:sp>
      <p:sp>
        <p:nvSpPr>
          <p:cNvPr id="11" name="option-B"/>
          <p:cNvSpPr/>
          <p:nvPr/>
        </p:nvSpPr>
        <p:spPr>
          <a:xfrm>
            <a:off x="6153912" y="2743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73A2A"/>
          </a:solidFill>
          <a:ln w="28575">
            <a:solidFill>
              <a:srgbClr val="4ADE80"/>
            </a:solidFill>
            <a:prstDash val="solid"/>
          </a:ln>
        </p:spPr>
      </p:sp>
      <p:sp>
        <p:nvSpPr>
          <p:cNvPr id="12" name="badge-B"/>
          <p:cNvSpPr/>
          <p:nvPr/>
        </p:nvSpPr>
        <p:spPr>
          <a:xfrm>
            <a:off x="6336792" y="2985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6792" y="2985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240F"/>
                </a:solidFill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76872" y="2743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Sugar production stops, ATP and NADPH pile up, and then the light-dependent reactions slow down</a:t>
            </a:r>
            <a:endParaRPr lang="en-US" sz="1800" dirty="0"/>
          </a:p>
        </p:txBody>
      </p:sp>
      <p:sp>
        <p:nvSpPr>
          <p:cNvPr id="15" name="option-C"/>
          <p:cNvSpPr/>
          <p:nvPr/>
        </p:nvSpPr>
        <p:spPr>
          <a:xfrm>
            <a:off x="548640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6" name="badge-C"/>
          <p:cNvSpPr/>
          <p:nvPr/>
        </p:nvSpPr>
        <p:spPr>
          <a:xfrm>
            <a:off x="731520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Only oxygen production stops, and sugar production keeps going</a:t>
            </a:r>
            <a:endParaRPr lang="en-US" sz="1800" dirty="0"/>
          </a:p>
        </p:txBody>
      </p:sp>
      <p:sp>
        <p:nvSpPr>
          <p:cNvPr id="19" name="option-D"/>
          <p:cNvSpPr/>
          <p:nvPr/>
        </p:nvSpPr>
        <p:spPr>
          <a:xfrm>
            <a:off x="6153912" y="3886200"/>
            <a:ext cx="5486400" cy="960120"/>
          </a:xfrm>
          <a:prstGeom prst="roundRect">
            <a:avLst>
              <a:gd name="adj" fmla="val 11429"/>
            </a:avLst>
          </a:prstGeom>
          <a:solidFill>
            <a:srgbClr val="1D3429">
              <a:alpha val="55000"/>
            </a:srgbClr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0" name="badge-D"/>
          <p:cNvSpPr/>
          <p:nvPr/>
        </p:nvSpPr>
        <p:spPr>
          <a:xfrm>
            <a:off x="6336792" y="412851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4402F">
              <a:alpha val="55000"/>
            </a:srgbClr>
          </a:solidFill>
          <a:ln w="12700">
            <a:solidFill>
              <a:srgbClr val="24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36792" y="41285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>
                    <a:alpha val="60000"/>
                  </a:schemeClr>
                </a:solidFill>
              </a:rPr>
              <a:t>D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38862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Nothing changes, because the two stages don't depend on each other</a:t>
            </a:r>
            <a:endParaRPr lang="en-US" sz="1800" dirty="0"/>
          </a:p>
        </p:txBody>
      </p:sp>
      <p:sp>
        <p:nvSpPr>
          <p:cNvPr id="23" name="why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10261C"/>
          </a:solidFill>
          <a:ln w="12700">
            <a:solidFill>
              <a:srgbClr val="2E6B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51206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DE80"/>
                </a:solidFill>
              </a:rPr>
              <a:t>Correct: B.</a:t>
            </a:r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 Without CO₂ the Calvin cycle can't build sugar or empty the carriers, so stage 1 slows down too.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tile"/>
          <p:cNvSpPr/>
          <p:nvPr/>
        </p:nvSpPr>
        <p:spPr>
          <a:xfrm>
            <a:off x="914400" y="1463040"/>
            <a:ext cx="2103120" cy="2377440"/>
          </a:xfrm>
          <a:prstGeom prst="roundRect">
            <a:avLst>
              <a:gd name="adj" fmla="val 7826"/>
            </a:avLst>
          </a:prstGeom>
          <a:solidFill>
            <a:srgbClr val="1F4A33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78992" y="158191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8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2735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Final check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0" y="13716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Section 8 of 8, about 10 minutes</a:t>
            </a:r>
            <a:endParaRPr lang="en-US" sz="1800" dirty="0"/>
          </a:p>
        </p:txBody>
      </p:sp>
      <p:sp>
        <p:nvSpPr>
          <p:cNvPr id="7" name="Text 0"/>
          <p:cNvSpPr/>
          <p:nvPr>
            <p:ph idx="100" type="title" hasCustomPrompt="1"/>
          </p:nvPr>
        </p:nvSpPr>
        <p:spPr>
          <a:xfrm>
            <a:off x="365760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Final check</a:t>
            </a:r>
            <a:endParaRPr lang="en-US" sz="3800" dirty="0"/>
          </a:p>
        </p:txBody>
      </p:sp>
      <p:sp>
        <p:nvSpPr>
          <p:cNvPr id="8" name="tag"/>
          <p:cNvSpPr/>
          <p:nvPr/>
        </p:nvSpPr>
        <p:spPr>
          <a:xfrm>
            <a:off x="3657600" y="3456432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9" name="tag-text"/>
          <p:cNvSpPr txBox="1"/>
          <p:nvPr/>
        </p:nvSpPr>
        <p:spPr>
          <a:xfrm>
            <a:off x="3657600" y="3456432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Review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45736" y="3429000"/>
            <a:ext cx="677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The big picture</a:t>
            </a:r>
            <a:endParaRPr lang="en-US" sz="1700" dirty="0"/>
          </a:p>
        </p:txBody>
      </p:sp>
      <p:sp>
        <p:nvSpPr>
          <p:cNvPr id="11" name="tag"/>
          <p:cNvSpPr/>
          <p:nvPr/>
        </p:nvSpPr>
        <p:spPr>
          <a:xfrm>
            <a:off x="3657600" y="3913632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B996FF"/>
          </a:solidFill>
          <a:ln w="12700">
            <a:solidFill>
              <a:srgbClr val="B996FF"/>
            </a:solidFill>
            <a:prstDash val="solid"/>
          </a:ln>
        </p:spPr>
      </p:sp>
      <p:sp>
        <p:nvSpPr>
          <p:cNvPr id="12" name="tag-text"/>
          <p:cNvSpPr txBox="1"/>
          <p:nvPr/>
        </p:nvSpPr>
        <p:spPr>
          <a:xfrm>
            <a:off x="3657600" y="3913632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F3A"/>
                </a:solidFill>
              </a:rPr>
              <a:t>Final check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80076" y="3886200"/>
            <a:ext cx="6341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How the final check works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big picture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905256" cy="310896"/>
          </a:xfrm>
          <a:prstGeom prst="roundRect">
            <a:avLst>
              <a:gd name="adj" fmla="val 50000"/>
            </a:avLst>
          </a:prstGeom>
          <a:solidFill>
            <a:srgbClr val="26473A"/>
          </a:solidFill>
          <a:ln w="12700">
            <a:solidFill>
              <a:srgbClr val="26473A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D8"/>
                </a:solidFill>
              </a:rPr>
              <a:t>Review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8 of 8: Final check</a:t>
            </a:r>
            <a:endParaRPr lang="en-US" sz="1200" dirty="0"/>
          </a:p>
        </p:txBody>
      </p:sp>
      <p:sp>
        <p:nvSpPr>
          <p:cNvPr id="6" name="big-picture-step"/>
          <p:cNvSpPr/>
          <p:nvPr/>
        </p:nvSpPr>
        <p:spPr>
          <a:xfrm>
            <a:off x="548640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7" name="step-number"/>
          <p:cNvSpPr/>
          <p:nvPr/>
        </p:nvSpPr>
        <p:spPr>
          <a:xfrm>
            <a:off x="73152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F00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Light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3832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Pigments absorb violet-blue and red light; green is reflected.</a:t>
            </a:r>
            <a:endParaRPr lang="en-US" sz="1600" dirty="0"/>
          </a:p>
        </p:txBody>
      </p:sp>
      <p:sp>
        <p:nvSpPr>
          <p:cNvPr id="11" name="arrow-marker"/>
          <p:cNvSpPr/>
          <p:nvPr/>
        </p:nvSpPr>
        <p:spPr>
          <a:xfrm rot="5400000">
            <a:off x="3182112" y="3529584"/>
            <a:ext cx="182880" cy="146304"/>
          </a:xfrm>
          <a:prstGeom prst="triangle">
            <a:avLst/>
          </a:prstGeom>
          <a:solidFill>
            <a:srgbClr val="3A5E4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2" name="big-picture-step"/>
          <p:cNvSpPr/>
          <p:nvPr/>
        </p:nvSpPr>
        <p:spPr>
          <a:xfrm>
            <a:off x="3376879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3" name="step-number"/>
          <p:cNvSpPr/>
          <p:nvPr/>
        </p:nvSpPr>
        <p:spPr>
          <a:xfrm>
            <a:off x="3559759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59759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F00"/>
                </a:solidFill>
              </a:rPr>
              <a:t>2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3559759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Stage 1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559759" y="33832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thylakoids: light splits water, releases O₂, and charges ATP and NADPH.</a:t>
            </a:r>
            <a:endParaRPr lang="en-US" sz="1600" dirty="0"/>
          </a:p>
        </p:txBody>
      </p:sp>
      <p:sp>
        <p:nvSpPr>
          <p:cNvPr id="17" name="arrow-marker"/>
          <p:cNvSpPr/>
          <p:nvPr/>
        </p:nvSpPr>
        <p:spPr>
          <a:xfrm rot="5400000">
            <a:off x="6010351" y="3529584"/>
            <a:ext cx="182880" cy="146304"/>
          </a:xfrm>
          <a:prstGeom prst="triangle">
            <a:avLst/>
          </a:prstGeom>
          <a:solidFill>
            <a:srgbClr val="3A5E4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18" name="big-picture-step"/>
          <p:cNvSpPr/>
          <p:nvPr/>
        </p:nvSpPr>
        <p:spPr>
          <a:xfrm>
            <a:off x="6205118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9" name="step-number"/>
          <p:cNvSpPr/>
          <p:nvPr/>
        </p:nvSpPr>
        <p:spPr>
          <a:xfrm>
            <a:off x="6387998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8799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F00"/>
                </a:solidFill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87998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Stage 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87998" y="33832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stroma: ATP and NADPH + CO₂ → glucose. ADP and NADP⁺ go back.</a:t>
            </a:r>
            <a:endParaRPr lang="en-US" sz="1600" dirty="0"/>
          </a:p>
        </p:txBody>
      </p:sp>
      <p:sp>
        <p:nvSpPr>
          <p:cNvPr id="23" name="arrow-marker"/>
          <p:cNvSpPr/>
          <p:nvPr/>
        </p:nvSpPr>
        <p:spPr>
          <a:xfrm rot="5400000">
            <a:off x="8838590" y="3529584"/>
            <a:ext cx="182880" cy="146304"/>
          </a:xfrm>
          <a:prstGeom prst="triangle">
            <a:avLst/>
          </a:prstGeom>
          <a:solidFill>
            <a:srgbClr val="3A5E4C"/>
          </a:solidFill>
          <a:ln w="12700">
            <a:solidFill>
              <a:srgbClr val="3A5E4C"/>
            </a:solidFill>
            <a:prstDash val="solid"/>
          </a:ln>
        </p:spPr>
      </p:sp>
      <p:sp>
        <p:nvSpPr>
          <p:cNvPr id="24" name="big-picture-step"/>
          <p:cNvSpPr/>
          <p:nvPr/>
        </p:nvSpPr>
        <p:spPr>
          <a:xfrm>
            <a:off x="9033358" y="182880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25" name="step-number"/>
          <p:cNvSpPr/>
          <p:nvPr/>
        </p:nvSpPr>
        <p:spPr>
          <a:xfrm>
            <a:off x="9216238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1623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F00"/>
                </a:solidFill>
              </a:rPr>
              <a:t>4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216238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Connected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216238" y="33832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either stage stops, the other soon stops too.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315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How the final check works</a:t>
            </a:r>
            <a:endParaRPr lang="en-US" sz="3000" dirty="0"/>
          </a:p>
        </p:txBody>
      </p:sp>
      <p:sp>
        <p:nvSpPr>
          <p:cNvPr id="3" name="tag"/>
          <p:cNvSpPr/>
          <p:nvPr/>
        </p:nvSpPr>
        <p:spPr>
          <a:xfrm>
            <a:off x="548640" y="329184"/>
            <a:ext cx="1339596" cy="310896"/>
          </a:xfrm>
          <a:prstGeom prst="roundRect">
            <a:avLst>
              <a:gd name="adj" fmla="val 50000"/>
            </a:avLst>
          </a:prstGeom>
          <a:solidFill>
            <a:srgbClr val="B996FF"/>
          </a:solidFill>
          <a:ln w="12700">
            <a:solidFill>
              <a:srgbClr val="B996FF"/>
            </a:solidFill>
            <a:prstDash val="solid"/>
          </a:ln>
        </p:spPr>
      </p:sp>
      <p:sp>
        <p:nvSpPr>
          <p:cNvPr id="4" name="tag-text"/>
          <p:cNvSpPr txBox="1"/>
          <p:nvPr/>
        </p:nvSpPr>
        <p:spPr>
          <a:xfrm>
            <a:off x="548640" y="329184"/>
            <a:ext cx="13395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0F3A"/>
                </a:solidFill>
              </a:rPr>
              <a:t>Final check</a:t>
            </a:r>
            <a:endParaRPr lang="en-US" sz="1200" dirty="0"/>
          </a:p>
        </p:txBody>
      </p:sp>
      <p:sp>
        <p:nvSpPr>
          <p:cNvPr id="5" name="section-label"/>
          <p:cNvSpPr txBox="1"/>
          <p:nvPr/>
        </p:nvSpPr>
        <p:spPr>
          <a:xfrm>
            <a:off x="6153912" y="32918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Section 8 of 8: Final check</a:t>
            </a:r>
            <a:endParaRPr lang="en-US" sz="1200" dirty="0"/>
          </a:p>
        </p:txBody>
      </p:sp>
      <p:sp>
        <p:nvSpPr>
          <p:cNvPr id="6" name="stat"/>
          <p:cNvSpPr/>
          <p:nvPr/>
        </p:nvSpPr>
        <p:spPr>
          <a:xfrm>
            <a:off x="548640" y="16916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questions, picked at random</a:t>
            </a:r>
            <a:endParaRPr lang="en-US" sz="1600" dirty="0"/>
          </a:p>
        </p:txBody>
      </p:sp>
      <p:sp>
        <p:nvSpPr>
          <p:cNvPr id="9" name="stat"/>
          <p:cNvSpPr/>
          <p:nvPr/>
        </p:nvSpPr>
        <p:spPr>
          <a:xfrm>
            <a:off x="4306824" y="16916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06824" y="178308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6 + 2 + 2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489704" y="2788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multiple choice, two-part, select-all</a:t>
            </a:r>
            <a:endParaRPr lang="en-US" sz="1600" dirty="0"/>
          </a:p>
        </p:txBody>
      </p:sp>
      <p:sp>
        <p:nvSpPr>
          <p:cNvPr id="12" name="stat"/>
          <p:cNvSpPr/>
          <p:nvPr/>
        </p:nvSpPr>
        <p:spPr>
          <a:xfrm>
            <a:off x="8065008" y="1691640"/>
            <a:ext cx="3575304" cy="1828800"/>
          </a:xfrm>
          <a:prstGeom prst="roundRect">
            <a:avLst>
              <a:gd name="adj" fmla="val 6000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65008" y="178308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5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80%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788920"/>
            <a:ext cx="3209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needed to pass</a:t>
            </a:r>
            <a:endParaRPr lang="en-US" sz="1600" dirty="0"/>
          </a:p>
        </p:txBody>
      </p:sp>
      <p:sp>
        <p:nvSpPr>
          <p:cNvPr id="15" name="rules"/>
          <p:cNvSpPr/>
          <p:nvPr/>
        </p:nvSpPr>
        <p:spPr>
          <a:xfrm>
            <a:off x="548640" y="3749040"/>
            <a:ext cx="11091672" cy="2377440"/>
          </a:xfrm>
          <a:prstGeom prst="roundRect">
            <a:avLst>
              <a:gd name="adj" fmla="val 4615"/>
            </a:avLst>
          </a:prstGeom>
          <a:solidFill>
            <a:srgbClr val="1D3429"/>
          </a:solidFill>
          <a:ln w="12700">
            <a:solidFill>
              <a:srgbClr val="2C4A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886200"/>
            <a:ext cx="10607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Two-part and select-all questions give partial credit.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You won't see right or wrong until you submit. If you don't pass, you get new questions; after 3 tries, a quick review comes first.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The lesson runs in full screen. Leaving the page locks it until your teacher unlocks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otosynthesis">
  <a:themeElements>
    <a:clrScheme name="Photosynthesis">
      <a:dk1>
        <a:srgbClr val="E7F1EA"/>
      </a:dk1>
      <a:lt1>
        <a:srgbClr val="0E1B16"/>
      </a:lt1>
      <a:dk2>
        <a:srgbClr val="A3BCAD"/>
      </a:dk2>
      <a:lt2>
        <a:srgbClr val="172B23"/>
      </a:lt2>
      <a:accent1>
        <a:srgbClr val="FFD166"/>
      </a:accent1>
      <a:accent2>
        <a:srgbClr val="FF9D5C"/>
      </a:accent2>
      <a:accent3>
        <a:srgbClr val="5FD3FF"/>
      </a:accent3>
      <a:accent4>
        <a:srgbClr val="C79BFF"/>
      </a:accent4>
      <a:accent5>
        <a:srgbClr val="62C983"/>
      </a:accent5>
      <a:accent6>
        <a:srgbClr val="FFB347"/>
      </a:accent6>
      <a:hlink>
        <a:srgbClr val="5FD3FF"/>
      </a:hlink>
      <a:folHlink>
        <a:srgbClr val="C79BFF"/>
      </a:folHlink>
    </a:clrScheme>
    <a:fontScheme name="Photosynthesis">
      <a:majorFont>
        <a:latin typeface="Lexe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74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Photosynthesis: Light, Pigments, and the Two Stages</dc:title>
  <dc:subject>PptxGenJS Presentation</dc:subject>
  <dc:creator>Biology Unit 2</dc:creator>
  <cp:lastModifiedBy>Biology Unit 2</cp:lastModifiedBy>
  <cp:revision>1</cp:revision>
  <dcterms:created xsi:type="dcterms:W3CDTF">2026-10-19T19:57:32Z</dcterms:created>
  <dcterms:modified xsi:type="dcterms:W3CDTF">2026-10-19T19:57:32Z</dcterms:modified>
</cp:coreProperties>
</file>