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notesMasterIdLst>
    <p:notesMasterId r:id="rId6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2b66f922-fe26-184a-860d-b0fd2692eda5}">
          <p14:sldIdLst/>
        </p14:section>
        <p14:section name="Default-1" id="{e2ceef23-1f12-d6e8-72d5-ed6e6f5bfe97}">
          <p14:sldIdLst>
            <p14:sldId id="256"/>
          </p14:sldIdLst>
        </p14:section>
        <p14:section name="1 Energy" id="{8aa6b297-2396-4be0-4f9f-690b15655d90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2 Mitochondria" id="{fa5eab7b-9efa-1bad-a3d5-58148e940132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3 Glycolysis" id="{229d02ee-934d-4683-6695-b82e7707b117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4 Krebs" id="{e2623fec-6e03-6a50-e9de-ca2d2b238d36}">
          <p14:sldIdLst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5 ETC" id="{4fd21f99-4e39-2b3e-d46c-b5539448a604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6 Fermentation" id="{2234edb8-2775-c996-0137-79f177a8f300}">
          <p14:sldIdLst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7 Aerobic vs anaerobic" id="{a208f333-cb42-931c-dbf4-6f1f4e7c7c7e}">
          <p14:sldIdLst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</p14:sldIdLst>
        </p14:section>
        <p14:section name="8 Spot the mistake" id="{eb44d243-9865-0e41-7a05-c9fc2e8db222}">
          <p14:sldIdLst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</p14:sldIdLst>
        </p14:section>
        <p14:section name="9 Final check" id="{7874d423-c56d-cba2-01a2-8174e613f6e1}">
          <p14:sldIdLst>
            <p14:sldId id="318"/>
            <p14:sldId id="31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work through the lesson on their Chromebooks (about 40 minutes). Use this deck to go through it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what changes as exercise gets harder? Students try Rest, Jog, and Sprint in the lesson, then write a first idea. Don't explain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opposite of photosynthesis.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sort in the lesson. Ask a few for their reasoning ("does it tell you which way?") before showing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Sunlight and chlorophyll belong to photosynthesis. Cells respire in the dark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commit to a letter before advancing to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To make ATP the cell can use for energy. Respiration breaks down glucose to make ATP. Why not the others: "To make glucose from sunlight": That is photosynthesis. "To make oxygen for the air": Respiration uses oxygen. "To store water": Water is a product, not the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1 is outside the mitochondrion; stages 2 and 3 are inside.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label spots 1–4 in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outer membrane, 2 inner membrane (folds), 3 matrix, 4 cytoplasm. The folds give more surface for making ATP.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commit to a letter before advancing to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The folds give more surface, so there's room to make more ATP. More folds, more ETCs, more ATP. Why not the others: "The folds store glucose": Glucose isn't stored there. "The folds keep oxygen out": Oxygen is needed inside. "The folds are where glycolysis happens": Glycolysis is in the cytoplasm.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Glycolysis is the only stage that works without oxygen.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sort in the lesson. Ask a few for their reasoning ("does it tell you which way?") before showing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Glucose in; 2 pyruvate, 2 ATP, NADH out. No oxygen; CO₂ comes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commit to a letter before advancing to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2. Glycolysis makes 2 ATP. Why not the others: "0": It does make some. "About 32": That is the ETC. "About 36": That is the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breathing out CO2.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sort in the lesson. Ask a few for their reasoning ("does it tell you which way?") before showing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Pyruvate in; CO₂, 2 ATP, electron carriers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commit to a letter before advancing to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Carbon dioxide. The carbon from pyruvate leaves as CO₂. Why not the others: "Oxygen": Oxygen is used, not released. "Nitrogen": Not part of respiration. "Water vapor": Water is made in the ETC.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Oxygen is the final electron acceptor.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sort in the lesson. Ask a few for their reasoning ("does it tell you which way?") before showing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Electron carriers + oxygen in; water + about 32 ATP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many ATP does each stage make?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+ 2 + about 32 = about 36 ATP per glucose with oxygen.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commit to a letter before advancing to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It catches the electrons at the end and forms water. Oxygen is the final electron catcher. Why not the others: "It splits glucose": Glycolysis splits glucose. "It carries electrons from glycolysis": NADH and FADH₂ carry electrons. "It is released as a waste gas": CO₂ is the waste 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glycolysis keeps going; fermentation adds no extra ATP.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sort in the lesson. Ask a few for their reasoning ("does it tell you which way?") before showing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Muscles and yogurt: lactic acid. Yeast and bread: alcohol + CO₂.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commit to a letter before advancing to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2. Only the 2 ATP from glycolysis. Why not the others: "About 36": That needs oxygen. "About 32": That is the ETC. "0": Glycolysis still makes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start with glucose and glycolysis.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stages run: about 36 ATP.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Krebs and the ETC stop; only glycolysis + fermentation run: 2 ATP.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sort in the lesson. Ask a few for their reasoning ("does it tell you which way?") before showing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start with glucose and glycolysis; only aerobic uses oxygen and the mitochondria.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commit to a letter before advancing to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The Krebs cycle and the electron transport chain. Without oxygen the ETC stops, and Krebs stops with it. Why not the others: "Only glycolysis": Glycolysis keeps running. "All three stages": Glycolysis keeps running with fermentation. "None of them": The ETC needs oxygen.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commit to a letter before advancing to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The gas released is wrong. The Krebs cycle releases carbon dioxide, not oxygen. Why not the others: "The Krebs cycle doesn't break down pyruvate": It does break down pyruvate. "We don't breathe out anything": We breathe out CO₂. "The Krebs cycle happens in the cytoplasm": Sam didn't say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commit to a letter before advancing to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Carbon dioxide (CO_{2}). The carbon from pyruvate leaves as CO₂.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commit to a letter before advancing to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The ETC stops without oxygen, so the cell only gets 2 ATP. Without oxygen only glycolysis runs, with fermentation. Why not the others: "Fermentation needs oxygen": Fermentation happens without oxygen. "Cells die right away without oxygen": Cells survive a while with fermentation. "Glycolysis stops without oxygen": Glycolysis keeps going.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commit to a letter before advancing to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2. Only the 2 ATP from glycolysis.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reread their first idea before answering.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commit to a letter before advancing to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To bring in more oxygen for the electron transport chain and get rid of the extra CO_{2} from the Krebs cycle. Working muscles need more ATP; the ETC needs oxygen to make it, and the Krebs cycle makes more CO₂. Why not the others: "To bring in more glucose through the lungs": Glucose comes from food. "To breathe out extra oxygen the muscles made": Muscles use oxygen. "Because glycolysis needs oxygen": Glycolysis doesn't need oxygen.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commit to a letter before advancing to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The muscles run low on oxygen and switch to lactic acid fermentation. Lactic acid fermentation helps cause the burn. Why not the others: "The muscles make too much oxygen": Muscles use oxygen. "The Krebs cycle makes lactic acid": Lactic acid comes from fermentation. "The muscles stop doing glycolysis": Glycolysis keeps going.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take the 10-question final check in the lesson (8 of 10 to pass). It is not shown on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DIVIDER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64008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6400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114800" y="2240280"/>
            <a:ext cx="74980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114800" y="2788920"/>
            <a:ext cx="74980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Cellular Respiration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tx1"/>
                </a:solidFill>
              </a:rPr>
              <a:t>Cellular Respiration</a:t>
            </a: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Biology · Unit 2: Energy Flow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How cells turn food into ATP</a:t>
            </a:r>
            <a:endParaRPr lang="en-US" sz="2000" dirty="0"/>
          </a:p>
        </p:txBody>
      </p:sp>
      <p:pic>
        <p:nvPicPr>
          <p:cNvPr id="4" name="Image 0" descr="Map of cellular respi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858913"/>
            <a:ext cx="4480560" cy="25000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le Energy"/>
          <p:cNvSpPr/>
          <p:nvPr/>
        </p:nvSpPr>
        <p:spPr>
          <a:xfrm>
            <a:off x="1097280" y="1783080"/>
            <a:ext cx="2377440" cy="2615184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4445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63701" y="1901952"/>
            <a:ext cx="9509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40" dirty="0">
                <a:solidFill>
                  <a:schemeClr val="tx2"/>
                </a:solidFill>
              </a:rPr>
              <a:t>1</a:t>
            </a:r>
            <a:endParaRPr lang="en-US" sz="2340" dirty="0"/>
          </a:p>
        </p:txBody>
      </p:sp>
      <p:pic>
        <p:nvPicPr>
          <p:cNvPr id="4" name="Image 0" descr="Energ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258568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3637483"/>
            <a:ext cx="23774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chemeClr val="tx2"/>
                </a:solidFill>
              </a:rPr>
              <a:t>Energy</a:t>
            </a:r>
            <a:endParaRPr lang="en-US" sz="1950" dirty="0"/>
          </a:p>
        </p:txBody>
      </p:sp>
      <p:sp>
        <p:nvSpPr>
          <p:cNvPr id="6" name="Text 0"/>
          <p:cNvSpPr/>
          <p:nvPr>
            <p:ph idx="100" type="body" hasCustomPrompt="1"/>
          </p:nvPr>
        </p:nvSpPr>
        <p:spPr>
          <a:xfrm>
            <a:off x="4114800" y="2240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Section 1 of 9 · about 6 min</a:t>
            </a:r>
            <a:endParaRPr lang="en-US" sz="20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4114800" y="27889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Why cells need energy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Phenomenon: out of breath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676656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1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Read</a:t>
            </a:r>
            <a:endParaRPr lang="en-US" sz="1300" dirty="0"/>
          </a:p>
        </p:txBody>
      </p:sp>
      <p:pic>
        <p:nvPicPr>
          <p:cNvPr id="6" name="Image 0" descr="A runner sprinting: 45 breaths per minute, high CO2 breathed out, oxygen to the legs running low, strong leg bur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6470" y="1600200"/>
            <a:ext cx="8728581" cy="3657600"/>
          </a:xfrm>
          <a:prstGeom prst="rect">
            <a:avLst/>
          </a:prstGeom>
        </p:spPr>
      </p:pic>
      <p:sp>
        <p:nvSpPr>
          <p:cNvPr id="7" name="panel"/>
          <p:cNvSpPr/>
          <p:nvPr/>
        </p:nvSpPr>
        <p:spPr>
          <a:xfrm>
            <a:off x="548640" y="539496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49808" y="5504688"/>
            <a:ext cx="1066190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Your first idea: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why do we breathe harder when we exercise, and why do the legs burn?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ATP: the energy cells spend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676656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1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Read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Cells can't use the energy in food directly. They store it in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ATP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, a small molecule they "spend."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Cellular respiration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breaks down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glucose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to make ATP, in almost every living cell, plants and animals.</a:t>
            </a:r>
            <a:endParaRPr lang="en-US" sz="2000" dirty="0"/>
          </a:p>
        </p:txBody>
      </p:sp>
      <p:sp>
        <p:nvSpPr>
          <p:cNvPr id="7" name="panel"/>
          <p:cNvSpPr/>
          <p:nvPr/>
        </p:nvSpPr>
        <p:spPr>
          <a:xfrm>
            <a:off x="1463040" y="3931920"/>
            <a:ext cx="923544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463040" y="3931920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glucose + oxygen → carbon dioxide + water + ATP</a:t>
            </a:r>
            <a:endParaRPr lang="en-US" sz="2200" dirty="0"/>
          </a:p>
        </p:txBody>
      </p:sp>
      <p:sp>
        <p:nvSpPr>
          <p:cNvPr id="9" name="panel"/>
          <p:cNvSpPr/>
          <p:nvPr/>
        </p:nvSpPr>
        <p:spPr>
          <a:xfrm>
            <a:off x="1463040" y="4663440"/>
            <a:ext cx="923544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463040" y="4663440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</a:t>
            </a:r>
            <a:pPr algn="ctr" indent="0" marL="0">
              <a:buNone/>
            </a:pPr>
            <a:r>
              <a:rPr lang="en-US" sz="2200" baseline="-40000" dirty="0">
                <a:solidFill>
                  <a:schemeClr val="tx1"/>
                </a:solidFill>
              </a:rPr>
              <a:t>6</a:t>
            </a:r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H</a:t>
            </a:r>
            <a:pPr algn="ctr" indent="0" marL="0">
              <a:buNone/>
            </a:pPr>
            <a:r>
              <a:rPr lang="en-US" sz="2200" baseline="-40000" dirty="0">
                <a:solidFill>
                  <a:schemeClr val="tx1"/>
                </a:solidFill>
              </a:rPr>
              <a:t>12</a:t>
            </a:r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O</a:t>
            </a:r>
            <a:pPr algn="ctr" indent="0" marL="0">
              <a:buNone/>
            </a:pPr>
            <a:r>
              <a:rPr lang="en-US" sz="2200" baseline="-40000" dirty="0">
                <a:solidFill>
                  <a:schemeClr val="tx1"/>
                </a:solidFill>
              </a:rPr>
              <a:t>6</a:t>
            </a:r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 + 6O</a:t>
            </a:r>
            <a:pPr algn="ctr" indent="0" marL="0">
              <a:buNone/>
            </a:pPr>
            <a:r>
              <a:rPr lang="en-US" sz="2200" baseline="-40000" dirty="0">
                <a:solidFill>
                  <a:schemeClr val="tx1"/>
                </a:solidFill>
              </a:rPr>
              <a:t>2</a:t>
            </a:r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 → 6CO</a:t>
            </a:r>
            <a:pPr algn="ctr" indent="0" marL="0">
              <a:buNone/>
            </a:pPr>
            <a:r>
              <a:rPr lang="en-US" sz="2200" baseline="-40000" dirty="0">
                <a:solidFill>
                  <a:schemeClr val="tx1"/>
                </a:solidFill>
              </a:rPr>
              <a:t>2</a:t>
            </a:r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 + 6H</a:t>
            </a:r>
            <a:pPr algn="ctr" indent="0" marL="0">
              <a:buNone/>
            </a:pPr>
            <a:r>
              <a:rPr lang="en-US" sz="2200" baseline="-40000" dirty="0">
                <a:solidFill>
                  <a:schemeClr val="tx1"/>
                </a:solidFill>
              </a:rPr>
              <a:t>2</a:t>
            </a:r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O + ATP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Try it: in or out?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Try it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Does it go in, come out, or is it not part of respiration?</a:t>
            </a:r>
            <a:endParaRPr lang="en-US" sz="1800" dirty="0"/>
          </a:p>
        </p:txBody>
      </p:sp>
      <p:sp>
        <p:nvSpPr>
          <p:cNvPr id="7" name="panel"/>
          <p:cNvSpPr/>
          <p:nvPr/>
        </p:nvSpPr>
        <p:spPr>
          <a:xfrm>
            <a:off x="548640" y="2103120"/>
            <a:ext cx="1106424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8" name="chip"/>
          <p:cNvSpPr/>
          <p:nvPr/>
        </p:nvSpPr>
        <p:spPr>
          <a:xfrm>
            <a:off x="731520" y="2240280"/>
            <a:ext cx="1011326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240280"/>
            <a:ext cx="10113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Glucose</a:t>
            </a:r>
            <a:endParaRPr lang="en-US" sz="1500" dirty="0"/>
          </a:p>
        </p:txBody>
      </p:sp>
      <p:sp>
        <p:nvSpPr>
          <p:cNvPr id="10" name="chip"/>
          <p:cNvSpPr/>
          <p:nvPr/>
        </p:nvSpPr>
        <p:spPr>
          <a:xfrm>
            <a:off x="1870862" y="2240280"/>
            <a:ext cx="1638605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870862" y="2240280"/>
            <a:ext cx="1638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Oxygen (O</a:t>
            </a:r>
            <a:pPr algn="ctr" indent="0" marL="0">
              <a:buNone/>
            </a:pPr>
            <a:r>
              <a:rPr lang="en-US" sz="1500" baseline="-40000" dirty="0">
                <a:solidFill>
                  <a:schemeClr val="tx1"/>
                </a:solidFill>
              </a:rPr>
              <a:t>2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)</a:t>
            </a:r>
            <a:endParaRPr lang="en-US" sz="1500" dirty="0"/>
          </a:p>
        </p:txBody>
      </p:sp>
      <p:sp>
        <p:nvSpPr>
          <p:cNvPr id="12" name="chip"/>
          <p:cNvSpPr/>
          <p:nvPr/>
        </p:nvSpPr>
        <p:spPr>
          <a:xfrm>
            <a:off x="3637483" y="2240280"/>
            <a:ext cx="2445106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37483" y="2240280"/>
            <a:ext cx="24451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Carbon dioxide (CO</a:t>
            </a:r>
            <a:pPr algn="ctr" indent="0" marL="0">
              <a:buNone/>
            </a:pPr>
            <a:r>
              <a:rPr lang="en-US" sz="1500" baseline="-40000" dirty="0">
                <a:solidFill>
                  <a:schemeClr val="tx1"/>
                </a:solidFill>
              </a:rPr>
              <a:t>2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)</a:t>
            </a:r>
            <a:endParaRPr lang="en-US" sz="1500" dirty="0"/>
          </a:p>
        </p:txBody>
      </p:sp>
      <p:sp>
        <p:nvSpPr>
          <p:cNvPr id="14" name="chip"/>
          <p:cNvSpPr/>
          <p:nvPr/>
        </p:nvSpPr>
        <p:spPr>
          <a:xfrm>
            <a:off x="6210605" y="2240280"/>
            <a:ext cx="1638605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0605" y="2240280"/>
            <a:ext cx="1638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Water (H</a:t>
            </a:r>
            <a:pPr algn="ctr" indent="0" marL="0">
              <a:buNone/>
            </a:pPr>
            <a:r>
              <a:rPr lang="en-US" sz="1500" baseline="-40000" dirty="0">
                <a:solidFill>
                  <a:schemeClr val="tx1"/>
                </a:solidFill>
              </a:rPr>
              <a:t>2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O)</a:t>
            </a:r>
            <a:endParaRPr lang="en-US" sz="1500" dirty="0"/>
          </a:p>
        </p:txBody>
      </p:sp>
      <p:sp>
        <p:nvSpPr>
          <p:cNvPr id="16" name="chip"/>
          <p:cNvSpPr/>
          <p:nvPr/>
        </p:nvSpPr>
        <p:spPr>
          <a:xfrm>
            <a:off x="7977226" y="2240280"/>
            <a:ext cx="652882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77226" y="2240280"/>
            <a:ext cx="6528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ATP</a:t>
            </a:r>
            <a:endParaRPr lang="en-US" sz="1500" dirty="0"/>
          </a:p>
        </p:txBody>
      </p:sp>
      <p:sp>
        <p:nvSpPr>
          <p:cNvPr id="18" name="chip"/>
          <p:cNvSpPr/>
          <p:nvPr/>
        </p:nvSpPr>
        <p:spPr>
          <a:xfrm>
            <a:off x="8758123" y="2240280"/>
            <a:ext cx="1100938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758123" y="2240280"/>
            <a:ext cx="1100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Sunlight</a:t>
            </a:r>
            <a:endParaRPr lang="en-US" sz="1500" dirty="0"/>
          </a:p>
        </p:txBody>
      </p:sp>
      <p:sp>
        <p:nvSpPr>
          <p:cNvPr id="20" name="chip"/>
          <p:cNvSpPr/>
          <p:nvPr/>
        </p:nvSpPr>
        <p:spPr>
          <a:xfrm>
            <a:off x="9987077" y="2240280"/>
            <a:ext cx="1369771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987077" y="2240280"/>
            <a:ext cx="13697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Chlorophyll</a:t>
            </a:r>
            <a:endParaRPr lang="en-US" sz="1500" dirty="0"/>
          </a:p>
        </p:txBody>
      </p:sp>
      <p:sp>
        <p:nvSpPr>
          <p:cNvPr id="22" name="bin Goes in"/>
          <p:cNvSpPr/>
          <p:nvPr/>
        </p:nvSpPr>
        <p:spPr>
          <a:xfrm>
            <a:off x="548640" y="3749040"/>
            <a:ext cx="3535680" cy="2423160"/>
          </a:xfrm>
          <a:prstGeom prst="roundRect">
            <a:avLst>
              <a:gd name="adj" fmla="val 4528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tx2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731520" y="38587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Goes in</a:t>
            </a:r>
            <a:endParaRPr lang="en-US" sz="1900" dirty="0"/>
          </a:p>
        </p:txBody>
      </p:sp>
      <p:sp>
        <p:nvSpPr>
          <p:cNvPr id="24" name="bin Comes out"/>
          <p:cNvSpPr/>
          <p:nvPr/>
        </p:nvSpPr>
        <p:spPr>
          <a:xfrm>
            <a:off x="4312920" y="3749040"/>
            <a:ext cx="3535680" cy="2423160"/>
          </a:xfrm>
          <a:prstGeom prst="roundRect">
            <a:avLst>
              <a:gd name="adj" fmla="val 4528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tx2"/>
            </a:solidFill>
            <a:prstDash val="dash"/>
          </a:ln>
        </p:spPr>
      </p:sp>
      <p:sp>
        <p:nvSpPr>
          <p:cNvPr id="25" name="Text 22"/>
          <p:cNvSpPr txBox="1"/>
          <p:nvPr/>
        </p:nvSpPr>
        <p:spPr>
          <a:xfrm>
            <a:off x="4495800" y="38587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Comes out</a:t>
            </a:r>
            <a:endParaRPr lang="en-US" sz="1900" dirty="0"/>
          </a:p>
        </p:txBody>
      </p:sp>
      <p:sp>
        <p:nvSpPr>
          <p:cNvPr id="26" name="bin Not part of respiration"/>
          <p:cNvSpPr/>
          <p:nvPr/>
        </p:nvSpPr>
        <p:spPr>
          <a:xfrm>
            <a:off x="8077200" y="3749040"/>
            <a:ext cx="3535680" cy="2423160"/>
          </a:xfrm>
          <a:prstGeom prst="roundRect">
            <a:avLst>
              <a:gd name="adj" fmla="val 4528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tx2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8260080" y="38587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Not part of respiration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Try it: in or out?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Does it go in, come out, or is it not part of respiration?</a:t>
            </a:r>
            <a:endParaRPr lang="en-US" sz="1800" dirty="0"/>
          </a:p>
        </p:txBody>
      </p:sp>
      <p:sp>
        <p:nvSpPr>
          <p:cNvPr id="7" name="bin Goes in"/>
          <p:cNvSpPr/>
          <p:nvPr/>
        </p:nvSpPr>
        <p:spPr>
          <a:xfrm>
            <a:off x="548640" y="2148840"/>
            <a:ext cx="3535680" cy="4023360"/>
          </a:xfrm>
          <a:prstGeom prst="roundRect">
            <a:avLst>
              <a:gd name="adj" fmla="val 3103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31520" y="22585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Goes in</a:t>
            </a:r>
            <a:endParaRPr lang="en-US" sz="1900" dirty="0"/>
          </a:p>
        </p:txBody>
      </p:sp>
      <p:sp>
        <p:nvSpPr>
          <p:cNvPr id="9" name="chip"/>
          <p:cNvSpPr/>
          <p:nvPr/>
        </p:nvSpPr>
        <p:spPr>
          <a:xfrm>
            <a:off x="731520" y="2788920"/>
            <a:ext cx="1011326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788920"/>
            <a:ext cx="10113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Glucose</a:t>
            </a:r>
            <a:endParaRPr lang="en-US" sz="1500" dirty="0"/>
          </a:p>
        </p:txBody>
      </p:sp>
      <p:sp>
        <p:nvSpPr>
          <p:cNvPr id="11" name="chip"/>
          <p:cNvSpPr/>
          <p:nvPr/>
        </p:nvSpPr>
        <p:spPr>
          <a:xfrm>
            <a:off x="1870862" y="2788920"/>
            <a:ext cx="1638605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870862" y="2788920"/>
            <a:ext cx="1638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Oxygen (O</a:t>
            </a:r>
            <a:pPr algn="ctr" indent="0" marL="0">
              <a:buNone/>
            </a:pPr>
            <a:r>
              <a:rPr lang="en-US" sz="1500" baseline="-40000" dirty="0">
                <a:solidFill>
                  <a:schemeClr val="tx1"/>
                </a:solidFill>
              </a:rPr>
              <a:t>2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)</a:t>
            </a:r>
            <a:endParaRPr lang="en-US" sz="1500" dirty="0"/>
          </a:p>
        </p:txBody>
      </p:sp>
      <p:sp>
        <p:nvSpPr>
          <p:cNvPr id="13" name="bin Comes out"/>
          <p:cNvSpPr/>
          <p:nvPr/>
        </p:nvSpPr>
        <p:spPr>
          <a:xfrm>
            <a:off x="4312920" y="2148840"/>
            <a:ext cx="3535680" cy="4023360"/>
          </a:xfrm>
          <a:prstGeom prst="roundRect">
            <a:avLst>
              <a:gd name="adj" fmla="val 3103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4495800" y="22585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Comes out</a:t>
            </a:r>
            <a:endParaRPr lang="en-US" sz="1900" dirty="0"/>
          </a:p>
        </p:txBody>
      </p:sp>
      <p:sp>
        <p:nvSpPr>
          <p:cNvPr id="15" name="chip"/>
          <p:cNvSpPr/>
          <p:nvPr/>
        </p:nvSpPr>
        <p:spPr>
          <a:xfrm>
            <a:off x="4495800" y="2788920"/>
            <a:ext cx="2445106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95800" y="2788920"/>
            <a:ext cx="24451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Carbon dioxide (CO</a:t>
            </a:r>
            <a:pPr algn="ctr" indent="0" marL="0">
              <a:buNone/>
            </a:pPr>
            <a:r>
              <a:rPr lang="en-US" sz="1500" baseline="-40000" dirty="0">
                <a:solidFill>
                  <a:schemeClr val="tx1"/>
                </a:solidFill>
              </a:rPr>
              <a:t>2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)</a:t>
            </a:r>
            <a:endParaRPr lang="en-US" sz="1500" dirty="0"/>
          </a:p>
        </p:txBody>
      </p:sp>
      <p:sp>
        <p:nvSpPr>
          <p:cNvPr id="17" name="chip"/>
          <p:cNvSpPr/>
          <p:nvPr/>
        </p:nvSpPr>
        <p:spPr>
          <a:xfrm>
            <a:off x="4495800" y="3319272"/>
            <a:ext cx="1638605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495800" y="3319272"/>
            <a:ext cx="1638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Water (H</a:t>
            </a:r>
            <a:pPr algn="ctr" indent="0" marL="0">
              <a:buNone/>
            </a:pPr>
            <a:r>
              <a:rPr lang="en-US" sz="1500" baseline="-40000" dirty="0">
                <a:solidFill>
                  <a:schemeClr val="tx1"/>
                </a:solidFill>
              </a:rPr>
              <a:t>2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O)</a:t>
            </a:r>
            <a:endParaRPr lang="en-US" sz="1500" dirty="0"/>
          </a:p>
        </p:txBody>
      </p:sp>
      <p:sp>
        <p:nvSpPr>
          <p:cNvPr id="19" name="chip"/>
          <p:cNvSpPr/>
          <p:nvPr/>
        </p:nvSpPr>
        <p:spPr>
          <a:xfrm>
            <a:off x="6262421" y="3319272"/>
            <a:ext cx="652882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62421" y="3319272"/>
            <a:ext cx="6528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ATP</a:t>
            </a:r>
            <a:endParaRPr lang="en-US" sz="1500" dirty="0"/>
          </a:p>
        </p:txBody>
      </p:sp>
      <p:sp>
        <p:nvSpPr>
          <p:cNvPr id="21" name="bin Not part of respiration"/>
          <p:cNvSpPr/>
          <p:nvPr/>
        </p:nvSpPr>
        <p:spPr>
          <a:xfrm>
            <a:off x="8077200" y="2148840"/>
            <a:ext cx="3535680" cy="4023360"/>
          </a:xfrm>
          <a:prstGeom prst="roundRect">
            <a:avLst>
              <a:gd name="adj" fmla="val 3103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22" name="Text 19"/>
          <p:cNvSpPr txBox="1"/>
          <p:nvPr/>
        </p:nvSpPr>
        <p:spPr>
          <a:xfrm>
            <a:off x="8260080" y="22585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Not part of respiration</a:t>
            </a:r>
            <a:endParaRPr lang="en-US" sz="1900" dirty="0"/>
          </a:p>
        </p:txBody>
      </p:sp>
      <p:sp>
        <p:nvSpPr>
          <p:cNvPr id="23" name="chip"/>
          <p:cNvSpPr/>
          <p:nvPr/>
        </p:nvSpPr>
        <p:spPr>
          <a:xfrm>
            <a:off x="8260080" y="2788920"/>
            <a:ext cx="1100938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60080" y="2788920"/>
            <a:ext cx="1100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Sunlight</a:t>
            </a:r>
            <a:endParaRPr lang="en-US" sz="1500" dirty="0"/>
          </a:p>
        </p:txBody>
      </p:sp>
      <p:sp>
        <p:nvSpPr>
          <p:cNvPr id="25" name="chip"/>
          <p:cNvSpPr/>
          <p:nvPr/>
        </p:nvSpPr>
        <p:spPr>
          <a:xfrm>
            <a:off x="9489034" y="2788920"/>
            <a:ext cx="1369771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489034" y="2788920"/>
            <a:ext cx="13697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Chlorophyll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48740" cy="329184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348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Quick check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What is the main purpose of cellular respiration?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To make ATP the cell can use for energy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To make glucose from sunlight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To make oxygen for the air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To store water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What is the main purpose of cellular respiration?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accent5">
              <a:alpha val="20000"/>
            </a:schemeClr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To make ATP the cell can use for energy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256032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✓</a:t>
            </a:r>
            <a:endParaRPr lang="en-US" sz="2200" dirty="0"/>
          </a:p>
        </p:txBody>
      </p:sp>
      <p:sp>
        <p:nvSpPr>
          <p:cNvPr id="12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To make glucose from sunlight</a:t>
            </a:r>
            <a:endParaRPr lang="en-US" sz="2000" dirty="0"/>
          </a:p>
        </p:txBody>
      </p:sp>
      <p:sp>
        <p:nvSpPr>
          <p:cNvPr id="16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To make oxygen for the air</a:t>
            </a:r>
            <a:endParaRPr lang="en-US" sz="2000" dirty="0"/>
          </a:p>
        </p:txBody>
      </p:sp>
      <p:sp>
        <p:nvSpPr>
          <p:cNvPr id="20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To store water</a:t>
            </a:r>
            <a:endParaRPr lang="en-US" sz="2000" dirty="0"/>
          </a:p>
        </p:txBody>
      </p:sp>
      <p:sp>
        <p:nvSpPr>
          <p:cNvPr id="24" name="panel"/>
          <p:cNvSpPr/>
          <p:nvPr/>
        </p:nvSpPr>
        <p:spPr>
          <a:xfrm>
            <a:off x="8503920" y="2560320"/>
            <a:ext cx="3136392" cy="2926080"/>
          </a:xfrm>
          <a:prstGeom prst="roundRect">
            <a:avLst>
              <a:gd name="adj" fmla="val 375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686800" y="2697480"/>
            <a:ext cx="2788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Why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Respiration breaks down glucose to make ATP.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le Mito"/>
          <p:cNvSpPr/>
          <p:nvPr/>
        </p:nvSpPr>
        <p:spPr>
          <a:xfrm>
            <a:off x="1097280" y="1783080"/>
            <a:ext cx="2377440" cy="2615184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4445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63701" y="1901952"/>
            <a:ext cx="9509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40" dirty="0">
                <a:solidFill>
                  <a:schemeClr val="tx2"/>
                </a:solidFill>
              </a:rPr>
              <a:t>2</a:t>
            </a:r>
            <a:endParaRPr lang="en-US" sz="2340" dirty="0"/>
          </a:p>
        </p:txBody>
      </p:sp>
      <p:pic>
        <p:nvPicPr>
          <p:cNvPr id="4" name="Image 0" descr="Mito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258568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3637483"/>
            <a:ext cx="23774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chemeClr val="tx2"/>
                </a:solidFill>
              </a:rPr>
              <a:t>Mito</a:t>
            </a:r>
            <a:endParaRPr lang="en-US" sz="1950" dirty="0"/>
          </a:p>
        </p:txBody>
      </p:sp>
      <p:sp>
        <p:nvSpPr>
          <p:cNvPr id="6" name="Text 0"/>
          <p:cNvSpPr/>
          <p:nvPr>
            <p:ph idx="100" type="body" hasCustomPrompt="1"/>
          </p:nvPr>
        </p:nvSpPr>
        <p:spPr>
          <a:xfrm>
            <a:off x="4114800" y="2240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Section 2 of 9 · about 4 min</a:t>
            </a:r>
            <a:endParaRPr lang="en-US" sz="20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4114800" y="27889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The mitochondrion: where it happens</a:t>
            </a:r>
            <a:endParaRPr lang="en-US" sz="4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powerhouse of the cell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676656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1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Read</a:t>
            </a:r>
            <a:endParaRPr lang="en-US" sz="1300" dirty="0"/>
          </a:p>
        </p:txBody>
      </p:sp>
      <p:pic>
        <p:nvPicPr>
          <p:cNvPr id="6" name="Image 0" descr="Labeled mitochondr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28231"/>
            <a:ext cx="6400800" cy="3424498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920240"/>
          <a:ext cx="43891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Stage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Where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 Glycolysis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Cytoplasm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2. Krebs cycle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Matrix (inside fluid)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3. Electron transport chain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Inner membrane (folds)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Try it: label the mitochondrion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Try it</a:t>
            </a:r>
            <a:endParaRPr lang="en-US" sz="1300" dirty="0"/>
          </a:p>
        </p:txBody>
      </p:sp>
      <p:pic>
        <p:nvPicPr>
          <p:cNvPr id="6" name="Image 0" descr="Mitochondrion with numbered spo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77665"/>
            <a:ext cx="6949440" cy="372563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0" y="182880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Label spots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1–4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 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Outer membrane · Inner membrane (folds) · Matrix (inside fluid) · Cytoplasm (outside)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Try it: label the mitochondrion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pic>
        <p:nvPicPr>
          <p:cNvPr id="6" name="Image 0" descr="Labeled mitochondr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81467"/>
            <a:ext cx="6949440" cy="371802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0" y="182880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1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 Outer membrane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2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 Inner membrane (folds)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3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 Matrix (inside fluid)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4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 Cytoplasm (outside)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48740" cy="329184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348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Quick check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Why is the inner membrane of the mitochondrion folded?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folds store glucose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folds keep oxygen out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folds are where glycolysis happens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folds give more surface, so there's room to make more ATP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Why is the inner membrane of the mitochondrion folded?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The folds store glucose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The folds keep oxygen out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The folds are where glycolysis happens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accent5">
              <a:alpha val="20000"/>
            </a:schemeClr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folds give more surface, so there's room to make more ATP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7726680" y="4864608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✓</a:t>
            </a:r>
            <a:endParaRPr lang="en-US" sz="2200" dirty="0"/>
          </a:p>
        </p:txBody>
      </p:sp>
      <p:sp>
        <p:nvSpPr>
          <p:cNvPr id="24" name="panel"/>
          <p:cNvSpPr/>
          <p:nvPr/>
        </p:nvSpPr>
        <p:spPr>
          <a:xfrm>
            <a:off x="8503920" y="2560320"/>
            <a:ext cx="3136392" cy="2926080"/>
          </a:xfrm>
          <a:prstGeom prst="roundRect">
            <a:avLst>
              <a:gd name="adj" fmla="val 375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686800" y="2697480"/>
            <a:ext cx="2788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Why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More folds, more ETCs, more ATP.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le Glycolysis"/>
          <p:cNvSpPr/>
          <p:nvPr/>
        </p:nvSpPr>
        <p:spPr>
          <a:xfrm>
            <a:off x="1097280" y="1783080"/>
            <a:ext cx="2377440" cy="2615184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4445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63701" y="1901952"/>
            <a:ext cx="9509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40" dirty="0">
                <a:solidFill>
                  <a:schemeClr val="tx2"/>
                </a:solidFill>
              </a:rPr>
              <a:t>3</a:t>
            </a:r>
            <a:endParaRPr lang="en-US" sz="2340" dirty="0"/>
          </a:p>
        </p:txBody>
      </p:sp>
      <p:pic>
        <p:nvPicPr>
          <p:cNvPr id="4" name="Image 0" descr="Glycolysi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258568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3637483"/>
            <a:ext cx="23774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chemeClr val="tx2"/>
                </a:solidFill>
              </a:rPr>
              <a:t>Glycolysis</a:t>
            </a:r>
            <a:endParaRPr lang="en-US" sz="1950" dirty="0"/>
          </a:p>
        </p:txBody>
      </p:sp>
      <p:sp>
        <p:nvSpPr>
          <p:cNvPr id="6" name="Text 0"/>
          <p:cNvSpPr/>
          <p:nvPr>
            <p:ph idx="100" type="body" hasCustomPrompt="1"/>
          </p:nvPr>
        </p:nvSpPr>
        <p:spPr>
          <a:xfrm>
            <a:off x="4114800" y="2240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Section 3 of 9 · about 4 min</a:t>
            </a:r>
            <a:endParaRPr lang="en-US" sz="20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4114800" y="27889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Stage 1: Glycolysis</a:t>
            </a:r>
            <a:endParaRPr lang="en-US" sz="4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Splitting sugar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676656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1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Read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56692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Glycolysis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 means "sugar splitting." It happens in the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cytoplasm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 and does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not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 need oxygen.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 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One glucose (6 carbons) splits into two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pyruvate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 (3 carbons each). This makes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2 ATP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 and loads electron carriers (NADH) for stage 3.</a:t>
            </a:r>
            <a:endParaRPr lang="en-US" sz="1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737360"/>
          <a:ext cx="51206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Where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Cytoplasm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Needs oxygen?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In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Glucose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Out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 pyruvate, NADH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ATP made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Try it: inputs and outputs of glycolysis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Try it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In, out, or not part of glycolysis?</a:t>
            </a:r>
            <a:endParaRPr lang="en-US" sz="1800" dirty="0"/>
          </a:p>
        </p:txBody>
      </p:sp>
      <p:sp>
        <p:nvSpPr>
          <p:cNvPr id="7" name="panel"/>
          <p:cNvSpPr/>
          <p:nvPr/>
        </p:nvSpPr>
        <p:spPr>
          <a:xfrm>
            <a:off x="548640" y="2103120"/>
            <a:ext cx="1106424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8" name="chip"/>
          <p:cNvSpPr/>
          <p:nvPr/>
        </p:nvSpPr>
        <p:spPr>
          <a:xfrm>
            <a:off x="731520" y="2240280"/>
            <a:ext cx="1011326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240280"/>
            <a:ext cx="10113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Glucose</a:t>
            </a:r>
            <a:endParaRPr lang="en-US" sz="1500" dirty="0"/>
          </a:p>
        </p:txBody>
      </p:sp>
      <p:sp>
        <p:nvSpPr>
          <p:cNvPr id="10" name="chip"/>
          <p:cNvSpPr/>
          <p:nvPr/>
        </p:nvSpPr>
        <p:spPr>
          <a:xfrm>
            <a:off x="1870862" y="2240280"/>
            <a:ext cx="1280160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870862" y="224028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 pyruvate</a:t>
            </a:r>
            <a:endParaRPr lang="en-US" sz="1500" dirty="0"/>
          </a:p>
        </p:txBody>
      </p:sp>
      <p:sp>
        <p:nvSpPr>
          <p:cNvPr id="12" name="chip"/>
          <p:cNvSpPr/>
          <p:nvPr/>
        </p:nvSpPr>
        <p:spPr>
          <a:xfrm>
            <a:off x="3279038" y="2240280"/>
            <a:ext cx="832104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79038" y="2240280"/>
            <a:ext cx="832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 ATP</a:t>
            </a:r>
            <a:endParaRPr lang="en-US" sz="1500" dirty="0"/>
          </a:p>
        </p:txBody>
      </p:sp>
      <p:sp>
        <p:nvSpPr>
          <p:cNvPr id="14" name="chip"/>
          <p:cNvSpPr/>
          <p:nvPr/>
        </p:nvSpPr>
        <p:spPr>
          <a:xfrm>
            <a:off x="4239158" y="2240280"/>
            <a:ext cx="742493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239158" y="2240280"/>
            <a:ext cx="7424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NADH</a:t>
            </a:r>
            <a:endParaRPr lang="en-US" sz="1500" dirty="0"/>
          </a:p>
        </p:txBody>
      </p:sp>
      <p:sp>
        <p:nvSpPr>
          <p:cNvPr id="16" name="chip"/>
          <p:cNvSpPr/>
          <p:nvPr/>
        </p:nvSpPr>
        <p:spPr>
          <a:xfrm>
            <a:off x="5109667" y="2240280"/>
            <a:ext cx="921715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09667" y="2240280"/>
            <a:ext cx="9217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Oxygen</a:t>
            </a:r>
            <a:endParaRPr lang="en-US" sz="1500" dirty="0"/>
          </a:p>
        </p:txBody>
      </p:sp>
      <p:sp>
        <p:nvSpPr>
          <p:cNvPr id="18" name="chip"/>
          <p:cNvSpPr/>
          <p:nvPr/>
        </p:nvSpPr>
        <p:spPr>
          <a:xfrm>
            <a:off x="6159398" y="2240280"/>
            <a:ext cx="1638605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59398" y="2240280"/>
            <a:ext cx="1638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Carbon dioxide</a:t>
            </a:r>
            <a:endParaRPr lang="en-US" sz="1500" dirty="0"/>
          </a:p>
        </p:txBody>
      </p:sp>
      <p:sp>
        <p:nvSpPr>
          <p:cNvPr id="20" name="bin In"/>
          <p:cNvSpPr/>
          <p:nvPr/>
        </p:nvSpPr>
        <p:spPr>
          <a:xfrm>
            <a:off x="548640" y="3749040"/>
            <a:ext cx="3535680" cy="2423160"/>
          </a:xfrm>
          <a:prstGeom prst="roundRect">
            <a:avLst>
              <a:gd name="adj" fmla="val 4528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tx2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731520" y="38587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In</a:t>
            </a:r>
            <a:endParaRPr lang="en-US" sz="1900" dirty="0"/>
          </a:p>
        </p:txBody>
      </p:sp>
      <p:sp>
        <p:nvSpPr>
          <p:cNvPr id="22" name="bin Out"/>
          <p:cNvSpPr/>
          <p:nvPr/>
        </p:nvSpPr>
        <p:spPr>
          <a:xfrm>
            <a:off x="4312920" y="3749040"/>
            <a:ext cx="3535680" cy="2423160"/>
          </a:xfrm>
          <a:prstGeom prst="roundRect">
            <a:avLst>
              <a:gd name="adj" fmla="val 4528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tx2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4495800" y="38587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Out</a:t>
            </a:r>
            <a:endParaRPr lang="en-US" sz="1900" dirty="0"/>
          </a:p>
        </p:txBody>
      </p:sp>
      <p:sp>
        <p:nvSpPr>
          <p:cNvPr id="24" name="bin Not part of glycolysis"/>
          <p:cNvSpPr/>
          <p:nvPr/>
        </p:nvSpPr>
        <p:spPr>
          <a:xfrm>
            <a:off x="8077200" y="3749040"/>
            <a:ext cx="3535680" cy="2423160"/>
          </a:xfrm>
          <a:prstGeom prst="roundRect">
            <a:avLst>
              <a:gd name="adj" fmla="val 4528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tx2"/>
            </a:solidFill>
            <a:prstDash val="dash"/>
          </a:ln>
        </p:spPr>
      </p:sp>
      <p:sp>
        <p:nvSpPr>
          <p:cNvPr id="25" name="Text 22"/>
          <p:cNvSpPr txBox="1"/>
          <p:nvPr/>
        </p:nvSpPr>
        <p:spPr>
          <a:xfrm>
            <a:off x="8260080" y="38587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Not part of glycolysis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Try it: inputs and outputs of glycolysis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In, out, or not part of glycolysis?</a:t>
            </a:r>
            <a:endParaRPr lang="en-US" sz="1800" dirty="0"/>
          </a:p>
        </p:txBody>
      </p:sp>
      <p:sp>
        <p:nvSpPr>
          <p:cNvPr id="7" name="bin In"/>
          <p:cNvSpPr/>
          <p:nvPr/>
        </p:nvSpPr>
        <p:spPr>
          <a:xfrm>
            <a:off x="548640" y="2148840"/>
            <a:ext cx="3535680" cy="4023360"/>
          </a:xfrm>
          <a:prstGeom prst="roundRect">
            <a:avLst>
              <a:gd name="adj" fmla="val 3103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31520" y="22585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In</a:t>
            </a:r>
            <a:endParaRPr lang="en-US" sz="1900" dirty="0"/>
          </a:p>
        </p:txBody>
      </p:sp>
      <p:sp>
        <p:nvSpPr>
          <p:cNvPr id="9" name="chip"/>
          <p:cNvSpPr/>
          <p:nvPr/>
        </p:nvSpPr>
        <p:spPr>
          <a:xfrm>
            <a:off x="731520" y="2788920"/>
            <a:ext cx="1011326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788920"/>
            <a:ext cx="10113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Glucose</a:t>
            </a:r>
            <a:endParaRPr lang="en-US" sz="1500" dirty="0"/>
          </a:p>
        </p:txBody>
      </p:sp>
      <p:sp>
        <p:nvSpPr>
          <p:cNvPr id="11" name="bin Out"/>
          <p:cNvSpPr/>
          <p:nvPr/>
        </p:nvSpPr>
        <p:spPr>
          <a:xfrm>
            <a:off x="4312920" y="2148840"/>
            <a:ext cx="3535680" cy="4023360"/>
          </a:xfrm>
          <a:prstGeom prst="roundRect">
            <a:avLst>
              <a:gd name="adj" fmla="val 3103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4495800" y="22585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Out</a:t>
            </a:r>
            <a:endParaRPr lang="en-US" sz="1900" dirty="0"/>
          </a:p>
        </p:txBody>
      </p:sp>
      <p:sp>
        <p:nvSpPr>
          <p:cNvPr id="13" name="chip"/>
          <p:cNvSpPr/>
          <p:nvPr/>
        </p:nvSpPr>
        <p:spPr>
          <a:xfrm>
            <a:off x="4495800" y="2788920"/>
            <a:ext cx="1280160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95800" y="278892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 pyruvate</a:t>
            </a:r>
            <a:endParaRPr lang="en-US" sz="1500" dirty="0"/>
          </a:p>
        </p:txBody>
      </p:sp>
      <p:sp>
        <p:nvSpPr>
          <p:cNvPr id="15" name="chip"/>
          <p:cNvSpPr/>
          <p:nvPr/>
        </p:nvSpPr>
        <p:spPr>
          <a:xfrm>
            <a:off x="5903976" y="2788920"/>
            <a:ext cx="832104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03976" y="2788920"/>
            <a:ext cx="832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 ATP</a:t>
            </a:r>
            <a:endParaRPr lang="en-US" sz="1500" dirty="0"/>
          </a:p>
        </p:txBody>
      </p:sp>
      <p:sp>
        <p:nvSpPr>
          <p:cNvPr id="17" name="chip"/>
          <p:cNvSpPr/>
          <p:nvPr/>
        </p:nvSpPr>
        <p:spPr>
          <a:xfrm>
            <a:off x="6864096" y="2788920"/>
            <a:ext cx="742493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64096" y="2788920"/>
            <a:ext cx="7424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NADH</a:t>
            </a:r>
            <a:endParaRPr lang="en-US" sz="1500" dirty="0"/>
          </a:p>
        </p:txBody>
      </p:sp>
      <p:sp>
        <p:nvSpPr>
          <p:cNvPr id="19" name="bin Not part of glycolysis"/>
          <p:cNvSpPr/>
          <p:nvPr/>
        </p:nvSpPr>
        <p:spPr>
          <a:xfrm>
            <a:off x="8077200" y="2148840"/>
            <a:ext cx="3535680" cy="4023360"/>
          </a:xfrm>
          <a:prstGeom prst="roundRect">
            <a:avLst>
              <a:gd name="adj" fmla="val 3103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20" name="Text 17"/>
          <p:cNvSpPr txBox="1"/>
          <p:nvPr/>
        </p:nvSpPr>
        <p:spPr>
          <a:xfrm>
            <a:off x="8260080" y="22585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Not part of glycolysis</a:t>
            </a:r>
            <a:endParaRPr lang="en-US" sz="1900" dirty="0"/>
          </a:p>
        </p:txBody>
      </p:sp>
      <p:sp>
        <p:nvSpPr>
          <p:cNvPr id="21" name="chip"/>
          <p:cNvSpPr/>
          <p:nvPr/>
        </p:nvSpPr>
        <p:spPr>
          <a:xfrm>
            <a:off x="8260080" y="2788920"/>
            <a:ext cx="921715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60080" y="2788920"/>
            <a:ext cx="9217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Oxygen</a:t>
            </a:r>
            <a:endParaRPr lang="en-US" sz="1500" dirty="0"/>
          </a:p>
        </p:txBody>
      </p:sp>
      <p:sp>
        <p:nvSpPr>
          <p:cNvPr id="23" name="chip"/>
          <p:cNvSpPr/>
          <p:nvPr/>
        </p:nvSpPr>
        <p:spPr>
          <a:xfrm>
            <a:off x="9309811" y="2788920"/>
            <a:ext cx="1638605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309811" y="2788920"/>
            <a:ext cx="1638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Carbon dioxide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48740" cy="329184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348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Quick check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How many ATP does glycolysis make from one glucose?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About 32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About 36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0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How many ATP does glycolysis make from one glucose?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About 32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About 36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accent5">
              <a:alpha val="20000"/>
            </a:schemeClr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7726680" y="4096512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✓</a:t>
            </a:r>
            <a:endParaRPr lang="en-US" sz="2200" dirty="0"/>
          </a:p>
        </p:txBody>
      </p:sp>
      <p:sp>
        <p:nvSpPr>
          <p:cNvPr id="20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0</a:t>
            </a:r>
            <a:endParaRPr lang="en-US" sz="2000" dirty="0"/>
          </a:p>
        </p:txBody>
      </p:sp>
      <p:sp>
        <p:nvSpPr>
          <p:cNvPr id="24" name="panel"/>
          <p:cNvSpPr/>
          <p:nvPr/>
        </p:nvSpPr>
        <p:spPr>
          <a:xfrm>
            <a:off x="8503920" y="2560320"/>
            <a:ext cx="3136392" cy="2926080"/>
          </a:xfrm>
          <a:prstGeom prst="roundRect">
            <a:avLst>
              <a:gd name="adj" fmla="val 375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686800" y="2697480"/>
            <a:ext cx="2788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Why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Glycolysis makes 2 ATP.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le Krebs"/>
          <p:cNvSpPr/>
          <p:nvPr/>
        </p:nvSpPr>
        <p:spPr>
          <a:xfrm>
            <a:off x="1097280" y="1783080"/>
            <a:ext cx="2377440" cy="2615184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4445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63701" y="1901952"/>
            <a:ext cx="9509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40" dirty="0">
                <a:solidFill>
                  <a:schemeClr val="tx2"/>
                </a:solidFill>
              </a:rPr>
              <a:t>4</a:t>
            </a:r>
            <a:endParaRPr lang="en-US" sz="2340" dirty="0"/>
          </a:p>
        </p:txBody>
      </p:sp>
      <p:pic>
        <p:nvPicPr>
          <p:cNvPr id="4" name="Image 0" descr="Kreb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258568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3637483"/>
            <a:ext cx="23774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chemeClr val="tx2"/>
                </a:solidFill>
              </a:rPr>
              <a:t>Krebs</a:t>
            </a:r>
            <a:endParaRPr lang="en-US" sz="1950" dirty="0"/>
          </a:p>
        </p:txBody>
      </p:sp>
      <p:sp>
        <p:nvSpPr>
          <p:cNvPr id="6" name="Text 0"/>
          <p:cNvSpPr/>
          <p:nvPr>
            <p:ph idx="100" type="body" hasCustomPrompt="1"/>
          </p:nvPr>
        </p:nvSpPr>
        <p:spPr>
          <a:xfrm>
            <a:off x="4114800" y="2240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Section 4 of 9 · about 4 min</a:t>
            </a:r>
            <a:endParaRPr lang="en-US" sz="20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4114800" y="27889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Stage 2: The Krebs cycle</a:t>
            </a:r>
            <a:endParaRPr lang="en-US" sz="4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Breaking down pyruvate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676656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1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Read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56692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Pyruvate moves into the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mitochondrion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. In the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matrix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, the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Krebs cycle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 breaks it down completely.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 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The carbon leaves as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carbon dioxide (CO</a:t>
            </a:r>
            <a:pPr indent="0" marL="0">
              <a:spcAft>
                <a:spcPts val="600"/>
              </a:spcAft>
              <a:buNone/>
            </a:pPr>
            <a:r>
              <a:rPr lang="en-US" sz="1900" b="1" baseline="-40000" dirty="0">
                <a:solidFill>
                  <a:schemeClr val="tx1"/>
                </a:solidFill>
              </a:rPr>
              <a:t>2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)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, the gas you breathe out. It makes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2 ATP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 and loads electron carriers (NADH and FADH</a:t>
            </a:r>
            <a:pPr indent="0" marL="0">
              <a:spcAft>
                <a:spcPts val="600"/>
              </a:spcAft>
              <a:buNone/>
            </a:pPr>
            <a:r>
              <a:rPr lang="en-US" sz="1900" baseline="-40000" dirty="0">
                <a:solidFill>
                  <a:schemeClr val="tx1"/>
                </a:solidFill>
              </a:rPr>
              <a:t>2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). It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needs oxygen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737360"/>
          <a:ext cx="51206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Where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Mitochondrion (matrix)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Needs oxygen?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In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Pyruvate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Out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</a:t>
                      </a:r>
                      <a:pPr algn="ctr" indent="0" marL="0">
                        <a:buNone/>
                      </a:pPr>
                      <a:r>
                        <a:rPr lang="en-US" sz="160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NADH, FADH</a:t>
                      </a:r>
                      <a:pPr algn="ctr" indent="0" marL="0">
                        <a:buNone/>
                      </a:pPr>
                      <a:r>
                        <a:rPr lang="en-US" sz="160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ATP made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Try it: inputs and outputs of the Krebs cycle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Try it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In, out, or not part of the Krebs cycle?</a:t>
            </a:r>
            <a:endParaRPr lang="en-US" sz="1800" dirty="0"/>
          </a:p>
        </p:txBody>
      </p:sp>
      <p:sp>
        <p:nvSpPr>
          <p:cNvPr id="7" name="panel"/>
          <p:cNvSpPr/>
          <p:nvPr/>
        </p:nvSpPr>
        <p:spPr>
          <a:xfrm>
            <a:off x="548640" y="2103120"/>
            <a:ext cx="1106424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8" name="chip"/>
          <p:cNvSpPr/>
          <p:nvPr/>
        </p:nvSpPr>
        <p:spPr>
          <a:xfrm>
            <a:off x="731520" y="2240280"/>
            <a:ext cx="1100938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240280"/>
            <a:ext cx="1100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Pyruvate</a:t>
            </a:r>
            <a:endParaRPr lang="en-US" sz="1500" dirty="0"/>
          </a:p>
        </p:txBody>
      </p:sp>
      <p:sp>
        <p:nvSpPr>
          <p:cNvPr id="10" name="chip"/>
          <p:cNvSpPr/>
          <p:nvPr/>
        </p:nvSpPr>
        <p:spPr>
          <a:xfrm>
            <a:off x="1960474" y="2240280"/>
            <a:ext cx="1638605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60474" y="2240280"/>
            <a:ext cx="1638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Carbon dioxide</a:t>
            </a:r>
            <a:endParaRPr lang="en-US" sz="1500" dirty="0"/>
          </a:p>
        </p:txBody>
      </p:sp>
      <p:sp>
        <p:nvSpPr>
          <p:cNvPr id="12" name="chip"/>
          <p:cNvSpPr/>
          <p:nvPr/>
        </p:nvSpPr>
        <p:spPr>
          <a:xfrm>
            <a:off x="3727094" y="2240280"/>
            <a:ext cx="832104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27094" y="2240280"/>
            <a:ext cx="832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 ATP</a:t>
            </a:r>
            <a:endParaRPr lang="en-US" sz="1500" dirty="0"/>
          </a:p>
        </p:txBody>
      </p:sp>
      <p:sp>
        <p:nvSpPr>
          <p:cNvPr id="14" name="chip"/>
          <p:cNvSpPr/>
          <p:nvPr/>
        </p:nvSpPr>
        <p:spPr>
          <a:xfrm>
            <a:off x="4687214" y="2240280"/>
            <a:ext cx="1907438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87214" y="2240280"/>
            <a:ext cx="19074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NADH and FADH</a:t>
            </a:r>
            <a:pPr algn="ctr" indent="0" marL="0">
              <a:buNone/>
            </a:pPr>
            <a:r>
              <a:rPr lang="en-US" sz="1500" baseline="-40000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chip"/>
          <p:cNvSpPr/>
          <p:nvPr/>
        </p:nvSpPr>
        <p:spPr>
          <a:xfrm>
            <a:off x="6722669" y="2240280"/>
            <a:ext cx="1011326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22669" y="2240280"/>
            <a:ext cx="10113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Glucose</a:t>
            </a:r>
            <a:endParaRPr lang="en-US" sz="1500" dirty="0"/>
          </a:p>
        </p:txBody>
      </p:sp>
      <p:sp>
        <p:nvSpPr>
          <p:cNvPr id="18" name="chip"/>
          <p:cNvSpPr/>
          <p:nvPr/>
        </p:nvSpPr>
        <p:spPr>
          <a:xfrm>
            <a:off x="7862011" y="2240280"/>
            <a:ext cx="832104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62011" y="2240280"/>
            <a:ext cx="832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Water</a:t>
            </a:r>
            <a:endParaRPr lang="en-US" sz="1500" dirty="0"/>
          </a:p>
        </p:txBody>
      </p:sp>
      <p:sp>
        <p:nvSpPr>
          <p:cNvPr id="20" name="bin In"/>
          <p:cNvSpPr/>
          <p:nvPr/>
        </p:nvSpPr>
        <p:spPr>
          <a:xfrm>
            <a:off x="548640" y="3749040"/>
            <a:ext cx="3535680" cy="2423160"/>
          </a:xfrm>
          <a:prstGeom prst="roundRect">
            <a:avLst>
              <a:gd name="adj" fmla="val 4528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tx2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731520" y="38587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In</a:t>
            </a:r>
            <a:endParaRPr lang="en-US" sz="1900" dirty="0"/>
          </a:p>
        </p:txBody>
      </p:sp>
      <p:sp>
        <p:nvSpPr>
          <p:cNvPr id="22" name="bin Out"/>
          <p:cNvSpPr/>
          <p:nvPr/>
        </p:nvSpPr>
        <p:spPr>
          <a:xfrm>
            <a:off x="4312920" y="3749040"/>
            <a:ext cx="3535680" cy="2423160"/>
          </a:xfrm>
          <a:prstGeom prst="roundRect">
            <a:avLst>
              <a:gd name="adj" fmla="val 4528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tx2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4495800" y="38587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Out</a:t>
            </a:r>
            <a:endParaRPr lang="en-US" sz="1900" dirty="0"/>
          </a:p>
        </p:txBody>
      </p:sp>
      <p:sp>
        <p:nvSpPr>
          <p:cNvPr id="24" name="bin Not part of Krebs"/>
          <p:cNvSpPr/>
          <p:nvPr/>
        </p:nvSpPr>
        <p:spPr>
          <a:xfrm>
            <a:off x="8077200" y="3749040"/>
            <a:ext cx="3535680" cy="2423160"/>
          </a:xfrm>
          <a:prstGeom prst="roundRect">
            <a:avLst>
              <a:gd name="adj" fmla="val 4528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tx2"/>
            </a:solidFill>
            <a:prstDash val="dash"/>
          </a:ln>
        </p:spPr>
      </p:sp>
      <p:sp>
        <p:nvSpPr>
          <p:cNvPr id="25" name="Text 22"/>
          <p:cNvSpPr txBox="1"/>
          <p:nvPr/>
        </p:nvSpPr>
        <p:spPr>
          <a:xfrm>
            <a:off x="8260080" y="38587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Not part of Krebs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Try it: inputs and outputs of the Krebs cycle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In, out, or not part of the Krebs cycle?</a:t>
            </a:r>
            <a:endParaRPr lang="en-US" sz="1800" dirty="0"/>
          </a:p>
        </p:txBody>
      </p:sp>
      <p:sp>
        <p:nvSpPr>
          <p:cNvPr id="7" name="bin In"/>
          <p:cNvSpPr/>
          <p:nvPr/>
        </p:nvSpPr>
        <p:spPr>
          <a:xfrm>
            <a:off x="548640" y="2148840"/>
            <a:ext cx="3535680" cy="4023360"/>
          </a:xfrm>
          <a:prstGeom prst="roundRect">
            <a:avLst>
              <a:gd name="adj" fmla="val 3103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31520" y="22585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In</a:t>
            </a:r>
            <a:endParaRPr lang="en-US" sz="1900" dirty="0"/>
          </a:p>
        </p:txBody>
      </p:sp>
      <p:sp>
        <p:nvSpPr>
          <p:cNvPr id="9" name="chip"/>
          <p:cNvSpPr/>
          <p:nvPr/>
        </p:nvSpPr>
        <p:spPr>
          <a:xfrm>
            <a:off x="731520" y="2788920"/>
            <a:ext cx="1100938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788920"/>
            <a:ext cx="1100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Pyruvate</a:t>
            </a:r>
            <a:endParaRPr lang="en-US" sz="1500" dirty="0"/>
          </a:p>
        </p:txBody>
      </p:sp>
      <p:sp>
        <p:nvSpPr>
          <p:cNvPr id="11" name="bin Out"/>
          <p:cNvSpPr/>
          <p:nvPr/>
        </p:nvSpPr>
        <p:spPr>
          <a:xfrm>
            <a:off x="4312920" y="2148840"/>
            <a:ext cx="3535680" cy="4023360"/>
          </a:xfrm>
          <a:prstGeom prst="roundRect">
            <a:avLst>
              <a:gd name="adj" fmla="val 3103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4495800" y="22585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Out</a:t>
            </a:r>
            <a:endParaRPr lang="en-US" sz="1900" dirty="0"/>
          </a:p>
        </p:txBody>
      </p:sp>
      <p:sp>
        <p:nvSpPr>
          <p:cNvPr id="13" name="chip"/>
          <p:cNvSpPr/>
          <p:nvPr/>
        </p:nvSpPr>
        <p:spPr>
          <a:xfrm>
            <a:off x="4495800" y="2788920"/>
            <a:ext cx="1638605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95800" y="2788920"/>
            <a:ext cx="1638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Carbon dioxide</a:t>
            </a:r>
            <a:endParaRPr lang="en-US" sz="1500" dirty="0"/>
          </a:p>
        </p:txBody>
      </p:sp>
      <p:sp>
        <p:nvSpPr>
          <p:cNvPr id="15" name="chip"/>
          <p:cNvSpPr/>
          <p:nvPr/>
        </p:nvSpPr>
        <p:spPr>
          <a:xfrm>
            <a:off x="6262421" y="2788920"/>
            <a:ext cx="832104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62421" y="2788920"/>
            <a:ext cx="832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 ATP</a:t>
            </a:r>
            <a:endParaRPr lang="en-US" sz="1500" dirty="0"/>
          </a:p>
        </p:txBody>
      </p:sp>
      <p:sp>
        <p:nvSpPr>
          <p:cNvPr id="17" name="chip"/>
          <p:cNvSpPr/>
          <p:nvPr/>
        </p:nvSpPr>
        <p:spPr>
          <a:xfrm>
            <a:off x="4495800" y="3319272"/>
            <a:ext cx="1907438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495800" y="3319272"/>
            <a:ext cx="19074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NADH and FADH</a:t>
            </a:r>
            <a:pPr algn="ctr" indent="0" marL="0">
              <a:buNone/>
            </a:pPr>
            <a:r>
              <a:rPr lang="en-US" sz="1500" baseline="-40000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9" name="bin Not part of Krebs"/>
          <p:cNvSpPr/>
          <p:nvPr/>
        </p:nvSpPr>
        <p:spPr>
          <a:xfrm>
            <a:off x="8077200" y="2148840"/>
            <a:ext cx="3535680" cy="4023360"/>
          </a:xfrm>
          <a:prstGeom prst="roundRect">
            <a:avLst>
              <a:gd name="adj" fmla="val 3103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20" name="Text 17"/>
          <p:cNvSpPr txBox="1"/>
          <p:nvPr/>
        </p:nvSpPr>
        <p:spPr>
          <a:xfrm>
            <a:off x="8260080" y="22585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Not part of Krebs</a:t>
            </a:r>
            <a:endParaRPr lang="en-US" sz="1900" dirty="0"/>
          </a:p>
        </p:txBody>
      </p:sp>
      <p:sp>
        <p:nvSpPr>
          <p:cNvPr id="21" name="chip"/>
          <p:cNvSpPr/>
          <p:nvPr/>
        </p:nvSpPr>
        <p:spPr>
          <a:xfrm>
            <a:off x="8260080" y="2788920"/>
            <a:ext cx="1011326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60080" y="2788920"/>
            <a:ext cx="10113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Glucose</a:t>
            </a:r>
            <a:endParaRPr lang="en-US" sz="1500" dirty="0"/>
          </a:p>
        </p:txBody>
      </p:sp>
      <p:sp>
        <p:nvSpPr>
          <p:cNvPr id="23" name="chip"/>
          <p:cNvSpPr/>
          <p:nvPr/>
        </p:nvSpPr>
        <p:spPr>
          <a:xfrm>
            <a:off x="9399422" y="2788920"/>
            <a:ext cx="832104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399422" y="2788920"/>
            <a:ext cx="832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Water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48740" cy="329184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348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Quick check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Which gas does the Krebs cycle release?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Water vapor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Carbon dioxide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Oxygen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Nitrogen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Which gas does the Krebs cycle release?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Water vapor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accent5">
              <a:alpha val="20000"/>
            </a:schemeClr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Carbon dioxide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7726680" y="3328416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✓</a:t>
            </a:r>
            <a:endParaRPr lang="en-US" sz="2200" dirty="0"/>
          </a:p>
        </p:txBody>
      </p:sp>
      <p:sp>
        <p:nvSpPr>
          <p:cNvPr id="16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Oxygen</a:t>
            </a:r>
            <a:endParaRPr lang="en-US" sz="2000" dirty="0"/>
          </a:p>
        </p:txBody>
      </p:sp>
      <p:sp>
        <p:nvSpPr>
          <p:cNvPr id="20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Nitrogen</a:t>
            </a:r>
            <a:endParaRPr lang="en-US" sz="2000" dirty="0"/>
          </a:p>
        </p:txBody>
      </p:sp>
      <p:sp>
        <p:nvSpPr>
          <p:cNvPr id="24" name="panel"/>
          <p:cNvSpPr/>
          <p:nvPr/>
        </p:nvSpPr>
        <p:spPr>
          <a:xfrm>
            <a:off x="8503920" y="2560320"/>
            <a:ext cx="3136392" cy="2926080"/>
          </a:xfrm>
          <a:prstGeom prst="roundRect">
            <a:avLst>
              <a:gd name="adj" fmla="val 375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686800" y="2697480"/>
            <a:ext cx="2788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Why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The carbon from pyruvate leaves as CO₂.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le ETC"/>
          <p:cNvSpPr/>
          <p:nvPr/>
        </p:nvSpPr>
        <p:spPr>
          <a:xfrm>
            <a:off x="1097280" y="1783080"/>
            <a:ext cx="2377440" cy="2615184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4445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63701" y="1901952"/>
            <a:ext cx="9509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40" dirty="0">
                <a:solidFill>
                  <a:schemeClr val="tx2"/>
                </a:solidFill>
              </a:rPr>
              <a:t>5</a:t>
            </a:r>
            <a:endParaRPr lang="en-US" sz="2340" dirty="0"/>
          </a:p>
        </p:txBody>
      </p:sp>
      <p:pic>
        <p:nvPicPr>
          <p:cNvPr id="4" name="Image 0" descr="ET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258568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3637483"/>
            <a:ext cx="23774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chemeClr val="tx2"/>
                </a:solidFill>
              </a:rPr>
              <a:t>ETC</a:t>
            </a:r>
            <a:endParaRPr lang="en-US" sz="1950" dirty="0"/>
          </a:p>
        </p:txBody>
      </p:sp>
      <p:sp>
        <p:nvSpPr>
          <p:cNvPr id="6" name="Text 0"/>
          <p:cNvSpPr/>
          <p:nvPr>
            <p:ph idx="100" type="body" hasCustomPrompt="1"/>
          </p:nvPr>
        </p:nvSpPr>
        <p:spPr>
          <a:xfrm>
            <a:off x="4114800" y="2240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Section 5 of 9 · about 5 min</a:t>
            </a:r>
            <a:endParaRPr lang="en-US" sz="20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4114800" y="27889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Stage 3: The electron transport chain</a:t>
            </a:r>
            <a:endParaRPr lang="en-US" sz="4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Where most of the ATP is made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676656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1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Read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56692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The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electron transport chain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 sits on the folded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inner membrane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. Electron carriers drop off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electrons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, and the energy makes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about 32 ATP (30–34)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 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At the end,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oxygen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 catches the electrons and forms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water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. That's why you need to breathe oxygen.</a:t>
            </a:r>
            <a:endParaRPr lang="en-US" sz="1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737360"/>
          <a:ext cx="51206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Where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Inner membrane (folds)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Needs oxygen?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In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NADH, FADH</a:t>
                      </a:r>
                      <a:pPr algn="ctr" indent="0" marL="0">
                        <a:buNone/>
                      </a:pPr>
                      <a:r>
                        <a:rPr lang="en-US" sz="160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oxygen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Out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Water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ATP made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About 32 (30–34)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Try it: inputs and outputs of the ETC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Try it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In, out, or not part of the ETC?</a:t>
            </a:r>
            <a:endParaRPr lang="en-US" sz="1800" dirty="0"/>
          </a:p>
        </p:txBody>
      </p:sp>
      <p:sp>
        <p:nvSpPr>
          <p:cNvPr id="7" name="panel"/>
          <p:cNvSpPr/>
          <p:nvPr/>
        </p:nvSpPr>
        <p:spPr>
          <a:xfrm>
            <a:off x="548640" y="2103120"/>
            <a:ext cx="1106424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8" name="chip"/>
          <p:cNvSpPr/>
          <p:nvPr/>
        </p:nvSpPr>
        <p:spPr>
          <a:xfrm>
            <a:off x="731520" y="2240280"/>
            <a:ext cx="1907438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240280"/>
            <a:ext cx="19074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NADH and FADH</a:t>
            </a:r>
            <a:pPr algn="ctr" indent="0" marL="0">
              <a:buNone/>
            </a:pPr>
            <a:r>
              <a:rPr lang="en-US" sz="1500" baseline="-40000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chip"/>
          <p:cNvSpPr/>
          <p:nvPr/>
        </p:nvSpPr>
        <p:spPr>
          <a:xfrm>
            <a:off x="2766974" y="2240280"/>
            <a:ext cx="921715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66974" y="2240280"/>
            <a:ext cx="9217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Oxygen</a:t>
            </a:r>
            <a:endParaRPr lang="en-US" sz="1500" dirty="0"/>
          </a:p>
        </p:txBody>
      </p:sp>
      <p:sp>
        <p:nvSpPr>
          <p:cNvPr id="12" name="chip"/>
          <p:cNvSpPr/>
          <p:nvPr/>
        </p:nvSpPr>
        <p:spPr>
          <a:xfrm>
            <a:off x="3816706" y="2240280"/>
            <a:ext cx="832104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16706" y="2240280"/>
            <a:ext cx="832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Water</a:t>
            </a:r>
            <a:endParaRPr lang="en-US" sz="1500" dirty="0"/>
          </a:p>
        </p:txBody>
      </p:sp>
      <p:sp>
        <p:nvSpPr>
          <p:cNvPr id="14" name="chip"/>
          <p:cNvSpPr/>
          <p:nvPr/>
        </p:nvSpPr>
        <p:spPr>
          <a:xfrm>
            <a:off x="4776826" y="2240280"/>
            <a:ext cx="1459382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76826" y="2240280"/>
            <a:ext cx="14593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About 32 ATP</a:t>
            </a:r>
            <a:endParaRPr lang="en-US" sz="1500" dirty="0"/>
          </a:p>
        </p:txBody>
      </p:sp>
      <p:sp>
        <p:nvSpPr>
          <p:cNvPr id="16" name="chip"/>
          <p:cNvSpPr/>
          <p:nvPr/>
        </p:nvSpPr>
        <p:spPr>
          <a:xfrm>
            <a:off x="6364224" y="2240280"/>
            <a:ext cx="1011326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64224" y="2240280"/>
            <a:ext cx="10113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Glucose</a:t>
            </a:r>
            <a:endParaRPr lang="en-US" sz="1500" dirty="0"/>
          </a:p>
        </p:txBody>
      </p:sp>
      <p:sp>
        <p:nvSpPr>
          <p:cNvPr id="18" name="chip"/>
          <p:cNvSpPr/>
          <p:nvPr/>
        </p:nvSpPr>
        <p:spPr>
          <a:xfrm>
            <a:off x="7503566" y="2240280"/>
            <a:ext cx="1100938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503566" y="2240280"/>
            <a:ext cx="1100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Pyruvate</a:t>
            </a:r>
            <a:endParaRPr lang="en-US" sz="1500" dirty="0"/>
          </a:p>
        </p:txBody>
      </p:sp>
      <p:sp>
        <p:nvSpPr>
          <p:cNvPr id="20" name="bin In"/>
          <p:cNvSpPr/>
          <p:nvPr/>
        </p:nvSpPr>
        <p:spPr>
          <a:xfrm>
            <a:off x="548640" y="3749040"/>
            <a:ext cx="3535680" cy="2423160"/>
          </a:xfrm>
          <a:prstGeom prst="roundRect">
            <a:avLst>
              <a:gd name="adj" fmla="val 4528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tx2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731520" y="38587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In</a:t>
            </a:r>
            <a:endParaRPr lang="en-US" sz="1900" dirty="0"/>
          </a:p>
        </p:txBody>
      </p:sp>
      <p:sp>
        <p:nvSpPr>
          <p:cNvPr id="22" name="bin Out"/>
          <p:cNvSpPr/>
          <p:nvPr/>
        </p:nvSpPr>
        <p:spPr>
          <a:xfrm>
            <a:off x="4312920" y="3749040"/>
            <a:ext cx="3535680" cy="2423160"/>
          </a:xfrm>
          <a:prstGeom prst="roundRect">
            <a:avLst>
              <a:gd name="adj" fmla="val 4528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tx2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4495800" y="38587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Out</a:t>
            </a:r>
            <a:endParaRPr lang="en-US" sz="1900" dirty="0"/>
          </a:p>
        </p:txBody>
      </p:sp>
      <p:sp>
        <p:nvSpPr>
          <p:cNvPr id="24" name="bin Not part of the ETC"/>
          <p:cNvSpPr/>
          <p:nvPr/>
        </p:nvSpPr>
        <p:spPr>
          <a:xfrm>
            <a:off x="8077200" y="3749040"/>
            <a:ext cx="3535680" cy="2423160"/>
          </a:xfrm>
          <a:prstGeom prst="roundRect">
            <a:avLst>
              <a:gd name="adj" fmla="val 4528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tx2"/>
            </a:solidFill>
            <a:prstDash val="dash"/>
          </a:ln>
        </p:spPr>
      </p:sp>
      <p:sp>
        <p:nvSpPr>
          <p:cNvPr id="25" name="Text 22"/>
          <p:cNvSpPr txBox="1"/>
          <p:nvPr/>
        </p:nvSpPr>
        <p:spPr>
          <a:xfrm>
            <a:off x="8260080" y="38587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Not part of the ETC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Try it: inputs and outputs of the ETC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In, out, or not part of the ETC?</a:t>
            </a:r>
            <a:endParaRPr lang="en-US" sz="1800" dirty="0"/>
          </a:p>
        </p:txBody>
      </p:sp>
      <p:sp>
        <p:nvSpPr>
          <p:cNvPr id="7" name="bin In"/>
          <p:cNvSpPr/>
          <p:nvPr/>
        </p:nvSpPr>
        <p:spPr>
          <a:xfrm>
            <a:off x="548640" y="2148840"/>
            <a:ext cx="3535680" cy="4023360"/>
          </a:xfrm>
          <a:prstGeom prst="roundRect">
            <a:avLst>
              <a:gd name="adj" fmla="val 3103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31520" y="22585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In</a:t>
            </a:r>
            <a:endParaRPr lang="en-US" sz="1900" dirty="0"/>
          </a:p>
        </p:txBody>
      </p:sp>
      <p:sp>
        <p:nvSpPr>
          <p:cNvPr id="9" name="chip"/>
          <p:cNvSpPr/>
          <p:nvPr/>
        </p:nvSpPr>
        <p:spPr>
          <a:xfrm>
            <a:off x="731520" y="2788920"/>
            <a:ext cx="1907438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788920"/>
            <a:ext cx="19074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NADH and FADH</a:t>
            </a:r>
            <a:pPr algn="ctr" indent="0" marL="0">
              <a:buNone/>
            </a:pPr>
            <a:r>
              <a:rPr lang="en-US" sz="1500" baseline="-40000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chip"/>
          <p:cNvSpPr/>
          <p:nvPr/>
        </p:nvSpPr>
        <p:spPr>
          <a:xfrm>
            <a:off x="2766974" y="2788920"/>
            <a:ext cx="921715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766974" y="2788920"/>
            <a:ext cx="9217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Oxygen</a:t>
            </a:r>
            <a:endParaRPr lang="en-US" sz="1500" dirty="0"/>
          </a:p>
        </p:txBody>
      </p:sp>
      <p:sp>
        <p:nvSpPr>
          <p:cNvPr id="13" name="bin Out"/>
          <p:cNvSpPr/>
          <p:nvPr/>
        </p:nvSpPr>
        <p:spPr>
          <a:xfrm>
            <a:off x="4312920" y="2148840"/>
            <a:ext cx="3535680" cy="4023360"/>
          </a:xfrm>
          <a:prstGeom prst="roundRect">
            <a:avLst>
              <a:gd name="adj" fmla="val 3103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4495800" y="22585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Out</a:t>
            </a:r>
            <a:endParaRPr lang="en-US" sz="1900" dirty="0"/>
          </a:p>
        </p:txBody>
      </p:sp>
      <p:sp>
        <p:nvSpPr>
          <p:cNvPr id="15" name="chip"/>
          <p:cNvSpPr/>
          <p:nvPr/>
        </p:nvSpPr>
        <p:spPr>
          <a:xfrm>
            <a:off x="4495800" y="2788920"/>
            <a:ext cx="832104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95800" y="2788920"/>
            <a:ext cx="832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Water</a:t>
            </a:r>
            <a:endParaRPr lang="en-US" sz="1500" dirty="0"/>
          </a:p>
        </p:txBody>
      </p:sp>
      <p:sp>
        <p:nvSpPr>
          <p:cNvPr id="17" name="chip"/>
          <p:cNvSpPr/>
          <p:nvPr/>
        </p:nvSpPr>
        <p:spPr>
          <a:xfrm>
            <a:off x="5455920" y="2788920"/>
            <a:ext cx="1459382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55920" y="2788920"/>
            <a:ext cx="14593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About 32 ATP</a:t>
            </a:r>
            <a:endParaRPr lang="en-US" sz="1500" dirty="0"/>
          </a:p>
        </p:txBody>
      </p:sp>
      <p:sp>
        <p:nvSpPr>
          <p:cNvPr id="19" name="bin Not part of the ETC"/>
          <p:cNvSpPr/>
          <p:nvPr/>
        </p:nvSpPr>
        <p:spPr>
          <a:xfrm>
            <a:off x="8077200" y="2148840"/>
            <a:ext cx="3535680" cy="4023360"/>
          </a:xfrm>
          <a:prstGeom prst="roundRect">
            <a:avLst>
              <a:gd name="adj" fmla="val 3103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20" name="Text 17"/>
          <p:cNvSpPr txBox="1"/>
          <p:nvPr/>
        </p:nvSpPr>
        <p:spPr>
          <a:xfrm>
            <a:off x="8260080" y="22585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Not part of the ETC</a:t>
            </a:r>
            <a:endParaRPr lang="en-US" sz="1900" dirty="0"/>
          </a:p>
        </p:txBody>
      </p:sp>
      <p:sp>
        <p:nvSpPr>
          <p:cNvPr id="21" name="chip"/>
          <p:cNvSpPr/>
          <p:nvPr/>
        </p:nvSpPr>
        <p:spPr>
          <a:xfrm>
            <a:off x="8260080" y="2788920"/>
            <a:ext cx="1011326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60080" y="2788920"/>
            <a:ext cx="10113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Glucose</a:t>
            </a:r>
            <a:endParaRPr lang="en-US" sz="1500" dirty="0"/>
          </a:p>
        </p:txBody>
      </p:sp>
      <p:sp>
        <p:nvSpPr>
          <p:cNvPr id="23" name="chip"/>
          <p:cNvSpPr/>
          <p:nvPr/>
        </p:nvSpPr>
        <p:spPr>
          <a:xfrm>
            <a:off x="9399422" y="2788920"/>
            <a:ext cx="1100938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399422" y="2788920"/>
            <a:ext cx="1100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Pyruvate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Try it: add up the ATP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Try it</a:t>
            </a:r>
            <a:endParaRPr lang="en-US" sz="1300" dirty="0"/>
          </a:p>
        </p:txBody>
      </p:sp>
      <p:pic>
        <p:nvPicPr>
          <p:cNvPr id="6" name="Image 0" descr="Empty bar graph of ATP per st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44607"/>
            <a:ext cx="6400800" cy="399174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406640" y="2011680"/>
            <a:ext cx="4206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Glycolysis: ?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Krebs cycle: ?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ETC: ?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 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Total: 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Try it: add up the ATP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pic>
        <p:nvPicPr>
          <p:cNvPr id="6" name="Image 0" descr="Bar graph: 2, 2, and 30–34 AT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44607"/>
            <a:ext cx="6400800" cy="399174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406640" y="2011680"/>
            <a:ext cx="4206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Glycolysis: </a:t>
            </a:r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2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Krebs cycle: </a:t>
            </a:r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2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ETC: </a:t>
            </a:r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30–34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 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Total: about 36 ATP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48740" cy="329184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348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Quick check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What is oxygen's job in the electron transport chain?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It catches the electrons at the end and forms water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It splits glucose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It carries electrons from glycolysis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It is released as a waste gas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What is oxygen's job in the electron transport chain?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accent5">
              <a:alpha val="20000"/>
            </a:schemeClr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It catches the electrons at the end and forms water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256032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✓</a:t>
            </a:r>
            <a:endParaRPr lang="en-US" sz="2200" dirty="0"/>
          </a:p>
        </p:txBody>
      </p:sp>
      <p:sp>
        <p:nvSpPr>
          <p:cNvPr id="12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It splits glucose</a:t>
            </a:r>
            <a:endParaRPr lang="en-US" sz="2000" dirty="0"/>
          </a:p>
        </p:txBody>
      </p:sp>
      <p:sp>
        <p:nvSpPr>
          <p:cNvPr id="16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It carries electrons from glycolysis</a:t>
            </a:r>
            <a:endParaRPr lang="en-US" sz="2000" dirty="0"/>
          </a:p>
        </p:txBody>
      </p:sp>
      <p:sp>
        <p:nvSpPr>
          <p:cNvPr id="20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It is released as a waste gas</a:t>
            </a:r>
            <a:endParaRPr lang="en-US" sz="2000" dirty="0"/>
          </a:p>
        </p:txBody>
      </p:sp>
      <p:sp>
        <p:nvSpPr>
          <p:cNvPr id="24" name="panel"/>
          <p:cNvSpPr/>
          <p:nvPr/>
        </p:nvSpPr>
        <p:spPr>
          <a:xfrm>
            <a:off x="8503920" y="2560320"/>
            <a:ext cx="3136392" cy="2926080"/>
          </a:xfrm>
          <a:prstGeom prst="roundRect">
            <a:avLst>
              <a:gd name="adj" fmla="val 375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686800" y="2697480"/>
            <a:ext cx="2788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Why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Oxygen is the final electron catcher.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le Ferment"/>
          <p:cNvSpPr/>
          <p:nvPr/>
        </p:nvSpPr>
        <p:spPr>
          <a:xfrm>
            <a:off x="1097280" y="1783080"/>
            <a:ext cx="2377440" cy="2615184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4445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63701" y="1901952"/>
            <a:ext cx="9509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40" dirty="0">
                <a:solidFill>
                  <a:schemeClr val="tx2"/>
                </a:solidFill>
              </a:rPr>
              <a:t>6</a:t>
            </a:r>
            <a:endParaRPr lang="en-US" sz="2340" dirty="0"/>
          </a:p>
        </p:txBody>
      </p:sp>
      <p:pic>
        <p:nvPicPr>
          <p:cNvPr id="4" name="Image 0" descr="Fermen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258568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3637483"/>
            <a:ext cx="23774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chemeClr val="tx2"/>
                </a:solidFill>
              </a:rPr>
              <a:t>Ferment</a:t>
            </a:r>
            <a:endParaRPr lang="en-US" sz="1950" dirty="0"/>
          </a:p>
        </p:txBody>
      </p:sp>
      <p:sp>
        <p:nvSpPr>
          <p:cNvPr id="6" name="Text 0"/>
          <p:cNvSpPr/>
          <p:nvPr>
            <p:ph idx="100" type="body" hasCustomPrompt="1"/>
          </p:nvPr>
        </p:nvSpPr>
        <p:spPr>
          <a:xfrm>
            <a:off x="4114800" y="2240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Section 6 of 9 · about 4 min</a:t>
            </a:r>
            <a:endParaRPr lang="en-US" sz="20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4114800" y="27889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Fermentation: when there's no oxygen</a:t>
            </a:r>
            <a:endParaRPr lang="en-US" sz="4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Glycolysis without oxygen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676656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1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Read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Without oxygen, nothing catches electrons at the end of the ETC. The ETC stops, and the Krebs cycle stops with it. Only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glycolysis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 keeps going.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Fermentation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 keeps it running, so the cell still gets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2 ATP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617720"/>
                <a:gridCol w="4617720"/>
              </a:tblGrid>
              <a:tr h="548640">
                <a:tc>
                  <a:txBody>
                    <a:bodyPr/>
                    <a:lstStyle/>
                    <a:p>
                      <a:endParaRPr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Lactic acid fermentation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Alcoholic fermentation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Who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Your muscle cells; some bacteria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Yeast; some bacteria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Makes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Lactic acid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Alcohol + carbon dioxide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Examples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Muscle burn; yogurt and cheese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Bread rising; making ethanol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ATP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 per glucose (from glycolysis only)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Try it: which kind of fermentation?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Try it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Lactic acid or alcoholic?</a:t>
            </a:r>
            <a:endParaRPr lang="en-US" sz="1800" dirty="0"/>
          </a:p>
        </p:txBody>
      </p:sp>
      <p:sp>
        <p:nvSpPr>
          <p:cNvPr id="7" name="panel"/>
          <p:cNvSpPr/>
          <p:nvPr/>
        </p:nvSpPr>
        <p:spPr>
          <a:xfrm>
            <a:off x="548640" y="2103120"/>
            <a:ext cx="1106424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8" name="chip"/>
          <p:cNvSpPr/>
          <p:nvPr/>
        </p:nvSpPr>
        <p:spPr>
          <a:xfrm>
            <a:off x="731520" y="2240280"/>
            <a:ext cx="2624328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24028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Legs burn during a sprint</a:t>
            </a:r>
            <a:endParaRPr lang="en-US" sz="1500" dirty="0"/>
          </a:p>
        </p:txBody>
      </p:sp>
      <p:sp>
        <p:nvSpPr>
          <p:cNvPr id="10" name="chip"/>
          <p:cNvSpPr/>
          <p:nvPr/>
        </p:nvSpPr>
        <p:spPr>
          <a:xfrm>
            <a:off x="3483864" y="2240280"/>
            <a:ext cx="2176272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83864" y="2240280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Bacteria make yogurt</a:t>
            </a:r>
            <a:endParaRPr lang="en-US" sz="1500" dirty="0"/>
          </a:p>
        </p:txBody>
      </p:sp>
      <p:sp>
        <p:nvSpPr>
          <p:cNvPr id="12" name="chip"/>
          <p:cNvSpPr/>
          <p:nvPr/>
        </p:nvSpPr>
        <p:spPr>
          <a:xfrm>
            <a:off x="5788152" y="2240280"/>
            <a:ext cx="2982773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788152" y="2240280"/>
            <a:ext cx="298277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Happens in human muscle cells</a:t>
            </a:r>
            <a:endParaRPr lang="en-US" sz="1500" dirty="0"/>
          </a:p>
        </p:txBody>
      </p:sp>
      <p:sp>
        <p:nvSpPr>
          <p:cNvPr id="14" name="chip"/>
          <p:cNvSpPr/>
          <p:nvPr/>
        </p:nvSpPr>
        <p:spPr>
          <a:xfrm>
            <a:off x="8898941" y="2240280"/>
            <a:ext cx="1907438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898941" y="2240280"/>
            <a:ext cx="19074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Bread dough rises</a:t>
            </a:r>
            <a:endParaRPr lang="en-US" sz="1500" dirty="0"/>
          </a:p>
        </p:txBody>
      </p:sp>
      <p:sp>
        <p:nvSpPr>
          <p:cNvPr id="16" name="chip"/>
          <p:cNvSpPr/>
          <p:nvPr/>
        </p:nvSpPr>
        <p:spPr>
          <a:xfrm>
            <a:off x="731520" y="2770632"/>
            <a:ext cx="1997050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2770632"/>
            <a:ext cx="19970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Yeast make ethanol</a:t>
            </a:r>
            <a:endParaRPr lang="en-US" sz="1500" dirty="0"/>
          </a:p>
        </p:txBody>
      </p:sp>
      <p:sp>
        <p:nvSpPr>
          <p:cNvPr id="18" name="chip"/>
          <p:cNvSpPr/>
          <p:nvPr/>
        </p:nvSpPr>
        <p:spPr>
          <a:xfrm>
            <a:off x="2856586" y="2770632"/>
            <a:ext cx="2176272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856586" y="2770632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Makes CO</a:t>
            </a:r>
            <a:pPr algn="ctr" indent="0" marL="0">
              <a:buNone/>
            </a:pPr>
            <a:r>
              <a:rPr lang="en-US" sz="1500" baseline="-40000" dirty="0">
                <a:solidFill>
                  <a:schemeClr val="tx1"/>
                </a:solidFill>
              </a:rPr>
              <a:t>2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bubbles</a:t>
            </a:r>
            <a:endParaRPr lang="en-US" sz="1500" dirty="0"/>
          </a:p>
        </p:txBody>
      </p:sp>
      <p:sp>
        <p:nvSpPr>
          <p:cNvPr id="20" name="bin Lactic acid fermentation"/>
          <p:cNvSpPr/>
          <p:nvPr/>
        </p:nvSpPr>
        <p:spPr>
          <a:xfrm>
            <a:off x="548640" y="3749040"/>
            <a:ext cx="5417820" cy="2423160"/>
          </a:xfrm>
          <a:prstGeom prst="roundRect">
            <a:avLst>
              <a:gd name="adj" fmla="val 4528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tx2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731520" y="3858768"/>
            <a:ext cx="5052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Lactic acid fermentation</a:t>
            </a:r>
            <a:endParaRPr lang="en-US" sz="1900" dirty="0"/>
          </a:p>
        </p:txBody>
      </p:sp>
      <p:sp>
        <p:nvSpPr>
          <p:cNvPr id="22" name="bin Alcoholic fermentation"/>
          <p:cNvSpPr/>
          <p:nvPr/>
        </p:nvSpPr>
        <p:spPr>
          <a:xfrm>
            <a:off x="6195060" y="3749040"/>
            <a:ext cx="5417820" cy="2423160"/>
          </a:xfrm>
          <a:prstGeom prst="roundRect">
            <a:avLst>
              <a:gd name="adj" fmla="val 4528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tx2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6377940" y="3858768"/>
            <a:ext cx="5052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Alcoholic fermentation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Try it: which kind of fermentation?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Lactic acid or alcoholic?</a:t>
            </a:r>
            <a:endParaRPr lang="en-US" sz="1800" dirty="0"/>
          </a:p>
        </p:txBody>
      </p:sp>
      <p:sp>
        <p:nvSpPr>
          <p:cNvPr id="7" name="bin Lactic acid fermentation"/>
          <p:cNvSpPr/>
          <p:nvPr/>
        </p:nvSpPr>
        <p:spPr>
          <a:xfrm>
            <a:off x="548640" y="2148840"/>
            <a:ext cx="5417820" cy="4023360"/>
          </a:xfrm>
          <a:prstGeom prst="roundRect">
            <a:avLst>
              <a:gd name="adj" fmla="val 2727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31520" y="2258568"/>
            <a:ext cx="5052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Lactic acid fermentation</a:t>
            </a:r>
            <a:endParaRPr lang="en-US" sz="1900" dirty="0"/>
          </a:p>
        </p:txBody>
      </p:sp>
      <p:sp>
        <p:nvSpPr>
          <p:cNvPr id="9" name="chip"/>
          <p:cNvSpPr/>
          <p:nvPr/>
        </p:nvSpPr>
        <p:spPr>
          <a:xfrm>
            <a:off x="731520" y="2788920"/>
            <a:ext cx="2624328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78892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Legs burn during a sprint</a:t>
            </a:r>
            <a:endParaRPr lang="en-US" sz="1500" dirty="0"/>
          </a:p>
        </p:txBody>
      </p:sp>
      <p:sp>
        <p:nvSpPr>
          <p:cNvPr id="11" name="chip"/>
          <p:cNvSpPr/>
          <p:nvPr/>
        </p:nvSpPr>
        <p:spPr>
          <a:xfrm>
            <a:off x="3483864" y="2788920"/>
            <a:ext cx="2176272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83864" y="2788920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Bacteria make yogurt</a:t>
            </a:r>
            <a:endParaRPr lang="en-US" sz="1500" dirty="0"/>
          </a:p>
        </p:txBody>
      </p:sp>
      <p:sp>
        <p:nvSpPr>
          <p:cNvPr id="13" name="chip"/>
          <p:cNvSpPr/>
          <p:nvPr/>
        </p:nvSpPr>
        <p:spPr>
          <a:xfrm>
            <a:off x="731520" y="3319272"/>
            <a:ext cx="2982773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319272"/>
            <a:ext cx="298277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Happens in human muscle cells</a:t>
            </a:r>
            <a:endParaRPr lang="en-US" sz="1500" dirty="0"/>
          </a:p>
        </p:txBody>
      </p:sp>
      <p:sp>
        <p:nvSpPr>
          <p:cNvPr id="15" name="bin Alcoholic fermentation"/>
          <p:cNvSpPr/>
          <p:nvPr/>
        </p:nvSpPr>
        <p:spPr>
          <a:xfrm>
            <a:off x="6195060" y="2148840"/>
            <a:ext cx="5417820" cy="4023360"/>
          </a:xfrm>
          <a:prstGeom prst="roundRect">
            <a:avLst>
              <a:gd name="adj" fmla="val 2727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6377940" y="2258568"/>
            <a:ext cx="5052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Alcoholic fermentation</a:t>
            </a:r>
            <a:endParaRPr lang="en-US" sz="1900" dirty="0"/>
          </a:p>
        </p:txBody>
      </p:sp>
      <p:sp>
        <p:nvSpPr>
          <p:cNvPr id="17" name="chip"/>
          <p:cNvSpPr/>
          <p:nvPr/>
        </p:nvSpPr>
        <p:spPr>
          <a:xfrm>
            <a:off x="6377940" y="2788920"/>
            <a:ext cx="1907438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77940" y="2788920"/>
            <a:ext cx="19074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Bread dough rises</a:t>
            </a:r>
            <a:endParaRPr lang="en-US" sz="1500" dirty="0"/>
          </a:p>
        </p:txBody>
      </p:sp>
      <p:sp>
        <p:nvSpPr>
          <p:cNvPr id="19" name="chip"/>
          <p:cNvSpPr/>
          <p:nvPr/>
        </p:nvSpPr>
        <p:spPr>
          <a:xfrm>
            <a:off x="8413394" y="2788920"/>
            <a:ext cx="1997050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13394" y="2788920"/>
            <a:ext cx="19970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Yeast make ethanol</a:t>
            </a:r>
            <a:endParaRPr lang="en-US" sz="1500" dirty="0"/>
          </a:p>
        </p:txBody>
      </p:sp>
      <p:sp>
        <p:nvSpPr>
          <p:cNvPr id="21" name="chip"/>
          <p:cNvSpPr/>
          <p:nvPr/>
        </p:nvSpPr>
        <p:spPr>
          <a:xfrm>
            <a:off x="6377940" y="3319272"/>
            <a:ext cx="2176272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77940" y="3319272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Makes CO</a:t>
            </a:r>
            <a:pPr algn="ctr" indent="0" marL="0">
              <a:buNone/>
            </a:pPr>
            <a:r>
              <a:rPr lang="en-US" sz="1500" baseline="-40000" dirty="0">
                <a:solidFill>
                  <a:schemeClr val="tx1"/>
                </a:solidFill>
              </a:rPr>
              <a:t>2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bubbles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48740" cy="329184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348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Quick check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How many ATP does fermentation get from one glucose?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About 36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About 32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0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How many ATP does fermentation get from one glucose?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About 36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About 32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0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accent5">
              <a:alpha val="20000"/>
            </a:schemeClr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7726680" y="4864608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✓</a:t>
            </a:r>
            <a:endParaRPr lang="en-US" sz="2200" dirty="0"/>
          </a:p>
        </p:txBody>
      </p:sp>
      <p:sp>
        <p:nvSpPr>
          <p:cNvPr id="24" name="panel"/>
          <p:cNvSpPr/>
          <p:nvPr/>
        </p:nvSpPr>
        <p:spPr>
          <a:xfrm>
            <a:off x="8503920" y="2560320"/>
            <a:ext cx="3136392" cy="2926080"/>
          </a:xfrm>
          <a:prstGeom prst="roundRect">
            <a:avLst>
              <a:gd name="adj" fmla="val 375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686800" y="2697480"/>
            <a:ext cx="2788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Why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Only the 2 ATP from glycolysis.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le Aerobic?"/>
          <p:cNvSpPr/>
          <p:nvPr/>
        </p:nvSpPr>
        <p:spPr>
          <a:xfrm>
            <a:off x="1097280" y="1783080"/>
            <a:ext cx="2377440" cy="2615184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4445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63701" y="1901952"/>
            <a:ext cx="9509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40" dirty="0">
                <a:solidFill>
                  <a:schemeClr val="tx2"/>
                </a:solidFill>
              </a:rPr>
              <a:t>7</a:t>
            </a:r>
            <a:endParaRPr lang="en-US" sz="2340" dirty="0"/>
          </a:p>
        </p:txBody>
      </p:sp>
      <p:pic>
        <p:nvPicPr>
          <p:cNvPr id="4" name="Image 0" descr="Aerobic?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258568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3637483"/>
            <a:ext cx="23774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chemeClr val="tx2"/>
                </a:solidFill>
              </a:rPr>
              <a:t>Aerobic?</a:t>
            </a:r>
            <a:endParaRPr lang="en-US" sz="1950" dirty="0"/>
          </a:p>
        </p:txBody>
      </p:sp>
      <p:sp>
        <p:nvSpPr>
          <p:cNvPr id="6" name="Text 0"/>
          <p:cNvSpPr/>
          <p:nvPr>
            <p:ph idx="100" type="body" hasCustomPrompt="1"/>
          </p:nvPr>
        </p:nvSpPr>
        <p:spPr>
          <a:xfrm>
            <a:off x="4114800" y="2240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Section 7 of 9 · about 5 min</a:t>
            </a:r>
            <a:endParaRPr lang="en-US" sz="20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4114800" y="27889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Aerobic vs. anaerobic</a:t>
            </a:r>
            <a:endParaRPr lang="en-US" sz="4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With and without oxygen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676656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1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Read</a:t>
            </a:r>
            <a:endParaRPr lang="en-US" sz="13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37360"/>
          <a:ext cx="10515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114800"/>
                <a:gridCol w="4114800"/>
              </a:tblGrid>
              <a:tr h="621792">
                <a:tc>
                  <a:txBody>
                    <a:bodyPr/>
                    <a:lstStyle/>
                    <a:p>
                      <a:endParaRPr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Aerobic respiration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Anaerobic (fermentation)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Oxygen?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Needed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Not needed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Stages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Glycolysis → Krebs → ETC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Glycolysis → fermentation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Where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Cytoplasm and mitochondria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Cytoplasm only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ATP per glucose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About 36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Products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</a:t>
                      </a:r>
                      <a:pPr algn="ctr" indent="0" marL="0">
                        <a:buNone/>
                      </a:pPr>
                      <a:r>
                        <a:rPr lang="en-US" sz="170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, water, ATP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Lactic acid, or alcohol + CO</a:t>
                      </a:r>
                      <a:pPr algn="ctr" indent="0" marL="0">
                        <a:buNone/>
                      </a:pPr>
                      <a:r>
                        <a:rPr lang="en-US" sz="1700" baseline="-40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oxygen switch: oxygen 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636776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1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Worked example</a:t>
            </a:r>
            <a:endParaRPr lang="en-US" sz="1300" dirty="0"/>
          </a:p>
        </p:txBody>
      </p:sp>
      <p:pic>
        <p:nvPicPr>
          <p:cNvPr id="6" name="Image 0" descr="Map with oxygen on: all three stages run, about 36 AT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1554480"/>
            <a:ext cx="8357616" cy="4663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oxygen switch: oxygen OFF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636776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1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Worked example</a:t>
            </a:r>
            <a:endParaRPr lang="en-US" sz="1300" dirty="0"/>
          </a:p>
        </p:txBody>
      </p:sp>
      <p:pic>
        <p:nvPicPr>
          <p:cNvPr id="6" name="Image 0" descr="Map with oxygen off: Krebs and ETC stopped, fermentation added, 2 AT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1554480"/>
            <a:ext cx="8357616" cy="4663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Try it: aerobic, anaerobic, or both?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Try it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Sort each statement.</a:t>
            </a:r>
            <a:endParaRPr lang="en-US" sz="1800" dirty="0"/>
          </a:p>
        </p:txBody>
      </p:sp>
      <p:sp>
        <p:nvSpPr>
          <p:cNvPr id="7" name="panel"/>
          <p:cNvSpPr/>
          <p:nvPr/>
        </p:nvSpPr>
        <p:spPr>
          <a:xfrm>
            <a:off x="548640" y="2103120"/>
            <a:ext cx="1106424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8" name="chip"/>
          <p:cNvSpPr/>
          <p:nvPr/>
        </p:nvSpPr>
        <p:spPr>
          <a:xfrm>
            <a:off x="731520" y="2240280"/>
            <a:ext cx="1459382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240280"/>
            <a:ext cx="14593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Needs oxygen</a:t>
            </a:r>
            <a:endParaRPr lang="en-US" sz="1500" dirty="0"/>
          </a:p>
        </p:txBody>
      </p:sp>
      <p:sp>
        <p:nvSpPr>
          <p:cNvPr id="10" name="chip"/>
          <p:cNvSpPr/>
          <p:nvPr/>
        </p:nvSpPr>
        <p:spPr>
          <a:xfrm>
            <a:off x="2318918" y="2240280"/>
            <a:ext cx="1997050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318918" y="2240280"/>
            <a:ext cx="19970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Makes about 36 ATP</a:t>
            </a:r>
            <a:endParaRPr lang="en-US" sz="1500" dirty="0"/>
          </a:p>
        </p:txBody>
      </p:sp>
      <p:sp>
        <p:nvSpPr>
          <p:cNvPr id="12" name="chip"/>
          <p:cNvSpPr/>
          <p:nvPr/>
        </p:nvSpPr>
        <p:spPr>
          <a:xfrm>
            <a:off x="4443984" y="2240280"/>
            <a:ext cx="2265883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43984" y="2240280"/>
            <a:ext cx="22658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Uses the mitochondria</a:t>
            </a:r>
            <a:endParaRPr lang="en-US" sz="1500" dirty="0"/>
          </a:p>
        </p:txBody>
      </p:sp>
      <p:sp>
        <p:nvSpPr>
          <p:cNvPr id="14" name="chip"/>
          <p:cNvSpPr/>
          <p:nvPr/>
        </p:nvSpPr>
        <p:spPr>
          <a:xfrm>
            <a:off x="6837883" y="2240280"/>
            <a:ext cx="1817827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37883" y="2240280"/>
            <a:ext cx="181782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Makes only 2 ATP</a:t>
            </a:r>
            <a:endParaRPr lang="en-US" sz="1500" dirty="0"/>
          </a:p>
        </p:txBody>
      </p:sp>
      <p:sp>
        <p:nvSpPr>
          <p:cNvPr id="16" name="chip"/>
          <p:cNvSpPr/>
          <p:nvPr/>
        </p:nvSpPr>
        <p:spPr>
          <a:xfrm>
            <a:off x="731520" y="2770632"/>
            <a:ext cx="2893162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2770632"/>
            <a:ext cx="2893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Makes lactic acid or alcohol</a:t>
            </a:r>
            <a:endParaRPr lang="en-US" sz="1500" dirty="0"/>
          </a:p>
        </p:txBody>
      </p:sp>
      <p:sp>
        <p:nvSpPr>
          <p:cNvPr id="18" name="chip"/>
          <p:cNvSpPr/>
          <p:nvPr/>
        </p:nvSpPr>
        <p:spPr>
          <a:xfrm>
            <a:off x="3752698" y="2770632"/>
            <a:ext cx="2355494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752698" y="2770632"/>
            <a:ext cx="23554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Starts with glycolysis</a:t>
            </a:r>
            <a:endParaRPr lang="en-US" sz="1500" dirty="0"/>
          </a:p>
        </p:txBody>
      </p:sp>
      <p:sp>
        <p:nvSpPr>
          <p:cNvPr id="20" name="chip"/>
          <p:cNvSpPr/>
          <p:nvPr/>
        </p:nvSpPr>
        <p:spPr>
          <a:xfrm>
            <a:off x="6236208" y="2770632"/>
            <a:ext cx="2086661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236208" y="2770632"/>
            <a:ext cx="20866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Starts with glucose</a:t>
            </a:r>
            <a:endParaRPr lang="en-US" sz="1500" dirty="0"/>
          </a:p>
        </p:txBody>
      </p:sp>
      <p:sp>
        <p:nvSpPr>
          <p:cNvPr id="22" name="chip"/>
          <p:cNvSpPr/>
          <p:nvPr/>
        </p:nvSpPr>
        <p:spPr>
          <a:xfrm>
            <a:off x="731520" y="3300984"/>
            <a:ext cx="3161995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3300984"/>
            <a:ext cx="31619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Happens partly in the cytoplasm</a:t>
            </a:r>
            <a:endParaRPr lang="en-US" sz="1500" dirty="0"/>
          </a:p>
        </p:txBody>
      </p:sp>
      <p:sp>
        <p:nvSpPr>
          <p:cNvPr id="24" name="bin Aerobic only"/>
          <p:cNvSpPr/>
          <p:nvPr/>
        </p:nvSpPr>
        <p:spPr>
          <a:xfrm>
            <a:off x="548640" y="3749040"/>
            <a:ext cx="3535680" cy="2423160"/>
          </a:xfrm>
          <a:prstGeom prst="roundRect">
            <a:avLst>
              <a:gd name="adj" fmla="val 4528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tx2"/>
            </a:solidFill>
            <a:prstDash val="dash"/>
          </a:ln>
        </p:spPr>
      </p:sp>
      <p:sp>
        <p:nvSpPr>
          <p:cNvPr id="25" name="Text 22"/>
          <p:cNvSpPr txBox="1"/>
          <p:nvPr/>
        </p:nvSpPr>
        <p:spPr>
          <a:xfrm>
            <a:off x="731520" y="38587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Aerobic only</a:t>
            </a:r>
            <a:endParaRPr lang="en-US" sz="1900" dirty="0"/>
          </a:p>
        </p:txBody>
      </p:sp>
      <p:sp>
        <p:nvSpPr>
          <p:cNvPr id="26" name="bin Anaerobic only"/>
          <p:cNvSpPr/>
          <p:nvPr/>
        </p:nvSpPr>
        <p:spPr>
          <a:xfrm>
            <a:off x="4312920" y="3749040"/>
            <a:ext cx="3535680" cy="2423160"/>
          </a:xfrm>
          <a:prstGeom prst="roundRect">
            <a:avLst>
              <a:gd name="adj" fmla="val 4528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tx2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4495800" y="38587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Anaerobic only</a:t>
            </a:r>
            <a:endParaRPr lang="en-US" sz="1900" dirty="0"/>
          </a:p>
        </p:txBody>
      </p:sp>
      <p:sp>
        <p:nvSpPr>
          <p:cNvPr id="28" name="bin Both"/>
          <p:cNvSpPr/>
          <p:nvPr/>
        </p:nvSpPr>
        <p:spPr>
          <a:xfrm>
            <a:off x="8077200" y="3749040"/>
            <a:ext cx="3535680" cy="2423160"/>
          </a:xfrm>
          <a:prstGeom prst="roundRect">
            <a:avLst>
              <a:gd name="adj" fmla="val 4528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tx2"/>
            </a:solidFill>
            <a:prstDash val="dash"/>
          </a:ln>
        </p:spPr>
      </p:sp>
      <p:sp>
        <p:nvSpPr>
          <p:cNvPr id="29" name="Text 26"/>
          <p:cNvSpPr txBox="1"/>
          <p:nvPr/>
        </p:nvSpPr>
        <p:spPr>
          <a:xfrm>
            <a:off x="8260080" y="38587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Both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Try it: aerobic, anaerobic, or both?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Sort each statement.</a:t>
            </a:r>
            <a:endParaRPr lang="en-US" sz="1800" dirty="0"/>
          </a:p>
        </p:txBody>
      </p:sp>
      <p:sp>
        <p:nvSpPr>
          <p:cNvPr id="7" name="bin Aerobic only"/>
          <p:cNvSpPr/>
          <p:nvPr/>
        </p:nvSpPr>
        <p:spPr>
          <a:xfrm>
            <a:off x="548640" y="2148840"/>
            <a:ext cx="3535680" cy="4023360"/>
          </a:xfrm>
          <a:prstGeom prst="roundRect">
            <a:avLst>
              <a:gd name="adj" fmla="val 3103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31520" y="22585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Aerobic only</a:t>
            </a:r>
            <a:endParaRPr lang="en-US" sz="1900" dirty="0"/>
          </a:p>
        </p:txBody>
      </p:sp>
      <p:sp>
        <p:nvSpPr>
          <p:cNvPr id="9" name="chip"/>
          <p:cNvSpPr/>
          <p:nvPr/>
        </p:nvSpPr>
        <p:spPr>
          <a:xfrm>
            <a:off x="731520" y="2788920"/>
            <a:ext cx="1459382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788920"/>
            <a:ext cx="14593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Needs oxygen</a:t>
            </a:r>
            <a:endParaRPr lang="en-US" sz="1500" dirty="0"/>
          </a:p>
        </p:txBody>
      </p:sp>
      <p:sp>
        <p:nvSpPr>
          <p:cNvPr id="11" name="chip"/>
          <p:cNvSpPr/>
          <p:nvPr/>
        </p:nvSpPr>
        <p:spPr>
          <a:xfrm>
            <a:off x="731520" y="3319272"/>
            <a:ext cx="1997050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319272"/>
            <a:ext cx="19970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Makes about 36 ATP</a:t>
            </a:r>
            <a:endParaRPr lang="en-US" sz="1500" dirty="0"/>
          </a:p>
        </p:txBody>
      </p:sp>
      <p:sp>
        <p:nvSpPr>
          <p:cNvPr id="13" name="chip"/>
          <p:cNvSpPr/>
          <p:nvPr/>
        </p:nvSpPr>
        <p:spPr>
          <a:xfrm>
            <a:off x="731520" y="3849624"/>
            <a:ext cx="2265883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849624"/>
            <a:ext cx="22658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Uses the mitochondria</a:t>
            </a:r>
            <a:endParaRPr lang="en-US" sz="1500" dirty="0"/>
          </a:p>
        </p:txBody>
      </p:sp>
      <p:sp>
        <p:nvSpPr>
          <p:cNvPr id="15" name="bin Anaerobic only"/>
          <p:cNvSpPr/>
          <p:nvPr/>
        </p:nvSpPr>
        <p:spPr>
          <a:xfrm>
            <a:off x="4312920" y="2148840"/>
            <a:ext cx="3535680" cy="4023360"/>
          </a:xfrm>
          <a:prstGeom prst="roundRect">
            <a:avLst>
              <a:gd name="adj" fmla="val 3103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4495800" y="22585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Anaerobic only</a:t>
            </a:r>
            <a:endParaRPr lang="en-US" sz="1900" dirty="0"/>
          </a:p>
        </p:txBody>
      </p:sp>
      <p:sp>
        <p:nvSpPr>
          <p:cNvPr id="17" name="chip"/>
          <p:cNvSpPr/>
          <p:nvPr/>
        </p:nvSpPr>
        <p:spPr>
          <a:xfrm>
            <a:off x="4495800" y="2788920"/>
            <a:ext cx="1817827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495800" y="2788920"/>
            <a:ext cx="181782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Makes only 2 ATP</a:t>
            </a:r>
            <a:endParaRPr lang="en-US" sz="1500" dirty="0"/>
          </a:p>
        </p:txBody>
      </p:sp>
      <p:sp>
        <p:nvSpPr>
          <p:cNvPr id="19" name="chip"/>
          <p:cNvSpPr/>
          <p:nvPr/>
        </p:nvSpPr>
        <p:spPr>
          <a:xfrm>
            <a:off x="4495800" y="3319272"/>
            <a:ext cx="2893162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495800" y="3319272"/>
            <a:ext cx="2893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Makes lactic acid or alcohol</a:t>
            </a:r>
            <a:endParaRPr lang="en-US" sz="1500" dirty="0"/>
          </a:p>
        </p:txBody>
      </p:sp>
      <p:sp>
        <p:nvSpPr>
          <p:cNvPr id="21" name="bin Both"/>
          <p:cNvSpPr/>
          <p:nvPr/>
        </p:nvSpPr>
        <p:spPr>
          <a:xfrm>
            <a:off x="8077200" y="2148840"/>
            <a:ext cx="3535680" cy="4023360"/>
          </a:xfrm>
          <a:prstGeom prst="roundRect">
            <a:avLst>
              <a:gd name="adj" fmla="val 3103"/>
            </a:avLst>
          </a:prstGeom>
          <a:solidFill>
            <a:schemeClr val="bg2">
              <a:alpha val="70000"/>
            </a:schemeClr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22" name="Text 19"/>
          <p:cNvSpPr txBox="1"/>
          <p:nvPr/>
        </p:nvSpPr>
        <p:spPr>
          <a:xfrm>
            <a:off x="8260080" y="2258568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Both</a:t>
            </a:r>
            <a:endParaRPr lang="en-US" sz="1900" dirty="0"/>
          </a:p>
        </p:txBody>
      </p:sp>
      <p:sp>
        <p:nvSpPr>
          <p:cNvPr id="23" name="chip"/>
          <p:cNvSpPr/>
          <p:nvPr/>
        </p:nvSpPr>
        <p:spPr>
          <a:xfrm>
            <a:off x="8260080" y="2788920"/>
            <a:ext cx="2355494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60080" y="2788920"/>
            <a:ext cx="23554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Starts with glycolysis</a:t>
            </a:r>
            <a:endParaRPr lang="en-US" sz="1500" dirty="0"/>
          </a:p>
        </p:txBody>
      </p:sp>
      <p:sp>
        <p:nvSpPr>
          <p:cNvPr id="25" name="chip"/>
          <p:cNvSpPr/>
          <p:nvPr/>
        </p:nvSpPr>
        <p:spPr>
          <a:xfrm>
            <a:off x="8260080" y="3319272"/>
            <a:ext cx="2086661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60080" y="3319272"/>
            <a:ext cx="20866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Starts with glucose</a:t>
            </a:r>
            <a:endParaRPr lang="en-US" sz="1500" dirty="0"/>
          </a:p>
        </p:txBody>
      </p:sp>
      <p:sp>
        <p:nvSpPr>
          <p:cNvPr id="27" name="chip"/>
          <p:cNvSpPr/>
          <p:nvPr/>
        </p:nvSpPr>
        <p:spPr>
          <a:xfrm>
            <a:off x="8260080" y="3849624"/>
            <a:ext cx="3161995" cy="40233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60080" y="3849624"/>
            <a:ext cx="31619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Happens partly in the cytoplasm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48740" cy="329184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348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Quick check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Which stages stop when there is no oxygen?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All three stages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None of them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Krebs cycle and the electron transport chain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Only glycolysis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Quick check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Which stages stop when there is no oxygen?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All three stages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None of them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accent5">
              <a:alpha val="20000"/>
            </a:schemeClr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Krebs cycle and the electron transport chain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7726680" y="4096512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✓</a:t>
            </a:r>
            <a:endParaRPr lang="en-US" sz="2200" dirty="0"/>
          </a:p>
        </p:txBody>
      </p:sp>
      <p:sp>
        <p:nvSpPr>
          <p:cNvPr id="20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Only glycolysis</a:t>
            </a:r>
            <a:endParaRPr lang="en-US" sz="2000" dirty="0"/>
          </a:p>
        </p:txBody>
      </p:sp>
      <p:sp>
        <p:nvSpPr>
          <p:cNvPr id="24" name="panel"/>
          <p:cNvSpPr/>
          <p:nvPr/>
        </p:nvSpPr>
        <p:spPr>
          <a:xfrm>
            <a:off x="8503920" y="2560320"/>
            <a:ext cx="3136392" cy="2926080"/>
          </a:xfrm>
          <a:prstGeom prst="roundRect">
            <a:avLst>
              <a:gd name="adj" fmla="val 375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686800" y="2697480"/>
            <a:ext cx="2788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Why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Without oxygen the ETC stops, and Krebs stops with it.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le Mistake"/>
          <p:cNvSpPr/>
          <p:nvPr/>
        </p:nvSpPr>
        <p:spPr>
          <a:xfrm>
            <a:off x="1097280" y="1783080"/>
            <a:ext cx="2377440" cy="2615184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4445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63701" y="1901952"/>
            <a:ext cx="9509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40" dirty="0">
                <a:solidFill>
                  <a:schemeClr val="tx2"/>
                </a:solidFill>
              </a:rPr>
              <a:t>8</a:t>
            </a:r>
            <a:endParaRPr lang="en-US" sz="2340" dirty="0"/>
          </a:p>
        </p:txBody>
      </p:sp>
      <p:pic>
        <p:nvPicPr>
          <p:cNvPr id="4" name="Image 0" descr="Mistak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258568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3637483"/>
            <a:ext cx="23774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chemeClr val="tx2"/>
                </a:solidFill>
              </a:rPr>
              <a:t>Mistake</a:t>
            </a:r>
            <a:endParaRPr lang="en-US" sz="1950" dirty="0"/>
          </a:p>
        </p:txBody>
      </p:sp>
      <p:sp>
        <p:nvSpPr>
          <p:cNvPr id="6" name="Text 0"/>
          <p:cNvSpPr/>
          <p:nvPr>
            <p:ph idx="100" type="body" hasCustomPrompt="1"/>
          </p:nvPr>
        </p:nvSpPr>
        <p:spPr>
          <a:xfrm>
            <a:off x="4114800" y="2240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Section 8 of 9 · about 4 min</a:t>
            </a:r>
            <a:endParaRPr lang="en-US" sz="20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4114800" y="27889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Spot the mistake</a:t>
            </a:r>
            <a:endParaRPr lang="en-US" sz="4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Sam's mistake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48740" cy="329184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348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Quick check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Sam wrote: "The Krebs cycle breaks down pyruvate and releases oxygen (O</a:t>
            </a:r>
            <a:pPr indent="0" marL="0">
              <a:spcAft>
                <a:spcPts val="600"/>
              </a:spcAft>
              <a:buNone/>
            </a:pPr>
            <a:r>
              <a:rPr lang="en-US" sz="2400" baseline="-40000" dirty="0">
                <a:solidFill>
                  <a:schemeClr val="tx1"/>
                </a:solidFill>
              </a:rPr>
              <a:t>2</a:t>
            </a:r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), which we breathe out."  What's wrong?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Krebs cycle happens in the cytoplasm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gas released is wrong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Krebs cycle doesn't break down pyruvate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We don't breathe out anything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Sam's mistake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Sam wrote: "The Krebs cycle breaks down pyruvate and releases oxygen (O</a:t>
            </a:r>
            <a:pPr indent="0" marL="0">
              <a:spcAft>
                <a:spcPts val="600"/>
              </a:spcAft>
              <a:buNone/>
            </a:pPr>
            <a:r>
              <a:rPr lang="en-US" sz="2400" baseline="-40000" dirty="0">
                <a:solidFill>
                  <a:schemeClr val="tx1"/>
                </a:solidFill>
              </a:rPr>
              <a:t>2</a:t>
            </a:r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), which we breathe out."  What's wrong?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The Krebs cycle happens in the cytoplasm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accent5">
              <a:alpha val="20000"/>
            </a:schemeClr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gas released is wrong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7726680" y="3328416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✓</a:t>
            </a:r>
            <a:endParaRPr lang="en-US" sz="2200" dirty="0"/>
          </a:p>
        </p:txBody>
      </p:sp>
      <p:sp>
        <p:nvSpPr>
          <p:cNvPr id="16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The Krebs cycle doesn't break down pyruvate</a:t>
            </a:r>
            <a:endParaRPr lang="en-US" sz="2000" dirty="0"/>
          </a:p>
        </p:txBody>
      </p:sp>
      <p:sp>
        <p:nvSpPr>
          <p:cNvPr id="20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We don't breathe out anything</a:t>
            </a:r>
            <a:endParaRPr lang="en-US" sz="2000" dirty="0"/>
          </a:p>
        </p:txBody>
      </p:sp>
      <p:sp>
        <p:nvSpPr>
          <p:cNvPr id="24" name="panel"/>
          <p:cNvSpPr/>
          <p:nvPr/>
        </p:nvSpPr>
        <p:spPr>
          <a:xfrm>
            <a:off x="8503920" y="2560320"/>
            <a:ext cx="3136392" cy="2926080"/>
          </a:xfrm>
          <a:prstGeom prst="roundRect">
            <a:avLst>
              <a:gd name="adj" fmla="val 375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686800" y="2697480"/>
            <a:ext cx="2788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Why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The Krebs cycle releases carbon dioxide, not oxygen.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Now fix it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48740" cy="329184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348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Quick check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Which gas does the Krebs cycle release?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Carbon dioxide (CO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2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Oxygen (O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2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Nitrogen (N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2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Hydrogen (H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2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Now fix it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Which gas does the Krebs cycle release?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accent5">
              <a:alpha val="20000"/>
            </a:schemeClr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Carbon dioxide (CO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2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256032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✓</a:t>
            </a:r>
            <a:endParaRPr lang="en-US" sz="2200" dirty="0"/>
          </a:p>
        </p:txBody>
      </p:sp>
      <p:sp>
        <p:nvSpPr>
          <p:cNvPr id="12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Oxygen (O</a:t>
            </a:r>
            <a:pPr indent="0" marL="0">
              <a:buNone/>
            </a:pPr>
            <a:r>
              <a:rPr lang="en-US" sz="2000" baseline="-40000" dirty="0">
                <a:solidFill>
                  <a:schemeClr val="tx2"/>
                </a:solidFill>
              </a:rPr>
              <a:t>2</a:t>
            </a:r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)</a:t>
            </a:r>
            <a:endParaRPr lang="en-US" sz="2000" dirty="0"/>
          </a:p>
        </p:txBody>
      </p:sp>
      <p:sp>
        <p:nvSpPr>
          <p:cNvPr id="16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Nitrogen (N</a:t>
            </a:r>
            <a:pPr indent="0" marL="0">
              <a:buNone/>
            </a:pPr>
            <a:r>
              <a:rPr lang="en-US" sz="2000" baseline="-40000" dirty="0">
                <a:solidFill>
                  <a:schemeClr val="tx2"/>
                </a:solidFill>
              </a:rPr>
              <a:t>2</a:t>
            </a:r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)</a:t>
            </a:r>
            <a:endParaRPr lang="en-US" sz="2000" dirty="0"/>
          </a:p>
        </p:txBody>
      </p:sp>
      <p:sp>
        <p:nvSpPr>
          <p:cNvPr id="20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Hydrogen (H</a:t>
            </a:r>
            <a:pPr indent="0" marL="0">
              <a:buNone/>
            </a:pPr>
            <a:r>
              <a:rPr lang="en-US" sz="2000" baseline="-40000" dirty="0">
                <a:solidFill>
                  <a:schemeClr val="tx2"/>
                </a:solidFill>
              </a:rPr>
              <a:t>2</a:t>
            </a:r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)</a:t>
            </a:r>
            <a:endParaRPr lang="en-US" sz="2000" dirty="0"/>
          </a:p>
        </p:txBody>
      </p:sp>
      <p:sp>
        <p:nvSpPr>
          <p:cNvPr id="24" name="panel"/>
          <p:cNvSpPr/>
          <p:nvPr/>
        </p:nvSpPr>
        <p:spPr>
          <a:xfrm>
            <a:off x="8503920" y="2560320"/>
            <a:ext cx="3136392" cy="2926080"/>
          </a:xfrm>
          <a:prstGeom prst="roundRect">
            <a:avLst>
              <a:gd name="adj" fmla="val 375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686800" y="2697480"/>
            <a:ext cx="2788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Why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The carbon from pyruvate leaves as CO₂.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Riley's mistake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48740" cy="329184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348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Quick check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Riley wrote: "When there's no oxygen, the cell switches to fermentation and the ETC keeps making about 32 ATP."  What's wrong?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Fermentation needs oxygen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Cells die right away without oxygen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Glycolysis stops without oxygen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ETC stops without oxygen, so the cell only gets 2 ATP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Riley's mistake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Riley wrote: "When there's no oxygen, the cell switches to fermentation and the ETC keeps making about 32 ATP."  What's wrong?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Fermentation needs oxygen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Cells die right away without oxygen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Glycolysis stops without oxygen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accent5">
              <a:alpha val="20000"/>
            </a:schemeClr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ETC stops without oxygen, so the cell only gets 2 ATP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7726680" y="4864608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✓</a:t>
            </a:r>
            <a:endParaRPr lang="en-US" sz="2200" dirty="0"/>
          </a:p>
        </p:txBody>
      </p:sp>
      <p:sp>
        <p:nvSpPr>
          <p:cNvPr id="24" name="panel"/>
          <p:cNvSpPr/>
          <p:nvPr/>
        </p:nvSpPr>
        <p:spPr>
          <a:xfrm>
            <a:off x="8503920" y="2560320"/>
            <a:ext cx="3136392" cy="2926080"/>
          </a:xfrm>
          <a:prstGeom prst="roundRect">
            <a:avLst>
              <a:gd name="adj" fmla="val 375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686800" y="2697480"/>
            <a:ext cx="2788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Why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Without oxygen only glycolysis runs, with fermentation.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Now fix it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48740" cy="329184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348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Quick check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How many ATP does a cell get per glucose using fermentation?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About 36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0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About 32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Now fix it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How many ATP does a cell get per glucose using fermentation?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About 36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0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accent5">
              <a:alpha val="20000"/>
            </a:schemeClr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7726680" y="4096512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✓</a:t>
            </a:r>
            <a:endParaRPr lang="en-US" sz="2200" dirty="0"/>
          </a:p>
        </p:txBody>
      </p:sp>
      <p:sp>
        <p:nvSpPr>
          <p:cNvPr id="20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About 32</a:t>
            </a:r>
            <a:endParaRPr lang="en-US" sz="2000" dirty="0"/>
          </a:p>
        </p:txBody>
      </p:sp>
      <p:sp>
        <p:nvSpPr>
          <p:cNvPr id="24" name="panel"/>
          <p:cNvSpPr/>
          <p:nvPr/>
        </p:nvSpPr>
        <p:spPr>
          <a:xfrm>
            <a:off x="8503920" y="2560320"/>
            <a:ext cx="3136392" cy="2926080"/>
          </a:xfrm>
          <a:prstGeom prst="roundRect">
            <a:avLst>
              <a:gd name="adj" fmla="val 375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686800" y="2697480"/>
            <a:ext cx="2788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Why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Only the 2 ATP from glycolysis.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Back to the phenomenon: out of breath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676656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1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Read</a:t>
            </a:r>
            <a:endParaRPr lang="en-US" sz="1300" dirty="0"/>
          </a:p>
        </p:txBody>
      </p:sp>
      <p:pic>
        <p:nvPicPr>
          <p:cNvPr id="6" name="Image 0" descr="The sprin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2899" y="1600200"/>
            <a:ext cx="7855723" cy="3291840"/>
          </a:xfrm>
          <a:prstGeom prst="rect">
            <a:avLst/>
          </a:prstGeom>
        </p:spPr>
      </p:pic>
      <p:sp>
        <p:nvSpPr>
          <p:cNvPr id="7" name="panel"/>
          <p:cNvSpPr/>
          <p:nvPr/>
        </p:nvSpPr>
        <p:spPr>
          <a:xfrm>
            <a:off x="548640" y="5074920"/>
            <a:ext cx="11064240" cy="1097280"/>
          </a:xfrm>
          <a:prstGeom prst="roundRect">
            <a:avLst>
              <a:gd name="adj" fmla="val 10000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49808" y="5184648"/>
            <a:ext cx="106619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Look back at your first idea. Now explain the sprinter using what you learned.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Part A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48740" cy="329184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348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Quick check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Why does the sprinter breathe harder?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Because glycolysis needs oxygen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To bring in more oxygen for the electron transport chain and get rid of the extra CO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2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from the Krebs cycle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To bring in more glucose through the lungs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To breathe out extra oxygen the muscles made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Part A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Why does the sprinter breathe harder?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Because glycolysis needs oxygen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accent5">
              <a:alpha val="20000"/>
            </a:schemeClr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To bring in more oxygen for the electron transport chain and get rid of the extra CO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2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from the Krebs cycle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7726680" y="3328416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✓</a:t>
            </a:r>
            <a:endParaRPr lang="en-US" sz="2200" dirty="0"/>
          </a:p>
        </p:txBody>
      </p:sp>
      <p:sp>
        <p:nvSpPr>
          <p:cNvPr id="16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To bring in more glucose through the lungs</a:t>
            </a:r>
            <a:endParaRPr lang="en-US" sz="2000" dirty="0"/>
          </a:p>
        </p:txBody>
      </p:sp>
      <p:sp>
        <p:nvSpPr>
          <p:cNvPr id="20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To breathe out extra oxygen the muscles made</a:t>
            </a:r>
            <a:endParaRPr lang="en-US" sz="2000" dirty="0"/>
          </a:p>
        </p:txBody>
      </p:sp>
      <p:sp>
        <p:nvSpPr>
          <p:cNvPr id="24" name="panel"/>
          <p:cNvSpPr/>
          <p:nvPr/>
        </p:nvSpPr>
        <p:spPr>
          <a:xfrm>
            <a:off x="8503920" y="2560320"/>
            <a:ext cx="3136392" cy="2926080"/>
          </a:xfrm>
          <a:prstGeom prst="roundRect">
            <a:avLst>
              <a:gd name="adj" fmla="val 375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686800" y="2697480"/>
            <a:ext cx="2788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Why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Working muscles need more ATP; the ETC needs oxygen to make it, and the Krebs cycle makes more CO₂.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Part B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48740" cy="329184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1348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Quick check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Why do the legs burn during the sprint?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muscles run low on oxygen and switch to lactic acid fermentation</a:t>
            </a:r>
            <a:endParaRPr lang="en-US" sz="2000" dirty="0"/>
          </a:p>
        </p:txBody>
      </p:sp>
      <p:sp>
        <p:nvSpPr>
          <p:cNvPr id="11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muscles make too much oxygen</a:t>
            </a:r>
            <a:endParaRPr lang="en-US" sz="2000" dirty="0"/>
          </a:p>
        </p:txBody>
      </p:sp>
      <p:sp>
        <p:nvSpPr>
          <p:cNvPr id="15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Krebs cycle makes lactic acid</a:t>
            </a:r>
            <a:endParaRPr lang="en-US" sz="2000" dirty="0"/>
          </a:p>
        </p:txBody>
      </p:sp>
      <p:sp>
        <p:nvSpPr>
          <p:cNvPr id="19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muscles stop doing glycolysis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Part B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Answer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Why do the legs burn during the sprint?</a:t>
            </a:r>
            <a:endParaRPr lang="en-US" sz="2400" dirty="0"/>
          </a:p>
        </p:txBody>
      </p:sp>
      <p:sp>
        <p:nvSpPr>
          <p:cNvPr id="7" name="option A"/>
          <p:cNvSpPr/>
          <p:nvPr/>
        </p:nvSpPr>
        <p:spPr>
          <a:xfrm>
            <a:off x="548640" y="2560320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accent5">
              <a:alpha val="20000"/>
            </a:schemeClr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8" name="letter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60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muscles run low on oxygen and switch to lactic acid fermentation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256032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✓</a:t>
            </a:r>
            <a:endParaRPr lang="en-US" sz="2200" dirty="0"/>
          </a:p>
        </p:txBody>
      </p:sp>
      <p:sp>
        <p:nvSpPr>
          <p:cNvPr id="12" name="option B"/>
          <p:cNvSpPr/>
          <p:nvPr/>
        </p:nvSpPr>
        <p:spPr>
          <a:xfrm>
            <a:off x="548640" y="3328416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letter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323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332841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The muscles make too much oxygen</a:t>
            </a:r>
            <a:endParaRPr lang="en-US" sz="2000" dirty="0"/>
          </a:p>
        </p:txBody>
      </p:sp>
      <p:sp>
        <p:nvSpPr>
          <p:cNvPr id="16" name="option C"/>
          <p:cNvSpPr/>
          <p:nvPr/>
        </p:nvSpPr>
        <p:spPr>
          <a:xfrm>
            <a:off x="548640" y="4096512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letter"/>
          <p:cNvSpPr/>
          <p:nvPr/>
        </p:nvSpPr>
        <p:spPr>
          <a:xfrm>
            <a:off x="713232" y="421538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32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0965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The Krebs cycle makes lactic acid</a:t>
            </a:r>
            <a:endParaRPr lang="en-US" sz="2000" dirty="0"/>
          </a:p>
        </p:txBody>
      </p:sp>
      <p:sp>
        <p:nvSpPr>
          <p:cNvPr id="20" name="option D"/>
          <p:cNvSpPr/>
          <p:nvPr/>
        </p:nvSpPr>
        <p:spPr>
          <a:xfrm>
            <a:off x="548640" y="4864608"/>
            <a:ext cx="7680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letter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The muscles stop doing glycolysis</a:t>
            </a:r>
            <a:endParaRPr lang="en-US" sz="2000" dirty="0"/>
          </a:p>
        </p:txBody>
      </p:sp>
      <p:sp>
        <p:nvSpPr>
          <p:cNvPr id="24" name="panel"/>
          <p:cNvSpPr/>
          <p:nvPr/>
        </p:nvSpPr>
        <p:spPr>
          <a:xfrm>
            <a:off x="8503920" y="2560320"/>
            <a:ext cx="3136392" cy="2926080"/>
          </a:xfrm>
          <a:prstGeom prst="roundRect">
            <a:avLst>
              <a:gd name="adj" fmla="val 375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686800" y="2697480"/>
            <a:ext cx="2788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Why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Lactic acid fermentation helps cause the burn.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le Final"/>
          <p:cNvSpPr/>
          <p:nvPr/>
        </p:nvSpPr>
        <p:spPr>
          <a:xfrm>
            <a:off x="1097280" y="1783080"/>
            <a:ext cx="2377440" cy="2615184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4445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63701" y="1901952"/>
            <a:ext cx="9509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40" dirty="0">
                <a:solidFill>
                  <a:schemeClr val="tx2"/>
                </a:solidFill>
              </a:rPr>
              <a:t>9</a:t>
            </a:r>
            <a:endParaRPr lang="en-US" sz="2340" dirty="0"/>
          </a:p>
        </p:txBody>
      </p:sp>
      <p:pic>
        <p:nvPicPr>
          <p:cNvPr id="4" name="Image 0" descr="Final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258568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3637483"/>
            <a:ext cx="23774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chemeClr val="tx2"/>
                </a:solidFill>
              </a:rPr>
              <a:t>Final</a:t>
            </a:r>
            <a:endParaRPr lang="en-US" sz="1950" dirty="0"/>
          </a:p>
        </p:txBody>
      </p:sp>
      <p:sp>
        <p:nvSpPr>
          <p:cNvPr id="6" name="Text 0"/>
          <p:cNvSpPr/>
          <p:nvPr>
            <p:ph idx="100" type="body" hasCustomPrompt="1"/>
          </p:nvPr>
        </p:nvSpPr>
        <p:spPr>
          <a:xfrm>
            <a:off x="4114800" y="2240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Section 9 of 9 · about 5 min</a:t>
            </a:r>
            <a:endParaRPr lang="en-US" sz="20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4114800" y="27889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Final check</a:t>
            </a:r>
            <a:endParaRPr lang="en-US" sz="4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Final check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676656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1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Read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28800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Take the final check in the lesson: </a:t>
            </a:r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10 questions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, multiple choice, two-part, and select-all.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You need </a:t>
            </a:r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8 out of 10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 to pass. If you don't pass, you'll get a new set of questions.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piration Night Grid">
  <a:themeElements>
    <a:clrScheme name="Respiration Night Grid">
      <a:dk1>
        <a:srgbClr val="E8EEF8"/>
      </a:dk1>
      <a:lt1>
        <a:srgbClr val="0D1626"/>
      </a:lt1>
      <a:dk2>
        <a:srgbClr val="A3B4CF"/>
      </a:dk2>
      <a:lt2>
        <a:srgbClr val="16243B"/>
      </a:lt2>
      <a:accent1>
        <a:srgbClr val="FFD35C"/>
      </a:accent1>
      <a:accent2>
        <a:srgbClr val="FF7D6E"/>
      </a:accent2>
      <a:accent3>
        <a:srgbClr val="45C8F0"/>
      </a:accent3>
      <a:accent4>
        <a:srgbClr val="B996FF"/>
      </a:accent4>
      <a:accent5>
        <a:srgbClr val="5FE3A9"/>
      </a:accent5>
      <a:accent6>
        <a:srgbClr val="F5A524"/>
      </a:accent6>
      <a:hlink>
        <a:srgbClr val="45C8F0"/>
      </a:hlink>
      <a:folHlink>
        <a:srgbClr val="B996FF"/>
      </a:folHlink>
    </a:clrScheme>
    <a:fontScheme name="Respiration Night Gri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Cellular Respiration</dc:title>
  <dc:subject>Biology Unit 2: Energy Flow</dc:subject>
  <dc:creator>PptxGenJS</dc:creator>
  <cp:lastModifiedBy>PptxGenJS</cp:lastModifiedBy>
  <cp:revision>1</cp:revision>
  <dcterms:created xsi:type="dcterms:W3CDTF">2026-10-23T21:01:04Z</dcterms:created>
  <dcterms:modified xsi:type="dcterms:W3CDTF">2026-10-23T21:01:04Z</dcterms:modified>
</cp:coreProperties>
</file>