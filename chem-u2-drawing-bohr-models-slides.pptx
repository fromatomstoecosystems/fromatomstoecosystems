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3377587f-47dc-e722-6801-0fc6f17ca484}">
          <p14:sldIdLst>
            <p14:sldId id="256"/>
            <p14:sldId id="257"/>
            <p14:sldId id="258"/>
            <p14:sldId id="259"/>
          </p14:sldIdLst>
        </p14:section>
        <p14:section name="Section 1" id="{1194a251-99b9-5679-3142-ffed44ef58fb}">
          <p14:sldIdLst>
            <p14:sldId id="260"/>
            <p14:sldId id="261"/>
            <p14:sldId id="262"/>
            <p14:sldId id="263"/>
            <p14:sldId id="264"/>
            <p14:sldId id="265"/>
          </p14:sldIdLst>
        </p14:section>
        <p14:section name="Section 2" id="{4d36c098-85b9-0843-2087-d13205db99bf}">
          <p14:sldIdLst>
            <p14:sldId id="266"/>
            <p14:sldId id="267"/>
            <p14:sldId id="268"/>
            <p14:sldId id="269"/>
            <p14:sldId id="270"/>
            <p14:sldId id="271"/>
            <p14:sldId id="272"/>
            <p14:sldId id="273"/>
          </p14:sldIdLst>
        </p14:section>
        <p14:section name="Section 3" id="{fb711237-cce1-7134-dbb0-f55042f6072f}">
          <p14:sldIdLst>
            <p14:sldId id="274"/>
            <p14:sldId id="275"/>
            <p14:sldId id="276"/>
            <p14:sldId id="277"/>
            <p14:sldId id="278"/>
            <p14:sldId id="279"/>
          </p14:sldIdLst>
        </p14:section>
        <p14:section name="Section 4" id="{96e7e254-a894-b83b-cb11-57737dfe803e}">
          <p14:sldIdLst>
            <p14:sldId id="280"/>
            <p14:sldId id="281"/>
            <p14:sldId id="282"/>
            <p14:sldId id="283"/>
            <p14:sldId id="284"/>
            <p14:sldId id="285"/>
            <p14:sldId id="286"/>
          </p14:sldIdLst>
        </p14:section>
        <p14:section name="Section 5" id="{ee4fa019-9bff-6899-5220-b499ea482506}">
          <p14:sldIdLst>
            <p14:sldId id="287"/>
            <p14:sldId id="288"/>
            <p14:sldId id="289"/>
            <p14:sldId id="290"/>
            <p14:sldId id="291"/>
            <p14:sldId id="292"/>
            <p14:sldId id="293"/>
            <p14:sldId id="294"/>
            <p14:sldId id="295"/>
            <p14:sldId id="296"/>
          </p14:sldIdLst>
        </p14:section>
        <p14:section name="Section 6" id="{dd460383-fae2-a659-afa2-cba74fac9b03}">
          <p14:sldIdLst>
            <p14:sldId id="297"/>
            <p14:sldId id="298"/>
            <p14:sldId id="299"/>
            <p14:sldId id="300"/>
            <p14:sldId id="301"/>
            <p14:sldId id="302"/>
          </p14:sldIdLst>
        </p14:section>
        <p14:section name="Section 7" id="{90fde547-2a79-9377-8bf7-58915993125c}">
          <p14:sldIdLst>
            <p14:sldId id="303"/>
            <p14:sldId id="304"/>
            <p14:sldId id="305"/>
            <p14:sldId id="306"/>
            <p14:sldId id="307"/>
            <p14:sldId id="308"/>
            <p14:sldId id="309"/>
            <p14:sldId id="310"/>
          </p14:sldIdLst>
        </p14:section>
        <p14:section name="Section 8" id="{511e1f0f-99a9-40e0-9953-e95b8c9eacfe}">
          <p14:sldIdLst>
            <p14:sldId id="311"/>
            <p14:sldId id="312"/>
            <p14:sldId id="313"/>
            <p14:sldId id="314"/>
            <p14:sldId id="315"/>
            <p14:sldId id="316"/>
            <p14:sldId id="317"/>
            <p14:sldId id="318"/>
          </p14:sldIdLst>
        </p14:section>
        <p14:section name="Section 9" id="{1301e546-79e6-782e-645b-1ca1ab3e943a}">
          <p14:sldIdLst>
            <p14:sldId id="319"/>
            <p14:sldId id="320"/>
            <p14:sldId id="321"/>
          </p14:sldIdLst>
        </p14:section>
        <p14:section name="Wrap-up" id="{58c8d532-1905-c168-0a46-5f2207bf015a}">
          <p14:sldIdLst>
            <p14:sldId id="322"/>
            <p14:sldId id="323"/>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follow the Drawing Bohr Models lesson section by section: the reading, each Try it activity, and each quick check. Every question or activity has a slide without the answer, then a slide with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together. The standard is about patterns in the outermost energy level, which is where valence electrons are; that is where the lesson ends up in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on the start page. Students pick their teacher from the dropdown, which is how their scores reach the right gradebook sheet. The goals check themselves off as students finish sections, and progress saves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tiles match the tiles across the top of the lesson: H through F are the nine sections, and Ne is the results page. A section unlocks only after the one before it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takes about 5 minutes. Students read, label a lithium model, and answer one quick check to unlock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or let students read on their own. Words in blue are word-help chips in the lesson: students can tap them for a definition. Key point: protons and neutrons are in the nucleus; electrons are in the shells.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label goes with each number? Students drag or tap the labels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Nucleus (the center circle), 2 Electron (a small dot), 3 Shell (one of the big circles), 4 Number of protons ("3 p+" means 3 protons).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1.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Electrons sit in shells around the nucleus. Protons and neutrons are the particles packed into the nucleus.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takes about 8 minutes. Students read, explore the sodium tile, fill in a particle table for five elements, and answer one quick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in blue are word-help chips in the lesson. Stress rounding: the mass number is the rounded atomic mass, and only then do you subtract.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each part of the tile tells you before revealing. The two that matter for counting are the atomic number and the atomic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atomic number gives protons (and electrons in a neutral atom). The atomic mass rounds to the mass number, which gives neutrons.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in protons, neutrons, and electrons for oxygen, magnesium, aluminum, and chlorine. The lesson checks every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Oxygen 8, 8, 8. Magnesium 12, 12, 12. Aluminum 13, 14, 13. Chlorine 17, 18, 17. Potassium 19, 20, 19 (39.098 rounds to 39). Chlorine is the trap: subtracting 17 from 35.45 without 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2.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18.998 rounds to 19. Then 19 − 9 = 10 neutrons.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takes about 7 minutes. The electron filler is a simulator: each click adds one electron and one proton, so the atom becomes the next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inner shells fill first. Capacities for our 20 elements are 2, 8, 8, then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click Add electron in the simulator and lock in the element for each mission. Have them predict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helium (2). Mission 2: lithium (2, 1). Mission 3: neon (2, 8). Mission 4: sodium (2, 8, 1). Mission 5: argon (2, 8, 8). The next electron, potassium's 19th, starts shell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3.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Shell 1 takes 2, shell 2 takes 8, and the last 3 go into shell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takes about 7 minutes. Students step through a worked example, then build five arrangements for random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arrangement is the count in each shell, written inside to out, with commas.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flipchart inside the Read card. Walk the five steps and keep a running count of electrons left: 15, 13, 5,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out each arrangement before revealing. Remind them: 2, then up to 8, then up to 8, then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Nitrogen 2, 5. Silicon 2, 8, 4. Potassium 2, 8, 8, 1. Magnesium 2, 8, 2. Chlorine 2, 8, 7. For potassium, shell 3 stops at 8 and the 19th electron starts shell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4.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For the first 20 elements, shell 3 holds 8. The last 2 electrons start shell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takes about 7 minutes. This is where the class placement rule is taught and practiced.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it on the board for one shell. Electrons 1 to 4 go top, right, bottom, left (blue). Electrons 5 to 8 pair up in the same order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frames 1 to 4, then ask the class to predict where electrons 5 to 8 go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 5 pairs with electron 1 on top. Then 6 right, 7 bottom, 8 left. Shell 2 is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where each electron goes, one at a time. Point to the dashed spots: top, right, bottom,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shell follows the same order: 1 top, 2 right, 3 bottom, 4 left, then 5 pairs top, 6 right, 7 bottom, 8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where each electron goes, one at a time. Point to the dashed spots: top, right, bottom,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shell follows the same order: 1 top, 2 right, 3 bottom, 4 left, then 5 pairs top, 6 right, 7 bottom, 8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5.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Electrons 1 to 4 go top, right, bottom, left. Electron 5 pairs on top and electron 6 pairs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takes about 13 minutes. Students build five full models; the builder checks the nucleus, the shells, the electron counts, and the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nitrogen as an example that checks all four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build each model in the lesson. Before revealing, ask for the nucleus numbers and the arrangement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6 p+, 6 n0, 2, 4. Sodium: 11 p+, 12 n0, 2, 8, 1. Chlorine: 17 p+, 18 n0 (35.45 rounds to 35), 2, 8, 7. Magnesium: 12 p+, 12 n0, 2, 8, 2. Fluorine: 9 p+, 10 n0, 2, 7. All placed top, right, bottom, left, then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6.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2 + 8 + 3 = 13 electrons, so 13 protons. Atomic number 13 is aluminum.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takes about 7 minutes. It connects Bohr models to the periodic table through valence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Valence electrons are in the outer shell. Same group, same number. Helium is the one exception in our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tap at least 6 elements in the lesson. Ask what lithium, sodium, and potassium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have exactly 1 electron in the outer shell (yellow), even though they have different numbers of shells.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sort the eight elements in the lesson. Check: which group is each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sodium and potassium (group 1). 2: magnesium and beryllium (group 2). 6: oxygen and sulfur (group 16). 7: fluorine and chlorine (group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7.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Sulfur is in the same group as oxygen (group 16), so both have 6 valence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takes about 9 minutes. It is practice: reading models backwards and finding common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backwards: count the electrons, that is the atomic number. Review the five common mistakes; they show up in Spot the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count each model and name it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Oxygen (2 + 6 = 8). Sodium (2 + 8 + 1 = 11). Argon (2 + 8 + 8 = 18). Magnesium (2 + 8 + 2 = 12). Silicon (2 + 8 + 4 =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find each mistake. Use the common mistakes list from the Read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4 electrons in shell 1. Model 2: 12 electrons for 11 protons. Model 3: paired before the left side got one. Model 4: neutrons should be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8.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Three shells with 4 in the outer one is 2, 8, 4 = 14 electrons. Atomic number 14 is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is the final check, about 12 minutes. The quick review slide is the same review students see after 3 failed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review students see if they fail the final check 3 times. Good to go over with everyone before they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GitHub site the check runs full screen. Leaving the page or pressing Esc locks it until you enter the teacher code. Students review what they missed, then retake with new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each student's results page says Sent. If a student never passes, open Teacher view on their device and click Send this student's scores to the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early finishers. Students draw silicon on paper and check it against the four parts of a complete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Silicon: 14 p+ and 14 n0 (28.086 rounds to 28), 3 shells, 2, 8, 4. Shell 3 has one electron on each side, and all 4 are valence electrons.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971800"/>
            <a:ext cx="457200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PE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29184"/>
            <a:ext cx="7223760" cy="256032"/>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
        <p:nvSpPr>
          <p:cNvPr id="3" name="Text 0"/>
          <p:cNvSpPr/>
          <p:nvPr>
            <p:ph idx="101" type="title" hasCustomPrompt="1"/>
          </p:nvPr>
        </p:nvSpPr>
        <p:spPr>
          <a:xfrm>
            <a:off x="1417320" y="603504"/>
            <a:ext cx="7223760" cy="53035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PEN_SM">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29184"/>
            <a:ext cx="7223760" cy="256032"/>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
        <p:nvSpPr>
          <p:cNvPr id="3" name="Text 0"/>
          <p:cNvSpPr/>
          <p:nvPr>
            <p:ph idx="101" type="title" hasCustomPrompt="1"/>
          </p:nvPr>
        </p:nvSpPr>
        <p:spPr>
          <a:xfrm>
            <a:off x="1417320" y="603504"/>
            <a:ext cx="7269480" cy="530352"/>
          </a:xfrm>
          <a:prstGeom prst="rect">
            <a:avLst/>
          </a:prstGeom>
          <a:noFill/>
          <a:ln/>
        </p:spPr>
        <p:txBody>
          <a:bodyPr wrap="square" rtlCol="0"/>
          <a:lstStyle>
            <a:lvl1pPr algn="l" indent="0" marL="0">
              <a:buNone/>
              <a:defRPr lang="en-US" sz="2500" b="1" dirty="0">
                <a:solidFill>
                  <a:schemeClr val="bg1"/>
                </a:solidFill>
              </a:defRPr>
            </a:lvl1pPr>
          </a:lstStyle>
          <a:p>
            <a:pPr algn="l" indent="0" marL="0">
              <a:buNone/>
            </a:pPr>
            <a:endParaRPr lang="en-US" sz="2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621792"/>
            <a:ext cx="7269480" cy="512064"/>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C">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658368"/>
            <a:ext cx="7269480" cy="841248"/>
          </a:xfrm>
          <a:prstGeom prst="rect">
            <a:avLst/>
          </a:prstGeom>
          <a:noFill/>
          <a:ln/>
        </p:spPr>
        <p:txBody>
          <a:bodyPr wrap="square" rtlCol="0"/>
          <a:lstStyle>
            <a:lvl1pPr algn="l" indent="0" marL="0">
              <a:buNone/>
              <a:defRPr lang="en-US" sz="2000" b="1" dirty="0">
                <a:solidFill>
                  <a:schemeClr val="bg1"/>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600200"/>
          </a:xfrm>
          <a:prstGeom prst="rect">
            <a:avLst/>
          </a:prstGeom>
          <a:noFill/>
          <a:ln/>
        </p:spPr>
        <p:txBody>
          <a:bodyPr wrap="square" lIns="0" tIns="0" rIns="0" bIns="0" rtlCol="0" anchor="b"/>
          <a:lstStyle/>
          <a:p>
            <a:pPr algn="l" indent="0" marL="0">
              <a:buNone/>
            </a:pPr>
            <a:r>
              <a:rPr lang="en-US" sz="4400" b="1" dirty="0">
                <a:solidFill>
                  <a:schemeClr val="bg1"/>
                </a:solidFill>
              </a:rPr>
              <a:t>Drawing Bohr Models</a:t>
            </a:r>
            <a:endParaRPr lang="en-US" sz="4400" dirty="0"/>
          </a:p>
        </p:txBody>
      </p:sp>
      <p:sp>
        <p:nvSpPr>
          <p:cNvPr id="3" name="Text 0"/>
          <p:cNvSpPr/>
          <p:nvPr>
            <p:ph idx="101" type="body" hasCustomPrompt="1"/>
          </p:nvPr>
        </p:nvSpPr>
        <p:spPr>
          <a:xfrm>
            <a:off x="548640" y="2971800"/>
            <a:ext cx="4572000" cy="822960"/>
          </a:xfrm>
          <a:prstGeom prst="rect">
            <a:avLst/>
          </a:prstGeom>
          <a:noFill/>
          <a:ln/>
        </p:spPr>
        <p:txBody>
          <a:bodyPr wrap="square" lIns="0" tIns="0" rIns="0" bIns="0" rtlCol="0" anchor="t"/>
          <a:lstStyle/>
          <a:p>
            <a:pPr algn="l" indent="0" marL="0">
              <a:buNone/>
            </a:pPr>
            <a:r>
              <a:rPr lang="en-US" sz="1600" dirty="0">
                <a:solidFill>
                  <a:schemeClr val="bg2"/>
                </a:solidFill>
              </a:rPr>
              <a:t>Chemistry, Unit 2: Ions, Periodic Trends and Bonding</a:t>
            </a:r>
            <a:endParaRPr lang="en-US" sz="1600" dirty="0"/>
          </a:p>
          <a:p>
            <a:pPr algn="l" indent="0" marL="0">
              <a:buNone/>
            </a:pPr>
            <a:r>
              <a:rPr lang="en-US" sz="1600" dirty="0">
                <a:solidFill>
                  <a:schemeClr val="bg2"/>
                </a:solidFill>
              </a:rPr>
              <a:t>Self-taught lesson walkthrough</a:t>
            </a:r>
            <a:endParaRPr lang="en-US" sz="1600" dirty="0"/>
          </a:p>
        </p:txBody>
      </p:sp>
      <p:sp>
        <p:nvSpPr>
          <p:cNvPr id="4" name="Sodium: shell 1"/>
          <p:cNvSpPr/>
          <p:nvPr/>
        </p:nvSpPr>
        <p:spPr>
          <a:xfrm>
            <a:off x="6212434" y="1960474"/>
            <a:ext cx="1199693" cy="1199693"/>
          </a:xfrm>
          <a:prstGeom prst="ellipse">
            <a:avLst/>
          </a:prstGeom>
          <a:solidFill>
            <a:schemeClr val="bg1">
              <a:alpha val="0"/>
            </a:schemeClr>
          </a:solidFill>
          <a:ln w="15875">
            <a:solidFill>
              <a:schemeClr val="bg2">
                <a:alpha val="55000"/>
              </a:schemeClr>
            </a:solidFill>
            <a:prstDash val="solid"/>
          </a:ln>
        </p:spPr>
      </p:sp>
      <p:sp>
        <p:nvSpPr>
          <p:cNvPr id="5" name="Sodium: shell 2"/>
          <p:cNvSpPr/>
          <p:nvPr/>
        </p:nvSpPr>
        <p:spPr>
          <a:xfrm>
            <a:off x="5837530" y="1585570"/>
            <a:ext cx="1949501" cy="1949501"/>
          </a:xfrm>
          <a:prstGeom prst="ellipse">
            <a:avLst/>
          </a:prstGeom>
          <a:solidFill>
            <a:schemeClr val="bg1">
              <a:alpha val="0"/>
            </a:schemeClr>
          </a:solidFill>
          <a:ln w="15875">
            <a:solidFill>
              <a:schemeClr val="bg2">
                <a:alpha val="55000"/>
              </a:schemeClr>
            </a:solidFill>
            <a:prstDash val="solid"/>
          </a:ln>
        </p:spPr>
      </p:sp>
      <p:sp>
        <p:nvSpPr>
          <p:cNvPr id="6" name="Sodium: shell 3"/>
          <p:cNvSpPr/>
          <p:nvPr/>
        </p:nvSpPr>
        <p:spPr>
          <a:xfrm>
            <a:off x="5487619" y="1235659"/>
            <a:ext cx="2649322" cy="2649322"/>
          </a:xfrm>
          <a:prstGeom prst="ellipse">
            <a:avLst/>
          </a:prstGeom>
          <a:solidFill>
            <a:schemeClr val="bg1">
              <a:alpha val="0"/>
            </a:schemeClr>
          </a:solidFill>
          <a:ln w="15875">
            <a:solidFill>
              <a:schemeClr val="bg2">
                <a:alpha val="55000"/>
              </a:schemeClr>
            </a:solidFill>
            <a:prstDash val="solid"/>
          </a:ln>
        </p:spPr>
      </p:sp>
      <p:sp>
        <p:nvSpPr>
          <p:cNvPr id="7" name="Sodium: nucleus"/>
          <p:cNvSpPr/>
          <p:nvPr/>
        </p:nvSpPr>
        <p:spPr>
          <a:xfrm>
            <a:off x="6424879" y="2172919"/>
            <a:ext cx="774802" cy="77480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200" b="1" dirty="0">
                <a:solidFill>
                  <a:schemeClr val="bg1"/>
                </a:solidFill>
              </a:rPr>
              <a:t>11 p</a:t>
            </a:r>
            <a:pPr algn="ctr" indent="0" marL="0">
              <a:buNone/>
            </a:pPr>
            <a:r>
              <a:rPr lang="en-US" sz="1200" b="1" baseline="30000" dirty="0">
                <a:solidFill>
                  <a:schemeClr val="bg1"/>
                </a:solidFill>
              </a:rPr>
              <a:t>+</a:t>
            </a:r>
            <a:endParaRPr lang="en-US" sz="1200" dirty="0"/>
          </a:p>
          <a:p>
            <a:pPr algn="ctr" indent="0" marL="0">
              <a:buNone/>
            </a:pPr>
            <a:r>
              <a:rPr lang="en-US" sz="1200" b="1" dirty="0">
                <a:solidFill>
                  <a:schemeClr val="bg1"/>
                </a:solidFill>
              </a:rPr>
              <a:t>12 n</a:t>
            </a:r>
            <a:pPr algn="ctr" indent="0" marL="0">
              <a:buNone/>
            </a:pPr>
            <a:r>
              <a:rPr lang="en-US" sz="1200" b="1" baseline="30000" dirty="0">
                <a:solidFill>
                  <a:schemeClr val="bg1"/>
                </a:solidFill>
              </a:rPr>
              <a:t>0</a:t>
            </a:r>
            <a:endParaRPr lang="en-US" sz="1200" dirty="0"/>
          </a:p>
        </p:txBody>
      </p:sp>
      <p:sp>
        <p:nvSpPr>
          <p:cNvPr id="8" name="Sodium: electron, shell 1"/>
          <p:cNvSpPr/>
          <p:nvPr/>
        </p:nvSpPr>
        <p:spPr>
          <a:xfrm>
            <a:off x="6718554" y="1866748"/>
            <a:ext cx="187452" cy="187452"/>
          </a:xfrm>
          <a:prstGeom prst="ellipse">
            <a:avLst/>
          </a:prstGeom>
          <a:solidFill>
            <a:schemeClr val="accent1"/>
          </a:solidFill>
          <a:ln w="3175">
            <a:solidFill>
              <a:schemeClr val="accent1"/>
            </a:solidFill>
            <a:prstDash val="solid"/>
          </a:ln>
        </p:spPr>
      </p:sp>
      <p:sp>
        <p:nvSpPr>
          <p:cNvPr id="9" name="Sodium: electron, shell 1"/>
          <p:cNvSpPr/>
          <p:nvPr/>
        </p:nvSpPr>
        <p:spPr>
          <a:xfrm>
            <a:off x="7318400" y="2466594"/>
            <a:ext cx="187452" cy="187452"/>
          </a:xfrm>
          <a:prstGeom prst="ellipse">
            <a:avLst/>
          </a:prstGeom>
          <a:solidFill>
            <a:schemeClr val="accent1"/>
          </a:solidFill>
          <a:ln w="3175">
            <a:solidFill>
              <a:schemeClr val="accent1"/>
            </a:solidFill>
            <a:prstDash val="solid"/>
          </a:ln>
        </p:spPr>
      </p:sp>
      <p:sp>
        <p:nvSpPr>
          <p:cNvPr id="10" name="Sodium: electron, shell 2"/>
          <p:cNvSpPr/>
          <p:nvPr/>
        </p:nvSpPr>
        <p:spPr>
          <a:xfrm>
            <a:off x="6592689" y="1500004"/>
            <a:ext cx="187452" cy="187452"/>
          </a:xfrm>
          <a:prstGeom prst="ellipse">
            <a:avLst/>
          </a:prstGeom>
          <a:solidFill>
            <a:schemeClr val="accent1"/>
          </a:solidFill>
          <a:ln w="3175">
            <a:solidFill>
              <a:schemeClr val="accent1"/>
            </a:solidFill>
            <a:prstDash val="solid"/>
          </a:ln>
        </p:spPr>
      </p:sp>
      <p:sp>
        <p:nvSpPr>
          <p:cNvPr id="11" name="Sodium: electron, shell 2"/>
          <p:cNvSpPr/>
          <p:nvPr/>
        </p:nvSpPr>
        <p:spPr>
          <a:xfrm>
            <a:off x="6844419" y="1500004"/>
            <a:ext cx="187452" cy="187452"/>
          </a:xfrm>
          <a:prstGeom prst="ellipse">
            <a:avLst/>
          </a:prstGeom>
          <a:solidFill>
            <a:schemeClr val="accent1"/>
          </a:solidFill>
          <a:ln w="3175">
            <a:solidFill>
              <a:schemeClr val="accent1"/>
            </a:solidFill>
            <a:prstDash val="solid"/>
          </a:ln>
        </p:spPr>
      </p:sp>
      <p:sp>
        <p:nvSpPr>
          <p:cNvPr id="12" name="Sodium: electron, shell 2"/>
          <p:cNvSpPr/>
          <p:nvPr/>
        </p:nvSpPr>
        <p:spPr>
          <a:xfrm>
            <a:off x="7685144" y="2340729"/>
            <a:ext cx="187452" cy="187452"/>
          </a:xfrm>
          <a:prstGeom prst="ellipse">
            <a:avLst/>
          </a:prstGeom>
          <a:solidFill>
            <a:schemeClr val="accent1"/>
          </a:solidFill>
          <a:ln w="3175">
            <a:solidFill>
              <a:schemeClr val="accent1"/>
            </a:solidFill>
            <a:prstDash val="solid"/>
          </a:ln>
        </p:spPr>
      </p:sp>
      <p:sp>
        <p:nvSpPr>
          <p:cNvPr id="13" name="Sodium: electron, shell 2"/>
          <p:cNvSpPr/>
          <p:nvPr/>
        </p:nvSpPr>
        <p:spPr>
          <a:xfrm>
            <a:off x="7685144" y="2592459"/>
            <a:ext cx="187452" cy="187452"/>
          </a:xfrm>
          <a:prstGeom prst="ellipse">
            <a:avLst/>
          </a:prstGeom>
          <a:solidFill>
            <a:schemeClr val="accent1"/>
          </a:solidFill>
          <a:ln w="3175">
            <a:solidFill>
              <a:schemeClr val="accent1"/>
            </a:solidFill>
            <a:prstDash val="solid"/>
          </a:ln>
        </p:spPr>
      </p:sp>
      <p:sp>
        <p:nvSpPr>
          <p:cNvPr id="14" name="Sodium: electron, shell 2"/>
          <p:cNvSpPr/>
          <p:nvPr/>
        </p:nvSpPr>
        <p:spPr>
          <a:xfrm>
            <a:off x="6844419" y="3433184"/>
            <a:ext cx="187452" cy="187452"/>
          </a:xfrm>
          <a:prstGeom prst="ellipse">
            <a:avLst/>
          </a:prstGeom>
          <a:solidFill>
            <a:schemeClr val="accent1"/>
          </a:solidFill>
          <a:ln w="3175">
            <a:solidFill>
              <a:schemeClr val="accent1"/>
            </a:solidFill>
            <a:prstDash val="solid"/>
          </a:ln>
        </p:spPr>
      </p:sp>
      <p:sp>
        <p:nvSpPr>
          <p:cNvPr id="15" name="Sodium: electron, shell 2"/>
          <p:cNvSpPr/>
          <p:nvPr/>
        </p:nvSpPr>
        <p:spPr>
          <a:xfrm>
            <a:off x="6592689" y="3433184"/>
            <a:ext cx="187452" cy="187452"/>
          </a:xfrm>
          <a:prstGeom prst="ellipse">
            <a:avLst/>
          </a:prstGeom>
          <a:solidFill>
            <a:schemeClr val="accent1"/>
          </a:solidFill>
          <a:ln w="3175">
            <a:solidFill>
              <a:schemeClr val="accent1"/>
            </a:solidFill>
            <a:prstDash val="solid"/>
          </a:ln>
        </p:spPr>
      </p:sp>
      <p:sp>
        <p:nvSpPr>
          <p:cNvPr id="16" name="Sodium: electron, shell 2"/>
          <p:cNvSpPr/>
          <p:nvPr/>
        </p:nvSpPr>
        <p:spPr>
          <a:xfrm>
            <a:off x="5751964" y="2592459"/>
            <a:ext cx="187452" cy="187452"/>
          </a:xfrm>
          <a:prstGeom prst="ellipse">
            <a:avLst/>
          </a:prstGeom>
          <a:solidFill>
            <a:schemeClr val="accent1"/>
          </a:solidFill>
          <a:ln w="3175">
            <a:solidFill>
              <a:schemeClr val="accent1"/>
            </a:solidFill>
            <a:prstDash val="solid"/>
          </a:ln>
        </p:spPr>
      </p:sp>
      <p:sp>
        <p:nvSpPr>
          <p:cNvPr id="17" name="Sodium: electron, shell 2"/>
          <p:cNvSpPr/>
          <p:nvPr/>
        </p:nvSpPr>
        <p:spPr>
          <a:xfrm>
            <a:off x="5751964" y="2340729"/>
            <a:ext cx="187452" cy="187452"/>
          </a:xfrm>
          <a:prstGeom prst="ellipse">
            <a:avLst/>
          </a:prstGeom>
          <a:solidFill>
            <a:schemeClr val="accent1"/>
          </a:solidFill>
          <a:ln w="3175">
            <a:solidFill>
              <a:schemeClr val="accent1"/>
            </a:solidFill>
            <a:prstDash val="solid"/>
          </a:ln>
        </p:spPr>
      </p:sp>
      <p:sp>
        <p:nvSpPr>
          <p:cNvPr id="18" name="Sodium: electron, shell 3"/>
          <p:cNvSpPr/>
          <p:nvPr/>
        </p:nvSpPr>
        <p:spPr>
          <a:xfrm>
            <a:off x="6718554" y="1141933"/>
            <a:ext cx="187452" cy="187452"/>
          </a:xfrm>
          <a:prstGeom prst="ellipse">
            <a:avLst/>
          </a:prstGeom>
          <a:solidFill>
            <a:schemeClr val="accent1"/>
          </a:solidFill>
          <a:ln w="3175">
            <a:solidFill>
              <a:schemeClr val="accent1"/>
            </a:solidFill>
            <a:prstDash val="solid"/>
          </a:ln>
        </p:spPr>
      </p:sp>
      <p:sp>
        <p:nvSpPr>
          <p:cNvPr id="19" name="Text 17"/>
          <p:cNvSpPr txBox="1"/>
          <p:nvPr/>
        </p:nvSpPr>
        <p:spPr>
          <a:xfrm>
            <a:off x="5669280" y="4526280"/>
            <a:ext cx="2286000" cy="274320"/>
          </a:xfrm>
          <a:prstGeom prst="rect">
            <a:avLst/>
          </a:prstGeom>
          <a:noFill/>
          <a:ln/>
        </p:spPr>
        <p:txBody>
          <a:bodyPr wrap="square" lIns="0" tIns="0" rIns="0" bIns="0" rtlCol="0" anchor="ctr"/>
          <a:lstStyle/>
          <a:p>
            <a:pPr algn="ctr" indent="0" marL="0">
              <a:buNone/>
            </a:pPr>
            <a:r>
              <a:rPr lang="en-US" sz="1300" b="1" dirty="0">
                <a:solidFill>
                  <a:schemeClr val="bg1"/>
                </a:solidFill>
              </a:rPr>
              <a:t>Sodium </a:t>
            </a:r>
            <a:pPr algn="ctr" indent="0" marL="0">
              <a:buNone/>
            </a:pPr>
            <a:r>
              <a:rPr lang="en-US" sz="1300" dirty="0">
                <a:solidFill>
                  <a:schemeClr val="accent1"/>
                </a:solidFill>
              </a:rPr>
              <a:t>2, 8, 1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Objective and standard</a:t>
            </a:r>
            <a:endParaRPr lang="en-US" sz="3000" dirty="0"/>
          </a:p>
        </p:txBody>
      </p:sp>
      <p:sp>
        <p:nvSpPr>
          <p:cNvPr id="3" name="Objective card"/>
          <p:cNvSpPr/>
          <p:nvPr/>
        </p:nvSpPr>
        <p:spPr>
          <a:xfrm>
            <a:off x="457200" y="1234440"/>
            <a:ext cx="3977640" cy="2194560"/>
          </a:xfrm>
          <a:prstGeom prst="roundRect">
            <a:avLst>
              <a:gd name="adj" fmla="val 4167"/>
            </a:avLst>
          </a:prstGeom>
          <a:solidFill>
            <a:schemeClr val="tx2"/>
          </a:solidFill>
          <a:ln w="9525">
            <a:solidFill>
              <a:schemeClr val="bg2">
                <a:alpha val="30000"/>
              </a:schemeClr>
            </a:solidFill>
            <a:prstDash val="solid"/>
          </a:ln>
        </p:spPr>
      </p:sp>
      <p:sp>
        <p:nvSpPr>
          <p:cNvPr id="4" name="Text 2"/>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300" b="1" dirty="0">
                <a:solidFill>
                  <a:schemeClr val="accent1"/>
                </a:solidFill>
              </a:rPr>
              <a:t>Objective</a:t>
            </a:r>
            <a:endParaRPr lang="en-US" sz="1300" dirty="0"/>
          </a:p>
        </p:txBody>
      </p:sp>
      <p:sp>
        <p:nvSpPr>
          <p:cNvPr id="5" name="Text 3"/>
          <p:cNvSpPr txBox="1"/>
          <p:nvPr/>
        </p:nvSpPr>
        <p:spPr>
          <a:xfrm>
            <a:off x="685800" y="1755648"/>
            <a:ext cx="3566160" cy="1554480"/>
          </a:xfrm>
          <a:prstGeom prst="rect">
            <a:avLst/>
          </a:prstGeom>
          <a:noFill/>
          <a:ln/>
        </p:spPr>
        <p:txBody>
          <a:bodyPr wrap="square" lIns="0" tIns="0" rIns="0" bIns="0" rtlCol="0" anchor="t"/>
          <a:lstStyle/>
          <a:p>
            <a:pPr indent="0" marL="0">
              <a:buNone/>
            </a:pPr>
            <a:r>
              <a:rPr lang="en-US" sz="1800" dirty="0">
                <a:solidFill>
                  <a:schemeClr val="bg1"/>
                </a:solidFill>
              </a:rPr>
              <a:t>I can draw a Bohr model for any of the first 20 elements and use it to find how many valence electrons an atom has.</a:t>
            </a:r>
            <a:endParaRPr lang="en-US" sz="1800" dirty="0"/>
          </a:p>
        </p:txBody>
      </p:sp>
      <p:sp>
        <p:nvSpPr>
          <p:cNvPr id="6" name="Standard card"/>
          <p:cNvSpPr/>
          <p:nvPr/>
        </p:nvSpPr>
        <p:spPr>
          <a:xfrm>
            <a:off x="4709160" y="1234440"/>
            <a:ext cx="3977640" cy="2194560"/>
          </a:xfrm>
          <a:prstGeom prst="roundRect">
            <a:avLst>
              <a:gd name="adj" fmla="val 4167"/>
            </a:avLst>
          </a:prstGeom>
          <a:solidFill>
            <a:schemeClr val="tx2"/>
          </a:solidFill>
          <a:ln w="9525">
            <a:solidFill>
              <a:schemeClr val="bg2">
                <a:alpha val="30000"/>
              </a:schemeClr>
            </a:solidFill>
            <a:prstDash val="solid"/>
          </a:ln>
        </p:spPr>
      </p:sp>
      <p:sp>
        <p:nvSpPr>
          <p:cNvPr id="7" name="Text 5"/>
          <p:cNvSpPr txBox="1"/>
          <p:nvPr/>
        </p:nvSpPr>
        <p:spPr>
          <a:xfrm>
            <a:off x="4937760" y="1417320"/>
            <a:ext cx="3566160" cy="274320"/>
          </a:xfrm>
          <a:prstGeom prst="rect">
            <a:avLst/>
          </a:prstGeom>
          <a:noFill/>
          <a:ln/>
        </p:spPr>
        <p:txBody>
          <a:bodyPr wrap="square" lIns="0" tIns="0" rIns="0" bIns="0" rtlCol="0" anchor="t"/>
          <a:lstStyle/>
          <a:p>
            <a:pPr indent="0" marL="0">
              <a:buNone/>
            </a:pPr>
            <a:r>
              <a:rPr lang="en-US" sz="1300" b="1" dirty="0">
                <a:solidFill>
                  <a:schemeClr val="accent5"/>
                </a:solidFill>
              </a:rPr>
              <a:t>Standard: NGSS HS-PS1-1</a:t>
            </a:r>
            <a:endParaRPr lang="en-US" sz="1300" dirty="0"/>
          </a:p>
        </p:txBody>
      </p:sp>
      <p:sp>
        <p:nvSpPr>
          <p:cNvPr id="8" name="Text 6"/>
          <p:cNvSpPr txBox="1"/>
          <p:nvPr/>
        </p:nvSpPr>
        <p:spPr>
          <a:xfrm>
            <a:off x="4937760" y="1755648"/>
            <a:ext cx="3566160" cy="1554480"/>
          </a:xfrm>
          <a:prstGeom prst="rect">
            <a:avLst/>
          </a:prstGeom>
          <a:noFill/>
          <a:ln/>
        </p:spPr>
        <p:txBody>
          <a:bodyPr wrap="square" lIns="0" tIns="0" rIns="0" bIns="0" rtlCol="0" anchor="t"/>
          <a:lstStyle/>
          <a:p>
            <a:pPr indent="0" marL="0">
              <a:buNone/>
            </a:pPr>
            <a:r>
              <a:rPr lang="en-US" sz="1500" dirty="0">
                <a:solidFill>
                  <a:schemeClr val="bg1"/>
                </a:solidFill>
              </a:rPr>
              <a:t>Use the periodic table as a model to predict the relative properties of elements based on the patterns of electrons in the outermost energy level of atoms.</a:t>
            </a:r>
            <a:endParaRPr lang="en-US" sz="1500" dirty="0"/>
          </a:p>
        </p:txBody>
      </p:sp>
      <p:sp>
        <p:nvSpPr>
          <p:cNvPr id="9" name="Sodium: shell 1"/>
          <p:cNvSpPr/>
          <p:nvPr/>
        </p:nvSpPr>
        <p:spPr>
          <a:xfrm>
            <a:off x="2264054" y="3955694"/>
            <a:ext cx="409651" cy="409651"/>
          </a:xfrm>
          <a:prstGeom prst="ellipse">
            <a:avLst/>
          </a:prstGeom>
          <a:solidFill>
            <a:schemeClr val="bg1">
              <a:alpha val="0"/>
            </a:schemeClr>
          </a:solidFill>
          <a:ln w="15875">
            <a:solidFill>
              <a:schemeClr val="bg2">
                <a:alpha val="55000"/>
              </a:schemeClr>
            </a:solidFill>
            <a:prstDash val="solid"/>
          </a:ln>
        </p:spPr>
      </p:sp>
      <p:sp>
        <p:nvSpPr>
          <p:cNvPr id="10" name="Sodium: shell 2"/>
          <p:cNvSpPr/>
          <p:nvPr/>
        </p:nvSpPr>
        <p:spPr>
          <a:xfrm>
            <a:off x="2136038" y="3827678"/>
            <a:ext cx="665683" cy="665683"/>
          </a:xfrm>
          <a:prstGeom prst="ellipse">
            <a:avLst/>
          </a:prstGeom>
          <a:solidFill>
            <a:schemeClr val="bg1">
              <a:alpha val="0"/>
            </a:schemeClr>
          </a:solidFill>
          <a:ln w="15875">
            <a:solidFill>
              <a:schemeClr val="bg2">
                <a:alpha val="55000"/>
              </a:schemeClr>
            </a:solidFill>
            <a:prstDash val="solid"/>
          </a:ln>
        </p:spPr>
      </p:sp>
      <p:sp>
        <p:nvSpPr>
          <p:cNvPr id="11" name="Sodium: shell 3"/>
          <p:cNvSpPr/>
          <p:nvPr/>
        </p:nvSpPr>
        <p:spPr>
          <a:xfrm>
            <a:off x="2016557" y="3708197"/>
            <a:ext cx="904646" cy="904646"/>
          </a:xfrm>
          <a:prstGeom prst="ellipse">
            <a:avLst/>
          </a:prstGeom>
          <a:solidFill>
            <a:schemeClr val="bg1">
              <a:alpha val="0"/>
            </a:schemeClr>
          </a:solidFill>
          <a:ln w="15875">
            <a:solidFill>
              <a:schemeClr val="accent2">
                <a:alpha val="80000"/>
              </a:schemeClr>
            </a:solidFill>
            <a:prstDash val="solid"/>
          </a:ln>
        </p:spPr>
      </p:sp>
      <p:sp>
        <p:nvSpPr>
          <p:cNvPr id="12" name="Sodium: nucleus"/>
          <p:cNvSpPr/>
          <p:nvPr/>
        </p:nvSpPr>
        <p:spPr>
          <a:xfrm>
            <a:off x="2336597" y="4028237"/>
            <a:ext cx="264566" cy="26456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3" name="Sodium: electron, shell 1"/>
          <p:cNvSpPr/>
          <p:nvPr/>
        </p:nvSpPr>
        <p:spPr>
          <a:xfrm>
            <a:off x="2436876" y="3923690"/>
            <a:ext cx="64008" cy="64008"/>
          </a:xfrm>
          <a:prstGeom prst="ellipse">
            <a:avLst/>
          </a:prstGeom>
          <a:solidFill>
            <a:schemeClr val="accent1"/>
          </a:solidFill>
          <a:ln w="3175">
            <a:solidFill>
              <a:schemeClr val="accent1"/>
            </a:solidFill>
            <a:prstDash val="solid"/>
          </a:ln>
        </p:spPr>
      </p:sp>
      <p:sp>
        <p:nvSpPr>
          <p:cNvPr id="14" name="Sodium: electron, shell 1"/>
          <p:cNvSpPr/>
          <p:nvPr/>
        </p:nvSpPr>
        <p:spPr>
          <a:xfrm>
            <a:off x="2641702" y="4128516"/>
            <a:ext cx="64008" cy="64008"/>
          </a:xfrm>
          <a:prstGeom prst="ellipse">
            <a:avLst/>
          </a:prstGeom>
          <a:solidFill>
            <a:schemeClr val="accent1"/>
          </a:solidFill>
          <a:ln w="3175">
            <a:solidFill>
              <a:schemeClr val="accent1"/>
            </a:solidFill>
            <a:prstDash val="solid"/>
          </a:ln>
        </p:spPr>
      </p:sp>
      <p:sp>
        <p:nvSpPr>
          <p:cNvPr id="15" name="Sodium: electron, shell 2"/>
          <p:cNvSpPr/>
          <p:nvPr/>
        </p:nvSpPr>
        <p:spPr>
          <a:xfrm>
            <a:off x="2393898" y="3798461"/>
            <a:ext cx="64008" cy="64008"/>
          </a:xfrm>
          <a:prstGeom prst="ellipse">
            <a:avLst/>
          </a:prstGeom>
          <a:solidFill>
            <a:schemeClr val="accent1"/>
          </a:solidFill>
          <a:ln w="3175">
            <a:solidFill>
              <a:schemeClr val="accent1"/>
            </a:solidFill>
            <a:prstDash val="solid"/>
          </a:ln>
        </p:spPr>
      </p:sp>
      <p:sp>
        <p:nvSpPr>
          <p:cNvPr id="16" name="Sodium: electron, shell 2"/>
          <p:cNvSpPr/>
          <p:nvPr/>
        </p:nvSpPr>
        <p:spPr>
          <a:xfrm>
            <a:off x="2479854" y="3798461"/>
            <a:ext cx="64008" cy="64008"/>
          </a:xfrm>
          <a:prstGeom prst="ellipse">
            <a:avLst/>
          </a:prstGeom>
          <a:solidFill>
            <a:schemeClr val="accent1"/>
          </a:solidFill>
          <a:ln w="3175">
            <a:solidFill>
              <a:schemeClr val="accent1"/>
            </a:solidFill>
            <a:prstDash val="solid"/>
          </a:ln>
        </p:spPr>
      </p:sp>
      <p:sp>
        <p:nvSpPr>
          <p:cNvPr id="17" name="Sodium: electron, shell 2"/>
          <p:cNvSpPr/>
          <p:nvPr/>
        </p:nvSpPr>
        <p:spPr>
          <a:xfrm>
            <a:off x="2766931" y="4085538"/>
            <a:ext cx="64008" cy="64008"/>
          </a:xfrm>
          <a:prstGeom prst="ellipse">
            <a:avLst/>
          </a:prstGeom>
          <a:solidFill>
            <a:schemeClr val="accent1"/>
          </a:solidFill>
          <a:ln w="3175">
            <a:solidFill>
              <a:schemeClr val="accent1"/>
            </a:solidFill>
            <a:prstDash val="solid"/>
          </a:ln>
        </p:spPr>
      </p:sp>
      <p:sp>
        <p:nvSpPr>
          <p:cNvPr id="18" name="Sodium: electron, shell 2"/>
          <p:cNvSpPr/>
          <p:nvPr/>
        </p:nvSpPr>
        <p:spPr>
          <a:xfrm>
            <a:off x="2766931" y="4171494"/>
            <a:ext cx="64008" cy="64008"/>
          </a:xfrm>
          <a:prstGeom prst="ellipse">
            <a:avLst/>
          </a:prstGeom>
          <a:solidFill>
            <a:schemeClr val="accent1"/>
          </a:solidFill>
          <a:ln w="3175">
            <a:solidFill>
              <a:schemeClr val="accent1"/>
            </a:solidFill>
            <a:prstDash val="solid"/>
          </a:ln>
        </p:spPr>
      </p:sp>
      <p:sp>
        <p:nvSpPr>
          <p:cNvPr id="19" name="Sodium: electron, shell 2"/>
          <p:cNvSpPr/>
          <p:nvPr/>
        </p:nvSpPr>
        <p:spPr>
          <a:xfrm>
            <a:off x="2479854" y="4458571"/>
            <a:ext cx="64008" cy="64008"/>
          </a:xfrm>
          <a:prstGeom prst="ellipse">
            <a:avLst/>
          </a:prstGeom>
          <a:solidFill>
            <a:schemeClr val="accent1"/>
          </a:solidFill>
          <a:ln w="3175">
            <a:solidFill>
              <a:schemeClr val="accent1"/>
            </a:solidFill>
            <a:prstDash val="solid"/>
          </a:ln>
        </p:spPr>
      </p:sp>
      <p:sp>
        <p:nvSpPr>
          <p:cNvPr id="20" name="Sodium: electron, shell 2"/>
          <p:cNvSpPr/>
          <p:nvPr/>
        </p:nvSpPr>
        <p:spPr>
          <a:xfrm>
            <a:off x="2393898" y="4458571"/>
            <a:ext cx="64008" cy="64008"/>
          </a:xfrm>
          <a:prstGeom prst="ellipse">
            <a:avLst/>
          </a:prstGeom>
          <a:solidFill>
            <a:schemeClr val="accent1"/>
          </a:solidFill>
          <a:ln w="3175">
            <a:solidFill>
              <a:schemeClr val="accent1"/>
            </a:solidFill>
            <a:prstDash val="solid"/>
          </a:ln>
        </p:spPr>
      </p:sp>
      <p:sp>
        <p:nvSpPr>
          <p:cNvPr id="21" name="Sodium: electron, shell 2"/>
          <p:cNvSpPr/>
          <p:nvPr/>
        </p:nvSpPr>
        <p:spPr>
          <a:xfrm>
            <a:off x="2106821" y="4171494"/>
            <a:ext cx="64008" cy="64008"/>
          </a:xfrm>
          <a:prstGeom prst="ellipse">
            <a:avLst/>
          </a:prstGeom>
          <a:solidFill>
            <a:schemeClr val="accent1"/>
          </a:solidFill>
          <a:ln w="3175">
            <a:solidFill>
              <a:schemeClr val="accent1"/>
            </a:solidFill>
            <a:prstDash val="solid"/>
          </a:ln>
        </p:spPr>
      </p:sp>
      <p:sp>
        <p:nvSpPr>
          <p:cNvPr id="22" name="Sodium: electron, shell 2"/>
          <p:cNvSpPr/>
          <p:nvPr/>
        </p:nvSpPr>
        <p:spPr>
          <a:xfrm>
            <a:off x="2106821" y="4085538"/>
            <a:ext cx="64008" cy="64008"/>
          </a:xfrm>
          <a:prstGeom prst="ellipse">
            <a:avLst/>
          </a:prstGeom>
          <a:solidFill>
            <a:schemeClr val="accent1"/>
          </a:solidFill>
          <a:ln w="3175">
            <a:solidFill>
              <a:schemeClr val="accent1"/>
            </a:solidFill>
            <a:prstDash val="solid"/>
          </a:ln>
        </p:spPr>
      </p:sp>
      <p:sp>
        <p:nvSpPr>
          <p:cNvPr id="23" name="Sodium: electron, shell 3"/>
          <p:cNvSpPr/>
          <p:nvPr/>
        </p:nvSpPr>
        <p:spPr>
          <a:xfrm>
            <a:off x="2436876" y="3676193"/>
            <a:ext cx="64008" cy="64008"/>
          </a:xfrm>
          <a:prstGeom prst="ellipse">
            <a:avLst/>
          </a:prstGeom>
          <a:solidFill>
            <a:schemeClr val="accent2"/>
          </a:solidFill>
          <a:ln w="3175">
            <a:solidFill>
              <a:schemeClr val="accent2"/>
            </a:solidFill>
            <a:prstDash val="solid"/>
          </a:ln>
        </p:spPr>
      </p:sp>
      <p:sp>
        <p:nvSpPr>
          <p:cNvPr id="24" name="Text 22"/>
          <p:cNvSpPr txBox="1"/>
          <p:nvPr/>
        </p:nvSpPr>
        <p:spPr>
          <a:xfrm>
            <a:off x="3291840" y="3977640"/>
            <a:ext cx="5394960" cy="411480"/>
          </a:xfrm>
          <a:prstGeom prst="rect">
            <a:avLst/>
          </a:prstGeom>
          <a:noFill/>
          <a:ln/>
        </p:spPr>
        <p:txBody>
          <a:bodyPr wrap="square" lIns="0" tIns="0" rIns="0" bIns="0" rtlCol="0" anchor="ctr"/>
          <a:lstStyle/>
          <a:p>
            <a:pPr indent="0" marL="0">
              <a:buNone/>
            </a:pPr>
            <a:r>
              <a:rPr lang="en-US" sz="1300" dirty="0">
                <a:solidFill>
                  <a:schemeClr val="bg2"/>
                </a:solidFill>
              </a:rPr>
              <a:t>Valence electrons are the ones in the outer shell (yellow).</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Before you start</a:t>
            </a:r>
            <a:endParaRPr lang="en-US" sz="3000" dirty="0"/>
          </a:p>
        </p:txBody>
      </p:sp>
      <p:sp>
        <p:nvSpPr>
          <p:cNvPr id="3" name="Text 1"/>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400" dirty="0">
                <a:solidFill>
                  <a:schemeClr val="bg2"/>
                </a:solidFill>
              </a:rPr>
              <a:t>Open the lesson: From Atoms To Ecosystems → Chemistry → Unit 2 → Self-Taught Lessons → Drawing Bohr Models</a:t>
            </a:r>
            <a:endParaRPr lang="en-US" sz="1400" dirty="0"/>
          </a:p>
        </p:txBody>
      </p:sp>
      <p:sp>
        <p:nvSpPr>
          <p:cNvPr id="4" name="Sign-in card"/>
          <p:cNvSpPr/>
          <p:nvPr/>
        </p:nvSpPr>
        <p:spPr>
          <a:xfrm>
            <a:off x="457200" y="1691640"/>
            <a:ext cx="3977640" cy="2834640"/>
          </a:xfrm>
          <a:prstGeom prst="roundRect">
            <a:avLst>
              <a:gd name="adj" fmla="val 3226"/>
            </a:avLst>
          </a:prstGeom>
          <a:solidFill>
            <a:schemeClr val="tx2"/>
          </a:solidFill>
          <a:ln w="9525">
            <a:solidFill>
              <a:schemeClr val="bg2">
                <a:alpha val="30000"/>
              </a:schemeClr>
            </a:solidFill>
            <a:prstDash val="solid"/>
          </a:ln>
        </p:spPr>
      </p:sp>
      <p:sp>
        <p:nvSpPr>
          <p:cNvPr id="5" name="Text 3"/>
          <p:cNvSpPr txBox="1"/>
          <p:nvPr/>
        </p:nvSpPr>
        <p:spPr>
          <a:xfrm>
            <a:off x="685800" y="1828800"/>
            <a:ext cx="3566160" cy="274320"/>
          </a:xfrm>
          <a:prstGeom prst="rect">
            <a:avLst/>
          </a:prstGeom>
          <a:noFill/>
          <a:ln/>
        </p:spPr>
        <p:txBody>
          <a:bodyPr wrap="square" lIns="0" tIns="0" rIns="0" bIns="0" rtlCol="0" anchor="t"/>
          <a:lstStyle/>
          <a:p>
            <a:pPr indent="0" marL="0">
              <a:buNone/>
            </a:pPr>
            <a:r>
              <a:rPr lang="en-US" sz="1400" b="1" dirty="0">
                <a:solidFill>
                  <a:schemeClr val="accent1"/>
                </a:solidFill>
              </a:rPr>
              <a:t>Fill in your information</a:t>
            </a:r>
            <a:endParaRPr lang="en-US" sz="1400" dirty="0"/>
          </a:p>
        </p:txBody>
      </p:sp>
      <p:sp>
        <p:nvSpPr>
          <p:cNvPr id="6" name="Text 4"/>
          <p:cNvSpPr txBox="1"/>
          <p:nvPr/>
        </p:nvSpPr>
        <p:spPr>
          <a:xfrm>
            <a:off x="685800" y="2212848"/>
            <a:ext cx="1371600" cy="347472"/>
          </a:xfrm>
          <a:prstGeom prst="rect">
            <a:avLst/>
          </a:prstGeom>
          <a:noFill/>
          <a:ln/>
        </p:spPr>
        <p:txBody>
          <a:bodyPr wrap="square" lIns="0" tIns="0" rIns="0" bIns="0" rtlCol="0" anchor="ctr"/>
          <a:lstStyle/>
          <a:p>
            <a:pPr indent="0" marL="0">
              <a:buNone/>
            </a:pPr>
            <a:r>
              <a:rPr lang="en-US" sz="1300" dirty="0">
                <a:solidFill>
                  <a:schemeClr val="bg1"/>
                </a:solidFill>
              </a:rPr>
              <a:t>First name</a:t>
            </a:r>
            <a:endParaRPr lang="en-US" sz="1300" dirty="0"/>
          </a:p>
        </p:txBody>
      </p:sp>
      <p:sp>
        <p:nvSpPr>
          <p:cNvPr id="7" name="First name box"/>
          <p:cNvSpPr/>
          <p:nvPr/>
        </p:nvSpPr>
        <p:spPr>
          <a:xfrm>
            <a:off x="2103120" y="2240280"/>
            <a:ext cx="2103120" cy="292608"/>
          </a:xfrm>
          <a:prstGeom prst="roundRect">
            <a:avLst>
              <a:gd name="adj" fmla="val 18750"/>
            </a:avLst>
          </a:prstGeom>
          <a:solidFill>
            <a:schemeClr val="tx1"/>
          </a:solidFill>
          <a:ln w="9525">
            <a:solidFill>
              <a:schemeClr val="bg2">
                <a:alpha val="60000"/>
              </a:schemeClr>
            </a:solidFill>
            <a:prstDash val="solid"/>
          </a:ln>
        </p:spPr>
      </p:sp>
      <p:sp>
        <p:nvSpPr>
          <p:cNvPr id="8" name="Text 6"/>
          <p:cNvSpPr txBox="1"/>
          <p:nvPr/>
        </p:nvSpPr>
        <p:spPr>
          <a:xfrm>
            <a:off x="685800" y="2651760"/>
            <a:ext cx="1371600" cy="347472"/>
          </a:xfrm>
          <a:prstGeom prst="rect">
            <a:avLst/>
          </a:prstGeom>
          <a:noFill/>
          <a:ln/>
        </p:spPr>
        <p:txBody>
          <a:bodyPr wrap="square" lIns="0" tIns="0" rIns="0" bIns="0" rtlCol="0" anchor="ctr"/>
          <a:lstStyle/>
          <a:p>
            <a:pPr indent="0" marL="0">
              <a:buNone/>
            </a:pPr>
            <a:r>
              <a:rPr lang="en-US" sz="1300" dirty="0">
                <a:solidFill>
                  <a:schemeClr val="bg1"/>
                </a:solidFill>
              </a:rPr>
              <a:t>Last name</a:t>
            </a:r>
            <a:endParaRPr lang="en-US" sz="1300" dirty="0"/>
          </a:p>
        </p:txBody>
      </p:sp>
      <p:sp>
        <p:nvSpPr>
          <p:cNvPr id="9" name="Last name box"/>
          <p:cNvSpPr/>
          <p:nvPr/>
        </p:nvSpPr>
        <p:spPr>
          <a:xfrm>
            <a:off x="2103120" y="2679192"/>
            <a:ext cx="2103120" cy="292608"/>
          </a:xfrm>
          <a:prstGeom prst="roundRect">
            <a:avLst>
              <a:gd name="adj" fmla="val 18750"/>
            </a:avLst>
          </a:prstGeom>
          <a:solidFill>
            <a:schemeClr val="tx1"/>
          </a:solidFill>
          <a:ln w="9525">
            <a:solidFill>
              <a:schemeClr val="bg2">
                <a:alpha val="60000"/>
              </a:schemeClr>
            </a:solidFill>
            <a:prstDash val="solid"/>
          </a:ln>
        </p:spPr>
      </p:sp>
      <p:sp>
        <p:nvSpPr>
          <p:cNvPr id="10" name="Text 8"/>
          <p:cNvSpPr txBox="1"/>
          <p:nvPr/>
        </p:nvSpPr>
        <p:spPr>
          <a:xfrm>
            <a:off x="685800" y="3090672"/>
            <a:ext cx="1371600" cy="347472"/>
          </a:xfrm>
          <a:prstGeom prst="rect">
            <a:avLst/>
          </a:prstGeom>
          <a:noFill/>
          <a:ln/>
        </p:spPr>
        <p:txBody>
          <a:bodyPr wrap="square" lIns="0" tIns="0" rIns="0" bIns="0" rtlCol="0" anchor="ctr"/>
          <a:lstStyle/>
          <a:p>
            <a:pPr indent="0" marL="0">
              <a:buNone/>
            </a:pPr>
            <a:r>
              <a:rPr lang="en-US" sz="1300" dirty="0">
                <a:solidFill>
                  <a:schemeClr val="bg1"/>
                </a:solidFill>
              </a:rPr>
              <a:t>Period</a:t>
            </a:r>
            <a:endParaRPr lang="en-US" sz="1300" dirty="0"/>
          </a:p>
        </p:txBody>
      </p:sp>
      <p:sp>
        <p:nvSpPr>
          <p:cNvPr id="11" name="Period box"/>
          <p:cNvSpPr/>
          <p:nvPr/>
        </p:nvSpPr>
        <p:spPr>
          <a:xfrm>
            <a:off x="2103120" y="3118104"/>
            <a:ext cx="2103120" cy="292608"/>
          </a:xfrm>
          <a:prstGeom prst="roundRect">
            <a:avLst>
              <a:gd name="adj" fmla="val 18750"/>
            </a:avLst>
          </a:prstGeom>
          <a:solidFill>
            <a:schemeClr val="tx1"/>
          </a:solidFill>
          <a:ln w="9525">
            <a:solidFill>
              <a:schemeClr val="bg2">
                <a:alpha val="60000"/>
              </a:schemeClr>
            </a:solidFill>
            <a:prstDash val="solid"/>
          </a:ln>
        </p:spPr>
      </p:sp>
      <p:sp>
        <p:nvSpPr>
          <p:cNvPr id="12" name="Text 10"/>
          <p:cNvSpPr txBox="1"/>
          <p:nvPr/>
        </p:nvSpPr>
        <p:spPr>
          <a:xfrm>
            <a:off x="685800" y="3529584"/>
            <a:ext cx="1371600" cy="347472"/>
          </a:xfrm>
          <a:prstGeom prst="rect">
            <a:avLst/>
          </a:prstGeom>
          <a:noFill/>
          <a:ln/>
        </p:spPr>
        <p:txBody>
          <a:bodyPr wrap="square" lIns="0" tIns="0" rIns="0" bIns="0" rtlCol="0" anchor="ctr"/>
          <a:lstStyle/>
          <a:p>
            <a:pPr indent="0" marL="0">
              <a:buNone/>
            </a:pPr>
            <a:r>
              <a:rPr lang="en-US" sz="1300" dirty="0">
                <a:solidFill>
                  <a:schemeClr val="bg1"/>
                </a:solidFill>
              </a:rPr>
              <a:t>Teacher's name</a:t>
            </a:r>
            <a:endParaRPr lang="en-US" sz="1300" dirty="0"/>
          </a:p>
        </p:txBody>
      </p:sp>
      <p:sp>
        <p:nvSpPr>
          <p:cNvPr id="13" name="Teacher's name box"/>
          <p:cNvSpPr/>
          <p:nvPr/>
        </p:nvSpPr>
        <p:spPr>
          <a:xfrm>
            <a:off x="2103120" y="3557016"/>
            <a:ext cx="2103120" cy="292608"/>
          </a:xfrm>
          <a:prstGeom prst="roundRect">
            <a:avLst>
              <a:gd name="adj" fmla="val 18750"/>
            </a:avLst>
          </a:prstGeom>
          <a:solidFill>
            <a:schemeClr val="tx1"/>
          </a:solidFill>
          <a:ln w="9525">
            <a:solidFill>
              <a:schemeClr val="bg2">
                <a:alpha val="60000"/>
              </a:schemeClr>
            </a:solidFill>
            <a:prstDash val="solid"/>
          </a:ln>
        </p:spPr>
      </p:sp>
      <p:sp>
        <p:nvSpPr>
          <p:cNvPr id="14" name="Text 12"/>
          <p:cNvSpPr txBox="1"/>
          <p:nvPr/>
        </p:nvSpPr>
        <p:spPr>
          <a:xfrm>
            <a:off x="2194560" y="3557016"/>
            <a:ext cx="1965960" cy="292608"/>
          </a:xfrm>
          <a:prstGeom prst="rect">
            <a:avLst/>
          </a:prstGeom>
          <a:noFill/>
          <a:ln/>
        </p:spPr>
        <p:txBody>
          <a:bodyPr wrap="square" lIns="0" tIns="0" rIns="0" bIns="0" rtlCol="0" anchor="ctr"/>
          <a:lstStyle/>
          <a:p>
            <a:pPr indent="0" marL="0">
              <a:buNone/>
            </a:pPr>
            <a:r>
              <a:rPr lang="en-US" sz="1100" dirty="0">
                <a:solidFill>
                  <a:schemeClr val="bg2"/>
                </a:solidFill>
              </a:rPr>
              <a:t>Choose from the list  ▾</a:t>
            </a:r>
            <a:endParaRPr lang="en-US" sz="1100" dirty="0"/>
          </a:p>
        </p:txBody>
      </p:sp>
      <p:sp>
        <p:nvSpPr>
          <p:cNvPr id="15" name="Text 13"/>
          <p:cNvSpPr txBox="1"/>
          <p:nvPr/>
        </p:nvSpPr>
        <p:spPr>
          <a:xfrm>
            <a:off x="685800" y="3968496"/>
            <a:ext cx="1371600" cy="347472"/>
          </a:xfrm>
          <a:prstGeom prst="rect">
            <a:avLst/>
          </a:prstGeom>
          <a:noFill/>
          <a:ln/>
        </p:spPr>
        <p:txBody>
          <a:bodyPr wrap="square" lIns="0" tIns="0" rIns="0" bIns="0" rtlCol="0" anchor="ctr"/>
          <a:lstStyle/>
          <a:p>
            <a:pPr indent="0" marL="0">
              <a:buNone/>
            </a:pPr>
            <a:r>
              <a:rPr lang="en-US" sz="1300" dirty="0">
                <a:solidFill>
                  <a:schemeClr val="bg1"/>
                </a:solidFill>
              </a:rPr>
              <a:t>Student ID</a:t>
            </a:r>
            <a:endParaRPr lang="en-US" sz="1300" dirty="0"/>
          </a:p>
        </p:txBody>
      </p:sp>
      <p:sp>
        <p:nvSpPr>
          <p:cNvPr id="16" name="Student ID box"/>
          <p:cNvSpPr/>
          <p:nvPr/>
        </p:nvSpPr>
        <p:spPr>
          <a:xfrm>
            <a:off x="2103120" y="3995928"/>
            <a:ext cx="2103120" cy="292608"/>
          </a:xfrm>
          <a:prstGeom prst="roundRect">
            <a:avLst>
              <a:gd name="adj" fmla="val 18750"/>
            </a:avLst>
          </a:prstGeom>
          <a:solidFill>
            <a:schemeClr val="tx1"/>
          </a:solidFill>
          <a:ln w="9525">
            <a:solidFill>
              <a:schemeClr val="bg2">
                <a:alpha val="60000"/>
              </a:schemeClr>
            </a:solidFill>
            <a:prstDash val="solid"/>
          </a:ln>
        </p:spPr>
      </p:sp>
      <p:sp>
        <p:nvSpPr>
          <p:cNvPr id="17" name="Goals card"/>
          <p:cNvSpPr/>
          <p:nvPr/>
        </p:nvSpPr>
        <p:spPr>
          <a:xfrm>
            <a:off x="4709160" y="1691640"/>
            <a:ext cx="3977640" cy="2834640"/>
          </a:xfrm>
          <a:prstGeom prst="roundRect">
            <a:avLst>
              <a:gd name="adj" fmla="val 3226"/>
            </a:avLst>
          </a:prstGeom>
          <a:solidFill>
            <a:schemeClr val="tx2"/>
          </a:solidFill>
          <a:ln w="9525">
            <a:solidFill>
              <a:schemeClr val="bg2">
                <a:alpha val="30000"/>
              </a:schemeClr>
            </a:solidFill>
            <a:prstDash val="solid"/>
          </a:ln>
        </p:spPr>
      </p:sp>
      <p:sp>
        <p:nvSpPr>
          <p:cNvPr id="18" name="Text 16"/>
          <p:cNvSpPr txBox="1"/>
          <p:nvPr/>
        </p:nvSpPr>
        <p:spPr>
          <a:xfrm>
            <a:off x="4937760" y="1828800"/>
            <a:ext cx="3566160" cy="274320"/>
          </a:xfrm>
          <a:prstGeom prst="rect">
            <a:avLst/>
          </a:prstGeom>
          <a:noFill/>
          <a:ln/>
        </p:spPr>
        <p:txBody>
          <a:bodyPr wrap="square" lIns="0" tIns="0" rIns="0" bIns="0" rtlCol="0" anchor="t"/>
          <a:lstStyle/>
          <a:p>
            <a:pPr indent="0" marL="0">
              <a:buNone/>
            </a:pPr>
            <a:r>
              <a:rPr lang="en-US" sz="1400" b="1" dirty="0">
                <a:solidFill>
                  <a:schemeClr val="accent4"/>
                </a:solidFill>
              </a:rPr>
              <a:t>Your goals</a:t>
            </a:r>
            <a:endParaRPr lang="en-US" sz="1400" dirty="0"/>
          </a:p>
        </p:txBody>
      </p:sp>
      <p:sp>
        <p:nvSpPr>
          <p:cNvPr id="19" name="Text 17"/>
          <p:cNvSpPr/>
          <p:nvPr/>
        </p:nvSpPr>
        <p:spPr>
          <a:xfrm>
            <a:off x="4937760" y="223113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21808" y="2194560"/>
            <a:ext cx="3246120" cy="365760"/>
          </a:xfrm>
          <a:prstGeom prst="rect">
            <a:avLst/>
          </a:prstGeom>
          <a:noFill/>
          <a:ln/>
        </p:spPr>
        <p:txBody>
          <a:bodyPr wrap="square" lIns="0" tIns="0" rIns="0" bIns="0" rtlCol="0" anchor="ctr"/>
          <a:lstStyle/>
          <a:p>
            <a:pPr indent="0" marL="0">
              <a:buNone/>
            </a:pPr>
            <a:r>
              <a:rPr lang="en-US" sz="1200" dirty="0">
                <a:solidFill>
                  <a:schemeClr val="bg1"/>
                </a:solidFill>
              </a:rPr>
              <a:t>Count protons, neutrons, and electrons using the periodic table</a:t>
            </a:r>
            <a:endParaRPr lang="en-US" sz="1200" dirty="0"/>
          </a:p>
        </p:txBody>
      </p:sp>
      <p:sp>
        <p:nvSpPr>
          <p:cNvPr id="21" name="Text 19"/>
          <p:cNvSpPr/>
          <p:nvPr/>
        </p:nvSpPr>
        <p:spPr>
          <a:xfrm>
            <a:off x="4937760" y="261518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21808" y="2578608"/>
            <a:ext cx="3246120" cy="365760"/>
          </a:xfrm>
          <a:prstGeom prst="rect">
            <a:avLst/>
          </a:prstGeom>
          <a:noFill/>
          <a:ln/>
        </p:spPr>
        <p:txBody>
          <a:bodyPr wrap="square" lIns="0" tIns="0" rIns="0" bIns="0" rtlCol="0" anchor="ctr"/>
          <a:lstStyle/>
          <a:p>
            <a:pPr indent="0" marL="0">
              <a:buNone/>
            </a:pPr>
            <a:r>
              <a:rPr lang="en-US" sz="1200" dirty="0">
                <a:solidFill>
                  <a:schemeClr val="bg1"/>
                </a:solidFill>
              </a:rPr>
              <a:t>Fill shells from the inside out and write the electron arrangement</a:t>
            </a:r>
            <a:endParaRPr lang="en-US" sz="1200" dirty="0"/>
          </a:p>
        </p:txBody>
      </p:sp>
      <p:sp>
        <p:nvSpPr>
          <p:cNvPr id="23" name="Text 21"/>
          <p:cNvSpPr/>
          <p:nvPr/>
        </p:nvSpPr>
        <p:spPr>
          <a:xfrm>
            <a:off x="4937760" y="299923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21808" y="2962656"/>
            <a:ext cx="3246120" cy="365760"/>
          </a:xfrm>
          <a:prstGeom prst="rect">
            <a:avLst/>
          </a:prstGeom>
          <a:noFill/>
          <a:ln/>
        </p:spPr>
        <p:txBody>
          <a:bodyPr wrap="square" lIns="0" tIns="0" rIns="0" bIns="0" rtlCol="0" anchor="ctr"/>
          <a:lstStyle/>
          <a:p>
            <a:pPr indent="0" marL="0">
              <a:buNone/>
            </a:pPr>
            <a:r>
              <a:rPr lang="en-US" sz="1200" dirty="0">
                <a:solidFill>
                  <a:schemeClr val="bg1"/>
                </a:solidFill>
              </a:rPr>
              <a:t>Place electrons using the class rule</a:t>
            </a:r>
            <a:endParaRPr lang="en-US" sz="1200" dirty="0"/>
          </a:p>
        </p:txBody>
      </p:sp>
      <p:sp>
        <p:nvSpPr>
          <p:cNvPr id="25" name="Text 23"/>
          <p:cNvSpPr/>
          <p:nvPr/>
        </p:nvSpPr>
        <p:spPr>
          <a:xfrm>
            <a:off x="4937760" y="338328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6" name="Text 24"/>
          <p:cNvSpPr txBox="1"/>
          <p:nvPr/>
        </p:nvSpPr>
        <p:spPr>
          <a:xfrm>
            <a:off x="5321808" y="3346704"/>
            <a:ext cx="3246120" cy="365760"/>
          </a:xfrm>
          <a:prstGeom prst="rect">
            <a:avLst/>
          </a:prstGeom>
          <a:noFill/>
          <a:ln/>
        </p:spPr>
        <p:txBody>
          <a:bodyPr wrap="square" lIns="0" tIns="0" rIns="0" bIns="0" rtlCol="0" anchor="ctr"/>
          <a:lstStyle/>
          <a:p>
            <a:pPr indent="0" marL="0">
              <a:buNone/>
            </a:pPr>
            <a:r>
              <a:rPr lang="en-US" sz="1200" dirty="0">
                <a:solidFill>
                  <a:schemeClr val="bg1"/>
                </a:solidFill>
              </a:rPr>
              <a:t>Draw a complete Bohr model</a:t>
            </a:r>
            <a:endParaRPr lang="en-US" sz="1200" dirty="0"/>
          </a:p>
        </p:txBody>
      </p:sp>
      <p:sp>
        <p:nvSpPr>
          <p:cNvPr id="27" name="Text 25"/>
          <p:cNvSpPr/>
          <p:nvPr/>
        </p:nvSpPr>
        <p:spPr>
          <a:xfrm>
            <a:off x="4937760" y="376732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8" name="Text 26"/>
          <p:cNvSpPr txBox="1"/>
          <p:nvPr/>
        </p:nvSpPr>
        <p:spPr>
          <a:xfrm>
            <a:off x="5321808" y="3730752"/>
            <a:ext cx="3246120" cy="365760"/>
          </a:xfrm>
          <a:prstGeom prst="rect">
            <a:avLst/>
          </a:prstGeom>
          <a:noFill/>
          <a:ln/>
        </p:spPr>
        <p:txBody>
          <a:bodyPr wrap="square" lIns="0" tIns="0" rIns="0" bIns="0" rtlCol="0" anchor="ctr"/>
          <a:lstStyle/>
          <a:p>
            <a:pPr indent="0" marL="0">
              <a:buNone/>
            </a:pPr>
            <a:r>
              <a:rPr lang="en-US" sz="1200" dirty="0">
                <a:solidFill>
                  <a:schemeClr val="bg1"/>
                </a:solidFill>
              </a:rPr>
              <a:t>Find valence electrons from a model or the periodic table</a:t>
            </a:r>
            <a:endParaRPr lang="en-US" sz="1200" dirty="0"/>
          </a:p>
        </p:txBody>
      </p:sp>
      <p:sp>
        <p:nvSpPr>
          <p:cNvPr id="29" name="Text 27"/>
          <p:cNvSpPr/>
          <p:nvPr/>
        </p:nvSpPr>
        <p:spPr>
          <a:xfrm>
            <a:off x="4937760" y="415137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30" name="Text 28"/>
          <p:cNvSpPr txBox="1"/>
          <p:nvPr/>
        </p:nvSpPr>
        <p:spPr>
          <a:xfrm>
            <a:off x="5321808" y="4114800"/>
            <a:ext cx="3246120" cy="365760"/>
          </a:xfrm>
          <a:prstGeom prst="rect">
            <a:avLst/>
          </a:prstGeom>
          <a:noFill/>
          <a:ln/>
        </p:spPr>
        <p:txBody>
          <a:bodyPr wrap="square" lIns="0" tIns="0" rIns="0" bIns="0" rtlCol="0" anchor="ctr"/>
          <a:lstStyle/>
          <a:p>
            <a:pPr indent="0" marL="0">
              <a:buNone/>
            </a:pPr>
            <a:r>
              <a:rPr lang="en-US" sz="1200" dirty="0">
                <a:solidFill>
                  <a:schemeClr val="bg1"/>
                </a:solidFill>
              </a:rPr>
              <a:t>Pass the final check (8 out of 10)</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How the lesson works</a:t>
            </a:r>
            <a:endParaRPr lang="en-US" sz="3000" dirty="0"/>
          </a:p>
        </p:txBody>
      </p:sp>
      <p:sp>
        <p:nvSpPr>
          <p:cNvPr id="3" name="Tile H"/>
          <p:cNvSpPr/>
          <p:nvPr/>
        </p:nvSpPr>
        <p:spPr>
          <a:xfrm>
            <a:off x="457200" y="1234440"/>
            <a:ext cx="713232" cy="786384"/>
          </a:xfrm>
          <a:prstGeom prst="roundRect">
            <a:avLst>
              <a:gd name="adj" fmla="val 12000"/>
            </a:avLst>
          </a:prstGeom>
          <a:solidFill>
            <a:srgbClr val="45C08F">
              <a:alpha val="30000"/>
            </a:srgbClr>
          </a:solidFill>
          <a:ln w="19050">
            <a:solidFill>
              <a:srgbClr val="45C08F"/>
            </a:solidFill>
            <a:prstDash val="solid"/>
          </a:ln>
        </p:spPr>
      </p:sp>
      <p:sp>
        <p:nvSpPr>
          <p:cNvPr id="4" name="Text 2"/>
          <p:cNvSpPr txBox="1"/>
          <p:nvPr/>
        </p:nvSpPr>
        <p:spPr>
          <a:xfrm>
            <a:off x="514259"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1</a:t>
            </a:r>
            <a:endParaRPr lang="en-US" sz="1100" dirty="0"/>
          </a:p>
        </p:txBody>
      </p:sp>
      <p:sp>
        <p:nvSpPr>
          <p:cNvPr id="5" name="Text 3"/>
          <p:cNvSpPr txBox="1"/>
          <p:nvPr/>
        </p:nvSpPr>
        <p:spPr>
          <a:xfrm>
            <a:off x="457200"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H</a:t>
            </a:r>
            <a:endParaRPr lang="en-US" sz="2900" dirty="0"/>
          </a:p>
        </p:txBody>
      </p:sp>
      <p:sp>
        <p:nvSpPr>
          <p:cNvPr id="6" name="Text 4"/>
          <p:cNvSpPr txBox="1"/>
          <p:nvPr/>
        </p:nvSpPr>
        <p:spPr>
          <a:xfrm>
            <a:off x="420624"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What's inside an atom</a:t>
            </a:r>
            <a:endParaRPr lang="en-US" sz="1000" dirty="0"/>
          </a:p>
        </p:txBody>
      </p:sp>
      <p:sp>
        <p:nvSpPr>
          <p:cNvPr id="7" name="Tile He"/>
          <p:cNvSpPr/>
          <p:nvPr/>
        </p:nvSpPr>
        <p:spPr>
          <a:xfrm>
            <a:off x="1289304" y="1234440"/>
            <a:ext cx="713232" cy="786384"/>
          </a:xfrm>
          <a:prstGeom prst="roundRect">
            <a:avLst>
              <a:gd name="adj" fmla="val 12000"/>
            </a:avLst>
          </a:prstGeom>
          <a:solidFill>
            <a:srgbClr val="A084FF">
              <a:alpha val="30000"/>
            </a:srgbClr>
          </a:solidFill>
          <a:ln w="19050">
            <a:solidFill>
              <a:srgbClr val="A084FF"/>
            </a:solidFill>
            <a:prstDash val="solid"/>
          </a:ln>
        </p:spPr>
      </p:sp>
      <p:sp>
        <p:nvSpPr>
          <p:cNvPr id="8" name="Text 6"/>
          <p:cNvSpPr txBox="1"/>
          <p:nvPr/>
        </p:nvSpPr>
        <p:spPr>
          <a:xfrm>
            <a:off x="1346363"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2</a:t>
            </a:r>
            <a:endParaRPr lang="en-US" sz="1100" dirty="0"/>
          </a:p>
        </p:txBody>
      </p:sp>
      <p:sp>
        <p:nvSpPr>
          <p:cNvPr id="9" name="Text 7"/>
          <p:cNvSpPr txBox="1"/>
          <p:nvPr/>
        </p:nvSpPr>
        <p:spPr>
          <a:xfrm>
            <a:off x="1289304"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He</a:t>
            </a:r>
            <a:endParaRPr lang="en-US" sz="2900" dirty="0"/>
          </a:p>
        </p:txBody>
      </p:sp>
      <p:sp>
        <p:nvSpPr>
          <p:cNvPr id="10" name="Text 8"/>
          <p:cNvSpPr txBox="1"/>
          <p:nvPr/>
        </p:nvSpPr>
        <p:spPr>
          <a:xfrm>
            <a:off x="1252728"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Count the particles</a:t>
            </a:r>
            <a:endParaRPr lang="en-US" sz="1000" dirty="0"/>
          </a:p>
        </p:txBody>
      </p:sp>
      <p:sp>
        <p:nvSpPr>
          <p:cNvPr id="11" name="Tile Li"/>
          <p:cNvSpPr/>
          <p:nvPr/>
        </p:nvSpPr>
        <p:spPr>
          <a:xfrm>
            <a:off x="2121408" y="1234440"/>
            <a:ext cx="713232" cy="786384"/>
          </a:xfrm>
          <a:prstGeom prst="roundRect">
            <a:avLst>
              <a:gd name="adj" fmla="val 12000"/>
            </a:avLst>
          </a:prstGeom>
          <a:solidFill>
            <a:srgbClr val="FF8F5E">
              <a:alpha val="30000"/>
            </a:srgbClr>
          </a:solidFill>
          <a:ln w="19050">
            <a:solidFill>
              <a:srgbClr val="FF8F5E"/>
            </a:solidFill>
            <a:prstDash val="solid"/>
          </a:ln>
        </p:spPr>
      </p:sp>
      <p:sp>
        <p:nvSpPr>
          <p:cNvPr id="12" name="Text 10"/>
          <p:cNvSpPr txBox="1"/>
          <p:nvPr/>
        </p:nvSpPr>
        <p:spPr>
          <a:xfrm>
            <a:off x="2178467"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3</a:t>
            </a:r>
            <a:endParaRPr lang="en-US" sz="1100" dirty="0"/>
          </a:p>
        </p:txBody>
      </p:sp>
      <p:sp>
        <p:nvSpPr>
          <p:cNvPr id="13" name="Text 11"/>
          <p:cNvSpPr txBox="1"/>
          <p:nvPr/>
        </p:nvSpPr>
        <p:spPr>
          <a:xfrm>
            <a:off x="2121408"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Li</a:t>
            </a:r>
            <a:endParaRPr lang="en-US" sz="2900" dirty="0"/>
          </a:p>
        </p:txBody>
      </p:sp>
      <p:sp>
        <p:nvSpPr>
          <p:cNvPr id="14" name="Text 12"/>
          <p:cNvSpPr txBox="1"/>
          <p:nvPr/>
        </p:nvSpPr>
        <p:spPr>
          <a:xfrm>
            <a:off x="2084832"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Shells fill from the inside out</a:t>
            </a:r>
            <a:endParaRPr lang="en-US" sz="1000" dirty="0"/>
          </a:p>
        </p:txBody>
      </p:sp>
      <p:sp>
        <p:nvSpPr>
          <p:cNvPr id="15" name="Tile Be"/>
          <p:cNvSpPr/>
          <p:nvPr/>
        </p:nvSpPr>
        <p:spPr>
          <a:xfrm>
            <a:off x="2953512" y="1234440"/>
            <a:ext cx="713232" cy="786384"/>
          </a:xfrm>
          <a:prstGeom prst="roundRect">
            <a:avLst>
              <a:gd name="adj" fmla="val 12000"/>
            </a:avLst>
          </a:prstGeom>
          <a:solidFill>
            <a:srgbClr val="FFCB5C">
              <a:alpha val="30000"/>
            </a:srgbClr>
          </a:solidFill>
          <a:ln w="19050">
            <a:solidFill>
              <a:srgbClr val="FFCB5C"/>
            </a:solidFill>
            <a:prstDash val="solid"/>
          </a:ln>
        </p:spPr>
      </p:sp>
      <p:sp>
        <p:nvSpPr>
          <p:cNvPr id="16" name="Text 14"/>
          <p:cNvSpPr txBox="1"/>
          <p:nvPr/>
        </p:nvSpPr>
        <p:spPr>
          <a:xfrm>
            <a:off x="3010571"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4</a:t>
            </a:r>
            <a:endParaRPr lang="en-US" sz="1100" dirty="0"/>
          </a:p>
        </p:txBody>
      </p:sp>
      <p:sp>
        <p:nvSpPr>
          <p:cNvPr id="17" name="Text 15"/>
          <p:cNvSpPr txBox="1"/>
          <p:nvPr/>
        </p:nvSpPr>
        <p:spPr>
          <a:xfrm>
            <a:off x="2953512"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Be</a:t>
            </a:r>
            <a:endParaRPr lang="en-US" sz="2900" dirty="0"/>
          </a:p>
        </p:txBody>
      </p:sp>
      <p:sp>
        <p:nvSpPr>
          <p:cNvPr id="18" name="Text 16"/>
          <p:cNvSpPr txBox="1"/>
          <p:nvPr/>
        </p:nvSpPr>
        <p:spPr>
          <a:xfrm>
            <a:off x="2916936"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Write the electron arrangement</a:t>
            </a:r>
            <a:endParaRPr lang="en-US" sz="1000" dirty="0"/>
          </a:p>
        </p:txBody>
      </p:sp>
      <p:sp>
        <p:nvSpPr>
          <p:cNvPr id="19" name="Tile B"/>
          <p:cNvSpPr/>
          <p:nvPr/>
        </p:nvSpPr>
        <p:spPr>
          <a:xfrm>
            <a:off x="3785616" y="1234440"/>
            <a:ext cx="713232" cy="786384"/>
          </a:xfrm>
          <a:prstGeom prst="roundRect">
            <a:avLst>
              <a:gd name="adj" fmla="val 12000"/>
            </a:avLst>
          </a:prstGeom>
          <a:solidFill>
            <a:srgbClr val="46C7D8">
              <a:alpha val="30000"/>
            </a:srgbClr>
          </a:solidFill>
          <a:ln w="19050">
            <a:solidFill>
              <a:srgbClr val="46C7D8"/>
            </a:solidFill>
            <a:prstDash val="solid"/>
          </a:ln>
        </p:spPr>
      </p:sp>
      <p:sp>
        <p:nvSpPr>
          <p:cNvPr id="20" name="Text 18"/>
          <p:cNvSpPr txBox="1"/>
          <p:nvPr/>
        </p:nvSpPr>
        <p:spPr>
          <a:xfrm>
            <a:off x="3842675"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5</a:t>
            </a:r>
            <a:endParaRPr lang="en-US" sz="1100" dirty="0"/>
          </a:p>
        </p:txBody>
      </p:sp>
      <p:sp>
        <p:nvSpPr>
          <p:cNvPr id="21" name="Text 19"/>
          <p:cNvSpPr txBox="1"/>
          <p:nvPr/>
        </p:nvSpPr>
        <p:spPr>
          <a:xfrm>
            <a:off x="3785616"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B</a:t>
            </a:r>
            <a:endParaRPr lang="en-US" sz="2900" dirty="0"/>
          </a:p>
        </p:txBody>
      </p:sp>
      <p:sp>
        <p:nvSpPr>
          <p:cNvPr id="22" name="Text 20"/>
          <p:cNvSpPr txBox="1"/>
          <p:nvPr/>
        </p:nvSpPr>
        <p:spPr>
          <a:xfrm>
            <a:off x="3749040"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Place electrons the class way</a:t>
            </a:r>
            <a:endParaRPr lang="en-US" sz="1000" dirty="0"/>
          </a:p>
        </p:txBody>
      </p:sp>
      <p:sp>
        <p:nvSpPr>
          <p:cNvPr id="23" name="Tile C"/>
          <p:cNvSpPr/>
          <p:nvPr/>
        </p:nvSpPr>
        <p:spPr>
          <a:xfrm>
            <a:off x="4617720" y="1234440"/>
            <a:ext cx="713232" cy="786384"/>
          </a:xfrm>
          <a:prstGeom prst="roundRect">
            <a:avLst>
              <a:gd name="adj" fmla="val 12000"/>
            </a:avLst>
          </a:prstGeom>
          <a:solidFill>
            <a:srgbClr val="45C08F">
              <a:alpha val="30000"/>
            </a:srgbClr>
          </a:solidFill>
          <a:ln w="19050">
            <a:solidFill>
              <a:srgbClr val="45C08F"/>
            </a:solidFill>
            <a:prstDash val="solid"/>
          </a:ln>
        </p:spPr>
      </p:sp>
      <p:sp>
        <p:nvSpPr>
          <p:cNvPr id="24" name="Text 22"/>
          <p:cNvSpPr txBox="1"/>
          <p:nvPr/>
        </p:nvSpPr>
        <p:spPr>
          <a:xfrm>
            <a:off x="4674779"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6</a:t>
            </a:r>
            <a:endParaRPr lang="en-US" sz="1100" dirty="0"/>
          </a:p>
        </p:txBody>
      </p:sp>
      <p:sp>
        <p:nvSpPr>
          <p:cNvPr id="25" name="Text 23"/>
          <p:cNvSpPr txBox="1"/>
          <p:nvPr/>
        </p:nvSpPr>
        <p:spPr>
          <a:xfrm>
            <a:off x="4617720"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C</a:t>
            </a:r>
            <a:endParaRPr lang="en-US" sz="2900" dirty="0"/>
          </a:p>
        </p:txBody>
      </p:sp>
      <p:sp>
        <p:nvSpPr>
          <p:cNvPr id="26" name="Text 24"/>
          <p:cNvSpPr txBox="1"/>
          <p:nvPr/>
        </p:nvSpPr>
        <p:spPr>
          <a:xfrm>
            <a:off x="4581144"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Build a complete Bohr model</a:t>
            </a:r>
            <a:endParaRPr lang="en-US" sz="1000" dirty="0"/>
          </a:p>
        </p:txBody>
      </p:sp>
      <p:sp>
        <p:nvSpPr>
          <p:cNvPr id="27" name="Tile N"/>
          <p:cNvSpPr/>
          <p:nvPr/>
        </p:nvSpPr>
        <p:spPr>
          <a:xfrm>
            <a:off x="5449824" y="1234440"/>
            <a:ext cx="713232" cy="786384"/>
          </a:xfrm>
          <a:prstGeom prst="roundRect">
            <a:avLst>
              <a:gd name="adj" fmla="val 12000"/>
            </a:avLst>
          </a:prstGeom>
          <a:solidFill>
            <a:srgbClr val="45C08F">
              <a:alpha val="30000"/>
            </a:srgbClr>
          </a:solidFill>
          <a:ln w="19050">
            <a:solidFill>
              <a:srgbClr val="45C08F"/>
            </a:solidFill>
            <a:prstDash val="solid"/>
          </a:ln>
        </p:spPr>
      </p:sp>
      <p:sp>
        <p:nvSpPr>
          <p:cNvPr id="28" name="Text 26"/>
          <p:cNvSpPr txBox="1"/>
          <p:nvPr/>
        </p:nvSpPr>
        <p:spPr>
          <a:xfrm>
            <a:off x="5506883"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7</a:t>
            </a:r>
            <a:endParaRPr lang="en-US" sz="1100" dirty="0"/>
          </a:p>
        </p:txBody>
      </p:sp>
      <p:sp>
        <p:nvSpPr>
          <p:cNvPr id="29" name="Text 27"/>
          <p:cNvSpPr txBox="1"/>
          <p:nvPr/>
        </p:nvSpPr>
        <p:spPr>
          <a:xfrm>
            <a:off x="5449824"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N</a:t>
            </a:r>
            <a:endParaRPr lang="en-US" sz="2900" dirty="0"/>
          </a:p>
        </p:txBody>
      </p:sp>
      <p:sp>
        <p:nvSpPr>
          <p:cNvPr id="30" name="Text 28"/>
          <p:cNvSpPr txBox="1"/>
          <p:nvPr/>
        </p:nvSpPr>
        <p:spPr>
          <a:xfrm>
            <a:off x="5413248"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Valence electrons</a:t>
            </a:r>
            <a:endParaRPr lang="en-US" sz="1000" dirty="0"/>
          </a:p>
        </p:txBody>
      </p:sp>
      <p:sp>
        <p:nvSpPr>
          <p:cNvPr id="31" name="Tile O"/>
          <p:cNvSpPr/>
          <p:nvPr/>
        </p:nvSpPr>
        <p:spPr>
          <a:xfrm>
            <a:off x="6281928" y="1234440"/>
            <a:ext cx="713232" cy="786384"/>
          </a:xfrm>
          <a:prstGeom prst="roundRect">
            <a:avLst>
              <a:gd name="adj" fmla="val 12000"/>
            </a:avLst>
          </a:prstGeom>
          <a:solidFill>
            <a:srgbClr val="45C08F">
              <a:alpha val="30000"/>
            </a:srgbClr>
          </a:solidFill>
          <a:ln w="19050">
            <a:solidFill>
              <a:srgbClr val="45C08F"/>
            </a:solidFill>
            <a:prstDash val="solid"/>
          </a:ln>
        </p:spPr>
      </p:sp>
      <p:sp>
        <p:nvSpPr>
          <p:cNvPr id="32" name="Text 30"/>
          <p:cNvSpPr txBox="1"/>
          <p:nvPr/>
        </p:nvSpPr>
        <p:spPr>
          <a:xfrm>
            <a:off x="6338987"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8</a:t>
            </a:r>
            <a:endParaRPr lang="en-US" sz="1100" dirty="0"/>
          </a:p>
        </p:txBody>
      </p:sp>
      <p:sp>
        <p:nvSpPr>
          <p:cNvPr id="33" name="Text 31"/>
          <p:cNvSpPr txBox="1"/>
          <p:nvPr/>
        </p:nvSpPr>
        <p:spPr>
          <a:xfrm>
            <a:off x="6281928"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O</a:t>
            </a:r>
            <a:endParaRPr lang="en-US" sz="2900" dirty="0"/>
          </a:p>
        </p:txBody>
      </p:sp>
      <p:sp>
        <p:nvSpPr>
          <p:cNvPr id="34" name="Text 32"/>
          <p:cNvSpPr txBox="1"/>
          <p:nvPr/>
        </p:nvSpPr>
        <p:spPr>
          <a:xfrm>
            <a:off x="6245352"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Practice</a:t>
            </a:r>
            <a:endParaRPr lang="en-US" sz="1000" dirty="0"/>
          </a:p>
        </p:txBody>
      </p:sp>
      <p:sp>
        <p:nvSpPr>
          <p:cNvPr id="35" name="Tile F"/>
          <p:cNvSpPr/>
          <p:nvPr/>
        </p:nvSpPr>
        <p:spPr>
          <a:xfrm>
            <a:off x="7114032" y="1234440"/>
            <a:ext cx="713232" cy="786384"/>
          </a:xfrm>
          <a:prstGeom prst="roundRect">
            <a:avLst>
              <a:gd name="adj" fmla="val 12000"/>
            </a:avLst>
          </a:prstGeom>
          <a:solidFill>
            <a:srgbClr val="F477B8">
              <a:alpha val="30000"/>
            </a:srgbClr>
          </a:solidFill>
          <a:ln w="19050">
            <a:solidFill>
              <a:srgbClr val="F477B8"/>
            </a:solidFill>
            <a:prstDash val="solid"/>
          </a:ln>
        </p:spPr>
      </p:sp>
      <p:sp>
        <p:nvSpPr>
          <p:cNvPr id="36" name="Text 34"/>
          <p:cNvSpPr txBox="1"/>
          <p:nvPr/>
        </p:nvSpPr>
        <p:spPr>
          <a:xfrm>
            <a:off x="7171091"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9</a:t>
            </a:r>
            <a:endParaRPr lang="en-US" sz="1100" dirty="0"/>
          </a:p>
        </p:txBody>
      </p:sp>
      <p:sp>
        <p:nvSpPr>
          <p:cNvPr id="37" name="Text 35"/>
          <p:cNvSpPr txBox="1"/>
          <p:nvPr/>
        </p:nvSpPr>
        <p:spPr>
          <a:xfrm>
            <a:off x="7114032"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F</a:t>
            </a:r>
            <a:endParaRPr lang="en-US" sz="2900" dirty="0"/>
          </a:p>
        </p:txBody>
      </p:sp>
      <p:sp>
        <p:nvSpPr>
          <p:cNvPr id="38" name="Text 36"/>
          <p:cNvSpPr txBox="1"/>
          <p:nvPr/>
        </p:nvSpPr>
        <p:spPr>
          <a:xfrm>
            <a:off x="7077456"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Final check</a:t>
            </a:r>
            <a:endParaRPr lang="en-US" sz="1000" dirty="0"/>
          </a:p>
        </p:txBody>
      </p:sp>
      <p:sp>
        <p:nvSpPr>
          <p:cNvPr id="39" name="Tile Ne"/>
          <p:cNvSpPr/>
          <p:nvPr/>
        </p:nvSpPr>
        <p:spPr>
          <a:xfrm>
            <a:off x="7946136" y="1234440"/>
            <a:ext cx="713232" cy="786384"/>
          </a:xfrm>
          <a:prstGeom prst="roundRect">
            <a:avLst>
              <a:gd name="adj" fmla="val 12000"/>
            </a:avLst>
          </a:prstGeom>
          <a:solidFill>
            <a:srgbClr val="A084FF">
              <a:alpha val="30000"/>
            </a:srgbClr>
          </a:solidFill>
          <a:ln w="19050">
            <a:solidFill>
              <a:srgbClr val="A084FF"/>
            </a:solidFill>
            <a:prstDash val="solid"/>
          </a:ln>
        </p:spPr>
      </p:sp>
      <p:sp>
        <p:nvSpPr>
          <p:cNvPr id="40" name="Text 38"/>
          <p:cNvSpPr txBox="1"/>
          <p:nvPr/>
        </p:nvSpPr>
        <p:spPr>
          <a:xfrm>
            <a:off x="8003195" y="1273759"/>
            <a:ext cx="427939" cy="188732"/>
          </a:xfrm>
          <a:prstGeom prst="rect">
            <a:avLst/>
          </a:prstGeom>
          <a:noFill/>
          <a:ln/>
        </p:spPr>
        <p:txBody>
          <a:bodyPr wrap="square" lIns="0" tIns="0" rIns="0" bIns="0" rtlCol="0" anchor="t"/>
          <a:lstStyle/>
          <a:p>
            <a:pPr indent="0" marL="0">
              <a:buNone/>
            </a:pPr>
            <a:r>
              <a:rPr lang="en-US" sz="1100" dirty="0">
                <a:solidFill>
                  <a:schemeClr val="bg2"/>
                </a:solidFill>
              </a:rPr>
              <a:t>10</a:t>
            </a:r>
            <a:endParaRPr lang="en-US" sz="1100" dirty="0"/>
          </a:p>
        </p:txBody>
      </p:sp>
      <p:sp>
        <p:nvSpPr>
          <p:cNvPr id="41" name="Text 39"/>
          <p:cNvSpPr txBox="1"/>
          <p:nvPr/>
        </p:nvSpPr>
        <p:spPr>
          <a:xfrm>
            <a:off x="7946136" y="1360261"/>
            <a:ext cx="713232" cy="629107"/>
          </a:xfrm>
          <a:prstGeom prst="rect">
            <a:avLst/>
          </a:prstGeom>
          <a:noFill/>
          <a:ln/>
        </p:spPr>
        <p:txBody>
          <a:bodyPr wrap="square" lIns="0" tIns="0" rIns="0" bIns="0" rtlCol="0" anchor="ctr"/>
          <a:lstStyle/>
          <a:p>
            <a:pPr algn="ctr" indent="0" marL="0">
              <a:buNone/>
            </a:pPr>
            <a:r>
              <a:rPr lang="en-US" sz="2900" b="1" dirty="0">
                <a:solidFill>
                  <a:schemeClr val="bg1"/>
                </a:solidFill>
              </a:rPr>
              <a:t>Ne</a:t>
            </a:r>
            <a:endParaRPr lang="en-US" sz="2900" dirty="0"/>
          </a:p>
        </p:txBody>
      </p:sp>
      <p:sp>
        <p:nvSpPr>
          <p:cNvPr id="42" name="Text 40"/>
          <p:cNvSpPr txBox="1"/>
          <p:nvPr/>
        </p:nvSpPr>
        <p:spPr>
          <a:xfrm>
            <a:off x="7909560" y="2103120"/>
            <a:ext cx="786384" cy="685800"/>
          </a:xfrm>
          <a:prstGeom prst="rect">
            <a:avLst/>
          </a:prstGeom>
          <a:noFill/>
          <a:ln/>
        </p:spPr>
        <p:txBody>
          <a:bodyPr wrap="square" lIns="0" tIns="0" rIns="0" bIns="0" rtlCol="0" anchor="t"/>
          <a:lstStyle/>
          <a:p>
            <a:pPr algn="ctr" indent="0" marL="0">
              <a:buNone/>
            </a:pPr>
            <a:r>
              <a:rPr lang="en-US" sz="1000" dirty="0">
                <a:solidFill>
                  <a:schemeClr val="bg2"/>
                </a:solidFill>
              </a:rPr>
              <a:t>Results</a:t>
            </a:r>
            <a:endParaRPr lang="en-US" sz="1000" dirty="0"/>
          </a:p>
        </p:txBody>
      </p:sp>
      <p:sp>
        <p:nvSpPr>
          <p:cNvPr id="43" name="Rule card"/>
          <p:cNvSpPr/>
          <p:nvPr/>
        </p:nvSpPr>
        <p:spPr>
          <a:xfrm>
            <a:off x="457200" y="3017520"/>
            <a:ext cx="2651760" cy="1417320"/>
          </a:xfrm>
          <a:prstGeom prst="roundRect">
            <a:avLst>
              <a:gd name="adj" fmla="val 6452"/>
            </a:avLst>
          </a:prstGeom>
          <a:solidFill>
            <a:schemeClr val="tx2"/>
          </a:solidFill>
          <a:ln w="9525">
            <a:solidFill>
              <a:schemeClr val="bg2">
                <a:alpha val="30000"/>
              </a:schemeClr>
            </a:solidFill>
            <a:prstDash val="solid"/>
          </a:ln>
        </p:spPr>
      </p:sp>
      <p:sp>
        <p:nvSpPr>
          <p:cNvPr id="44" name="Text 42"/>
          <p:cNvSpPr txBox="1"/>
          <p:nvPr/>
        </p:nvSpPr>
        <p:spPr>
          <a:xfrm>
            <a:off x="640080" y="315468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Three parts per section</a:t>
            </a:r>
            <a:endParaRPr lang="en-US" sz="1400" dirty="0"/>
          </a:p>
        </p:txBody>
      </p:sp>
      <p:sp>
        <p:nvSpPr>
          <p:cNvPr id="45" name="Text 43"/>
          <p:cNvSpPr txBox="1"/>
          <p:nvPr/>
        </p:nvSpPr>
        <p:spPr>
          <a:xfrm>
            <a:off x="640080" y="3520440"/>
            <a:ext cx="2286000" cy="822960"/>
          </a:xfrm>
          <a:prstGeom prst="rect">
            <a:avLst/>
          </a:prstGeom>
          <a:noFill/>
          <a:ln/>
        </p:spPr>
        <p:txBody>
          <a:bodyPr wrap="square" lIns="0" tIns="0" rIns="0" bIns="0" rtlCol="0" anchor="t"/>
          <a:lstStyle/>
          <a:p>
            <a:pPr indent="0" marL="0">
              <a:buNone/>
            </a:pPr>
            <a:r>
              <a:rPr lang="en-US" sz="1300" dirty="0">
                <a:solidFill>
                  <a:schemeClr val="bg1"/>
                </a:solidFill>
              </a:rPr>
              <a:t>Read, Try it, and a Quick check.</a:t>
            </a:r>
            <a:endParaRPr lang="en-US" sz="1300" dirty="0"/>
          </a:p>
        </p:txBody>
      </p:sp>
      <p:sp>
        <p:nvSpPr>
          <p:cNvPr id="46" name="Rule card"/>
          <p:cNvSpPr/>
          <p:nvPr/>
        </p:nvSpPr>
        <p:spPr>
          <a:xfrm>
            <a:off x="3246120" y="3017520"/>
            <a:ext cx="2651760" cy="1417320"/>
          </a:xfrm>
          <a:prstGeom prst="roundRect">
            <a:avLst>
              <a:gd name="adj" fmla="val 6452"/>
            </a:avLst>
          </a:prstGeom>
          <a:solidFill>
            <a:schemeClr val="tx2"/>
          </a:solidFill>
          <a:ln w="9525">
            <a:solidFill>
              <a:schemeClr val="bg2">
                <a:alpha val="30000"/>
              </a:schemeClr>
            </a:solidFill>
            <a:prstDash val="solid"/>
          </a:ln>
        </p:spPr>
      </p:sp>
      <p:sp>
        <p:nvSpPr>
          <p:cNvPr id="47" name="Text 45"/>
          <p:cNvSpPr txBox="1"/>
          <p:nvPr/>
        </p:nvSpPr>
        <p:spPr>
          <a:xfrm>
            <a:off x="3429000" y="315468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Unlock as you go</a:t>
            </a:r>
            <a:endParaRPr lang="en-US" sz="1400" dirty="0"/>
          </a:p>
        </p:txBody>
      </p:sp>
      <p:sp>
        <p:nvSpPr>
          <p:cNvPr id="48" name="Text 46"/>
          <p:cNvSpPr txBox="1"/>
          <p:nvPr/>
        </p:nvSpPr>
        <p:spPr>
          <a:xfrm>
            <a:off x="3429000" y="3520440"/>
            <a:ext cx="2286000" cy="822960"/>
          </a:xfrm>
          <a:prstGeom prst="rect">
            <a:avLst/>
          </a:prstGeom>
          <a:noFill/>
          <a:ln/>
        </p:spPr>
        <p:txBody>
          <a:bodyPr wrap="square" lIns="0" tIns="0" rIns="0" bIns="0" rtlCol="0" anchor="t"/>
          <a:lstStyle/>
          <a:p>
            <a:pPr indent="0" marL="0">
              <a:buNone/>
            </a:pPr>
            <a:r>
              <a:rPr lang="en-US" sz="1300" dirty="0">
                <a:solidFill>
                  <a:schemeClr val="bg1"/>
                </a:solidFill>
              </a:rPr>
              <a:t>Finish the checklist to open the next section. Tiles across the top show where you are.</a:t>
            </a:r>
            <a:endParaRPr lang="en-US" sz="1300" dirty="0"/>
          </a:p>
        </p:txBody>
      </p:sp>
      <p:sp>
        <p:nvSpPr>
          <p:cNvPr id="49" name="Rule card"/>
          <p:cNvSpPr/>
          <p:nvPr/>
        </p:nvSpPr>
        <p:spPr>
          <a:xfrm>
            <a:off x="6035040" y="3017520"/>
            <a:ext cx="2651760" cy="1417320"/>
          </a:xfrm>
          <a:prstGeom prst="roundRect">
            <a:avLst>
              <a:gd name="adj" fmla="val 6452"/>
            </a:avLst>
          </a:prstGeom>
          <a:solidFill>
            <a:schemeClr val="tx2"/>
          </a:solidFill>
          <a:ln w="9525">
            <a:solidFill>
              <a:schemeClr val="bg2">
                <a:alpha val="30000"/>
              </a:schemeClr>
            </a:solidFill>
            <a:prstDash val="solid"/>
          </a:ln>
        </p:spPr>
      </p:sp>
      <p:sp>
        <p:nvSpPr>
          <p:cNvPr id="50" name="Text 48"/>
          <p:cNvSpPr txBox="1"/>
          <p:nvPr/>
        </p:nvSpPr>
        <p:spPr>
          <a:xfrm>
            <a:off x="6217920" y="315468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Final check at the end</a:t>
            </a:r>
            <a:endParaRPr lang="en-US" sz="1400" dirty="0"/>
          </a:p>
        </p:txBody>
      </p:sp>
      <p:sp>
        <p:nvSpPr>
          <p:cNvPr id="51" name="Text 49"/>
          <p:cNvSpPr txBox="1"/>
          <p:nvPr/>
        </p:nvSpPr>
        <p:spPr>
          <a:xfrm>
            <a:off x="6217920" y="3520440"/>
            <a:ext cx="2286000" cy="822960"/>
          </a:xfrm>
          <a:prstGeom prst="rect">
            <a:avLst/>
          </a:prstGeom>
          <a:noFill/>
          <a:ln/>
        </p:spPr>
        <p:txBody>
          <a:bodyPr wrap="square" lIns="0" tIns="0" rIns="0" bIns="0" rtlCol="0" anchor="t"/>
          <a:lstStyle/>
          <a:p>
            <a:pPr indent="0" marL="0">
              <a:buNone/>
            </a:pPr>
            <a:r>
              <a:rPr lang="en-US" sz="1300" dirty="0">
                <a:solidFill>
                  <a:schemeClr val="bg1"/>
                </a:solidFill>
              </a:rPr>
              <a:t>Score 8 out of 10 to pass. Your scores go to your teacher's sheet.</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le H"/>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1 of 9 · about 5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What's inside an atom</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Atoms have parts</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Label the model</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Where are electrons found?</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Label all four parts of the lithium model</a:t>
            </a:r>
            <a:endParaRPr lang="en-US" sz="1400" dirty="0"/>
          </a:p>
        </p:txBody>
      </p:sp>
      <p:sp>
        <p:nvSpPr>
          <p:cNvPr id="19" name="Text 17"/>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le H"/>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Atoms have parts</a:t>
            </a:r>
            <a:endParaRPr lang="en-US" sz="2800" dirty="0"/>
          </a:p>
        </p:txBody>
      </p:sp>
      <p:sp>
        <p:nvSpPr>
          <p:cNvPr id="8" name="Text 6"/>
          <p:cNvSpPr txBox="1"/>
          <p:nvPr/>
        </p:nvSpPr>
        <p:spPr>
          <a:xfrm>
            <a:off x="457200" y="1325880"/>
            <a:ext cx="4572000" cy="324612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Everything around you is made of atoms. Each atom has a tiny center called the </a:t>
            </a:r>
            <a:pPr indent="0" marL="0">
              <a:spcAft>
                <a:spcPts val="800"/>
              </a:spcAft>
              <a:buNone/>
            </a:pPr>
            <a:r>
              <a:rPr lang="en-US" sz="1500" b="1" dirty="0">
                <a:solidFill>
                  <a:schemeClr val="accent1"/>
                </a:solidFill>
              </a:rPr>
              <a:t>nucleus</a:t>
            </a:r>
            <a:pPr indent="0" marL="0">
              <a:spcAft>
                <a:spcPts val="800"/>
              </a:spcAft>
              <a:buNone/>
            </a:pPr>
            <a:r>
              <a:rPr lang="en-US" sz="1500" dirty="0">
                <a:solidFill>
                  <a:schemeClr val="bg1"/>
                </a:solidFill>
              </a:rPr>
              <a:t>. The nucleus holds </a:t>
            </a:r>
            <a:pPr indent="0" marL="0">
              <a:spcAft>
                <a:spcPts val="800"/>
              </a:spcAft>
              <a:buNone/>
            </a:pPr>
            <a:r>
              <a:rPr lang="en-US" sz="1500" b="1" dirty="0">
                <a:solidFill>
                  <a:schemeClr val="accent1"/>
                </a:solidFill>
              </a:rPr>
              <a:t>protons</a:t>
            </a:r>
            <a:pPr indent="0" marL="0">
              <a:spcAft>
                <a:spcPts val="800"/>
              </a:spcAft>
              <a:buNone/>
            </a:pPr>
            <a:r>
              <a:rPr lang="en-US" sz="1500" dirty="0">
                <a:solidFill>
                  <a:schemeClr val="bg1"/>
                </a:solidFill>
              </a:rPr>
              <a:t>, which have a positive charge, and </a:t>
            </a:r>
            <a:pPr indent="0" marL="0">
              <a:spcAft>
                <a:spcPts val="800"/>
              </a:spcAft>
              <a:buNone/>
            </a:pPr>
            <a:r>
              <a:rPr lang="en-US" sz="1500" b="1" dirty="0">
                <a:solidFill>
                  <a:schemeClr val="accent1"/>
                </a:solidFill>
              </a:rPr>
              <a:t>neutrons</a:t>
            </a:r>
            <a:pPr indent="0" marL="0">
              <a:spcAft>
                <a:spcPts val="800"/>
              </a:spcAft>
              <a:buNone/>
            </a:pPr>
            <a:r>
              <a:rPr lang="en-US" sz="1500" dirty="0">
                <a:solidFill>
                  <a:schemeClr val="bg1"/>
                </a:solidFill>
              </a:rPr>
              <a:t>, which have no charge.</a:t>
            </a:r>
            <a:endParaRPr lang="en-US" sz="1500" dirty="0"/>
          </a:p>
          <a:p>
            <a:pPr indent="0" marL="0">
              <a:spcAft>
                <a:spcPts val="800"/>
              </a:spcAft>
              <a:buNone/>
            </a:pPr>
            <a:r>
              <a:rPr lang="en-US" sz="1500" dirty="0">
                <a:solidFill>
                  <a:schemeClr val="bg1"/>
                </a:solidFill>
              </a:rPr>
              <a:t>Around the nucleus are </a:t>
            </a:r>
            <a:pPr indent="0" marL="0">
              <a:spcAft>
                <a:spcPts val="800"/>
              </a:spcAft>
              <a:buNone/>
            </a:pPr>
            <a:r>
              <a:rPr lang="en-US" sz="1500" b="1" dirty="0">
                <a:solidFill>
                  <a:schemeClr val="accent1"/>
                </a:solidFill>
              </a:rPr>
              <a:t>electrons</a:t>
            </a:r>
            <a:pPr indent="0" marL="0">
              <a:spcAft>
                <a:spcPts val="800"/>
              </a:spcAft>
              <a:buNone/>
            </a:pPr>
            <a:r>
              <a:rPr lang="en-US" sz="1500" dirty="0">
                <a:solidFill>
                  <a:schemeClr val="bg1"/>
                </a:solidFill>
              </a:rPr>
              <a:t>, which have a negative charge. Electrons are found in </a:t>
            </a:r>
            <a:pPr indent="0" marL="0">
              <a:spcAft>
                <a:spcPts val="800"/>
              </a:spcAft>
              <a:buNone/>
            </a:pPr>
            <a:r>
              <a:rPr lang="en-US" sz="1500" b="1" dirty="0">
                <a:solidFill>
                  <a:schemeClr val="accent1"/>
                </a:solidFill>
              </a:rPr>
              <a:t>shells</a:t>
            </a:r>
            <a:pPr indent="0" marL="0">
              <a:spcAft>
                <a:spcPts val="800"/>
              </a:spcAft>
              <a:buNone/>
            </a:pPr>
            <a:r>
              <a:rPr lang="en-US" sz="1500" dirty="0">
                <a:solidFill>
                  <a:schemeClr val="bg1"/>
                </a:solidFill>
              </a:rPr>
              <a:t>, also called </a:t>
            </a:r>
            <a:pPr indent="0" marL="0">
              <a:spcAft>
                <a:spcPts val="800"/>
              </a:spcAft>
              <a:buNone/>
            </a:pPr>
            <a:r>
              <a:rPr lang="en-US" sz="1500" b="1" dirty="0">
                <a:solidFill>
                  <a:schemeClr val="accent1"/>
                </a:solidFill>
              </a:rPr>
              <a:t>energy levels</a:t>
            </a:r>
            <a:pPr indent="0" marL="0">
              <a:spcAft>
                <a:spcPts val="800"/>
              </a:spcAft>
              <a:buNone/>
            </a:pPr>
            <a:r>
              <a:rPr lang="en-US" sz="1500" dirty="0">
                <a:solidFill>
                  <a:schemeClr val="bg1"/>
                </a:solidFill>
              </a:rPr>
              <a:t>.</a:t>
            </a:r>
            <a:endParaRPr lang="en-US" sz="1500" dirty="0"/>
          </a:p>
          <a:p>
            <a:pPr indent="0" marL="0">
              <a:spcAft>
                <a:spcPts val="800"/>
              </a:spcAft>
              <a:buNone/>
            </a:pPr>
            <a:r>
              <a:rPr lang="en-US" sz="1500" dirty="0">
                <a:solidFill>
                  <a:schemeClr val="bg1"/>
                </a:solidFill>
              </a:rPr>
              <a:t>A </a:t>
            </a:r>
            <a:pPr indent="0" marL="0">
              <a:spcAft>
                <a:spcPts val="800"/>
              </a:spcAft>
              <a:buNone/>
            </a:pPr>
            <a:r>
              <a:rPr lang="en-US" sz="1500" b="1" dirty="0">
                <a:solidFill>
                  <a:schemeClr val="accent1"/>
                </a:solidFill>
              </a:rPr>
              <a:t>Bohr model</a:t>
            </a:r>
            <a:pPr indent="0" marL="0">
              <a:spcAft>
                <a:spcPts val="800"/>
              </a:spcAft>
              <a:buNone/>
            </a:pPr>
            <a:r>
              <a:rPr lang="en-US" sz="1500" dirty="0">
                <a:solidFill>
                  <a:schemeClr val="bg1"/>
                </a:solidFill>
              </a:rPr>
              <a:t> is a simple drawing of an atom: the nucleus in the middle, circles for the shells, and dots for the electrons. It is not drawn to scale. If the nucleus were the size of a marble, the whole atom would be about the size of a football stadium.</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03520" y="1371600"/>
          <a:ext cx="3383280" cy="914400"/>
        </p:xfrm>
        <a:graphic>
          <a:graphicData uri="http://schemas.openxmlformats.org/drawingml/2006/table">
            <a:tbl>
              <a:tblPr/>
              <a:tblGrid>
                <a:gridCol w="1188720"/>
                <a:gridCol w="868680"/>
                <a:gridCol w="1325880"/>
              </a:tblGrid>
              <a:tr h="347472">
                <a:tc>
                  <a:txBody>
                    <a:bodyPr/>
                    <a:lstStyle/>
                    <a:p>
                      <a:pPr indent="0" marL="0">
                        <a:buNone/>
                      </a:pPr>
                      <a:r>
                        <a:rPr lang="en-US" sz="1400" b="1" dirty="0">
                          <a:solidFill>
                            <a:schemeClr val="bg2"/>
                          </a:solidFill>
                        </a:rPr>
                        <a:t>Particle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Charge</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Where it is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accent3"/>
                          </a:solidFill>
                        </a:rPr>
                        <a:t>Proton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Nucleus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47472">
                <a:tc>
                  <a:txBody>
                    <a:bodyPr/>
                    <a:lstStyle/>
                    <a:p>
                      <a:pPr indent="0" marL="0">
                        <a:buNone/>
                      </a:pPr>
                      <a:r>
                        <a:rPr lang="en-US" sz="1400" b="1" dirty="0">
                          <a:solidFill>
                            <a:schemeClr val="bg2"/>
                          </a:solidFill>
                        </a:rPr>
                        <a:t>Neutron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0</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Nucleus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47472">
                <a:tc>
                  <a:txBody>
                    <a:bodyPr/>
                    <a:lstStyle/>
                    <a:p>
                      <a:pPr indent="0" marL="0">
                        <a:buNone/>
                      </a:pPr>
                      <a:r>
                        <a:rPr lang="en-US" sz="1400" b="1" dirty="0">
                          <a:solidFill>
                            <a:schemeClr val="accent1"/>
                          </a:solidFill>
                        </a:rPr>
                        <a:t>Electron</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Shells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10" name="Lithium: shell 1"/>
          <p:cNvSpPr/>
          <p:nvPr/>
        </p:nvSpPr>
        <p:spPr>
          <a:xfrm>
            <a:off x="6614770" y="3322930"/>
            <a:ext cx="760781" cy="760781"/>
          </a:xfrm>
          <a:prstGeom prst="ellipse">
            <a:avLst/>
          </a:prstGeom>
          <a:solidFill>
            <a:schemeClr val="bg1">
              <a:alpha val="0"/>
            </a:schemeClr>
          </a:solidFill>
          <a:ln w="15875">
            <a:solidFill>
              <a:schemeClr val="bg2">
                <a:alpha val="55000"/>
              </a:schemeClr>
            </a:solidFill>
            <a:prstDash val="solid"/>
          </a:ln>
        </p:spPr>
      </p:sp>
      <p:sp>
        <p:nvSpPr>
          <p:cNvPr id="11" name="Lithium: shell 2"/>
          <p:cNvSpPr/>
          <p:nvPr/>
        </p:nvSpPr>
        <p:spPr>
          <a:xfrm>
            <a:off x="6377026" y="3085186"/>
            <a:ext cx="1236269" cy="1236269"/>
          </a:xfrm>
          <a:prstGeom prst="ellipse">
            <a:avLst/>
          </a:prstGeom>
          <a:solidFill>
            <a:schemeClr val="bg1">
              <a:alpha val="0"/>
            </a:schemeClr>
          </a:solidFill>
          <a:ln w="15875">
            <a:solidFill>
              <a:schemeClr val="bg2">
                <a:alpha val="55000"/>
              </a:schemeClr>
            </a:solidFill>
            <a:prstDash val="solid"/>
          </a:ln>
        </p:spPr>
      </p:sp>
      <p:sp>
        <p:nvSpPr>
          <p:cNvPr id="12" name="Lithium: nucleus"/>
          <p:cNvSpPr/>
          <p:nvPr/>
        </p:nvSpPr>
        <p:spPr>
          <a:xfrm>
            <a:off x="6749491" y="3457651"/>
            <a:ext cx="491338" cy="491338"/>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3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4 n</a:t>
            </a:r>
            <a:pPr algn="ctr" indent="0" marL="0">
              <a:buNone/>
            </a:pPr>
            <a:r>
              <a:rPr lang="en-US" sz="900" b="1" baseline="30000" dirty="0">
                <a:solidFill>
                  <a:schemeClr val="bg1"/>
                </a:solidFill>
              </a:rPr>
              <a:t>0</a:t>
            </a:r>
            <a:endParaRPr lang="en-US" sz="900" dirty="0"/>
          </a:p>
        </p:txBody>
      </p:sp>
      <p:sp>
        <p:nvSpPr>
          <p:cNvPr id="13" name="Lithium: electron, shell 1"/>
          <p:cNvSpPr/>
          <p:nvPr/>
        </p:nvSpPr>
        <p:spPr>
          <a:xfrm>
            <a:off x="6935724" y="3263494"/>
            <a:ext cx="118872" cy="118872"/>
          </a:xfrm>
          <a:prstGeom prst="ellipse">
            <a:avLst/>
          </a:prstGeom>
          <a:solidFill>
            <a:schemeClr val="accent1"/>
          </a:solidFill>
          <a:ln w="3175">
            <a:solidFill>
              <a:schemeClr val="accent1"/>
            </a:solidFill>
            <a:prstDash val="solid"/>
          </a:ln>
        </p:spPr>
      </p:sp>
      <p:sp>
        <p:nvSpPr>
          <p:cNvPr id="14" name="Lithium: electron, shell 1"/>
          <p:cNvSpPr/>
          <p:nvPr/>
        </p:nvSpPr>
        <p:spPr>
          <a:xfrm>
            <a:off x="7316114" y="3643884"/>
            <a:ext cx="118872" cy="118872"/>
          </a:xfrm>
          <a:prstGeom prst="ellipse">
            <a:avLst/>
          </a:prstGeom>
          <a:solidFill>
            <a:schemeClr val="accent1"/>
          </a:solidFill>
          <a:ln w="3175">
            <a:solidFill>
              <a:schemeClr val="accent1"/>
            </a:solidFill>
            <a:prstDash val="solid"/>
          </a:ln>
        </p:spPr>
      </p:sp>
      <p:sp>
        <p:nvSpPr>
          <p:cNvPr id="15" name="Lithium: electron, shell 2"/>
          <p:cNvSpPr/>
          <p:nvPr/>
        </p:nvSpPr>
        <p:spPr>
          <a:xfrm>
            <a:off x="6935724" y="3025750"/>
            <a:ext cx="118872" cy="118872"/>
          </a:xfrm>
          <a:prstGeom prst="ellipse">
            <a:avLst/>
          </a:prstGeom>
          <a:solidFill>
            <a:schemeClr val="accent1"/>
          </a:solidFill>
          <a:ln w="3175">
            <a:solidFill>
              <a:schemeClr val="accent1"/>
            </a:solidFill>
            <a:prstDash val="solid"/>
          </a:ln>
        </p:spPr>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le H"/>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Label the model</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This is a lithium atom. Drag each label to its number, or tap a label and then tap a number.</a:t>
            </a:r>
            <a:endParaRPr lang="en-US" sz="1300" dirty="0"/>
          </a:p>
        </p:txBody>
      </p:sp>
      <p:sp>
        <p:nvSpPr>
          <p:cNvPr id="9" name="Lithium: shell 1"/>
          <p:cNvSpPr/>
          <p:nvPr/>
        </p:nvSpPr>
        <p:spPr>
          <a:xfrm>
            <a:off x="2125066" y="2399386"/>
            <a:ext cx="1053389" cy="1053389"/>
          </a:xfrm>
          <a:prstGeom prst="ellipse">
            <a:avLst/>
          </a:prstGeom>
          <a:solidFill>
            <a:schemeClr val="bg1">
              <a:alpha val="0"/>
            </a:schemeClr>
          </a:solidFill>
          <a:ln w="15875">
            <a:solidFill>
              <a:schemeClr val="bg2">
                <a:alpha val="55000"/>
              </a:schemeClr>
            </a:solidFill>
            <a:prstDash val="solid"/>
          </a:ln>
        </p:spPr>
      </p:sp>
      <p:sp>
        <p:nvSpPr>
          <p:cNvPr id="10" name="Lithium: shell 2"/>
          <p:cNvSpPr/>
          <p:nvPr/>
        </p:nvSpPr>
        <p:spPr>
          <a:xfrm>
            <a:off x="1795882" y="2070202"/>
            <a:ext cx="1711757" cy="1711757"/>
          </a:xfrm>
          <a:prstGeom prst="ellipse">
            <a:avLst/>
          </a:prstGeom>
          <a:solidFill>
            <a:schemeClr val="bg1">
              <a:alpha val="0"/>
            </a:schemeClr>
          </a:solidFill>
          <a:ln w="15875">
            <a:solidFill>
              <a:schemeClr val="bg2">
                <a:alpha val="55000"/>
              </a:schemeClr>
            </a:solidFill>
            <a:prstDash val="solid"/>
          </a:ln>
        </p:spPr>
      </p:sp>
      <p:sp>
        <p:nvSpPr>
          <p:cNvPr id="11" name="Lithium: nucleus"/>
          <p:cNvSpPr/>
          <p:nvPr/>
        </p:nvSpPr>
        <p:spPr>
          <a:xfrm>
            <a:off x="2311603" y="2585923"/>
            <a:ext cx="680314" cy="68031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200" b="1" dirty="0">
                <a:solidFill>
                  <a:schemeClr val="bg1"/>
                </a:solidFill>
              </a:rPr>
              <a:t>3 p</a:t>
            </a:r>
            <a:pPr algn="ctr" indent="0" marL="0">
              <a:buNone/>
            </a:pPr>
            <a:r>
              <a:rPr lang="en-US" sz="1200" b="1" baseline="30000" dirty="0">
                <a:solidFill>
                  <a:schemeClr val="bg1"/>
                </a:solidFill>
              </a:rPr>
              <a:t>+</a:t>
            </a:r>
            <a:endParaRPr lang="en-US" sz="1200" dirty="0"/>
          </a:p>
          <a:p>
            <a:pPr algn="ctr" indent="0" marL="0">
              <a:buNone/>
            </a:pPr>
            <a:r>
              <a:rPr lang="en-US" sz="1200" b="1" dirty="0">
                <a:solidFill>
                  <a:schemeClr val="bg1"/>
                </a:solidFill>
              </a:rPr>
              <a:t>4 n</a:t>
            </a:r>
            <a:pPr algn="ctr" indent="0" marL="0">
              <a:buNone/>
            </a:pPr>
            <a:r>
              <a:rPr lang="en-US" sz="1200" b="1" baseline="30000" dirty="0">
                <a:solidFill>
                  <a:schemeClr val="bg1"/>
                </a:solidFill>
              </a:rPr>
              <a:t>0</a:t>
            </a:r>
            <a:endParaRPr lang="en-US" sz="1200" dirty="0"/>
          </a:p>
        </p:txBody>
      </p:sp>
      <p:sp>
        <p:nvSpPr>
          <p:cNvPr id="12" name="Lithium: electron, shell 1"/>
          <p:cNvSpPr/>
          <p:nvPr/>
        </p:nvSpPr>
        <p:spPr>
          <a:xfrm>
            <a:off x="2569464" y="2317090"/>
            <a:ext cx="164592" cy="164592"/>
          </a:xfrm>
          <a:prstGeom prst="ellipse">
            <a:avLst/>
          </a:prstGeom>
          <a:solidFill>
            <a:schemeClr val="accent1"/>
          </a:solidFill>
          <a:ln w="3175">
            <a:solidFill>
              <a:schemeClr val="accent1"/>
            </a:solidFill>
            <a:prstDash val="solid"/>
          </a:ln>
        </p:spPr>
      </p:sp>
      <p:sp>
        <p:nvSpPr>
          <p:cNvPr id="13" name="Lithium: electron, shell 1"/>
          <p:cNvSpPr/>
          <p:nvPr/>
        </p:nvSpPr>
        <p:spPr>
          <a:xfrm>
            <a:off x="3096158" y="2843784"/>
            <a:ext cx="164592" cy="164592"/>
          </a:xfrm>
          <a:prstGeom prst="ellipse">
            <a:avLst/>
          </a:prstGeom>
          <a:solidFill>
            <a:schemeClr val="accent1"/>
          </a:solidFill>
          <a:ln w="3175">
            <a:solidFill>
              <a:schemeClr val="accent1"/>
            </a:solidFill>
            <a:prstDash val="solid"/>
          </a:ln>
        </p:spPr>
      </p:sp>
      <p:sp>
        <p:nvSpPr>
          <p:cNvPr id="14" name="Lithium: electron, shell 2"/>
          <p:cNvSpPr/>
          <p:nvPr/>
        </p:nvSpPr>
        <p:spPr>
          <a:xfrm>
            <a:off x="2569464" y="1987906"/>
            <a:ext cx="164592" cy="164592"/>
          </a:xfrm>
          <a:prstGeom prst="ellipse">
            <a:avLst/>
          </a:prstGeom>
          <a:solidFill>
            <a:schemeClr val="accent1"/>
          </a:solidFill>
          <a:ln w="3175">
            <a:solidFill>
              <a:schemeClr val="accent1"/>
            </a:solidFill>
            <a:prstDash val="solid"/>
          </a:ln>
        </p:spPr>
      </p:sp>
      <p:sp>
        <p:nvSpPr>
          <p:cNvPr id="15" name="Pin 1 leader"/>
          <p:cNvSpPr/>
          <p:nvPr/>
        </p:nvSpPr>
        <p:spPr>
          <a:xfrm>
            <a:off x="731520" y="1965960"/>
            <a:ext cx="1678838" cy="718718"/>
          </a:xfrm>
          <a:prstGeom prst="line">
            <a:avLst/>
          </a:prstGeom>
          <a:noFill/>
          <a:ln w="12700">
            <a:solidFill>
              <a:schemeClr val="accent2"/>
            </a:solidFill>
            <a:prstDash val="dash"/>
          </a:ln>
        </p:spPr>
      </p:sp>
      <p:sp>
        <p:nvSpPr>
          <p:cNvPr id="16" name="Text 14"/>
          <p:cNvSpPr/>
          <p:nvPr/>
        </p:nvSpPr>
        <p:spPr>
          <a:xfrm>
            <a:off x="557784" y="179222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7" name="Pin 2 leader"/>
          <p:cNvSpPr/>
          <p:nvPr/>
        </p:nvSpPr>
        <p:spPr>
          <a:xfrm flipH="1">
            <a:off x="2717597" y="1828800"/>
            <a:ext cx="1488643" cy="230429"/>
          </a:xfrm>
          <a:prstGeom prst="line">
            <a:avLst/>
          </a:prstGeom>
          <a:noFill/>
          <a:ln w="12700">
            <a:solidFill>
              <a:schemeClr val="accent2"/>
            </a:solidFill>
            <a:prstDash val="dash"/>
          </a:ln>
        </p:spPr>
      </p:sp>
      <p:sp>
        <p:nvSpPr>
          <p:cNvPr id="18" name="Text 16"/>
          <p:cNvSpPr/>
          <p:nvPr/>
        </p:nvSpPr>
        <p:spPr>
          <a:xfrm>
            <a:off x="4032504" y="165506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Pin 3 leader"/>
          <p:cNvSpPr/>
          <p:nvPr/>
        </p:nvSpPr>
        <p:spPr>
          <a:xfrm flipH="1">
            <a:off x="731520" y="3529584"/>
            <a:ext cx="1316736" cy="630936"/>
          </a:xfrm>
          <a:prstGeom prst="line">
            <a:avLst/>
          </a:prstGeom>
          <a:noFill/>
          <a:ln w="12700">
            <a:solidFill>
              <a:schemeClr val="accent2"/>
            </a:solidFill>
            <a:prstDash val="dash"/>
          </a:ln>
        </p:spPr>
      </p:sp>
      <p:sp>
        <p:nvSpPr>
          <p:cNvPr id="20" name="Text 18"/>
          <p:cNvSpPr/>
          <p:nvPr/>
        </p:nvSpPr>
        <p:spPr>
          <a:xfrm>
            <a:off x="557784" y="398678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Pin 4 leader"/>
          <p:cNvSpPr/>
          <p:nvPr/>
        </p:nvSpPr>
        <p:spPr>
          <a:xfrm>
            <a:off x="2794406" y="2882189"/>
            <a:ext cx="1411834" cy="1278331"/>
          </a:xfrm>
          <a:prstGeom prst="line">
            <a:avLst/>
          </a:prstGeom>
          <a:noFill/>
          <a:ln w="12700">
            <a:solidFill>
              <a:schemeClr val="accent2"/>
            </a:solidFill>
            <a:prstDash val="dash"/>
          </a:ln>
        </p:spPr>
      </p:sp>
      <p:sp>
        <p:nvSpPr>
          <p:cNvPr id="22" name="Text 20"/>
          <p:cNvSpPr/>
          <p:nvPr/>
        </p:nvSpPr>
        <p:spPr>
          <a:xfrm>
            <a:off x="4032504" y="398678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1"/>
          <p:cNvSpPr txBox="1"/>
          <p:nvPr/>
        </p:nvSpPr>
        <p:spPr>
          <a:xfrm>
            <a:off x="5120640" y="1691640"/>
            <a:ext cx="3566160" cy="274320"/>
          </a:xfrm>
          <a:prstGeom prst="rect">
            <a:avLst/>
          </a:prstGeom>
          <a:noFill/>
          <a:ln/>
        </p:spPr>
        <p:txBody>
          <a:bodyPr wrap="square" lIns="0" tIns="0" rIns="0" bIns="0" rtlCol="0" anchor="t"/>
          <a:lstStyle/>
          <a:p>
            <a:pPr indent="0" marL="0">
              <a:buNone/>
            </a:pPr>
            <a:r>
              <a:rPr lang="en-US" sz="1300" b="1" dirty="0">
                <a:solidFill>
                  <a:schemeClr val="bg2"/>
                </a:solidFill>
              </a:rPr>
              <a:t>Labels</a:t>
            </a:r>
            <a:endParaRPr lang="en-US" sz="1300" dirty="0"/>
          </a:p>
        </p:txBody>
      </p:sp>
      <p:sp>
        <p:nvSpPr>
          <p:cNvPr id="24" name="Text 22"/>
          <p:cNvSpPr/>
          <p:nvPr/>
        </p:nvSpPr>
        <p:spPr>
          <a:xfrm>
            <a:off x="5120640" y="2011680"/>
            <a:ext cx="1719072" cy="384048"/>
          </a:xfrm>
          <a:prstGeom prst="roundRect">
            <a:avLst>
              <a:gd name="adj" fmla="val 19048"/>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300" b="1" dirty="0">
                <a:solidFill>
                  <a:schemeClr val="bg1"/>
                </a:solidFill>
              </a:rPr>
              <a:t>Number of protons</a:t>
            </a:r>
            <a:endParaRPr lang="en-US" sz="1300" dirty="0"/>
          </a:p>
        </p:txBody>
      </p:sp>
      <p:sp>
        <p:nvSpPr>
          <p:cNvPr id="25" name="Text 23"/>
          <p:cNvSpPr/>
          <p:nvPr/>
        </p:nvSpPr>
        <p:spPr>
          <a:xfrm>
            <a:off x="6931152" y="2011680"/>
            <a:ext cx="1719072" cy="384048"/>
          </a:xfrm>
          <a:prstGeom prst="roundRect">
            <a:avLst>
              <a:gd name="adj" fmla="val 19048"/>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300" b="1" dirty="0">
                <a:solidFill>
                  <a:schemeClr val="bg1"/>
                </a:solidFill>
              </a:rPr>
              <a:t>Nucleus</a:t>
            </a:r>
            <a:endParaRPr lang="en-US" sz="1300" dirty="0"/>
          </a:p>
        </p:txBody>
      </p:sp>
      <p:sp>
        <p:nvSpPr>
          <p:cNvPr id="26" name="Text 24"/>
          <p:cNvSpPr/>
          <p:nvPr/>
        </p:nvSpPr>
        <p:spPr>
          <a:xfrm>
            <a:off x="5120640" y="2487168"/>
            <a:ext cx="1719072" cy="384048"/>
          </a:xfrm>
          <a:prstGeom prst="roundRect">
            <a:avLst>
              <a:gd name="adj" fmla="val 19048"/>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300" b="1" dirty="0">
                <a:solidFill>
                  <a:schemeClr val="bg1"/>
                </a:solidFill>
              </a:rPr>
              <a:t>Electron</a:t>
            </a:r>
            <a:endParaRPr lang="en-US" sz="1300" dirty="0"/>
          </a:p>
        </p:txBody>
      </p:sp>
      <p:sp>
        <p:nvSpPr>
          <p:cNvPr id="27" name="Text 25"/>
          <p:cNvSpPr/>
          <p:nvPr/>
        </p:nvSpPr>
        <p:spPr>
          <a:xfrm>
            <a:off x="6931152" y="2487168"/>
            <a:ext cx="1719072" cy="384048"/>
          </a:xfrm>
          <a:prstGeom prst="roundRect">
            <a:avLst>
              <a:gd name="adj" fmla="val 19048"/>
            </a:avLst>
          </a:prstGeom>
          <a:solidFill>
            <a:schemeClr val="tx2"/>
          </a:solidFill>
          <a:ln w="9525">
            <a:solidFill>
              <a:schemeClr val="bg2">
                <a:alpha val="60000"/>
              </a:schemeClr>
            </a:solidFill>
          </a:ln>
        </p:spPr>
        <p:txBody>
          <a:bodyPr wrap="square" lIns="0" tIns="0" rIns="0" bIns="0" rtlCol="0" anchor="ctr"/>
          <a:lstStyle/>
          <a:p>
            <a:pPr algn="ctr" indent="0" marL="0">
              <a:buNone/>
            </a:pPr>
            <a:r>
              <a:rPr lang="en-US" sz="1300" b="1" dirty="0">
                <a:solidFill>
                  <a:schemeClr val="bg1"/>
                </a:solidFill>
              </a:rPr>
              <a:t>Shell (energy level)</a:t>
            </a:r>
            <a:endParaRPr lang="en-US" sz="1300" dirty="0"/>
          </a:p>
        </p:txBody>
      </p:sp>
      <p:sp>
        <p:nvSpPr>
          <p:cNvPr id="28" name="Text 26"/>
          <p:cNvSpPr/>
          <p:nvPr/>
        </p:nvSpPr>
        <p:spPr>
          <a:xfrm>
            <a:off x="5120640" y="3072384"/>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9" name="Text 27"/>
          <p:cNvSpPr/>
          <p:nvPr/>
        </p:nvSpPr>
        <p:spPr>
          <a:xfrm>
            <a:off x="5532120" y="3063240"/>
            <a:ext cx="3154680" cy="329184"/>
          </a:xfrm>
          <a:prstGeom prst="roundRect">
            <a:avLst>
              <a:gd name="adj" fmla="val 19444"/>
            </a:avLst>
          </a:prstGeom>
          <a:solidFill>
            <a:schemeClr val="tx1"/>
          </a:solidFill>
          <a:ln w="12700">
            <a:solidFill>
              <a:schemeClr val="bg2">
                <a:alpha val="60000"/>
              </a:schemeClr>
            </a:solidFill>
            <a:prstDash val="dash"/>
          </a:ln>
        </p:spPr>
        <p:txBody>
          <a:bodyPr wrap="square" lIns="0" tIns="1524" rIns="1524" bIns="0" rtlCol="0" anchor="ctr"/>
          <a:lstStyle/>
          <a:p>
            <a:pPr indent="0" marL="0">
              <a:buNone/>
            </a:pPr>
            <a:endParaRPr lang="en-US" sz="1500" dirty="0"/>
          </a:p>
        </p:txBody>
      </p:sp>
      <p:sp>
        <p:nvSpPr>
          <p:cNvPr id="30" name="Text 28"/>
          <p:cNvSpPr/>
          <p:nvPr/>
        </p:nvSpPr>
        <p:spPr>
          <a:xfrm>
            <a:off x="5120640" y="3456432"/>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1" name="Text 29"/>
          <p:cNvSpPr/>
          <p:nvPr/>
        </p:nvSpPr>
        <p:spPr>
          <a:xfrm>
            <a:off x="5532120" y="3447288"/>
            <a:ext cx="3154680" cy="329184"/>
          </a:xfrm>
          <a:prstGeom prst="roundRect">
            <a:avLst>
              <a:gd name="adj" fmla="val 19444"/>
            </a:avLst>
          </a:prstGeom>
          <a:solidFill>
            <a:schemeClr val="tx1"/>
          </a:solidFill>
          <a:ln w="12700">
            <a:solidFill>
              <a:schemeClr val="bg2">
                <a:alpha val="60000"/>
              </a:schemeClr>
            </a:solidFill>
            <a:prstDash val="dash"/>
          </a:ln>
        </p:spPr>
        <p:txBody>
          <a:bodyPr wrap="square" lIns="0" tIns="1524" rIns="1524" bIns="0" rtlCol="0" anchor="ctr"/>
          <a:lstStyle/>
          <a:p>
            <a:pPr indent="0" marL="0">
              <a:buNone/>
            </a:pPr>
            <a:endParaRPr lang="en-US" sz="1500" dirty="0"/>
          </a:p>
        </p:txBody>
      </p:sp>
      <p:sp>
        <p:nvSpPr>
          <p:cNvPr id="32" name="Text 30"/>
          <p:cNvSpPr/>
          <p:nvPr/>
        </p:nvSpPr>
        <p:spPr>
          <a:xfrm>
            <a:off x="5120640" y="3840480"/>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3" name="Text 31"/>
          <p:cNvSpPr/>
          <p:nvPr/>
        </p:nvSpPr>
        <p:spPr>
          <a:xfrm>
            <a:off x="5532120" y="3831336"/>
            <a:ext cx="3154680" cy="329184"/>
          </a:xfrm>
          <a:prstGeom prst="roundRect">
            <a:avLst>
              <a:gd name="adj" fmla="val 19444"/>
            </a:avLst>
          </a:prstGeom>
          <a:solidFill>
            <a:schemeClr val="tx1"/>
          </a:solidFill>
          <a:ln w="12700">
            <a:solidFill>
              <a:schemeClr val="bg2">
                <a:alpha val="60000"/>
              </a:schemeClr>
            </a:solidFill>
            <a:prstDash val="dash"/>
          </a:ln>
        </p:spPr>
        <p:txBody>
          <a:bodyPr wrap="square" lIns="0" tIns="1524" rIns="1524" bIns="0" rtlCol="0" anchor="ctr"/>
          <a:lstStyle/>
          <a:p>
            <a:pPr indent="0" marL="0">
              <a:buNone/>
            </a:pPr>
            <a:endParaRPr lang="en-US" sz="1500" dirty="0"/>
          </a:p>
        </p:txBody>
      </p:sp>
      <p:sp>
        <p:nvSpPr>
          <p:cNvPr id="34" name="Text 32"/>
          <p:cNvSpPr/>
          <p:nvPr/>
        </p:nvSpPr>
        <p:spPr>
          <a:xfrm>
            <a:off x="5120640" y="4224528"/>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5" name="Text 33"/>
          <p:cNvSpPr/>
          <p:nvPr/>
        </p:nvSpPr>
        <p:spPr>
          <a:xfrm>
            <a:off x="5532120" y="4215384"/>
            <a:ext cx="3154680" cy="329184"/>
          </a:xfrm>
          <a:prstGeom prst="roundRect">
            <a:avLst>
              <a:gd name="adj" fmla="val 19444"/>
            </a:avLst>
          </a:prstGeom>
          <a:solidFill>
            <a:schemeClr val="tx1"/>
          </a:solidFill>
          <a:ln w="12700">
            <a:solidFill>
              <a:schemeClr val="bg2">
                <a:alpha val="60000"/>
              </a:schemeClr>
            </a:solidFill>
            <a:prstDash val="dash"/>
          </a:ln>
        </p:spPr>
        <p:txBody>
          <a:bodyPr wrap="square" lIns="0" tIns="1524" rIns="1524" bIns="0" rtlCol="0" anchor="ctr"/>
          <a:lstStyle/>
          <a:p>
            <a:pPr indent="0" marL="0">
              <a:buNone/>
            </a:pP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le H"/>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Label the model</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This is a lithium atom. Drag each label to its number, or tap a label and then tap a number.</a:t>
            </a:r>
            <a:endParaRPr lang="en-US" sz="1300" dirty="0"/>
          </a:p>
        </p:txBody>
      </p:sp>
      <p:sp>
        <p:nvSpPr>
          <p:cNvPr id="10" name="Lithium: shell 1"/>
          <p:cNvSpPr/>
          <p:nvPr/>
        </p:nvSpPr>
        <p:spPr>
          <a:xfrm>
            <a:off x="2125066" y="2399386"/>
            <a:ext cx="1053389" cy="1053389"/>
          </a:xfrm>
          <a:prstGeom prst="ellipse">
            <a:avLst/>
          </a:prstGeom>
          <a:solidFill>
            <a:schemeClr val="bg1">
              <a:alpha val="0"/>
            </a:schemeClr>
          </a:solidFill>
          <a:ln w="15875">
            <a:solidFill>
              <a:schemeClr val="bg2">
                <a:alpha val="55000"/>
              </a:schemeClr>
            </a:solidFill>
            <a:prstDash val="solid"/>
          </a:ln>
        </p:spPr>
      </p:sp>
      <p:sp>
        <p:nvSpPr>
          <p:cNvPr id="11" name="Lithium: shell 2"/>
          <p:cNvSpPr/>
          <p:nvPr/>
        </p:nvSpPr>
        <p:spPr>
          <a:xfrm>
            <a:off x="1795882" y="2070202"/>
            <a:ext cx="1711757" cy="1711757"/>
          </a:xfrm>
          <a:prstGeom prst="ellipse">
            <a:avLst/>
          </a:prstGeom>
          <a:solidFill>
            <a:schemeClr val="bg1">
              <a:alpha val="0"/>
            </a:schemeClr>
          </a:solidFill>
          <a:ln w="15875">
            <a:solidFill>
              <a:schemeClr val="bg2">
                <a:alpha val="55000"/>
              </a:schemeClr>
            </a:solidFill>
            <a:prstDash val="solid"/>
          </a:ln>
        </p:spPr>
      </p:sp>
      <p:sp>
        <p:nvSpPr>
          <p:cNvPr id="12" name="Lithium: nucleus"/>
          <p:cNvSpPr/>
          <p:nvPr/>
        </p:nvSpPr>
        <p:spPr>
          <a:xfrm>
            <a:off x="2311603" y="2585923"/>
            <a:ext cx="680314" cy="68031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200" b="1" dirty="0">
                <a:solidFill>
                  <a:schemeClr val="bg1"/>
                </a:solidFill>
              </a:rPr>
              <a:t>3 p</a:t>
            </a:r>
            <a:pPr algn="ctr" indent="0" marL="0">
              <a:buNone/>
            </a:pPr>
            <a:r>
              <a:rPr lang="en-US" sz="1200" b="1" baseline="30000" dirty="0">
                <a:solidFill>
                  <a:schemeClr val="bg1"/>
                </a:solidFill>
              </a:rPr>
              <a:t>+</a:t>
            </a:r>
            <a:endParaRPr lang="en-US" sz="1200" dirty="0"/>
          </a:p>
          <a:p>
            <a:pPr algn="ctr" indent="0" marL="0">
              <a:buNone/>
            </a:pPr>
            <a:r>
              <a:rPr lang="en-US" sz="1200" b="1" dirty="0">
                <a:solidFill>
                  <a:schemeClr val="bg1"/>
                </a:solidFill>
              </a:rPr>
              <a:t>4 n</a:t>
            </a:r>
            <a:pPr algn="ctr" indent="0" marL="0">
              <a:buNone/>
            </a:pPr>
            <a:r>
              <a:rPr lang="en-US" sz="1200" b="1" baseline="30000" dirty="0">
                <a:solidFill>
                  <a:schemeClr val="bg1"/>
                </a:solidFill>
              </a:rPr>
              <a:t>0</a:t>
            </a:r>
            <a:endParaRPr lang="en-US" sz="1200" dirty="0"/>
          </a:p>
        </p:txBody>
      </p:sp>
      <p:sp>
        <p:nvSpPr>
          <p:cNvPr id="13" name="Lithium: electron, shell 1"/>
          <p:cNvSpPr/>
          <p:nvPr/>
        </p:nvSpPr>
        <p:spPr>
          <a:xfrm>
            <a:off x="2569464" y="2317090"/>
            <a:ext cx="164592" cy="164592"/>
          </a:xfrm>
          <a:prstGeom prst="ellipse">
            <a:avLst/>
          </a:prstGeom>
          <a:solidFill>
            <a:schemeClr val="accent1"/>
          </a:solidFill>
          <a:ln w="3175">
            <a:solidFill>
              <a:schemeClr val="accent1"/>
            </a:solidFill>
            <a:prstDash val="solid"/>
          </a:ln>
        </p:spPr>
      </p:sp>
      <p:sp>
        <p:nvSpPr>
          <p:cNvPr id="14" name="Lithium: electron, shell 1"/>
          <p:cNvSpPr/>
          <p:nvPr/>
        </p:nvSpPr>
        <p:spPr>
          <a:xfrm>
            <a:off x="3096158" y="2843784"/>
            <a:ext cx="164592" cy="164592"/>
          </a:xfrm>
          <a:prstGeom prst="ellipse">
            <a:avLst/>
          </a:prstGeom>
          <a:solidFill>
            <a:schemeClr val="accent1"/>
          </a:solidFill>
          <a:ln w="3175">
            <a:solidFill>
              <a:schemeClr val="accent1"/>
            </a:solidFill>
            <a:prstDash val="solid"/>
          </a:ln>
        </p:spPr>
      </p:sp>
      <p:sp>
        <p:nvSpPr>
          <p:cNvPr id="15" name="Lithium: electron, shell 2"/>
          <p:cNvSpPr/>
          <p:nvPr/>
        </p:nvSpPr>
        <p:spPr>
          <a:xfrm>
            <a:off x="2569464" y="1987906"/>
            <a:ext cx="164592" cy="164592"/>
          </a:xfrm>
          <a:prstGeom prst="ellipse">
            <a:avLst/>
          </a:prstGeom>
          <a:solidFill>
            <a:schemeClr val="accent1"/>
          </a:solidFill>
          <a:ln w="3175">
            <a:solidFill>
              <a:schemeClr val="accent1"/>
            </a:solidFill>
            <a:prstDash val="solid"/>
          </a:ln>
        </p:spPr>
      </p:sp>
      <p:sp>
        <p:nvSpPr>
          <p:cNvPr id="16" name="Pin 1 leader"/>
          <p:cNvSpPr/>
          <p:nvPr/>
        </p:nvSpPr>
        <p:spPr>
          <a:xfrm>
            <a:off x="731520" y="1965960"/>
            <a:ext cx="1678838" cy="718718"/>
          </a:xfrm>
          <a:prstGeom prst="line">
            <a:avLst/>
          </a:prstGeom>
          <a:noFill/>
          <a:ln w="12700">
            <a:solidFill>
              <a:schemeClr val="accent2"/>
            </a:solidFill>
            <a:prstDash val="dash"/>
          </a:ln>
        </p:spPr>
      </p:sp>
      <p:sp>
        <p:nvSpPr>
          <p:cNvPr id="17" name="Text 15"/>
          <p:cNvSpPr/>
          <p:nvPr/>
        </p:nvSpPr>
        <p:spPr>
          <a:xfrm>
            <a:off x="557784" y="179222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Pin 2 leader"/>
          <p:cNvSpPr/>
          <p:nvPr/>
        </p:nvSpPr>
        <p:spPr>
          <a:xfrm flipH="1">
            <a:off x="2717597" y="1828800"/>
            <a:ext cx="1488643" cy="230429"/>
          </a:xfrm>
          <a:prstGeom prst="line">
            <a:avLst/>
          </a:prstGeom>
          <a:noFill/>
          <a:ln w="12700">
            <a:solidFill>
              <a:schemeClr val="accent2"/>
            </a:solidFill>
            <a:prstDash val="dash"/>
          </a:ln>
        </p:spPr>
      </p:sp>
      <p:sp>
        <p:nvSpPr>
          <p:cNvPr id="19" name="Text 17"/>
          <p:cNvSpPr/>
          <p:nvPr/>
        </p:nvSpPr>
        <p:spPr>
          <a:xfrm>
            <a:off x="4032504" y="165506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Pin 3 leader"/>
          <p:cNvSpPr/>
          <p:nvPr/>
        </p:nvSpPr>
        <p:spPr>
          <a:xfrm flipH="1">
            <a:off x="731520" y="3529584"/>
            <a:ext cx="1316736" cy="630936"/>
          </a:xfrm>
          <a:prstGeom prst="line">
            <a:avLst/>
          </a:prstGeom>
          <a:noFill/>
          <a:ln w="12700">
            <a:solidFill>
              <a:schemeClr val="accent2"/>
            </a:solidFill>
            <a:prstDash val="dash"/>
          </a:ln>
        </p:spPr>
      </p:sp>
      <p:sp>
        <p:nvSpPr>
          <p:cNvPr id="21" name="Text 19"/>
          <p:cNvSpPr/>
          <p:nvPr/>
        </p:nvSpPr>
        <p:spPr>
          <a:xfrm>
            <a:off x="557784" y="398678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Pin 4 leader"/>
          <p:cNvSpPr/>
          <p:nvPr/>
        </p:nvSpPr>
        <p:spPr>
          <a:xfrm>
            <a:off x="2794406" y="2882189"/>
            <a:ext cx="1411834" cy="1278331"/>
          </a:xfrm>
          <a:prstGeom prst="line">
            <a:avLst/>
          </a:prstGeom>
          <a:noFill/>
          <a:ln w="12700">
            <a:solidFill>
              <a:schemeClr val="accent2"/>
            </a:solidFill>
            <a:prstDash val="dash"/>
          </a:ln>
        </p:spPr>
      </p:sp>
      <p:sp>
        <p:nvSpPr>
          <p:cNvPr id="23" name="Text 21"/>
          <p:cNvSpPr/>
          <p:nvPr/>
        </p:nvSpPr>
        <p:spPr>
          <a:xfrm>
            <a:off x="4032504" y="3986784"/>
            <a:ext cx="347472" cy="347472"/>
          </a:xfrm>
          <a:prstGeom prst="ellipse">
            <a:avLst/>
          </a:prstGeom>
          <a:solidFill>
            <a:schemeClr val="tx2"/>
          </a:solidFill>
          <a:ln w="22225">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p:nvPr/>
        </p:nvSpPr>
        <p:spPr>
          <a:xfrm>
            <a:off x="5120640" y="1865376"/>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5" name="Text 23"/>
          <p:cNvSpPr/>
          <p:nvPr/>
        </p:nvSpPr>
        <p:spPr>
          <a:xfrm>
            <a:off x="5532120" y="1783080"/>
            <a:ext cx="3154680" cy="475488"/>
          </a:xfrm>
          <a:prstGeom prst="roundRect">
            <a:avLst>
              <a:gd name="adj" fmla="val 13462"/>
            </a:avLst>
          </a:prstGeom>
          <a:solidFill>
            <a:schemeClr val="accent4">
              <a:alpha val="18000"/>
            </a:schemeClr>
          </a:solidFill>
          <a:ln w="12700">
            <a:solidFill>
              <a:schemeClr val="accent4"/>
            </a:solidFill>
            <a:prstDash val="solid"/>
          </a:ln>
        </p:spPr>
        <p:txBody>
          <a:bodyPr wrap="square" lIns="0" tIns="1524" rIns="1524" bIns="0" rtlCol="0" anchor="ctr"/>
          <a:lstStyle/>
          <a:p>
            <a:pPr indent="0" marL="0">
              <a:buNone/>
            </a:pPr>
            <a:r>
              <a:rPr lang="en-US" sz="1500" b="1" dirty="0">
                <a:solidFill>
                  <a:schemeClr val="bg1"/>
                </a:solidFill>
              </a:rPr>
              <a:t>Nucleus</a:t>
            </a:r>
            <a:endParaRPr lang="en-US" sz="1500" dirty="0"/>
          </a:p>
        </p:txBody>
      </p:sp>
      <p:sp>
        <p:nvSpPr>
          <p:cNvPr id="26" name="Text 24"/>
          <p:cNvSpPr/>
          <p:nvPr/>
        </p:nvSpPr>
        <p:spPr>
          <a:xfrm>
            <a:off x="5120640" y="2468880"/>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7" name="Text 25"/>
          <p:cNvSpPr/>
          <p:nvPr/>
        </p:nvSpPr>
        <p:spPr>
          <a:xfrm>
            <a:off x="5532120" y="2386584"/>
            <a:ext cx="3154680" cy="475488"/>
          </a:xfrm>
          <a:prstGeom prst="roundRect">
            <a:avLst>
              <a:gd name="adj" fmla="val 13462"/>
            </a:avLst>
          </a:prstGeom>
          <a:solidFill>
            <a:schemeClr val="accent4">
              <a:alpha val="18000"/>
            </a:schemeClr>
          </a:solidFill>
          <a:ln w="12700">
            <a:solidFill>
              <a:schemeClr val="accent4"/>
            </a:solidFill>
            <a:prstDash val="solid"/>
          </a:ln>
        </p:spPr>
        <p:txBody>
          <a:bodyPr wrap="square" lIns="0" tIns="1524" rIns="1524" bIns="0" rtlCol="0" anchor="ctr"/>
          <a:lstStyle/>
          <a:p>
            <a:pPr indent="0" marL="0">
              <a:buNone/>
            </a:pPr>
            <a:r>
              <a:rPr lang="en-US" sz="1500" b="1" dirty="0">
                <a:solidFill>
                  <a:schemeClr val="bg1"/>
                </a:solidFill>
              </a:rPr>
              <a:t>Electron</a:t>
            </a:r>
            <a:endParaRPr lang="en-US" sz="1500" dirty="0"/>
          </a:p>
        </p:txBody>
      </p:sp>
      <p:sp>
        <p:nvSpPr>
          <p:cNvPr id="28" name="Text 26"/>
          <p:cNvSpPr/>
          <p:nvPr/>
        </p:nvSpPr>
        <p:spPr>
          <a:xfrm>
            <a:off x="5120640" y="3072384"/>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9" name="Text 27"/>
          <p:cNvSpPr/>
          <p:nvPr/>
        </p:nvSpPr>
        <p:spPr>
          <a:xfrm>
            <a:off x="5532120" y="2990088"/>
            <a:ext cx="3154680" cy="475488"/>
          </a:xfrm>
          <a:prstGeom prst="roundRect">
            <a:avLst>
              <a:gd name="adj" fmla="val 13462"/>
            </a:avLst>
          </a:prstGeom>
          <a:solidFill>
            <a:schemeClr val="accent4">
              <a:alpha val="18000"/>
            </a:schemeClr>
          </a:solidFill>
          <a:ln w="12700">
            <a:solidFill>
              <a:schemeClr val="accent4"/>
            </a:solidFill>
            <a:prstDash val="solid"/>
          </a:ln>
        </p:spPr>
        <p:txBody>
          <a:bodyPr wrap="square" lIns="0" tIns="1524" rIns="1524" bIns="0" rtlCol="0" anchor="ctr"/>
          <a:lstStyle/>
          <a:p>
            <a:pPr indent="0" marL="0">
              <a:buNone/>
            </a:pPr>
            <a:r>
              <a:rPr lang="en-US" sz="1500" b="1" dirty="0">
                <a:solidFill>
                  <a:schemeClr val="bg1"/>
                </a:solidFill>
              </a:rPr>
              <a:t>Shell (energy level)</a:t>
            </a:r>
            <a:endParaRPr lang="en-US" sz="1500" dirty="0"/>
          </a:p>
        </p:txBody>
      </p:sp>
      <p:sp>
        <p:nvSpPr>
          <p:cNvPr id="30" name="Text 28"/>
          <p:cNvSpPr/>
          <p:nvPr/>
        </p:nvSpPr>
        <p:spPr>
          <a:xfrm>
            <a:off x="5120640" y="3675888"/>
            <a:ext cx="310896" cy="310896"/>
          </a:xfrm>
          <a:prstGeom prst="ellipse">
            <a:avLst/>
          </a:prstGeom>
          <a:solidFill>
            <a:schemeClr val="tx2"/>
          </a:solidFill>
          <a:ln w="19050">
            <a:solidFill>
              <a:schemeClr val="accent2"/>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1" name="Text 29"/>
          <p:cNvSpPr/>
          <p:nvPr/>
        </p:nvSpPr>
        <p:spPr>
          <a:xfrm>
            <a:off x="5532120" y="3593592"/>
            <a:ext cx="3154680" cy="475488"/>
          </a:xfrm>
          <a:prstGeom prst="roundRect">
            <a:avLst>
              <a:gd name="adj" fmla="val 13462"/>
            </a:avLst>
          </a:prstGeom>
          <a:solidFill>
            <a:schemeClr val="accent4">
              <a:alpha val="18000"/>
            </a:schemeClr>
          </a:solidFill>
          <a:ln w="12700">
            <a:solidFill>
              <a:schemeClr val="accent4"/>
            </a:solidFill>
            <a:prstDash val="solid"/>
          </a:ln>
        </p:spPr>
        <p:txBody>
          <a:bodyPr wrap="square" lIns="0" tIns="1524" rIns="1524" bIns="0" rtlCol="0" anchor="ctr"/>
          <a:lstStyle/>
          <a:p>
            <a:pPr indent="0" marL="0">
              <a:buNone/>
            </a:pPr>
            <a:r>
              <a:rPr lang="en-US" sz="1500" b="1" dirty="0">
                <a:solidFill>
                  <a:schemeClr val="bg1"/>
                </a:solidFill>
              </a:rPr>
              <a:t>Number of protons</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le H"/>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Where are electrons found in a Bohr model?</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Inside the nucleus with the protons</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On the circles (shells) around the nucleus</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Spread evenly through the whole atom</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Only in the shell closest to the nucleus</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le H"/>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Where are electrons found in a Bohr model?</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Inside the nucleus with the protons</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On the circles (shells) around the nucleus</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Spread evenly through the whole atom</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Only in the shell closest to the nucleus</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Electrons sit in shells around the nucleus. Protons and neutrons are the particles packed into the nucleus.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2 of 9 · about 8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Count the particles</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Use the periodic table to count</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Read an element tile</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Particle table</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Neutrons in fluorine</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Explore all four parts of the element tile</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Fill in the particle table correctly</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Use the periodic table to count</a:t>
            </a:r>
            <a:endParaRPr lang="en-US" sz="2800" dirty="0"/>
          </a:p>
        </p:txBody>
      </p:sp>
      <p:sp>
        <p:nvSpPr>
          <p:cNvPr id="8" name="Text 6"/>
          <p:cNvSpPr txBox="1"/>
          <p:nvPr/>
        </p:nvSpPr>
        <p:spPr>
          <a:xfrm>
            <a:off x="457200" y="1325880"/>
            <a:ext cx="5760720" cy="54864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Each tile on the periodic table gives you what you need to count an atom's particles.</a:t>
            </a:r>
            <a:endParaRPr lang="en-US" sz="1500" dirty="0"/>
          </a:p>
        </p:txBody>
      </p:sp>
      <p:sp>
        <p:nvSpPr>
          <p:cNvPr id="9" name="Rule"/>
          <p:cNvSpPr/>
          <p:nvPr/>
        </p:nvSpPr>
        <p:spPr>
          <a:xfrm>
            <a:off x="457200" y="1938528"/>
            <a:ext cx="5760720" cy="475488"/>
          </a:xfrm>
          <a:prstGeom prst="roundRect">
            <a:avLst>
              <a:gd name="adj" fmla="val 19231"/>
            </a:avLst>
          </a:prstGeom>
          <a:solidFill>
            <a:schemeClr val="tx2"/>
          </a:solidFill>
          <a:ln w="9525">
            <a:solidFill>
              <a:schemeClr val="bg2">
                <a:alpha val="30000"/>
              </a:schemeClr>
            </a:solidFill>
            <a:prstDash val="solid"/>
          </a:ln>
        </p:spPr>
      </p:sp>
      <p:sp>
        <p:nvSpPr>
          <p:cNvPr id="10" name="Protons dot"/>
          <p:cNvSpPr/>
          <p:nvPr/>
        </p:nvSpPr>
        <p:spPr>
          <a:xfrm>
            <a:off x="621792" y="2093976"/>
            <a:ext cx="164592" cy="164592"/>
          </a:xfrm>
          <a:prstGeom prst="ellipse">
            <a:avLst/>
          </a:prstGeom>
          <a:solidFill>
            <a:schemeClr val="accent3"/>
          </a:solidFill>
          <a:ln w="6350">
            <a:solidFill>
              <a:schemeClr val="accent3"/>
            </a:solidFill>
            <a:prstDash val="solid"/>
          </a:ln>
        </p:spPr>
      </p:sp>
      <p:sp>
        <p:nvSpPr>
          <p:cNvPr id="11" name="Text 9"/>
          <p:cNvSpPr txBox="1"/>
          <p:nvPr/>
        </p:nvSpPr>
        <p:spPr>
          <a:xfrm>
            <a:off x="914400" y="1938528"/>
            <a:ext cx="5212080" cy="475488"/>
          </a:xfrm>
          <a:prstGeom prst="rect">
            <a:avLst/>
          </a:prstGeom>
          <a:noFill/>
          <a:ln/>
        </p:spPr>
        <p:txBody>
          <a:bodyPr wrap="square" lIns="0" tIns="0" rIns="0" bIns="0" rtlCol="0" anchor="ctr"/>
          <a:lstStyle/>
          <a:p>
            <a:pPr indent="0" marL="0">
              <a:buNone/>
            </a:pPr>
            <a:r>
              <a:rPr lang="en-US" sz="1500" b="1" dirty="0">
                <a:solidFill>
                  <a:schemeClr val="bg1"/>
                </a:solidFill>
              </a:rPr>
              <a:t>Protons</a:t>
            </a:r>
            <a:pPr indent="0" marL="0">
              <a:buNone/>
            </a:pPr>
            <a:r>
              <a:rPr lang="en-US" sz="1500" dirty="0">
                <a:solidFill>
                  <a:schemeClr val="bg1"/>
                </a:solidFill>
              </a:rPr>
              <a:t> = atomic number</a:t>
            </a:r>
            <a:endParaRPr lang="en-US" sz="1500" dirty="0"/>
          </a:p>
        </p:txBody>
      </p:sp>
      <p:sp>
        <p:nvSpPr>
          <p:cNvPr id="12" name="Rule"/>
          <p:cNvSpPr/>
          <p:nvPr/>
        </p:nvSpPr>
        <p:spPr>
          <a:xfrm>
            <a:off x="457200" y="2505456"/>
            <a:ext cx="5760720" cy="475488"/>
          </a:xfrm>
          <a:prstGeom prst="roundRect">
            <a:avLst>
              <a:gd name="adj" fmla="val 19231"/>
            </a:avLst>
          </a:prstGeom>
          <a:solidFill>
            <a:schemeClr val="tx2"/>
          </a:solidFill>
          <a:ln w="9525">
            <a:solidFill>
              <a:schemeClr val="bg2">
                <a:alpha val="30000"/>
              </a:schemeClr>
            </a:solidFill>
            <a:prstDash val="solid"/>
          </a:ln>
        </p:spPr>
      </p:sp>
      <p:sp>
        <p:nvSpPr>
          <p:cNvPr id="13" name="Electrons dot"/>
          <p:cNvSpPr/>
          <p:nvPr/>
        </p:nvSpPr>
        <p:spPr>
          <a:xfrm>
            <a:off x="621792" y="2660904"/>
            <a:ext cx="164592" cy="164592"/>
          </a:xfrm>
          <a:prstGeom prst="ellipse">
            <a:avLst/>
          </a:prstGeom>
          <a:solidFill>
            <a:schemeClr val="accent1"/>
          </a:solidFill>
          <a:ln w="6350">
            <a:solidFill>
              <a:schemeClr val="accent1"/>
            </a:solidFill>
            <a:prstDash val="solid"/>
          </a:ln>
        </p:spPr>
      </p:sp>
      <p:sp>
        <p:nvSpPr>
          <p:cNvPr id="14" name="Text 12"/>
          <p:cNvSpPr txBox="1"/>
          <p:nvPr/>
        </p:nvSpPr>
        <p:spPr>
          <a:xfrm>
            <a:off x="914400" y="2505456"/>
            <a:ext cx="5212080" cy="475488"/>
          </a:xfrm>
          <a:prstGeom prst="rect">
            <a:avLst/>
          </a:prstGeom>
          <a:noFill/>
          <a:ln/>
        </p:spPr>
        <p:txBody>
          <a:bodyPr wrap="square" lIns="0" tIns="0" rIns="0" bIns="0" rtlCol="0" anchor="ctr"/>
          <a:lstStyle/>
          <a:p>
            <a:pPr indent="0" marL="0">
              <a:buNone/>
            </a:pPr>
            <a:r>
              <a:rPr lang="en-US" sz="1500" b="1" dirty="0">
                <a:solidFill>
                  <a:schemeClr val="bg1"/>
                </a:solidFill>
              </a:rPr>
              <a:t>Electrons</a:t>
            </a:r>
            <a:pPr indent="0" marL="0">
              <a:buNone/>
            </a:pPr>
            <a:r>
              <a:rPr lang="en-US" sz="1500" dirty="0">
                <a:solidFill>
                  <a:schemeClr val="bg1"/>
                </a:solidFill>
              </a:rPr>
              <a:t> = protons (in a neutral atom)</a:t>
            </a:r>
            <a:endParaRPr lang="en-US" sz="1500" dirty="0"/>
          </a:p>
        </p:txBody>
      </p:sp>
      <p:sp>
        <p:nvSpPr>
          <p:cNvPr id="15" name="Rule"/>
          <p:cNvSpPr/>
          <p:nvPr/>
        </p:nvSpPr>
        <p:spPr>
          <a:xfrm>
            <a:off x="457200" y="3072384"/>
            <a:ext cx="5760720" cy="475488"/>
          </a:xfrm>
          <a:prstGeom prst="roundRect">
            <a:avLst>
              <a:gd name="adj" fmla="val 19231"/>
            </a:avLst>
          </a:prstGeom>
          <a:solidFill>
            <a:schemeClr val="tx2"/>
          </a:solidFill>
          <a:ln w="9525">
            <a:solidFill>
              <a:schemeClr val="bg2">
                <a:alpha val="30000"/>
              </a:schemeClr>
            </a:solidFill>
            <a:prstDash val="solid"/>
          </a:ln>
        </p:spPr>
      </p:sp>
      <p:sp>
        <p:nvSpPr>
          <p:cNvPr id="16" name="Neutrons dot"/>
          <p:cNvSpPr/>
          <p:nvPr/>
        </p:nvSpPr>
        <p:spPr>
          <a:xfrm>
            <a:off x="621792" y="3227832"/>
            <a:ext cx="164592" cy="164592"/>
          </a:xfrm>
          <a:prstGeom prst="ellipse">
            <a:avLst/>
          </a:prstGeom>
          <a:solidFill>
            <a:schemeClr val="bg2"/>
          </a:solidFill>
          <a:ln w="6350">
            <a:solidFill>
              <a:schemeClr val="bg2"/>
            </a:solidFill>
            <a:prstDash val="solid"/>
          </a:ln>
        </p:spPr>
      </p:sp>
      <p:sp>
        <p:nvSpPr>
          <p:cNvPr id="17" name="Text 15"/>
          <p:cNvSpPr txBox="1"/>
          <p:nvPr/>
        </p:nvSpPr>
        <p:spPr>
          <a:xfrm>
            <a:off x="914400" y="3072384"/>
            <a:ext cx="5212080" cy="475488"/>
          </a:xfrm>
          <a:prstGeom prst="rect">
            <a:avLst/>
          </a:prstGeom>
          <a:noFill/>
          <a:ln/>
        </p:spPr>
        <p:txBody>
          <a:bodyPr wrap="square" lIns="0" tIns="0" rIns="0" bIns="0" rtlCol="0" anchor="ctr"/>
          <a:lstStyle/>
          <a:p>
            <a:pPr indent="0" marL="0">
              <a:buNone/>
            </a:pPr>
            <a:r>
              <a:rPr lang="en-US" sz="1500" b="1" dirty="0">
                <a:solidFill>
                  <a:schemeClr val="bg1"/>
                </a:solidFill>
              </a:rPr>
              <a:t>Neutrons</a:t>
            </a:r>
            <a:pPr indent="0" marL="0">
              <a:buNone/>
            </a:pPr>
            <a:r>
              <a:rPr lang="en-US" sz="1500" dirty="0">
                <a:solidFill>
                  <a:schemeClr val="bg1"/>
                </a:solidFill>
              </a:rPr>
              <a:t> = mass number − atomic number</a:t>
            </a:r>
            <a:endParaRPr lang="en-US" sz="1500" dirty="0"/>
          </a:p>
        </p:txBody>
      </p:sp>
      <p:sp>
        <p:nvSpPr>
          <p:cNvPr id="18" name="Text 16"/>
          <p:cNvSpPr txBox="1"/>
          <p:nvPr/>
        </p:nvSpPr>
        <p:spPr>
          <a:xfrm>
            <a:off x="457200" y="3749040"/>
            <a:ext cx="5760720" cy="82296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To get the </a:t>
            </a:r>
            <a:pPr indent="0" marL="0">
              <a:spcAft>
                <a:spcPts val="800"/>
              </a:spcAft>
              <a:buNone/>
            </a:pPr>
            <a:r>
              <a:rPr lang="en-US" sz="1500" b="1" dirty="0">
                <a:solidFill>
                  <a:schemeClr val="accent1"/>
                </a:solidFill>
              </a:rPr>
              <a:t>mass number</a:t>
            </a:r>
            <a:pPr indent="0" marL="0">
              <a:spcAft>
                <a:spcPts val="800"/>
              </a:spcAft>
              <a:buNone/>
            </a:pPr>
            <a:r>
              <a:rPr lang="en-US" sz="1500" dirty="0">
                <a:solidFill>
                  <a:schemeClr val="bg1"/>
                </a:solidFill>
              </a:rPr>
              <a:t>, round the </a:t>
            </a:r>
            <a:pPr indent="0" marL="0">
              <a:spcAft>
                <a:spcPts val="800"/>
              </a:spcAft>
              <a:buNone/>
            </a:pPr>
            <a:r>
              <a:rPr lang="en-US" sz="1500" b="1" dirty="0">
                <a:solidFill>
                  <a:schemeClr val="accent1"/>
                </a:solidFill>
              </a:rPr>
              <a:t>atomic mass</a:t>
            </a:r>
            <a:pPr indent="0" marL="0">
              <a:spcAft>
                <a:spcPts val="800"/>
              </a:spcAft>
              <a:buNone/>
            </a:pPr>
            <a:r>
              <a:rPr lang="en-US" sz="1500" dirty="0">
                <a:solidFill>
                  <a:schemeClr val="bg1"/>
                </a:solidFill>
              </a:rPr>
              <a:t> to the nearest whole number. For sodium, 22.990 rounds to 23, so sodium has 23 − 11 = 12 neutrons.</a:t>
            </a:r>
            <a:endParaRPr lang="en-US" sz="1500" dirty="0"/>
          </a:p>
        </p:txBody>
      </p:sp>
      <p:sp>
        <p:nvSpPr>
          <p:cNvPr id="19" name="Sodium tile"/>
          <p:cNvSpPr/>
          <p:nvPr/>
        </p:nvSpPr>
        <p:spPr>
          <a:xfrm>
            <a:off x="6720840" y="1463040"/>
            <a:ext cx="1920240" cy="2286000"/>
          </a:xfrm>
          <a:prstGeom prst="roundRect">
            <a:avLst>
              <a:gd name="adj" fmla="val 7143"/>
            </a:avLst>
          </a:prstGeom>
          <a:solidFill>
            <a:srgbClr val="FF8F5E">
              <a:alpha val="20000"/>
            </a:srgbClr>
          </a:solidFill>
          <a:ln w="25400">
            <a:solidFill>
              <a:srgbClr val="FF8F5E"/>
            </a:solidFill>
            <a:prstDash val="solid"/>
          </a:ln>
        </p:spPr>
      </p:sp>
      <p:sp>
        <p:nvSpPr>
          <p:cNvPr id="20" name="Text 18"/>
          <p:cNvSpPr txBox="1"/>
          <p:nvPr/>
        </p:nvSpPr>
        <p:spPr>
          <a:xfrm>
            <a:off x="6885432" y="1572768"/>
            <a:ext cx="731520" cy="384048"/>
          </a:xfrm>
          <a:prstGeom prst="rect">
            <a:avLst/>
          </a:prstGeom>
          <a:noFill/>
          <a:ln/>
        </p:spPr>
        <p:txBody>
          <a:bodyPr wrap="square" lIns="0" tIns="0" rIns="0" bIns="0" rtlCol="0" anchor="t"/>
          <a:lstStyle/>
          <a:p>
            <a:pPr indent="0" marL="0">
              <a:buNone/>
            </a:pPr>
            <a:r>
              <a:rPr lang="en-US" sz="2200" b="1" dirty="0">
                <a:solidFill>
                  <a:schemeClr val="bg1"/>
                </a:solidFill>
              </a:rPr>
              <a:t>11</a:t>
            </a:r>
            <a:endParaRPr lang="en-US" sz="2200" dirty="0"/>
          </a:p>
        </p:txBody>
      </p:sp>
      <p:sp>
        <p:nvSpPr>
          <p:cNvPr id="21" name="Text 19"/>
          <p:cNvSpPr txBox="1"/>
          <p:nvPr/>
        </p:nvSpPr>
        <p:spPr>
          <a:xfrm>
            <a:off x="6720840" y="1965960"/>
            <a:ext cx="1920240" cy="914400"/>
          </a:xfrm>
          <a:prstGeom prst="rect">
            <a:avLst/>
          </a:prstGeom>
          <a:noFill/>
          <a:ln/>
        </p:spPr>
        <p:txBody>
          <a:bodyPr wrap="square" lIns="0" tIns="0" rIns="0" bIns="0" rtlCol="0" anchor="ctr"/>
          <a:lstStyle/>
          <a:p>
            <a:pPr algn="ctr" indent="0" marL="0">
              <a:buNone/>
            </a:pPr>
            <a:r>
              <a:rPr lang="en-US" sz="5600" b="1" dirty="0">
                <a:solidFill>
                  <a:schemeClr val="bg1"/>
                </a:solidFill>
              </a:rPr>
              <a:t>Na</a:t>
            </a:r>
            <a:endParaRPr lang="en-US" sz="5600" dirty="0"/>
          </a:p>
        </p:txBody>
      </p:sp>
      <p:sp>
        <p:nvSpPr>
          <p:cNvPr id="22" name="Text 20"/>
          <p:cNvSpPr txBox="1"/>
          <p:nvPr/>
        </p:nvSpPr>
        <p:spPr>
          <a:xfrm>
            <a:off x="6720840" y="2944368"/>
            <a:ext cx="1920240" cy="320040"/>
          </a:xfrm>
          <a:prstGeom prst="rect">
            <a:avLst/>
          </a:prstGeom>
          <a:noFill/>
          <a:ln/>
        </p:spPr>
        <p:txBody>
          <a:bodyPr wrap="square" lIns="0" tIns="0" rIns="0" bIns="0" rtlCol="0" anchor="ctr"/>
          <a:lstStyle/>
          <a:p>
            <a:pPr algn="ctr" indent="0" marL="0">
              <a:buNone/>
            </a:pPr>
            <a:r>
              <a:rPr lang="en-US" sz="1500" dirty="0">
                <a:solidFill>
                  <a:schemeClr val="bg1"/>
                </a:solidFill>
              </a:rPr>
              <a:t>Sodium</a:t>
            </a:r>
            <a:endParaRPr lang="en-US" sz="1500" dirty="0"/>
          </a:p>
        </p:txBody>
      </p:sp>
      <p:sp>
        <p:nvSpPr>
          <p:cNvPr id="23" name="Text 21"/>
          <p:cNvSpPr txBox="1"/>
          <p:nvPr/>
        </p:nvSpPr>
        <p:spPr>
          <a:xfrm>
            <a:off x="6720840" y="3310128"/>
            <a:ext cx="1920240" cy="320040"/>
          </a:xfrm>
          <a:prstGeom prst="rect">
            <a:avLst/>
          </a:prstGeom>
          <a:noFill/>
          <a:ln/>
        </p:spPr>
        <p:txBody>
          <a:bodyPr wrap="square" lIns="0" tIns="0" rIns="0" bIns="0" rtlCol="0" anchor="ctr"/>
          <a:lstStyle/>
          <a:p>
            <a:pPr algn="ctr" indent="0" marL="0">
              <a:buNone/>
            </a:pPr>
            <a:r>
              <a:rPr lang="en-US" sz="1500" dirty="0">
                <a:solidFill>
                  <a:schemeClr val="bg1"/>
                </a:solidFill>
              </a:rPr>
              <a:t>22.990</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Read an element tile</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Tap each part of the sodium tile to see what it tells you.</a:t>
            </a:r>
            <a:endParaRPr lang="en-US" sz="1300" dirty="0"/>
          </a:p>
        </p:txBody>
      </p:sp>
      <p:sp>
        <p:nvSpPr>
          <p:cNvPr id="9" name="Sodium tile"/>
          <p:cNvSpPr/>
          <p:nvPr/>
        </p:nvSpPr>
        <p:spPr>
          <a:xfrm>
            <a:off x="457200" y="1783080"/>
            <a:ext cx="2103120" cy="2286000"/>
          </a:xfrm>
          <a:prstGeom prst="roundRect">
            <a:avLst>
              <a:gd name="adj" fmla="val 6522"/>
            </a:avLst>
          </a:prstGeom>
          <a:solidFill>
            <a:srgbClr val="FF8F5E">
              <a:alpha val="20000"/>
            </a:srgbClr>
          </a:solidFill>
          <a:ln w="25400">
            <a:solidFill>
              <a:srgbClr val="FF8F5E"/>
            </a:solidFill>
            <a:prstDash val="solid"/>
          </a:ln>
        </p:spPr>
      </p:sp>
      <p:sp>
        <p:nvSpPr>
          <p:cNvPr id="10" name="Text 8"/>
          <p:cNvSpPr txBox="1"/>
          <p:nvPr/>
        </p:nvSpPr>
        <p:spPr>
          <a:xfrm>
            <a:off x="621792" y="1892808"/>
            <a:ext cx="731520" cy="384048"/>
          </a:xfrm>
          <a:prstGeom prst="rect">
            <a:avLst/>
          </a:prstGeom>
          <a:noFill/>
          <a:ln/>
        </p:spPr>
        <p:txBody>
          <a:bodyPr wrap="square" lIns="0" tIns="0" rIns="0" bIns="0" rtlCol="0" anchor="t"/>
          <a:lstStyle/>
          <a:p>
            <a:pPr indent="0" marL="0">
              <a:buNone/>
            </a:pPr>
            <a:r>
              <a:rPr lang="en-US" sz="2200" b="1" dirty="0">
                <a:solidFill>
                  <a:schemeClr val="bg1"/>
                </a:solidFill>
              </a:rPr>
              <a:t>11</a:t>
            </a:r>
            <a:endParaRPr lang="en-US" sz="2200" dirty="0"/>
          </a:p>
        </p:txBody>
      </p:sp>
      <p:sp>
        <p:nvSpPr>
          <p:cNvPr id="11" name="Text 9"/>
          <p:cNvSpPr txBox="1"/>
          <p:nvPr/>
        </p:nvSpPr>
        <p:spPr>
          <a:xfrm>
            <a:off x="457200" y="2286000"/>
            <a:ext cx="2103120" cy="914400"/>
          </a:xfrm>
          <a:prstGeom prst="rect">
            <a:avLst/>
          </a:prstGeom>
          <a:noFill/>
          <a:ln/>
        </p:spPr>
        <p:txBody>
          <a:bodyPr wrap="square" lIns="0" tIns="0" rIns="0" bIns="0" rtlCol="0" anchor="ctr"/>
          <a:lstStyle/>
          <a:p>
            <a:pPr algn="ctr" indent="0" marL="0">
              <a:buNone/>
            </a:pPr>
            <a:r>
              <a:rPr lang="en-US" sz="5600" b="1" dirty="0">
                <a:solidFill>
                  <a:schemeClr val="bg1"/>
                </a:solidFill>
              </a:rPr>
              <a:t>Na</a:t>
            </a:r>
            <a:endParaRPr lang="en-US" sz="5600" dirty="0"/>
          </a:p>
        </p:txBody>
      </p:sp>
      <p:sp>
        <p:nvSpPr>
          <p:cNvPr id="12" name="Text 10"/>
          <p:cNvSpPr txBox="1"/>
          <p:nvPr/>
        </p:nvSpPr>
        <p:spPr>
          <a:xfrm>
            <a:off x="457200" y="3264408"/>
            <a:ext cx="2103120" cy="320040"/>
          </a:xfrm>
          <a:prstGeom prst="rect">
            <a:avLst/>
          </a:prstGeom>
          <a:noFill/>
          <a:ln/>
        </p:spPr>
        <p:txBody>
          <a:bodyPr wrap="square" lIns="0" tIns="0" rIns="0" bIns="0" rtlCol="0" anchor="ctr"/>
          <a:lstStyle/>
          <a:p>
            <a:pPr algn="ctr" indent="0" marL="0">
              <a:buNone/>
            </a:pPr>
            <a:r>
              <a:rPr lang="en-US" sz="1500" dirty="0">
                <a:solidFill>
                  <a:schemeClr val="bg1"/>
                </a:solidFill>
              </a:rPr>
              <a:t>Sodium</a:t>
            </a:r>
            <a:endParaRPr lang="en-US" sz="1500" dirty="0"/>
          </a:p>
        </p:txBody>
      </p:sp>
      <p:sp>
        <p:nvSpPr>
          <p:cNvPr id="13" name="Text 11"/>
          <p:cNvSpPr txBox="1"/>
          <p:nvPr/>
        </p:nvSpPr>
        <p:spPr>
          <a:xfrm>
            <a:off x="457200" y="3630168"/>
            <a:ext cx="2103120" cy="320040"/>
          </a:xfrm>
          <a:prstGeom prst="rect">
            <a:avLst/>
          </a:prstGeom>
          <a:noFill/>
          <a:ln/>
        </p:spPr>
        <p:txBody>
          <a:bodyPr wrap="square" lIns="0" tIns="0" rIns="0" bIns="0" rtlCol="0" anchor="ctr"/>
          <a:lstStyle/>
          <a:p>
            <a:pPr algn="ctr" indent="0" marL="0">
              <a:buNone/>
            </a:pPr>
            <a:r>
              <a:rPr lang="en-US" sz="1500" dirty="0">
                <a:solidFill>
                  <a:schemeClr val="bg1"/>
                </a:solidFill>
              </a:rPr>
              <a:t>22.990</a:t>
            </a:r>
            <a:endParaRPr lang="en-US" sz="1500" dirty="0"/>
          </a:p>
        </p:txBody>
      </p:sp>
      <p:sp>
        <p:nvSpPr>
          <p:cNvPr id="14" name="Text 12"/>
          <p:cNvSpPr/>
          <p:nvPr/>
        </p:nvSpPr>
        <p:spPr>
          <a:xfrm>
            <a:off x="1051560" y="1911096"/>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5" name="Text 13"/>
          <p:cNvSpPr/>
          <p:nvPr/>
        </p:nvSpPr>
        <p:spPr>
          <a:xfrm>
            <a:off x="2176272" y="2560320"/>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6" name="Text 14"/>
          <p:cNvSpPr/>
          <p:nvPr/>
        </p:nvSpPr>
        <p:spPr>
          <a:xfrm>
            <a:off x="2176272" y="3264408"/>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5"/>
          <p:cNvSpPr/>
          <p:nvPr/>
        </p:nvSpPr>
        <p:spPr>
          <a:xfrm>
            <a:off x="2176272" y="3630168"/>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8" name="Text 16"/>
          <p:cNvSpPr/>
          <p:nvPr/>
        </p:nvSpPr>
        <p:spPr>
          <a:xfrm>
            <a:off x="2926080" y="185623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9" name="Part 1"/>
          <p:cNvSpPr/>
          <p:nvPr/>
        </p:nvSpPr>
        <p:spPr>
          <a:xfrm>
            <a:off x="3337560" y="1691640"/>
            <a:ext cx="5349240" cy="640080"/>
          </a:xfrm>
          <a:prstGeom prst="roundRect">
            <a:avLst>
              <a:gd name="adj" fmla="val 14286"/>
            </a:avLst>
          </a:prstGeom>
          <a:solidFill>
            <a:schemeClr val="tx2"/>
          </a:solidFill>
          <a:ln w="9525">
            <a:solidFill>
              <a:schemeClr val="bg2">
                <a:alpha val="30000"/>
              </a:schemeClr>
            </a:solidFill>
            <a:prstDash val="solid"/>
          </a:ln>
        </p:spPr>
      </p:sp>
      <p:sp>
        <p:nvSpPr>
          <p:cNvPr id="20" name="Text 18"/>
          <p:cNvSpPr txBox="1"/>
          <p:nvPr/>
        </p:nvSpPr>
        <p:spPr>
          <a:xfrm>
            <a:off x="3474720" y="1691640"/>
            <a:ext cx="5120640" cy="640080"/>
          </a:xfrm>
          <a:prstGeom prst="rect">
            <a:avLst/>
          </a:prstGeom>
          <a:noFill/>
          <a:ln/>
        </p:spPr>
        <p:txBody>
          <a:bodyPr wrap="square" lIns="0" tIns="0" rIns="0" bIns="0" rtlCol="0" anchor="ctr"/>
          <a:lstStyle/>
          <a:p>
            <a:pPr indent="0" marL="0">
              <a:buNone/>
            </a:pPr>
            <a:r>
              <a:rPr lang="en-US" sz="1200" b="1" dirty="0">
                <a:solidFill>
                  <a:schemeClr val="bg1"/>
                </a:solidFill>
              </a:rPr>
              <a:t>Atomic number: 11</a:t>
            </a:r>
            <a:endParaRPr lang="en-US" sz="1200" dirty="0"/>
          </a:p>
          <a:p>
            <a:pPr indent="0" marL="0">
              <a:buNone/>
            </a:pPr>
            <a:r>
              <a:rPr lang="en-US" sz="1200" i="1" dirty="0">
                <a:solidFill>
                  <a:schemeClr val="bg2"/>
                </a:solidFill>
              </a:rPr>
              <a:t>What does it tell you?</a:t>
            </a:r>
            <a:endParaRPr lang="en-US" sz="1200" dirty="0"/>
          </a:p>
        </p:txBody>
      </p:sp>
      <p:sp>
        <p:nvSpPr>
          <p:cNvPr id="21" name="Text 19"/>
          <p:cNvSpPr/>
          <p:nvPr/>
        </p:nvSpPr>
        <p:spPr>
          <a:xfrm>
            <a:off x="2926080" y="258775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Part 2"/>
          <p:cNvSpPr/>
          <p:nvPr/>
        </p:nvSpPr>
        <p:spPr>
          <a:xfrm>
            <a:off x="3337560" y="2423160"/>
            <a:ext cx="5349240" cy="640080"/>
          </a:xfrm>
          <a:prstGeom prst="roundRect">
            <a:avLst>
              <a:gd name="adj" fmla="val 14286"/>
            </a:avLst>
          </a:prstGeom>
          <a:solidFill>
            <a:schemeClr val="tx2"/>
          </a:solidFill>
          <a:ln w="9525">
            <a:solidFill>
              <a:schemeClr val="bg2">
                <a:alpha val="30000"/>
              </a:schemeClr>
            </a:solidFill>
            <a:prstDash val="solid"/>
          </a:ln>
        </p:spPr>
      </p:sp>
      <p:sp>
        <p:nvSpPr>
          <p:cNvPr id="23" name="Text 21"/>
          <p:cNvSpPr txBox="1"/>
          <p:nvPr/>
        </p:nvSpPr>
        <p:spPr>
          <a:xfrm>
            <a:off x="3474720" y="2423160"/>
            <a:ext cx="5120640" cy="640080"/>
          </a:xfrm>
          <a:prstGeom prst="rect">
            <a:avLst/>
          </a:prstGeom>
          <a:noFill/>
          <a:ln/>
        </p:spPr>
        <p:txBody>
          <a:bodyPr wrap="square" lIns="0" tIns="0" rIns="0" bIns="0" rtlCol="0" anchor="ctr"/>
          <a:lstStyle/>
          <a:p>
            <a:pPr indent="0" marL="0">
              <a:buNone/>
            </a:pPr>
            <a:r>
              <a:rPr lang="en-US" sz="1200" b="1" dirty="0">
                <a:solidFill>
                  <a:schemeClr val="bg1"/>
                </a:solidFill>
              </a:rPr>
              <a:t>Symbol: Na</a:t>
            </a:r>
            <a:endParaRPr lang="en-US" sz="1200" dirty="0"/>
          </a:p>
          <a:p>
            <a:pPr indent="0" marL="0">
              <a:buNone/>
            </a:pPr>
            <a:r>
              <a:rPr lang="en-US" sz="1200" i="1" dirty="0">
                <a:solidFill>
                  <a:schemeClr val="bg2"/>
                </a:solidFill>
              </a:rPr>
              <a:t>What does it tell you?</a:t>
            </a:r>
            <a:endParaRPr lang="en-US" sz="1200" dirty="0"/>
          </a:p>
        </p:txBody>
      </p:sp>
      <p:sp>
        <p:nvSpPr>
          <p:cNvPr id="24" name="Text 22"/>
          <p:cNvSpPr/>
          <p:nvPr/>
        </p:nvSpPr>
        <p:spPr>
          <a:xfrm>
            <a:off x="2926080" y="331927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5" name="Part 3"/>
          <p:cNvSpPr/>
          <p:nvPr/>
        </p:nvSpPr>
        <p:spPr>
          <a:xfrm>
            <a:off x="3337560" y="3154680"/>
            <a:ext cx="5349240" cy="640080"/>
          </a:xfrm>
          <a:prstGeom prst="roundRect">
            <a:avLst>
              <a:gd name="adj" fmla="val 14286"/>
            </a:avLst>
          </a:prstGeom>
          <a:solidFill>
            <a:schemeClr val="tx2"/>
          </a:solidFill>
          <a:ln w="9525">
            <a:solidFill>
              <a:schemeClr val="bg2">
                <a:alpha val="30000"/>
              </a:schemeClr>
            </a:solidFill>
            <a:prstDash val="solid"/>
          </a:ln>
        </p:spPr>
      </p:sp>
      <p:sp>
        <p:nvSpPr>
          <p:cNvPr id="26" name="Text 24"/>
          <p:cNvSpPr txBox="1"/>
          <p:nvPr/>
        </p:nvSpPr>
        <p:spPr>
          <a:xfrm>
            <a:off x="3474720" y="3154680"/>
            <a:ext cx="5120640" cy="640080"/>
          </a:xfrm>
          <a:prstGeom prst="rect">
            <a:avLst/>
          </a:prstGeom>
          <a:noFill/>
          <a:ln/>
        </p:spPr>
        <p:txBody>
          <a:bodyPr wrap="square" lIns="0" tIns="0" rIns="0" bIns="0" rtlCol="0" anchor="ctr"/>
          <a:lstStyle/>
          <a:p>
            <a:pPr indent="0" marL="0">
              <a:buNone/>
            </a:pPr>
            <a:r>
              <a:rPr lang="en-US" sz="1200" b="1" dirty="0">
                <a:solidFill>
                  <a:schemeClr val="bg1"/>
                </a:solidFill>
              </a:rPr>
              <a:t>Name: Sodium</a:t>
            </a:r>
            <a:endParaRPr lang="en-US" sz="1200" dirty="0"/>
          </a:p>
          <a:p>
            <a:pPr indent="0" marL="0">
              <a:buNone/>
            </a:pPr>
            <a:r>
              <a:rPr lang="en-US" sz="1200" i="1" dirty="0">
                <a:solidFill>
                  <a:schemeClr val="bg2"/>
                </a:solidFill>
              </a:rPr>
              <a:t>What does it tell you?</a:t>
            </a:r>
            <a:endParaRPr lang="en-US" sz="1200" dirty="0"/>
          </a:p>
        </p:txBody>
      </p:sp>
      <p:sp>
        <p:nvSpPr>
          <p:cNvPr id="27" name="Text 25"/>
          <p:cNvSpPr/>
          <p:nvPr/>
        </p:nvSpPr>
        <p:spPr>
          <a:xfrm>
            <a:off x="2926080" y="405079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8" name="Part 4"/>
          <p:cNvSpPr/>
          <p:nvPr/>
        </p:nvSpPr>
        <p:spPr>
          <a:xfrm>
            <a:off x="3337560" y="3886200"/>
            <a:ext cx="5349240" cy="640080"/>
          </a:xfrm>
          <a:prstGeom prst="roundRect">
            <a:avLst>
              <a:gd name="adj" fmla="val 14286"/>
            </a:avLst>
          </a:prstGeom>
          <a:solidFill>
            <a:schemeClr val="tx2"/>
          </a:solidFill>
          <a:ln w="9525">
            <a:solidFill>
              <a:schemeClr val="bg2">
                <a:alpha val="30000"/>
              </a:schemeClr>
            </a:solidFill>
            <a:prstDash val="solid"/>
          </a:ln>
        </p:spPr>
      </p:sp>
      <p:sp>
        <p:nvSpPr>
          <p:cNvPr id="29" name="Text 27"/>
          <p:cNvSpPr txBox="1"/>
          <p:nvPr/>
        </p:nvSpPr>
        <p:spPr>
          <a:xfrm>
            <a:off x="3474720" y="3886200"/>
            <a:ext cx="5120640" cy="640080"/>
          </a:xfrm>
          <a:prstGeom prst="rect">
            <a:avLst/>
          </a:prstGeom>
          <a:noFill/>
          <a:ln/>
        </p:spPr>
        <p:txBody>
          <a:bodyPr wrap="square" lIns="0" tIns="0" rIns="0" bIns="0" rtlCol="0" anchor="ctr"/>
          <a:lstStyle/>
          <a:p>
            <a:pPr indent="0" marL="0">
              <a:buNone/>
            </a:pPr>
            <a:r>
              <a:rPr lang="en-US" sz="1200" b="1" dirty="0">
                <a:solidFill>
                  <a:schemeClr val="bg1"/>
                </a:solidFill>
              </a:rPr>
              <a:t>Atomic mass: 22.990</a:t>
            </a:r>
            <a:endParaRPr lang="en-US" sz="1200" dirty="0"/>
          </a:p>
          <a:p>
            <a:pPr indent="0" marL="0">
              <a:buNone/>
            </a:pPr>
            <a:r>
              <a:rPr lang="en-US" sz="1200" i="1" dirty="0">
                <a:solidFill>
                  <a:schemeClr val="bg2"/>
                </a:solidFill>
              </a:rPr>
              <a:t>What does it tell you?</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Read an element tile</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Tap each part of the sodium tile to see what it tells you.</a:t>
            </a:r>
            <a:endParaRPr lang="en-US" sz="1300" dirty="0"/>
          </a:p>
        </p:txBody>
      </p:sp>
      <p:sp>
        <p:nvSpPr>
          <p:cNvPr id="10" name="Sodium tile"/>
          <p:cNvSpPr/>
          <p:nvPr/>
        </p:nvSpPr>
        <p:spPr>
          <a:xfrm>
            <a:off x="457200" y="1783080"/>
            <a:ext cx="2103120" cy="2286000"/>
          </a:xfrm>
          <a:prstGeom prst="roundRect">
            <a:avLst>
              <a:gd name="adj" fmla="val 6522"/>
            </a:avLst>
          </a:prstGeom>
          <a:solidFill>
            <a:srgbClr val="FF8F5E">
              <a:alpha val="20000"/>
            </a:srgbClr>
          </a:solidFill>
          <a:ln w="25400">
            <a:solidFill>
              <a:srgbClr val="FF8F5E"/>
            </a:solidFill>
            <a:prstDash val="solid"/>
          </a:ln>
        </p:spPr>
      </p:sp>
      <p:sp>
        <p:nvSpPr>
          <p:cNvPr id="11" name="Text 9"/>
          <p:cNvSpPr txBox="1"/>
          <p:nvPr/>
        </p:nvSpPr>
        <p:spPr>
          <a:xfrm>
            <a:off x="621792" y="1892808"/>
            <a:ext cx="731520" cy="384048"/>
          </a:xfrm>
          <a:prstGeom prst="rect">
            <a:avLst/>
          </a:prstGeom>
          <a:noFill/>
          <a:ln/>
        </p:spPr>
        <p:txBody>
          <a:bodyPr wrap="square" lIns="0" tIns="0" rIns="0" bIns="0" rtlCol="0" anchor="t"/>
          <a:lstStyle/>
          <a:p>
            <a:pPr indent="0" marL="0">
              <a:buNone/>
            </a:pPr>
            <a:r>
              <a:rPr lang="en-US" sz="2200" b="1" dirty="0">
                <a:solidFill>
                  <a:schemeClr val="bg1"/>
                </a:solidFill>
              </a:rPr>
              <a:t>11</a:t>
            </a:r>
            <a:endParaRPr lang="en-US" sz="2200" dirty="0"/>
          </a:p>
        </p:txBody>
      </p:sp>
      <p:sp>
        <p:nvSpPr>
          <p:cNvPr id="12" name="Text 10"/>
          <p:cNvSpPr txBox="1"/>
          <p:nvPr/>
        </p:nvSpPr>
        <p:spPr>
          <a:xfrm>
            <a:off x="457200" y="2286000"/>
            <a:ext cx="2103120" cy="914400"/>
          </a:xfrm>
          <a:prstGeom prst="rect">
            <a:avLst/>
          </a:prstGeom>
          <a:noFill/>
          <a:ln/>
        </p:spPr>
        <p:txBody>
          <a:bodyPr wrap="square" lIns="0" tIns="0" rIns="0" bIns="0" rtlCol="0" anchor="ctr"/>
          <a:lstStyle/>
          <a:p>
            <a:pPr algn="ctr" indent="0" marL="0">
              <a:buNone/>
            </a:pPr>
            <a:r>
              <a:rPr lang="en-US" sz="5600" b="1" dirty="0">
                <a:solidFill>
                  <a:schemeClr val="bg1"/>
                </a:solidFill>
              </a:rPr>
              <a:t>Na</a:t>
            </a:r>
            <a:endParaRPr lang="en-US" sz="5600" dirty="0"/>
          </a:p>
        </p:txBody>
      </p:sp>
      <p:sp>
        <p:nvSpPr>
          <p:cNvPr id="13" name="Text 11"/>
          <p:cNvSpPr txBox="1"/>
          <p:nvPr/>
        </p:nvSpPr>
        <p:spPr>
          <a:xfrm>
            <a:off x="457200" y="3264408"/>
            <a:ext cx="2103120" cy="320040"/>
          </a:xfrm>
          <a:prstGeom prst="rect">
            <a:avLst/>
          </a:prstGeom>
          <a:noFill/>
          <a:ln/>
        </p:spPr>
        <p:txBody>
          <a:bodyPr wrap="square" lIns="0" tIns="0" rIns="0" bIns="0" rtlCol="0" anchor="ctr"/>
          <a:lstStyle/>
          <a:p>
            <a:pPr algn="ctr" indent="0" marL="0">
              <a:buNone/>
            </a:pPr>
            <a:r>
              <a:rPr lang="en-US" sz="1500" dirty="0">
                <a:solidFill>
                  <a:schemeClr val="bg1"/>
                </a:solidFill>
              </a:rPr>
              <a:t>Sodium</a:t>
            </a:r>
            <a:endParaRPr lang="en-US" sz="1500" dirty="0"/>
          </a:p>
        </p:txBody>
      </p:sp>
      <p:sp>
        <p:nvSpPr>
          <p:cNvPr id="14" name="Text 12"/>
          <p:cNvSpPr txBox="1"/>
          <p:nvPr/>
        </p:nvSpPr>
        <p:spPr>
          <a:xfrm>
            <a:off x="457200" y="3630168"/>
            <a:ext cx="2103120" cy="320040"/>
          </a:xfrm>
          <a:prstGeom prst="rect">
            <a:avLst/>
          </a:prstGeom>
          <a:noFill/>
          <a:ln/>
        </p:spPr>
        <p:txBody>
          <a:bodyPr wrap="square" lIns="0" tIns="0" rIns="0" bIns="0" rtlCol="0" anchor="ctr"/>
          <a:lstStyle/>
          <a:p>
            <a:pPr algn="ctr" indent="0" marL="0">
              <a:buNone/>
            </a:pPr>
            <a:r>
              <a:rPr lang="en-US" sz="1500" dirty="0">
                <a:solidFill>
                  <a:schemeClr val="bg1"/>
                </a:solidFill>
              </a:rPr>
              <a:t>22.990</a:t>
            </a:r>
            <a:endParaRPr lang="en-US" sz="1500" dirty="0"/>
          </a:p>
        </p:txBody>
      </p:sp>
      <p:sp>
        <p:nvSpPr>
          <p:cNvPr id="15" name="Text 13"/>
          <p:cNvSpPr/>
          <p:nvPr/>
        </p:nvSpPr>
        <p:spPr>
          <a:xfrm>
            <a:off x="1051560" y="1911096"/>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Text 14"/>
          <p:cNvSpPr/>
          <p:nvPr/>
        </p:nvSpPr>
        <p:spPr>
          <a:xfrm>
            <a:off x="2176272" y="2560320"/>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7" name="Text 15"/>
          <p:cNvSpPr/>
          <p:nvPr/>
        </p:nvSpPr>
        <p:spPr>
          <a:xfrm>
            <a:off x="2176272" y="3264408"/>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Text 16"/>
          <p:cNvSpPr/>
          <p:nvPr/>
        </p:nvSpPr>
        <p:spPr>
          <a:xfrm>
            <a:off x="2176272" y="3630168"/>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9" name="Text 17"/>
          <p:cNvSpPr/>
          <p:nvPr/>
        </p:nvSpPr>
        <p:spPr>
          <a:xfrm>
            <a:off x="2926080" y="185623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0" name="Part 1"/>
          <p:cNvSpPr/>
          <p:nvPr/>
        </p:nvSpPr>
        <p:spPr>
          <a:xfrm>
            <a:off x="3337560" y="1691640"/>
            <a:ext cx="5349240" cy="640080"/>
          </a:xfrm>
          <a:prstGeom prst="roundRect">
            <a:avLst>
              <a:gd name="adj" fmla="val 14286"/>
            </a:avLst>
          </a:prstGeom>
          <a:solidFill>
            <a:schemeClr val="accent4">
              <a:alpha val="12000"/>
            </a:schemeClr>
          </a:solidFill>
          <a:ln w="9525">
            <a:solidFill>
              <a:schemeClr val="bg2">
                <a:alpha val="30000"/>
              </a:schemeClr>
            </a:solidFill>
            <a:prstDash val="solid"/>
          </a:ln>
        </p:spPr>
      </p:sp>
      <p:sp>
        <p:nvSpPr>
          <p:cNvPr id="21" name="Text 19"/>
          <p:cNvSpPr txBox="1"/>
          <p:nvPr/>
        </p:nvSpPr>
        <p:spPr>
          <a:xfrm>
            <a:off x="3474720" y="1691640"/>
            <a:ext cx="5120640" cy="640080"/>
          </a:xfrm>
          <a:prstGeom prst="rect">
            <a:avLst/>
          </a:prstGeom>
          <a:noFill/>
          <a:ln/>
        </p:spPr>
        <p:txBody>
          <a:bodyPr wrap="square" lIns="0" tIns="0" rIns="0" bIns="0" rtlCol="0" anchor="ctr"/>
          <a:lstStyle/>
          <a:p>
            <a:pPr indent="0" marL="0">
              <a:buNone/>
            </a:pPr>
            <a:r>
              <a:rPr lang="en-US" sz="1200" b="1" dirty="0">
                <a:solidFill>
                  <a:schemeClr val="accent4"/>
                </a:solidFill>
              </a:rPr>
              <a:t>Atomic number: 11</a:t>
            </a:r>
            <a:endParaRPr lang="en-US" sz="1200" dirty="0"/>
          </a:p>
          <a:p>
            <a:pPr indent="0" marL="0">
              <a:buNone/>
            </a:pPr>
            <a:r>
              <a:rPr lang="en-US" sz="1200" dirty="0">
                <a:solidFill>
                  <a:schemeClr val="bg1"/>
                </a:solidFill>
              </a:rPr>
              <a:t>Sodium has 11 protons. Every sodium atom has 11. A neutral sodium atom also has 11 electrons.</a:t>
            </a:r>
            <a:endParaRPr lang="en-US" sz="1200" dirty="0"/>
          </a:p>
        </p:txBody>
      </p:sp>
      <p:sp>
        <p:nvSpPr>
          <p:cNvPr id="22" name="Text 20"/>
          <p:cNvSpPr/>
          <p:nvPr/>
        </p:nvSpPr>
        <p:spPr>
          <a:xfrm>
            <a:off x="2926080" y="258775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3" name="Part 2"/>
          <p:cNvSpPr/>
          <p:nvPr/>
        </p:nvSpPr>
        <p:spPr>
          <a:xfrm>
            <a:off x="3337560" y="2423160"/>
            <a:ext cx="5349240" cy="640080"/>
          </a:xfrm>
          <a:prstGeom prst="roundRect">
            <a:avLst>
              <a:gd name="adj" fmla="val 14286"/>
            </a:avLst>
          </a:prstGeom>
          <a:solidFill>
            <a:schemeClr val="accent4">
              <a:alpha val="12000"/>
            </a:schemeClr>
          </a:solidFill>
          <a:ln w="9525">
            <a:solidFill>
              <a:schemeClr val="bg2">
                <a:alpha val="30000"/>
              </a:schemeClr>
            </a:solidFill>
            <a:prstDash val="solid"/>
          </a:ln>
        </p:spPr>
      </p:sp>
      <p:sp>
        <p:nvSpPr>
          <p:cNvPr id="24" name="Text 22"/>
          <p:cNvSpPr txBox="1"/>
          <p:nvPr/>
        </p:nvSpPr>
        <p:spPr>
          <a:xfrm>
            <a:off x="3474720" y="2423160"/>
            <a:ext cx="5120640" cy="640080"/>
          </a:xfrm>
          <a:prstGeom prst="rect">
            <a:avLst/>
          </a:prstGeom>
          <a:noFill/>
          <a:ln/>
        </p:spPr>
        <p:txBody>
          <a:bodyPr wrap="square" lIns="0" tIns="0" rIns="0" bIns="0" rtlCol="0" anchor="ctr"/>
          <a:lstStyle/>
          <a:p>
            <a:pPr indent="0" marL="0">
              <a:buNone/>
            </a:pPr>
            <a:r>
              <a:rPr lang="en-US" sz="1200" b="1" dirty="0">
                <a:solidFill>
                  <a:schemeClr val="accent4"/>
                </a:solidFill>
              </a:rPr>
              <a:t>Symbol: Na</a:t>
            </a:r>
            <a:endParaRPr lang="en-US" sz="1200" dirty="0"/>
          </a:p>
          <a:p>
            <a:pPr indent="0" marL="0">
              <a:buNone/>
            </a:pPr>
            <a:r>
              <a:rPr lang="en-US" sz="1200" dirty="0">
                <a:solidFill>
                  <a:schemeClr val="bg1"/>
                </a:solidFill>
              </a:rPr>
              <a:t>A one- or two-letter code. The first letter is always a capital. Na comes from natrium, the Latin name.</a:t>
            </a:r>
            <a:endParaRPr lang="en-US" sz="1200" dirty="0"/>
          </a:p>
        </p:txBody>
      </p:sp>
      <p:sp>
        <p:nvSpPr>
          <p:cNvPr id="25" name="Text 23"/>
          <p:cNvSpPr/>
          <p:nvPr/>
        </p:nvSpPr>
        <p:spPr>
          <a:xfrm>
            <a:off x="2926080" y="331927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6" name="Part 3"/>
          <p:cNvSpPr/>
          <p:nvPr/>
        </p:nvSpPr>
        <p:spPr>
          <a:xfrm>
            <a:off x="3337560" y="3154680"/>
            <a:ext cx="5349240" cy="640080"/>
          </a:xfrm>
          <a:prstGeom prst="roundRect">
            <a:avLst>
              <a:gd name="adj" fmla="val 14286"/>
            </a:avLst>
          </a:prstGeom>
          <a:solidFill>
            <a:schemeClr val="accent4">
              <a:alpha val="12000"/>
            </a:schemeClr>
          </a:solidFill>
          <a:ln w="9525">
            <a:solidFill>
              <a:schemeClr val="bg2">
                <a:alpha val="30000"/>
              </a:schemeClr>
            </a:solidFill>
            <a:prstDash val="solid"/>
          </a:ln>
        </p:spPr>
      </p:sp>
      <p:sp>
        <p:nvSpPr>
          <p:cNvPr id="27" name="Text 25"/>
          <p:cNvSpPr txBox="1"/>
          <p:nvPr/>
        </p:nvSpPr>
        <p:spPr>
          <a:xfrm>
            <a:off x="3474720" y="3154680"/>
            <a:ext cx="5120640" cy="640080"/>
          </a:xfrm>
          <a:prstGeom prst="rect">
            <a:avLst/>
          </a:prstGeom>
          <a:noFill/>
          <a:ln/>
        </p:spPr>
        <p:txBody>
          <a:bodyPr wrap="square" lIns="0" tIns="0" rIns="0" bIns="0" rtlCol="0" anchor="ctr"/>
          <a:lstStyle/>
          <a:p>
            <a:pPr indent="0" marL="0">
              <a:buNone/>
            </a:pPr>
            <a:r>
              <a:rPr lang="en-US" sz="1200" b="1" dirty="0">
                <a:solidFill>
                  <a:schemeClr val="accent4"/>
                </a:solidFill>
              </a:rPr>
              <a:t>Name: Sodium</a:t>
            </a:r>
            <a:endParaRPr lang="en-US" sz="1200" dirty="0"/>
          </a:p>
          <a:p>
            <a:pPr indent="0" marL="0">
              <a:buNone/>
            </a:pPr>
            <a:r>
              <a:rPr lang="en-US" sz="1200" dirty="0">
                <a:solidFill>
                  <a:schemeClr val="bg1"/>
                </a:solidFill>
              </a:rPr>
              <a:t>The name of the element.</a:t>
            </a:r>
            <a:endParaRPr lang="en-US" sz="1200" dirty="0"/>
          </a:p>
        </p:txBody>
      </p:sp>
      <p:sp>
        <p:nvSpPr>
          <p:cNvPr id="28" name="Text 26"/>
          <p:cNvSpPr/>
          <p:nvPr/>
        </p:nvSpPr>
        <p:spPr>
          <a:xfrm>
            <a:off x="2926080" y="4050792"/>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Part 4"/>
          <p:cNvSpPr/>
          <p:nvPr/>
        </p:nvSpPr>
        <p:spPr>
          <a:xfrm>
            <a:off x="3337560" y="3886200"/>
            <a:ext cx="5349240" cy="640080"/>
          </a:xfrm>
          <a:prstGeom prst="roundRect">
            <a:avLst>
              <a:gd name="adj" fmla="val 14286"/>
            </a:avLst>
          </a:prstGeom>
          <a:solidFill>
            <a:schemeClr val="accent4">
              <a:alpha val="12000"/>
            </a:schemeClr>
          </a:solidFill>
          <a:ln w="9525">
            <a:solidFill>
              <a:schemeClr val="bg2">
                <a:alpha val="30000"/>
              </a:schemeClr>
            </a:solidFill>
            <a:prstDash val="solid"/>
          </a:ln>
        </p:spPr>
      </p:sp>
      <p:sp>
        <p:nvSpPr>
          <p:cNvPr id="30" name="Text 28"/>
          <p:cNvSpPr txBox="1"/>
          <p:nvPr/>
        </p:nvSpPr>
        <p:spPr>
          <a:xfrm>
            <a:off x="3474720" y="3886200"/>
            <a:ext cx="5120640" cy="640080"/>
          </a:xfrm>
          <a:prstGeom prst="rect">
            <a:avLst/>
          </a:prstGeom>
          <a:noFill/>
          <a:ln/>
        </p:spPr>
        <p:txBody>
          <a:bodyPr wrap="square" lIns="0" tIns="0" rIns="0" bIns="0" rtlCol="0" anchor="ctr"/>
          <a:lstStyle/>
          <a:p>
            <a:pPr indent="0" marL="0">
              <a:buNone/>
            </a:pPr>
            <a:r>
              <a:rPr lang="en-US" sz="1200" b="1" dirty="0">
                <a:solidFill>
                  <a:schemeClr val="accent4"/>
                </a:solidFill>
              </a:rPr>
              <a:t>Atomic mass: 22.990</a:t>
            </a:r>
            <a:endParaRPr lang="en-US" sz="1200" dirty="0"/>
          </a:p>
          <a:p>
            <a:pPr indent="0" marL="0">
              <a:buNone/>
            </a:pPr>
            <a:r>
              <a:rPr lang="en-US" sz="1200" dirty="0">
                <a:solidFill>
                  <a:schemeClr val="bg1"/>
                </a:solidFill>
              </a:rPr>
              <a:t>Round it to get the mass number: 23. Then neutrons = 23 − 11 = 12.</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Particle table</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Fill in your lab notebook. Use each tile to count the particles in one neutral atom.</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645920"/>
                <a:gridCol w="1325880"/>
                <a:gridCol w="1325880"/>
                <a:gridCol w="1280160"/>
                <a:gridCol w="1325880"/>
                <a:gridCol w="1325880"/>
              </a:tblGrid>
              <a:tr h="384048">
                <a:tc>
                  <a:txBody>
                    <a:bodyPr/>
                    <a:lstStyle/>
                    <a:p>
                      <a:pPr indent="0" marL="0">
                        <a:buNone/>
                      </a:pPr>
                      <a:r>
                        <a:rPr lang="en-US" sz="1500" b="1" dirty="0">
                          <a:solidFill>
                            <a:schemeClr val="bg2"/>
                          </a:solidFill>
                        </a:rPr>
                        <a:t>Element</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Atomic number</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Atomic mass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Protons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Neutrons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Electrons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84048">
                <a:tc>
                  <a:txBody>
                    <a:bodyPr/>
                    <a:lstStyle/>
                    <a:p>
                      <a:pPr indent="0" marL="0">
                        <a:buNone/>
                      </a:pPr>
                      <a:r>
                        <a:rPr lang="en-US" sz="1500" b="1" dirty="0">
                          <a:solidFill>
                            <a:schemeClr val="bg1"/>
                          </a:solidFill>
                        </a:rPr>
                        <a:t>Oxygen</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15.999</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Magnesium</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24.305</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Aluminum</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13</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26.982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Chlorine</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17</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35.45</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Potassium</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19</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39.098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10" name="Text 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dirty="0">
                <a:solidFill>
                  <a:schemeClr val="bg2"/>
                </a:solidFill>
              </a:rPr>
              <a:t>Protons = atomic number.   Neutrons = rounded atomic mass − atomic number.   Electrons = protons.</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Particle table</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Fill in your lab notebook. Use each tile to count the particles in one neutral atom.</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1645920"/>
                <a:gridCol w="1325880"/>
                <a:gridCol w="1325880"/>
                <a:gridCol w="1280160"/>
                <a:gridCol w="1325880"/>
                <a:gridCol w="1325880"/>
              </a:tblGrid>
              <a:tr h="384048">
                <a:tc>
                  <a:txBody>
                    <a:bodyPr/>
                    <a:lstStyle/>
                    <a:p>
                      <a:pPr indent="0" marL="0">
                        <a:buNone/>
                      </a:pPr>
                      <a:r>
                        <a:rPr lang="en-US" sz="1500" b="1" dirty="0">
                          <a:solidFill>
                            <a:schemeClr val="bg2"/>
                          </a:solidFill>
                        </a:rPr>
                        <a:t>Element</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Atomic number</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Atomic mass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Protons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Neutrons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Electrons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84048">
                <a:tc>
                  <a:txBody>
                    <a:bodyPr/>
                    <a:lstStyle/>
                    <a:p>
                      <a:pPr indent="0" marL="0">
                        <a:buNone/>
                      </a:pPr>
                      <a:r>
                        <a:rPr lang="en-US" sz="1500" b="1" dirty="0">
                          <a:solidFill>
                            <a:schemeClr val="bg1"/>
                          </a:solidFill>
                        </a:rPr>
                        <a:t>Oxygen</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15.999</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Magnesium</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24.305</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Aluminum</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13</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26.982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13</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14</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13</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Chlorine</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17</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35.45</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17</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17</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84048">
                <a:tc>
                  <a:txBody>
                    <a:bodyPr/>
                    <a:lstStyle/>
                    <a:p>
                      <a:pPr indent="0" marL="0">
                        <a:buNone/>
                      </a:pPr>
                      <a:r>
                        <a:rPr lang="en-US" sz="1500" b="1" dirty="0">
                          <a:solidFill>
                            <a:schemeClr val="bg1"/>
                          </a:solidFill>
                        </a:rPr>
                        <a:t>Potassium</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19</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rPr>
                        <a:t>39.098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19</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20</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4"/>
                          </a:solidFill>
                        </a:rPr>
                        <a:t>19</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11" name="Text 8"/>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500" b="1" dirty="0">
                <a:solidFill>
                  <a:schemeClr val="accent2"/>
                </a:solidFill>
              </a:rPr>
              <a:t>Notice chlorine: </a:t>
            </a:r>
            <a:pPr indent="0" marL="0">
              <a:buNone/>
            </a:pPr>
            <a:r>
              <a:rPr lang="en-US" sz="1500" dirty="0">
                <a:solidFill>
                  <a:schemeClr val="bg1"/>
                </a:solidFill>
              </a:rPr>
              <a:t>35.45 rounds to 35, so it has 35 − 17 = 18 neutrons.</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Fluorine has atomic number 9 and atomic mass 18.998. How many neutrons does a fluorine atom have?</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9</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10</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19</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28</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le H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He</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Fluorine has atomic number 9 and atomic mass 18.998. How many neutrons does a fluorine atom have?</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9</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10</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19</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28</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18.998 rounds to 19. Then 19 − 9 = 10 neutrons.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le Li"/>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Li</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3 of 9 · about 7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Shells fill from the inside out</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Inner shells fill first</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Electron filler: 5 missions</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Arrange 13 electrons</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Mission 1: fill shell 1</a:t>
            </a:r>
            <a:endParaRPr lang="en-US" sz="1400" dirty="0"/>
          </a:p>
        </p:txBody>
      </p:sp>
      <p:sp>
        <p:nvSpPr>
          <p:cNvPr id="19" name="Text 17"/>
          <p:cNvSpPr/>
          <p:nvPr/>
        </p:nvSpPr>
        <p:spPr>
          <a:xfrm>
            <a:off x="4892040" y="246888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395728"/>
            <a:ext cx="3200400" cy="457200"/>
          </a:xfrm>
          <a:prstGeom prst="rect">
            <a:avLst/>
          </a:prstGeom>
          <a:noFill/>
          <a:ln/>
        </p:spPr>
        <p:txBody>
          <a:bodyPr wrap="square" lIns="0" tIns="0" rIns="0" bIns="0" rtlCol="0" anchor="ctr"/>
          <a:lstStyle/>
          <a:p>
            <a:pPr indent="0" marL="0">
              <a:buNone/>
            </a:pPr>
            <a:r>
              <a:rPr lang="en-US" sz="1400" dirty="0">
                <a:solidFill>
                  <a:schemeClr val="bg1"/>
                </a:solidFill>
              </a:rPr>
              <a:t>Mission 2: start shell 2</a:t>
            </a:r>
            <a:endParaRPr lang="en-US" sz="1400" dirty="0"/>
          </a:p>
        </p:txBody>
      </p:sp>
      <p:sp>
        <p:nvSpPr>
          <p:cNvPr id="21" name="Text 19"/>
          <p:cNvSpPr/>
          <p:nvPr/>
        </p:nvSpPr>
        <p:spPr>
          <a:xfrm>
            <a:off x="4892040" y="287121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798064"/>
            <a:ext cx="3200400" cy="457200"/>
          </a:xfrm>
          <a:prstGeom prst="rect">
            <a:avLst/>
          </a:prstGeom>
          <a:noFill/>
          <a:ln/>
        </p:spPr>
        <p:txBody>
          <a:bodyPr wrap="square" lIns="0" tIns="0" rIns="0" bIns="0" rtlCol="0" anchor="ctr"/>
          <a:lstStyle/>
          <a:p>
            <a:pPr indent="0" marL="0">
              <a:buNone/>
            </a:pPr>
            <a:r>
              <a:rPr lang="en-US" sz="1400" dirty="0">
                <a:solidFill>
                  <a:schemeClr val="bg1"/>
                </a:solidFill>
              </a:rPr>
              <a:t>Mission 3: fill shell 2</a:t>
            </a:r>
            <a:endParaRPr lang="en-US" sz="1400" dirty="0"/>
          </a:p>
        </p:txBody>
      </p:sp>
      <p:sp>
        <p:nvSpPr>
          <p:cNvPr id="23" name="Text 21"/>
          <p:cNvSpPr/>
          <p:nvPr/>
        </p:nvSpPr>
        <p:spPr>
          <a:xfrm>
            <a:off x="4892040" y="327355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200400"/>
            <a:ext cx="3200400" cy="457200"/>
          </a:xfrm>
          <a:prstGeom prst="rect">
            <a:avLst/>
          </a:prstGeom>
          <a:noFill/>
          <a:ln/>
        </p:spPr>
        <p:txBody>
          <a:bodyPr wrap="square" lIns="0" tIns="0" rIns="0" bIns="0" rtlCol="0" anchor="ctr"/>
          <a:lstStyle/>
          <a:p>
            <a:pPr indent="0" marL="0">
              <a:buNone/>
            </a:pPr>
            <a:r>
              <a:rPr lang="en-US" sz="1400" dirty="0">
                <a:solidFill>
                  <a:schemeClr val="bg1"/>
                </a:solidFill>
              </a:rPr>
              <a:t>Mission 4: start shell 3</a:t>
            </a:r>
            <a:endParaRPr lang="en-US" sz="1400" dirty="0"/>
          </a:p>
        </p:txBody>
      </p:sp>
      <p:sp>
        <p:nvSpPr>
          <p:cNvPr id="25" name="Text 23"/>
          <p:cNvSpPr/>
          <p:nvPr/>
        </p:nvSpPr>
        <p:spPr>
          <a:xfrm>
            <a:off x="4892040" y="367588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6" name="Text 24"/>
          <p:cNvSpPr txBox="1"/>
          <p:nvPr/>
        </p:nvSpPr>
        <p:spPr>
          <a:xfrm>
            <a:off x="5303520" y="3602736"/>
            <a:ext cx="3200400" cy="457200"/>
          </a:xfrm>
          <a:prstGeom prst="rect">
            <a:avLst/>
          </a:prstGeom>
          <a:noFill/>
          <a:ln/>
        </p:spPr>
        <p:txBody>
          <a:bodyPr wrap="square" lIns="0" tIns="0" rIns="0" bIns="0" rtlCol="0" anchor="ctr"/>
          <a:lstStyle/>
          <a:p>
            <a:pPr indent="0" marL="0">
              <a:buNone/>
            </a:pPr>
            <a:r>
              <a:rPr lang="en-US" sz="1400" dirty="0">
                <a:solidFill>
                  <a:schemeClr val="bg1"/>
                </a:solidFill>
              </a:rPr>
              <a:t>Mission 5: fill shell 3</a:t>
            </a:r>
            <a:endParaRPr lang="en-US" sz="1400" dirty="0"/>
          </a:p>
        </p:txBody>
      </p:sp>
      <p:sp>
        <p:nvSpPr>
          <p:cNvPr id="27" name="Text 25"/>
          <p:cNvSpPr/>
          <p:nvPr/>
        </p:nvSpPr>
        <p:spPr>
          <a:xfrm>
            <a:off x="4892040" y="407822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8" name="Text 26"/>
          <p:cNvSpPr txBox="1"/>
          <p:nvPr/>
        </p:nvSpPr>
        <p:spPr>
          <a:xfrm>
            <a:off x="5303520" y="4005072"/>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le Li"/>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Li</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Inner shells fill first</a:t>
            </a:r>
            <a:endParaRPr lang="en-US" sz="2800" dirty="0"/>
          </a:p>
        </p:txBody>
      </p:sp>
      <p:sp>
        <p:nvSpPr>
          <p:cNvPr id="8" name="Text 6"/>
          <p:cNvSpPr txBox="1"/>
          <p:nvPr/>
        </p:nvSpPr>
        <p:spPr>
          <a:xfrm>
            <a:off x="457200" y="1325880"/>
            <a:ext cx="4480560" cy="237744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Electrons fill the shell closest to the nucleus first, because that shell has the lowest energy. When a shell is full, the next electron starts a new shell farther out.</a:t>
            </a:r>
            <a:endParaRPr lang="en-US" sz="1500" dirty="0"/>
          </a:p>
          <a:p>
            <a:pPr indent="0" marL="0">
              <a:spcAft>
                <a:spcPts val="800"/>
              </a:spcAft>
              <a:buNone/>
            </a:pPr>
            <a:r>
              <a:rPr lang="en-US" sz="1500" dirty="0">
                <a:solidFill>
                  <a:schemeClr val="bg1"/>
                </a:solidFill>
              </a:rPr>
              <a:t>Think of a bookshelf you fill from the bottom shelf up. You don't start a new shelf until the one below it is full.</a:t>
            </a:r>
            <a:endParaRPr lang="en-US" sz="1500" dirty="0"/>
          </a:p>
        </p:txBody>
      </p:sp>
      <p:sp>
        <p:nvSpPr>
          <p:cNvPr id="9" name="Text 7"/>
          <p:cNvSpPr txBox="1"/>
          <p:nvPr/>
        </p:nvSpPr>
        <p:spPr>
          <a:xfrm>
            <a:off x="457200" y="4206240"/>
            <a:ext cx="4480560" cy="274320"/>
          </a:xfrm>
          <a:prstGeom prst="rect">
            <a:avLst/>
          </a:prstGeom>
          <a:noFill/>
          <a:ln/>
        </p:spPr>
        <p:txBody>
          <a:bodyPr wrap="square" lIns="0" tIns="0" rIns="0" bIns="0" rtlCol="0" anchor="t"/>
          <a:lstStyle/>
          <a:p>
            <a:pPr indent="0" marL="0">
              <a:buNone/>
            </a:pPr>
            <a:r>
              <a:rPr lang="en-US" sz="1100" dirty="0">
                <a:solidFill>
                  <a:schemeClr val="bg2"/>
                </a:solidFill>
              </a:rPr>
              <a:t>*For the first 20 elements, which are the ones you'll draw.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303520" y="1325880"/>
          <a:ext cx="3383280" cy="914400"/>
        </p:xfrm>
        <a:graphic>
          <a:graphicData uri="http://schemas.openxmlformats.org/drawingml/2006/table">
            <a:tbl>
              <a:tblPr/>
              <a:tblGrid>
                <a:gridCol w="1097280"/>
                <a:gridCol w="2286000"/>
              </a:tblGrid>
              <a:tr h="310896">
                <a:tc>
                  <a:txBody>
                    <a:bodyPr/>
                    <a:lstStyle/>
                    <a:p>
                      <a:pPr indent="0" marL="0">
                        <a:buNone/>
                      </a:pPr>
                      <a:r>
                        <a:rPr lang="en-US" sz="1400" b="1" dirty="0">
                          <a:solidFill>
                            <a:schemeClr val="bg2"/>
                          </a:solidFill>
                        </a:rPr>
                        <a:t>Shell</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Holds up to</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10896">
                <a:tc>
                  <a:txBody>
                    <a:bodyPr/>
                    <a:lstStyle/>
                    <a:p>
                      <a:pPr indent="0" marL="0">
                        <a:buNone/>
                      </a:pPr>
                      <a:r>
                        <a:rPr lang="en-US" sz="1400" dirty="0">
                          <a:solidFill>
                            <a:schemeClr val="bg1"/>
                          </a:solidFill>
                        </a:rPr>
                        <a:t>Shell 1</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2 electrons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10896">
                <a:tc>
                  <a:txBody>
                    <a:bodyPr/>
                    <a:lstStyle/>
                    <a:p>
                      <a:pPr indent="0" marL="0">
                        <a:buNone/>
                      </a:pPr>
                      <a:r>
                        <a:rPr lang="en-US" sz="1400" dirty="0">
                          <a:solidFill>
                            <a:schemeClr val="bg1"/>
                          </a:solidFill>
                        </a:rPr>
                        <a:t>Shell 2</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8 electrons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10896">
                <a:tc>
                  <a:txBody>
                    <a:bodyPr/>
                    <a:lstStyle/>
                    <a:p>
                      <a:pPr indent="0" marL="0">
                        <a:buNone/>
                      </a:pPr>
                      <a:r>
                        <a:rPr lang="en-US" sz="1400" dirty="0">
                          <a:solidFill>
                            <a:schemeClr val="bg1"/>
                          </a:solidFill>
                        </a:rPr>
                        <a:t>Shell 3</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8 electrons*</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r h="310896">
                <a:tc>
                  <a:txBody>
                    <a:bodyPr/>
                    <a:lstStyle/>
                    <a:p>
                      <a:pPr indent="0" marL="0">
                        <a:buNone/>
                      </a:pPr>
                      <a:r>
                        <a:rPr lang="en-US" sz="1400" dirty="0">
                          <a:solidFill>
                            <a:schemeClr val="bg1"/>
                          </a:solidFill>
                        </a:rPr>
                        <a:t>Shell 4</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the rest (K and Ca)</a:t>
                      </a:r>
                      <a:endParaRPr lang="en-US" sz="14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11" name="Calcium: shell 1"/>
          <p:cNvSpPr/>
          <p:nvPr/>
        </p:nvSpPr>
        <p:spPr>
          <a:xfrm>
            <a:off x="6739128" y="3566160"/>
            <a:ext cx="512064" cy="512064"/>
          </a:xfrm>
          <a:prstGeom prst="ellipse">
            <a:avLst/>
          </a:prstGeom>
          <a:solidFill>
            <a:schemeClr val="bg1">
              <a:alpha val="0"/>
            </a:schemeClr>
          </a:solidFill>
          <a:ln w="15875">
            <a:solidFill>
              <a:schemeClr val="bg2">
                <a:alpha val="55000"/>
              </a:schemeClr>
            </a:solidFill>
            <a:prstDash val="solid"/>
          </a:ln>
        </p:spPr>
      </p:sp>
      <p:sp>
        <p:nvSpPr>
          <p:cNvPr id="12" name="Calcium: shell 2"/>
          <p:cNvSpPr/>
          <p:nvPr/>
        </p:nvSpPr>
        <p:spPr>
          <a:xfrm>
            <a:off x="6579108" y="3406140"/>
            <a:ext cx="832104" cy="832104"/>
          </a:xfrm>
          <a:prstGeom prst="ellipse">
            <a:avLst/>
          </a:prstGeom>
          <a:solidFill>
            <a:schemeClr val="bg1">
              <a:alpha val="0"/>
            </a:schemeClr>
          </a:solidFill>
          <a:ln w="15875">
            <a:solidFill>
              <a:schemeClr val="bg2">
                <a:alpha val="55000"/>
              </a:schemeClr>
            </a:solidFill>
            <a:prstDash val="solid"/>
          </a:ln>
        </p:spPr>
      </p:sp>
      <p:sp>
        <p:nvSpPr>
          <p:cNvPr id="13" name="Calcium: shell 3"/>
          <p:cNvSpPr/>
          <p:nvPr/>
        </p:nvSpPr>
        <p:spPr>
          <a:xfrm>
            <a:off x="6429756" y="3256788"/>
            <a:ext cx="1130808" cy="1130808"/>
          </a:xfrm>
          <a:prstGeom prst="ellipse">
            <a:avLst/>
          </a:prstGeom>
          <a:solidFill>
            <a:schemeClr val="bg1">
              <a:alpha val="0"/>
            </a:schemeClr>
          </a:solidFill>
          <a:ln w="15875">
            <a:solidFill>
              <a:schemeClr val="bg2">
                <a:alpha val="55000"/>
              </a:schemeClr>
            </a:solidFill>
            <a:prstDash val="solid"/>
          </a:ln>
        </p:spPr>
      </p:sp>
      <p:sp>
        <p:nvSpPr>
          <p:cNvPr id="14" name="Calcium: shell 4"/>
          <p:cNvSpPr/>
          <p:nvPr/>
        </p:nvSpPr>
        <p:spPr>
          <a:xfrm>
            <a:off x="6280404" y="3107436"/>
            <a:ext cx="1429512" cy="1429512"/>
          </a:xfrm>
          <a:prstGeom prst="ellipse">
            <a:avLst/>
          </a:prstGeom>
          <a:solidFill>
            <a:schemeClr val="bg1">
              <a:alpha val="0"/>
            </a:schemeClr>
          </a:solidFill>
          <a:ln w="15875">
            <a:solidFill>
              <a:schemeClr val="bg2">
                <a:alpha val="55000"/>
              </a:schemeClr>
            </a:solidFill>
            <a:prstDash val="solid"/>
          </a:ln>
        </p:spPr>
      </p:sp>
      <p:sp>
        <p:nvSpPr>
          <p:cNvPr id="15" name="Calcium: nucleus"/>
          <p:cNvSpPr/>
          <p:nvPr/>
        </p:nvSpPr>
        <p:spPr>
          <a:xfrm>
            <a:off x="6829806" y="3656838"/>
            <a:ext cx="330708" cy="330708"/>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6" name="Calcium: electron, shell 1"/>
          <p:cNvSpPr/>
          <p:nvPr/>
        </p:nvSpPr>
        <p:spPr>
          <a:xfrm>
            <a:off x="6955155" y="3526155"/>
            <a:ext cx="80010" cy="80010"/>
          </a:xfrm>
          <a:prstGeom prst="ellipse">
            <a:avLst/>
          </a:prstGeom>
          <a:solidFill>
            <a:schemeClr val="accent1"/>
          </a:solidFill>
          <a:ln w="3175">
            <a:solidFill>
              <a:schemeClr val="accent1"/>
            </a:solidFill>
            <a:prstDash val="solid"/>
          </a:ln>
        </p:spPr>
      </p:sp>
      <p:sp>
        <p:nvSpPr>
          <p:cNvPr id="17" name="Calcium: electron, shell 1"/>
          <p:cNvSpPr/>
          <p:nvPr/>
        </p:nvSpPr>
        <p:spPr>
          <a:xfrm>
            <a:off x="7211187" y="3782187"/>
            <a:ext cx="80010" cy="80010"/>
          </a:xfrm>
          <a:prstGeom prst="ellipse">
            <a:avLst/>
          </a:prstGeom>
          <a:solidFill>
            <a:schemeClr val="accent1"/>
          </a:solidFill>
          <a:ln w="3175">
            <a:solidFill>
              <a:schemeClr val="accent1"/>
            </a:solidFill>
            <a:prstDash val="solid"/>
          </a:ln>
        </p:spPr>
      </p:sp>
      <p:sp>
        <p:nvSpPr>
          <p:cNvPr id="18" name="Calcium: electron, shell 2"/>
          <p:cNvSpPr/>
          <p:nvPr/>
        </p:nvSpPr>
        <p:spPr>
          <a:xfrm>
            <a:off x="6901432" y="3369618"/>
            <a:ext cx="80010" cy="80010"/>
          </a:xfrm>
          <a:prstGeom prst="ellipse">
            <a:avLst/>
          </a:prstGeom>
          <a:solidFill>
            <a:schemeClr val="accent1"/>
          </a:solidFill>
          <a:ln w="3175">
            <a:solidFill>
              <a:schemeClr val="accent1"/>
            </a:solidFill>
            <a:prstDash val="solid"/>
          </a:ln>
        </p:spPr>
      </p:sp>
      <p:sp>
        <p:nvSpPr>
          <p:cNvPr id="19" name="Calcium: electron, shell 2"/>
          <p:cNvSpPr/>
          <p:nvPr/>
        </p:nvSpPr>
        <p:spPr>
          <a:xfrm>
            <a:off x="7008878" y="3369618"/>
            <a:ext cx="80010" cy="80010"/>
          </a:xfrm>
          <a:prstGeom prst="ellipse">
            <a:avLst/>
          </a:prstGeom>
          <a:solidFill>
            <a:schemeClr val="accent1"/>
          </a:solidFill>
          <a:ln w="3175">
            <a:solidFill>
              <a:schemeClr val="accent1"/>
            </a:solidFill>
            <a:prstDash val="solid"/>
          </a:ln>
        </p:spPr>
      </p:sp>
      <p:sp>
        <p:nvSpPr>
          <p:cNvPr id="20" name="Calcium: electron, shell 2"/>
          <p:cNvSpPr/>
          <p:nvPr/>
        </p:nvSpPr>
        <p:spPr>
          <a:xfrm>
            <a:off x="7367724" y="3728464"/>
            <a:ext cx="80010" cy="80010"/>
          </a:xfrm>
          <a:prstGeom prst="ellipse">
            <a:avLst/>
          </a:prstGeom>
          <a:solidFill>
            <a:schemeClr val="accent1"/>
          </a:solidFill>
          <a:ln w="3175">
            <a:solidFill>
              <a:schemeClr val="accent1"/>
            </a:solidFill>
            <a:prstDash val="solid"/>
          </a:ln>
        </p:spPr>
      </p:sp>
      <p:sp>
        <p:nvSpPr>
          <p:cNvPr id="21" name="Calcium: electron, shell 2"/>
          <p:cNvSpPr/>
          <p:nvPr/>
        </p:nvSpPr>
        <p:spPr>
          <a:xfrm>
            <a:off x="7367724" y="3835910"/>
            <a:ext cx="80010" cy="80010"/>
          </a:xfrm>
          <a:prstGeom prst="ellipse">
            <a:avLst/>
          </a:prstGeom>
          <a:solidFill>
            <a:schemeClr val="accent1"/>
          </a:solidFill>
          <a:ln w="3175">
            <a:solidFill>
              <a:schemeClr val="accent1"/>
            </a:solidFill>
            <a:prstDash val="solid"/>
          </a:ln>
        </p:spPr>
      </p:sp>
      <p:sp>
        <p:nvSpPr>
          <p:cNvPr id="22" name="Calcium: electron, shell 2"/>
          <p:cNvSpPr/>
          <p:nvPr/>
        </p:nvSpPr>
        <p:spPr>
          <a:xfrm>
            <a:off x="7008878" y="4194756"/>
            <a:ext cx="80010" cy="80010"/>
          </a:xfrm>
          <a:prstGeom prst="ellipse">
            <a:avLst/>
          </a:prstGeom>
          <a:solidFill>
            <a:schemeClr val="accent1"/>
          </a:solidFill>
          <a:ln w="3175">
            <a:solidFill>
              <a:schemeClr val="accent1"/>
            </a:solidFill>
            <a:prstDash val="solid"/>
          </a:ln>
        </p:spPr>
      </p:sp>
      <p:sp>
        <p:nvSpPr>
          <p:cNvPr id="23" name="Calcium: electron, shell 2"/>
          <p:cNvSpPr/>
          <p:nvPr/>
        </p:nvSpPr>
        <p:spPr>
          <a:xfrm>
            <a:off x="6901432" y="4194756"/>
            <a:ext cx="80010" cy="80010"/>
          </a:xfrm>
          <a:prstGeom prst="ellipse">
            <a:avLst/>
          </a:prstGeom>
          <a:solidFill>
            <a:schemeClr val="accent1"/>
          </a:solidFill>
          <a:ln w="3175">
            <a:solidFill>
              <a:schemeClr val="accent1"/>
            </a:solidFill>
            <a:prstDash val="solid"/>
          </a:ln>
        </p:spPr>
      </p:sp>
      <p:sp>
        <p:nvSpPr>
          <p:cNvPr id="24" name="Calcium: electron, shell 2"/>
          <p:cNvSpPr/>
          <p:nvPr/>
        </p:nvSpPr>
        <p:spPr>
          <a:xfrm>
            <a:off x="6542586" y="3835910"/>
            <a:ext cx="80010" cy="80010"/>
          </a:xfrm>
          <a:prstGeom prst="ellipse">
            <a:avLst/>
          </a:prstGeom>
          <a:solidFill>
            <a:schemeClr val="accent1"/>
          </a:solidFill>
          <a:ln w="3175">
            <a:solidFill>
              <a:schemeClr val="accent1"/>
            </a:solidFill>
            <a:prstDash val="solid"/>
          </a:ln>
        </p:spPr>
      </p:sp>
      <p:sp>
        <p:nvSpPr>
          <p:cNvPr id="25" name="Calcium: electron, shell 2"/>
          <p:cNvSpPr/>
          <p:nvPr/>
        </p:nvSpPr>
        <p:spPr>
          <a:xfrm>
            <a:off x="6542586" y="3728464"/>
            <a:ext cx="80010" cy="80010"/>
          </a:xfrm>
          <a:prstGeom prst="ellipse">
            <a:avLst/>
          </a:prstGeom>
          <a:solidFill>
            <a:schemeClr val="accent1"/>
          </a:solidFill>
          <a:ln w="3175">
            <a:solidFill>
              <a:schemeClr val="accent1"/>
            </a:solidFill>
            <a:prstDash val="solid"/>
          </a:ln>
        </p:spPr>
      </p:sp>
      <p:sp>
        <p:nvSpPr>
          <p:cNvPr id="26" name="Calcium: electron, shell 3"/>
          <p:cNvSpPr/>
          <p:nvPr/>
        </p:nvSpPr>
        <p:spPr>
          <a:xfrm>
            <a:off x="6901363" y="3219348"/>
            <a:ext cx="80010" cy="80010"/>
          </a:xfrm>
          <a:prstGeom prst="ellipse">
            <a:avLst/>
          </a:prstGeom>
          <a:solidFill>
            <a:schemeClr val="accent1"/>
          </a:solidFill>
          <a:ln w="3175">
            <a:solidFill>
              <a:schemeClr val="accent1"/>
            </a:solidFill>
            <a:prstDash val="solid"/>
          </a:ln>
        </p:spPr>
      </p:sp>
      <p:sp>
        <p:nvSpPr>
          <p:cNvPr id="27" name="Calcium: electron, shell 3"/>
          <p:cNvSpPr/>
          <p:nvPr/>
        </p:nvSpPr>
        <p:spPr>
          <a:xfrm>
            <a:off x="7008947" y="3219348"/>
            <a:ext cx="80010" cy="80010"/>
          </a:xfrm>
          <a:prstGeom prst="ellipse">
            <a:avLst/>
          </a:prstGeom>
          <a:solidFill>
            <a:schemeClr val="accent1"/>
          </a:solidFill>
          <a:ln w="3175">
            <a:solidFill>
              <a:schemeClr val="accent1"/>
            </a:solidFill>
            <a:prstDash val="solid"/>
          </a:ln>
        </p:spPr>
      </p:sp>
      <p:sp>
        <p:nvSpPr>
          <p:cNvPr id="28" name="Calcium: electron, shell 3"/>
          <p:cNvSpPr/>
          <p:nvPr/>
        </p:nvSpPr>
        <p:spPr>
          <a:xfrm>
            <a:off x="7517994" y="3728395"/>
            <a:ext cx="80010" cy="80010"/>
          </a:xfrm>
          <a:prstGeom prst="ellipse">
            <a:avLst/>
          </a:prstGeom>
          <a:solidFill>
            <a:schemeClr val="accent1"/>
          </a:solidFill>
          <a:ln w="3175">
            <a:solidFill>
              <a:schemeClr val="accent1"/>
            </a:solidFill>
            <a:prstDash val="solid"/>
          </a:ln>
        </p:spPr>
      </p:sp>
      <p:sp>
        <p:nvSpPr>
          <p:cNvPr id="29" name="Calcium: electron, shell 3"/>
          <p:cNvSpPr/>
          <p:nvPr/>
        </p:nvSpPr>
        <p:spPr>
          <a:xfrm>
            <a:off x="7517994" y="3835979"/>
            <a:ext cx="80010" cy="80010"/>
          </a:xfrm>
          <a:prstGeom prst="ellipse">
            <a:avLst/>
          </a:prstGeom>
          <a:solidFill>
            <a:schemeClr val="accent1"/>
          </a:solidFill>
          <a:ln w="3175">
            <a:solidFill>
              <a:schemeClr val="accent1"/>
            </a:solidFill>
            <a:prstDash val="solid"/>
          </a:ln>
        </p:spPr>
      </p:sp>
      <p:sp>
        <p:nvSpPr>
          <p:cNvPr id="30" name="Calcium: electron, shell 3"/>
          <p:cNvSpPr/>
          <p:nvPr/>
        </p:nvSpPr>
        <p:spPr>
          <a:xfrm>
            <a:off x="7008947" y="4345026"/>
            <a:ext cx="80010" cy="80010"/>
          </a:xfrm>
          <a:prstGeom prst="ellipse">
            <a:avLst/>
          </a:prstGeom>
          <a:solidFill>
            <a:schemeClr val="accent1"/>
          </a:solidFill>
          <a:ln w="3175">
            <a:solidFill>
              <a:schemeClr val="accent1"/>
            </a:solidFill>
            <a:prstDash val="solid"/>
          </a:ln>
        </p:spPr>
      </p:sp>
      <p:sp>
        <p:nvSpPr>
          <p:cNvPr id="31" name="Calcium: electron, shell 3"/>
          <p:cNvSpPr/>
          <p:nvPr/>
        </p:nvSpPr>
        <p:spPr>
          <a:xfrm>
            <a:off x="6901363" y="4345026"/>
            <a:ext cx="80010" cy="80010"/>
          </a:xfrm>
          <a:prstGeom prst="ellipse">
            <a:avLst/>
          </a:prstGeom>
          <a:solidFill>
            <a:schemeClr val="accent1"/>
          </a:solidFill>
          <a:ln w="3175">
            <a:solidFill>
              <a:schemeClr val="accent1"/>
            </a:solidFill>
            <a:prstDash val="solid"/>
          </a:ln>
        </p:spPr>
      </p:sp>
      <p:sp>
        <p:nvSpPr>
          <p:cNvPr id="32" name="Calcium: electron, shell 3"/>
          <p:cNvSpPr/>
          <p:nvPr/>
        </p:nvSpPr>
        <p:spPr>
          <a:xfrm>
            <a:off x="6392316" y="3835979"/>
            <a:ext cx="80010" cy="80010"/>
          </a:xfrm>
          <a:prstGeom prst="ellipse">
            <a:avLst/>
          </a:prstGeom>
          <a:solidFill>
            <a:schemeClr val="accent1"/>
          </a:solidFill>
          <a:ln w="3175">
            <a:solidFill>
              <a:schemeClr val="accent1"/>
            </a:solidFill>
            <a:prstDash val="solid"/>
          </a:ln>
        </p:spPr>
      </p:sp>
      <p:sp>
        <p:nvSpPr>
          <p:cNvPr id="33" name="Calcium: electron, shell 3"/>
          <p:cNvSpPr/>
          <p:nvPr/>
        </p:nvSpPr>
        <p:spPr>
          <a:xfrm>
            <a:off x="6392316" y="3728395"/>
            <a:ext cx="80010" cy="80010"/>
          </a:xfrm>
          <a:prstGeom prst="ellipse">
            <a:avLst/>
          </a:prstGeom>
          <a:solidFill>
            <a:schemeClr val="accent1"/>
          </a:solidFill>
          <a:ln w="3175">
            <a:solidFill>
              <a:schemeClr val="accent1"/>
            </a:solidFill>
            <a:prstDash val="solid"/>
          </a:ln>
        </p:spPr>
      </p:sp>
      <p:sp>
        <p:nvSpPr>
          <p:cNvPr id="34" name="Calcium: electron, shell 4"/>
          <p:cNvSpPr/>
          <p:nvPr/>
        </p:nvSpPr>
        <p:spPr>
          <a:xfrm>
            <a:off x="6955155" y="3067431"/>
            <a:ext cx="80010" cy="80010"/>
          </a:xfrm>
          <a:prstGeom prst="ellipse">
            <a:avLst/>
          </a:prstGeom>
          <a:solidFill>
            <a:schemeClr val="accent1"/>
          </a:solidFill>
          <a:ln w="3175">
            <a:solidFill>
              <a:schemeClr val="accent1"/>
            </a:solidFill>
            <a:prstDash val="solid"/>
          </a:ln>
        </p:spPr>
      </p:sp>
      <p:sp>
        <p:nvSpPr>
          <p:cNvPr id="35" name="Calcium: electron, shell 4"/>
          <p:cNvSpPr/>
          <p:nvPr/>
        </p:nvSpPr>
        <p:spPr>
          <a:xfrm>
            <a:off x="7669911" y="3782187"/>
            <a:ext cx="80010" cy="80010"/>
          </a:xfrm>
          <a:prstGeom prst="ellipse">
            <a:avLst/>
          </a:prstGeom>
          <a:solidFill>
            <a:schemeClr val="accent1"/>
          </a:solidFill>
          <a:ln w="3175">
            <a:solidFill>
              <a:schemeClr val="accent1"/>
            </a:solidFill>
            <a:prstDash val="solid"/>
          </a:ln>
        </p:spPr>
      </p:sp>
      <p:sp>
        <p:nvSpPr>
          <p:cNvPr id="36" name="Text 33"/>
          <p:cNvSpPr txBox="1"/>
          <p:nvPr/>
        </p:nvSpPr>
        <p:spPr>
          <a:xfrm>
            <a:off x="4389120" y="3886200"/>
            <a:ext cx="1737360" cy="457200"/>
          </a:xfrm>
          <a:prstGeom prst="rect">
            <a:avLst/>
          </a:prstGeom>
          <a:noFill/>
          <a:ln/>
        </p:spPr>
        <p:txBody>
          <a:bodyPr wrap="square" lIns="0" tIns="0" rIns="0" bIns="0" rtlCol="0" anchor="t"/>
          <a:lstStyle/>
          <a:p>
            <a:pPr algn="r" indent="0" marL="0">
              <a:buNone/>
            </a:pPr>
            <a:r>
              <a:rPr lang="en-US" sz="1100" dirty="0">
                <a:solidFill>
                  <a:schemeClr val="bg2"/>
                </a:solidFill>
              </a:rPr>
              <a:t>Calcium uses all four shells.</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le Li"/>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Li</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Electron filler: missions</a:t>
            </a:r>
            <a:endParaRPr lang="en-US" sz="2800" dirty="0"/>
          </a:p>
        </p:txBody>
      </p:sp>
      <p:sp>
        <p:nvSpPr>
          <p:cNvPr id="8" name="Text 6"/>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Each time you add an electron, the atom also gains a proton, so it becomes the next element. Lock in the element for each mission.</a:t>
            </a:r>
            <a:endParaRPr lang="en-US" sz="1300" dirty="0"/>
          </a:p>
        </p:txBody>
      </p:sp>
      <p:sp>
        <p:nvSpPr>
          <p:cNvPr id="9" name="Mission 1"/>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0" name="Text 8"/>
          <p:cNvSpPr txBox="1"/>
          <p:nvPr/>
        </p:nvSpPr>
        <p:spPr>
          <a:xfrm>
            <a:off x="566928"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1</a:t>
            </a:r>
            <a:endParaRPr lang="en-US" sz="1200" dirty="0"/>
          </a:p>
        </p:txBody>
      </p:sp>
      <p:sp>
        <p:nvSpPr>
          <p:cNvPr id="11" name="Text 9"/>
          <p:cNvSpPr txBox="1"/>
          <p:nvPr/>
        </p:nvSpPr>
        <p:spPr>
          <a:xfrm>
            <a:off x="566928"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Fill shell 1 completely. Which element is that?</a:t>
            </a:r>
            <a:endParaRPr lang="en-US" sz="1100" dirty="0"/>
          </a:p>
        </p:txBody>
      </p:sp>
      <p:sp>
        <p:nvSpPr>
          <p:cNvPr id="12" name="Text 10"/>
          <p:cNvSpPr txBox="1"/>
          <p:nvPr/>
        </p:nvSpPr>
        <p:spPr>
          <a:xfrm>
            <a:off x="457200" y="2880360"/>
            <a:ext cx="1554480" cy="109728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13" name="Mission 2"/>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4" name="Text 12"/>
          <p:cNvSpPr txBox="1"/>
          <p:nvPr/>
        </p:nvSpPr>
        <p:spPr>
          <a:xfrm>
            <a:off x="2231136"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2</a:t>
            </a:r>
            <a:endParaRPr lang="en-US" sz="1200" dirty="0"/>
          </a:p>
        </p:txBody>
      </p:sp>
      <p:sp>
        <p:nvSpPr>
          <p:cNvPr id="15" name="Text 13"/>
          <p:cNvSpPr txBox="1"/>
          <p:nvPr/>
        </p:nvSpPr>
        <p:spPr>
          <a:xfrm>
            <a:off x="2231136"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Find the first element with an electron in shell 2.</a:t>
            </a:r>
            <a:endParaRPr lang="en-US" sz="1100" dirty="0"/>
          </a:p>
        </p:txBody>
      </p:sp>
      <p:sp>
        <p:nvSpPr>
          <p:cNvPr id="16" name="Text 14"/>
          <p:cNvSpPr txBox="1"/>
          <p:nvPr/>
        </p:nvSpPr>
        <p:spPr>
          <a:xfrm>
            <a:off x="2121408" y="2880360"/>
            <a:ext cx="1554480" cy="109728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17" name="Mission 3"/>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8" name="Text 16"/>
          <p:cNvSpPr txBox="1"/>
          <p:nvPr/>
        </p:nvSpPr>
        <p:spPr>
          <a:xfrm>
            <a:off x="3895344"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3</a:t>
            </a:r>
            <a:endParaRPr lang="en-US" sz="1200" dirty="0"/>
          </a:p>
        </p:txBody>
      </p:sp>
      <p:sp>
        <p:nvSpPr>
          <p:cNvPr id="19" name="Text 17"/>
          <p:cNvSpPr txBox="1"/>
          <p:nvPr/>
        </p:nvSpPr>
        <p:spPr>
          <a:xfrm>
            <a:off x="3895344"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Fill shell 2 completely. Which element is that?</a:t>
            </a:r>
            <a:endParaRPr lang="en-US" sz="1100" dirty="0"/>
          </a:p>
        </p:txBody>
      </p:sp>
      <p:sp>
        <p:nvSpPr>
          <p:cNvPr id="20" name="Text 18"/>
          <p:cNvSpPr txBox="1"/>
          <p:nvPr/>
        </p:nvSpPr>
        <p:spPr>
          <a:xfrm>
            <a:off x="3785616" y="2880360"/>
            <a:ext cx="1554480" cy="109728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1" name="Mission 4"/>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2" name="Text 20"/>
          <p:cNvSpPr txBox="1"/>
          <p:nvPr/>
        </p:nvSpPr>
        <p:spPr>
          <a:xfrm>
            <a:off x="5559552"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4</a:t>
            </a:r>
            <a:endParaRPr lang="en-US" sz="1200" dirty="0"/>
          </a:p>
        </p:txBody>
      </p:sp>
      <p:sp>
        <p:nvSpPr>
          <p:cNvPr id="23" name="Text 21"/>
          <p:cNvSpPr txBox="1"/>
          <p:nvPr/>
        </p:nvSpPr>
        <p:spPr>
          <a:xfrm>
            <a:off x="5559552"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Find the first element with an electron in shell 3.</a:t>
            </a:r>
            <a:endParaRPr lang="en-US" sz="1100" dirty="0"/>
          </a:p>
        </p:txBody>
      </p:sp>
      <p:sp>
        <p:nvSpPr>
          <p:cNvPr id="24" name="Text 22"/>
          <p:cNvSpPr txBox="1"/>
          <p:nvPr/>
        </p:nvSpPr>
        <p:spPr>
          <a:xfrm>
            <a:off x="5449824" y="2880360"/>
            <a:ext cx="1554480" cy="109728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5" name="Mission 5"/>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6" name="Text 24"/>
          <p:cNvSpPr txBox="1"/>
          <p:nvPr/>
        </p:nvSpPr>
        <p:spPr>
          <a:xfrm>
            <a:off x="7223760"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5</a:t>
            </a:r>
            <a:endParaRPr lang="en-US" sz="1200" dirty="0"/>
          </a:p>
        </p:txBody>
      </p:sp>
      <p:sp>
        <p:nvSpPr>
          <p:cNvPr id="27" name="Text 25"/>
          <p:cNvSpPr txBox="1"/>
          <p:nvPr/>
        </p:nvSpPr>
        <p:spPr>
          <a:xfrm>
            <a:off x="7223760"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Find the last element before shell 4 starts.</a:t>
            </a:r>
            <a:endParaRPr lang="en-US" sz="1100" dirty="0"/>
          </a:p>
        </p:txBody>
      </p:sp>
      <p:sp>
        <p:nvSpPr>
          <p:cNvPr id="28" name="Text 26"/>
          <p:cNvSpPr txBox="1"/>
          <p:nvPr/>
        </p:nvSpPr>
        <p:spPr>
          <a:xfrm>
            <a:off x="7114032" y="2880360"/>
            <a:ext cx="1554480" cy="109728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le Li"/>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Li</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Electron filler: missions</a:t>
            </a:r>
            <a:endParaRPr lang="en-US" sz="2800" dirty="0"/>
          </a:p>
        </p:txBody>
      </p:sp>
      <p:sp>
        <p:nvSpPr>
          <p:cNvPr id="9" name="Text 7"/>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Each time you add an electron, the atom also gains a proton, so it becomes the next element. Lock in the element for each mission.</a:t>
            </a:r>
            <a:endParaRPr lang="en-US" sz="1300" dirty="0"/>
          </a:p>
        </p:txBody>
      </p:sp>
      <p:sp>
        <p:nvSpPr>
          <p:cNvPr id="10" name="Mission 1"/>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1" name="Text 9"/>
          <p:cNvSpPr txBox="1"/>
          <p:nvPr/>
        </p:nvSpPr>
        <p:spPr>
          <a:xfrm>
            <a:off x="566928"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1</a:t>
            </a:r>
            <a:endParaRPr lang="en-US" sz="1200" dirty="0"/>
          </a:p>
        </p:txBody>
      </p:sp>
      <p:sp>
        <p:nvSpPr>
          <p:cNvPr id="12" name="Text 10"/>
          <p:cNvSpPr txBox="1"/>
          <p:nvPr/>
        </p:nvSpPr>
        <p:spPr>
          <a:xfrm>
            <a:off x="566928"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Fill shell 1 completely. Which element is that?</a:t>
            </a:r>
            <a:endParaRPr lang="en-US" sz="1100" dirty="0"/>
          </a:p>
        </p:txBody>
      </p:sp>
      <p:sp>
        <p:nvSpPr>
          <p:cNvPr id="13" name="Helium: shell 1"/>
          <p:cNvSpPr/>
          <p:nvPr/>
        </p:nvSpPr>
        <p:spPr>
          <a:xfrm>
            <a:off x="985723" y="3226003"/>
            <a:ext cx="497434" cy="497434"/>
          </a:xfrm>
          <a:prstGeom prst="ellipse">
            <a:avLst/>
          </a:prstGeom>
          <a:solidFill>
            <a:schemeClr val="bg1">
              <a:alpha val="0"/>
            </a:schemeClr>
          </a:solidFill>
          <a:ln w="15875">
            <a:solidFill>
              <a:schemeClr val="bg2">
                <a:alpha val="55000"/>
              </a:schemeClr>
            </a:solidFill>
            <a:prstDash val="solid"/>
          </a:ln>
        </p:spPr>
      </p:sp>
      <p:sp>
        <p:nvSpPr>
          <p:cNvPr id="14" name="Helium: nucleus"/>
          <p:cNvSpPr/>
          <p:nvPr/>
        </p:nvSpPr>
        <p:spPr>
          <a:xfrm>
            <a:off x="1073810" y="3314090"/>
            <a:ext cx="321259" cy="32125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5" name="Helium: electron, shell 1"/>
          <p:cNvSpPr/>
          <p:nvPr/>
        </p:nvSpPr>
        <p:spPr>
          <a:xfrm>
            <a:off x="1195578" y="3187141"/>
            <a:ext cx="77724" cy="77724"/>
          </a:xfrm>
          <a:prstGeom prst="ellipse">
            <a:avLst/>
          </a:prstGeom>
          <a:solidFill>
            <a:schemeClr val="accent1"/>
          </a:solidFill>
          <a:ln w="3175">
            <a:solidFill>
              <a:schemeClr val="accent1"/>
            </a:solidFill>
            <a:prstDash val="solid"/>
          </a:ln>
        </p:spPr>
      </p:sp>
      <p:sp>
        <p:nvSpPr>
          <p:cNvPr id="16" name="Helium: electron, shell 1"/>
          <p:cNvSpPr/>
          <p:nvPr/>
        </p:nvSpPr>
        <p:spPr>
          <a:xfrm>
            <a:off x="1444295" y="3435858"/>
            <a:ext cx="77724" cy="77724"/>
          </a:xfrm>
          <a:prstGeom prst="ellipse">
            <a:avLst/>
          </a:prstGeom>
          <a:solidFill>
            <a:schemeClr val="accent1"/>
          </a:solidFill>
          <a:ln w="3175">
            <a:solidFill>
              <a:schemeClr val="accent1"/>
            </a:solidFill>
            <a:prstDash val="solid"/>
          </a:ln>
        </p:spPr>
      </p:sp>
      <p:sp>
        <p:nvSpPr>
          <p:cNvPr id="17" name="Text 15"/>
          <p:cNvSpPr txBox="1"/>
          <p:nvPr/>
        </p:nvSpPr>
        <p:spPr>
          <a:xfrm>
            <a:off x="502920" y="4023360"/>
            <a:ext cx="1463040" cy="502920"/>
          </a:xfrm>
          <a:prstGeom prst="rect">
            <a:avLst/>
          </a:prstGeom>
          <a:noFill/>
          <a:ln/>
        </p:spPr>
        <p:txBody>
          <a:bodyPr wrap="square" lIns="0" tIns="0" rIns="0" bIns="0" rtlCol="0" anchor="ctr"/>
          <a:lstStyle/>
          <a:p>
            <a:pPr algn="ctr" indent="0" marL="0">
              <a:buNone/>
            </a:pPr>
            <a:r>
              <a:rPr lang="en-US" sz="1200" b="1" dirty="0">
                <a:solidFill>
                  <a:schemeClr val="accent4"/>
                </a:solidFill>
              </a:rPr>
              <a:t>Helium</a:t>
            </a:r>
            <a:endParaRPr lang="en-US" sz="1200" dirty="0"/>
          </a:p>
          <a:p>
            <a:pPr algn="ctr" indent="0" marL="0">
              <a:buNone/>
            </a:pPr>
            <a:r>
              <a:rPr lang="en-US" sz="1200" dirty="0">
                <a:solidFill>
                  <a:schemeClr val="bg1"/>
                </a:solidFill>
              </a:rPr>
              <a:t>2</a:t>
            </a:r>
            <a:endParaRPr lang="en-US" sz="1200" dirty="0"/>
          </a:p>
        </p:txBody>
      </p:sp>
      <p:sp>
        <p:nvSpPr>
          <p:cNvPr id="18" name="Mission 2"/>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9" name="Text 17"/>
          <p:cNvSpPr txBox="1"/>
          <p:nvPr/>
        </p:nvSpPr>
        <p:spPr>
          <a:xfrm>
            <a:off x="2231136"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2</a:t>
            </a:r>
            <a:endParaRPr lang="en-US" sz="1200" dirty="0"/>
          </a:p>
        </p:txBody>
      </p:sp>
      <p:sp>
        <p:nvSpPr>
          <p:cNvPr id="20" name="Text 18"/>
          <p:cNvSpPr txBox="1"/>
          <p:nvPr/>
        </p:nvSpPr>
        <p:spPr>
          <a:xfrm>
            <a:off x="2231136"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Find the first element with an electron in shell 2.</a:t>
            </a:r>
            <a:endParaRPr lang="en-US" sz="1100" dirty="0"/>
          </a:p>
        </p:txBody>
      </p:sp>
      <p:sp>
        <p:nvSpPr>
          <p:cNvPr id="21" name="Lithium: shell 1"/>
          <p:cNvSpPr/>
          <p:nvPr/>
        </p:nvSpPr>
        <p:spPr>
          <a:xfrm>
            <a:off x="2649931" y="3226003"/>
            <a:ext cx="497434" cy="497434"/>
          </a:xfrm>
          <a:prstGeom prst="ellipse">
            <a:avLst/>
          </a:prstGeom>
          <a:solidFill>
            <a:schemeClr val="bg1">
              <a:alpha val="0"/>
            </a:schemeClr>
          </a:solidFill>
          <a:ln w="15875">
            <a:solidFill>
              <a:schemeClr val="bg2">
                <a:alpha val="55000"/>
              </a:schemeClr>
            </a:solidFill>
            <a:prstDash val="solid"/>
          </a:ln>
        </p:spPr>
      </p:sp>
      <p:sp>
        <p:nvSpPr>
          <p:cNvPr id="22" name="Lithium: shell 2"/>
          <p:cNvSpPr/>
          <p:nvPr/>
        </p:nvSpPr>
        <p:spPr>
          <a:xfrm>
            <a:off x="2494483" y="3070555"/>
            <a:ext cx="808330" cy="808330"/>
          </a:xfrm>
          <a:prstGeom prst="ellipse">
            <a:avLst/>
          </a:prstGeom>
          <a:solidFill>
            <a:schemeClr val="bg1">
              <a:alpha val="0"/>
            </a:schemeClr>
          </a:solidFill>
          <a:ln w="15875">
            <a:solidFill>
              <a:schemeClr val="bg2">
                <a:alpha val="55000"/>
              </a:schemeClr>
            </a:solidFill>
            <a:prstDash val="solid"/>
          </a:ln>
        </p:spPr>
      </p:sp>
      <p:sp>
        <p:nvSpPr>
          <p:cNvPr id="23" name="Lithium: nucleus"/>
          <p:cNvSpPr/>
          <p:nvPr/>
        </p:nvSpPr>
        <p:spPr>
          <a:xfrm>
            <a:off x="2738018" y="3314090"/>
            <a:ext cx="321259" cy="32125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4" name="Lithium: electron, shell 1"/>
          <p:cNvSpPr/>
          <p:nvPr/>
        </p:nvSpPr>
        <p:spPr>
          <a:xfrm>
            <a:off x="2859786" y="3187141"/>
            <a:ext cx="77724" cy="77724"/>
          </a:xfrm>
          <a:prstGeom prst="ellipse">
            <a:avLst/>
          </a:prstGeom>
          <a:solidFill>
            <a:schemeClr val="accent1"/>
          </a:solidFill>
          <a:ln w="3175">
            <a:solidFill>
              <a:schemeClr val="accent1"/>
            </a:solidFill>
            <a:prstDash val="solid"/>
          </a:ln>
        </p:spPr>
      </p:sp>
      <p:sp>
        <p:nvSpPr>
          <p:cNvPr id="25" name="Lithium: electron, shell 1"/>
          <p:cNvSpPr/>
          <p:nvPr/>
        </p:nvSpPr>
        <p:spPr>
          <a:xfrm>
            <a:off x="3108503" y="3435858"/>
            <a:ext cx="77724" cy="77724"/>
          </a:xfrm>
          <a:prstGeom prst="ellipse">
            <a:avLst/>
          </a:prstGeom>
          <a:solidFill>
            <a:schemeClr val="accent1"/>
          </a:solidFill>
          <a:ln w="3175">
            <a:solidFill>
              <a:schemeClr val="accent1"/>
            </a:solidFill>
            <a:prstDash val="solid"/>
          </a:ln>
        </p:spPr>
      </p:sp>
      <p:sp>
        <p:nvSpPr>
          <p:cNvPr id="26" name="Lithium: electron, shell 2"/>
          <p:cNvSpPr/>
          <p:nvPr/>
        </p:nvSpPr>
        <p:spPr>
          <a:xfrm>
            <a:off x="2859786" y="3031693"/>
            <a:ext cx="77724" cy="77724"/>
          </a:xfrm>
          <a:prstGeom prst="ellipse">
            <a:avLst/>
          </a:prstGeom>
          <a:solidFill>
            <a:schemeClr val="accent1"/>
          </a:solidFill>
          <a:ln w="3175">
            <a:solidFill>
              <a:schemeClr val="accent1"/>
            </a:solidFill>
            <a:prstDash val="solid"/>
          </a:ln>
        </p:spPr>
      </p:sp>
      <p:sp>
        <p:nvSpPr>
          <p:cNvPr id="27" name="Text 25"/>
          <p:cNvSpPr txBox="1"/>
          <p:nvPr/>
        </p:nvSpPr>
        <p:spPr>
          <a:xfrm>
            <a:off x="2167128" y="4023360"/>
            <a:ext cx="1463040" cy="502920"/>
          </a:xfrm>
          <a:prstGeom prst="rect">
            <a:avLst/>
          </a:prstGeom>
          <a:noFill/>
          <a:ln/>
        </p:spPr>
        <p:txBody>
          <a:bodyPr wrap="square" lIns="0" tIns="0" rIns="0" bIns="0" rtlCol="0" anchor="ctr"/>
          <a:lstStyle/>
          <a:p>
            <a:pPr algn="ctr" indent="0" marL="0">
              <a:buNone/>
            </a:pPr>
            <a:r>
              <a:rPr lang="en-US" sz="1200" b="1" dirty="0">
                <a:solidFill>
                  <a:schemeClr val="accent4"/>
                </a:solidFill>
              </a:rPr>
              <a:t>Lithium</a:t>
            </a:r>
            <a:endParaRPr lang="en-US" sz="1200" dirty="0"/>
          </a:p>
          <a:p>
            <a:pPr algn="ctr" indent="0" marL="0">
              <a:buNone/>
            </a:pPr>
            <a:r>
              <a:rPr lang="en-US" sz="1200" dirty="0">
                <a:solidFill>
                  <a:schemeClr val="bg1"/>
                </a:solidFill>
              </a:rPr>
              <a:t>2, 1</a:t>
            </a:r>
            <a:endParaRPr lang="en-US" sz="1200" dirty="0"/>
          </a:p>
        </p:txBody>
      </p:sp>
      <p:sp>
        <p:nvSpPr>
          <p:cNvPr id="28" name="Mission 3"/>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9" name="Text 27"/>
          <p:cNvSpPr txBox="1"/>
          <p:nvPr/>
        </p:nvSpPr>
        <p:spPr>
          <a:xfrm>
            <a:off x="3895344"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3</a:t>
            </a:r>
            <a:endParaRPr lang="en-US" sz="1200" dirty="0"/>
          </a:p>
        </p:txBody>
      </p:sp>
      <p:sp>
        <p:nvSpPr>
          <p:cNvPr id="30" name="Text 28"/>
          <p:cNvSpPr txBox="1"/>
          <p:nvPr/>
        </p:nvSpPr>
        <p:spPr>
          <a:xfrm>
            <a:off x="3895344"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Fill shell 2 completely. Which element is that?</a:t>
            </a:r>
            <a:endParaRPr lang="en-US" sz="1100" dirty="0"/>
          </a:p>
        </p:txBody>
      </p:sp>
      <p:sp>
        <p:nvSpPr>
          <p:cNvPr id="31" name="Neon: shell 1"/>
          <p:cNvSpPr/>
          <p:nvPr/>
        </p:nvSpPr>
        <p:spPr>
          <a:xfrm>
            <a:off x="4314139" y="3226003"/>
            <a:ext cx="497434" cy="497434"/>
          </a:xfrm>
          <a:prstGeom prst="ellipse">
            <a:avLst/>
          </a:prstGeom>
          <a:solidFill>
            <a:schemeClr val="bg1">
              <a:alpha val="0"/>
            </a:schemeClr>
          </a:solidFill>
          <a:ln w="15875">
            <a:solidFill>
              <a:schemeClr val="bg2">
                <a:alpha val="55000"/>
              </a:schemeClr>
            </a:solidFill>
            <a:prstDash val="solid"/>
          </a:ln>
        </p:spPr>
      </p:sp>
      <p:sp>
        <p:nvSpPr>
          <p:cNvPr id="32" name="Neon: shell 2"/>
          <p:cNvSpPr/>
          <p:nvPr/>
        </p:nvSpPr>
        <p:spPr>
          <a:xfrm>
            <a:off x="4158691" y="3070555"/>
            <a:ext cx="808330" cy="808330"/>
          </a:xfrm>
          <a:prstGeom prst="ellipse">
            <a:avLst/>
          </a:prstGeom>
          <a:solidFill>
            <a:schemeClr val="bg1">
              <a:alpha val="0"/>
            </a:schemeClr>
          </a:solidFill>
          <a:ln w="15875">
            <a:solidFill>
              <a:schemeClr val="bg2">
                <a:alpha val="55000"/>
              </a:schemeClr>
            </a:solidFill>
            <a:prstDash val="solid"/>
          </a:ln>
        </p:spPr>
      </p:sp>
      <p:sp>
        <p:nvSpPr>
          <p:cNvPr id="33" name="Neon: nucleus"/>
          <p:cNvSpPr/>
          <p:nvPr/>
        </p:nvSpPr>
        <p:spPr>
          <a:xfrm>
            <a:off x="4402226" y="3314090"/>
            <a:ext cx="321259" cy="32125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4" name="Neon: electron, shell 1"/>
          <p:cNvSpPr/>
          <p:nvPr/>
        </p:nvSpPr>
        <p:spPr>
          <a:xfrm>
            <a:off x="4523994" y="3187141"/>
            <a:ext cx="77724" cy="77724"/>
          </a:xfrm>
          <a:prstGeom prst="ellipse">
            <a:avLst/>
          </a:prstGeom>
          <a:solidFill>
            <a:schemeClr val="accent1"/>
          </a:solidFill>
          <a:ln w="3175">
            <a:solidFill>
              <a:schemeClr val="accent1"/>
            </a:solidFill>
            <a:prstDash val="solid"/>
          </a:ln>
        </p:spPr>
      </p:sp>
      <p:sp>
        <p:nvSpPr>
          <p:cNvPr id="35" name="Neon: electron, shell 1"/>
          <p:cNvSpPr/>
          <p:nvPr/>
        </p:nvSpPr>
        <p:spPr>
          <a:xfrm>
            <a:off x="4772711" y="3435858"/>
            <a:ext cx="77724" cy="77724"/>
          </a:xfrm>
          <a:prstGeom prst="ellipse">
            <a:avLst/>
          </a:prstGeom>
          <a:solidFill>
            <a:schemeClr val="accent1"/>
          </a:solidFill>
          <a:ln w="3175">
            <a:solidFill>
              <a:schemeClr val="accent1"/>
            </a:solidFill>
            <a:prstDash val="solid"/>
          </a:ln>
        </p:spPr>
      </p:sp>
      <p:sp>
        <p:nvSpPr>
          <p:cNvPr id="36" name="Neon: electron, shell 2"/>
          <p:cNvSpPr/>
          <p:nvPr/>
        </p:nvSpPr>
        <p:spPr>
          <a:xfrm>
            <a:off x="4471806" y="3035077"/>
            <a:ext cx="77724" cy="77724"/>
          </a:xfrm>
          <a:prstGeom prst="ellipse">
            <a:avLst/>
          </a:prstGeom>
          <a:solidFill>
            <a:schemeClr val="accent1"/>
          </a:solidFill>
          <a:ln w="3175">
            <a:solidFill>
              <a:schemeClr val="accent1"/>
            </a:solidFill>
            <a:prstDash val="solid"/>
          </a:ln>
        </p:spPr>
      </p:sp>
      <p:sp>
        <p:nvSpPr>
          <p:cNvPr id="37" name="Neon: electron, shell 2"/>
          <p:cNvSpPr/>
          <p:nvPr/>
        </p:nvSpPr>
        <p:spPr>
          <a:xfrm>
            <a:off x="4576182" y="3035077"/>
            <a:ext cx="77724" cy="77724"/>
          </a:xfrm>
          <a:prstGeom prst="ellipse">
            <a:avLst/>
          </a:prstGeom>
          <a:solidFill>
            <a:schemeClr val="accent1"/>
          </a:solidFill>
          <a:ln w="3175">
            <a:solidFill>
              <a:schemeClr val="accent1"/>
            </a:solidFill>
            <a:prstDash val="solid"/>
          </a:ln>
        </p:spPr>
      </p:sp>
      <p:sp>
        <p:nvSpPr>
          <p:cNvPr id="38" name="Neon: electron, shell 2"/>
          <p:cNvSpPr/>
          <p:nvPr/>
        </p:nvSpPr>
        <p:spPr>
          <a:xfrm>
            <a:off x="4924775" y="3383670"/>
            <a:ext cx="77724" cy="77724"/>
          </a:xfrm>
          <a:prstGeom prst="ellipse">
            <a:avLst/>
          </a:prstGeom>
          <a:solidFill>
            <a:schemeClr val="accent1"/>
          </a:solidFill>
          <a:ln w="3175">
            <a:solidFill>
              <a:schemeClr val="accent1"/>
            </a:solidFill>
            <a:prstDash val="solid"/>
          </a:ln>
        </p:spPr>
      </p:sp>
      <p:sp>
        <p:nvSpPr>
          <p:cNvPr id="39" name="Neon: electron, shell 2"/>
          <p:cNvSpPr/>
          <p:nvPr/>
        </p:nvSpPr>
        <p:spPr>
          <a:xfrm>
            <a:off x="4924775" y="3488046"/>
            <a:ext cx="77724" cy="77724"/>
          </a:xfrm>
          <a:prstGeom prst="ellipse">
            <a:avLst/>
          </a:prstGeom>
          <a:solidFill>
            <a:schemeClr val="accent1"/>
          </a:solidFill>
          <a:ln w="3175">
            <a:solidFill>
              <a:schemeClr val="accent1"/>
            </a:solidFill>
            <a:prstDash val="solid"/>
          </a:ln>
        </p:spPr>
      </p:sp>
      <p:sp>
        <p:nvSpPr>
          <p:cNvPr id="40" name="Neon: electron, shell 2"/>
          <p:cNvSpPr/>
          <p:nvPr/>
        </p:nvSpPr>
        <p:spPr>
          <a:xfrm>
            <a:off x="4576182" y="3836639"/>
            <a:ext cx="77724" cy="77724"/>
          </a:xfrm>
          <a:prstGeom prst="ellipse">
            <a:avLst/>
          </a:prstGeom>
          <a:solidFill>
            <a:schemeClr val="accent1"/>
          </a:solidFill>
          <a:ln w="3175">
            <a:solidFill>
              <a:schemeClr val="accent1"/>
            </a:solidFill>
            <a:prstDash val="solid"/>
          </a:ln>
        </p:spPr>
      </p:sp>
      <p:sp>
        <p:nvSpPr>
          <p:cNvPr id="41" name="Neon: electron, shell 2"/>
          <p:cNvSpPr/>
          <p:nvPr/>
        </p:nvSpPr>
        <p:spPr>
          <a:xfrm>
            <a:off x="4471806" y="3836639"/>
            <a:ext cx="77724" cy="77724"/>
          </a:xfrm>
          <a:prstGeom prst="ellipse">
            <a:avLst/>
          </a:prstGeom>
          <a:solidFill>
            <a:schemeClr val="accent1"/>
          </a:solidFill>
          <a:ln w="3175">
            <a:solidFill>
              <a:schemeClr val="accent1"/>
            </a:solidFill>
            <a:prstDash val="solid"/>
          </a:ln>
        </p:spPr>
      </p:sp>
      <p:sp>
        <p:nvSpPr>
          <p:cNvPr id="42" name="Neon: electron, shell 2"/>
          <p:cNvSpPr/>
          <p:nvPr/>
        </p:nvSpPr>
        <p:spPr>
          <a:xfrm>
            <a:off x="4123213" y="3488046"/>
            <a:ext cx="77724" cy="77724"/>
          </a:xfrm>
          <a:prstGeom prst="ellipse">
            <a:avLst/>
          </a:prstGeom>
          <a:solidFill>
            <a:schemeClr val="accent1"/>
          </a:solidFill>
          <a:ln w="3175">
            <a:solidFill>
              <a:schemeClr val="accent1"/>
            </a:solidFill>
            <a:prstDash val="solid"/>
          </a:ln>
        </p:spPr>
      </p:sp>
      <p:sp>
        <p:nvSpPr>
          <p:cNvPr id="43" name="Neon: electron, shell 2"/>
          <p:cNvSpPr/>
          <p:nvPr/>
        </p:nvSpPr>
        <p:spPr>
          <a:xfrm>
            <a:off x="4123213" y="3383670"/>
            <a:ext cx="77724" cy="77724"/>
          </a:xfrm>
          <a:prstGeom prst="ellipse">
            <a:avLst/>
          </a:prstGeom>
          <a:solidFill>
            <a:schemeClr val="accent1"/>
          </a:solidFill>
          <a:ln w="3175">
            <a:solidFill>
              <a:schemeClr val="accent1"/>
            </a:solidFill>
            <a:prstDash val="solid"/>
          </a:ln>
        </p:spPr>
      </p:sp>
      <p:sp>
        <p:nvSpPr>
          <p:cNvPr id="44" name="Text 42"/>
          <p:cNvSpPr txBox="1"/>
          <p:nvPr/>
        </p:nvSpPr>
        <p:spPr>
          <a:xfrm>
            <a:off x="3831336" y="4023360"/>
            <a:ext cx="1463040" cy="502920"/>
          </a:xfrm>
          <a:prstGeom prst="rect">
            <a:avLst/>
          </a:prstGeom>
          <a:noFill/>
          <a:ln/>
        </p:spPr>
        <p:txBody>
          <a:bodyPr wrap="square" lIns="0" tIns="0" rIns="0" bIns="0" rtlCol="0" anchor="ctr"/>
          <a:lstStyle/>
          <a:p>
            <a:pPr algn="ctr" indent="0" marL="0">
              <a:buNone/>
            </a:pPr>
            <a:r>
              <a:rPr lang="en-US" sz="1200" b="1" dirty="0">
                <a:solidFill>
                  <a:schemeClr val="accent4"/>
                </a:solidFill>
              </a:rPr>
              <a:t>Neon</a:t>
            </a:r>
            <a:endParaRPr lang="en-US" sz="1200" dirty="0"/>
          </a:p>
          <a:p>
            <a:pPr algn="ctr" indent="0" marL="0">
              <a:buNone/>
            </a:pPr>
            <a:r>
              <a:rPr lang="en-US" sz="1200" dirty="0">
                <a:solidFill>
                  <a:schemeClr val="bg1"/>
                </a:solidFill>
              </a:rPr>
              <a:t>2, 8</a:t>
            </a:r>
            <a:endParaRPr lang="en-US" sz="1200" dirty="0"/>
          </a:p>
        </p:txBody>
      </p:sp>
      <p:sp>
        <p:nvSpPr>
          <p:cNvPr id="45" name="Mission 4"/>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46" name="Text 44"/>
          <p:cNvSpPr txBox="1"/>
          <p:nvPr/>
        </p:nvSpPr>
        <p:spPr>
          <a:xfrm>
            <a:off x="5559552"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4</a:t>
            </a:r>
            <a:endParaRPr lang="en-US" sz="1200" dirty="0"/>
          </a:p>
        </p:txBody>
      </p:sp>
      <p:sp>
        <p:nvSpPr>
          <p:cNvPr id="47" name="Text 45"/>
          <p:cNvSpPr txBox="1"/>
          <p:nvPr/>
        </p:nvSpPr>
        <p:spPr>
          <a:xfrm>
            <a:off x="5559552"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Find the first element with an electron in shell 3.</a:t>
            </a:r>
            <a:endParaRPr lang="en-US" sz="1100" dirty="0"/>
          </a:p>
        </p:txBody>
      </p:sp>
      <p:sp>
        <p:nvSpPr>
          <p:cNvPr id="48" name="Sodium: shell 1"/>
          <p:cNvSpPr/>
          <p:nvPr/>
        </p:nvSpPr>
        <p:spPr>
          <a:xfrm>
            <a:off x="6011749" y="3259405"/>
            <a:ext cx="430631" cy="430631"/>
          </a:xfrm>
          <a:prstGeom prst="ellipse">
            <a:avLst/>
          </a:prstGeom>
          <a:solidFill>
            <a:schemeClr val="bg1">
              <a:alpha val="0"/>
            </a:schemeClr>
          </a:solidFill>
          <a:ln w="15875">
            <a:solidFill>
              <a:schemeClr val="bg2">
                <a:alpha val="55000"/>
              </a:schemeClr>
            </a:solidFill>
            <a:prstDash val="solid"/>
          </a:ln>
        </p:spPr>
      </p:sp>
      <p:sp>
        <p:nvSpPr>
          <p:cNvPr id="49" name="Sodium: shell 2"/>
          <p:cNvSpPr/>
          <p:nvPr/>
        </p:nvSpPr>
        <p:spPr>
          <a:xfrm>
            <a:off x="5877177" y="3124833"/>
            <a:ext cx="699775" cy="699775"/>
          </a:xfrm>
          <a:prstGeom prst="ellipse">
            <a:avLst/>
          </a:prstGeom>
          <a:solidFill>
            <a:schemeClr val="bg1">
              <a:alpha val="0"/>
            </a:schemeClr>
          </a:solidFill>
          <a:ln w="15875">
            <a:solidFill>
              <a:schemeClr val="bg2">
                <a:alpha val="55000"/>
              </a:schemeClr>
            </a:solidFill>
            <a:prstDash val="solid"/>
          </a:ln>
        </p:spPr>
      </p:sp>
      <p:sp>
        <p:nvSpPr>
          <p:cNvPr id="50" name="Sodium: shell 3"/>
          <p:cNvSpPr/>
          <p:nvPr/>
        </p:nvSpPr>
        <p:spPr>
          <a:xfrm>
            <a:off x="5751576" y="2999232"/>
            <a:ext cx="950976" cy="950976"/>
          </a:xfrm>
          <a:prstGeom prst="ellipse">
            <a:avLst/>
          </a:prstGeom>
          <a:solidFill>
            <a:schemeClr val="bg1">
              <a:alpha val="0"/>
            </a:schemeClr>
          </a:solidFill>
          <a:ln w="15875">
            <a:solidFill>
              <a:schemeClr val="bg2">
                <a:alpha val="55000"/>
              </a:schemeClr>
            </a:solidFill>
            <a:prstDash val="solid"/>
          </a:ln>
        </p:spPr>
      </p:sp>
      <p:sp>
        <p:nvSpPr>
          <p:cNvPr id="51" name="Sodium: nucleus"/>
          <p:cNvSpPr/>
          <p:nvPr/>
        </p:nvSpPr>
        <p:spPr>
          <a:xfrm>
            <a:off x="6088006" y="3335662"/>
            <a:ext cx="278116" cy="27811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52" name="Sodium: electron, shell 1"/>
          <p:cNvSpPr/>
          <p:nvPr/>
        </p:nvSpPr>
        <p:spPr>
          <a:xfrm>
            <a:off x="6193421" y="3225762"/>
            <a:ext cx="67286" cy="67286"/>
          </a:xfrm>
          <a:prstGeom prst="ellipse">
            <a:avLst/>
          </a:prstGeom>
          <a:solidFill>
            <a:schemeClr val="accent1"/>
          </a:solidFill>
          <a:ln w="3175">
            <a:solidFill>
              <a:schemeClr val="accent1"/>
            </a:solidFill>
            <a:prstDash val="solid"/>
          </a:ln>
        </p:spPr>
      </p:sp>
      <p:sp>
        <p:nvSpPr>
          <p:cNvPr id="53" name="Sodium: electron, shell 1"/>
          <p:cNvSpPr/>
          <p:nvPr/>
        </p:nvSpPr>
        <p:spPr>
          <a:xfrm>
            <a:off x="6408736" y="3441077"/>
            <a:ext cx="67286" cy="67286"/>
          </a:xfrm>
          <a:prstGeom prst="ellipse">
            <a:avLst/>
          </a:prstGeom>
          <a:solidFill>
            <a:schemeClr val="accent1"/>
          </a:solidFill>
          <a:ln w="3175">
            <a:solidFill>
              <a:schemeClr val="accent1"/>
            </a:solidFill>
            <a:prstDash val="solid"/>
          </a:ln>
        </p:spPr>
      </p:sp>
      <p:sp>
        <p:nvSpPr>
          <p:cNvPr id="54" name="Sodium: electron, shell 2"/>
          <p:cNvSpPr/>
          <p:nvPr/>
        </p:nvSpPr>
        <p:spPr>
          <a:xfrm>
            <a:off x="6148242" y="3094119"/>
            <a:ext cx="67286" cy="67286"/>
          </a:xfrm>
          <a:prstGeom prst="ellipse">
            <a:avLst/>
          </a:prstGeom>
          <a:solidFill>
            <a:schemeClr val="accent1"/>
          </a:solidFill>
          <a:ln w="3175">
            <a:solidFill>
              <a:schemeClr val="accent1"/>
            </a:solidFill>
            <a:prstDash val="solid"/>
          </a:ln>
        </p:spPr>
      </p:sp>
      <p:sp>
        <p:nvSpPr>
          <p:cNvPr id="55" name="Sodium: electron, shell 2"/>
          <p:cNvSpPr/>
          <p:nvPr/>
        </p:nvSpPr>
        <p:spPr>
          <a:xfrm>
            <a:off x="6238600" y="3094119"/>
            <a:ext cx="67286" cy="67286"/>
          </a:xfrm>
          <a:prstGeom prst="ellipse">
            <a:avLst/>
          </a:prstGeom>
          <a:solidFill>
            <a:schemeClr val="accent1"/>
          </a:solidFill>
          <a:ln w="3175">
            <a:solidFill>
              <a:schemeClr val="accent1"/>
            </a:solidFill>
            <a:prstDash val="solid"/>
          </a:ln>
        </p:spPr>
      </p:sp>
      <p:sp>
        <p:nvSpPr>
          <p:cNvPr id="56" name="Sodium: electron, shell 2"/>
          <p:cNvSpPr/>
          <p:nvPr/>
        </p:nvSpPr>
        <p:spPr>
          <a:xfrm>
            <a:off x="6540379" y="3395898"/>
            <a:ext cx="67286" cy="67286"/>
          </a:xfrm>
          <a:prstGeom prst="ellipse">
            <a:avLst/>
          </a:prstGeom>
          <a:solidFill>
            <a:schemeClr val="accent1"/>
          </a:solidFill>
          <a:ln w="3175">
            <a:solidFill>
              <a:schemeClr val="accent1"/>
            </a:solidFill>
            <a:prstDash val="solid"/>
          </a:ln>
        </p:spPr>
      </p:sp>
      <p:sp>
        <p:nvSpPr>
          <p:cNvPr id="57" name="Sodium: electron, shell 2"/>
          <p:cNvSpPr/>
          <p:nvPr/>
        </p:nvSpPr>
        <p:spPr>
          <a:xfrm>
            <a:off x="6540379" y="3486256"/>
            <a:ext cx="67286" cy="67286"/>
          </a:xfrm>
          <a:prstGeom prst="ellipse">
            <a:avLst/>
          </a:prstGeom>
          <a:solidFill>
            <a:schemeClr val="accent1"/>
          </a:solidFill>
          <a:ln w="3175">
            <a:solidFill>
              <a:schemeClr val="accent1"/>
            </a:solidFill>
            <a:prstDash val="solid"/>
          </a:ln>
        </p:spPr>
      </p:sp>
      <p:sp>
        <p:nvSpPr>
          <p:cNvPr id="58" name="Sodium: electron, shell 2"/>
          <p:cNvSpPr/>
          <p:nvPr/>
        </p:nvSpPr>
        <p:spPr>
          <a:xfrm>
            <a:off x="6238600" y="3788035"/>
            <a:ext cx="67286" cy="67286"/>
          </a:xfrm>
          <a:prstGeom prst="ellipse">
            <a:avLst/>
          </a:prstGeom>
          <a:solidFill>
            <a:schemeClr val="accent1"/>
          </a:solidFill>
          <a:ln w="3175">
            <a:solidFill>
              <a:schemeClr val="accent1"/>
            </a:solidFill>
            <a:prstDash val="solid"/>
          </a:ln>
        </p:spPr>
      </p:sp>
      <p:sp>
        <p:nvSpPr>
          <p:cNvPr id="59" name="Sodium: electron, shell 2"/>
          <p:cNvSpPr/>
          <p:nvPr/>
        </p:nvSpPr>
        <p:spPr>
          <a:xfrm>
            <a:off x="6148242" y="3788035"/>
            <a:ext cx="67286" cy="67286"/>
          </a:xfrm>
          <a:prstGeom prst="ellipse">
            <a:avLst/>
          </a:prstGeom>
          <a:solidFill>
            <a:schemeClr val="accent1"/>
          </a:solidFill>
          <a:ln w="3175">
            <a:solidFill>
              <a:schemeClr val="accent1"/>
            </a:solidFill>
            <a:prstDash val="solid"/>
          </a:ln>
        </p:spPr>
      </p:sp>
      <p:sp>
        <p:nvSpPr>
          <p:cNvPr id="60" name="Sodium: electron, shell 2"/>
          <p:cNvSpPr/>
          <p:nvPr/>
        </p:nvSpPr>
        <p:spPr>
          <a:xfrm>
            <a:off x="5846463" y="3486256"/>
            <a:ext cx="67286" cy="67286"/>
          </a:xfrm>
          <a:prstGeom prst="ellipse">
            <a:avLst/>
          </a:prstGeom>
          <a:solidFill>
            <a:schemeClr val="accent1"/>
          </a:solidFill>
          <a:ln w="3175">
            <a:solidFill>
              <a:schemeClr val="accent1"/>
            </a:solidFill>
            <a:prstDash val="solid"/>
          </a:ln>
        </p:spPr>
      </p:sp>
      <p:sp>
        <p:nvSpPr>
          <p:cNvPr id="61" name="Sodium: electron, shell 2"/>
          <p:cNvSpPr/>
          <p:nvPr/>
        </p:nvSpPr>
        <p:spPr>
          <a:xfrm>
            <a:off x="5846463" y="3395898"/>
            <a:ext cx="67286" cy="67286"/>
          </a:xfrm>
          <a:prstGeom prst="ellipse">
            <a:avLst/>
          </a:prstGeom>
          <a:solidFill>
            <a:schemeClr val="accent1"/>
          </a:solidFill>
          <a:ln w="3175">
            <a:solidFill>
              <a:schemeClr val="accent1"/>
            </a:solidFill>
            <a:prstDash val="solid"/>
          </a:ln>
        </p:spPr>
      </p:sp>
      <p:sp>
        <p:nvSpPr>
          <p:cNvPr id="62" name="Sodium: electron, shell 3"/>
          <p:cNvSpPr/>
          <p:nvPr/>
        </p:nvSpPr>
        <p:spPr>
          <a:xfrm>
            <a:off x="6193421" y="2965589"/>
            <a:ext cx="67286" cy="67286"/>
          </a:xfrm>
          <a:prstGeom prst="ellipse">
            <a:avLst/>
          </a:prstGeom>
          <a:solidFill>
            <a:schemeClr val="accent1"/>
          </a:solidFill>
          <a:ln w="3175">
            <a:solidFill>
              <a:schemeClr val="accent1"/>
            </a:solidFill>
            <a:prstDash val="solid"/>
          </a:ln>
        </p:spPr>
      </p:sp>
      <p:sp>
        <p:nvSpPr>
          <p:cNvPr id="63" name="Text 61"/>
          <p:cNvSpPr txBox="1"/>
          <p:nvPr/>
        </p:nvSpPr>
        <p:spPr>
          <a:xfrm>
            <a:off x="5495544" y="4023360"/>
            <a:ext cx="1463040" cy="502920"/>
          </a:xfrm>
          <a:prstGeom prst="rect">
            <a:avLst/>
          </a:prstGeom>
          <a:noFill/>
          <a:ln/>
        </p:spPr>
        <p:txBody>
          <a:bodyPr wrap="square" lIns="0" tIns="0" rIns="0" bIns="0" rtlCol="0" anchor="ctr"/>
          <a:lstStyle/>
          <a:p>
            <a:pPr algn="ctr" indent="0" marL="0">
              <a:buNone/>
            </a:pPr>
            <a:r>
              <a:rPr lang="en-US" sz="1200" b="1" dirty="0">
                <a:solidFill>
                  <a:schemeClr val="accent4"/>
                </a:solidFill>
              </a:rPr>
              <a:t>Sodium</a:t>
            </a:r>
            <a:endParaRPr lang="en-US" sz="1200" dirty="0"/>
          </a:p>
          <a:p>
            <a:pPr algn="ctr" indent="0" marL="0">
              <a:buNone/>
            </a:pPr>
            <a:r>
              <a:rPr lang="en-US" sz="1200" dirty="0">
                <a:solidFill>
                  <a:schemeClr val="bg1"/>
                </a:solidFill>
              </a:rPr>
              <a:t>2, 8, 1</a:t>
            </a:r>
            <a:endParaRPr lang="en-US" sz="1200" dirty="0"/>
          </a:p>
        </p:txBody>
      </p:sp>
      <p:sp>
        <p:nvSpPr>
          <p:cNvPr id="64" name="Mission 5"/>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65" name="Text 63"/>
          <p:cNvSpPr txBox="1"/>
          <p:nvPr/>
        </p:nvSpPr>
        <p:spPr>
          <a:xfrm>
            <a:off x="7223760" y="1874520"/>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Mission 5</a:t>
            </a:r>
            <a:endParaRPr lang="en-US" sz="1200" dirty="0"/>
          </a:p>
        </p:txBody>
      </p:sp>
      <p:sp>
        <p:nvSpPr>
          <p:cNvPr id="66" name="Text 64"/>
          <p:cNvSpPr txBox="1"/>
          <p:nvPr/>
        </p:nvSpPr>
        <p:spPr>
          <a:xfrm>
            <a:off x="7223760" y="2148840"/>
            <a:ext cx="1353312" cy="685800"/>
          </a:xfrm>
          <a:prstGeom prst="rect">
            <a:avLst/>
          </a:prstGeom>
          <a:noFill/>
          <a:ln/>
        </p:spPr>
        <p:txBody>
          <a:bodyPr wrap="square" lIns="0" tIns="0" rIns="0" bIns="0" rtlCol="0" anchor="t"/>
          <a:lstStyle/>
          <a:p>
            <a:pPr indent="0" marL="0">
              <a:buNone/>
            </a:pPr>
            <a:r>
              <a:rPr lang="en-US" sz="1100" dirty="0">
                <a:solidFill>
                  <a:schemeClr val="bg1"/>
                </a:solidFill>
              </a:rPr>
              <a:t>Find the last element before shell 4 starts.</a:t>
            </a:r>
            <a:endParaRPr lang="en-US" sz="1100" dirty="0"/>
          </a:p>
        </p:txBody>
      </p:sp>
      <p:sp>
        <p:nvSpPr>
          <p:cNvPr id="67" name="Argon: shell 1"/>
          <p:cNvSpPr/>
          <p:nvPr/>
        </p:nvSpPr>
        <p:spPr>
          <a:xfrm>
            <a:off x="7675957" y="3259405"/>
            <a:ext cx="430631" cy="430631"/>
          </a:xfrm>
          <a:prstGeom prst="ellipse">
            <a:avLst/>
          </a:prstGeom>
          <a:solidFill>
            <a:schemeClr val="bg1">
              <a:alpha val="0"/>
            </a:schemeClr>
          </a:solidFill>
          <a:ln w="15875">
            <a:solidFill>
              <a:schemeClr val="bg2">
                <a:alpha val="55000"/>
              </a:schemeClr>
            </a:solidFill>
            <a:prstDash val="solid"/>
          </a:ln>
        </p:spPr>
      </p:sp>
      <p:sp>
        <p:nvSpPr>
          <p:cNvPr id="68" name="Argon: shell 2"/>
          <p:cNvSpPr/>
          <p:nvPr/>
        </p:nvSpPr>
        <p:spPr>
          <a:xfrm>
            <a:off x="7541385" y="3124833"/>
            <a:ext cx="699775" cy="699775"/>
          </a:xfrm>
          <a:prstGeom prst="ellipse">
            <a:avLst/>
          </a:prstGeom>
          <a:solidFill>
            <a:schemeClr val="bg1">
              <a:alpha val="0"/>
            </a:schemeClr>
          </a:solidFill>
          <a:ln w="15875">
            <a:solidFill>
              <a:schemeClr val="bg2">
                <a:alpha val="55000"/>
              </a:schemeClr>
            </a:solidFill>
            <a:prstDash val="solid"/>
          </a:ln>
        </p:spPr>
      </p:sp>
      <p:sp>
        <p:nvSpPr>
          <p:cNvPr id="69" name="Argon: shell 3"/>
          <p:cNvSpPr/>
          <p:nvPr/>
        </p:nvSpPr>
        <p:spPr>
          <a:xfrm>
            <a:off x="7415784" y="2999232"/>
            <a:ext cx="950976" cy="950976"/>
          </a:xfrm>
          <a:prstGeom prst="ellipse">
            <a:avLst/>
          </a:prstGeom>
          <a:solidFill>
            <a:schemeClr val="bg1">
              <a:alpha val="0"/>
            </a:schemeClr>
          </a:solidFill>
          <a:ln w="15875">
            <a:solidFill>
              <a:schemeClr val="bg2">
                <a:alpha val="55000"/>
              </a:schemeClr>
            </a:solidFill>
            <a:prstDash val="solid"/>
          </a:ln>
        </p:spPr>
      </p:sp>
      <p:sp>
        <p:nvSpPr>
          <p:cNvPr id="70" name="Argon: nucleus"/>
          <p:cNvSpPr/>
          <p:nvPr/>
        </p:nvSpPr>
        <p:spPr>
          <a:xfrm>
            <a:off x="7752214" y="3335662"/>
            <a:ext cx="278116" cy="27811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71" name="Argon: electron, shell 1"/>
          <p:cNvSpPr/>
          <p:nvPr/>
        </p:nvSpPr>
        <p:spPr>
          <a:xfrm>
            <a:off x="7857629" y="3225762"/>
            <a:ext cx="67286" cy="67286"/>
          </a:xfrm>
          <a:prstGeom prst="ellipse">
            <a:avLst/>
          </a:prstGeom>
          <a:solidFill>
            <a:schemeClr val="accent1"/>
          </a:solidFill>
          <a:ln w="3175">
            <a:solidFill>
              <a:schemeClr val="accent1"/>
            </a:solidFill>
            <a:prstDash val="solid"/>
          </a:ln>
        </p:spPr>
      </p:sp>
      <p:sp>
        <p:nvSpPr>
          <p:cNvPr id="72" name="Argon: electron, shell 1"/>
          <p:cNvSpPr/>
          <p:nvPr/>
        </p:nvSpPr>
        <p:spPr>
          <a:xfrm>
            <a:off x="8072944" y="3441077"/>
            <a:ext cx="67286" cy="67286"/>
          </a:xfrm>
          <a:prstGeom prst="ellipse">
            <a:avLst/>
          </a:prstGeom>
          <a:solidFill>
            <a:schemeClr val="accent1"/>
          </a:solidFill>
          <a:ln w="3175">
            <a:solidFill>
              <a:schemeClr val="accent1"/>
            </a:solidFill>
            <a:prstDash val="solid"/>
          </a:ln>
        </p:spPr>
      </p:sp>
      <p:sp>
        <p:nvSpPr>
          <p:cNvPr id="73" name="Argon: electron, shell 2"/>
          <p:cNvSpPr/>
          <p:nvPr/>
        </p:nvSpPr>
        <p:spPr>
          <a:xfrm>
            <a:off x="7812450" y="3094119"/>
            <a:ext cx="67286" cy="67286"/>
          </a:xfrm>
          <a:prstGeom prst="ellipse">
            <a:avLst/>
          </a:prstGeom>
          <a:solidFill>
            <a:schemeClr val="accent1"/>
          </a:solidFill>
          <a:ln w="3175">
            <a:solidFill>
              <a:schemeClr val="accent1"/>
            </a:solidFill>
            <a:prstDash val="solid"/>
          </a:ln>
        </p:spPr>
      </p:sp>
      <p:sp>
        <p:nvSpPr>
          <p:cNvPr id="74" name="Argon: electron, shell 2"/>
          <p:cNvSpPr/>
          <p:nvPr/>
        </p:nvSpPr>
        <p:spPr>
          <a:xfrm>
            <a:off x="7902808" y="3094119"/>
            <a:ext cx="67286" cy="67286"/>
          </a:xfrm>
          <a:prstGeom prst="ellipse">
            <a:avLst/>
          </a:prstGeom>
          <a:solidFill>
            <a:schemeClr val="accent1"/>
          </a:solidFill>
          <a:ln w="3175">
            <a:solidFill>
              <a:schemeClr val="accent1"/>
            </a:solidFill>
            <a:prstDash val="solid"/>
          </a:ln>
        </p:spPr>
      </p:sp>
      <p:sp>
        <p:nvSpPr>
          <p:cNvPr id="75" name="Argon: electron, shell 2"/>
          <p:cNvSpPr/>
          <p:nvPr/>
        </p:nvSpPr>
        <p:spPr>
          <a:xfrm>
            <a:off x="8204587" y="3395898"/>
            <a:ext cx="67286" cy="67286"/>
          </a:xfrm>
          <a:prstGeom prst="ellipse">
            <a:avLst/>
          </a:prstGeom>
          <a:solidFill>
            <a:schemeClr val="accent1"/>
          </a:solidFill>
          <a:ln w="3175">
            <a:solidFill>
              <a:schemeClr val="accent1"/>
            </a:solidFill>
            <a:prstDash val="solid"/>
          </a:ln>
        </p:spPr>
      </p:sp>
      <p:sp>
        <p:nvSpPr>
          <p:cNvPr id="76" name="Argon: electron, shell 2"/>
          <p:cNvSpPr/>
          <p:nvPr/>
        </p:nvSpPr>
        <p:spPr>
          <a:xfrm>
            <a:off x="8204587" y="3486256"/>
            <a:ext cx="67286" cy="67286"/>
          </a:xfrm>
          <a:prstGeom prst="ellipse">
            <a:avLst/>
          </a:prstGeom>
          <a:solidFill>
            <a:schemeClr val="accent1"/>
          </a:solidFill>
          <a:ln w="3175">
            <a:solidFill>
              <a:schemeClr val="accent1"/>
            </a:solidFill>
            <a:prstDash val="solid"/>
          </a:ln>
        </p:spPr>
      </p:sp>
      <p:sp>
        <p:nvSpPr>
          <p:cNvPr id="77" name="Argon: electron, shell 2"/>
          <p:cNvSpPr/>
          <p:nvPr/>
        </p:nvSpPr>
        <p:spPr>
          <a:xfrm>
            <a:off x="7902808" y="3788035"/>
            <a:ext cx="67286" cy="67286"/>
          </a:xfrm>
          <a:prstGeom prst="ellipse">
            <a:avLst/>
          </a:prstGeom>
          <a:solidFill>
            <a:schemeClr val="accent1"/>
          </a:solidFill>
          <a:ln w="3175">
            <a:solidFill>
              <a:schemeClr val="accent1"/>
            </a:solidFill>
            <a:prstDash val="solid"/>
          </a:ln>
        </p:spPr>
      </p:sp>
      <p:sp>
        <p:nvSpPr>
          <p:cNvPr id="78" name="Argon: electron, shell 2"/>
          <p:cNvSpPr/>
          <p:nvPr/>
        </p:nvSpPr>
        <p:spPr>
          <a:xfrm>
            <a:off x="7812450" y="3788035"/>
            <a:ext cx="67286" cy="67286"/>
          </a:xfrm>
          <a:prstGeom prst="ellipse">
            <a:avLst/>
          </a:prstGeom>
          <a:solidFill>
            <a:schemeClr val="accent1"/>
          </a:solidFill>
          <a:ln w="3175">
            <a:solidFill>
              <a:schemeClr val="accent1"/>
            </a:solidFill>
            <a:prstDash val="solid"/>
          </a:ln>
        </p:spPr>
      </p:sp>
      <p:sp>
        <p:nvSpPr>
          <p:cNvPr id="79" name="Argon: electron, shell 2"/>
          <p:cNvSpPr/>
          <p:nvPr/>
        </p:nvSpPr>
        <p:spPr>
          <a:xfrm>
            <a:off x="7510671" y="3486256"/>
            <a:ext cx="67286" cy="67286"/>
          </a:xfrm>
          <a:prstGeom prst="ellipse">
            <a:avLst/>
          </a:prstGeom>
          <a:solidFill>
            <a:schemeClr val="accent1"/>
          </a:solidFill>
          <a:ln w="3175">
            <a:solidFill>
              <a:schemeClr val="accent1"/>
            </a:solidFill>
            <a:prstDash val="solid"/>
          </a:ln>
        </p:spPr>
      </p:sp>
      <p:sp>
        <p:nvSpPr>
          <p:cNvPr id="80" name="Argon: electron, shell 2"/>
          <p:cNvSpPr/>
          <p:nvPr/>
        </p:nvSpPr>
        <p:spPr>
          <a:xfrm>
            <a:off x="7510671" y="3395898"/>
            <a:ext cx="67286" cy="67286"/>
          </a:xfrm>
          <a:prstGeom prst="ellipse">
            <a:avLst/>
          </a:prstGeom>
          <a:solidFill>
            <a:schemeClr val="accent1"/>
          </a:solidFill>
          <a:ln w="3175">
            <a:solidFill>
              <a:schemeClr val="accent1"/>
            </a:solidFill>
            <a:prstDash val="solid"/>
          </a:ln>
        </p:spPr>
      </p:sp>
      <p:sp>
        <p:nvSpPr>
          <p:cNvPr id="81" name="Argon: electron, shell 3"/>
          <p:cNvSpPr/>
          <p:nvPr/>
        </p:nvSpPr>
        <p:spPr>
          <a:xfrm>
            <a:off x="7812392" y="2967746"/>
            <a:ext cx="67286" cy="67286"/>
          </a:xfrm>
          <a:prstGeom prst="ellipse">
            <a:avLst/>
          </a:prstGeom>
          <a:solidFill>
            <a:schemeClr val="accent1"/>
          </a:solidFill>
          <a:ln w="3175">
            <a:solidFill>
              <a:schemeClr val="accent1"/>
            </a:solidFill>
            <a:prstDash val="solid"/>
          </a:ln>
        </p:spPr>
      </p:sp>
      <p:sp>
        <p:nvSpPr>
          <p:cNvPr id="82" name="Argon: electron, shell 3"/>
          <p:cNvSpPr/>
          <p:nvPr/>
        </p:nvSpPr>
        <p:spPr>
          <a:xfrm>
            <a:off x="7902866" y="2967746"/>
            <a:ext cx="67286" cy="67286"/>
          </a:xfrm>
          <a:prstGeom prst="ellipse">
            <a:avLst/>
          </a:prstGeom>
          <a:solidFill>
            <a:schemeClr val="accent1"/>
          </a:solidFill>
          <a:ln w="3175">
            <a:solidFill>
              <a:schemeClr val="accent1"/>
            </a:solidFill>
            <a:prstDash val="solid"/>
          </a:ln>
        </p:spPr>
      </p:sp>
      <p:sp>
        <p:nvSpPr>
          <p:cNvPr id="83" name="Argon: electron, shell 3"/>
          <p:cNvSpPr/>
          <p:nvPr/>
        </p:nvSpPr>
        <p:spPr>
          <a:xfrm>
            <a:off x="8330960" y="3395840"/>
            <a:ext cx="67286" cy="67286"/>
          </a:xfrm>
          <a:prstGeom prst="ellipse">
            <a:avLst/>
          </a:prstGeom>
          <a:solidFill>
            <a:schemeClr val="accent1"/>
          </a:solidFill>
          <a:ln w="3175">
            <a:solidFill>
              <a:schemeClr val="accent1"/>
            </a:solidFill>
            <a:prstDash val="solid"/>
          </a:ln>
        </p:spPr>
      </p:sp>
      <p:sp>
        <p:nvSpPr>
          <p:cNvPr id="84" name="Argon: electron, shell 3"/>
          <p:cNvSpPr/>
          <p:nvPr/>
        </p:nvSpPr>
        <p:spPr>
          <a:xfrm>
            <a:off x="8330960" y="3486314"/>
            <a:ext cx="67286" cy="67286"/>
          </a:xfrm>
          <a:prstGeom prst="ellipse">
            <a:avLst/>
          </a:prstGeom>
          <a:solidFill>
            <a:schemeClr val="accent1"/>
          </a:solidFill>
          <a:ln w="3175">
            <a:solidFill>
              <a:schemeClr val="accent1"/>
            </a:solidFill>
            <a:prstDash val="solid"/>
          </a:ln>
        </p:spPr>
      </p:sp>
      <p:sp>
        <p:nvSpPr>
          <p:cNvPr id="85" name="Argon: electron, shell 3"/>
          <p:cNvSpPr/>
          <p:nvPr/>
        </p:nvSpPr>
        <p:spPr>
          <a:xfrm>
            <a:off x="7902866" y="3914408"/>
            <a:ext cx="67286" cy="67286"/>
          </a:xfrm>
          <a:prstGeom prst="ellipse">
            <a:avLst/>
          </a:prstGeom>
          <a:solidFill>
            <a:schemeClr val="accent1"/>
          </a:solidFill>
          <a:ln w="3175">
            <a:solidFill>
              <a:schemeClr val="accent1"/>
            </a:solidFill>
            <a:prstDash val="solid"/>
          </a:ln>
        </p:spPr>
      </p:sp>
      <p:sp>
        <p:nvSpPr>
          <p:cNvPr id="86" name="Argon: electron, shell 3"/>
          <p:cNvSpPr/>
          <p:nvPr/>
        </p:nvSpPr>
        <p:spPr>
          <a:xfrm>
            <a:off x="7812392" y="3914408"/>
            <a:ext cx="67286" cy="67286"/>
          </a:xfrm>
          <a:prstGeom prst="ellipse">
            <a:avLst/>
          </a:prstGeom>
          <a:solidFill>
            <a:schemeClr val="accent1"/>
          </a:solidFill>
          <a:ln w="3175">
            <a:solidFill>
              <a:schemeClr val="accent1"/>
            </a:solidFill>
            <a:prstDash val="solid"/>
          </a:ln>
        </p:spPr>
      </p:sp>
      <p:sp>
        <p:nvSpPr>
          <p:cNvPr id="87" name="Argon: electron, shell 3"/>
          <p:cNvSpPr/>
          <p:nvPr/>
        </p:nvSpPr>
        <p:spPr>
          <a:xfrm>
            <a:off x="7384298" y="3486314"/>
            <a:ext cx="67286" cy="67286"/>
          </a:xfrm>
          <a:prstGeom prst="ellipse">
            <a:avLst/>
          </a:prstGeom>
          <a:solidFill>
            <a:schemeClr val="accent1"/>
          </a:solidFill>
          <a:ln w="3175">
            <a:solidFill>
              <a:schemeClr val="accent1"/>
            </a:solidFill>
            <a:prstDash val="solid"/>
          </a:ln>
        </p:spPr>
      </p:sp>
      <p:sp>
        <p:nvSpPr>
          <p:cNvPr id="88" name="Argon: electron, shell 3"/>
          <p:cNvSpPr/>
          <p:nvPr/>
        </p:nvSpPr>
        <p:spPr>
          <a:xfrm>
            <a:off x="7384298" y="3395840"/>
            <a:ext cx="67286" cy="67286"/>
          </a:xfrm>
          <a:prstGeom prst="ellipse">
            <a:avLst/>
          </a:prstGeom>
          <a:solidFill>
            <a:schemeClr val="accent1"/>
          </a:solidFill>
          <a:ln w="3175">
            <a:solidFill>
              <a:schemeClr val="accent1"/>
            </a:solidFill>
            <a:prstDash val="solid"/>
          </a:ln>
        </p:spPr>
      </p:sp>
      <p:sp>
        <p:nvSpPr>
          <p:cNvPr id="89" name="Text 87"/>
          <p:cNvSpPr txBox="1"/>
          <p:nvPr/>
        </p:nvSpPr>
        <p:spPr>
          <a:xfrm>
            <a:off x="7159752" y="4023360"/>
            <a:ext cx="1463040" cy="502920"/>
          </a:xfrm>
          <a:prstGeom prst="rect">
            <a:avLst/>
          </a:prstGeom>
          <a:noFill/>
          <a:ln/>
        </p:spPr>
        <p:txBody>
          <a:bodyPr wrap="square" lIns="0" tIns="0" rIns="0" bIns="0" rtlCol="0" anchor="ctr"/>
          <a:lstStyle/>
          <a:p>
            <a:pPr algn="ctr" indent="0" marL="0">
              <a:buNone/>
            </a:pPr>
            <a:r>
              <a:rPr lang="en-US" sz="1200" b="1" dirty="0">
                <a:solidFill>
                  <a:schemeClr val="accent4"/>
                </a:solidFill>
              </a:rPr>
              <a:t>Argon</a:t>
            </a:r>
            <a:endParaRPr lang="en-US" sz="1200" dirty="0"/>
          </a:p>
          <a:p>
            <a:pPr algn="ctr" indent="0" marL="0">
              <a:buNone/>
            </a:pPr>
            <a:r>
              <a:rPr lang="en-US" sz="1200" dirty="0">
                <a:solidFill>
                  <a:schemeClr val="bg1"/>
                </a:solidFill>
              </a:rPr>
              <a:t>2, 8, 8</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le Li"/>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Li</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Aluminum has 13 electrons. How are they arranged in shells?</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2, 8, 3</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8, 5</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2, 11</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3, 8, 2</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le Li"/>
          <p:cNvSpPr/>
          <p:nvPr/>
        </p:nvSpPr>
        <p:spPr>
          <a:xfrm>
            <a:off x="457200" y="301752"/>
            <a:ext cx="749808" cy="841248"/>
          </a:xfrm>
          <a:prstGeom prst="roundRect">
            <a:avLst>
              <a:gd name="adj" fmla="val 12000"/>
            </a:avLst>
          </a:prstGeom>
          <a:solidFill>
            <a:srgbClr val="FF8F5E">
              <a:alpha val="30000"/>
            </a:srgbClr>
          </a:solidFill>
          <a:ln w="19050">
            <a:solidFill>
              <a:srgbClr val="FF8F5E"/>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Li</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Aluminum has 13 electrons. How are they arranged in shells?</a:t>
            </a:r>
            <a:endParaRPr lang="en-US" sz="2000" dirty="0"/>
          </a:p>
        </p:txBody>
      </p:sp>
      <p:sp>
        <p:nvSpPr>
          <p:cNvPr id="9" name="Option A"/>
          <p:cNvSpPr/>
          <p:nvPr/>
        </p:nvSpPr>
        <p:spPr>
          <a:xfrm>
            <a:off x="457200" y="1645920"/>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0" name="Text 8"/>
          <p:cNvSpPr/>
          <p:nvPr/>
        </p:nvSpPr>
        <p:spPr>
          <a:xfrm>
            <a:off x="548640" y="1719072"/>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2, 8, 3</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2"/>
                </a:solidFill>
              </a:rPr>
              <a:t>8, 5</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2, 11</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3, 8, 2</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Shell 1 takes 2, shell 2 takes 8, and the last 3 go into shell 3.</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4 of 9 · about 7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Write the electron arrangement</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A shortcut for shells</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Arrangement builder</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Calcium's arrangement</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Step through the phosphorus example</a:t>
            </a:r>
            <a:endParaRPr lang="en-US" sz="1400" dirty="0"/>
          </a:p>
        </p:txBody>
      </p:sp>
      <p:sp>
        <p:nvSpPr>
          <p:cNvPr id="19" name="Text 17"/>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5 electron arrangements correctly</a:t>
            </a:r>
            <a:endParaRPr lang="en-US" sz="1400" dirty="0"/>
          </a:p>
        </p:txBody>
      </p:sp>
      <p:sp>
        <p:nvSpPr>
          <p:cNvPr id="21" name="Text 19"/>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 shortcut for shells</a:t>
            </a:r>
            <a:endParaRPr lang="en-US" sz="2800" dirty="0"/>
          </a:p>
        </p:txBody>
      </p:sp>
      <p:sp>
        <p:nvSpPr>
          <p:cNvPr id="8" name="Text 6"/>
          <p:cNvSpPr txBox="1"/>
          <p:nvPr/>
        </p:nvSpPr>
        <p:spPr>
          <a:xfrm>
            <a:off x="457200" y="1371600"/>
            <a:ext cx="4754880" cy="1828800"/>
          </a:xfrm>
          <a:prstGeom prst="rect">
            <a:avLst/>
          </a:prstGeom>
          <a:noFill/>
          <a:ln/>
        </p:spPr>
        <p:txBody>
          <a:bodyPr wrap="square" lIns="0" tIns="0" rIns="0" bIns="0" rtlCol="0" anchor="t"/>
          <a:lstStyle/>
          <a:p>
            <a:pPr indent="0" marL="0">
              <a:spcAft>
                <a:spcPts val="800"/>
              </a:spcAft>
              <a:buNone/>
            </a:pPr>
            <a:r>
              <a:rPr lang="en-US" sz="1600" dirty="0">
                <a:solidFill>
                  <a:schemeClr val="bg1"/>
                </a:solidFill>
              </a:rPr>
              <a:t>Chemists write an </a:t>
            </a:r>
            <a:pPr indent="0" marL="0">
              <a:spcAft>
                <a:spcPts val="800"/>
              </a:spcAft>
              <a:buNone/>
            </a:pPr>
            <a:r>
              <a:rPr lang="en-US" sz="1600" b="1" dirty="0">
                <a:solidFill>
                  <a:schemeClr val="accent1"/>
                </a:solidFill>
              </a:rPr>
              <a:t>electron arrangement</a:t>
            </a:r>
            <a:pPr indent="0" marL="0">
              <a:spcAft>
                <a:spcPts val="800"/>
              </a:spcAft>
              <a:buNone/>
            </a:pPr>
            <a:r>
              <a:rPr lang="en-US" sz="1600" dirty="0">
                <a:solidFill>
                  <a:schemeClr val="bg1"/>
                </a:solidFill>
              </a:rPr>
              <a:t>: the number of electrons in each shell, from the inside out, separated by commas. Sulfur's is 2, 8, 6.</a:t>
            </a:r>
            <a:endParaRPr lang="en-US" sz="1600" dirty="0"/>
          </a:p>
          <a:p>
            <a:pPr indent="0" marL="0">
              <a:spcAft>
                <a:spcPts val="800"/>
              </a:spcAft>
              <a:buNone/>
            </a:pPr>
            <a:r>
              <a:rPr lang="en-US" sz="1600" dirty="0">
                <a:solidFill>
                  <a:schemeClr val="bg1"/>
                </a:solidFill>
              </a:rPr>
              <a:t>Step through the example to see how phosphorus gets its arrangement.</a:t>
            </a:r>
            <a:endParaRPr lang="en-US" sz="1600" dirty="0"/>
          </a:p>
        </p:txBody>
      </p:sp>
      <p:sp>
        <p:nvSpPr>
          <p:cNvPr id="9" name="Sulfur: shell 1"/>
          <p:cNvSpPr/>
          <p:nvPr/>
        </p:nvSpPr>
        <p:spPr>
          <a:xfrm>
            <a:off x="6525158" y="2273198"/>
            <a:ext cx="848563" cy="848563"/>
          </a:xfrm>
          <a:prstGeom prst="ellipse">
            <a:avLst/>
          </a:prstGeom>
          <a:solidFill>
            <a:schemeClr val="bg1">
              <a:alpha val="0"/>
            </a:schemeClr>
          </a:solidFill>
          <a:ln w="15875">
            <a:solidFill>
              <a:schemeClr val="bg2">
                <a:alpha val="55000"/>
              </a:schemeClr>
            </a:solidFill>
            <a:prstDash val="solid"/>
          </a:ln>
        </p:spPr>
      </p:sp>
      <p:sp>
        <p:nvSpPr>
          <p:cNvPr id="10" name="Sulfur: shell 2"/>
          <p:cNvSpPr/>
          <p:nvPr/>
        </p:nvSpPr>
        <p:spPr>
          <a:xfrm>
            <a:off x="6259982" y="2008022"/>
            <a:ext cx="1378915" cy="1378915"/>
          </a:xfrm>
          <a:prstGeom prst="ellipse">
            <a:avLst/>
          </a:prstGeom>
          <a:solidFill>
            <a:schemeClr val="bg1">
              <a:alpha val="0"/>
            </a:schemeClr>
          </a:solidFill>
          <a:ln w="15875">
            <a:solidFill>
              <a:schemeClr val="bg2">
                <a:alpha val="55000"/>
              </a:schemeClr>
            </a:solidFill>
            <a:prstDash val="solid"/>
          </a:ln>
        </p:spPr>
      </p:sp>
      <p:sp>
        <p:nvSpPr>
          <p:cNvPr id="11" name="Sulfur: shell 3"/>
          <p:cNvSpPr/>
          <p:nvPr/>
        </p:nvSpPr>
        <p:spPr>
          <a:xfrm>
            <a:off x="6012485" y="1760525"/>
            <a:ext cx="1873910" cy="1873910"/>
          </a:xfrm>
          <a:prstGeom prst="ellipse">
            <a:avLst/>
          </a:prstGeom>
          <a:solidFill>
            <a:schemeClr val="bg1">
              <a:alpha val="0"/>
            </a:schemeClr>
          </a:solidFill>
          <a:ln w="15875">
            <a:solidFill>
              <a:schemeClr val="bg2">
                <a:alpha val="55000"/>
              </a:schemeClr>
            </a:solidFill>
            <a:prstDash val="solid"/>
          </a:ln>
        </p:spPr>
      </p:sp>
      <p:sp>
        <p:nvSpPr>
          <p:cNvPr id="12" name="Sulfur: nucleus"/>
          <p:cNvSpPr/>
          <p:nvPr/>
        </p:nvSpPr>
        <p:spPr>
          <a:xfrm>
            <a:off x="6675425" y="2423465"/>
            <a:ext cx="548030" cy="54803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000" b="1" dirty="0">
                <a:solidFill>
                  <a:schemeClr val="bg1"/>
                </a:solidFill>
              </a:rPr>
              <a:t>16 p</a:t>
            </a:r>
            <a:pPr algn="ctr" indent="0" marL="0">
              <a:buNone/>
            </a:pPr>
            <a:r>
              <a:rPr lang="en-US" sz="1000" b="1" baseline="30000" dirty="0">
                <a:solidFill>
                  <a:schemeClr val="bg1"/>
                </a:solidFill>
              </a:rPr>
              <a:t>+</a:t>
            </a:r>
            <a:endParaRPr lang="en-US" sz="1000" dirty="0"/>
          </a:p>
          <a:p>
            <a:pPr algn="ctr" indent="0" marL="0">
              <a:buNone/>
            </a:pPr>
            <a:r>
              <a:rPr lang="en-US" sz="1000" b="1" dirty="0">
                <a:solidFill>
                  <a:schemeClr val="bg1"/>
                </a:solidFill>
              </a:rPr>
              <a:t>16 n</a:t>
            </a:r>
            <a:pPr algn="ctr" indent="0" marL="0">
              <a:buNone/>
            </a:pPr>
            <a:r>
              <a:rPr lang="en-US" sz="1000" b="1" baseline="30000" dirty="0">
                <a:solidFill>
                  <a:schemeClr val="bg1"/>
                </a:solidFill>
              </a:rPr>
              <a:t>0</a:t>
            </a:r>
            <a:endParaRPr lang="en-US" sz="1000" dirty="0"/>
          </a:p>
        </p:txBody>
      </p:sp>
      <p:sp>
        <p:nvSpPr>
          <p:cNvPr id="13" name="Sulfur: electron, shell 1"/>
          <p:cNvSpPr/>
          <p:nvPr/>
        </p:nvSpPr>
        <p:spPr>
          <a:xfrm>
            <a:off x="6883146" y="2206904"/>
            <a:ext cx="132588" cy="132588"/>
          </a:xfrm>
          <a:prstGeom prst="ellipse">
            <a:avLst/>
          </a:prstGeom>
          <a:solidFill>
            <a:schemeClr val="accent1"/>
          </a:solidFill>
          <a:ln w="3175">
            <a:solidFill>
              <a:schemeClr val="accent1"/>
            </a:solidFill>
            <a:prstDash val="solid"/>
          </a:ln>
        </p:spPr>
      </p:sp>
      <p:sp>
        <p:nvSpPr>
          <p:cNvPr id="14" name="Sulfur: electron, shell 1"/>
          <p:cNvSpPr/>
          <p:nvPr/>
        </p:nvSpPr>
        <p:spPr>
          <a:xfrm>
            <a:off x="7307428" y="2631186"/>
            <a:ext cx="132588" cy="132588"/>
          </a:xfrm>
          <a:prstGeom prst="ellipse">
            <a:avLst/>
          </a:prstGeom>
          <a:solidFill>
            <a:schemeClr val="accent1"/>
          </a:solidFill>
          <a:ln w="3175">
            <a:solidFill>
              <a:schemeClr val="accent1"/>
            </a:solidFill>
            <a:prstDash val="solid"/>
          </a:ln>
        </p:spPr>
      </p:sp>
      <p:sp>
        <p:nvSpPr>
          <p:cNvPr id="15" name="Sulfur: electron, shell 2"/>
          <p:cNvSpPr/>
          <p:nvPr/>
        </p:nvSpPr>
        <p:spPr>
          <a:xfrm>
            <a:off x="6794119" y="1947500"/>
            <a:ext cx="132588" cy="132588"/>
          </a:xfrm>
          <a:prstGeom prst="ellipse">
            <a:avLst/>
          </a:prstGeom>
          <a:solidFill>
            <a:schemeClr val="accent1"/>
          </a:solidFill>
          <a:ln w="3175">
            <a:solidFill>
              <a:schemeClr val="accent1"/>
            </a:solidFill>
            <a:prstDash val="solid"/>
          </a:ln>
        </p:spPr>
      </p:sp>
      <p:sp>
        <p:nvSpPr>
          <p:cNvPr id="16" name="Sulfur: electron, shell 2"/>
          <p:cNvSpPr/>
          <p:nvPr/>
        </p:nvSpPr>
        <p:spPr>
          <a:xfrm>
            <a:off x="6972173" y="1947500"/>
            <a:ext cx="132588" cy="132588"/>
          </a:xfrm>
          <a:prstGeom prst="ellipse">
            <a:avLst/>
          </a:prstGeom>
          <a:solidFill>
            <a:schemeClr val="accent1"/>
          </a:solidFill>
          <a:ln w="3175">
            <a:solidFill>
              <a:schemeClr val="accent1"/>
            </a:solidFill>
            <a:prstDash val="solid"/>
          </a:ln>
        </p:spPr>
      </p:sp>
      <p:sp>
        <p:nvSpPr>
          <p:cNvPr id="17" name="Sulfur: electron, shell 2"/>
          <p:cNvSpPr/>
          <p:nvPr/>
        </p:nvSpPr>
        <p:spPr>
          <a:xfrm>
            <a:off x="7566832" y="2542159"/>
            <a:ext cx="132588" cy="132588"/>
          </a:xfrm>
          <a:prstGeom prst="ellipse">
            <a:avLst/>
          </a:prstGeom>
          <a:solidFill>
            <a:schemeClr val="accent1"/>
          </a:solidFill>
          <a:ln w="3175">
            <a:solidFill>
              <a:schemeClr val="accent1"/>
            </a:solidFill>
            <a:prstDash val="solid"/>
          </a:ln>
        </p:spPr>
      </p:sp>
      <p:sp>
        <p:nvSpPr>
          <p:cNvPr id="18" name="Sulfur: electron, shell 2"/>
          <p:cNvSpPr/>
          <p:nvPr/>
        </p:nvSpPr>
        <p:spPr>
          <a:xfrm>
            <a:off x="7566832" y="2720213"/>
            <a:ext cx="132588" cy="132588"/>
          </a:xfrm>
          <a:prstGeom prst="ellipse">
            <a:avLst/>
          </a:prstGeom>
          <a:solidFill>
            <a:schemeClr val="accent1"/>
          </a:solidFill>
          <a:ln w="3175">
            <a:solidFill>
              <a:schemeClr val="accent1"/>
            </a:solidFill>
            <a:prstDash val="solid"/>
          </a:ln>
        </p:spPr>
      </p:sp>
      <p:sp>
        <p:nvSpPr>
          <p:cNvPr id="19" name="Sulfur: electron, shell 2"/>
          <p:cNvSpPr/>
          <p:nvPr/>
        </p:nvSpPr>
        <p:spPr>
          <a:xfrm>
            <a:off x="6972173" y="3314872"/>
            <a:ext cx="132588" cy="132588"/>
          </a:xfrm>
          <a:prstGeom prst="ellipse">
            <a:avLst/>
          </a:prstGeom>
          <a:solidFill>
            <a:schemeClr val="accent1"/>
          </a:solidFill>
          <a:ln w="3175">
            <a:solidFill>
              <a:schemeClr val="accent1"/>
            </a:solidFill>
            <a:prstDash val="solid"/>
          </a:ln>
        </p:spPr>
      </p:sp>
      <p:sp>
        <p:nvSpPr>
          <p:cNvPr id="20" name="Sulfur: electron, shell 2"/>
          <p:cNvSpPr/>
          <p:nvPr/>
        </p:nvSpPr>
        <p:spPr>
          <a:xfrm>
            <a:off x="6794119" y="3314872"/>
            <a:ext cx="132588" cy="132588"/>
          </a:xfrm>
          <a:prstGeom prst="ellipse">
            <a:avLst/>
          </a:prstGeom>
          <a:solidFill>
            <a:schemeClr val="accent1"/>
          </a:solidFill>
          <a:ln w="3175">
            <a:solidFill>
              <a:schemeClr val="accent1"/>
            </a:solidFill>
            <a:prstDash val="solid"/>
          </a:ln>
        </p:spPr>
      </p:sp>
      <p:sp>
        <p:nvSpPr>
          <p:cNvPr id="21" name="Sulfur: electron, shell 2"/>
          <p:cNvSpPr/>
          <p:nvPr/>
        </p:nvSpPr>
        <p:spPr>
          <a:xfrm>
            <a:off x="6199460" y="2720213"/>
            <a:ext cx="132588" cy="132588"/>
          </a:xfrm>
          <a:prstGeom prst="ellipse">
            <a:avLst/>
          </a:prstGeom>
          <a:solidFill>
            <a:schemeClr val="accent1"/>
          </a:solidFill>
          <a:ln w="3175">
            <a:solidFill>
              <a:schemeClr val="accent1"/>
            </a:solidFill>
            <a:prstDash val="solid"/>
          </a:ln>
        </p:spPr>
      </p:sp>
      <p:sp>
        <p:nvSpPr>
          <p:cNvPr id="22" name="Sulfur: electron, shell 2"/>
          <p:cNvSpPr/>
          <p:nvPr/>
        </p:nvSpPr>
        <p:spPr>
          <a:xfrm>
            <a:off x="6199460" y="2542159"/>
            <a:ext cx="132588" cy="132588"/>
          </a:xfrm>
          <a:prstGeom prst="ellipse">
            <a:avLst/>
          </a:prstGeom>
          <a:solidFill>
            <a:schemeClr val="accent1"/>
          </a:solidFill>
          <a:ln w="3175">
            <a:solidFill>
              <a:schemeClr val="accent1"/>
            </a:solidFill>
            <a:prstDash val="solid"/>
          </a:ln>
        </p:spPr>
      </p:sp>
      <p:sp>
        <p:nvSpPr>
          <p:cNvPr id="23" name="Sulfur: electron, shell 3"/>
          <p:cNvSpPr/>
          <p:nvPr/>
        </p:nvSpPr>
        <p:spPr>
          <a:xfrm>
            <a:off x="6794005" y="1698481"/>
            <a:ext cx="132588" cy="132588"/>
          </a:xfrm>
          <a:prstGeom prst="ellipse">
            <a:avLst/>
          </a:prstGeom>
          <a:solidFill>
            <a:schemeClr val="accent1"/>
          </a:solidFill>
          <a:ln w="3175">
            <a:solidFill>
              <a:schemeClr val="accent1"/>
            </a:solidFill>
            <a:prstDash val="solid"/>
          </a:ln>
        </p:spPr>
      </p:sp>
      <p:sp>
        <p:nvSpPr>
          <p:cNvPr id="24" name="Sulfur: electron, shell 3"/>
          <p:cNvSpPr/>
          <p:nvPr/>
        </p:nvSpPr>
        <p:spPr>
          <a:xfrm>
            <a:off x="6972287" y="1698481"/>
            <a:ext cx="132588" cy="132588"/>
          </a:xfrm>
          <a:prstGeom prst="ellipse">
            <a:avLst/>
          </a:prstGeom>
          <a:solidFill>
            <a:schemeClr val="accent1"/>
          </a:solidFill>
          <a:ln w="3175">
            <a:solidFill>
              <a:schemeClr val="accent1"/>
            </a:solidFill>
            <a:prstDash val="solid"/>
          </a:ln>
        </p:spPr>
      </p:sp>
      <p:sp>
        <p:nvSpPr>
          <p:cNvPr id="25" name="Sulfur: electron, shell 3"/>
          <p:cNvSpPr/>
          <p:nvPr/>
        </p:nvSpPr>
        <p:spPr>
          <a:xfrm>
            <a:off x="7815851" y="2542045"/>
            <a:ext cx="132588" cy="132588"/>
          </a:xfrm>
          <a:prstGeom prst="ellipse">
            <a:avLst/>
          </a:prstGeom>
          <a:solidFill>
            <a:schemeClr val="accent1"/>
          </a:solidFill>
          <a:ln w="3175">
            <a:solidFill>
              <a:schemeClr val="accent1"/>
            </a:solidFill>
            <a:prstDash val="solid"/>
          </a:ln>
        </p:spPr>
      </p:sp>
      <p:sp>
        <p:nvSpPr>
          <p:cNvPr id="26" name="Sulfur: electron, shell 3"/>
          <p:cNvSpPr/>
          <p:nvPr/>
        </p:nvSpPr>
        <p:spPr>
          <a:xfrm>
            <a:off x="7815851" y="2720327"/>
            <a:ext cx="132588" cy="132588"/>
          </a:xfrm>
          <a:prstGeom prst="ellipse">
            <a:avLst/>
          </a:prstGeom>
          <a:solidFill>
            <a:schemeClr val="accent1"/>
          </a:solidFill>
          <a:ln w="3175">
            <a:solidFill>
              <a:schemeClr val="accent1"/>
            </a:solidFill>
            <a:prstDash val="solid"/>
          </a:ln>
        </p:spPr>
      </p:sp>
      <p:sp>
        <p:nvSpPr>
          <p:cNvPr id="27" name="Sulfur: electron, shell 3"/>
          <p:cNvSpPr/>
          <p:nvPr/>
        </p:nvSpPr>
        <p:spPr>
          <a:xfrm>
            <a:off x="6883146" y="3568141"/>
            <a:ext cx="132588" cy="132588"/>
          </a:xfrm>
          <a:prstGeom prst="ellipse">
            <a:avLst/>
          </a:prstGeom>
          <a:solidFill>
            <a:schemeClr val="accent1"/>
          </a:solidFill>
          <a:ln w="3175">
            <a:solidFill>
              <a:schemeClr val="accent1"/>
            </a:solidFill>
            <a:prstDash val="solid"/>
          </a:ln>
        </p:spPr>
      </p:sp>
      <p:sp>
        <p:nvSpPr>
          <p:cNvPr id="28" name="Sulfur: electron, shell 3"/>
          <p:cNvSpPr/>
          <p:nvPr/>
        </p:nvSpPr>
        <p:spPr>
          <a:xfrm>
            <a:off x="5946191" y="2631186"/>
            <a:ext cx="132588" cy="132588"/>
          </a:xfrm>
          <a:prstGeom prst="ellipse">
            <a:avLst/>
          </a:prstGeom>
          <a:solidFill>
            <a:schemeClr val="accent1"/>
          </a:solidFill>
          <a:ln w="3175">
            <a:solidFill>
              <a:schemeClr val="accent1"/>
            </a:solidFill>
            <a:prstDash val="solid"/>
          </a:ln>
        </p:spPr>
      </p:sp>
      <p:sp>
        <p:nvSpPr>
          <p:cNvPr id="29" name="Text 27"/>
          <p:cNvSpPr txBox="1"/>
          <p:nvPr/>
        </p:nvSpPr>
        <p:spPr>
          <a:xfrm>
            <a:off x="5806440" y="4160520"/>
            <a:ext cx="2286000" cy="320040"/>
          </a:xfrm>
          <a:prstGeom prst="rect">
            <a:avLst/>
          </a:prstGeom>
          <a:noFill/>
          <a:ln/>
        </p:spPr>
        <p:txBody>
          <a:bodyPr wrap="square" lIns="0" tIns="0" rIns="0" bIns="0" rtlCol="0" anchor="ctr"/>
          <a:lstStyle/>
          <a:p>
            <a:pPr algn="ctr" indent="0" marL="0">
              <a:buNone/>
            </a:pPr>
            <a:r>
              <a:rPr lang="en-US" sz="1600" b="1" dirty="0">
                <a:solidFill>
                  <a:schemeClr val="bg1"/>
                </a:solidFill>
              </a:rPr>
              <a:t>Sulfur  </a:t>
            </a:r>
            <a:pPr algn="ctr" indent="0" marL="0">
              <a:buNone/>
            </a:pPr>
            <a:r>
              <a:rPr lang="en-US" sz="1600" b="1" dirty="0">
                <a:solidFill>
                  <a:schemeClr val="accent1"/>
                </a:solidFill>
              </a:rPr>
              <a:t>2, 8, 6</a:t>
            </a:r>
            <a:endParaRPr lang="en-US" sz="1600" dirty="0"/>
          </a:p>
        </p:txBody>
      </p:sp>
      <p:sp>
        <p:nvSpPr>
          <p:cNvPr id="30" name="Shell 1"/>
          <p:cNvSpPr/>
          <p:nvPr/>
        </p:nvSpPr>
        <p:spPr>
          <a:xfrm>
            <a:off x="457200" y="3246120"/>
            <a:ext cx="1463040" cy="960120"/>
          </a:xfrm>
          <a:prstGeom prst="roundRect">
            <a:avLst>
              <a:gd name="adj" fmla="val 9524"/>
            </a:avLst>
          </a:prstGeom>
          <a:solidFill>
            <a:schemeClr val="tx2"/>
          </a:solidFill>
          <a:ln w="9525">
            <a:solidFill>
              <a:schemeClr val="bg2">
                <a:alpha val="30000"/>
              </a:schemeClr>
            </a:solidFill>
            <a:prstDash val="solid"/>
          </a:ln>
        </p:spPr>
      </p:sp>
      <p:sp>
        <p:nvSpPr>
          <p:cNvPr id="31" name="Text 29"/>
          <p:cNvSpPr txBox="1"/>
          <p:nvPr/>
        </p:nvSpPr>
        <p:spPr>
          <a:xfrm>
            <a:off x="457200" y="3291840"/>
            <a:ext cx="1463040" cy="548640"/>
          </a:xfrm>
          <a:prstGeom prst="rect">
            <a:avLst/>
          </a:prstGeom>
          <a:noFill/>
          <a:ln/>
        </p:spPr>
        <p:txBody>
          <a:bodyPr wrap="square" lIns="0" tIns="0" rIns="0" bIns="0" rtlCol="0" anchor="ctr"/>
          <a:lstStyle/>
          <a:p>
            <a:pPr algn="ctr" indent="0" marL="0">
              <a:buNone/>
            </a:pPr>
            <a:r>
              <a:rPr lang="en-US" sz="3000" b="1" dirty="0">
                <a:solidFill>
                  <a:schemeClr val="accent1"/>
                </a:solidFill>
              </a:rPr>
              <a:t>2</a:t>
            </a:r>
            <a:endParaRPr lang="en-US" sz="3000" dirty="0"/>
          </a:p>
        </p:txBody>
      </p:sp>
      <p:sp>
        <p:nvSpPr>
          <p:cNvPr id="32" name="Text 30"/>
          <p:cNvSpPr txBox="1"/>
          <p:nvPr/>
        </p:nvSpPr>
        <p:spPr>
          <a:xfrm>
            <a:off x="457200" y="3840480"/>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Shell 1</a:t>
            </a:r>
            <a:endParaRPr lang="en-US" sz="1200" dirty="0"/>
          </a:p>
        </p:txBody>
      </p:sp>
      <p:sp>
        <p:nvSpPr>
          <p:cNvPr id="33" name="Shell 2"/>
          <p:cNvSpPr/>
          <p:nvPr/>
        </p:nvSpPr>
        <p:spPr>
          <a:xfrm>
            <a:off x="2057400" y="3246120"/>
            <a:ext cx="1463040" cy="960120"/>
          </a:xfrm>
          <a:prstGeom prst="roundRect">
            <a:avLst>
              <a:gd name="adj" fmla="val 9524"/>
            </a:avLst>
          </a:prstGeom>
          <a:solidFill>
            <a:schemeClr val="tx2"/>
          </a:solidFill>
          <a:ln w="9525">
            <a:solidFill>
              <a:schemeClr val="bg2">
                <a:alpha val="30000"/>
              </a:schemeClr>
            </a:solidFill>
            <a:prstDash val="solid"/>
          </a:ln>
        </p:spPr>
      </p:sp>
      <p:sp>
        <p:nvSpPr>
          <p:cNvPr id="34" name="Text 32"/>
          <p:cNvSpPr txBox="1"/>
          <p:nvPr/>
        </p:nvSpPr>
        <p:spPr>
          <a:xfrm>
            <a:off x="2057400" y="3291840"/>
            <a:ext cx="1463040" cy="548640"/>
          </a:xfrm>
          <a:prstGeom prst="rect">
            <a:avLst/>
          </a:prstGeom>
          <a:noFill/>
          <a:ln/>
        </p:spPr>
        <p:txBody>
          <a:bodyPr wrap="square" lIns="0" tIns="0" rIns="0" bIns="0" rtlCol="0" anchor="ctr"/>
          <a:lstStyle/>
          <a:p>
            <a:pPr algn="ctr" indent="0" marL="0">
              <a:buNone/>
            </a:pPr>
            <a:r>
              <a:rPr lang="en-US" sz="3000" b="1" dirty="0">
                <a:solidFill>
                  <a:schemeClr val="accent1"/>
                </a:solidFill>
              </a:rPr>
              <a:t>8</a:t>
            </a:r>
            <a:endParaRPr lang="en-US" sz="3000" dirty="0"/>
          </a:p>
        </p:txBody>
      </p:sp>
      <p:sp>
        <p:nvSpPr>
          <p:cNvPr id="35" name="Text 33"/>
          <p:cNvSpPr txBox="1"/>
          <p:nvPr/>
        </p:nvSpPr>
        <p:spPr>
          <a:xfrm>
            <a:off x="2057400" y="3840480"/>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Shell 2</a:t>
            </a:r>
            <a:endParaRPr lang="en-US" sz="1200" dirty="0"/>
          </a:p>
        </p:txBody>
      </p:sp>
      <p:sp>
        <p:nvSpPr>
          <p:cNvPr id="36" name="Shell 3"/>
          <p:cNvSpPr/>
          <p:nvPr/>
        </p:nvSpPr>
        <p:spPr>
          <a:xfrm>
            <a:off x="3657600" y="3246120"/>
            <a:ext cx="1463040" cy="960120"/>
          </a:xfrm>
          <a:prstGeom prst="roundRect">
            <a:avLst>
              <a:gd name="adj" fmla="val 9524"/>
            </a:avLst>
          </a:prstGeom>
          <a:solidFill>
            <a:schemeClr val="tx2"/>
          </a:solidFill>
          <a:ln w="9525">
            <a:solidFill>
              <a:schemeClr val="bg2">
                <a:alpha val="30000"/>
              </a:schemeClr>
            </a:solidFill>
            <a:prstDash val="solid"/>
          </a:ln>
        </p:spPr>
      </p:sp>
      <p:sp>
        <p:nvSpPr>
          <p:cNvPr id="37" name="Text 35"/>
          <p:cNvSpPr txBox="1"/>
          <p:nvPr/>
        </p:nvSpPr>
        <p:spPr>
          <a:xfrm>
            <a:off x="3657600" y="3291840"/>
            <a:ext cx="1463040" cy="548640"/>
          </a:xfrm>
          <a:prstGeom prst="rect">
            <a:avLst/>
          </a:prstGeom>
          <a:noFill/>
          <a:ln/>
        </p:spPr>
        <p:txBody>
          <a:bodyPr wrap="square" lIns="0" tIns="0" rIns="0" bIns="0" rtlCol="0" anchor="ctr"/>
          <a:lstStyle/>
          <a:p>
            <a:pPr algn="ctr" indent="0" marL="0">
              <a:buNone/>
            </a:pPr>
            <a:r>
              <a:rPr lang="en-US" sz="3000" b="1" dirty="0">
                <a:solidFill>
                  <a:schemeClr val="accent1"/>
                </a:solidFill>
              </a:rPr>
              <a:t>6</a:t>
            </a:r>
            <a:endParaRPr lang="en-US" sz="3000" dirty="0"/>
          </a:p>
        </p:txBody>
      </p:sp>
      <p:sp>
        <p:nvSpPr>
          <p:cNvPr id="38" name="Text 36"/>
          <p:cNvSpPr txBox="1"/>
          <p:nvPr/>
        </p:nvSpPr>
        <p:spPr>
          <a:xfrm>
            <a:off x="3657600" y="3840480"/>
            <a:ext cx="1463040" cy="274320"/>
          </a:xfrm>
          <a:prstGeom prst="rect">
            <a:avLst/>
          </a:prstGeom>
          <a:noFill/>
          <a:ln/>
        </p:spPr>
        <p:txBody>
          <a:bodyPr wrap="square" lIns="0" tIns="0" rIns="0" bIns="0" rtlCol="0" anchor="t"/>
          <a:lstStyle/>
          <a:p>
            <a:pPr algn="ctr" indent="0" marL="0">
              <a:buNone/>
            </a:pPr>
            <a:r>
              <a:rPr lang="en-US" sz="1200" dirty="0">
                <a:solidFill>
                  <a:schemeClr val="bg2"/>
                </a:solidFill>
              </a:rPr>
              <a:t>Shell 3</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Step through the example: phosphorus</a:t>
            </a:r>
            <a:endParaRPr lang="en-US" sz="2800" dirty="0"/>
          </a:p>
        </p:txBody>
      </p:sp>
      <p:sp>
        <p:nvSpPr>
          <p:cNvPr id="8" name="Text 6"/>
          <p:cNvSpPr/>
          <p:nvPr/>
        </p:nvSpPr>
        <p:spPr>
          <a:xfrm>
            <a:off x="457200" y="1399032"/>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Text 7"/>
          <p:cNvSpPr txBox="1"/>
          <p:nvPr/>
        </p:nvSpPr>
        <p:spPr>
          <a:xfrm>
            <a:off x="987552" y="1325880"/>
            <a:ext cx="4297680" cy="530352"/>
          </a:xfrm>
          <a:prstGeom prst="rect">
            <a:avLst/>
          </a:prstGeom>
          <a:noFill/>
          <a:ln/>
        </p:spPr>
        <p:txBody>
          <a:bodyPr wrap="square" lIns="0" tIns="0" rIns="0" bIns="0" rtlCol="0" anchor="ctr"/>
          <a:lstStyle/>
          <a:p>
            <a:pPr indent="0" marL="0">
              <a:buNone/>
            </a:pPr>
            <a:r>
              <a:rPr lang="en-US" sz="1400" dirty="0">
                <a:solidFill>
                  <a:schemeClr val="bg1"/>
                </a:solidFill>
              </a:rPr>
              <a:t>Find the number of electrons. Phosphorus has atomic number 15, so a neutral atom has 15 electrons.</a:t>
            </a:r>
            <a:endParaRPr lang="en-US" sz="1400" dirty="0"/>
          </a:p>
        </p:txBody>
      </p:sp>
      <p:sp>
        <p:nvSpPr>
          <p:cNvPr id="10" name="Text 8"/>
          <p:cNvSpPr/>
          <p:nvPr/>
        </p:nvSpPr>
        <p:spPr>
          <a:xfrm>
            <a:off x="457200" y="2039112"/>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9"/>
          <p:cNvSpPr txBox="1"/>
          <p:nvPr/>
        </p:nvSpPr>
        <p:spPr>
          <a:xfrm>
            <a:off x="987552" y="1965960"/>
            <a:ext cx="4297680" cy="530352"/>
          </a:xfrm>
          <a:prstGeom prst="rect">
            <a:avLst/>
          </a:prstGeom>
          <a:noFill/>
          <a:ln/>
        </p:spPr>
        <p:txBody>
          <a:bodyPr wrap="square" lIns="0" tIns="0" rIns="0" bIns="0" rtlCol="0" anchor="ctr"/>
          <a:lstStyle/>
          <a:p>
            <a:pPr indent="0" marL="0">
              <a:buNone/>
            </a:pPr>
            <a:r>
              <a:rPr lang="en-US" sz="1400" dirty="0">
                <a:solidFill>
                  <a:schemeClr val="bg1"/>
                </a:solidFill>
              </a:rPr>
              <a:t>Fill shell 1. It holds 2. 15 − 2 = 13 left.</a:t>
            </a:r>
            <a:endParaRPr lang="en-US" sz="1400" dirty="0"/>
          </a:p>
        </p:txBody>
      </p:sp>
      <p:sp>
        <p:nvSpPr>
          <p:cNvPr id="12" name="Text 10"/>
          <p:cNvSpPr/>
          <p:nvPr/>
        </p:nvSpPr>
        <p:spPr>
          <a:xfrm>
            <a:off x="457200" y="2679192"/>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3" name="Text 11"/>
          <p:cNvSpPr txBox="1"/>
          <p:nvPr/>
        </p:nvSpPr>
        <p:spPr>
          <a:xfrm>
            <a:off x="987552" y="2606040"/>
            <a:ext cx="4297680" cy="530352"/>
          </a:xfrm>
          <a:prstGeom prst="rect">
            <a:avLst/>
          </a:prstGeom>
          <a:noFill/>
          <a:ln/>
        </p:spPr>
        <p:txBody>
          <a:bodyPr wrap="square" lIns="0" tIns="0" rIns="0" bIns="0" rtlCol="0" anchor="ctr"/>
          <a:lstStyle/>
          <a:p>
            <a:pPr indent="0" marL="0">
              <a:buNone/>
            </a:pPr>
            <a:r>
              <a:rPr lang="en-US" sz="1400" dirty="0">
                <a:solidFill>
                  <a:schemeClr val="bg1"/>
                </a:solidFill>
              </a:rPr>
              <a:t>Fill shell 2. It holds up to 8. 13 − 8 = 5 left.</a:t>
            </a:r>
            <a:endParaRPr lang="en-US" sz="1400" dirty="0"/>
          </a:p>
        </p:txBody>
      </p:sp>
      <p:sp>
        <p:nvSpPr>
          <p:cNvPr id="14" name="Text 12"/>
          <p:cNvSpPr/>
          <p:nvPr/>
        </p:nvSpPr>
        <p:spPr>
          <a:xfrm>
            <a:off x="457200" y="3319272"/>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5" name="Text 13"/>
          <p:cNvSpPr txBox="1"/>
          <p:nvPr/>
        </p:nvSpPr>
        <p:spPr>
          <a:xfrm>
            <a:off x="987552" y="3246120"/>
            <a:ext cx="4297680" cy="530352"/>
          </a:xfrm>
          <a:prstGeom prst="rect">
            <a:avLst/>
          </a:prstGeom>
          <a:noFill/>
          <a:ln/>
        </p:spPr>
        <p:txBody>
          <a:bodyPr wrap="square" lIns="0" tIns="0" rIns="0" bIns="0" rtlCol="0" anchor="ctr"/>
          <a:lstStyle/>
          <a:p>
            <a:pPr indent="0" marL="0">
              <a:buNone/>
            </a:pPr>
            <a:r>
              <a:rPr lang="en-US" sz="1400" dirty="0">
                <a:solidFill>
                  <a:schemeClr val="bg1"/>
                </a:solidFill>
              </a:rPr>
              <a:t>Put the last 5 in shell 3. Nothing is left over.</a:t>
            </a:r>
            <a:endParaRPr lang="en-US" sz="1400" dirty="0"/>
          </a:p>
        </p:txBody>
      </p:sp>
      <p:sp>
        <p:nvSpPr>
          <p:cNvPr id="16" name="Text 14"/>
          <p:cNvSpPr/>
          <p:nvPr/>
        </p:nvSpPr>
        <p:spPr>
          <a:xfrm>
            <a:off x="457200" y="3959352"/>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7" name="Text 15"/>
          <p:cNvSpPr txBox="1"/>
          <p:nvPr/>
        </p:nvSpPr>
        <p:spPr>
          <a:xfrm>
            <a:off x="987552" y="3886200"/>
            <a:ext cx="4297680" cy="530352"/>
          </a:xfrm>
          <a:prstGeom prst="rect">
            <a:avLst/>
          </a:prstGeom>
          <a:noFill/>
          <a:ln/>
        </p:spPr>
        <p:txBody>
          <a:bodyPr wrap="square" lIns="0" tIns="0" rIns="0" bIns="0" rtlCol="0" anchor="ctr"/>
          <a:lstStyle/>
          <a:p>
            <a:pPr indent="0" marL="0">
              <a:buNone/>
            </a:pPr>
            <a:r>
              <a:rPr lang="en-US" sz="1400" dirty="0">
                <a:solidFill>
                  <a:schemeClr val="bg1"/>
                </a:solidFill>
              </a:rPr>
              <a:t>Write the shells from the inside out: </a:t>
            </a:r>
            <a:pPr indent="0" marL="0">
              <a:buNone/>
            </a:pPr>
            <a:r>
              <a:rPr lang="en-US" sz="1400" b="1" dirty="0">
                <a:solidFill>
                  <a:schemeClr val="bg1"/>
                </a:solidFill>
              </a:rPr>
              <a:t>2, 8, 5</a:t>
            </a:r>
            <a:pPr indent="0" marL="0">
              <a:buNone/>
            </a:pPr>
            <a:r>
              <a:rPr lang="en-US" sz="1400" dirty="0">
                <a:solidFill>
                  <a:schemeClr val="bg1"/>
                </a:solidFill>
              </a:rPr>
              <a:t>.</a:t>
            </a:r>
            <a:endParaRPr lang="en-US" sz="1400" dirty="0"/>
          </a:p>
        </p:txBody>
      </p:sp>
      <p:sp>
        <p:nvSpPr>
          <p:cNvPr id="18" name="Phosphorus: shell 1"/>
          <p:cNvSpPr/>
          <p:nvPr/>
        </p:nvSpPr>
        <p:spPr>
          <a:xfrm>
            <a:off x="6587338" y="2243938"/>
            <a:ext cx="907085" cy="907085"/>
          </a:xfrm>
          <a:prstGeom prst="ellipse">
            <a:avLst/>
          </a:prstGeom>
          <a:solidFill>
            <a:schemeClr val="bg1">
              <a:alpha val="0"/>
            </a:schemeClr>
          </a:solidFill>
          <a:ln w="15875">
            <a:solidFill>
              <a:schemeClr val="bg2">
                <a:alpha val="55000"/>
              </a:schemeClr>
            </a:solidFill>
            <a:prstDash val="solid"/>
          </a:ln>
        </p:spPr>
      </p:sp>
      <p:sp>
        <p:nvSpPr>
          <p:cNvPr id="19" name="Phosphorus: shell 2"/>
          <p:cNvSpPr/>
          <p:nvPr/>
        </p:nvSpPr>
        <p:spPr>
          <a:xfrm>
            <a:off x="6303874" y="1960474"/>
            <a:ext cx="1474013" cy="1474013"/>
          </a:xfrm>
          <a:prstGeom prst="ellipse">
            <a:avLst/>
          </a:prstGeom>
          <a:solidFill>
            <a:schemeClr val="bg1">
              <a:alpha val="0"/>
            </a:schemeClr>
          </a:solidFill>
          <a:ln w="15875">
            <a:solidFill>
              <a:schemeClr val="bg2">
                <a:alpha val="55000"/>
              </a:schemeClr>
            </a:solidFill>
            <a:prstDash val="solid"/>
          </a:ln>
        </p:spPr>
      </p:sp>
      <p:sp>
        <p:nvSpPr>
          <p:cNvPr id="20" name="Phosphorus: shell 3"/>
          <p:cNvSpPr/>
          <p:nvPr/>
        </p:nvSpPr>
        <p:spPr>
          <a:xfrm>
            <a:off x="6039307" y="1695907"/>
            <a:ext cx="2003146" cy="2003146"/>
          </a:xfrm>
          <a:prstGeom prst="ellipse">
            <a:avLst/>
          </a:prstGeom>
          <a:solidFill>
            <a:schemeClr val="bg1">
              <a:alpha val="0"/>
            </a:schemeClr>
          </a:solidFill>
          <a:ln w="15875">
            <a:solidFill>
              <a:schemeClr val="bg2">
                <a:alpha val="55000"/>
              </a:schemeClr>
            </a:solidFill>
            <a:prstDash val="solid"/>
          </a:ln>
        </p:spPr>
      </p:sp>
      <p:sp>
        <p:nvSpPr>
          <p:cNvPr id="21" name="Phosphorus: nucleus"/>
          <p:cNvSpPr/>
          <p:nvPr/>
        </p:nvSpPr>
        <p:spPr>
          <a:xfrm>
            <a:off x="6747967" y="2404567"/>
            <a:ext cx="585826" cy="58582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15 p</a:t>
            </a:r>
            <a:pPr algn="ctr" indent="0" marL="0">
              <a:buNone/>
            </a:pPr>
            <a:r>
              <a:rPr lang="en-US" sz="1100" b="1" baseline="30000" dirty="0">
                <a:solidFill>
                  <a:schemeClr val="bg1"/>
                </a:solidFill>
              </a:rPr>
              <a:t>+</a:t>
            </a:r>
            <a:endParaRPr lang="en-US" sz="1100" dirty="0"/>
          </a:p>
          <a:p>
            <a:pPr algn="ctr" indent="0" marL="0">
              <a:buNone/>
            </a:pPr>
            <a:r>
              <a:rPr lang="en-US" sz="1100" b="1" dirty="0">
                <a:solidFill>
                  <a:schemeClr val="bg1"/>
                </a:solidFill>
              </a:rPr>
              <a:t>16 n</a:t>
            </a:r>
            <a:pPr algn="ctr" indent="0" marL="0">
              <a:buNone/>
            </a:pPr>
            <a:r>
              <a:rPr lang="en-US" sz="1100" b="1" baseline="30000" dirty="0">
                <a:solidFill>
                  <a:schemeClr val="bg1"/>
                </a:solidFill>
              </a:rPr>
              <a:t>0</a:t>
            </a:r>
            <a:endParaRPr lang="en-US" sz="1100" dirty="0"/>
          </a:p>
        </p:txBody>
      </p:sp>
      <p:sp>
        <p:nvSpPr>
          <p:cNvPr id="22" name="Phosphorus: electron, shell 1"/>
          <p:cNvSpPr/>
          <p:nvPr/>
        </p:nvSpPr>
        <p:spPr>
          <a:xfrm>
            <a:off x="6970014" y="2173072"/>
            <a:ext cx="141732" cy="141732"/>
          </a:xfrm>
          <a:prstGeom prst="ellipse">
            <a:avLst/>
          </a:prstGeom>
          <a:solidFill>
            <a:schemeClr val="accent1"/>
          </a:solidFill>
          <a:ln w="3175">
            <a:solidFill>
              <a:schemeClr val="accent1"/>
            </a:solidFill>
            <a:prstDash val="solid"/>
          </a:ln>
        </p:spPr>
      </p:sp>
      <p:sp>
        <p:nvSpPr>
          <p:cNvPr id="23" name="Phosphorus: electron, shell 1"/>
          <p:cNvSpPr/>
          <p:nvPr/>
        </p:nvSpPr>
        <p:spPr>
          <a:xfrm>
            <a:off x="7423556" y="2626614"/>
            <a:ext cx="141732" cy="141732"/>
          </a:xfrm>
          <a:prstGeom prst="ellipse">
            <a:avLst/>
          </a:prstGeom>
          <a:solidFill>
            <a:schemeClr val="accent1"/>
          </a:solidFill>
          <a:ln w="3175">
            <a:solidFill>
              <a:schemeClr val="accent1"/>
            </a:solidFill>
            <a:prstDash val="solid"/>
          </a:ln>
        </p:spPr>
      </p:sp>
      <p:sp>
        <p:nvSpPr>
          <p:cNvPr id="24" name="Phosphorus: electron, shell 2"/>
          <p:cNvSpPr/>
          <p:nvPr/>
        </p:nvSpPr>
        <p:spPr>
          <a:xfrm>
            <a:off x="6874848" y="1895778"/>
            <a:ext cx="141732" cy="141732"/>
          </a:xfrm>
          <a:prstGeom prst="ellipse">
            <a:avLst/>
          </a:prstGeom>
          <a:solidFill>
            <a:schemeClr val="accent1"/>
          </a:solidFill>
          <a:ln w="3175">
            <a:solidFill>
              <a:schemeClr val="accent1"/>
            </a:solidFill>
            <a:prstDash val="solid"/>
          </a:ln>
        </p:spPr>
      </p:sp>
      <p:sp>
        <p:nvSpPr>
          <p:cNvPr id="25" name="Phosphorus: electron, shell 2"/>
          <p:cNvSpPr/>
          <p:nvPr/>
        </p:nvSpPr>
        <p:spPr>
          <a:xfrm>
            <a:off x="7065180" y="1895778"/>
            <a:ext cx="141732" cy="141732"/>
          </a:xfrm>
          <a:prstGeom prst="ellipse">
            <a:avLst/>
          </a:prstGeom>
          <a:solidFill>
            <a:schemeClr val="accent1"/>
          </a:solidFill>
          <a:ln w="3175">
            <a:solidFill>
              <a:schemeClr val="accent1"/>
            </a:solidFill>
            <a:prstDash val="solid"/>
          </a:ln>
        </p:spPr>
      </p:sp>
      <p:sp>
        <p:nvSpPr>
          <p:cNvPr id="26" name="Phosphorus: electron, shell 2"/>
          <p:cNvSpPr/>
          <p:nvPr/>
        </p:nvSpPr>
        <p:spPr>
          <a:xfrm>
            <a:off x="7700850" y="2531448"/>
            <a:ext cx="141732" cy="141732"/>
          </a:xfrm>
          <a:prstGeom prst="ellipse">
            <a:avLst/>
          </a:prstGeom>
          <a:solidFill>
            <a:schemeClr val="accent1"/>
          </a:solidFill>
          <a:ln w="3175">
            <a:solidFill>
              <a:schemeClr val="accent1"/>
            </a:solidFill>
            <a:prstDash val="solid"/>
          </a:ln>
        </p:spPr>
      </p:sp>
      <p:sp>
        <p:nvSpPr>
          <p:cNvPr id="27" name="Phosphorus: electron, shell 2"/>
          <p:cNvSpPr/>
          <p:nvPr/>
        </p:nvSpPr>
        <p:spPr>
          <a:xfrm>
            <a:off x="7700850" y="2721780"/>
            <a:ext cx="141732" cy="141732"/>
          </a:xfrm>
          <a:prstGeom prst="ellipse">
            <a:avLst/>
          </a:prstGeom>
          <a:solidFill>
            <a:schemeClr val="accent1"/>
          </a:solidFill>
          <a:ln w="3175">
            <a:solidFill>
              <a:schemeClr val="accent1"/>
            </a:solidFill>
            <a:prstDash val="solid"/>
          </a:ln>
        </p:spPr>
      </p:sp>
      <p:sp>
        <p:nvSpPr>
          <p:cNvPr id="28" name="Phosphorus: electron, shell 2"/>
          <p:cNvSpPr/>
          <p:nvPr/>
        </p:nvSpPr>
        <p:spPr>
          <a:xfrm>
            <a:off x="7065180" y="3357450"/>
            <a:ext cx="141732" cy="141732"/>
          </a:xfrm>
          <a:prstGeom prst="ellipse">
            <a:avLst/>
          </a:prstGeom>
          <a:solidFill>
            <a:schemeClr val="accent1"/>
          </a:solidFill>
          <a:ln w="3175">
            <a:solidFill>
              <a:schemeClr val="accent1"/>
            </a:solidFill>
            <a:prstDash val="solid"/>
          </a:ln>
        </p:spPr>
      </p:sp>
      <p:sp>
        <p:nvSpPr>
          <p:cNvPr id="29" name="Phosphorus: electron, shell 2"/>
          <p:cNvSpPr/>
          <p:nvPr/>
        </p:nvSpPr>
        <p:spPr>
          <a:xfrm>
            <a:off x="6874848" y="3357450"/>
            <a:ext cx="141732" cy="141732"/>
          </a:xfrm>
          <a:prstGeom prst="ellipse">
            <a:avLst/>
          </a:prstGeom>
          <a:solidFill>
            <a:schemeClr val="accent1"/>
          </a:solidFill>
          <a:ln w="3175">
            <a:solidFill>
              <a:schemeClr val="accent1"/>
            </a:solidFill>
            <a:prstDash val="solid"/>
          </a:ln>
        </p:spPr>
      </p:sp>
      <p:sp>
        <p:nvSpPr>
          <p:cNvPr id="30" name="Phosphorus: electron, shell 2"/>
          <p:cNvSpPr/>
          <p:nvPr/>
        </p:nvSpPr>
        <p:spPr>
          <a:xfrm>
            <a:off x="6239178" y="2721780"/>
            <a:ext cx="141732" cy="141732"/>
          </a:xfrm>
          <a:prstGeom prst="ellipse">
            <a:avLst/>
          </a:prstGeom>
          <a:solidFill>
            <a:schemeClr val="accent1"/>
          </a:solidFill>
          <a:ln w="3175">
            <a:solidFill>
              <a:schemeClr val="accent1"/>
            </a:solidFill>
            <a:prstDash val="solid"/>
          </a:ln>
        </p:spPr>
      </p:sp>
      <p:sp>
        <p:nvSpPr>
          <p:cNvPr id="31" name="Phosphorus: electron, shell 2"/>
          <p:cNvSpPr/>
          <p:nvPr/>
        </p:nvSpPr>
        <p:spPr>
          <a:xfrm>
            <a:off x="6239178" y="2531448"/>
            <a:ext cx="141732" cy="141732"/>
          </a:xfrm>
          <a:prstGeom prst="ellipse">
            <a:avLst/>
          </a:prstGeom>
          <a:solidFill>
            <a:schemeClr val="accent1"/>
          </a:solidFill>
          <a:ln w="3175">
            <a:solidFill>
              <a:schemeClr val="accent1"/>
            </a:solidFill>
            <a:prstDash val="solid"/>
          </a:ln>
        </p:spPr>
      </p:sp>
      <p:sp>
        <p:nvSpPr>
          <p:cNvPr id="32" name="Phosphorus: electron, shell 3"/>
          <p:cNvSpPr/>
          <p:nvPr/>
        </p:nvSpPr>
        <p:spPr>
          <a:xfrm>
            <a:off x="6874725" y="1629584"/>
            <a:ext cx="141732" cy="141732"/>
          </a:xfrm>
          <a:prstGeom prst="ellipse">
            <a:avLst/>
          </a:prstGeom>
          <a:solidFill>
            <a:schemeClr val="accent1"/>
          </a:solidFill>
          <a:ln w="3175">
            <a:solidFill>
              <a:schemeClr val="accent1"/>
            </a:solidFill>
            <a:prstDash val="solid"/>
          </a:ln>
        </p:spPr>
      </p:sp>
      <p:sp>
        <p:nvSpPr>
          <p:cNvPr id="33" name="Phosphorus: electron, shell 3"/>
          <p:cNvSpPr/>
          <p:nvPr/>
        </p:nvSpPr>
        <p:spPr>
          <a:xfrm>
            <a:off x="7065303" y="1629584"/>
            <a:ext cx="141732" cy="141732"/>
          </a:xfrm>
          <a:prstGeom prst="ellipse">
            <a:avLst/>
          </a:prstGeom>
          <a:solidFill>
            <a:schemeClr val="accent1"/>
          </a:solidFill>
          <a:ln w="3175">
            <a:solidFill>
              <a:schemeClr val="accent1"/>
            </a:solidFill>
            <a:prstDash val="solid"/>
          </a:ln>
        </p:spPr>
      </p:sp>
      <p:sp>
        <p:nvSpPr>
          <p:cNvPr id="34" name="Phosphorus: electron, shell 3"/>
          <p:cNvSpPr/>
          <p:nvPr/>
        </p:nvSpPr>
        <p:spPr>
          <a:xfrm>
            <a:off x="7971587" y="2626614"/>
            <a:ext cx="141732" cy="141732"/>
          </a:xfrm>
          <a:prstGeom prst="ellipse">
            <a:avLst/>
          </a:prstGeom>
          <a:solidFill>
            <a:schemeClr val="accent1"/>
          </a:solidFill>
          <a:ln w="3175">
            <a:solidFill>
              <a:schemeClr val="accent1"/>
            </a:solidFill>
            <a:prstDash val="solid"/>
          </a:ln>
        </p:spPr>
      </p:sp>
      <p:sp>
        <p:nvSpPr>
          <p:cNvPr id="35" name="Phosphorus: electron, shell 3"/>
          <p:cNvSpPr/>
          <p:nvPr/>
        </p:nvSpPr>
        <p:spPr>
          <a:xfrm>
            <a:off x="6970014" y="3628187"/>
            <a:ext cx="141732" cy="141732"/>
          </a:xfrm>
          <a:prstGeom prst="ellipse">
            <a:avLst/>
          </a:prstGeom>
          <a:solidFill>
            <a:schemeClr val="accent1"/>
          </a:solidFill>
          <a:ln w="3175">
            <a:solidFill>
              <a:schemeClr val="accent1"/>
            </a:solidFill>
            <a:prstDash val="solid"/>
          </a:ln>
        </p:spPr>
      </p:sp>
      <p:sp>
        <p:nvSpPr>
          <p:cNvPr id="36" name="Phosphorus: electron, shell 3"/>
          <p:cNvSpPr/>
          <p:nvPr/>
        </p:nvSpPr>
        <p:spPr>
          <a:xfrm>
            <a:off x="5968441" y="2626614"/>
            <a:ext cx="141732" cy="141732"/>
          </a:xfrm>
          <a:prstGeom prst="ellipse">
            <a:avLst/>
          </a:prstGeom>
          <a:solidFill>
            <a:schemeClr val="accent1"/>
          </a:solidFill>
          <a:ln w="3175">
            <a:solidFill>
              <a:schemeClr val="accent1"/>
            </a:solidFill>
            <a:prstDash val="solid"/>
          </a:ln>
        </p:spPr>
      </p:sp>
      <p:sp>
        <p:nvSpPr>
          <p:cNvPr id="37" name="Text 35"/>
          <p:cNvSpPr txBox="1"/>
          <p:nvPr/>
        </p:nvSpPr>
        <p:spPr>
          <a:xfrm>
            <a:off x="5897880" y="4251960"/>
            <a:ext cx="2286000" cy="274320"/>
          </a:xfrm>
          <a:prstGeom prst="rect">
            <a:avLst/>
          </a:prstGeom>
          <a:noFill/>
          <a:ln/>
        </p:spPr>
        <p:txBody>
          <a:bodyPr wrap="square" lIns="0" tIns="0" rIns="0" bIns="0" rtlCol="0" anchor="ctr"/>
          <a:lstStyle/>
          <a:p>
            <a:pPr algn="ctr" indent="0" marL="0">
              <a:buNone/>
            </a:pPr>
            <a:r>
              <a:rPr lang="en-US" sz="1300" dirty="0">
                <a:solidFill>
                  <a:schemeClr val="bg2"/>
                </a:solidFill>
              </a:rPr>
              <a:t>Electrons left to place: </a:t>
            </a:r>
            <a:pPr algn="ctr" indent="0" marL="0">
              <a:buNone/>
            </a:pPr>
            <a:r>
              <a:rPr lang="en-US" sz="1300" b="1" dirty="0">
                <a:solidFill>
                  <a:schemeClr val="accent1"/>
                </a:solidFill>
              </a:rPr>
              <a:t>0</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Arrangement builder</a:t>
            </a:r>
            <a:endParaRPr lang="en-US" sz="2800" dirty="0"/>
          </a:p>
        </p:txBody>
      </p:sp>
      <p:sp>
        <p:nvSpPr>
          <p:cNvPr id="8" name="Text 6"/>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Set the number of electrons in each shell for the element shown, then check. (The lesson picks random elements; here are five to try together.)</a:t>
            </a:r>
            <a:endParaRPr lang="en-US" sz="1300" dirty="0"/>
          </a:p>
        </p:txBody>
      </p:sp>
      <p:sp>
        <p:nvSpPr>
          <p:cNvPr id="9" name="Nitrogen"/>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0" name="Tile N"/>
          <p:cNvSpPr/>
          <p:nvPr/>
        </p:nvSpPr>
        <p:spPr>
          <a:xfrm>
            <a:off x="566928" y="1911096"/>
            <a:ext cx="502920" cy="548640"/>
          </a:xfrm>
          <a:prstGeom prst="roundRect">
            <a:avLst>
              <a:gd name="adj" fmla="val 12000"/>
            </a:avLst>
          </a:prstGeom>
          <a:solidFill>
            <a:srgbClr val="45C08F">
              <a:alpha val="30000"/>
            </a:srgbClr>
          </a:solidFill>
          <a:ln w="19050">
            <a:solidFill>
              <a:srgbClr val="45C08F"/>
            </a:solidFill>
            <a:prstDash val="solid"/>
          </a:ln>
        </p:spPr>
      </p:sp>
      <p:sp>
        <p:nvSpPr>
          <p:cNvPr id="11" name="Text 9"/>
          <p:cNvSpPr txBox="1"/>
          <p:nvPr/>
        </p:nvSpPr>
        <p:spPr>
          <a:xfrm>
            <a:off x="607162"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7</a:t>
            </a:r>
            <a:endParaRPr lang="en-US" sz="800" dirty="0"/>
          </a:p>
        </p:txBody>
      </p:sp>
      <p:sp>
        <p:nvSpPr>
          <p:cNvPr id="12" name="Text 10"/>
          <p:cNvSpPr txBox="1"/>
          <p:nvPr/>
        </p:nvSpPr>
        <p:spPr>
          <a:xfrm>
            <a:off x="566928"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13" name="Text 11"/>
          <p:cNvSpPr txBox="1"/>
          <p:nvPr/>
        </p:nvSpPr>
        <p:spPr>
          <a:xfrm>
            <a:off x="1133856"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Nitrogen</a:t>
            </a:r>
            <a:endParaRPr lang="en-US" sz="1200" dirty="0"/>
          </a:p>
        </p:txBody>
      </p:sp>
      <p:sp>
        <p:nvSpPr>
          <p:cNvPr id="14" name="Text 12"/>
          <p:cNvSpPr txBox="1"/>
          <p:nvPr/>
        </p:nvSpPr>
        <p:spPr>
          <a:xfrm>
            <a:off x="1133856"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7 electrons</a:t>
            </a:r>
            <a:endParaRPr lang="en-US" sz="1100" dirty="0"/>
          </a:p>
        </p:txBody>
      </p:sp>
      <p:sp>
        <p:nvSpPr>
          <p:cNvPr id="15" name="Text 13"/>
          <p:cNvSpPr/>
          <p:nvPr/>
        </p:nvSpPr>
        <p:spPr>
          <a:xfrm>
            <a:off x="548640"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16" name="Text 14"/>
          <p:cNvSpPr txBox="1"/>
          <p:nvPr/>
        </p:nvSpPr>
        <p:spPr>
          <a:xfrm>
            <a:off x="54864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17" name="Text 15"/>
          <p:cNvSpPr/>
          <p:nvPr/>
        </p:nvSpPr>
        <p:spPr>
          <a:xfrm>
            <a:off x="896112"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18" name="Text 16"/>
          <p:cNvSpPr txBox="1"/>
          <p:nvPr/>
        </p:nvSpPr>
        <p:spPr>
          <a:xfrm>
            <a:off x="89611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19" name="Text 17"/>
          <p:cNvSpPr/>
          <p:nvPr/>
        </p:nvSpPr>
        <p:spPr>
          <a:xfrm>
            <a:off x="1243584"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20" name="Text 18"/>
          <p:cNvSpPr txBox="1"/>
          <p:nvPr/>
        </p:nvSpPr>
        <p:spPr>
          <a:xfrm>
            <a:off x="124358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21" name="Text 19"/>
          <p:cNvSpPr/>
          <p:nvPr/>
        </p:nvSpPr>
        <p:spPr>
          <a:xfrm>
            <a:off x="1591056"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22" name="Text 20"/>
          <p:cNvSpPr txBox="1"/>
          <p:nvPr/>
        </p:nvSpPr>
        <p:spPr>
          <a:xfrm>
            <a:off x="159105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23" name="Text 21"/>
          <p:cNvSpPr txBox="1"/>
          <p:nvPr/>
        </p:nvSpPr>
        <p:spPr>
          <a:xfrm>
            <a:off x="457200" y="3291840"/>
            <a:ext cx="1554480" cy="100584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4" name="Silicon"/>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5" name="Tile Si"/>
          <p:cNvSpPr/>
          <p:nvPr/>
        </p:nvSpPr>
        <p:spPr>
          <a:xfrm>
            <a:off x="2231136" y="1911096"/>
            <a:ext cx="502920" cy="548640"/>
          </a:xfrm>
          <a:prstGeom prst="roundRect">
            <a:avLst>
              <a:gd name="adj" fmla="val 12000"/>
            </a:avLst>
          </a:prstGeom>
          <a:solidFill>
            <a:srgbClr val="46C7D8">
              <a:alpha val="30000"/>
            </a:srgbClr>
          </a:solidFill>
          <a:ln w="19050">
            <a:solidFill>
              <a:srgbClr val="46C7D8"/>
            </a:solidFill>
            <a:prstDash val="solid"/>
          </a:ln>
        </p:spPr>
      </p:sp>
      <p:sp>
        <p:nvSpPr>
          <p:cNvPr id="26" name="Text 24"/>
          <p:cNvSpPr txBox="1"/>
          <p:nvPr/>
        </p:nvSpPr>
        <p:spPr>
          <a:xfrm>
            <a:off x="2271370"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14</a:t>
            </a:r>
            <a:endParaRPr lang="en-US" sz="800" dirty="0"/>
          </a:p>
        </p:txBody>
      </p:sp>
      <p:sp>
        <p:nvSpPr>
          <p:cNvPr id="27" name="Text 25"/>
          <p:cNvSpPr txBox="1"/>
          <p:nvPr/>
        </p:nvSpPr>
        <p:spPr>
          <a:xfrm>
            <a:off x="2231136"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Si</a:t>
            </a:r>
            <a:endParaRPr lang="en-US" sz="2000" dirty="0"/>
          </a:p>
        </p:txBody>
      </p:sp>
      <p:sp>
        <p:nvSpPr>
          <p:cNvPr id="28" name="Text 26"/>
          <p:cNvSpPr txBox="1"/>
          <p:nvPr/>
        </p:nvSpPr>
        <p:spPr>
          <a:xfrm>
            <a:off x="2798064"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Silicon</a:t>
            </a:r>
            <a:endParaRPr lang="en-US" sz="1200" dirty="0"/>
          </a:p>
        </p:txBody>
      </p:sp>
      <p:sp>
        <p:nvSpPr>
          <p:cNvPr id="29" name="Text 27"/>
          <p:cNvSpPr txBox="1"/>
          <p:nvPr/>
        </p:nvSpPr>
        <p:spPr>
          <a:xfrm>
            <a:off x="2798064"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14 electrons</a:t>
            </a:r>
            <a:endParaRPr lang="en-US" sz="1100" dirty="0"/>
          </a:p>
        </p:txBody>
      </p:sp>
      <p:sp>
        <p:nvSpPr>
          <p:cNvPr id="30" name="Text 28"/>
          <p:cNvSpPr/>
          <p:nvPr/>
        </p:nvSpPr>
        <p:spPr>
          <a:xfrm>
            <a:off x="2212848"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31" name="Text 29"/>
          <p:cNvSpPr txBox="1"/>
          <p:nvPr/>
        </p:nvSpPr>
        <p:spPr>
          <a:xfrm>
            <a:off x="221284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32" name="Text 30"/>
          <p:cNvSpPr/>
          <p:nvPr/>
        </p:nvSpPr>
        <p:spPr>
          <a:xfrm>
            <a:off x="2560320"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33" name="Text 31"/>
          <p:cNvSpPr txBox="1"/>
          <p:nvPr/>
        </p:nvSpPr>
        <p:spPr>
          <a:xfrm>
            <a:off x="256032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34" name="Text 32"/>
          <p:cNvSpPr/>
          <p:nvPr/>
        </p:nvSpPr>
        <p:spPr>
          <a:xfrm>
            <a:off x="2907792"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35" name="Text 33"/>
          <p:cNvSpPr txBox="1"/>
          <p:nvPr/>
        </p:nvSpPr>
        <p:spPr>
          <a:xfrm>
            <a:off x="290779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36" name="Text 34"/>
          <p:cNvSpPr/>
          <p:nvPr/>
        </p:nvSpPr>
        <p:spPr>
          <a:xfrm>
            <a:off x="3255264"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37" name="Text 35"/>
          <p:cNvSpPr txBox="1"/>
          <p:nvPr/>
        </p:nvSpPr>
        <p:spPr>
          <a:xfrm>
            <a:off x="325526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38" name="Text 36"/>
          <p:cNvSpPr txBox="1"/>
          <p:nvPr/>
        </p:nvSpPr>
        <p:spPr>
          <a:xfrm>
            <a:off x="2121408" y="3291840"/>
            <a:ext cx="1554480" cy="100584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39" name="Potassium"/>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40" name="Tile K"/>
          <p:cNvSpPr/>
          <p:nvPr/>
        </p:nvSpPr>
        <p:spPr>
          <a:xfrm>
            <a:off x="3895344" y="1911096"/>
            <a:ext cx="502920" cy="548640"/>
          </a:xfrm>
          <a:prstGeom prst="roundRect">
            <a:avLst>
              <a:gd name="adj" fmla="val 12000"/>
            </a:avLst>
          </a:prstGeom>
          <a:solidFill>
            <a:srgbClr val="FF8F5E">
              <a:alpha val="30000"/>
            </a:srgbClr>
          </a:solidFill>
          <a:ln w="19050">
            <a:solidFill>
              <a:srgbClr val="FF8F5E"/>
            </a:solidFill>
            <a:prstDash val="solid"/>
          </a:ln>
        </p:spPr>
      </p:sp>
      <p:sp>
        <p:nvSpPr>
          <p:cNvPr id="41" name="Text 39"/>
          <p:cNvSpPr txBox="1"/>
          <p:nvPr/>
        </p:nvSpPr>
        <p:spPr>
          <a:xfrm>
            <a:off x="3935578"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42" name="Text 40"/>
          <p:cNvSpPr txBox="1"/>
          <p:nvPr/>
        </p:nvSpPr>
        <p:spPr>
          <a:xfrm>
            <a:off x="3895344"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43" name="Text 41"/>
          <p:cNvSpPr txBox="1"/>
          <p:nvPr/>
        </p:nvSpPr>
        <p:spPr>
          <a:xfrm>
            <a:off x="4462272"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Potassium</a:t>
            </a:r>
            <a:endParaRPr lang="en-US" sz="1200" dirty="0"/>
          </a:p>
        </p:txBody>
      </p:sp>
      <p:sp>
        <p:nvSpPr>
          <p:cNvPr id="44" name="Text 42"/>
          <p:cNvSpPr txBox="1"/>
          <p:nvPr/>
        </p:nvSpPr>
        <p:spPr>
          <a:xfrm>
            <a:off x="4462272"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19 electrons</a:t>
            </a:r>
            <a:endParaRPr lang="en-US" sz="1100" dirty="0"/>
          </a:p>
        </p:txBody>
      </p:sp>
      <p:sp>
        <p:nvSpPr>
          <p:cNvPr id="45" name="Text 43"/>
          <p:cNvSpPr/>
          <p:nvPr/>
        </p:nvSpPr>
        <p:spPr>
          <a:xfrm>
            <a:off x="3877056"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46" name="Text 44"/>
          <p:cNvSpPr txBox="1"/>
          <p:nvPr/>
        </p:nvSpPr>
        <p:spPr>
          <a:xfrm>
            <a:off x="387705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47" name="Text 45"/>
          <p:cNvSpPr/>
          <p:nvPr/>
        </p:nvSpPr>
        <p:spPr>
          <a:xfrm>
            <a:off x="4224528"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48" name="Text 46"/>
          <p:cNvSpPr txBox="1"/>
          <p:nvPr/>
        </p:nvSpPr>
        <p:spPr>
          <a:xfrm>
            <a:off x="422452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49" name="Text 47"/>
          <p:cNvSpPr/>
          <p:nvPr/>
        </p:nvSpPr>
        <p:spPr>
          <a:xfrm>
            <a:off x="4572000"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50" name="Text 48"/>
          <p:cNvSpPr txBox="1"/>
          <p:nvPr/>
        </p:nvSpPr>
        <p:spPr>
          <a:xfrm>
            <a:off x="457200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51" name="Text 49"/>
          <p:cNvSpPr/>
          <p:nvPr/>
        </p:nvSpPr>
        <p:spPr>
          <a:xfrm>
            <a:off x="4919472"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52" name="Text 50"/>
          <p:cNvSpPr txBox="1"/>
          <p:nvPr/>
        </p:nvSpPr>
        <p:spPr>
          <a:xfrm>
            <a:off x="491947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53" name="Text 51"/>
          <p:cNvSpPr txBox="1"/>
          <p:nvPr/>
        </p:nvSpPr>
        <p:spPr>
          <a:xfrm>
            <a:off x="3785616" y="3291840"/>
            <a:ext cx="1554480" cy="100584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54" name="Magnesium"/>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55" name="Tile Mg"/>
          <p:cNvSpPr/>
          <p:nvPr/>
        </p:nvSpPr>
        <p:spPr>
          <a:xfrm>
            <a:off x="5559552" y="1911096"/>
            <a:ext cx="502920" cy="548640"/>
          </a:xfrm>
          <a:prstGeom prst="roundRect">
            <a:avLst>
              <a:gd name="adj" fmla="val 12000"/>
            </a:avLst>
          </a:prstGeom>
          <a:solidFill>
            <a:srgbClr val="FFCB5C">
              <a:alpha val="30000"/>
            </a:srgbClr>
          </a:solidFill>
          <a:ln w="19050">
            <a:solidFill>
              <a:srgbClr val="FFCB5C"/>
            </a:solidFill>
            <a:prstDash val="solid"/>
          </a:ln>
        </p:spPr>
      </p:sp>
      <p:sp>
        <p:nvSpPr>
          <p:cNvPr id="56" name="Text 54"/>
          <p:cNvSpPr txBox="1"/>
          <p:nvPr/>
        </p:nvSpPr>
        <p:spPr>
          <a:xfrm>
            <a:off x="5599786"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57" name="Text 55"/>
          <p:cNvSpPr txBox="1"/>
          <p:nvPr/>
        </p:nvSpPr>
        <p:spPr>
          <a:xfrm>
            <a:off x="5559552"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58" name="Text 56"/>
          <p:cNvSpPr txBox="1"/>
          <p:nvPr/>
        </p:nvSpPr>
        <p:spPr>
          <a:xfrm>
            <a:off x="6126480"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Magnesium</a:t>
            </a:r>
            <a:endParaRPr lang="en-US" sz="1200" dirty="0"/>
          </a:p>
        </p:txBody>
      </p:sp>
      <p:sp>
        <p:nvSpPr>
          <p:cNvPr id="59" name="Text 57"/>
          <p:cNvSpPr txBox="1"/>
          <p:nvPr/>
        </p:nvSpPr>
        <p:spPr>
          <a:xfrm>
            <a:off x="6126480"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12 electrons</a:t>
            </a:r>
            <a:endParaRPr lang="en-US" sz="1100" dirty="0"/>
          </a:p>
        </p:txBody>
      </p:sp>
      <p:sp>
        <p:nvSpPr>
          <p:cNvPr id="60" name="Text 58"/>
          <p:cNvSpPr/>
          <p:nvPr/>
        </p:nvSpPr>
        <p:spPr>
          <a:xfrm>
            <a:off x="5541264"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61" name="Text 59"/>
          <p:cNvSpPr txBox="1"/>
          <p:nvPr/>
        </p:nvSpPr>
        <p:spPr>
          <a:xfrm>
            <a:off x="554126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62" name="Text 60"/>
          <p:cNvSpPr/>
          <p:nvPr/>
        </p:nvSpPr>
        <p:spPr>
          <a:xfrm>
            <a:off x="5888736"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63" name="Text 61"/>
          <p:cNvSpPr txBox="1"/>
          <p:nvPr/>
        </p:nvSpPr>
        <p:spPr>
          <a:xfrm>
            <a:off x="588873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64" name="Text 62"/>
          <p:cNvSpPr/>
          <p:nvPr/>
        </p:nvSpPr>
        <p:spPr>
          <a:xfrm>
            <a:off x="6236208"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65" name="Text 63"/>
          <p:cNvSpPr txBox="1"/>
          <p:nvPr/>
        </p:nvSpPr>
        <p:spPr>
          <a:xfrm>
            <a:off x="623620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66" name="Text 64"/>
          <p:cNvSpPr/>
          <p:nvPr/>
        </p:nvSpPr>
        <p:spPr>
          <a:xfrm>
            <a:off x="6583680"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67" name="Text 65"/>
          <p:cNvSpPr txBox="1"/>
          <p:nvPr/>
        </p:nvSpPr>
        <p:spPr>
          <a:xfrm>
            <a:off x="658368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68" name="Text 66"/>
          <p:cNvSpPr txBox="1"/>
          <p:nvPr/>
        </p:nvSpPr>
        <p:spPr>
          <a:xfrm>
            <a:off x="5449824" y="3291840"/>
            <a:ext cx="1554480" cy="100584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69" name="Chlorine"/>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70" name="Tile Cl"/>
          <p:cNvSpPr/>
          <p:nvPr/>
        </p:nvSpPr>
        <p:spPr>
          <a:xfrm>
            <a:off x="7223760" y="1911096"/>
            <a:ext cx="502920" cy="548640"/>
          </a:xfrm>
          <a:prstGeom prst="roundRect">
            <a:avLst>
              <a:gd name="adj" fmla="val 12000"/>
            </a:avLst>
          </a:prstGeom>
          <a:solidFill>
            <a:srgbClr val="F477B8">
              <a:alpha val="30000"/>
            </a:srgbClr>
          </a:solidFill>
          <a:ln w="19050">
            <a:solidFill>
              <a:srgbClr val="F477B8"/>
            </a:solidFill>
            <a:prstDash val="solid"/>
          </a:ln>
        </p:spPr>
      </p:sp>
      <p:sp>
        <p:nvSpPr>
          <p:cNvPr id="71" name="Text 69"/>
          <p:cNvSpPr txBox="1"/>
          <p:nvPr/>
        </p:nvSpPr>
        <p:spPr>
          <a:xfrm>
            <a:off x="7263994"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72" name="Text 70"/>
          <p:cNvSpPr txBox="1"/>
          <p:nvPr/>
        </p:nvSpPr>
        <p:spPr>
          <a:xfrm>
            <a:off x="7223760"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73" name="Text 71"/>
          <p:cNvSpPr txBox="1"/>
          <p:nvPr/>
        </p:nvSpPr>
        <p:spPr>
          <a:xfrm>
            <a:off x="7790688"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Chlorine</a:t>
            </a:r>
            <a:endParaRPr lang="en-US" sz="1200" dirty="0"/>
          </a:p>
        </p:txBody>
      </p:sp>
      <p:sp>
        <p:nvSpPr>
          <p:cNvPr id="74" name="Text 72"/>
          <p:cNvSpPr txBox="1"/>
          <p:nvPr/>
        </p:nvSpPr>
        <p:spPr>
          <a:xfrm>
            <a:off x="7790688"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17 electrons</a:t>
            </a:r>
            <a:endParaRPr lang="en-US" sz="1100" dirty="0"/>
          </a:p>
        </p:txBody>
      </p:sp>
      <p:sp>
        <p:nvSpPr>
          <p:cNvPr id="75" name="Text 73"/>
          <p:cNvSpPr/>
          <p:nvPr/>
        </p:nvSpPr>
        <p:spPr>
          <a:xfrm>
            <a:off x="7205472"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76" name="Text 74"/>
          <p:cNvSpPr txBox="1"/>
          <p:nvPr/>
        </p:nvSpPr>
        <p:spPr>
          <a:xfrm>
            <a:off x="720547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77" name="Text 75"/>
          <p:cNvSpPr/>
          <p:nvPr/>
        </p:nvSpPr>
        <p:spPr>
          <a:xfrm>
            <a:off x="7552944"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78" name="Text 76"/>
          <p:cNvSpPr txBox="1"/>
          <p:nvPr/>
        </p:nvSpPr>
        <p:spPr>
          <a:xfrm>
            <a:off x="755294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79" name="Text 77"/>
          <p:cNvSpPr/>
          <p:nvPr/>
        </p:nvSpPr>
        <p:spPr>
          <a:xfrm>
            <a:off x="7900416"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80" name="Text 78"/>
          <p:cNvSpPr txBox="1"/>
          <p:nvPr/>
        </p:nvSpPr>
        <p:spPr>
          <a:xfrm>
            <a:off x="790041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81" name="Text 79"/>
          <p:cNvSpPr/>
          <p:nvPr/>
        </p:nvSpPr>
        <p:spPr>
          <a:xfrm>
            <a:off x="8247888" y="2624328"/>
            <a:ext cx="310896" cy="365760"/>
          </a:xfrm>
          <a:prstGeom prst="roundRect">
            <a:avLst>
              <a:gd name="adj" fmla="val 14706"/>
            </a:avLst>
          </a:prstGeom>
          <a:solidFill>
            <a:schemeClr val="tx1"/>
          </a:solidFill>
          <a:ln w="12700">
            <a:solidFill>
              <a:schemeClr val="bg2">
                <a:alpha val="60000"/>
              </a:schemeClr>
            </a:solidFill>
          </a:ln>
        </p:spPr>
        <p:txBody>
          <a:bodyPr wrap="square" lIns="0" tIns="0" rIns="0" bIns="0" rtlCol="0" anchor="ctr"/>
          <a:lstStyle/>
          <a:p>
            <a:pPr algn="ctr" indent="0" marL="0">
              <a:buNone/>
            </a:pPr>
            <a:endParaRPr lang="en-US" sz="1400" dirty="0"/>
          </a:p>
        </p:txBody>
      </p:sp>
      <p:sp>
        <p:nvSpPr>
          <p:cNvPr id="82" name="Text 80"/>
          <p:cNvSpPr txBox="1"/>
          <p:nvPr/>
        </p:nvSpPr>
        <p:spPr>
          <a:xfrm>
            <a:off x="824788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83" name="Text 81"/>
          <p:cNvSpPr txBox="1"/>
          <p:nvPr/>
        </p:nvSpPr>
        <p:spPr>
          <a:xfrm>
            <a:off x="7114032" y="3291840"/>
            <a:ext cx="1554480" cy="100584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Arrangement builder</a:t>
            </a:r>
            <a:endParaRPr lang="en-US" sz="2800" dirty="0"/>
          </a:p>
        </p:txBody>
      </p:sp>
      <p:sp>
        <p:nvSpPr>
          <p:cNvPr id="9" name="Text 7"/>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Set the number of electrons in each shell for the element shown, then check. (The lesson picks random elements; here are five to try together.)</a:t>
            </a:r>
            <a:endParaRPr lang="en-US" sz="1300" dirty="0"/>
          </a:p>
        </p:txBody>
      </p:sp>
      <p:sp>
        <p:nvSpPr>
          <p:cNvPr id="10" name="Nitrogen"/>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1" name="Tile N"/>
          <p:cNvSpPr/>
          <p:nvPr/>
        </p:nvSpPr>
        <p:spPr>
          <a:xfrm>
            <a:off x="566928" y="1911096"/>
            <a:ext cx="502920" cy="548640"/>
          </a:xfrm>
          <a:prstGeom prst="roundRect">
            <a:avLst>
              <a:gd name="adj" fmla="val 12000"/>
            </a:avLst>
          </a:prstGeom>
          <a:solidFill>
            <a:srgbClr val="45C08F">
              <a:alpha val="30000"/>
            </a:srgbClr>
          </a:solidFill>
          <a:ln w="19050">
            <a:solidFill>
              <a:srgbClr val="45C08F"/>
            </a:solidFill>
            <a:prstDash val="solid"/>
          </a:ln>
        </p:spPr>
      </p:sp>
      <p:sp>
        <p:nvSpPr>
          <p:cNvPr id="12" name="Text 10"/>
          <p:cNvSpPr txBox="1"/>
          <p:nvPr/>
        </p:nvSpPr>
        <p:spPr>
          <a:xfrm>
            <a:off x="607162"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7</a:t>
            </a:r>
            <a:endParaRPr lang="en-US" sz="800" dirty="0"/>
          </a:p>
        </p:txBody>
      </p:sp>
      <p:sp>
        <p:nvSpPr>
          <p:cNvPr id="13" name="Text 11"/>
          <p:cNvSpPr txBox="1"/>
          <p:nvPr/>
        </p:nvSpPr>
        <p:spPr>
          <a:xfrm>
            <a:off x="566928"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t>
            </a:r>
            <a:endParaRPr lang="en-US" sz="2000" dirty="0"/>
          </a:p>
        </p:txBody>
      </p:sp>
      <p:sp>
        <p:nvSpPr>
          <p:cNvPr id="14" name="Text 12"/>
          <p:cNvSpPr txBox="1"/>
          <p:nvPr/>
        </p:nvSpPr>
        <p:spPr>
          <a:xfrm>
            <a:off x="1133856"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Nitrogen</a:t>
            </a:r>
            <a:endParaRPr lang="en-US" sz="1200" dirty="0"/>
          </a:p>
        </p:txBody>
      </p:sp>
      <p:sp>
        <p:nvSpPr>
          <p:cNvPr id="15" name="Text 13"/>
          <p:cNvSpPr txBox="1"/>
          <p:nvPr/>
        </p:nvSpPr>
        <p:spPr>
          <a:xfrm>
            <a:off x="1133856"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7 electrons</a:t>
            </a:r>
            <a:endParaRPr lang="en-US" sz="1100" dirty="0"/>
          </a:p>
        </p:txBody>
      </p:sp>
      <p:sp>
        <p:nvSpPr>
          <p:cNvPr id="16" name="Text 14"/>
          <p:cNvSpPr/>
          <p:nvPr/>
        </p:nvSpPr>
        <p:spPr>
          <a:xfrm>
            <a:off x="548640"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5"/>
          <p:cNvSpPr txBox="1"/>
          <p:nvPr/>
        </p:nvSpPr>
        <p:spPr>
          <a:xfrm>
            <a:off x="54864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18" name="Text 16"/>
          <p:cNvSpPr/>
          <p:nvPr/>
        </p:nvSpPr>
        <p:spPr>
          <a:xfrm>
            <a:off x="896112"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89611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20" name="Text 18"/>
          <p:cNvSpPr/>
          <p:nvPr/>
        </p:nvSpPr>
        <p:spPr>
          <a:xfrm>
            <a:off x="1243584"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21" name="Text 19"/>
          <p:cNvSpPr txBox="1"/>
          <p:nvPr/>
        </p:nvSpPr>
        <p:spPr>
          <a:xfrm>
            <a:off x="124358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22" name="Text 20"/>
          <p:cNvSpPr/>
          <p:nvPr/>
        </p:nvSpPr>
        <p:spPr>
          <a:xfrm>
            <a:off x="1591056"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23" name="Text 21"/>
          <p:cNvSpPr txBox="1"/>
          <p:nvPr/>
        </p:nvSpPr>
        <p:spPr>
          <a:xfrm>
            <a:off x="159105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24" name="Nitrogen: shell 1"/>
          <p:cNvSpPr/>
          <p:nvPr/>
        </p:nvSpPr>
        <p:spPr>
          <a:xfrm>
            <a:off x="1000354" y="3652114"/>
            <a:ext cx="468173" cy="468173"/>
          </a:xfrm>
          <a:prstGeom prst="ellipse">
            <a:avLst/>
          </a:prstGeom>
          <a:solidFill>
            <a:schemeClr val="bg1">
              <a:alpha val="0"/>
            </a:schemeClr>
          </a:solidFill>
          <a:ln w="15875">
            <a:solidFill>
              <a:schemeClr val="bg2">
                <a:alpha val="55000"/>
              </a:schemeClr>
            </a:solidFill>
            <a:prstDash val="solid"/>
          </a:ln>
        </p:spPr>
      </p:sp>
      <p:sp>
        <p:nvSpPr>
          <p:cNvPr id="25" name="Nitrogen: shell 2"/>
          <p:cNvSpPr/>
          <p:nvPr/>
        </p:nvSpPr>
        <p:spPr>
          <a:xfrm>
            <a:off x="854050" y="3505810"/>
            <a:ext cx="760781" cy="760781"/>
          </a:xfrm>
          <a:prstGeom prst="ellipse">
            <a:avLst/>
          </a:prstGeom>
          <a:solidFill>
            <a:schemeClr val="bg1">
              <a:alpha val="0"/>
            </a:schemeClr>
          </a:solidFill>
          <a:ln w="15875">
            <a:solidFill>
              <a:schemeClr val="bg2">
                <a:alpha val="55000"/>
              </a:schemeClr>
            </a:solidFill>
            <a:prstDash val="solid"/>
          </a:ln>
        </p:spPr>
      </p:sp>
      <p:sp>
        <p:nvSpPr>
          <p:cNvPr id="26" name="Nitrogen: nucleus"/>
          <p:cNvSpPr/>
          <p:nvPr/>
        </p:nvSpPr>
        <p:spPr>
          <a:xfrm>
            <a:off x="1083259" y="3735019"/>
            <a:ext cx="302362" cy="30236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7" name="Nitrogen: electron, shell 1"/>
          <p:cNvSpPr/>
          <p:nvPr/>
        </p:nvSpPr>
        <p:spPr>
          <a:xfrm>
            <a:off x="1197864" y="3615538"/>
            <a:ext cx="73152" cy="73152"/>
          </a:xfrm>
          <a:prstGeom prst="ellipse">
            <a:avLst/>
          </a:prstGeom>
          <a:solidFill>
            <a:schemeClr val="accent1"/>
          </a:solidFill>
          <a:ln w="3175">
            <a:solidFill>
              <a:schemeClr val="accent1"/>
            </a:solidFill>
            <a:prstDash val="solid"/>
          </a:ln>
        </p:spPr>
      </p:sp>
      <p:sp>
        <p:nvSpPr>
          <p:cNvPr id="28" name="Nitrogen: electron, shell 1"/>
          <p:cNvSpPr/>
          <p:nvPr/>
        </p:nvSpPr>
        <p:spPr>
          <a:xfrm>
            <a:off x="1431950" y="3849624"/>
            <a:ext cx="73152" cy="73152"/>
          </a:xfrm>
          <a:prstGeom prst="ellipse">
            <a:avLst/>
          </a:prstGeom>
          <a:solidFill>
            <a:schemeClr val="accent1"/>
          </a:solidFill>
          <a:ln w="3175">
            <a:solidFill>
              <a:schemeClr val="accent1"/>
            </a:solidFill>
            <a:prstDash val="solid"/>
          </a:ln>
        </p:spPr>
      </p:sp>
      <p:sp>
        <p:nvSpPr>
          <p:cNvPr id="29" name="Nitrogen: electron, shell 2"/>
          <p:cNvSpPr/>
          <p:nvPr/>
        </p:nvSpPr>
        <p:spPr>
          <a:xfrm>
            <a:off x="1148746" y="3472418"/>
            <a:ext cx="73152" cy="73152"/>
          </a:xfrm>
          <a:prstGeom prst="ellipse">
            <a:avLst/>
          </a:prstGeom>
          <a:solidFill>
            <a:schemeClr val="accent1"/>
          </a:solidFill>
          <a:ln w="3175">
            <a:solidFill>
              <a:schemeClr val="accent1"/>
            </a:solidFill>
            <a:prstDash val="solid"/>
          </a:ln>
        </p:spPr>
      </p:sp>
      <p:sp>
        <p:nvSpPr>
          <p:cNvPr id="30" name="Nitrogen: electron, shell 2"/>
          <p:cNvSpPr/>
          <p:nvPr/>
        </p:nvSpPr>
        <p:spPr>
          <a:xfrm>
            <a:off x="1246982" y="3472418"/>
            <a:ext cx="73152" cy="73152"/>
          </a:xfrm>
          <a:prstGeom prst="ellipse">
            <a:avLst/>
          </a:prstGeom>
          <a:solidFill>
            <a:schemeClr val="accent1"/>
          </a:solidFill>
          <a:ln w="3175">
            <a:solidFill>
              <a:schemeClr val="accent1"/>
            </a:solidFill>
            <a:prstDash val="solid"/>
          </a:ln>
        </p:spPr>
      </p:sp>
      <p:sp>
        <p:nvSpPr>
          <p:cNvPr id="31" name="Nitrogen: electron, shell 2"/>
          <p:cNvSpPr/>
          <p:nvPr/>
        </p:nvSpPr>
        <p:spPr>
          <a:xfrm>
            <a:off x="1578254" y="3849624"/>
            <a:ext cx="73152" cy="73152"/>
          </a:xfrm>
          <a:prstGeom prst="ellipse">
            <a:avLst/>
          </a:prstGeom>
          <a:solidFill>
            <a:schemeClr val="accent1"/>
          </a:solidFill>
          <a:ln w="3175">
            <a:solidFill>
              <a:schemeClr val="accent1"/>
            </a:solidFill>
            <a:prstDash val="solid"/>
          </a:ln>
        </p:spPr>
      </p:sp>
      <p:sp>
        <p:nvSpPr>
          <p:cNvPr id="32" name="Nitrogen: electron, shell 2"/>
          <p:cNvSpPr/>
          <p:nvPr/>
        </p:nvSpPr>
        <p:spPr>
          <a:xfrm>
            <a:off x="1197864" y="4230014"/>
            <a:ext cx="73152" cy="73152"/>
          </a:xfrm>
          <a:prstGeom prst="ellipse">
            <a:avLst/>
          </a:prstGeom>
          <a:solidFill>
            <a:schemeClr val="accent1"/>
          </a:solidFill>
          <a:ln w="3175">
            <a:solidFill>
              <a:schemeClr val="accent1"/>
            </a:solidFill>
            <a:prstDash val="solid"/>
          </a:ln>
        </p:spPr>
      </p:sp>
      <p:sp>
        <p:nvSpPr>
          <p:cNvPr id="33" name="Nitrogen: electron, shell 2"/>
          <p:cNvSpPr/>
          <p:nvPr/>
        </p:nvSpPr>
        <p:spPr>
          <a:xfrm>
            <a:off x="817474" y="3849624"/>
            <a:ext cx="73152" cy="73152"/>
          </a:xfrm>
          <a:prstGeom prst="ellipse">
            <a:avLst/>
          </a:prstGeom>
          <a:solidFill>
            <a:schemeClr val="accent1"/>
          </a:solidFill>
          <a:ln w="3175">
            <a:solidFill>
              <a:schemeClr val="accent1"/>
            </a:solidFill>
            <a:prstDash val="solid"/>
          </a:ln>
        </p:spPr>
      </p:sp>
      <p:sp>
        <p:nvSpPr>
          <p:cNvPr id="34" name="Silicon"/>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35" name="Tile Si"/>
          <p:cNvSpPr/>
          <p:nvPr/>
        </p:nvSpPr>
        <p:spPr>
          <a:xfrm>
            <a:off x="2231136" y="1911096"/>
            <a:ext cx="502920" cy="548640"/>
          </a:xfrm>
          <a:prstGeom prst="roundRect">
            <a:avLst>
              <a:gd name="adj" fmla="val 12000"/>
            </a:avLst>
          </a:prstGeom>
          <a:solidFill>
            <a:srgbClr val="46C7D8">
              <a:alpha val="30000"/>
            </a:srgbClr>
          </a:solidFill>
          <a:ln w="19050">
            <a:solidFill>
              <a:srgbClr val="46C7D8"/>
            </a:solidFill>
            <a:prstDash val="solid"/>
          </a:ln>
        </p:spPr>
      </p:sp>
      <p:sp>
        <p:nvSpPr>
          <p:cNvPr id="36" name="Text 34"/>
          <p:cNvSpPr txBox="1"/>
          <p:nvPr/>
        </p:nvSpPr>
        <p:spPr>
          <a:xfrm>
            <a:off x="2271370"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14</a:t>
            </a:r>
            <a:endParaRPr lang="en-US" sz="800" dirty="0"/>
          </a:p>
        </p:txBody>
      </p:sp>
      <p:sp>
        <p:nvSpPr>
          <p:cNvPr id="37" name="Text 35"/>
          <p:cNvSpPr txBox="1"/>
          <p:nvPr/>
        </p:nvSpPr>
        <p:spPr>
          <a:xfrm>
            <a:off x="2231136"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Si</a:t>
            </a:r>
            <a:endParaRPr lang="en-US" sz="2000" dirty="0"/>
          </a:p>
        </p:txBody>
      </p:sp>
      <p:sp>
        <p:nvSpPr>
          <p:cNvPr id="38" name="Text 36"/>
          <p:cNvSpPr txBox="1"/>
          <p:nvPr/>
        </p:nvSpPr>
        <p:spPr>
          <a:xfrm>
            <a:off x="2798064"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Silicon</a:t>
            </a:r>
            <a:endParaRPr lang="en-US" sz="1200" dirty="0"/>
          </a:p>
        </p:txBody>
      </p:sp>
      <p:sp>
        <p:nvSpPr>
          <p:cNvPr id="39" name="Text 37"/>
          <p:cNvSpPr txBox="1"/>
          <p:nvPr/>
        </p:nvSpPr>
        <p:spPr>
          <a:xfrm>
            <a:off x="2798064"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14 electrons</a:t>
            </a:r>
            <a:endParaRPr lang="en-US" sz="1100" dirty="0"/>
          </a:p>
        </p:txBody>
      </p:sp>
      <p:sp>
        <p:nvSpPr>
          <p:cNvPr id="40" name="Text 38"/>
          <p:cNvSpPr/>
          <p:nvPr/>
        </p:nvSpPr>
        <p:spPr>
          <a:xfrm>
            <a:off x="2212848"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1" name="Text 39"/>
          <p:cNvSpPr txBox="1"/>
          <p:nvPr/>
        </p:nvSpPr>
        <p:spPr>
          <a:xfrm>
            <a:off x="221284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42" name="Text 40"/>
          <p:cNvSpPr/>
          <p:nvPr/>
        </p:nvSpPr>
        <p:spPr>
          <a:xfrm>
            <a:off x="2560320"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3" name="Text 41"/>
          <p:cNvSpPr txBox="1"/>
          <p:nvPr/>
        </p:nvSpPr>
        <p:spPr>
          <a:xfrm>
            <a:off x="256032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44" name="Text 42"/>
          <p:cNvSpPr/>
          <p:nvPr/>
        </p:nvSpPr>
        <p:spPr>
          <a:xfrm>
            <a:off x="2907792"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5" name="Text 43"/>
          <p:cNvSpPr txBox="1"/>
          <p:nvPr/>
        </p:nvSpPr>
        <p:spPr>
          <a:xfrm>
            <a:off x="290779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46" name="Text 44"/>
          <p:cNvSpPr/>
          <p:nvPr/>
        </p:nvSpPr>
        <p:spPr>
          <a:xfrm>
            <a:off x="3255264"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47" name="Text 45"/>
          <p:cNvSpPr txBox="1"/>
          <p:nvPr/>
        </p:nvSpPr>
        <p:spPr>
          <a:xfrm>
            <a:off x="325526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48" name="Silicon: shell 1"/>
          <p:cNvSpPr/>
          <p:nvPr/>
        </p:nvSpPr>
        <p:spPr>
          <a:xfrm>
            <a:off x="2699895" y="3687447"/>
            <a:ext cx="397505" cy="397505"/>
          </a:xfrm>
          <a:prstGeom prst="ellipse">
            <a:avLst/>
          </a:prstGeom>
          <a:solidFill>
            <a:schemeClr val="bg1">
              <a:alpha val="0"/>
            </a:schemeClr>
          </a:solidFill>
          <a:ln w="15875">
            <a:solidFill>
              <a:schemeClr val="bg2">
                <a:alpha val="55000"/>
              </a:schemeClr>
            </a:solidFill>
            <a:prstDash val="solid"/>
          </a:ln>
        </p:spPr>
      </p:sp>
      <p:sp>
        <p:nvSpPr>
          <p:cNvPr id="49" name="Silicon: shell 2"/>
          <p:cNvSpPr/>
          <p:nvPr/>
        </p:nvSpPr>
        <p:spPr>
          <a:xfrm>
            <a:off x="2575675" y="3563227"/>
            <a:ext cx="645946" cy="645946"/>
          </a:xfrm>
          <a:prstGeom prst="ellipse">
            <a:avLst/>
          </a:prstGeom>
          <a:solidFill>
            <a:schemeClr val="bg1">
              <a:alpha val="0"/>
            </a:schemeClr>
          </a:solidFill>
          <a:ln w="15875">
            <a:solidFill>
              <a:schemeClr val="bg2">
                <a:alpha val="55000"/>
              </a:schemeClr>
            </a:solidFill>
            <a:prstDash val="solid"/>
          </a:ln>
        </p:spPr>
      </p:sp>
      <p:sp>
        <p:nvSpPr>
          <p:cNvPr id="50" name="Silicon: shell 3"/>
          <p:cNvSpPr/>
          <p:nvPr/>
        </p:nvSpPr>
        <p:spPr>
          <a:xfrm>
            <a:off x="2459736" y="3447288"/>
            <a:ext cx="877824" cy="877824"/>
          </a:xfrm>
          <a:prstGeom prst="ellipse">
            <a:avLst/>
          </a:prstGeom>
          <a:solidFill>
            <a:schemeClr val="bg1">
              <a:alpha val="0"/>
            </a:schemeClr>
          </a:solidFill>
          <a:ln w="15875">
            <a:solidFill>
              <a:schemeClr val="bg2">
                <a:alpha val="55000"/>
              </a:schemeClr>
            </a:solidFill>
            <a:prstDash val="solid"/>
          </a:ln>
        </p:spPr>
      </p:sp>
      <p:sp>
        <p:nvSpPr>
          <p:cNvPr id="51" name="Silicon: nucleus"/>
          <p:cNvSpPr/>
          <p:nvPr/>
        </p:nvSpPr>
        <p:spPr>
          <a:xfrm>
            <a:off x="2770287" y="3757839"/>
            <a:ext cx="256722" cy="25672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52" name="Silicon: electron, shell 1"/>
          <p:cNvSpPr/>
          <p:nvPr/>
        </p:nvSpPr>
        <p:spPr>
          <a:xfrm>
            <a:off x="2867593" y="3656392"/>
            <a:ext cx="62110" cy="62110"/>
          </a:xfrm>
          <a:prstGeom prst="ellipse">
            <a:avLst/>
          </a:prstGeom>
          <a:solidFill>
            <a:schemeClr val="accent1"/>
          </a:solidFill>
          <a:ln w="3175">
            <a:solidFill>
              <a:schemeClr val="accent1"/>
            </a:solidFill>
            <a:prstDash val="solid"/>
          </a:ln>
        </p:spPr>
      </p:sp>
      <p:sp>
        <p:nvSpPr>
          <p:cNvPr id="53" name="Silicon: electron, shell 1"/>
          <p:cNvSpPr/>
          <p:nvPr/>
        </p:nvSpPr>
        <p:spPr>
          <a:xfrm>
            <a:off x="3066346" y="3855145"/>
            <a:ext cx="62110" cy="62110"/>
          </a:xfrm>
          <a:prstGeom prst="ellipse">
            <a:avLst/>
          </a:prstGeom>
          <a:solidFill>
            <a:schemeClr val="accent1"/>
          </a:solidFill>
          <a:ln w="3175">
            <a:solidFill>
              <a:schemeClr val="accent1"/>
            </a:solidFill>
            <a:prstDash val="solid"/>
          </a:ln>
        </p:spPr>
      </p:sp>
      <p:sp>
        <p:nvSpPr>
          <p:cNvPr id="54" name="Silicon: electron, shell 2"/>
          <p:cNvSpPr/>
          <p:nvPr/>
        </p:nvSpPr>
        <p:spPr>
          <a:xfrm>
            <a:off x="2825889" y="3534876"/>
            <a:ext cx="62110" cy="62110"/>
          </a:xfrm>
          <a:prstGeom prst="ellipse">
            <a:avLst/>
          </a:prstGeom>
          <a:solidFill>
            <a:schemeClr val="accent1"/>
          </a:solidFill>
          <a:ln w="3175">
            <a:solidFill>
              <a:schemeClr val="accent1"/>
            </a:solidFill>
            <a:prstDash val="solid"/>
          </a:ln>
        </p:spPr>
      </p:sp>
      <p:sp>
        <p:nvSpPr>
          <p:cNvPr id="55" name="Silicon: electron, shell 2"/>
          <p:cNvSpPr/>
          <p:nvPr/>
        </p:nvSpPr>
        <p:spPr>
          <a:xfrm>
            <a:off x="2909297" y="3534876"/>
            <a:ext cx="62110" cy="62110"/>
          </a:xfrm>
          <a:prstGeom prst="ellipse">
            <a:avLst/>
          </a:prstGeom>
          <a:solidFill>
            <a:schemeClr val="accent1"/>
          </a:solidFill>
          <a:ln w="3175">
            <a:solidFill>
              <a:schemeClr val="accent1"/>
            </a:solidFill>
            <a:prstDash val="solid"/>
          </a:ln>
        </p:spPr>
      </p:sp>
      <p:sp>
        <p:nvSpPr>
          <p:cNvPr id="56" name="Silicon: electron, shell 2"/>
          <p:cNvSpPr/>
          <p:nvPr/>
        </p:nvSpPr>
        <p:spPr>
          <a:xfrm>
            <a:off x="3187862" y="3813441"/>
            <a:ext cx="62110" cy="62110"/>
          </a:xfrm>
          <a:prstGeom prst="ellipse">
            <a:avLst/>
          </a:prstGeom>
          <a:solidFill>
            <a:schemeClr val="accent1"/>
          </a:solidFill>
          <a:ln w="3175">
            <a:solidFill>
              <a:schemeClr val="accent1"/>
            </a:solidFill>
            <a:prstDash val="solid"/>
          </a:ln>
        </p:spPr>
      </p:sp>
      <p:sp>
        <p:nvSpPr>
          <p:cNvPr id="57" name="Silicon: electron, shell 2"/>
          <p:cNvSpPr/>
          <p:nvPr/>
        </p:nvSpPr>
        <p:spPr>
          <a:xfrm>
            <a:off x="3187862" y="3896849"/>
            <a:ext cx="62110" cy="62110"/>
          </a:xfrm>
          <a:prstGeom prst="ellipse">
            <a:avLst/>
          </a:prstGeom>
          <a:solidFill>
            <a:schemeClr val="accent1"/>
          </a:solidFill>
          <a:ln w="3175">
            <a:solidFill>
              <a:schemeClr val="accent1"/>
            </a:solidFill>
            <a:prstDash val="solid"/>
          </a:ln>
        </p:spPr>
      </p:sp>
      <p:sp>
        <p:nvSpPr>
          <p:cNvPr id="58" name="Silicon: electron, shell 2"/>
          <p:cNvSpPr/>
          <p:nvPr/>
        </p:nvSpPr>
        <p:spPr>
          <a:xfrm>
            <a:off x="2909297" y="4175414"/>
            <a:ext cx="62110" cy="62110"/>
          </a:xfrm>
          <a:prstGeom prst="ellipse">
            <a:avLst/>
          </a:prstGeom>
          <a:solidFill>
            <a:schemeClr val="accent1"/>
          </a:solidFill>
          <a:ln w="3175">
            <a:solidFill>
              <a:schemeClr val="accent1"/>
            </a:solidFill>
            <a:prstDash val="solid"/>
          </a:ln>
        </p:spPr>
      </p:sp>
      <p:sp>
        <p:nvSpPr>
          <p:cNvPr id="59" name="Silicon: electron, shell 2"/>
          <p:cNvSpPr/>
          <p:nvPr/>
        </p:nvSpPr>
        <p:spPr>
          <a:xfrm>
            <a:off x="2825889" y="4175414"/>
            <a:ext cx="62110" cy="62110"/>
          </a:xfrm>
          <a:prstGeom prst="ellipse">
            <a:avLst/>
          </a:prstGeom>
          <a:solidFill>
            <a:schemeClr val="accent1"/>
          </a:solidFill>
          <a:ln w="3175">
            <a:solidFill>
              <a:schemeClr val="accent1"/>
            </a:solidFill>
            <a:prstDash val="solid"/>
          </a:ln>
        </p:spPr>
      </p:sp>
      <p:sp>
        <p:nvSpPr>
          <p:cNvPr id="60" name="Silicon: electron, shell 2"/>
          <p:cNvSpPr/>
          <p:nvPr/>
        </p:nvSpPr>
        <p:spPr>
          <a:xfrm>
            <a:off x="2547324" y="3896849"/>
            <a:ext cx="62110" cy="62110"/>
          </a:xfrm>
          <a:prstGeom prst="ellipse">
            <a:avLst/>
          </a:prstGeom>
          <a:solidFill>
            <a:schemeClr val="accent1"/>
          </a:solidFill>
          <a:ln w="3175">
            <a:solidFill>
              <a:schemeClr val="accent1"/>
            </a:solidFill>
            <a:prstDash val="solid"/>
          </a:ln>
        </p:spPr>
      </p:sp>
      <p:sp>
        <p:nvSpPr>
          <p:cNvPr id="61" name="Silicon: electron, shell 2"/>
          <p:cNvSpPr/>
          <p:nvPr/>
        </p:nvSpPr>
        <p:spPr>
          <a:xfrm>
            <a:off x="2547324" y="3813441"/>
            <a:ext cx="62110" cy="62110"/>
          </a:xfrm>
          <a:prstGeom prst="ellipse">
            <a:avLst/>
          </a:prstGeom>
          <a:solidFill>
            <a:schemeClr val="accent1"/>
          </a:solidFill>
          <a:ln w="3175">
            <a:solidFill>
              <a:schemeClr val="accent1"/>
            </a:solidFill>
            <a:prstDash val="solid"/>
          </a:ln>
        </p:spPr>
      </p:sp>
      <p:sp>
        <p:nvSpPr>
          <p:cNvPr id="62" name="Silicon: electron, shell 3"/>
          <p:cNvSpPr/>
          <p:nvPr/>
        </p:nvSpPr>
        <p:spPr>
          <a:xfrm>
            <a:off x="2867593" y="3416233"/>
            <a:ext cx="62110" cy="62110"/>
          </a:xfrm>
          <a:prstGeom prst="ellipse">
            <a:avLst/>
          </a:prstGeom>
          <a:solidFill>
            <a:schemeClr val="accent1"/>
          </a:solidFill>
          <a:ln w="3175">
            <a:solidFill>
              <a:schemeClr val="accent1"/>
            </a:solidFill>
            <a:prstDash val="solid"/>
          </a:ln>
        </p:spPr>
      </p:sp>
      <p:sp>
        <p:nvSpPr>
          <p:cNvPr id="63" name="Silicon: electron, shell 3"/>
          <p:cNvSpPr/>
          <p:nvPr/>
        </p:nvSpPr>
        <p:spPr>
          <a:xfrm>
            <a:off x="3306505" y="3855145"/>
            <a:ext cx="62110" cy="62110"/>
          </a:xfrm>
          <a:prstGeom prst="ellipse">
            <a:avLst/>
          </a:prstGeom>
          <a:solidFill>
            <a:schemeClr val="accent1"/>
          </a:solidFill>
          <a:ln w="3175">
            <a:solidFill>
              <a:schemeClr val="accent1"/>
            </a:solidFill>
            <a:prstDash val="solid"/>
          </a:ln>
        </p:spPr>
      </p:sp>
      <p:sp>
        <p:nvSpPr>
          <p:cNvPr id="64" name="Silicon: electron, shell 3"/>
          <p:cNvSpPr/>
          <p:nvPr/>
        </p:nvSpPr>
        <p:spPr>
          <a:xfrm>
            <a:off x="2867593" y="4294057"/>
            <a:ext cx="62110" cy="62110"/>
          </a:xfrm>
          <a:prstGeom prst="ellipse">
            <a:avLst/>
          </a:prstGeom>
          <a:solidFill>
            <a:schemeClr val="accent1"/>
          </a:solidFill>
          <a:ln w="3175">
            <a:solidFill>
              <a:schemeClr val="accent1"/>
            </a:solidFill>
            <a:prstDash val="solid"/>
          </a:ln>
        </p:spPr>
      </p:sp>
      <p:sp>
        <p:nvSpPr>
          <p:cNvPr id="65" name="Silicon: electron, shell 3"/>
          <p:cNvSpPr/>
          <p:nvPr/>
        </p:nvSpPr>
        <p:spPr>
          <a:xfrm>
            <a:off x="2428681" y="3855145"/>
            <a:ext cx="62110" cy="62110"/>
          </a:xfrm>
          <a:prstGeom prst="ellipse">
            <a:avLst/>
          </a:prstGeom>
          <a:solidFill>
            <a:schemeClr val="accent1"/>
          </a:solidFill>
          <a:ln w="3175">
            <a:solidFill>
              <a:schemeClr val="accent1"/>
            </a:solidFill>
            <a:prstDash val="solid"/>
          </a:ln>
        </p:spPr>
      </p:sp>
      <p:sp>
        <p:nvSpPr>
          <p:cNvPr id="66" name="Potassium"/>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67" name="Tile K"/>
          <p:cNvSpPr/>
          <p:nvPr/>
        </p:nvSpPr>
        <p:spPr>
          <a:xfrm>
            <a:off x="3895344" y="1911096"/>
            <a:ext cx="502920" cy="548640"/>
          </a:xfrm>
          <a:prstGeom prst="roundRect">
            <a:avLst>
              <a:gd name="adj" fmla="val 12000"/>
            </a:avLst>
          </a:prstGeom>
          <a:solidFill>
            <a:srgbClr val="FF8F5E">
              <a:alpha val="30000"/>
            </a:srgbClr>
          </a:solidFill>
          <a:ln w="19050">
            <a:solidFill>
              <a:srgbClr val="FF8F5E"/>
            </a:solidFill>
            <a:prstDash val="solid"/>
          </a:ln>
        </p:spPr>
      </p:sp>
      <p:sp>
        <p:nvSpPr>
          <p:cNvPr id="68" name="Text 66"/>
          <p:cNvSpPr txBox="1"/>
          <p:nvPr/>
        </p:nvSpPr>
        <p:spPr>
          <a:xfrm>
            <a:off x="3935578"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69" name="Text 67"/>
          <p:cNvSpPr txBox="1"/>
          <p:nvPr/>
        </p:nvSpPr>
        <p:spPr>
          <a:xfrm>
            <a:off x="3895344"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70" name="Text 68"/>
          <p:cNvSpPr txBox="1"/>
          <p:nvPr/>
        </p:nvSpPr>
        <p:spPr>
          <a:xfrm>
            <a:off x="4462272"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Potassium</a:t>
            </a:r>
            <a:endParaRPr lang="en-US" sz="1200" dirty="0"/>
          </a:p>
        </p:txBody>
      </p:sp>
      <p:sp>
        <p:nvSpPr>
          <p:cNvPr id="71" name="Text 69"/>
          <p:cNvSpPr txBox="1"/>
          <p:nvPr/>
        </p:nvSpPr>
        <p:spPr>
          <a:xfrm>
            <a:off x="4462272"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19 electrons</a:t>
            </a:r>
            <a:endParaRPr lang="en-US" sz="1100" dirty="0"/>
          </a:p>
        </p:txBody>
      </p:sp>
      <p:sp>
        <p:nvSpPr>
          <p:cNvPr id="72" name="Text 70"/>
          <p:cNvSpPr/>
          <p:nvPr/>
        </p:nvSpPr>
        <p:spPr>
          <a:xfrm>
            <a:off x="3877056"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3" name="Text 71"/>
          <p:cNvSpPr txBox="1"/>
          <p:nvPr/>
        </p:nvSpPr>
        <p:spPr>
          <a:xfrm>
            <a:off x="387705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74" name="Text 72"/>
          <p:cNvSpPr/>
          <p:nvPr/>
        </p:nvSpPr>
        <p:spPr>
          <a:xfrm>
            <a:off x="4224528"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75" name="Text 73"/>
          <p:cNvSpPr txBox="1"/>
          <p:nvPr/>
        </p:nvSpPr>
        <p:spPr>
          <a:xfrm>
            <a:off x="422452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76" name="Text 74"/>
          <p:cNvSpPr/>
          <p:nvPr/>
        </p:nvSpPr>
        <p:spPr>
          <a:xfrm>
            <a:off x="4572000"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77" name="Text 75"/>
          <p:cNvSpPr txBox="1"/>
          <p:nvPr/>
        </p:nvSpPr>
        <p:spPr>
          <a:xfrm>
            <a:off x="457200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78" name="Text 76"/>
          <p:cNvSpPr/>
          <p:nvPr/>
        </p:nvSpPr>
        <p:spPr>
          <a:xfrm>
            <a:off x="4919472"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9" name="Text 77"/>
          <p:cNvSpPr txBox="1"/>
          <p:nvPr/>
        </p:nvSpPr>
        <p:spPr>
          <a:xfrm>
            <a:off x="491947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80" name="Potassium: shell 1"/>
          <p:cNvSpPr/>
          <p:nvPr/>
        </p:nvSpPr>
        <p:spPr>
          <a:xfrm>
            <a:off x="4405634" y="3728978"/>
            <a:ext cx="314444" cy="314444"/>
          </a:xfrm>
          <a:prstGeom prst="ellipse">
            <a:avLst/>
          </a:prstGeom>
          <a:solidFill>
            <a:schemeClr val="bg1">
              <a:alpha val="0"/>
            </a:schemeClr>
          </a:solidFill>
          <a:ln w="15875">
            <a:solidFill>
              <a:schemeClr val="bg2">
                <a:alpha val="55000"/>
              </a:schemeClr>
            </a:solidFill>
            <a:prstDash val="solid"/>
          </a:ln>
        </p:spPr>
      </p:sp>
      <p:sp>
        <p:nvSpPr>
          <p:cNvPr id="81" name="Potassium: shell 2"/>
          <p:cNvSpPr/>
          <p:nvPr/>
        </p:nvSpPr>
        <p:spPr>
          <a:xfrm>
            <a:off x="4307370" y="3630714"/>
            <a:ext cx="510972" cy="510972"/>
          </a:xfrm>
          <a:prstGeom prst="ellipse">
            <a:avLst/>
          </a:prstGeom>
          <a:solidFill>
            <a:schemeClr val="bg1">
              <a:alpha val="0"/>
            </a:schemeClr>
          </a:solidFill>
          <a:ln w="15875">
            <a:solidFill>
              <a:schemeClr val="bg2">
                <a:alpha val="55000"/>
              </a:schemeClr>
            </a:solidFill>
            <a:prstDash val="solid"/>
          </a:ln>
        </p:spPr>
      </p:sp>
      <p:sp>
        <p:nvSpPr>
          <p:cNvPr id="82" name="Potassium: shell 3"/>
          <p:cNvSpPr/>
          <p:nvPr/>
        </p:nvSpPr>
        <p:spPr>
          <a:xfrm>
            <a:off x="4215657" y="3539001"/>
            <a:ext cx="694398" cy="694398"/>
          </a:xfrm>
          <a:prstGeom prst="ellipse">
            <a:avLst/>
          </a:prstGeom>
          <a:solidFill>
            <a:schemeClr val="bg1">
              <a:alpha val="0"/>
            </a:schemeClr>
          </a:solidFill>
          <a:ln w="15875">
            <a:solidFill>
              <a:schemeClr val="bg2">
                <a:alpha val="55000"/>
              </a:schemeClr>
            </a:solidFill>
            <a:prstDash val="solid"/>
          </a:ln>
        </p:spPr>
      </p:sp>
      <p:sp>
        <p:nvSpPr>
          <p:cNvPr id="83" name="Potassium: shell 4"/>
          <p:cNvSpPr/>
          <p:nvPr/>
        </p:nvSpPr>
        <p:spPr>
          <a:xfrm>
            <a:off x="4123944" y="3447288"/>
            <a:ext cx="877824" cy="877824"/>
          </a:xfrm>
          <a:prstGeom prst="ellipse">
            <a:avLst/>
          </a:prstGeom>
          <a:solidFill>
            <a:schemeClr val="bg1">
              <a:alpha val="0"/>
            </a:schemeClr>
          </a:solidFill>
          <a:ln w="15875">
            <a:solidFill>
              <a:schemeClr val="bg2">
                <a:alpha val="55000"/>
              </a:schemeClr>
            </a:solidFill>
            <a:prstDash val="solid"/>
          </a:ln>
        </p:spPr>
      </p:sp>
      <p:sp>
        <p:nvSpPr>
          <p:cNvPr id="84" name="Potassium: nucleus"/>
          <p:cNvSpPr/>
          <p:nvPr/>
        </p:nvSpPr>
        <p:spPr>
          <a:xfrm>
            <a:off x="4461317" y="3784661"/>
            <a:ext cx="203079" cy="203079"/>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85" name="Potassium: electron, shell 1"/>
          <p:cNvSpPr/>
          <p:nvPr/>
        </p:nvSpPr>
        <p:spPr>
          <a:xfrm>
            <a:off x="4538290" y="3704412"/>
            <a:ext cx="49132" cy="49132"/>
          </a:xfrm>
          <a:prstGeom prst="ellipse">
            <a:avLst/>
          </a:prstGeom>
          <a:solidFill>
            <a:schemeClr val="accent1"/>
          </a:solidFill>
          <a:ln w="3175">
            <a:solidFill>
              <a:schemeClr val="accent1"/>
            </a:solidFill>
            <a:prstDash val="solid"/>
          </a:ln>
        </p:spPr>
      </p:sp>
      <p:sp>
        <p:nvSpPr>
          <p:cNvPr id="86" name="Potassium: electron, shell 1"/>
          <p:cNvSpPr/>
          <p:nvPr/>
        </p:nvSpPr>
        <p:spPr>
          <a:xfrm>
            <a:off x="4695512" y="3861634"/>
            <a:ext cx="49132" cy="49132"/>
          </a:xfrm>
          <a:prstGeom prst="ellipse">
            <a:avLst/>
          </a:prstGeom>
          <a:solidFill>
            <a:schemeClr val="accent1"/>
          </a:solidFill>
          <a:ln w="3175">
            <a:solidFill>
              <a:schemeClr val="accent1"/>
            </a:solidFill>
            <a:prstDash val="solid"/>
          </a:ln>
        </p:spPr>
      </p:sp>
      <p:sp>
        <p:nvSpPr>
          <p:cNvPr id="87" name="Potassium: electron, shell 2"/>
          <p:cNvSpPr/>
          <p:nvPr/>
        </p:nvSpPr>
        <p:spPr>
          <a:xfrm>
            <a:off x="4505300" y="3608287"/>
            <a:ext cx="49132" cy="49132"/>
          </a:xfrm>
          <a:prstGeom prst="ellipse">
            <a:avLst/>
          </a:prstGeom>
          <a:solidFill>
            <a:schemeClr val="accent1"/>
          </a:solidFill>
          <a:ln w="3175">
            <a:solidFill>
              <a:schemeClr val="accent1"/>
            </a:solidFill>
            <a:prstDash val="solid"/>
          </a:ln>
        </p:spPr>
      </p:sp>
      <p:sp>
        <p:nvSpPr>
          <p:cNvPr id="88" name="Potassium: electron, shell 2"/>
          <p:cNvSpPr/>
          <p:nvPr/>
        </p:nvSpPr>
        <p:spPr>
          <a:xfrm>
            <a:off x="4571280" y="3608287"/>
            <a:ext cx="49132" cy="49132"/>
          </a:xfrm>
          <a:prstGeom prst="ellipse">
            <a:avLst/>
          </a:prstGeom>
          <a:solidFill>
            <a:schemeClr val="accent1"/>
          </a:solidFill>
          <a:ln w="3175">
            <a:solidFill>
              <a:schemeClr val="accent1"/>
            </a:solidFill>
            <a:prstDash val="solid"/>
          </a:ln>
        </p:spPr>
      </p:sp>
      <p:sp>
        <p:nvSpPr>
          <p:cNvPr id="89" name="Potassium: electron, shell 2"/>
          <p:cNvSpPr/>
          <p:nvPr/>
        </p:nvSpPr>
        <p:spPr>
          <a:xfrm>
            <a:off x="4791637" y="3828644"/>
            <a:ext cx="49132" cy="49132"/>
          </a:xfrm>
          <a:prstGeom prst="ellipse">
            <a:avLst/>
          </a:prstGeom>
          <a:solidFill>
            <a:schemeClr val="accent1"/>
          </a:solidFill>
          <a:ln w="3175">
            <a:solidFill>
              <a:schemeClr val="accent1"/>
            </a:solidFill>
            <a:prstDash val="solid"/>
          </a:ln>
        </p:spPr>
      </p:sp>
      <p:sp>
        <p:nvSpPr>
          <p:cNvPr id="90" name="Potassium: electron, shell 2"/>
          <p:cNvSpPr/>
          <p:nvPr/>
        </p:nvSpPr>
        <p:spPr>
          <a:xfrm>
            <a:off x="4791637" y="3894624"/>
            <a:ext cx="49132" cy="49132"/>
          </a:xfrm>
          <a:prstGeom prst="ellipse">
            <a:avLst/>
          </a:prstGeom>
          <a:solidFill>
            <a:schemeClr val="accent1"/>
          </a:solidFill>
          <a:ln w="3175">
            <a:solidFill>
              <a:schemeClr val="accent1"/>
            </a:solidFill>
            <a:prstDash val="solid"/>
          </a:ln>
        </p:spPr>
      </p:sp>
      <p:sp>
        <p:nvSpPr>
          <p:cNvPr id="91" name="Potassium: electron, shell 2"/>
          <p:cNvSpPr/>
          <p:nvPr/>
        </p:nvSpPr>
        <p:spPr>
          <a:xfrm>
            <a:off x="4571280" y="4114981"/>
            <a:ext cx="49132" cy="49132"/>
          </a:xfrm>
          <a:prstGeom prst="ellipse">
            <a:avLst/>
          </a:prstGeom>
          <a:solidFill>
            <a:schemeClr val="accent1"/>
          </a:solidFill>
          <a:ln w="3175">
            <a:solidFill>
              <a:schemeClr val="accent1"/>
            </a:solidFill>
            <a:prstDash val="solid"/>
          </a:ln>
        </p:spPr>
      </p:sp>
      <p:sp>
        <p:nvSpPr>
          <p:cNvPr id="92" name="Potassium: electron, shell 2"/>
          <p:cNvSpPr/>
          <p:nvPr/>
        </p:nvSpPr>
        <p:spPr>
          <a:xfrm>
            <a:off x="4505300" y="4114981"/>
            <a:ext cx="49132" cy="49132"/>
          </a:xfrm>
          <a:prstGeom prst="ellipse">
            <a:avLst/>
          </a:prstGeom>
          <a:solidFill>
            <a:schemeClr val="accent1"/>
          </a:solidFill>
          <a:ln w="3175">
            <a:solidFill>
              <a:schemeClr val="accent1"/>
            </a:solidFill>
            <a:prstDash val="solid"/>
          </a:ln>
        </p:spPr>
      </p:sp>
      <p:sp>
        <p:nvSpPr>
          <p:cNvPr id="93" name="Potassium: electron, shell 2"/>
          <p:cNvSpPr/>
          <p:nvPr/>
        </p:nvSpPr>
        <p:spPr>
          <a:xfrm>
            <a:off x="4284943" y="3894624"/>
            <a:ext cx="49132" cy="49132"/>
          </a:xfrm>
          <a:prstGeom prst="ellipse">
            <a:avLst/>
          </a:prstGeom>
          <a:solidFill>
            <a:schemeClr val="accent1"/>
          </a:solidFill>
          <a:ln w="3175">
            <a:solidFill>
              <a:schemeClr val="accent1"/>
            </a:solidFill>
            <a:prstDash val="solid"/>
          </a:ln>
        </p:spPr>
      </p:sp>
      <p:sp>
        <p:nvSpPr>
          <p:cNvPr id="94" name="Potassium: electron, shell 2"/>
          <p:cNvSpPr/>
          <p:nvPr/>
        </p:nvSpPr>
        <p:spPr>
          <a:xfrm>
            <a:off x="4284943" y="3828644"/>
            <a:ext cx="49132" cy="49132"/>
          </a:xfrm>
          <a:prstGeom prst="ellipse">
            <a:avLst/>
          </a:prstGeom>
          <a:solidFill>
            <a:schemeClr val="accent1"/>
          </a:solidFill>
          <a:ln w="3175">
            <a:solidFill>
              <a:schemeClr val="accent1"/>
            </a:solidFill>
            <a:prstDash val="solid"/>
          </a:ln>
        </p:spPr>
      </p:sp>
      <p:sp>
        <p:nvSpPr>
          <p:cNvPr id="95" name="Potassium: electron, shell 3"/>
          <p:cNvSpPr/>
          <p:nvPr/>
        </p:nvSpPr>
        <p:spPr>
          <a:xfrm>
            <a:off x="4505258" y="3516010"/>
            <a:ext cx="49132" cy="49132"/>
          </a:xfrm>
          <a:prstGeom prst="ellipse">
            <a:avLst/>
          </a:prstGeom>
          <a:solidFill>
            <a:schemeClr val="accent1"/>
          </a:solidFill>
          <a:ln w="3175">
            <a:solidFill>
              <a:schemeClr val="accent1"/>
            </a:solidFill>
            <a:prstDash val="solid"/>
          </a:ln>
        </p:spPr>
      </p:sp>
      <p:sp>
        <p:nvSpPr>
          <p:cNvPr id="96" name="Potassium: electron, shell 3"/>
          <p:cNvSpPr/>
          <p:nvPr/>
        </p:nvSpPr>
        <p:spPr>
          <a:xfrm>
            <a:off x="4571322" y="3516010"/>
            <a:ext cx="49132" cy="49132"/>
          </a:xfrm>
          <a:prstGeom prst="ellipse">
            <a:avLst/>
          </a:prstGeom>
          <a:solidFill>
            <a:schemeClr val="accent1"/>
          </a:solidFill>
          <a:ln w="3175">
            <a:solidFill>
              <a:schemeClr val="accent1"/>
            </a:solidFill>
            <a:prstDash val="solid"/>
          </a:ln>
        </p:spPr>
      </p:sp>
      <p:sp>
        <p:nvSpPr>
          <p:cNvPr id="97" name="Potassium: electron, shell 3"/>
          <p:cNvSpPr/>
          <p:nvPr/>
        </p:nvSpPr>
        <p:spPr>
          <a:xfrm>
            <a:off x="4883914" y="3828602"/>
            <a:ext cx="49132" cy="49132"/>
          </a:xfrm>
          <a:prstGeom prst="ellipse">
            <a:avLst/>
          </a:prstGeom>
          <a:solidFill>
            <a:schemeClr val="accent1"/>
          </a:solidFill>
          <a:ln w="3175">
            <a:solidFill>
              <a:schemeClr val="accent1"/>
            </a:solidFill>
            <a:prstDash val="solid"/>
          </a:ln>
        </p:spPr>
      </p:sp>
      <p:sp>
        <p:nvSpPr>
          <p:cNvPr id="98" name="Potassium: electron, shell 3"/>
          <p:cNvSpPr/>
          <p:nvPr/>
        </p:nvSpPr>
        <p:spPr>
          <a:xfrm>
            <a:off x="4883914" y="3894666"/>
            <a:ext cx="49132" cy="49132"/>
          </a:xfrm>
          <a:prstGeom prst="ellipse">
            <a:avLst/>
          </a:prstGeom>
          <a:solidFill>
            <a:schemeClr val="accent1"/>
          </a:solidFill>
          <a:ln w="3175">
            <a:solidFill>
              <a:schemeClr val="accent1"/>
            </a:solidFill>
            <a:prstDash val="solid"/>
          </a:ln>
        </p:spPr>
      </p:sp>
      <p:sp>
        <p:nvSpPr>
          <p:cNvPr id="99" name="Potassium: electron, shell 3"/>
          <p:cNvSpPr/>
          <p:nvPr/>
        </p:nvSpPr>
        <p:spPr>
          <a:xfrm>
            <a:off x="4571322" y="4207258"/>
            <a:ext cx="49132" cy="49132"/>
          </a:xfrm>
          <a:prstGeom prst="ellipse">
            <a:avLst/>
          </a:prstGeom>
          <a:solidFill>
            <a:schemeClr val="accent1"/>
          </a:solidFill>
          <a:ln w="3175">
            <a:solidFill>
              <a:schemeClr val="accent1"/>
            </a:solidFill>
            <a:prstDash val="solid"/>
          </a:ln>
        </p:spPr>
      </p:sp>
      <p:sp>
        <p:nvSpPr>
          <p:cNvPr id="100" name="Potassium: electron, shell 3"/>
          <p:cNvSpPr/>
          <p:nvPr/>
        </p:nvSpPr>
        <p:spPr>
          <a:xfrm>
            <a:off x="4505258" y="4207258"/>
            <a:ext cx="49132" cy="49132"/>
          </a:xfrm>
          <a:prstGeom prst="ellipse">
            <a:avLst/>
          </a:prstGeom>
          <a:solidFill>
            <a:schemeClr val="accent1"/>
          </a:solidFill>
          <a:ln w="3175">
            <a:solidFill>
              <a:schemeClr val="accent1"/>
            </a:solidFill>
            <a:prstDash val="solid"/>
          </a:ln>
        </p:spPr>
      </p:sp>
      <p:sp>
        <p:nvSpPr>
          <p:cNvPr id="101" name="Potassium: electron, shell 3"/>
          <p:cNvSpPr/>
          <p:nvPr/>
        </p:nvSpPr>
        <p:spPr>
          <a:xfrm>
            <a:off x="4192666" y="3894666"/>
            <a:ext cx="49132" cy="49132"/>
          </a:xfrm>
          <a:prstGeom prst="ellipse">
            <a:avLst/>
          </a:prstGeom>
          <a:solidFill>
            <a:schemeClr val="accent1"/>
          </a:solidFill>
          <a:ln w="3175">
            <a:solidFill>
              <a:schemeClr val="accent1"/>
            </a:solidFill>
            <a:prstDash val="solid"/>
          </a:ln>
        </p:spPr>
      </p:sp>
      <p:sp>
        <p:nvSpPr>
          <p:cNvPr id="102" name="Potassium: electron, shell 3"/>
          <p:cNvSpPr/>
          <p:nvPr/>
        </p:nvSpPr>
        <p:spPr>
          <a:xfrm>
            <a:off x="4192666" y="3828602"/>
            <a:ext cx="49132" cy="49132"/>
          </a:xfrm>
          <a:prstGeom prst="ellipse">
            <a:avLst/>
          </a:prstGeom>
          <a:solidFill>
            <a:schemeClr val="accent1"/>
          </a:solidFill>
          <a:ln w="3175">
            <a:solidFill>
              <a:schemeClr val="accent1"/>
            </a:solidFill>
            <a:prstDash val="solid"/>
          </a:ln>
        </p:spPr>
      </p:sp>
      <p:sp>
        <p:nvSpPr>
          <p:cNvPr id="103" name="Potassium: electron, shell 4"/>
          <p:cNvSpPr/>
          <p:nvPr/>
        </p:nvSpPr>
        <p:spPr>
          <a:xfrm>
            <a:off x="4538290" y="3422722"/>
            <a:ext cx="49132" cy="49132"/>
          </a:xfrm>
          <a:prstGeom prst="ellipse">
            <a:avLst/>
          </a:prstGeom>
          <a:solidFill>
            <a:schemeClr val="accent1"/>
          </a:solidFill>
          <a:ln w="3175">
            <a:solidFill>
              <a:schemeClr val="accent1"/>
            </a:solidFill>
            <a:prstDash val="solid"/>
          </a:ln>
        </p:spPr>
      </p:sp>
      <p:sp>
        <p:nvSpPr>
          <p:cNvPr id="104" name="Magnesium"/>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05" name="Tile Mg"/>
          <p:cNvSpPr/>
          <p:nvPr/>
        </p:nvSpPr>
        <p:spPr>
          <a:xfrm>
            <a:off x="5559552" y="1911096"/>
            <a:ext cx="502920" cy="548640"/>
          </a:xfrm>
          <a:prstGeom prst="roundRect">
            <a:avLst>
              <a:gd name="adj" fmla="val 12000"/>
            </a:avLst>
          </a:prstGeom>
          <a:solidFill>
            <a:srgbClr val="FFCB5C">
              <a:alpha val="30000"/>
            </a:srgbClr>
          </a:solidFill>
          <a:ln w="19050">
            <a:solidFill>
              <a:srgbClr val="FFCB5C"/>
            </a:solidFill>
            <a:prstDash val="solid"/>
          </a:ln>
        </p:spPr>
      </p:sp>
      <p:sp>
        <p:nvSpPr>
          <p:cNvPr id="106" name="Text 104"/>
          <p:cNvSpPr txBox="1"/>
          <p:nvPr/>
        </p:nvSpPr>
        <p:spPr>
          <a:xfrm>
            <a:off x="5599786"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107" name="Text 105"/>
          <p:cNvSpPr txBox="1"/>
          <p:nvPr/>
        </p:nvSpPr>
        <p:spPr>
          <a:xfrm>
            <a:off x="5559552"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108" name="Text 106"/>
          <p:cNvSpPr txBox="1"/>
          <p:nvPr/>
        </p:nvSpPr>
        <p:spPr>
          <a:xfrm>
            <a:off x="6126480"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Magnesium</a:t>
            </a:r>
            <a:endParaRPr lang="en-US" sz="1200" dirty="0"/>
          </a:p>
        </p:txBody>
      </p:sp>
      <p:sp>
        <p:nvSpPr>
          <p:cNvPr id="109" name="Text 107"/>
          <p:cNvSpPr txBox="1"/>
          <p:nvPr/>
        </p:nvSpPr>
        <p:spPr>
          <a:xfrm>
            <a:off x="6126480"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12 electrons</a:t>
            </a:r>
            <a:endParaRPr lang="en-US" sz="1100" dirty="0"/>
          </a:p>
        </p:txBody>
      </p:sp>
      <p:sp>
        <p:nvSpPr>
          <p:cNvPr id="110" name="Text 108"/>
          <p:cNvSpPr/>
          <p:nvPr/>
        </p:nvSpPr>
        <p:spPr>
          <a:xfrm>
            <a:off x="5541264"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1" name="Text 109"/>
          <p:cNvSpPr txBox="1"/>
          <p:nvPr/>
        </p:nvSpPr>
        <p:spPr>
          <a:xfrm>
            <a:off x="554126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112" name="Text 110"/>
          <p:cNvSpPr/>
          <p:nvPr/>
        </p:nvSpPr>
        <p:spPr>
          <a:xfrm>
            <a:off x="5888736"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113" name="Text 111"/>
          <p:cNvSpPr txBox="1"/>
          <p:nvPr/>
        </p:nvSpPr>
        <p:spPr>
          <a:xfrm>
            <a:off x="588873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114" name="Text 112"/>
          <p:cNvSpPr/>
          <p:nvPr/>
        </p:nvSpPr>
        <p:spPr>
          <a:xfrm>
            <a:off x="6236208"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5" name="Text 113"/>
          <p:cNvSpPr txBox="1"/>
          <p:nvPr/>
        </p:nvSpPr>
        <p:spPr>
          <a:xfrm>
            <a:off x="623620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116" name="Text 114"/>
          <p:cNvSpPr/>
          <p:nvPr/>
        </p:nvSpPr>
        <p:spPr>
          <a:xfrm>
            <a:off x="6583680"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117" name="Text 115"/>
          <p:cNvSpPr txBox="1"/>
          <p:nvPr/>
        </p:nvSpPr>
        <p:spPr>
          <a:xfrm>
            <a:off x="6583680"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118" name="Magnesium: shell 1"/>
          <p:cNvSpPr/>
          <p:nvPr/>
        </p:nvSpPr>
        <p:spPr>
          <a:xfrm>
            <a:off x="6028311" y="3687447"/>
            <a:ext cx="397505" cy="397505"/>
          </a:xfrm>
          <a:prstGeom prst="ellipse">
            <a:avLst/>
          </a:prstGeom>
          <a:solidFill>
            <a:schemeClr val="bg1">
              <a:alpha val="0"/>
            </a:schemeClr>
          </a:solidFill>
          <a:ln w="15875">
            <a:solidFill>
              <a:schemeClr val="bg2">
                <a:alpha val="55000"/>
              </a:schemeClr>
            </a:solidFill>
            <a:prstDash val="solid"/>
          </a:ln>
        </p:spPr>
      </p:sp>
      <p:sp>
        <p:nvSpPr>
          <p:cNvPr id="119" name="Magnesium: shell 2"/>
          <p:cNvSpPr/>
          <p:nvPr/>
        </p:nvSpPr>
        <p:spPr>
          <a:xfrm>
            <a:off x="5904091" y="3563227"/>
            <a:ext cx="645946" cy="645946"/>
          </a:xfrm>
          <a:prstGeom prst="ellipse">
            <a:avLst/>
          </a:prstGeom>
          <a:solidFill>
            <a:schemeClr val="bg1">
              <a:alpha val="0"/>
            </a:schemeClr>
          </a:solidFill>
          <a:ln w="15875">
            <a:solidFill>
              <a:schemeClr val="bg2">
                <a:alpha val="55000"/>
              </a:schemeClr>
            </a:solidFill>
            <a:prstDash val="solid"/>
          </a:ln>
        </p:spPr>
      </p:sp>
      <p:sp>
        <p:nvSpPr>
          <p:cNvPr id="120" name="Magnesium: shell 3"/>
          <p:cNvSpPr/>
          <p:nvPr/>
        </p:nvSpPr>
        <p:spPr>
          <a:xfrm>
            <a:off x="5788152" y="3447288"/>
            <a:ext cx="877824" cy="877824"/>
          </a:xfrm>
          <a:prstGeom prst="ellipse">
            <a:avLst/>
          </a:prstGeom>
          <a:solidFill>
            <a:schemeClr val="bg1">
              <a:alpha val="0"/>
            </a:schemeClr>
          </a:solidFill>
          <a:ln w="15875">
            <a:solidFill>
              <a:schemeClr val="bg2">
                <a:alpha val="55000"/>
              </a:schemeClr>
            </a:solidFill>
            <a:prstDash val="solid"/>
          </a:ln>
        </p:spPr>
      </p:sp>
      <p:sp>
        <p:nvSpPr>
          <p:cNvPr id="121" name="Magnesium: nucleus"/>
          <p:cNvSpPr/>
          <p:nvPr/>
        </p:nvSpPr>
        <p:spPr>
          <a:xfrm>
            <a:off x="6098703" y="3757839"/>
            <a:ext cx="256722" cy="25672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22" name="Magnesium: electron, shell 1"/>
          <p:cNvSpPr/>
          <p:nvPr/>
        </p:nvSpPr>
        <p:spPr>
          <a:xfrm>
            <a:off x="6196009" y="3656392"/>
            <a:ext cx="62110" cy="62110"/>
          </a:xfrm>
          <a:prstGeom prst="ellipse">
            <a:avLst/>
          </a:prstGeom>
          <a:solidFill>
            <a:schemeClr val="accent1"/>
          </a:solidFill>
          <a:ln w="3175">
            <a:solidFill>
              <a:schemeClr val="accent1"/>
            </a:solidFill>
            <a:prstDash val="solid"/>
          </a:ln>
        </p:spPr>
      </p:sp>
      <p:sp>
        <p:nvSpPr>
          <p:cNvPr id="123" name="Magnesium: electron, shell 1"/>
          <p:cNvSpPr/>
          <p:nvPr/>
        </p:nvSpPr>
        <p:spPr>
          <a:xfrm>
            <a:off x="6394762" y="3855145"/>
            <a:ext cx="62110" cy="62110"/>
          </a:xfrm>
          <a:prstGeom prst="ellipse">
            <a:avLst/>
          </a:prstGeom>
          <a:solidFill>
            <a:schemeClr val="accent1"/>
          </a:solidFill>
          <a:ln w="3175">
            <a:solidFill>
              <a:schemeClr val="accent1"/>
            </a:solidFill>
            <a:prstDash val="solid"/>
          </a:ln>
        </p:spPr>
      </p:sp>
      <p:sp>
        <p:nvSpPr>
          <p:cNvPr id="124" name="Magnesium: electron, shell 2"/>
          <p:cNvSpPr/>
          <p:nvPr/>
        </p:nvSpPr>
        <p:spPr>
          <a:xfrm>
            <a:off x="6154305" y="3534876"/>
            <a:ext cx="62110" cy="62110"/>
          </a:xfrm>
          <a:prstGeom prst="ellipse">
            <a:avLst/>
          </a:prstGeom>
          <a:solidFill>
            <a:schemeClr val="accent1"/>
          </a:solidFill>
          <a:ln w="3175">
            <a:solidFill>
              <a:schemeClr val="accent1"/>
            </a:solidFill>
            <a:prstDash val="solid"/>
          </a:ln>
        </p:spPr>
      </p:sp>
      <p:sp>
        <p:nvSpPr>
          <p:cNvPr id="125" name="Magnesium: electron, shell 2"/>
          <p:cNvSpPr/>
          <p:nvPr/>
        </p:nvSpPr>
        <p:spPr>
          <a:xfrm>
            <a:off x="6237713" y="3534876"/>
            <a:ext cx="62110" cy="62110"/>
          </a:xfrm>
          <a:prstGeom prst="ellipse">
            <a:avLst/>
          </a:prstGeom>
          <a:solidFill>
            <a:schemeClr val="accent1"/>
          </a:solidFill>
          <a:ln w="3175">
            <a:solidFill>
              <a:schemeClr val="accent1"/>
            </a:solidFill>
            <a:prstDash val="solid"/>
          </a:ln>
        </p:spPr>
      </p:sp>
      <p:sp>
        <p:nvSpPr>
          <p:cNvPr id="126" name="Magnesium: electron, shell 2"/>
          <p:cNvSpPr/>
          <p:nvPr/>
        </p:nvSpPr>
        <p:spPr>
          <a:xfrm>
            <a:off x="6516278" y="3813441"/>
            <a:ext cx="62110" cy="62110"/>
          </a:xfrm>
          <a:prstGeom prst="ellipse">
            <a:avLst/>
          </a:prstGeom>
          <a:solidFill>
            <a:schemeClr val="accent1"/>
          </a:solidFill>
          <a:ln w="3175">
            <a:solidFill>
              <a:schemeClr val="accent1"/>
            </a:solidFill>
            <a:prstDash val="solid"/>
          </a:ln>
        </p:spPr>
      </p:sp>
      <p:sp>
        <p:nvSpPr>
          <p:cNvPr id="127" name="Magnesium: electron, shell 2"/>
          <p:cNvSpPr/>
          <p:nvPr/>
        </p:nvSpPr>
        <p:spPr>
          <a:xfrm>
            <a:off x="6516278" y="3896849"/>
            <a:ext cx="62110" cy="62110"/>
          </a:xfrm>
          <a:prstGeom prst="ellipse">
            <a:avLst/>
          </a:prstGeom>
          <a:solidFill>
            <a:schemeClr val="accent1"/>
          </a:solidFill>
          <a:ln w="3175">
            <a:solidFill>
              <a:schemeClr val="accent1"/>
            </a:solidFill>
            <a:prstDash val="solid"/>
          </a:ln>
        </p:spPr>
      </p:sp>
      <p:sp>
        <p:nvSpPr>
          <p:cNvPr id="128" name="Magnesium: electron, shell 2"/>
          <p:cNvSpPr/>
          <p:nvPr/>
        </p:nvSpPr>
        <p:spPr>
          <a:xfrm>
            <a:off x="6237713" y="4175414"/>
            <a:ext cx="62110" cy="62110"/>
          </a:xfrm>
          <a:prstGeom prst="ellipse">
            <a:avLst/>
          </a:prstGeom>
          <a:solidFill>
            <a:schemeClr val="accent1"/>
          </a:solidFill>
          <a:ln w="3175">
            <a:solidFill>
              <a:schemeClr val="accent1"/>
            </a:solidFill>
            <a:prstDash val="solid"/>
          </a:ln>
        </p:spPr>
      </p:sp>
      <p:sp>
        <p:nvSpPr>
          <p:cNvPr id="129" name="Magnesium: electron, shell 2"/>
          <p:cNvSpPr/>
          <p:nvPr/>
        </p:nvSpPr>
        <p:spPr>
          <a:xfrm>
            <a:off x="6154305" y="4175414"/>
            <a:ext cx="62110" cy="62110"/>
          </a:xfrm>
          <a:prstGeom prst="ellipse">
            <a:avLst/>
          </a:prstGeom>
          <a:solidFill>
            <a:schemeClr val="accent1"/>
          </a:solidFill>
          <a:ln w="3175">
            <a:solidFill>
              <a:schemeClr val="accent1"/>
            </a:solidFill>
            <a:prstDash val="solid"/>
          </a:ln>
        </p:spPr>
      </p:sp>
      <p:sp>
        <p:nvSpPr>
          <p:cNvPr id="130" name="Magnesium: electron, shell 2"/>
          <p:cNvSpPr/>
          <p:nvPr/>
        </p:nvSpPr>
        <p:spPr>
          <a:xfrm>
            <a:off x="5875740" y="3896849"/>
            <a:ext cx="62110" cy="62110"/>
          </a:xfrm>
          <a:prstGeom prst="ellipse">
            <a:avLst/>
          </a:prstGeom>
          <a:solidFill>
            <a:schemeClr val="accent1"/>
          </a:solidFill>
          <a:ln w="3175">
            <a:solidFill>
              <a:schemeClr val="accent1"/>
            </a:solidFill>
            <a:prstDash val="solid"/>
          </a:ln>
        </p:spPr>
      </p:sp>
      <p:sp>
        <p:nvSpPr>
          <p:cNvPr id="131" name="Magnesium: electron, shell 2"/>
          <p:cNvSpPr/>
          <p:nvPr/>
        </p:nvSpPr>
        <p:spPr>
          <a:xfrm>
            <a:off x="5875740" y="3813441"/>
            <a:ext cx="62110" cy="62110"/>
          </a:xfrm>
          <a:prstGeom prst="ellipse">
            <a:avLst/>
          </a:prstGeom>
          <a:solidFill>
            <a:schemeClr val="accent1"/>
          </a:solidFill>
          <a:ln w="3175">
            <a:solidFill>
              <a:schemeClr val="accent1"/>
            </a:solidFill>
            <a:prstDash val="solid"/>
          </a:ln>
        </p:spPr>
      </p:sp>
      <p:sp>
        <p:nvSpPr>
          <p:cNvPr id="132" name="Magnesium: electron, shell 3"/>
          <p:cNvSpPr/>
          <p:nvPr/>
        </p:nvSpPr>
        <p:spPr>
          <a:xfrm>
            <a:off x="6196009" y="3416233"/>
            <a:ext cx="62110" cy="62110"/>
          </a:xfrm>
          <a:prstGeom prst="ellipse">
            <a:avLst/>
          </a:prstGeom>
          <a:solidFill>
            <a:schemeClr val="accent1"/>
          </a:solidFill>
          <a:ln w="3175">
            <a:solidFill>
              <a:schemeClr val="accent1"/>
            </a:solidFill>
            <a:prstDash val="solid"/>
          </a:ln>
        </p:spPr>
      </p:sp>
      <p:sp>
        <p:nvSpPr>
          <p:cNvPr id="133" name="Magnesium: electron, shell 3"/>
          <p:cNvSpPr/>
          <p:nvPr/>
        </p:nvSpPr>
        <p:spPr>
          <a:xfrm>
            <a:off x="6634921" y="3855145"/>
            <a:ext cx="62110" cy="62110"/>
          </a:xfrm>
          <a:prstGeom prst="ellipse">
            <a:avLst/>
          </a:prstGeom>
          <a:solidFill>
            <a:schemeClr val="accent1"/>
          </a:solidFill>
          <a:ln w="3175">
            <a:solidFill>
              <a:schemeClr val="accent1"/>
            </a:solidFill>
            <a:prstDash val="solid"/>
          </a:ln>
        </p:spPr>
      </p:sp>
      <p:sp>
        <p:nvSpPr>
          <p:cNvPr id="134" name="Chlorine"/>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35" name="Tile Cl"/>
          <p:cNvSpPr/>
          <p:nvPr/>
        </p:nvSpPr>
        <p:spPr>
          <a:xfrm>
            <a:off x="7223760" y="1911096"/>
            <a:ext cx="502920" cy="548640"/>
          </a:xfrm>
          <a:prstGeom prst="roundRect">
            <a:avLst>
              <a:gd name="adj" fmla="val 12000"/>
            </a:avLst>
          </a:prstGeom>
          <a:solidFill>
            <a:srgbClr val="F477B8">
              <a:alpha val="30000"/>
            </a:srgbClr>
          </a:solidFill>
          <a:ln w="19050">
            <a:solidFill>
              <a:srgbClr val="F477B8"/>
            </a:solidFill>
            <a:prstDash val="solid"/>
          </a:ln>
        </p:spPr>
      </p:sp>
      <p:sp>
        <p:nvSpPr>
          <p:cNvPr id="136" name="Text 134"/>
          <p:cNvSpPr txBox="1"/>
          <p:nvPr/>
        </p:nvSpPr>
        <p:spPr>
          <a:xfrm>
            <a:off x="7263994" y="1938528"/>
            <a:ext cx="301752" cy="131674"/>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137" name="Text 135"/>
          <p:cNvSpPr txBox="1"/>
          <p:nvPr/>
        </p:nvSpPr>
        <p:spPr>
          <a:xfrm>
            <a:off x="7223760" y="199887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138" name="Text 136"/>
          <p:cNvSpPr txBox="1"/>
          <p:nvPr/>
        </p:nvSpPr>
        <p:spPr>
          <a:xfrm>
            <a:off x="7790688" y="1911096"/>
            <a:ext cx="868680" cy="274320"/>
          </a:xfrm>
          <a:prstGeom prst="rect">
            <a:avLst/>
          </a:prstGeom>
          <a:noFill/>
          <a:ln/>
        </p:spPr>
        <p:txBody>
          <a:bodyPr wrap="square" lIns="0" tIns="0" rIns="0" bIns="0" rtlCol="0" anchor="t"/>
          <a:lstStyle/>
          <a:p>
            <a:pPr indent="0" marL="0">
              <a:buNone/>
            </a:pPr>
            <a:r>
              <a:rPr lang="en-US" sz="1200" b="1" dirty="0">
                <a:solidFill>
                  <a:schemeClr val="bg1"/>
                </a:solidFill>
              </a:rPr>
              <a:t>Chlorine</a:t>
            </a:r>
            <a:endParaRPr lang="en-US" sz="1200" dirty="0"/>
          </a:p>
        </p:txBody>
      </p:sp>
      <p:sp>
        <p:nvSpPr>
          <p:cNvPr id="139" name="Text 137"/>
          <p:cNvSpPr txBox="1"/>
          <p:nvPr/>
        </p:nvSpPr>
        <p:spPr>
          <a:xfrm>
            <a:off x="7790688" y="2185416"/>
            <a:ext cx="868680" cy="237744"/>
          </a:xfrm>
          <a:prstGeom prst="rect">
            <a:avLst/>
          </a:prstGeom>
          <a:noFill/>
          <a:ln/>
        </p:spPr>
        <p:txBody>
          <a:bodyPr wrap="square" lIns="0" tIns="0" rIns="0" bIns="0" rtlCol="0" anchor="t"/>
          <a:lstStyle/>
          <a:p>
            <a:pPr indent="0" marL="0">
              <a:buNone/>
            </a:pPr>
            <a:r>
              <a:rPr lang="en-US" sz="1100" dirty="0">
                <a:solidFill>
                  <a:schemeClr val="bg2"/>
                </a:solidFill>
              </a:rPr>
              <a:t>17 electrons</a:t>
            </a:r>
            <a:endParaRPr lang="en-US" sz="1100" dirty="0"/>
          </a:p>
        </p:txBody>
      </p:sp>
      <p:sp>
        <p:nvSpPr>
          <p:cNvPr id="140" name="Text 138"/>
          <p:cNvSpPr/>
          <p:nvPr/>
        </p:nvSpPr>
        <p:spPr>
          <a:xfrm>
            <a:off x="7205472"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1" name="Text 139"/>
          <p:cNvSpPr txBox="1"/>
          <p:nvPr/>
        </p:nvSpPr>
        <p:spPr>
          <a:xfrm>
            <a:off x="7205472"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1</a:t>
            </a:r>
            <a:endParaRPr lang="en-US" sz="900" dirty="0"/>
          </a:p>
        </p:txBody>
      </p:sp>
      <p:sp>
        <p:nvSpPr>
          <p:cNvPr id="142" name="Text 140"/>
          <p:cNvSpPr/>
          <p:nvPr/>
        </p:nvSpPr>
        <p:spPr>
          <a:xfrm>
            <a:off x="7552944"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143" name="Text 141"/>
          <p:cNvSpPr txBox="1"/>
          <p:nvPr/>
        </p:nvSpPr>
        <p:spPr>
          <a:xfrm>
            <a:off x="7552944"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2</a:t>
            </a:r>
            <a:endParaRPr lang="en-US" sz="900" dirty="0"/>
          </a:p>
        </p:txBody>
      </p:sp>
      <p:sp>
        <p:nvSpPr>
          <p:cNvPr id="144" name="Text 142"/>
          <p:cNvSpPr/>
          <p:nvPr/>
        </p:nvSpPr>
        <p:spPr>
          <a:xfrm>
            <a:off x="7900416"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45" name="Text 143"/>
          <p:cNvSpPr txBox="1"/>
          <p:nvPr/>
        </p:nvSpPr>
        <p:spPr>
          <a:xfrm>
            <a:off x="7900416"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3</a:t>
            </a:r>
            <a:endParaRPr lang="en-US" sz="900" dirty="0"/>
          </a:p>
        </p:txBody>
      </p:sp>
      <p:sp>
        <p:nvSpPr>
          <p:cNvPr id="146" name="Text 144"/>
          <p:cNvSpPr/>
          <p:nvPr/>
        </p:nvSpPr>
        <p:spPr>
          <a:xfrm>
            <a:off x="8247888" y="2624328"/>
            <a:ext cx="310896" cy="365760"/>
          </a:xfrm>
          <a:prstGeom prst="roundRect">
            <a:avLst>
              <a:gd name="adj" fmla="val 14706"/>
            </a:avLst>
          </a:prstGeom>
          <a:solidFill>
            <a:schemeClr val="accent4">
              <a:alpha val="18000"/>
            </a:schemeClr>
          </a:solidFill>
          <a:ln w="12700">
            <a:solidFill>
              <a:schemeClr val="accent4"/>
            </a:solid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147" name="Text 145"/>
          <p:cNvSpPr txBox="1"/>
          <p:nvPr/>
        </p:nvSpPr>
        <p:spPr>
          <a:xfrm>
            <a:off x="8247888" y="3008376"/>
            <a:ext cx="310896" cy="182880"/>
          </a:xfrm>
          <a:prstGeom prst="rect">
            <a:avLst/>
          </a:prstGeom>
          <a:noFill/>
          <a:ln/>
        </p:spPr>
        <p:txBody>
          <a:bodyPr wrap="square" lIns="0" tIns="0" rIns="0" bIns="0" rtlCol="0" anchor="t"/>
          <a:lstStyle/>
          <a:p>
            <a:pPr algn="ctr" indent="0" marL="0">
              <a:buNone/>
            </a:pPr>
            <a:r>
              <a:rPr lang="en-US" sz="900" dirty="0">
                <a:solidFill>
                  <a:schemeClr val="bg2"/>
                </a:solidFill>
              </a:rPr>
              <a:t>4</a:t>
            </a:r>
            <a:endParaRPr lang="en-US" sz="900" dirty="0"/>
          </a:p>
        </p:txBody>
      </p:sp>
      <p:sp>
        <p:nvSpPr>
          <p:cNvPr id="148" name="Chlorine: shell 1"/>
          <p:cNvSpPr/>
          <p:nvPr/>
        </p:nvSpPr>
        <p:spPr>
          <a:xfrm>
            <a:off x="7692519" y="3687447"/>
            <a:ext cx="397505" cy="397505"/>
          </a:xfrm>
          <a:prstGeom prst="ellipse">
            <a:avLst/>
          </a:prstGeom>
          <a:solidFill>
            <a:schemeClr val="bg1">
              <a:alpha val="0"/>
            </a:schemeClr>
          </a:solidFill>
          <a:ln w="15875">
            <a:solidFill>
              <a:schemeClr val="bg2">
                <a:alpha val="55000"/>
              </a:schemeClr>
            </a:solidFill>
            <a:prstDash val="solid"/>
          </a:ln>
        </p:spPr>
      </p:sp>
      <p:sp>
        <p:nvSpPr>
          <p:cNvPr id="149" name="Chlorine: shell 2"/>
          <p:cNvSpPr/>
          <p:nvPr/>
        </p:nvSpPr>
        <p:spPr>
          <a:xfrm>
            <a:off x="7568299" y="3563227"/>
            <a:ext cx="645946" cy="645946"/>
          </a:xfrm>
          <a:prstGeom prst="ellipse">
            <a:avLst/>
          </a:prstGeom>
          <a:solidFill>
            <a:schemeClr val="bg1">
              <a:alpha val="0"/>
            </a:schemeClr>
          </a:solidFill>
          <a:ln w="15875">
            <a:solidFill>
              <a:schemeClr val="bg2">
                <a:alpha val="55000"/>
              </a:schemeClr>
            </a:solidFill>
            <a:prstDash val="solid"/>
          </a:ln>
        </p:spPr>
      </p:sp>
      <p:sp>
        <p:nvSpPr>
          <p:cNvPr id="150" name="Chlorine: shell 3"/>
          <p:cNvSpPr/>
          <p:nvPr/>
        </p:nvSpPr>
        <p:spPr>
          <a:xfrm>
            <a:off x="7452360" y="3447288"/>
            <a:ext cx="877824" cy="877824"/>
          </a:xfrm>
          <a:prstGeom prst="ellipse">
            <a:avLst/>
          </a:prstGeom>
          <a:solidFill>
            <a:schemeClr val="bg1">
              <a:alpha val="0"/>
            </a:schemeClr>
          </a:solidFill>
          <a:ln w="15875">
            <a:solidFill>
              <a:schemeClr val="bg2">
                <a:alpha val="55000"/>
              </a:schemeClr>
            </a:solidFill>
            <a:prstDash val="solid"/>
          </a:ln>
        </p:spPr>
      </p:sp>
      <p:sp>
        <p:nvSpPr>
          <p:cNvPr id="151" name="Chlorine: nucleus"/>
          <p:cNvSpPr/>
          <p:nvPr/>
        </p:nvSpPr>
        <p:spPr>
          <a:xfrm>
            <a:off x="7762911" y="3757839"/>
            <a:ext cx="256722" cy="25672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52" name="Chlorine: electron, shell 1"/>
          <p:cNvSpPr/>
          <p:nvPr/>
        </p:nvSpPr>
        <p:spPr>
          <a:xfrm>
            <a:off x="7860217" y="3656392"/>
            <a:ext cx="62110" cy="62110"/>
          </a:xfrm>
          <a:prstGeom prst="ellipse">
            <a:avLst/>
          </a:prstGeom>
          <a:solidFill>
            <a:schemeClr val="accent1"/>
          </a:solidFill>
          <a:ln w="3175">
            <a:solidFill>
              <a:schemeClr val="accent1"/>
            </a:solidFill>
            <a:prstDash val="solid"/>
          </a:ln>
        </p:spPr>
      </p:sp>
      <p:sp>
        <p:nvSpPr>
          <p:cNvPr id="153" name="Chlorine: electron, shell 1"/>
          <p:cNvSpPr/>
          <p:nvPr/>
        </p:nvSpPr>
        <p:spPr>
          <a:xfrm>
            <a:off x="8058970" y="3855145"/>
            <a:ext cx="62110" cy="62110"/>
          </a:xfrm>
          <a:prstGeom prst="ellipse">
            <a:avLst/>
          </a:prstGeom>
          <a:solidFill>
            <a:schemeClr val="accent1"/>
          </a:solidFill>
          <a:ln w="3175">
            <a:solidFill>
              <a:schemeClr val="accent1"/>
            </a:solidFill>
            <a:prstDash val="solid"/>
          </a:ln>
        </p:spPr>
      </p:sp>
      <p:sp>
        <p:nvSpPr>
          <p:cNvPr id="154" name="Chlorine: electron, shell 2"/>
          <p:cNvSpPr/>
          <p:nvPr/>
        </p:nvSpPr>
        <p:spPr>
          <a:xfrm>
            <a:off x="7818513" y="3534876"/>
            <a:ext cx="62110" cy="62110"/>
          </a:xfrm>
          <a:prstGeom prst="ellipse">
            <a:avLst/>
          </a:prstGeom>
          <a:solidFill>
            <a:schemeClr val="accent1"/>
          </a:solidFill>
          <a:ln w="3175">
            <a:solidFill>
              <a:schemeClr val="accent1"/>
            </a:solidFill>
            <a:prstDash val="solid"/>
          </a:ln>
        </p:spPr>
      </p:sp>
      <p:sp>
        <p:nvSpPr>
          <p:cNvPr id="155" name="Chlorine: electron, shell 2"/>
          <p:cNvSpPr/>
          <p:nvPr/>
        </p:nvSpPr>
        <p:spPr>
          <a:xfrm>
            <a:off x="7901921" y="3534876"/>
            <a:ext cx="62110" cy="62110"/>
          </a:xfrm>
          <a:prstGeom prst="ellipse">
            <a:avLst/>
          </a:prstGeom>
          <a:solidFill>
            <a:schemeClr val="accent1"/>
          </a:solidFill>
          <a:ln w="3175">
            <a:solidFill>
              <a:schemeClr val="accent1"/>
            </a:solidFill>
            <a:prstDash val="solid"/>
          </a:ln>
        </p:spPr>
      </p:sp>
      <p:sp>
        <p:nvSpPr>
          <p:cNvPr id="156" name="Chlorine: electron, shell 2"/>
          <p:cNvSpPr/>
          <p:nvPr/>
        </p:nvSpPr>
        <p:spPr>
          <a:xfrm>
            <a:off x="8180486" y="3813441"/>
            <a:ext cx="62110" cy="62110"/>
          </a:xfrm>
          <a:prstGeom prst="ellipse">
            <a:avLst/>
          </a:prstGeom>
          <a:solidFill>
            <a:schemeClr val="accent1"/>
          </a:solidFill>
          <a:ln w="3175">
            <a:solidFill>
              <a:schemeClr val="accent1"/>
            </a:solidFill>
            <a:prstDash val="solid"/>
          </a:ln>
        </p:spPr>
      </p:sp>
      <p:sp>
        <p:nvSpPr>
          <p:cNvPr id="157" name="Chlorine: electron, shell 2"/>
          <p:cNvSpPr/>
          <p:nvPr/>
        </p:nvSpPr>
        <p:spPr>
          <a:xfrm>
            <a:off x="8180486" y="3896849"/>
            <a:ext cx="62110" cy="62110"/>
          </a:xfrm>
          <a:prstGeom prst="ellipse">
            <a:avLst/>
          </a:prstGeom>
          <a:solidFill>
            <a:schemeClr val="accent1"/>
          </a:solidFill>
          <a:ln w="3175">
            <a:solidFill>
              <a:schemeClr val="accent1"/>
            </a:solidFill>
            <a:prstDash val="solid"/>
          </a:ln>
        </p:spPr>
      </p:sp>
      <p:sp>
        <p:nvSpPr>
          <p:cNvPr id="158" name="Chlorine: electron, shell 2"/>
          <p:cNvSpPr/>
          <p:nvPr/>
        </p:nvSpPr>
        <p:spPr>
          <a:xfrm>
            <a:off x="7901921" y="4175414"/>
            <a:ext cx="62110" cy="62110"/>
          </a:xfrm>
          <a:prstGeom prst="ellipse">
            <a:avLst/>
          </a:prstGeom>
          <a:solidFill>
            <a:schemeClr val="accent1"/>
          </a:solidFill>
          <a:ln w="3175">
            <a:solidFill>
              <a:schemeClr val="accent1"/>
            </a:solidFill>
            <a:prstDash val="solid"/>
          </a:ln>
        </p:spPr>
      </p:sp>
      <p:sp>
        <p:nvSpPr>
          <p:cNvPr id="159" name="Chlorine: electron, shell 2"/>
          <p:cNvSpPr/>
          <p:nvPr/>
        </p:nvSpPr>
        <p:spPr>
          <a:xfrm>
            <a:off x="7818513" y="4175414"/>
            <a:ext cx="62110" cy="62110"/>
          </a:xfrm>
          <a:prstGeom prst="ellipse">
            <a:avLst/>
          </a:prstGeom>
          <a:solidFill>
            <a:schemeClr val="accent1"/>
          </a:solidFill>
          <a:ln w="3175">
            <a:solidFill>
              <a:schemeClr val="accent1"/>
            </a:solidFill>
            <a:prstDash val="solid"/>
          </a:ln>
        </p:spPr>
      </p:sp>
      <p:sp>
        <p:nvSpPr>
          <p:cNvPr id="160" name="Chlorine: electron, shell 2"/>
          <p:cNvSpPr/>
          <p:nvPr/>
        </p:nvSpPr>
        <p:spPr>
          <a:xfrm>
            <a:off x="7539948" y="3896849"/>
            <a:ext cx="62110" cy="62110"/>
          </a:xfrm>
          <a:prstGeom prst="ellipse">
            <a:avLst/>
          </a:prstGeom>
          <a:solidFill>
            <a:schemeClr val="accent1"/>
          </a:solidFill>
          <a:ln w="3175">
            <a:solidFill>
              <a:schemeClr val="accent1"/>
            </a:solidFill>
            <a:prstDash val="solid"/>
          </a:ln>
        </p:spPr>
      </p:sp>
      <p:sp>
        <p:nvSpPr>
          <p:cNvPr id="161" name="Chlorine: electron, shell 2"/>
          <p:cNvSpPr/>
          <p:nvPr/>
        </p:nvSpPr>
        <p:spPr>
          <a:xfrm>
            <a:off x="7539948" y="3813441"/>
            <a:ext cx="62110" cy="62110"/>
          </a:xfrm>
          <a:prstGeom prst="ellipse">
            <a:avLst/>
          </a:prstGeom>
          <a:solidFill>
            <a:schemeClr val="accent1"/>
          </a:solidFill>
          <a:ln w="3175">
            <a:solidFill>
              <a:schemeClr val="accent1"/>
            </a:solidFill>
            <a:prstDash val="solid"/>
          </a:ln>
        </p:spPr>
      </p:sp>
      <p:sp>
        <p:nvSpPr>
          <p:cNvPr id="162" name="Chlorine: electron, shell 3"/>
          <p:cNvSpPr/>
          <p:nvPr/>
        </p:nvSpPr>
        <p:spPr>
          <a:xfrm>
            <a:off x="7818459" y="3418224"/>
            <a:ext cx="62110" cy="62110"/>
          </a:xfrm>
          <a:prstGeom prst="ellipse">
            <a:avLst/>
          </a:prstGeom>
          <a:solidFill>
            <a:schemeClr val="accent1"/>
          </a:solidFill>
          <a:ln w="3175">
            <a:solidFill>
              <a:schemeClr val="accent1"/>
            </a:solidFill>
            <a:prstDash val="solid"/>
          </a:ln>
        </p:spPr>
      </p:sp>
      <p:sp>
        <p:nvSpPr>
          <p:cNvPr id="163" name="Chlorine: electron, shell 3"/>
          <p:cNvSpPr/>
          <p:nvPr/>
        </p:nvSpPr>
        <p:spPr>
          <a:xfrm>
            <a:off x="7901975" y="3418224"/>
            <a:ext cx="62110" cy="62110"/>
          </a:xfrm>
          <a:prstGeom prst="ellipse">
            <a:avLst/>
          </a:prstGeom>
          <a:solidFill>
            <a:schemeClr val="accent1"/>
          </a:solidFill>
          <a:ln w="3175">
            <a:solidFill>
              <a:schemeClr val="accent1"/>
            </a:solidFill>
            <a:prstDash val="solid"/>
          </a:ln>
        </p:spPr>
      </p:sp>
      <p:sp>
        <p:nvSpPr>
          <p:cNvPr id="164" name="Chlorine: electron, shell 3"/>
          <p:cNvSpPr/>
          <p:nvPr/>
        </p:nvSpPr>
        <p:spPr>
          <a:xfrm>
            <a:off x="8297138" y="3813387"/>
            <a:ext cx="62110" cy="62110"/>
          </a:xfrm>
          <a:prstGeom prst="ellipse">
            <a:avLst/>
          </a:prstGeom>
          <a:solidFill>
            <a:schemeClr val="accent1"/>
          </a:solidFill>
          <a:ln w="3175">
            <a:solidFill>
              <a:schemeClr val="accent1"/>
            </a:solidFill>
            <a:prstDash val="solid"/>
          </a:ln>
        </p:spPr>
      </p:sp>
      <p:sp>
        <p:nvSpPr>
          <p:cNvPr id="165" name="Chlorine: electron, shell 3"/>
          <p:cNvSpPr/>
          <p:nvPr/>
        </p:nvSpPr>
        <p:spPr>
          <a:xfrm>
            <a:off x="8297138" y="3896903"/>
            <a:ext cx="62110" cy="62110"/>
          </a:xfrm>
          <a:prstGeom prst="ellipse">
            <a:avLst/>
          </a:prstGeom>
          <a:solidFill>
            <a:schemeClr val="accent1"/>
          </a:solidFill>
          <a:ln w="3175">
            <a:solidFill>
              <a:schemeClr val="accent1"/>
            </a:solidFill>
            <a:prstDash val="solid"/>
          </a:ln>
        </p:spPr>
      </p:sp>
      <p:sp>
        <p:nvSpPr>
          <p:cNvPr id="166" name="Chlorine: electron, shell 3"/>
          <p:cNvSpPr/>
          <p:nvPr/>
        </p:nvSpPr>
        <p:spPr>
          <a:xfrm>
            <a:off x="7901975" y="4292066"/>
            <a:ext cx="62110" cy="62110"/>
          </a:xfrm>
          <a:prstGeom prst="ellipse">
            <a:avLst/>
          </a:prstGeom>
          <a:solidFill>
            <a:schemeClr val="accent1"/>
          </a:solidFill>
          <a:ln w="3175">
            <a:solidFill>
              <a:schemeClr val="accent1"/>
            </a:solidFill>
            <a:prstDash val="solid"/>
          </a:ln>
        </p:spPr>
      </p:sp>
      <p:sp>
        <p:nvSpPr>
          <p:cNvPr id="167" name="Chlorine: electron, shell 3"/>
          <p:cNvSpPr/>
          <p:nvPr/>
        </p:nvSpPr>
        <p:spPr>
          <a:xfrm>
            <a:off x="7818459" y="4292066"/>
            <a:ext cx="62110" cy="62110"/>
          </a:xfrm>
          <a:prstGeom prst="ellipse">
            <a:avLst/>
          </a:prstGeom>
          <a:solidFill>
            <a:schemeClr val="accent1"/>
          </a:solidFill>
          <a:ln w="3175">
            <a:solidFill>
              <a:schemeClr val="accent1"/>
            </a:solidFill>
            <a:prstDash val="solid"/>
          </a:ln>
        </p:spPr>
      </p:sp>
      <p:sp>
        <p:nvSpPr>
          <p:cNvPr id="168" name="Chlorine: electron, shell 3"/>
          <p:cNvSpPr/>
          <p:nvPr/>
        </p:nvSpPr>
        <p:spPr>
          <a:xfrm>
            <a:off x="7421305" y="3855145"/>
            <a:ext cx="62110" cy="62110"/>
          </a:xfrm>
          <a:prstGeom prst="ellipse">
            <a:avLst/>
          </a:prstGeom>
          <a:solidFill>
            <a:schemeClr val="accent1"/>
          </a:solidFill>
          <a:ln w="3175">
            <a:solidFill>
              <a:schemeClr val="accent1"/>
            </a:solidFill>
            <a:prstDash val="solid"/>
          </a:ln>
        </p:spPr>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Calcium has 20 electrons. Which electron arrangement is correct?</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2, 8, 10</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2, 8, 8, 2</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2, 18</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2, 8, 9, 1</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le Be"/>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Be</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Calcium has 20 electrons. Which electron arrangement is correct?</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2, 8, 10</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2, 8, 8, 2</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2, 18</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2, 8, 9, 1</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For the first 20 elements, shell 3 holds 8. The last 2 electrons start shell 4.</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5 of 9 · about 7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Place electrons the class way</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Our class rule</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Watch it</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Where does the next electron go?</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Six electrons in one shell</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Watch the placement demo</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Finish all 5 placement rounds</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Our class rule</a:t>
            </a:r>
            <a:endParaRPr lang="en-US" sz="2800" dirty="0"/>
          </a:p>
        </p:txBody>
      </p:sp>
      <p:sp>
        <p:nvSpPr>
          <p:cNvPr id="8" name="Text 6"/>
          <p:cNvSpPr txBox="1"/>
          <p:nvPr/>
        </p:nvSpPr>
        <p:spPr>
          <a:xfrm>
            <a:off x="457200" y="1325880"/>
            <a:ext cx="4572000" cy="548640"/>
          </a:xfrm>
          <a:prstGeom prst="rect">
            <a:avLst/>
          </a:prstGeom>
          <a:noFill/>
          <a:ln/>
        </p:spPr>
        <p:txBody>
          <a:bodyPr wrap="square" lIns="0" tIns="0" rIns="0" bIns="0" rtlCol="0" anchor="t"/>
          <a:lstStyle/>
          <a:p>
            <a:pPr indent="0" marL="0">
              <a:spcAft>
                <a:spcPts val="800"/>
              </a:spcAft>
              <a:buNone/>
            </a:pPr>
            <a:r>
              <a:rPr lang="en-US" sz="1600" dirty="0">
                <a:solidFill>
                  <a:schemeClr val="bg1"/>
                </a:solidFill>
              </a:rPr>
              <a:t>Everyone in class places electrons the same way, so all our drawings match. In </a:t>
            </a:r>
            <a:pPr indent="0" marL="0">
              <a:spcAft>
                <a:spcPts val="800"/>
              </a:spcAft>
              <a:buNone/>
            </a:pPr>
            <a:r>
              <a:rPr lang="en-US" sz="1600" b="1" dirty="0">
                <a:solidFill>
                  <a:schemeClr val="bg1"/>
                </a:solidFill>
              </a:rPr>
              <a:t>every shell</a:t>
            </a:r>
            <a:pPr indent="0" marL="0">
              <a:spcAft>
                <a:spcPts val="800"/>
              </a:spcAft>
              <a:buNone/>
            </a:pPr>
            <a:r>
              <a:rPr lang="en-US" sz="1600" dirty="0">
                <a:solidFill>
                  <a:schemeClr val="bg1"/>
                </a:solidFill>
              </a:rPr>
              <a:t>:</a:t>
            </a:r>
            <a:endParaRPr lang="en-US" sz="1600" dirty="0"/>
          </a:p>
        </p:txBody>
      </p:sp>
      <p:sp>
        <p:nvSpPr>
          <p:cNvPr id="9" name="Text 7"/>
          <p:cNvSpPr/>
          <p:nvPr/>
        </p:nvSpPr>
        <p:spPr>
          <a:xfrm>
            <a:off x="457200" y="2002536"/>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Text 8"/>
          <p:cNvSpPr txBox="1"/>
          <p:nvPr/>
        </p:nvSpPr>
        <p:spPr>
          <a:xfrm>
            <a:off x="1005840" y="1965960"/>
            <a:ext cx="4023360" cy="749808"/>
          </a:xfrm>
          <a:prstGeom prst="rect">
            <a:avLst/>
          </a:prstGeom>
          <a:noFill/>
          <a:ln/>
        </p:spPr>
        <p:txBody>
          <a:bodyPr wrap="square" lIns="0" tIns="0" rIns="0" bIns="0" rtlCol="0" anchor="t"/>
          <a:lstStyle/>
          <a:p>
            <a:pPr indent="0" marL="0">
              <a:buNone/>
            </a:pPr>
            <a:r>
              <a:rPr lang="en-US" sz="1500" dirty="0">
                <a:solidFill>
                  <a:schemeClr val="bg1"/>
                </a:solidFill>
              </a:rPr>
              <a:t>Place electrons one at a time: </a:t>
            </a:r>
            <a:pPr indent="0" marL="0">
              <a:buNone/>
            </a:pPr>
            <a:r>
              <a:rPr lang="en-US" sz="1500" b="1" dirty="0">
                <a:solidFill>
                  <a:schemeClr val="bg1"/>
                </a:solidFill>
              </a:rPr>
              <a:t>top, right, bottom, left</a:t>
            </a:r>
            <a:pPr indent="0" marL="0">
              <a:buNone/>
            </a:pPr>
            <a:r>
              <a:rPr lang="en-US" sz="1500" dirty="0">
                <a:solidFill>
                  <a:schemeClr val="bg1"/>
                </a:solidFill>
              </a:rPr>
              <a:t>.</a:t>
            </a:r>
            <a:endParaRPr lang="en-US" sz="1500" dirty="0"/>
          </a:p>
        </p:txBody>
      </p:sp>
      <p:sp>
        <p:nvSpPr>
          <p:cNvPr id="11" name="Text 9"/>
          <p:cNvSpPr/>
          <p:nvPr/>
        </p:nvSpPr>
        <p:spPr>
          <a:xfrm>
            <a:off x="457200" y="2825496"/>
            <a:ext cx="384048" cy="38404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10"/>
          <p:cNvSpPr txBox="1"/>
          <p:nvPr/>
        </p:nvSpPr>
        <p:spPr>
          <a:xfrm>
            <a:off x="1005840" y="2788920"/>
            <a:ext cx="4023360" cy="749808"/>
          </a:xfrm>
          <a:prstGeom prst="rect">
            <a:avLst/>
          </a:prstGeom>
          <a:noFill/>
          <a:ln/>
        </p:spPr>
        <p:txBody>
          <a:bodyPr wrap="square" lIns="0" tIns="0" rIns="0" bIns="0" rtlCol="0" anchor="t"/>
          <a:lstStyle/>
          <a:p>
            <a:pPr indent="0" marL="0">
              <a:buNone/>
            </a:pPr>
            <a:r>
              <a:rPr lang="en-US" sz="1500" dirty="0">
                <a:solidFill>
                  <a:schemeClr val="bg1"/>
                </a:solidFill>
              </a:rPr>
              <a:t>Starting with the 5th electron, pair up: the 5th joins the 1st on top, then the right, the bottom, and the left.</a:t>
            </a:r>
            <a:endParaRPr lang="en-US" sz="1500" dirty="0"/>
          </a:p>
        </p:txBody>
      </p:sp>
      <p:sp>
        <p:nvSpPr>
          <p:cNvPr id="13" name="Text 11"/>
          <p:cNvSpPr txBox="1"/>
          <p:nvPr/>
        </p:nvSpPr>
        <p:spPr>
          <a:xfrm>
            <a:off x="457200" y="3749040"/>
            <a:ext cx="4572000" cy="365760"/>
          </a:xfrm>
          <a:prstGeom prst="rect">
            <a:avLst/>
          </a:prstGeom>
          <a:noFill/>
          <a:ln/>
        </p:spPr>
        <p:txBody>
          <a:bodyPr wrap="square" lIns="0" tIns="0" rIns="0" bIns="0" rtlCol="0" anchor="t"/>
          <a:lstStyle/>
          <a:p>
            <a:pPr indent="0" marL="0">
              <a:buNone/>
            </a:pPr>
            <a:r>
              <a:rPr lang="en-US" sz="1300" dirty="0">
                <a:solidFill>
                  <a:schemeClr val="bg2"/>
                </a:solidFill>
              </a:rPr>
              <a:t>Shell 1 only holds 2, so its electrons go top, then right.</a:t>
            </a:r>
            <a:endParaRPr lang="en-US" sz="1300" dirty="0"/>
          </a:p>
        </p:txBody>
      </p:sp>
      <p:sp>
        <p:nvSpPr>
          <p:cNvPr id="14" name="Shell"/>
          <p:cNvSpPr/>
          <p:nvPr/>
        </p:nvSpPr>
        <p:spPr>
          <a:xfrm>
            <a:off x="5889346" y="1820266"/>
            <a:ext cx="2028749" cy="2028749"/>
          </a:xfrm>
          <a:prstGeom prst="ellipse">
            <a:avLst/>
          </a:prstGeom>
          <a:solidFill>
            <a:schemeClr val="bg1">
              <a:alpha val="0"/>
            </a:schemeClr>
          </a:solidFill>
          <a:ln w="15875">
            <a:solidFill>
              <a:schemeClr val="bg2">
                <a:alpha val="55000"/>
              </a:schemeClr>
            </a:solidFill>
            <a:prstDash val="solid"/>
          </a:ln>
        </p:spPr>
      </p:sp>
      <p:sp>
        <p:nvSpPr>
          <p:cNvPr id="15" name="Nucleus"/>
          <p:cNvSpPr/>
          <p:nvPr/>
        </p:nvSpPr>
        <p:spPr>
          <a:xfrm>
            <a:off x="6611112" y="2542032"/>
            <a:ext cx="585216" cy="585216"/>
          </a:xfrm>
          <a:prstGeom prst="ellipse">
            <a:avLst/>
          </a:prstGeom>
          <a:solidFill>
            <a:schemeClr val="accent3"/>
          </a:solidFill>
          <a:ln w="6350">
            <a:solidFill>
              <a:schemeClr val="accent3"/>
            </a:solidFill>
            <a:prstDash val="solid"/>
          </a:ln>
        </p:spPr>
      </p:sp>
      <p:sp>
        <p:nvSpPr>
          <p:cNvPr id="16" name="Electron 1"/>
          <p:cNvSpPr/>
          <p:nvPr/>
        </p:nvSpPr>
        <p:spPr>
          <a:xfrm>
            <a:off x="6631126" y="1704001"/>
            <a:ext cx="253594" cy="25359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7" name="Electron 2"/>
          <p:cNvSpPr/>
          <p:nvPr/>
        </p:nvSpPr>
        <p:spPr>
          <a:xfrm>
            <a:off x="7780765" y="2562046"/>
            <a:ext cx="253594" cy="25359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8" name="Electron 3"/>
          <p:cNvSpPr/>
          <p:nvPr/>
        </p:nvSpPr>
        <p:spPr>
          <a:xfrm>
            <a:off x="6922720" y="3711685"/>
            <a:ext cx="253594" cy="25359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9" name="Electron 4"/>
          <p:cNvSpPr/>
          <p:nvPr/>
        </p:nvSpPr>
        <p:spPr>
          <a:xfrm>
            <a:off x="5773081" y="2853640"/>
            <a:ext cx="253594" cy="25359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20" name="Electron 5"/>
          <p:cNvSpPr/>
          <p:nvPr/>
        </p:nvSpPr>
        <p:spPr>
          <a:xfrm>
            <a:off x="6922720" y="1704001"/>
            <a:ext cx="253594" cy="253594"/>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21" name="Electron 6"/>
          <p:cNvSpPr/>
          <p:nvPr/>
        </p:nvSpPr>
        <p:spPr>
          <a:xfrm>
            <a:off x="7780765" y="2853640"/>
            <a:ext cx="253594" cy="253594"/>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22" name="Electron 7"/>
          <p:cNvSpPr/>
          <p:nvPr/>
        </p:nvSpPr>
        <p:spPr>
          <a:xfrm>
            <a:off x="6631126" y="3711685"/>
            <a:ext cx="253594" cy="253594"/>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7</a:t>
            </a:r>
            <a:endParaRPr lang="en-US" sz="1100" dirty="0"/>
          </a:p>
        </p:txBody>
      </p:sp>
      <p:sp>
        <p:nvSpPr>
          <p:cNvPr id="23" name="Electron 8"/>
          <p:cNvSpPr/>
          <p:nvPr/>
        </p:nvSpPr>
        <p:spPr>
          <a:xfrm>
            <a:off x="5773081" y="2562046"/>
            <a:ext cx="253594" cy="253594"/>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8</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Watch it: neon's shell 2</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Shell 1 is already full. Electrons 1 to 4 are placed. Predict: where do electrons 5 to 8 go?</a:t>
            </a:r>
            <a:endParaRPr lang="en-US" sz="1300" dirty="0"/>
          </a:p>
        </p:txBody>
      </p:sp>
      <p:sp>
        <p:nvSpPr>
          <p:cNvPr id="9" name="Frame 1"/>
          <p:cNvSpPr/>
          <p:nvPr/>
        </p:nvSpPr>
        <p:spPr>
          <a:xfrm>
            <a:off x="457200"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10" name="Neon frame 1: shell 1"/>
          <p:cNvSpPr/>
          <p:nvPr/>
        </p:nvSpPr>
        <p:spPr>
          <a:xfrm>
            <a:off x="1143000" y="1956816"/>
            <a:ext cx="585216" cy="585216"/>
          </a:xfrm>
          <a:prstGeom prst="ellipse">
            <a:avLst/>
          </a:prstGeom>
          <a:solidFill>
            <a:schemeClr val="bg1">
              <a:alpha val="0"/>
            </a:schemeClr>
          </a:solidFill>
          <a:ln w="15875">
            <a:solidFill>
              <a:schemeClr val="bg2">
                <a:alpha val="55000"/>
              </a:schemeClr>
            </a:solidFill>
            <a:prstDash val="solid"/>
          </a:ln>
        </p:spPr>
      </p:sp>
      <p:sp>
        <p:nvSpPr>
          <p:cNvPr id="11" name="Neon frame 1: shell 2"/>
          <p:cNvSpPr/>
          <p:nvPr/>
        </p:nvSpPr>
        <p:spPr>
          <a:xfrm>
            <a:off x="960120" y="1773936"/>
            <a:ext cx="950976" cy="950976"/>
          </a:xfrm>
          <a:prstGeom prst="ellipse">
            <a:avLst/>
          </a:prstGeom>
          <a:solidFill>
            <a:schemeClr val="bg1">
              <a:alpha val="0"/>
            </a:schemeClr>
          </a:solidFill>
          <a:ln w="15875">
            <a:solidFill>
              <a:schemeClr val="bg2">
                <a:alpha val="55000"/>
              </a:schemeClr>
            </a:solidFill>
            <a:prstDash val="solid"/>
          </a:ln>
        </p:spPr>
      </p:sp>
      <p:sp>
        <p:nvSpPr>
          <p:cNvPr id="12" name="Neon frame 1: nucleus"/>
          <p:cNvSpPr/>
          <p:nvPr/>
        </p:nvSpPr>
        <p:spPr>
          <a:xfrm>
            <a:off x="1246632"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3" name="Neon frame 1: electron, shell 1"/>
          <p:cNvSpPr/>
          <p:nvPr/>
        </p:nvSpPr>
        <p:spPr>
          <a:xfrm>
            <a:off x="1380744" y="1901952"/>
            <a:ext cx="109728" cy="109728"/>
          </a:xfrm>
          <a:prstGeom prst="ellipse">
            <a:avLst/>
          </a:prstGeom>
          <a:solidFill>
            <a:schemeClr val="accent1"/>
          </a:solidFill>
          <a:ln w="3175">
            <a:solidFill>
              <a:schemeClr val="accent1"/>
            </a:solidFill>
            <a:prstDash val="solid"/>
          </a:ln>
        </p:spPr>
      </p:sp>
      <p:sp>
        <p:nvSpPr>
          <p:cNvPr id="14" name="Neon frame 1: electron, shell 1"/>
          <p:cNvSpPr/>
          <p:nvPr/>
        </p:nvSpPr>
        <p:spPr>
          <a:xfrm>
            <a:off x="1673352" y="2194560"/>
            <a:ext cx="109728" cy="109728"/>
          </a:xfrm>
          <a:prstGeom prst="ellipse">
            <a:avLst/>
          </a:prstGeom>
          <a:solidFill>
            <a:schemeClr val="accent1"/>
          </a:solidFill>
          <a:ln w="3175">
            <a:solidFill>
              <a:schemeClr val="accent1"/>
            </a:solidFill>
            <a:prstDash val="solid"/>
          </a:ln>
        </p:spPr>
      </p:sp>
      <p:sp>
        <p:nvSpPr>
          <p:cNvPr id="15" name="Neon frame 1: electron, shell 2"/>
          <p:cNvSpPr/>
          <p:nvPr/>
        </p:nvSpPr>
        <p:spPr>
          <a:xfrm>
            <a:off x="1380744" y="1719072"/>
            <a:ext cx="109728" cy="109728"/>
          </a:xfrm>
          <a:prstGeom prst="ellipse">
            <a:avLst/>
          </a:prstGeom>
          <a:solidFill>
            <a:schemeClr val="accent1"/>
          </a:solidFill>
          <a:ln w="3175">
            <a:solidFill>
              <a:schemeClr val="accent1"/>
            </a:solidFill>
            <a:prstDash val="solid"/>
          </a:ln>
        </p:spPr>
      </p:sp>
      <p:sp>
        <p:nvSpPr>
          <p:cNvPr id="16" name="Text 14"/>
          <p:cNvSpPr txBox="1"/>
          <p:nvPr/>
        </p:nvSpPr>
        <p:spPr>
          <a:xfrm>
            <a:off x="530352"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1: top</a:t>
            </a:r>
            <a:endParaRPr lang="en-US" sz="1100" dirty="0"/>
          </a:p>
        </p:txBody>
      </p:sp>
      <p:sp>
        <p:nvSpPr>
          <p:cNvPr id="17" name="Frame 2"/>
          <p:cNvSpPr/>
          <p:nvPr/>
        </p:nvSpPr>
        <p:spPr>
          <a:xfrm>
            <a:off x="2551176"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18" name="Neon frame 2: shell 1"/>
          <p:cNvSpPr/>
          <p:nvPr/>
        </p:nvSpPr>
        <p:spPr>
          <a:xfrm>
            <a:off x="3236976" y="1956816"/>
            <a:ext cx="585216" cy="585216"/>
          </a:xfrm>
          <a:prstGeom prst="ellipse">
            <a:avLst/>
          </a:prstGeom>
          <a:solidFill>
            <a:schemeClr val="bg1">
              <a:alpha val="0"/>
            </a:schemeClr>
          </a:solidFill>
          <a:ln w="15875">
            <a:solidFill>
              <a:schemeClr val="bg2">
                <a:alpha val="55000"/>
              </a:schemeClr>
            </a:solidFill>
            <a:prstDash val="solid"/>
          </a:ln>
        </p:spPr>
      </p:sp>
      <p:sp>
        <p:nvSpPr>
          <p:cNvPr id="19" name="Neon frame 2: shell 2"/>
          <p:cNvSpPr/>
          <p:nvPr/>
        </p:nvSpPr>
        <p:spPr>
          <a:xfrm>
            <a:off x="3054096" y="1773936"/>
            <a:ext cx="950976" cy="950976"/>
          </a:xfrm>
          <a:prstGeom prst="ellipse">
            <a:avLst/>
          </a:prstGeom>
          <a:solidFill>
            <a:schemeClr val="bg1">
              <a:alpha val="0"/>
            </a:schemeClr>
          </a:solidFill>
          <a:ln w="15875">
            <a:solidFill>
              <a:schemeClr val="bg2">
                <a:alpha val="55000"/>
              </a:schemeClr>
            </a:solidFill>
            <a:prstDash val="solid"/>
          </a:ln>
        </p:spPr>
      </p:sp>
      <p:sp>
        <p:nvSpPr>
          <p:cNvPr id="20" name="Neon frame 2: nucleus"/>
          <p:cNvSpPr/>
          <p:nvPr/>
        </p:nvSpPr>
        <p:spPr>
          <a:xfrm>
            <a:off x="3340608"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1" name="Neon frame 2: electron, shell 1"/>
          <p:cNvSpPr/>
          <p:nvPr/>
        </p:nvSpPr>
        <p:spPr>
          <a:xfrm>
            <a:off x="3474720" y="1901952"/>
            <a:ext cx="109728" cy="109728"/>
          </a:xfrm>
          <a:prstGeom prst="ellipse">
            <a:avLst/>
          </a:prstGeom>
          <a:solidFill>
            <a:schemeClr val="accent1"/>
          </a:solidFill>
          <a:ln w="3175">
            <a:solidFill>
              <a:schemeClr val="accent1"/>
            </a:solidFill>
            <a:prstDash val="solid"/>
          </a:ln>
        </p:spPr>
      </p:sp>
      <p:sp>
        <p:nvSpPr>
          <p:cNvPr id="22" name="Neon frame 2: electron, shell 1"/>
          <p:cNvSpPr/>
          <p:nvPr/>
        </p:nvSpPr>
        <p:spPr>
          <a:xfrm>
            <a:off x="3767328" y="2194560"/>
            <a:ext cx="109728" cy="109728"/>
          </a:xfrm>
          <a:prstGeom prst="ellipse">
            <a:avLst/>
          </a:prstGeom>
          <a:solidFill>
            <a:schemeClr val="accent1"/>
          </a:solidFill>
          <a:ln w="3175">
            <a:solidFill>
              <a:schemeClr val="accent1"/>
            </a:solidFill>
            <a:prstDash val="solid"/>
          </a:ln>
        </p:spPr>
      </p:sp>
      <p:sp>
        <p:nvSpPr>
          <p:cNvPr id="23" name="Neon frame 2: electron, shell 2"/>
          <p:cNvSpPr/>
          <p:nvPr/>
        </p:nvSpPr>
        <p:spPr>
          <a:xfrm>
            <a:off x="3474720" y="1719072"/>
            <a:ext cx="109728" cy="109728"/>
          </a:xfrm>
          <a:prstGeom prst="ellipse">
            <a:avLst/>
          </a:prstGeom>
          <a:solidFill>
            <a:schemeClr val="accent1"/>
          </a:solidFill>
          <a:ln w="3175">
            <a:solidFill>
              <a:schemeClr val="accent1"/>
            </a:solidFill>
            <a:prstDash val="solid"/>
          </a:ln>
        </p:spPr>
      </p:sp>
      <p:sp>
        <p:nvSpPr>
          <p:cNvPr id="24" name="Neon frame 2: electron, shell 2"/>
          <p:cNvSpPr/>
          <p:nvPr/>
        </p:nvSpPr>
        <p:spPr>
          <a:xfrm>
            <a:off x="3950208" y="2194560"/>
            <a:ext cx="109728" cy="109728"/>
          </a:xfrm>
          <a:prstGeom prst="ellipse">
            <a:avLst/>
          </a:prstGeom>
          <a:solidFill>
            <a:schemeClr val="accent1"/>
          </a:solidFill>
          <a:ln w="3175">
            <a:solidFill>
              <a:schemeClr val="accent1"/>
            </a:solidFill>
            <a:prstDash val="solid"/>
          </a:ln>
        </p:spPr>
      </p:sp>
      <p:sp>
        <p:nvSpPr>
          <p:cNvPr id="25" name="Text 23"/>
          <p:cNvSpPr txBox="1"/>
          <p:nvPr/>
        </p:nvSpPr>
        <p:spPr>
          <a:xfrm>
            <a:off x="2624328"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2: right</a:t>
            </a:r>
            <a:endParaRPr lang="en-US" sz="1100" dirty="0"/>
          </a:p>
        </p:txBody>
      </p:sp>
      <p:sp>
        <p:nvSpPr>
          <p:cNvPr id="26" name="Frame 3"/>
          <p:cNvSpPr/>
          <p:nvPr/>
        </p:nvSpPr>
        <p:spPr>
          <a:xfrm>
            <a:off x="4645152"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27" name="Neon frame 3: shell 1"/>
          <p:cNvSpPr/>
          <p:nvPr/>
        </p:nvSpPr>
        <p:spPr>
          <a:xfrm>
            <a:off x="5330952" y="1956816"/>
            <a:ext cx="585216" cy="585216"/>
          </a:xfrm>
          <a:prstGeom prst="ellipse">
            <a:avLst/>
          </a:prstGeom>
          <a:solidFill>
            <a:schemeClr val="bg1">
              <a:alpha val="0"/>
            </a:schemeClr>
          </a:solidFill>
          <a:ln w="15875">
            <a:solidFill>
              <a:schemeClr val="bg2">
                <a:alpha val="55000"/>
              </a:schemeClr>
            </a:solidFill>
            <a:prstDash val="solid"/>
          </a:ln>
        </p:spPr>
      </p:sp>
      <p:sp>
        <p:nvSpPr>
          <p:cNvPr id="28" name="Neon frame 3: shell 2"/>
          <p:cNvSpPr/>
          <p:nvPr/>
        </p:nvSpPr>
        <p:spPr>
          <a:xfrm>
            <a:off x="5148072" y="1773936"/>
            <a:ext cx="950976" cy="950976"/>
          </a:xfrm>
          <a:prstGeom prst="ellipse">
            <a:avLst/>
          </a:prstGeom>
          <a:solidFill>
            <a:schemeClr val="bg1">
              <a:alpha val="0"/>
            </a:schemeClr>
          </a:solidFill>
          <a:ln w="15875">
            <a:solidFill>
              <a:schemeClr val="bg2">
                <a:alpha val="55000"/>
              </a:schemeClr>
            </a:solidFill>
            <a:prstDash val="solid"/>
          </a:ln>
        </p:spPr>
      </p:sp>
      <p:sp>
        <p:nvSpPr>
          <p:cNvPr id="29" name="Neon frame 3: nucleus"/>
          <p:cNvSpPr/>
          <p:nvPr/>
        </p:nvSpPr>
        <p:spPr>
          <a:xfrm>
            <a:off x="5434584"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0" name="Neon frame 3: electron, shell 1"/>
          <p:cNvSpPr/>
          <p:nvPr/>
        </p:nvSpPr>
        <p:spPr>
          <a:xfrm>
            <a:off x="5568696" y="1901952"/>
            <a:ext cx="109728" cy="109728"/>
          </a:xfrm>
          <a:prstGeom prst="ellipse">
            <a:avLst/>
          </a:prstGeom>
          <a:solidFill>
            <a:schemeClr val="accent1"/>
          </a:solidFill>
          <a:ln w="3175">
            <a:solidFill>
              <a:schemeClr val="accent1"/>
            </a:solidFill>
            <a:prstDash val="solid"/>
          </a:ln>
        </p:spPr>
      </p:sp>
      <p:sp>
        <p:nvSpPr>
          <p:cNvPr id="31" name="Neon frame 3: electron, shell 1"/>
          <p:cNvSpPr/>
          <p:nvPr/>
        </p:nvSpPr>
        <p:spPr>
          <a:xfrm>
            <a:off x="5861304" y="2194560"/>
            <a:ext cx="109728" cy="109728"/>
          </a:xfrm>
          <a:prstGeom prst="ellipse">
            <a:avLst/>
          </a:prstGeom>
          <a:solidFill>
            <a:schemeClr val="accent1"/>
          </a:solidFill>
          <a:ln w="3175">
            <a:solidFill>
              <a:schemeClr val="accent1"/>
            </a:solidFill>
            <a:prstDash val="solid"/>
          </a:ln>
        </p:spPr>
      </p:sp>
      <p:sp>
        <p:nvSpPr>
          <p:cNvPr id="32" name="Neon frame 3: electron, shell 2"/>
          <p:cNvSpPr/>
          <p:nvPr/>
        </p:nvSpPr>
        <p:spPr>
          <a:xfrm>
            <a:off x="5568696" y="1719072"/>
            <a:ext cx="109728" cy="109728"/>
          </a:xfrm>
          <a:prstGeom prst="ellipse">
            <a:avLst/>
          </a:prstGeom>
          <a:solidFill>
            <a:schemeClr val="accent1"/>
          </a:solidFill>
          <a:ln w="3175">
            <a:solidFill>
              <a:schemeClr val="accent1"/>
            </a:solidFill>
            <a:prstDash val="solid"/>
          </a:ln>
        </p:spPr>
      </p:sp>
      <p:sp>
        <p:nvSpPr>
          <p:cNvPr id="33" name="Neon frame 3: electron, shell 2"/>
          <p:cNvSpPr/>
          <p:nvPr/>
        </p:nvSpPr>
        <p:spPr>
          <a:xfrm>
            <a:off x="6044184" y="2194560"/>
            <a:ext cx="109728" cy="109728"/>
          </a:xfrm>
          <a:prstGeom prst="ellipse">
            <a:avLst/>
          </a:prstGeom>
          <a:solidFill>
            <a:schemeClr val="accent1"/>
          </a:solidFill>
          <a:ln w="3175">
            <a:solidFill>
              <a:schemeClr val="accent1"/>
            </a:solidFill>
            <a:prstDash val="solid"/>
          </a:ln>
        </p:spPr>
      </p:sp>
      <p:sp>
        <p:nvSpPr>
          <p:cNvPr id="34" name="Neon frame 3: electron, shell 2"/>
          <p:cNvSpPr/>
          <p:nvPr/>
        </p:nvSpPr>
        <p:spPr>
          <a:xfrm>
            <a:off x="5568696" y="2670048"/>
            <a:ext cx="109728" cy="109728"/>
          </a:xfrm>
          <a:prstGeom prst="ellipse">
            <a:avLst/>
          </a:prstGeom>
          <a:solidFill>
            <a:schemeClr val="accent1"/>
          </a:solidFill>
          <a:ln w="3175">
            <a:solidFill>
              <a:schemeClr val="accent1"/>
            </a:solidFill>
            <a:prstDash val="solid"/>
          </a:ln>
        </p:spPr>
      </p:sp>
      <p:sp>
        <p:nvSpPr>
          <p:cNvPr id="35" name="Text 33"/>
          <p:cNvSpPr txBox="1"/>
          <p:nvPr/>
        </p:nvSpPr>
        <p:spPr>
          <a:xfrm>
            <a:off x="4718304"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3: bottom</a:t>
            </a:r>
            <a:endParaRPr lang="en-US" sz="1100" dirty="0"/>
          </a:p>
        </p:txBody>
      </p:sp>
      <p:sp>
        <p:nvSpPr>
          <p:cNvPr id="36" name="Frame 4"/>
          <p:cNvSpPr/>
          <p:nvPr/>
        </p:nvSpPr>
        <p:spPr>
          <a:xfrm>
            <a:off x="6739128"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37" name="Neon frame 4: shell 1"/>
          <p:cNvSpPr/>
          <p:nvPr/>
        </p:nvSpPr>
        <p:spPr>
          <a:xfrm>
            <a:off x="7424928" y="1956816"/>
            <a:ext cx="585216" cy="585216"/>
          </a:xfrm>
          <a:prstGeom prst="ellipse">
            <a:avLst/>
          </a:prstGeom>
          <a:solidFill>
            <a:schemeClr val="bg1">
              <a:alpha val="0"/>
            </a:schemeClr>
          </a:solidFill>
          <a:ln w="15875">
            <a:solidFill>
              <a:schemeClr val="bg2">
                <a:alpha val="55000"/>
              </a:schemeClr>
            </a:solidFill>
            <a:prstDash val="solid"/>
          </a:ln>
        </p:spPr>
      </p:sp>
      <p:sp>
        <p:nvSpPr>
          <p:cNvPr id="38" name="Neon frame 4: shell 2"/>
          <p:cNvSpPr/>
          <p:nvPr/>
        </p:nvSpPr>
        <p:spPr>
          <a:xfrm>
            <a:off x="7242048" y="1773936"/>
            <a:ext cx="950976" cy="950976"/>
          </a:xfrm>
          <a:prstGeom prst="ellipse">
            <a:avLst/>
          </a:prstGeom>
          <a:solidFill>
            <a:schemeClr val="bg1">
              <a:alpha val="0"/>
            </a:schemeClr>
          </a:solidFill>
          <a:ln w="15875">
            <a:solidFill>
              <a:schemeClr val="bg2">
                <a:alpha val="55000"/>
              </a:schemeClr>
            </a:solidFill>
            <a:prstDash val="solid"/>
          </a:ln>
        </p:spPr>
      </p:sp>
      <p:sp>
        <p:nvSpPr>
          <p:cNvPr id="39" name="Neon frame 4: nucleus"/>
          <p:cNvSpPr/>
          <p:nvPr/>
        </p:nvSpPr>
        <p:spPr>
          <a:xfrm>
            <a:off x="7528560"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0" name="Neon frame 4: electron, shell 1"/>
          <p:cNvSpPr/>
          <p:nvPr/>
        </p:nvSpPr>
        <p:spPr>
          <a:xfrm>
            <a:off x="7662672" y="1901952"/>
            <a:ext cx="109728" cy="109728"/>
          </a:xfrm>
          <a:prstGeom prst="ellipse">
            <a:avLst/>
          </a:prstGeom>
          <a:solidFill>
            <a:schemeClr val="accent1"/>
          </a:solidFill>
          <a:ln w="3175">
            <a:solidFill>
              <a:schemeClr val="accent1"/>
            </a:solidFill>
            <a:prstDash val="solid"/>
          </a:ln>
        </p:spPr>
      </p:sp>
      <p:sp>
        <p:nvSpPr>
          <p:cNvPr id="41" name="Neon frame 4: electron, shell 1"/>
          <p:cNvSpPr/>
          <p:nvPr/>
        </p:nvSpPr>
        <p:spPr>
          <a:xfrm>
            <a:off x="7955280" y="2194560"/>
            <a:ext cx="109728" cy="109728"/>
          </a:xfrm>
          <a:prstGeom prst="ellipse">
            <a:avLst/>
          </a:prstGeom>
          <a:solidFill>
            <a:schemeClr val="accent1"/>
          </a:solidFill>
          <a:ln w="3175">
            <a:solidFill>
              <a:schemeClr val="accent1"/>
            </a:solidFill>
            <a:prstDash val="solid"/>
          </a:ln>
        </p:spPr>
      </p:sp>
      <p:sp>
        <p:nvSpPr>
          <p:cNvPr id="42" name="Neon frame 4: electron, shell 2"/>
          <p:cNvSpPr/>
          <p:nvPr/>
        </p:nvSpPr>
        <p:spPr>
          <a:xfrm>
            <a:off x="7662672" y="1719072"/>
            <a:ext cx="109728" cy="109728"/>
          </a:xfrm>
          <a:prstGeom prst="ellipse">
            <a:avLst/>
          </a:prstGeom>
          <a:solidFill>
            <a:schemeClr val="accent1"/>
          </a:solidFill>
          <a:ln w="3175">
            <a:solidFill>
              <a:schemeClr val="accent1"/>
            </a:solidFill>
            <a:prstDash val="solid"/>
          </a:ln>
        </p:spPr>
      </p:sp>
      <p:sp>
        <p:nvSpPr>
          <p:cNvPr id="43" name="Neon frame 4: electron, shell 2"/>
          <p:cNvSpPr/>
          <p:nvPr/>
        </p:nvSpPr>
        <p:spPr>
          <a:xfrm>
            <a:off x="8138160" y="2194560"/>
            <a:ext cx="109728" cy="109728"/>
          </a:xfrm>
          <a:prstGeom prst="ellipse">
            <a:avLst/>
          </a:prstGeom>
          <a:solidFill>
            <a:schemeClr val="accent1"/>
          </a:solidFill>
          <a:ln w="3175">
            <a:solidFill>
              <a:schemeClr val="accent1"/>
            </a:solidFill>
            <a:prstDash val="solid"/>
          </a:ln>
        </p:spPr>
      </p:sp>
      <p:sp>
        <p:nvSpPr>
          <p:cNvPr id="44" name="Neon frame 4: electron, shell 2"/>
          <p:cNvSpPr/>
          <p:nvPr/>
        </p:nvSpPr>
        <p:spPr>
          <a:xfrm>
            <a:off x="7662672" y="2670048"/>
            <a:ext cx="109728" cy="109728"/>
          </a:xfrm>
          <a:prstGeom prst="ellipse">
            <a:avLst/>
          </a:prstGeom>
          <a:solidFill>
            <a:schemeClr val="accent1"/>
          </a:solidFill>
          <a:ln w="3175">
            <a:solidFill>
              <a:schemeClr val="accent1"/>
            </a:solidFill>
            <a:prstDash val="solid"/>
          </a:ln>
        </p:spPr>
      </p:sp>
      <p:sp>
        <p:nvSpPr>
          <p:cNvPr id="45" name="Neon frame 4: electron, shell 2"/>
          <p:cNvSpPr/>
          <p:nvPr/>
        </p:nvSpPr>
        <p:spPr>
          <a:xfrm>
            <a:off x="7187184" y="2194560"/>
            <a:ext cx="109728" cy="109728"/>
          </a:xfrm>
          <a:prstGeom prst="ellipse">
            <a:avLst/>
          </a:prstGeom>
          <a:solidFill>
            <a:schemeClr val="accent1"/>
          </a:solidFill>
          <a:ln w="3175">
            <a:solidFill>
              <a:schemeClr val="accent1"/>
            </a:solidFill>
            <a:prstDash val="solid"/>
          </a:ln>
        </p:spPr>
      </p:sp>
      <p:sp>
        <p:nvSpPr>
          <p:cNvPr id="46" name="Text 44"/>
          <p:cNvSpPr txBox="1"/>
          <p:nvPr/>
        </p:nvSpPr>
        <p:spPr>
          <a:xfrm>
            <a:off x="6812280"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4: left</a:t>
            </a:r>
            <a:endParaRPr lang="en-US" sz="1100" dirty="0"/>
          </a:p>
        </p:txBody>
      </p:sp>
      <p:sp>
        <p:nvSpPr>
          <p:cNvPr id="47" name="Frame 5"/>
          <p:cNvSpPr/>
          <p:nvPr/>
        </p:nvSpPr>
        <p:spPr>
          <a:xfrm>
            <a:off x="457200"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48" name="Text 46"/>
          <p:cNvSpPr txBox="1"/>
          <p:nvPr/>
        </p:nvSpPr>
        <p:spPr>
          <a:xfrm>
            <a:off x="457200" y="3246120"/>
            <a:ext cx="1956816" cy="91440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49" name="Frame 6"/>
          <p:cNvSpPr/>
          <p:nvPr/>
        </p:nvSpPr>
        <p:spPr>
          <a:xfrm>
            <a:off x="2551176"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50" name="Text 48"/>
          <p:cNvSpPr txBox="1"/>
          <p:nvPr/>
        </p:nvSpPr>
        <p:spPr>
          <a:xfrm>
            <a:off x="2551176" y="3246120"/>
            <a:ext cx="1956816" cy="91440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51" name="Frame 7"/>
          <p:cNvSpPr/>
          <p:nvPr/>
        </p:nvSpPr>
        <p:spPr>
          <a:xfrm>
            <a:off x="4645152"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52" name="Text 50"/>
          <p:cNvSpPr txBox="1"/>
          <p:nvPr/>
        </p:nvSpPr>
        <p:spPr>
          <a:xfrm>
            <a:off x="4645152" y="3246120"/>
            <a:ext cx="1956816" cy="91440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53" name="Frame 8"/>
          <p:cNvSpPr/>
          <p:nvPr/>
        </p:nvSpPr>
        <p:spPr>
          <a:xfrm>
            <a:off x="6739128"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54" name="Text 52"/>
          <p:cNvSpPr txBox="1"/>
          <p:nvPr/>
        </p:nvSpPr>
        <p:spPr>
          <a:xfrm>
            <a:off x="6739128" y="3246120"/>
            <a:ext cx="1956816" cy="91440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Watch it: neon's shell 2</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Watch neon's shell 2 fill up. Look for the moment the 5th electron arrives.</a:t>
            </a:r>
            <a:endParaRPr lang="en-US" sz="1300" dirty="0"/>
          </a:p>
        </p:txBody>
      </p:sp>
      <p:sp>
        <p:nvSpPr>
          <p:cNvPr id="10" name="Frame 1"/>
          <p:cNvSpPr/>
          <p:nvPr/>
        </p:nvSpPr>
        <p:spPr>
          <a:xfrm>
            <a:off x="457200"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11" name="Neon frame 1: shell 1"/>
          <p:cNvSpPr/>
          <p:nvPr/>
        </p:nvSpPr>
        <p:spPr>
          <a:xfrm>
            <a:off x="1143000" y="1956816"/>
            <a:ext cx="585216" cy="585216"/>
          </a:xfrm>
          <a:prstGeom prst="ellipse">
            <a:avLst/>
          </a:prstGeom>
          <a:solidFill>
            <a:schemeClr val="bg1">
              <a:alpha val="0"/>
            </a:schemeClr>
          </a:solidFill>
          <a:ln w="15875">
            <a:solidFill>
              <a:schemeClr val="bg2">
                <a:alpha val="55000"/>
              </a:schemeClr>
            </a:solidFill>
            <a:prstDash val="solid"/>
          </a:ln>
        </p:spPr>
      </p:sp>
      <p:sp>
        <p:nvSpPr>
          <p:cNvPr id="12" name="Neon frame 1: shell 2"/>
          <p:cNvSpPr/>
          <p:nvPr/>
        </p:nvSpPr>
        <p:spPr>
          <a:xfrm>
            <a:off x="960120" y="1773936"/>
            <a:ext cx="950976" cy="950976"/>
          </a:xfrm>
          <a:prstGeom prst="ellipse">
            <a:avLst/>
          </a:prstGeom>
          <a:solidFill>
            <a:schemeClr val="bg1">
              <a:alpha val="0"/>
            </a:schemeClr>
          </a:solidFill>
          <a:ln w="15875">
            <a:solidFill>
              <a:schemeClr val="bg2">
                <a:alpha val="55000"/>
              </a:schemeClr>
            </a:solidFill>
            <a:prstDash val="solid"/>
          </a:ln>
        </p:spPr>
      </p:sp>
      <p:sp>
        <p:nvSpPr>
          <p:cNvPr id="13" name="Neon frame 1: nucleus"/>
          <p:cNvSpPr/>
          <p:nvPr/>
        </p:nvSpPr>
        <p:spPr>
          <a:xfrm>
            <a:off x="1246632"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4" name="Neon frame 1: electron, shell 1"/>
          <p:cNvSpPr/>
          <p:nvPr/>
        </p:nvSpPr>
        <p:spPr>
          <a:xfrm>
            <a:off x="1380744" y="1901952"/>
            <a:ext cx="109728" cy="109728"/>
          </a:xfrm>
          <a:prstGeom prst="ellipse">
            <a:avLst/>
          </a:prstGeom>
          <a:solidFill>
            <a:schemeClr val="accent1"/>
          </a:solidFill>
          <a:ln w="3175">
            <a:solidFill>
              <a:schemeClr val="accent1"/>
            </a:solidFill>
            <a:prstDash val="solid"/>
          </a:ln>
        </p:spPr>
      </p:sp>
      <p:sp>
        <p:nvSpPr>
          <p:cNvPr id="15" name="Neon frame 1: electron, shell 1"/>
          <p:cNvSpPr/>
          <p:nvPr/>
        </p:nvSpPr>
        <p:spPr>
          <a:xfrm>
            <a:off x="1673352" y="2194560"/>
            <a:ext cx="109728" cy="109728"/>
          </a:xfrm>
          <a:prstGeom prst="ellipse">
            <a:avLst/>
          </a:prstGeom>
          <a:solidFill>
            <a:schemeClr val="accent1"/>
          </a:solidFill>
          <a:ln w="3175">
            <a:solidFill>
              <a:schemeClr val="accent1"/>
            </a:solidFill>
            <a:prstDash val="solid"/>
          </a:ln>
        </p:spPr>
      </p:sp>
      <p:sp>
        <p:nvSpPr>
          <p:cNvPr id="16" name="Neon frame 1: electron, shell 2"/>
          <p:cNvSpPr/>
          <p:nvPr/>
        </p:nvSpPr>
        <p:spPr>
          <a:xfrm>
            <a:off x="1380744" y="1719072"/>
            <a:ext cx="109728" cy="109728"/>
          </a:xfrm>
          <a:prstGeom prst="ellipse">
            <a:avLst/>
          </a:prstGeom>
          <a:solidFill>
            <a:schemeClr val="accent1"/>
          </a:solidFill>
          <a:ln w="3175">
            <a:solidFill>
              <a:schemeClr val="accent1"/>
            </a:solidFill>
            <a:prstDash val="solid"/>
          </a:ln>
        </p:spPr>
      </p:sp>
      <p:sp>
        <p:nvSpPr>
          <p:cNvPr id="17" name="Text 15"/>
          <p:cNvSpPr txBox="1"/>
          <p:nvPr/>
        </p:nvSpPr>
        <p:spPr>
          <a:xfrm>
            <a:off x="530352"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1: top</a:t>
            </a:r>
            <a:endParaRPr lang="en-US" sz="1100" dirty="0"/>
          </a:p>
        </p:txBody>
      </p:sp>
      <p:sp>
        <p:nvSpPr>
          <p:cNvPr id="18" name="Frame 2"/>
          <p:cNvSpPr/>
          <p:nvPr/>
        </p:nvSpPr>
        <p:spPr>
          <a:xfrm>
            <a:off x="2551176"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19" name="Neon frame 2: shell 1"/>
          <p:cNvSpPr/>
          <p:nvPr/>
        </p:nvSpPr>
        <p:spPr>
          <a:xfrm>
            <a:off x="3236976" y="1956816"/>
            <a:ext cx="585216" cy="585216"/>
          </a:xfrm>
          <a:prstGeom prst="ellipse">
            <a:avLst/>
          </a:prstGeom>
          <a:solidFill>
            <a:schemeClr val="bg1">
              <a:alpha val="0"/>
            </a:schemeClr>
          </a:solidFill>
          <a:ln w="15875">
            <a:solidFill>
              <a:schemeClr val="bg2">
                <a:alpha val="55000"/>
              </a:schemeClr>
            </a:solidFill>
            <a:prstDash val="solid"/>
          </a:ln>
        </p:spPr>
      </p:sp>
      <p:sp>
        <p:nvSpPr>
          <p:cNvPr id="20" name="Neon frame 2: shell 2"/>
          <p:cNvSpPr/>
          <p:nvPr/>
        </p:nvSpPr>
        <p:spPr>
          <a:xfrm>
            <a:off x="3054096" y="1773936"/>
            <a:ext cx="950976" cy="950976"/>
          </a:xfrm>
          <a:prstGeom prst="ellipse">
            <a:avLst/>
          </a:prstGeom>
          <a:solidFill>
            <a:schemeClr val="bg1">
              <a:alpha val="0"/>
            </a:schemeClr>
          </a:solidFill>
          <a:ln w="15875">
            <a:solidFill>
              <a:schemeClr val="bg2">
                <a:alpha val="55000"/>
              </a:schemeClr>
            </a:solidFill>
            <a:prstDash val="solid"/>
          </a:ln>
        </p:spPr>
      </p:sp>
      <p:sp>
        <p:nvSpPr>
          <p:cNvPr id="21" name="Neon frame 2: nucleus"/>
          <p:cNvSpPr/>
          <p:nvPr/>
        </p:nvSpPr>
        <p:spPr>
          <a:xfrm>
            <a:off x="3340608"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2" name="Neon frame 2: electron, shell 1"/>
          <p:cNvSpPr/>
          <p:nvPr/>
        </p:nvSpPr>
        <p:spPr>
          <a:xfrm>
            <a:off x="3474720" y="1901952"/>
            <a:ext cx="109728" cy="109728"/>
          </a:xfrm>
          <a:prstGeom prst="ellipse">
            <a:avLst/>
          </a:prstGeom>
          <a:solidFill>
            <a:schemeClr val="accent1"/>
          </a:solidFill>
          <a:ln w="3175">
            <a:solidFill>
              <a:schemeClr val="accent1"/>
            </a:solidFill>
            <a:prstDash val="solid"/>
          </a:ln>
        </p:spPr>
      </p:sp>
      <p:sp>
        <p:nvSpPr>
          <p:cNvPr id="23" name="Neon frame 2: electron, shell 1"/>
          <p:cNvSpPr/>
          <p:nvPr/>
        </p:nvSpPr>
        <p:spPr>
          <a:xfrm>
            <a:off x="3767328" y="2194560"/>
            <a:ext cx="109728" cy="109728"/>
          </a:xfrm>
          <a:prstGeom prst="ellipse">
            <a:avLst/>
          </a:prstGeom>
          <a:solidFill>
            <a:schemeClr val="accent1"/>
          </a:solidFill>
          <a:ln w="3175">
            <a:solidFill>
              <a:schemeClr val="accent1"/>
            </a:solidFill>
            <a:prstDash val="solid"/>
          </a:ln>
        </p:spPr>
      </p:sp>
      <p:sp>
        <p:nvSpPr>
          <p:cNvPr id="24" name="Neon frame 2: electron, shell 2"/>
          <p:cNvSpPr/>
          <p:nvPr/>
        </p:nvSpPr>
        <p:spPr>
          <a:xfrm>
            <a:off x="3474720" y="1719072"/>
            <a:ext cx="109728" cy="109728"/>
          </a:xfrm>
          <a:prstGeom prst="ellipse">
            <a:avLst/>
          </a:prstGeom>
          <a:solidFill>
            <a:schemeClr val="accent1"/>
          </a:solidFill>
          <a:ln w="3175">
            <a:solidFill>
              <a:schemeClr val="accent1"/>
            </a:solidFill>
            <a:prstDash val="solid"/>
          </a:ln>
        </p:spPr>
      </p:sp>
      <p:sp>
        <p:nvSpPr>
          <p:cNvPr id="25" name="Neon frame 2: electron, shell 2"/>
          <p:cNvSpPr/>
          <p:nvPr/>
        </p:nvSpPr>
        <p:spPr>
          <a:xfrm>
            <a:off x="3950208" y="2194560"/>
            <a:ext cx="109728" cy="109728"/>
          </a:xfrm>
          <a:prstGeom prst="ellipse">
            <a:avLst/>
          </a:prstGeom>
          <a:solidFill>
            <a:schemeClr val="accent1"/>
          </a:solidFill>
          <a:ln w="3175">
            <a:solidFill>
              <a:schemeClr val="accent1"/>
            </a:solidFill>
            <a:prstDash val="solid"/>
          </a:ln>
        </p:spPr>
      </p:sp>
      <p:sp>
        <p:nvSpPr>
          <p:cNvPr id="26" name="Text 24"/>
          <p:cNvSpPr txBox="1"/>
          <p:nvPr/>
        </p:nvSpPr>
        <p:spPr>
          <a:xfrm>
            <a:off x="2624328"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2: right</a:t>
            </a:r>
            <a:endParaRPr lang="en-US" sz="1100" dirty="0"/>
          </a:p>
        </p:txBody>
      </p:sp>
      <p:sp>
        <p:nvSpPr>
          <p:cNvPr id="27" name="Frame 3"/>
          <p:cNvSpPr/>
          <p:nvPr/>
        </p:nvSpPr>
        <p:spPr>
          <a:xfrm>
            <a:off x="4645152"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28" name="Neon frame 3: shell 1"/>
          <p:cNvSpPr/>
          <p:nvPr/>
        </p:nvSpPr>
        <p:spPr>
          <a:xfrm>
            <a:off x="5330952" y="1956816"/>
            <a:ext cx="585216" cy="585216"/>
          </a:xfrm>
          <a:prstGeom prst="ellipse">
            <a:avLst/>
          </a:prstGeom>
          <a:solidFill>
            <a:schemeClr val="bg1">
              <a:alpha val="0"/>
            </a:schemeClr>
          </a:solidFill>
          <a:ln w="15875">
            <a:solidFill>
              <a:schemeClr val="bg2">
                <a:alpha val="55000"/>
              </a:schemeClr>
            </a:solidFill>
            <a:prstDash val="solid"/>
          </a:ln>
        </p:spPr>
      </p:sp>
      <p:sp>
        <p:nvSpPr>
          <p:cNvPr id="29" name="Neon frame 3: shell 2"/>
          <p:cNvSpPr/>
          <p:nvPr/>
        </p:nvSpPr>
        <p:spPr>
          <a:xfrm>
            <a:off x="5148072" y="1773936"/>
            <a:ext cx="950976" cy="950976"/>
          </a:xfrm>
          <a:prstGeom prst="ellipse">
            <a:avLst/>
          </a:prstGeom>
          <a:solidFill>
            <a:schemeClr val="bg1">
              <a:alpha val="0"/>
            </a:schemeClr>
          </a:solidFill>
          <a:ln w="15875">
            <a:solidFill>
              <a:schemeClr val="bg2">
                <a:alpha val="55000"/>
              </a:schemeClr>
            </a:solidFill>
            <a:prstDash val="solid"/>
          </a:ln>
        </p:spPr>
      </p:sp>
      <p:sp>
        <p:nvSpPr>
          <p:cNvPr id="30" name="Neon frame 3: nucleus"/>
          <p:cNvSpPr/>
          <p:nvPr/>
        </p:nvSpPr>
        <p:spPr>
          <a:xfrm>
            <a:off x="5434584"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1" name="Neon frame 3: electron, shell 1"/>
          <p:cNvSpPr/>
          <p:nvPr/>
        </p:nvSpPr>
        <p:spPr>
          <a:xfrm>
            <a:off x="5568696" y="1901952"/>
            <a:ext cx="109728" cy="109728"/>
          </a:xfrm>
          <a:prstGeom prst="ellipse">
            <a:avLst/>
          </a:prstGeom>
          <a:solidFill>
            <a:schemeClr val="accent1"/>
          </a:solidFill>
          <a:ln w="3175">
            <a:solidFill>
              <a:schemeClr val="accent1"/>
            </a:solidFill>
            <a:prstDash val="solid"/>
          </a:ln>
        </p:spPr>
      </p:sp>
      <p:sp>
        <p:nvSpPr>
          <p:cNvPr id="32" name="Neon frame 3: electron, shell 1"/>
          <p:cNvSpPr/>
          <p:nvPr/>
        </p:nvSpPr>
        <p:spPr>
          <a:xfrm>
            <a:off x="5861304" y="2194560"/>
            <a:ext cx="109728" cy="109728"/>
          </a:xfrm>
          <a:prstGeom prst="ellipse">
            <a:avLst/>
          </a:prstGeom>
          <a:solidFill>
            <a:schemeClr val="accent1"/>
          </a:solidFill>
          <a:ln w="3175">
            <a:solidFill>
              <a:schemeClr val="accent1"/>
            </a:solidFill>
            <a:prstDash val="solid"/>
          </a:ln>
        </p:spPr>
      </p:sp>
      <p:sp>
        <p:nvSpPr>
          <p:cNvPr id="33" name="Neon frame 3: electron, shell 2"/>
          <p:cNvSpPr/>
          <p:nvPr/>
        </p:nvSpPr>
        <p:spPr>
          <a:xfrm>
            <a:off x="5568696" y="1719072"/>
            <a:ext cx="109728" cy="109728"/>
          </a:xfrm>
          <a:prstGeom prst="ellipse">
            <a:avLst/>
          </a:prstGeom>
          <a:solidFill>
            <a:schemeClr val="accent1"/>
          </a:solidFill>
          <a:ln w="3175">
            <a:solidFill>
              <a:schemeClr val="accent1"/>
            </a:solidFill>
            <a:prstDash val="solid"/>
          </a:ln>
        </p:spPr>
      </p:sp>
      <p:sp>
        <p:nvSpPr>
          <p:cNvPr id="34" name="Neon frame 3: electron, shell 2"/>
          <p:cNvSpPr/>
          <p:nvPr/>
        </p:nvSpPr>
        <p:spPr>
          <a:xfrm>
            <a:off x="6044184" y="2194560"/>
            <a:ext cx="109728" cy="109728"/>
          </a:xfrm>
          <a:prstGeom prst="ellipse">
            <a:avLst/>
          </a:prstGeom>
          <a:solidFill>
            <a:schemeClr val="accent1"/>
          </a:solidFill>
          <a:ln w="3175">
            <a:solidFill>
              <a:schemeClr val="accent1"/>
            </a:solidFill>
            <a:prstDash val="solid"/>
          </a:ln>
        </p:spPr>
      </p:sp>
      <p:sp>
        <p:nvSpPr>
          <p:cNvPr id="35" name="Neon frame 3: electron, shell 2"/>
          <p:cNvSpPr/>
          <p:nvPr/>
        </p:nvSpPr>
        <p:spPr>
          <a:xfrm>
            <a:off x="5568696" y="2670048"/>
            <a:ext cx="109728" cy="109728"/>
          </a:xfrm>
          <a:prstGeom prst="ellipse">
            <a:avLst/>
          </a:prstGeom>
          <a:solidFill>
            <a:schemeClr val="accent1"/>
          </a:solidFill>
          <a:ln w="3175">
            <a:solidFill>
              <a:schemeClr val="accent1"/>
            </a:solidFill>
            <a:prstDash val="solid"/>
          </a:ln>
        </p:spPr>
      </p:sp>
      <p:sp>
        <p:nvSpPr>
          <p:cNvPr id="36" name="Text 34"/>
          <p:cNvSpPr txBox="1"/>
          <p:nvPr/>
        </p:nvSpPr>
        <p:spPr>
          <a:xfrm>
            <a:off x="4718304"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3: bottom</a:t>
            </a:r>
            <a:endParaRPr lang="en-US" sz="1100" dirty="0"/>
          </a:p>
        </p:txBody>
      </p:sp>
      <p:sp>
        <p:nvSpPr>
          <p:cNvPr id="37" name="Frame 4"/>
          <p:cNvSpPr/>
          <p:nvPr/>
        </p:nvSpPr>
        <p:spPr>
          <a:xfrm>
            <a:off x="6739128" y="1645920"/>
            <a:ext cx="1956816" cy="1417320"/>
          </a:xfrm>
          <a:prstGeom prst="roundRect">
            <a:avLst>
              <a:gd name="adj" fmla="val 6452"/>
            </a:avLst>
          </a:prstGeom>
          <a:solidFill>
            <a:schemeClr val="tx2"/>
          </a:solidFill>
          <a:ln w="9525">
            <a:solidFill>
              <a:schemeClr val="bg2">
                <a:alpha val="30000"/>
              </a:schemeClr>
            </a:solidFill>
            <a:prstDash val="solid"/>
          </a:ln>
        </p:spPr>
      </p:sp>
      <p:sp>
        <p:nvSpPr>
          <p:cNvPr id="38" name="Neon frame 4: shell 1"/>
          <p:cNvSpPr/>
          <p:nvPr/>
        </p:nvSpPr>
        <p:spPr>
          <a:xfrm>
            <a:off x="7424928" y="1956816"/>
            <a:ext cx="585216" cy="585216"/>
          </a:xfrm>
          <a:prstGeom prst="ellipse">
            <a:avLst/>
          </a:prstGeom>
          <a:solidFill>
            <a:schemeClr val="bg1">
              <a:alpha val="0"/>
            </a:schemeClr>
          </a:solidFill>
          <a:ln w="15875">
            <a:solidFill>
              <a:schemeClr val="bg2">
                <a:alpha val="55000"/>
              </a:schemeClr>
            </a:solidFill>
            <a:prstDash val="solid"/>
          </a:ln>
        </p:spPr>
      </p:sp>
      <p:sp>
        <p:nvSpPr>
          <p:cNvPr id="39" name="Neon frame 4: shell 2"/>
          <p:cNvSpPr/>
          <p:nvPr/>
        </p:nvSpPr>
        <p:spPr>
          <a:xfrm>
            <a:off x="7242048" y="1773936"/>
            <a:ext cx="950976" cy="950976"/>
          </a:xfrm>
          <a:prstGeom prst="ellipse">
            <a:avLst/>
          </a:prstGeom>
          <a:solidFill>
            <a:schemeClr val="bg1">
              <a:alpha val="0"/>
            </a:schemeClr>
          </a:solidFill>
          <a:ln w="15875">
            <a:solidFill>
              <a:schemeClr val="bg2">
                <a:alpha val="55000"/>
              </a:schemeClr>
            </a:solidFill>
            <a:prstDash val="solid"/>
          </a:ln>
        </p:spPr>
      </p:sp>
      <p:sp>
        <p:nvSpPr>
          <p:cNvPr id="40" name="Neon frame 4: nucleus"/>
          <p:cNvSpPr/>
          <p:nvPr/>
        </p:nvSpPr>
        <p:spPr>
          <a:xfrm>
            <a:off x="7528560" y="206044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1" name="Neon frame 4: electron, shell 1"/>
          <p:cNvSpPr/>
          <p:nvPr/>
        </p:nvSpPr>
        <p:spPr>
          <a:xfrm>
            <a:off x="7662672" y="1901952"/>
            <a:ext cx="109728" cy="109728"/>
          </a:xfrm>
          <a:prstGeom prst="ellipse">
            <a:avLst/>
          </a:prstGeom>
          <a:solidFill>
            <a:schemeClr val="accent1"/>
          </a:solidFill>
          <a:ln w="3175">
            <a:solidFill>
              <a:schemeClr val="accent1"/>
            </a:solidFill>
            <a:prstDash val="solid"/>
          </a:ln>
        </p:spPr>
      </p:sp>
      <p:sp>
        <p:nvSpPr>
          <p:cNvPr id="42" name="Neon frame 4: electron, shell 1"/>
          <p:cNvSpPr/>
          <p:nvPr/>
        </p:nvSpPr>
        <p:spPr>
          <a:xfrm>
            <a:off x="7955280" y="2194560"/>
            <a:ext cx="109728" cy="109728"/>
          </a:xfrm>
          <a:prstGeom prst="ellipse">
            <a:avLst/>
          </a:prstGeom>
          <a:solidFill>
            <a:schemeClr val="accent1"/>
          </a:solidFill>
          <a:ln w="3175">
            <a:solidFill>
              <a:schemeClr val="accent1"/>
            </a:solidFill>
            <a:prstDash val="solid"/>
          </a:ln>
        </p:spPr>
      </p:sp>
      <p:sp>
        <p:nvSpPr>
          <p:cNvPr id="43" name="Neon frame 4: electron, shell 2"/>
          <p:cNvSpPr/>
          <p:nvPr/>
        </p:nvSpPr>
        <p:spPr>
          <a:xfrm>
            <a:off x="7662672" y="1719072"/>
            <a:ext cx="109728" cy="109728"/>
          </a:xfrm>
          <a:prstGeom prst="ellipse">
            <a:avLst/>
          </a:prstGeom>
          <a:solidFill>
            <a:schemeClr val="accent1"/>
          </a:solidFill>
          <a:ln w="3175">
            <a:solidFill>
              <a:schemeClr val="accent1"/>
            </a:solidFill>
            <a:prstDash val="solid"/>
          </a:ln>
        </p:spPr>
      </p:sp>
      <p:sp>
        <p:nvSpPr>
          <p:cNvPr id="44" name="Neon frame 4: electron, shell 2"/>
          <p:cNvSpPr/>
          <p:nvPr/>
        </p:nvSpPr>
        <p:spPr>
          <a:xfrm>
            <a:off x="8138160" y="2194560"/>
            <a:ext cx="109728" cy="109728"/>
          </a:xfrm>
          <a:prstGeom prst="ellipse">
            <a:avLst/>
          </a:prstGeom>
          <a:solidFill>
            <a:schemeClr val="accent1"/>
          </a:solidFill>
          <a:ln w="3175">
            <a:solidFill>
              <a:schemeClr val="accent1"/>
            </a:solidFill>
            <a:prstDash val="solid"/>
          </a:ln>
        </p:spPr>
      </p:sp>
      <p:sp>
        <p:nvSpPr>
          <p:cNvPr id="45" name="Neon frame 4: electron, shell 2"/>
          <p:cNvSpPr/>
          <p:nvPr/>
        </p:nvSpPr>
        <p:spPr>
          <a:xfrm>
            <a:off x="7662672" y="2670048"/>
            <a:ext cx="109728" cy="109728"/>
          </a:xfrm>
          <a:prstGeom prst="ellipse">
            <a:avLst/>
          </a:prstGeom>
          <a:solidFill>
            <a:schemeClr val="accent1"/>
          </a:solidFill>
          <a:ln w="3175">
            <a:solidFill>
              <a:schemeClr val="accent1"/>
            </a:solidFill>
            <a:prstDash val="solid"/>
          </a:ln>
        </p:spPr>
      </p:sp>
      <p:sp>
        <p:nvSpPr>
          <p:cNvPr id="46" name="Neon frame 4: electron, shell 2"/>
          <p:cNvSpPr/>
          <p:nvPr/>
        </p:nvSpPr>
        <p:spPr>
          <a:xfrm>
            <a:off x="7187184" y="2194560"/>
            <a:ext cx="109728" cy="109728"/>
          </a:xfrm>
          <a:prstGeom prst="ellipse">
            <a:avLst/>
          </a:prstGeom>
          <a:solidFill>
            <a:schemeClr val="accent1"/>
          </a:solidFill>
          <a:ln w="3175">
            <a:solidFill>
              <a:schemeClr val="accent1"/>
            </a:solidFill>
            <a:prstDash val="solid"/>
          </a:ln>
        </p:spPr>
      </p:sp>
      <p:sp>
        <p:nvSpPr>
          <p:cNvPr id="47" name="Text 45"/>
          <p:cNvSpPr txBox="1"/>
          <p:nvPr/>
        </p:nvSpPr>
        <p:spPr>
          <a:xfrm>
            <a:off x="6812280" y="2743200"/>
            <a:ext cx="1810512" cy="274320"/>
          </a:xfrm>
          <a:prstGeom prst="rect">
            <a:avLst/>
          </a:prstGeom>
          <a:noFill/>
          <a:ln/>
        </p:spPr>
        <p:txBody>
          <a:bodyPr wrap="square" lIns="0" tIns="0" rIns="0" bIns="0" rtlCol="0" anchor="t"/>
          <a:lstStyle/>
          <a:p>
            <a:pPr algn="ctr" indent="0" marL="0">
              <a:buNone/>
            </a:pPr>
            <a:r>
              <a:rPr lang="en-US" sz="1100" dirty="0">
                <a:solidFill>
                  <a:schemeClr val="bg1"/>
                </a:solidFill>
              </a:rPr>
              <a:t>Electron 4: left</a:t>
            </a:r>
            <a:endParaRPr lang="en-US" sz="1100" dirty="0"/>
          </a:p>
        </p:txBody>
      </p:sp>
      <p:sp>
        <p:nvSpPr>
          <p:cNvPr id="48" name="Frame 5"/>
          <p:cNvSpPr/>
          <p:nvPr/>
        </p:nvSpPr>
        <p:spPr>
          <a:xfrm>
            <a:off x="457200"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49" name="Neon frame 5: shell 1"/>
          <p:cNvSpPr/>
          <p:nvPr/>
        </p:nvSpPr>
        <p:spPr>
          <a:xfrm>
            <a:off x="1143000" y="3465576"/>
            <a:ext cx="585216" cy="585216"/>
          </a:xfrm>
          <a:prstGeom prst="ellipse">
            <a:avLst/>
          </a:prstGeom>
          <a:solidFill>
            <a:schemeClr val="bg1">
              <a:alpha val="0"/>
            </a:schemeClr>
          </a:solidFill>
          <a:ln w="15875">
            <a:solidFill>
              <a:schemeClr val="bg2">
                <a:alpha val="55000"/>
              </a:schemeClr>
            </a:solidFill>
            <a:prstDash val="solid"/>
          </a:ln>
        </p:spPr>
      </p:sp>
      <p:sp>
        <p:nvSpPr>
          <p:cNvPr id="50" name="Neon frame 5: shell 2"/>
          <p:cNvSpPr/>
          <p:nvPr/>
        </p:nvSpPr>
        <p:spPr>
          <a:xfrm>
            <a:off x="960120" y="3282696"/>
            <a:ext cx="950976" cy="950976"/>
          </a:xfrm>
          <a:prstGeom prst="ellipse">
            <a:avLst/>
          </a:prstGeom>
          <a:solidFill>
            <a:schemeClr val="bg1">
              <a:alpha val="0"/>
            </a:schemeClr>
          </a:solidFill>
          <a:ln w="15875">
            <a:solidFill>
              <a:schemeClr val="bg2">
                <a:alpha val="55000"/>
              </a:schemeClr>
            </a:solidFill>
            <a:prstDash val="solid"/>
          </a:ln>
        </p:spPr>
      </p:sp>
      <p:sp>
        <p:nvSpPr>
          <p:cNvPr id="51" name="Neon frame 5: nucleus"/>
          <p:cNvSpPr/>
          <p:nvPr/>
        </p:nvSpPr>
        <p:spPr>
          <a:xfrm>
            <a:off x="1246632" y="356920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52" name="Neon frame 5: electron, shell 1"/>
          <p:cNvSpPr/>
          <p:nvPr/>
        </p:nvSpPr>
        <p:spPr>
          <a:xfrm>
            <a:off x="1380744" y="3410712"/>
            <a:ext cx="109728" cy="109728"/>
          </a:xfrm>
          <a:prstGeom prst="ellipse">
            <a:avLst/>
          </a:prstGeom>
          <a:solidFill>
            <a:schemeClr val="accent1"/>
          </a:solidFill>
          <a:ln w="3175">
            <a:solidFill>
              <a:schemeClr val="accent1"/>
            </a:solidFill>
            <a:prstDash val="solid"/>
          </a:ln>
        </p:spPr>
      </p:sp>
      <p:sp>
        <p:nvSpPr>
          <p:cNvPr id="53" name="Neon frame 5: electron, shell 1"/>
          <p:cNvSpPr/>
          <p:nvPr/>
        </p:nvSpPr>
        <p:spPr>
          <a:xfrm>
            <a:off x="1673352" y="3703320"/>
            <a:ext cx="109728" cy="109728"/>
          </a:xfrm>
          <a:prstGeom prst="ellipse">
            <a:avLst/>
          </a:prstGeom>
          <a:solidFill>
            <a:schemeClr val="accent1"/>
          </a:solidFill>
          <a:ln w="3175">
            <a:solidFill>
              <a:schemeClr val="accent1"/>
            </a:solidFill>
            <a:prstDash val="solid"/>
          </a:ln>
        </p:spPr>
      </p:sp>
      <p:sp>
        <p:nvSpPr>
          <p:cNvPr id="54" name="Neon frame 5: electron, shell 2"/>
          <p:cNvSpPr/>
          <p:nvPr/>
        </p:nvSpPr>
        <p:spPr>
          <a:xfrm>
            <a:off x="1310291" y="3233081"/>
            <a:ext cx="109728" cy="109728"/>
          </a:xfrm>
          <a:prstGeom prst="ellipse">
            <a:avLst/>
          </a:prstGeom>
          <a:solidFill>
            <a:schemeClr val="accent1"/>
          </a:solidFill>
          <a:ln w="3175">
            <a:solidFill>
              <a:schemeClr val="accent1"/>
            </a:solidFill>
            <a:prstDash val="solid"/>
          </a:ln>
        </p:spPr>
      </p:sp>
      <p:sp>
        <p:nvSpPr>
          <p:cNvPr id="55" name="Neon frame 5: electron, shell 2"/>
          <p:cNvSpPr/>
          <p:nvPr/>
        </p:nvSpPr>
        <p:spPr>
          <a:xfrm>
            <a:off x="1451197" y="3233081"/>
            <a:ext cx="109728" cy="109728"/>
          </a:xfrm>
          <a:prstGeom prst="ellipse">
            <a:avLst/>
          </a:prstGeom>
          <a:solidFill>
            <a:schemeClr val="accent1"/>
          </a:solidFill>
          <a:ln w="3175">
            <a:solidFill>
              <a:schemeClr val="accent1"/>
            </a:solidFill>
            <a:prstDash val="solid"/>
          </a:ln>
        </p:spPr>
      </p:sp>
      <p:sp>
        <p:nvSpPr>
          <p:cNvPr id="56" name="Neon frame 5: electron, shell 2"/>
          <p:cNvSpPr/>
          <p:nvPr/>
        </p:nvSpPr>
        <p:spPr>
          <a:xfrm>
            <a:off x="1856232" y="3703320"/>
            <a:ext cx="109728" cy="109728"/>
          </a:xfrm>
          <a:prstGeom prst="ellipse">
            <a:avLst/>
          </a:prstGeom>
          <a:solidFill>
            <a:schemeClr val="accent1"/>
          </a:solidFill>
          <a:ln w="3175">
            <a:solidFill>
              <a:schemeClr val="accent1"/>
            </a:solidFill>
            <a:prstDash val="solid"/>
          </a:ln>
        </p:spPr>
      </p:sp>
      <p:sp>
        <p:nvSpPr>
          <p:cNvPr id="57" name="Neon frame 5: electron, shell 2"/>
          <p:cNvSpPr/>
          <p:nvPr/>
        </p:nvSpPr>
        <p:spPr>
          <a:xfrm>
            <a:off x="1380744" y="4178808"/>
            <a:ext cx="109728" cy="109728"/>
          </a:xfrm>
          <a:prstGeom prst="ellipse">
            <a:avLst/>
          </a:prstGeom>
          <a:solidFill>
            <a:schemeClr val="accent1"/>
          </a:solidFill>
          <a:ln w="3175">
            <a:solidFill>
              <a:schemeClr val="accent1"/>
            </a:solidFill>
            <a:prstDash val="solid"/>
          </a:ln>
        </p:spPr>
      </p:sp>
      <p:sp>
        <p:nvSpPr>
          <p:cNvPr id="58" name="Neon frame 5: electron, shell 2"/>
          <p:cNvSpPr/>
          <p:nvPr/>
        </p:nvSpPr>
        <p:spPr>
          <a:xfrm>
            <a:off x="905256" y="3703320"/>
            <a:ext cx="109728" cy="109728"/>
          </a:xfrm>
          <a:prstGeom prst="ellipse">
            <a:avLst/>
          </a:prstGeom>
          <a:solidFill>
            <a:schemeClr val="accent1"/>
          </a:solidFill>
          <a:ln w="3175">
            <a:solidFill>
              <a:schemeClr val="accent1"/>
            </a:solidFill>
            <a:prstDash val="solid"/>
          </a:ln>
        </p:spPr>
      </p:sp>
      <p:sp>
        <p:nvSpPr>
          <p:cNvPr id="59" name="Text 57"/>
          <p:cNvSpPr txBox="1"/>
          <p:nvPr/>
        </p:nvSpPr>
        <p:spPr>
          <a:xfrm>
            <a:off x="530352" y="4251960"/>
            <a:ext cx="1810512" cy="274320"/>
          </a:xfrm>
          <a:prstGeom prst="rect">
            <a:avLst/>
          </a:prstGeom>
          <a:noFill/>
          <a:ln/>
        </p:spPr>
        <p:txBody>
          <a:bodyPr wrap="square" lIns="0" tIns="0" rIns="0" bIns="0" rtlCol="0" anchor="t"/>
          <a:lstStyle/>
          <a:p>
            <a:pPr algn="ctr" indent="0" marL="0">
              <a:buNone/>
            </a:pPr>
            <a:r>
              <a:rPr lang="en-US" sz="1100" dirty="0">
                <a:solidFill>
                  <a:schemeClr val="accent2"/>
                </a:solidFill>
              </a:rPr>
              <a:t>Electron 5: pairs with 1, top</a:t>
            </a:r>
            <a:endParaRPr lang="en-US" sz="1100" dirty="0"/>
          </a:p>
        </p:txBody>
      </p:sp>
      <p:sp>
        <p:nvSpPr>
          <p:cNvPr id="60" name="Frame 6"/>
          <p:cNvSpPr/>
          <p:nvPr/>
        </p:nvSpPr>
        <p:spPr>
          <a:xfrm>
            <a:off x="2551176"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61" name="Neon frame 6: shell 1"/>
          <p:cNvSpPr/>
          <p:nvPr/>
        </p:nvSpPr>
        <p:spPr>
          <a:xfrm>
            <a:off x="3236976" y="3465576"/>
            <a:ext cx="585216" cy="585216"/>
          </a:xfrm>
          <a:prstGeom prst="ellipse">
            <a:avLst/>
          </a:prstGeom>
          <a:solidFill>
            <a:schemeClr val="bg1">
              <a:alpha val="0"/>
            </a:schemeClr>
          </a:solidFill>
          <a:ln w="15875">
            <a:solidFill>
              <a:schemeClr val="bg2">
                <a:alpha val="55000"/>
              </a:schemeClr>
            </a:solidFill>
            <a:prstDash val="solid"/>
          </a:ln>
        </p:spPr>
      </p:sp>
      <p:sp>
        <p:nvSpPr>
          <p:cNvPr id="62" name="Neon frame 6: shell 2"/>
          <p:cNvSpPr/>
          <p:nvPr/>
        </p:nvSpPr>
        <p:spPr>
          <a:xfrm>
            <a:off x="3054096" y="3282696"/>
            <a:ext cx="950976" cy="950976"/>
          </a:xfrm>
          <a:prstGeom prst="ellipse">
            <a:avLst/>
          </a:prstGeom>
          <a:solidFill>
            <a:schemeClr val="bg1">
              <a:alpha val="0"/>
            </a:schemeClr>
          </a:solidFill>
          <a:ln w="15875">
            <a:solidFill>
              <a:schemeClr val="bg2">
                <a:alpha val="55000"/>
              </a:schemeClr>
            </a:solidFill>
            <a:prstDash val="solid"/>
          </a:ln>
        </p:spPr>
      </p:sp>
      <p:sp>
        <p:nvSpPr>
          <p:cNvPr id="63" name="Neon frame 6: nucleus"/>
          <p:cNvSpPr/>
          <p:nvPr/>
        </p:nvSpPr>
        <p:spPr>
          <a:xfrm>
            <a:off x="3340608" y="356920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64" name="Neon frame 6: electron, shell 1"/>
          <p:cNvSpPr/>
          <p:nvPr/>
        </p:nvSpPr>
        <p:spPr>
          <a:xfrm>
            <a:off x="3474720" y="3410712"/>
            <a:ext cx="109728" cy="109728"/>
          </a:xfrm>
          <a:prstGeom prst="ellipse">
            <a:avLst/>
          </a:prstGeom>
          <a:solidFill>
            <a:schemeClr val="accent1"/>
          </a:solidFill>
          <a:ln w="3175">
            <a:solidFill>
              <a:schemeClr val="accent1"/>
            </a:solidFill>
            <a:prstDash val="solid"/>
          </a:ln>
        </p:spPr>
      </p:sp>
      <p:sp>
        <p:nvSpPr>
          <p:cNvPr id="65" name="Neon frame 6: electron, shell 1"/>
          <p:cNvSpPr/>
          <p:nvPr/>
        </p:nvSpPr>
        <p:spPr>
          <a:xfrm>
            <a:off x="3767328" y="3703320"/>
            <a:ext cx="109728" cy="109728"/>
          </a:xfrm>
          <a:prstGeom prst="ellipse">
            <a:avLst/>
          </a:prstGeom>
          <a:solidFill>
            <a:schemeClr val="accent1"/>
          </a:solidFill>
          <a:ln w="3175">
            <a:solidFill>
              <a:schemeClr val="accent1"/>
            </a:solidFill>
            <a:prstDash val="solid"/>
          </a:ln>
        </p:spPr>
      </p:sp>
      <p:sp>
        <p:nvSpPr>
          <p:cNvPr id="66" name="Neon frame 6: electron, shell 2"/>
          <p:cNvSpPr/>
          <p:nvPr/>
        </p:nvSpPr>
        <p:spPr>
          <a:xfrm>
            <a:off x="3404267" y="3233081"/>
            <a:ext cx="109728" cy="109728"/>
          </a:xfrm>
          <a:prstGeom prst="ellipse">
            <a:avLst/>
          </a:prstGeom>
          <a:solidFill>
            <a:schemeClr val="accent1"/>
          </a:solidFill>
          <a:ln w="3175">
            <a:solidFill>
              <a:schemeClr val="accent1"/>
            </a:solidFill>
            <a:prstDash val="solid"/>
          </a:ln>
        </p:spPr>
      </p:sp>
      <p:sp>
        <p:nvSpPr>
          <p:cNvPr id="67" name="Neon frame 6: electron, shell 2"/>
          <p:cNvSpPr/>
          <p:nvPr/>
        </p:nvSpPr>
        <p:spPr>
          <a:xfrm>
            <a:off x="3545173" y="3233081"/>
            <a:ext cx="109728" cy="109728"/>
          </a:xfrm>
          <a:prstGeom prst="ellipse">
            <a:avLst/>
          </a:prstGeom>
          <a:solidFill>
            <a:schemeClr val="accent1"/>
          </a:solidFill>
          <a:ln w="3175">
            <a:solidFill>
              <a:schemeClr val="accent1"/>
            </a:solidFill>
            <a:prstDash val="solid"/>
          </a:ln>
        </p:spPr>
      </p:sp>
      <p:sp>
        <p:nvSpPr>
          <p:cNvPr id="68" name="Neon frame 6: electron, shell 2"/>
          <p:cNvSpPr/>
          <p:nvPr/>
        </p:nvSpPr>
        <p:spPr>
          <a:xfrm>
            <a:off x="3944959" y="3632867"/>
            <a:ext cx="109728" cy="109728"/>
          </a:xfrm>
          <a:prstGeom prst="ellipse">
            <a:avLst/>
          </a:prstGeom>
          <a:solidFill>
            <a:schemeClr val="accent1"/>
          </a:solidFill>
          <a:ln w="3175">
            <a:solidFill>
              <a:schemeClr val="accent1"/>
            </a:solidFill>
            <a:prstDash val="solid"/>
          </a:ln>
        </p:spPr>
      </p:sp>
      <p:sp>
        <p:nvSpPr>
          <p:cNvPr id="69" name="Neon frame 6: electron, shell 2"/>
          <p:cNvSpPr/>
          <p:nvPr/>
        </p:nvSpPr>
        <p:spPr>
          <a:xfrm>
            <a:off x="3944959" y="3773773"/>
            <a:ext cx="109728" cy="109728"/>
          </a:xfrm>
          <a:prstGeom prst="ellipse">
            <a:avLst/>
          </a:prstGeom>
          <a:solidFill>
            <a:schemeClr val="accent1"/>
          </a:solidFill>
          <a:ln w="3175">
            <a:solidFill>
              <a:schemeClr val="accent1"/>
            </a:solidFill>
            <a:prstDash val="solid"/>
          </a:ln>
        </p:spPr>
      </p:sp>
      <p:sp>
        <p:nvSpPr>
          <p:cNvPr id="70" name="Neon frame 6: electron, shell 2"/>
          <p:cNvSpPr/>
          <p:nvPr/>
        </p:nvSpPr>
        <p:spPr>
          <a:xfrm>
            <a:off x="3474720" y="4178808"/>
            <a:ext cx="109728" cy="109728"/>
          </a:xfrm>
          <a:prstGeom prst="ellipse">
            <a:avLst/>
          </a:prstGeom>
          <a:solidFill>
            <a:schemeClr val="accent1"/>
          </a:solidFill>
          <a:ln w="3175">
            <a:solidFill>
              <a:schemeClr val="accent1"/>
            </a:solidFill>
            <a:prstDash val="solid"/>
          </a:ln>
        </p:spPr>
      </p:sp>
      <p:sp>
        <p:nvSpPr>
          <p:cNvPr id="71" name="Neon frame 6: electron, shell 2"/>
          <p:cNvSpPr/>
          <p:nvPr/>
        </p:nvSpPr>
        <p:spPr>
          <a:xfrm>
            <a:off x="2999232" y="3703320"/>
            <a:ext cx="109728" cy="109728"/>
          </a:xfrm>
          <a:prstGeom prst="ellipse">
            <a:avLst/>
          </a:prstGeom>
          <a:solidFill>
            <a:schemeClr val="accent1"/>
          </a:solidFill>
          <a:ln w="3175">
            <a:solidFill>
              <a:schemeClr val="accent1"/>
            </a:solidFill>
            <a:prstDash val="solid"/>
          </a:ln>
        </p:spPr>
      </p:sp>
      <p:sp>
        <p:nvSpPr>
          <p:cNvPr id="72" name="Text 70"/>
          <p:cNvSpPr txBox="1"/>
          <p:nvPr/>
        </p:nvSpPr>
        <p:spPr>
          <a:xfrm>
            <a:off x="2624328" y="4251960"/>
            <a:ext cx="1810512" cy="274320"/>
          </a:xfrm>
          <a:prstGeom prst="rect">
            <a:avLst/>
          </a:prstGeom>
          <a:noFill/>
          <a:ln/>
        </p:spPr>
        <p:txBody>
          <a:bodyPr wrap="square" lIns="0" tIns="0" rIns="0" bIns="0" rtlCol="0" anchor="t"/>
          <a:lstStyle/>
          <a:p>
            <a:pPr algn="ctr" indent="0" marL="0">
              <a:buNone/>
            </a:pPr>
            <a:r>
              <a:rPr lang="en-US" sz="1100" dirty="0">
                <a:solidFill>
                  <a:schemeClr val="accent2"/>
                </a:solidFill>
              </a:rPr>
              <a:t>Electron 6: pairs, right</a:t>
            </a:r>
            <a:endParaRPr lang="en-US" sz="1100" dirty="0"/>
          </a:p>
        </p:txBody>
      </p:sp>
      <p:sp>
        <p:nvSpPr>
          <p:cNvPr id="73" name="Frame 7"/>
          <p:cNvSpPr/>
          <p:nvPr/>
        </p:nvSpPr>
        <p:spPr>
          <a:xfrm>
            <a:off x="4645152"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74" name="Neon frame 7: shell 1"/>
          <p:cNvSpPr/>
          <p:nvPr/>
        </p:nvSpPr>
        <p:spPr>
          <a:xfrm>
            <a:off x="5330952" y="3465576"/>
            <a:ext cx="585216" cy="585216"/>
          </a:xfrm>
          <a:prstGeom prst="ellipse">
            <a:avLst/>
          </a:prstGeom>
          <a:solidFill>
            <a:schemeClr val="bg1">
              <a:alpha val="0"/>
            </a:schemeClr>
          </a:solidFill>
          <a:ln w="15875">
            <a:solidFill>
              <a:schemeClr val="bg2">
                <a:alpha val="55000"/>
              </a:schemeClr>
            </a:solidFill>
            <a:prstDash val="solid"/>
          </a:ln>
        </p:spPr>
      </p:sp>
      <p:sp>
        <p:nvSpPr>
          <p:cNvPr id="75" name="Neon frame 7: shell 2"/>
          <p:cNvSpPr/>
          <p:nvPr/>
        </p:nvSpPr>
        <p:spPr>
          <a:xfrm>
            <a:off x="5148072" y="3282696"/>
            <a:ext cx="950976" cy="950976"/>
          </a:xfrm>
          <a:prstGeom prst="ellipse">
            <a:avLst/>
          </a:prstGeom>
          <a:solidFill>
            <a:schemeClr val="bg1">
              <a:alpha val="0"/>
            </a:schemeClr>
          </a:solidFill>
          <a:ln w="15875">
            <a:solidFill>
              <a:schemeClr val="bg2">
                <a:alpha val="55000"/>
              </a:schemeClr>
            </a:solidFill>
            <a:prstDash val="solid"/>
          </a:ln>
        </p:spPr>
      </p:sp>
      <p:sp>
        <p:nvSpPr>
          <p:cNvPr id="76" name="Neon frame 7: nucleus"/>
          <p:cNvSpPr/>
          <p:nvPr/>
        </p:nvSpPr>
        <p:spPr>
          <a:xfrm>
            <a:off x="5434584" y="356920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77" name="Neon frame 7: electron, shell 1"/>
          <p:cNvSpPr/>
          <p:nvPr/>
        </p:nvSpPr>
        <p:spPr>
          <a:xfrm>
            <a:off x="5568696" y="3410712"/>
            <a:ext cx="109728" cy="109728"/>
          </a:xfrm>
          <a:prstGeom prst="ellipse">
            <a:avLst/>
          </a:prstGeom>
          <a:solidFill>
            <a:schemeClr val="accent1"/>
          </a:solidFill>
          <a:ln w="3175">
            <a:solidFill>
              <a:schemeClr val="accent1"/>
            </a:solidFill>
            <a:prstDash val="solid"/>
          </a:ln>
        </p:spPr>
      </p:sp>
      <p:sp>
        <p:nvSpPr>
          <p:cNvPr id="78" name="Neon frame 7: electron, shell 1"/>
          <p:cNvSpPr/>
          <p:nvPr/>
        </p:nvSpPr>
        <p:spPr>
          <a:xfrm>
            <a:off x="5861304" y="3703320"/>
            <a:ext cx="109728" cy="109728"/>
          </a:xfrm>
          <a:prstGeom prst="ellipse">
            <a:avLst/>
          </a:prstGeom>
          <a:solidFill>
            <a:schemeClr val="accent1"/>
          </a:solidFill>
          <a:ln w="3175">
            <a:solidFill>
              <a:schemeClr val="accent1"/>
            </a:solidFill>
            <a:prstDash val="solid"/>
          </a:ln>
        </p:spPr>
      </p:sp>
      <p:sp>
        <p:nvSpPr>
          <p:cNvPr id="79" name="Neon frame 7: electron, shell 2"/>
          <p:cNvSpPr/>
          <p:nvPr/>
        </p:nvSpPr>
        <p:spPr>
          <a:xfrm>
            <a:off x="5498243" y="3233081"/>
            <a:ext cx="109728" cy="109728"/>
          </a:xfrm>
          <a:prstGeom prst="ellipse">
            <a:avLst/>
          </a:prstGeom>
          <a:solidFill>
            <a:schemeClr val="accent1"/>
          </a:solidFill>
          <a:ln w="3175">
            <a:solidFill>
              <a:schemeClr val="accent1"/>
            </a:solidFill>
            <a:prstDash val="solid"/>
          </a:ln>
        </p:spPr>
      </p:sp>
      <p:sp>
        <p:nvSpPr>
          <p:cNvPr id="80" name="Neon frame 7: electron, shell 2"/>
          <p:cNvSpPr/>
          <p:nvPr/>
        </p:nvSpPr>
        <p:spPr>
          <a:xfrm>
            <a:off x="5639149" y="3233081"/>
            <a:ext cx="109728" cy="109728"/>
          </a:xfrm>
          <a:prstGeom prst="ellipse">
            <a:avLst/>
          </a:prstGeom>
          <a:solidFill>
            <a:schemeClr val="accent1"/>
          </a:solidFill>
          <a:ln w="3175">
            <a:solidFill>
              <a:schemeClr val="accent1"/>
            </a:solidFill>
            <a:prstDash val="solid"/>
          </a:ln>
        </p:spPr>
      </p:sp>
      <p:sp>
        <p:nvSpPr>
          <p:cNvPr id="81" name="Neon frame 7: electron, shell 2"/>
          <p:cNvSpPr/>
          <p:nvPr/>
        </p:nvSpPr>
        <p:spPr>
          <a:xfrm>
            <a:off x="6038935" y="3632867"/>
            <a:ext cx="109728" cy="109728"/>
          </a:xfrm>
          <a:prstGeom prst="ellipse">
            <a:avLst/>
          </a:prstGeom>
          <a:solidFill>
            <a:schemeClr val="accent1"/>
          </a:solidFill>
          <a:ln w="3175">
            <a:solidFill>
              <a:schemeClr val="accent1"/>
            </a:solidFill>
            <a:prstDash val="solid"/>
          </a:ln>
        </p:spPr>
      </p:sp>
      <p:sp>
        <p:nvSpPr>
          <p:cNvPr id="82" name="Neon frame 7: electron, shell 2"/>
          <p:cNvSpPr/>
          <p:nvPr/>
        </p:nvSpPr>
        <p:spPr>
          <a:xfrm>
            <a:off x="6038935" y="3773773"/>
            <a:ext cx="109728" cy="109728"/>
          </a:xfrm>
          <a:prstGeom prst="ellipse">
            <a:avLst/>
          </a:prstGeom>
          <a:solidFill>
            <a:schemeClr val="accent1"/>
          </a:solidFill>
          <a:ln w="3175">
            <a:solidFill>
              <a:schemeClr val="accent1"/>
            </a:solidFill>
            <a:prstDash val="solid"/>
          </a:ln>
        </p:spPr>
      </p:sp>
      <p:sp>
        <p:nvSpPr>
          <p:cNvPr id="83" name="Neon frame 7: electron, shell 2"/>
          <p:cNvSpPr/>
          <p:nvPr/>
        </p:nvSpPr>
        <p:spPr>
          <a:xfrm>
            <a:off x="5639149" y="4173559"/>
            <a:ext cx="109728" cy="109728"/>
          </a:xfrm>
          <a:prstGeom prst="ellipse">
            <a:avLst/>
          </a:prstGeom>
          <a:solidFill>
            <a:schemeClr val="accent1"/>
          </a:solidFill>
          <a:ln w="3175">
            <a:solidFill>
              <a:schemeClr val="accent1"/>
            </a:solidFill>
            <a:prstDash val="solid"/>
          </a:ln>
        </p:spPr>
      </p:sp>
      <p:sp>
        <p:nvSpPr>
          <p:cNvPr id="84" name="Neon frame 7: electron, shell 2"/>
          <p:cNvSpPr/>
          <p:nvPr/>
        </p:nvSpPr>
        <p:spPr>
          <a:xfrm>
            <a:off x="5498243" y="4173559"/>
            <a:ext cx="109728" cy="109728"/>
          </a:xfrm>
          <a:prstGeom prst="ellipse">
            <a:avLst/>
          </a:prstGeom>
          <a:solidFill>
            <a:schemeClr val="accent1"/>
          </a:solidFill>
          <a:ln w="3175">
            <a:solidFill>
              <a:schemeClr val="accent1"/>
            </a:solidFill>
            <a:prstDash val="solid"/>
          </a:ln>
        </p:spPr>
      </p:sp>
      <p:sp>
        <p:nvSpPr>
          <p:cNvPr id="85" name="Neon frame 7: electron, shell 2"/>
          <p:cNvSpPr/>
          <p:nvPr/>
        </p:nvSpPr>
        <p:spPr>
          <a:xfrm>
            <a:off x="5093208" y="3703320"/>
            <a:ext cx="109728" cy="109728"/>
          </a:xfrm>
          <a:prstGeom prst="ellipse">
            <a:avLst/>
          </a:prstGeom>
          <a:solidFill>
            <a:schemeClr val="accent1"/>
          </a:solidFill>
          <a:ln w="3175">
            <a:solidFill>
              <a:schemeClr val="accent1"/>
            </a:solidFill>
            <a:prstDash val="solid"/>
          </a:ln>
        </p:spPr>
      </p:sp>
      <p:sp>
        <p:nvSpPr>
          <p:cNvPr id="86" name="Text 84"/>
          <p:cNvSpPr txBox="1"/>
          <p:nvPr/>
        </p:nvSpPr>
        <p:spPr>
          <a:xfrm>
            <a:off x="4718304" y="4251960"/>
            <a:ext cx="1810512" cy="274320"/>
          </a:xfrm>
          <a:prstGeom prst="rect">
            <a:avLst/>
          </a:prstGeom>
          <a:noFill/>
          <a:ln/>
        </p:spPr>
        <p:txBody>
          <a:bodyPr wrap="square" lIns="0" tIns="0" rIns="0" bIns="0" rtlCol="0" anchor="t"/>
          <a:lstStyle/>
          <a:p>
            <a:pPr algn="ctr" indent="0" marL="0">
              <a:buNone/>
            </a:pPr>
            <a:r>
              <a:rPr lang="en-US" sz="1100" dirty="0">
                <a:solidFill>
                  <a:schemeClr val="accent2"/>
                </a:solidFill>
              </a:rPr>
              <a:t>Electron 7: pairs, bottom</a:t>
            </a:r>
            <a:endParaRPr lang="en-US" sz="1100" dirty="0"/>
          </a:p>
        </p:txBody>
      </p:sp>
      <p:sp>
        <p:nvSpPr>
          <p:cNvPr id="87" name="Frame 8"/>
          <p:cNvSpPr/>
          <p:nvPr/>
        </p:nvSpPr>
        <p:spPr>
          <a:xfrm>
            <a:off x="6739128" y="3154680"/>
            <a:ext cx="1956816" cy="1417320"/>
          </a:xfrm>
          <a:prstGeom prst="roundRect">
            <a:avLst>
              <a:gd name="adj" fmla="val 6452"/>
            </a:avLst>
          </a:prstGeom>
          <a:solidFill>
            <a:schemeClr val="tx2"/>
          </a:solidFill>
          <a:ln w="9525">
            <a:solidFill>
              <a:schemeClr val="bg2">
                <a:alpha val="30000"/>
              </a:schemeClr>
            </a:solidFill>
            <a:prstDash val="solid"/>
          </a:ln>
        </p:spPr>
      </p:sp>
      <p:sp>
        <p:nvSpPr>
          <p:cNvPr id="88" name="Neon frame 8: shell 1"/>
          <p:cNvSpPr/>
          <p:nvPr/>
        </p:nvSpPr>
        <p:spPr>
          <a:xfrm>
            <a:off x="7424928" y="3465576"/>
            <a:ext cx="585216" cy="585216"/>
          </a:xfrm>
          <a:prstGeom prst="ellipse">
            <a:avLst/>
          </a:prstGeom>
          <a:solidFill>
            <a:schemeClr val="bg1">
              <a:alpha val="0"/>
            </a:schemeClr>
          </a:solidFill>
          <a:ln w="15875">
            <a:solidFill>
              <a:schemeClr val="bg2">
                <a:alpha val="55000"/>
              </a:schemeClr>
            </a:solidFill>
            <a:prstDash val="solid"/>
          </a:ln>
        </p:spPr>
      </p:sp>
      <p:sp>
        <p:nvSpPr>
          <p:cNvPr id="89" name="Neon frame 8: shell 2"/>
          <p:cNvSpPr/>
          <p:nvPr/>
        </p:nvSpPr>
        <p:spPr>
          <a:xfrm>
            <a:off x="7242048" y="3282696"/>
            <a:ext cx="950976" cy="950976"/>
          </a:xfrm>
          <a:prstGeom prst="ellipse">
            <a:avLst/>
          </a:prstGeom>
          <a:solidFill>
            <a:schemeClr val="bg1">
              <a:alpha val="0"/>
            </a:schemeClr>
          </a:solidFill>
          <a:ln w="15875">
            <a:solidFill>
              <a:schemeClr val="bg2">
                <a:alpha val="55000"/>
              </a:schemeClr>
            </a:solidFill>
            <a:prstDash val="solid"/>
          </a:ln>
        </p:spPr>
      </p:sp>
      <p:sp>
        <p:nvSpPr>
          <p:cNvPr id="90" name="Neon frame 8: nucleus"/>
          <p:cNvSpPr/>
          <p:nvPr/>
        </p:nvSpPr>
        <p:spPr>
          <a:xfrm>
            <a:off x="7528560" y="3569208"/>
            <a:ext cx="377952" cy="377952"/>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91" name="Neon frame 8: electron, shell 1"/>
          <p:cNvSpPr/>
          <p:nvPr/>
        </p:nvSpPr>
        <p:spPr>
          <a:xfrm>
            <a:off x="7662672" y="3410712"/>
            <a:ext cx="109728" cy="109728"/>
          </a:xfrm>
          <a:prstGeom prst="ellipse">
            <a:avLst/>
          </a:prstGeom>
          <a:solidFill>
            <a:schemeClr val="accent1"/>
          </a:solidFill>
          <a:ln w="3175">
            <a:solidFill>
              <a:schemeClr val="accent1"/>
            </a:solidFill>
            <a:prstDash val="solid"/>
          </a:ln>
        </p:spPr>
      </p:sp>
      <p:sp>
        <p:nvSpPr>
          <p:cNvPr id="92" name="Neon frame 8: electron, shell 1"/>
          <p:cNvSpPr/>
          <p:nvPr/>
        </p:nvSpPr>
        <p:spPr>
          <a:xfrm>
            <a:off x="7955280" y="3703320"/>
            <a:ext cx="109728" cy="109728"/>
          </a:xfrm>
          <a:prstGeom prst="ellipse">
            <a:avLst/>
          </a:prstGeom>
          <a:solidFill>
            <a:schemeClr val="accent1"/>
          </a:solidFill>
          <a:ln w="3175">
            <a:solidFill>
              <a:schemeClr val="accent1"/>
            </a:solidFill>
            <a:prstDash val="solid"/>
          </a:ln>
        </p:spPr>
      </p:sp>
      <p:sp>
        <p:nvSpPr>
          <p:cNvPr id="93" name="Neon frame 8: electron, shell 2"/>
          <p:cNvSpPr/>
          <p:nvPr/>
        </p:nvSpPr>
        <p:spPr>
          <a:xfrm>
            <a:off x="7592219" y="3233081"/>
            <a:ext cx="109728" cy="109728"/>
          </a:xfrm>
          <a:prstGeom prst="ellipse">
            <a:avLst/>
          </a:prstGeom>
          <a:solidFill>
            <a:schemeClr val="accent1"/>
          </a:solidFill>
          <a:ln w="3175">
            <a:solidFill>
              <a:schemeClr val="accent1"/>
            </a:solidFill>
            <a:prstDash val="solid"/>
          </a:ln>
        </p:spPr>
      </p:sp>
      <p:sp>
        <p:nvSpPr>
          <p:cNvPr id="94" name="Neon frame 8: electron, shell 2"/>
          <p:cNvSpPr/>
          <p:nvPr/>
        </p:nvSpPr>
        <p:spPr>
          <a:xfrm>
            <a:off x="7733125" y="3233081"/>
            <a:ext cx="109728" cy="109728"/>
          </a:xfrm>
          <a:prstGeom prst="ellipse">
            <a:avLst/>
          </a:prstGeom>
          <a:solidFill>
            <a:schemeClr val="accent1"/>
          </a:solidFill>
          <a:ln w="3175">
            <a:solidFill>
              <a:schemeClr val="accent1"/>
            </a:solidFill>
            <a:prstDash val="solid"/>
          </a:ln>
        </p:spPr>
      </p:sp>
      <p:sp>
        <p:nvSpPr>
          <p:cNvPr id="95" name="Neon frame 8: electron, shell 2"/>
          <p:cNvSpPr/>
          <p:nvPr/>
        </p:nvSpPr>
        <p:spPr>
          <a:xfrm>
            <a:off x="8132911" y="3632867"/>
            <a:ext cx="109728" cy="109728"/>
          </a:xfrm>
          <a:prstGeom prst="ellipse">
            <a:avLst/>
          </a:prstGeom>
          <a:solidFill>
            <a:schemeClr val="accent1"/>
          </a:solidFill>
          <a:ln w="3175">
            <a:solidFill>
              <a:schemeClr val="accent1"/>
            </a:solidFill>
            <a:prstDash val="solid"/>
          </a:ln>
        </p:spPr>
      </p:sp>
      <p:sp>
        <p:nvSpPr>
          <p:cNvPr id="96" name="Neon frame 8: electron, shell 2"/>
          <p:cNvSpPr/>
          <p:nvPr/>
        </p:nvSpPr>
        <p:spPr>
          <a:xfrm>
            <a:off x="8132911" y="3773773"/>
            <a:ext cx="109728" cy="109728"/>
          </a:xfrm>
          <a:prstGeom prst="ellipse">
            <a:avLst/>
          </a:prstGeom>
          <a:solidFill>
            <a:schemeClr val="accent1"/>
          </a:solidFill>
          <a:ln w="3175">
            <a:solidFill>
              <a:schemeClr val="accent1"/>
            </a:solidFill>
            <a:prstDash val="solid"/>
          </a:ln>
        </p:spPr>
      </p:sp>
      <p:sp>
        <p:nvSpPr>
          <p:cNvPr id="97" name="Neon frame 8: electron, shell 2"/>
          <p:cNvSpPr/>
          <p:nvPr/>
        </p:nvSpPr>
        <p:spPr>
          <a:xfrm>
            <a:off x="7733125" y="4173559"/>
            <a:ext cx="109728" cy="109728"/>
          </a:xfrm>
          <a:prstGeom prst="ellipse">
            <a:avLst/>
          </a:prstGeom>
          <a:solidFill>
            <a:schemeClr val="accent1"/>
          </a:solidFill>
          <a:ln w="3175">
            <a:solidFill>
              <a:schemeClr val="accent1"/>
            </a:solidFill>
            <a:prstDash val="solid"/>
          </a:ln>
        </p:spPr>
      </p:sp>
      <p:sp>
        <p:nvSpPr>
          <p:cNvPr id="98" name="Neon frame 8: electron, shell 2"/>
          <p:cNvSpPr/>
          <p:nvPr/>
        </p:nvSpPr>
        <p:spPr>
          <a:xfrm>
            <a:off x="7592219" y="4173559"/>
            <a:ext cx="109728" cy="109728"/>
          </a:xfrm>
          <a:prstGeom prst="ellipse">
            <a:avLst/>
          </a:prstGeom>
          <a:solidFill>
            <a:schemeClr val="accent1"/>
          </a:solidFill>
          <a:ln w="3175">
            <a:solidFill>
              <a:schemeClr val="accent1"/>
            </a:solidFill>
            <a:prstDash val="solid"/>
          </a:ln>
        </p:spPr>
      </p:sp>
      <p:sp>
        <p:nvSpPr>
          <p:cNvPr id="99" name="Neon frame 8: electron, shell 2"/>
          <p:cNvSpPr/>
          <p:nvPr/>
        </p:nvSpPr>
        <p:spPr>
          <a:xfrm>
            <a:off x="7192433" y="3773773"/>
            <a:ext cx="109728" cy="109728"/>
          </a:xfrm>
          <a:prstGeom prst="ellipse">
            <a:avLst/>
          </a:prstGeom>
          <a:solidFill>
            <a:schemeClr val="accent1"/>
          </a:solidFill>
          <a:ln w="3175">
            <a:solidFill>
              <a:schemeClr val="accent1"/>
            </a:solidFill>
            <a:prstDash val="solid"/>
          </a:ln>
        </p:spPr>
      </p:sp>
      <p:sp>
        <p:nvSpPr>
          <p:cNvPr id="100" name="Neon frame 8: electron, shell 2"/>
          <p:cNvSpPr/>
          <p:nvPr/>
        </p:nvSpPr>
        <p:spPr>
          <a:xfrm>
            <a:off x="7192433" y="3632867"/>
            <a:ext cx="109728" cy="109728"/>
          </a:xfrm>
          <a:prstGeom prst="ellipse">
            <a:avLst/>
          </a:prstGeom>
          <a:solidFill>
            <a:schemeClr val="accent1"/>
          </a:solidFill>
          <a:ln w="3175">
            <a:solidFill>
              <a:schemeClr val="accent1"/>
            </a:solidFill>
            <a:prstDash val="solid"/>
          </a:ln>
        </p:spPr>
      </p:sp>
      <p:sp>
        <p:nvSpPr>
          <p:cNvPr id="101" name="Text 99"/>
          <p:cNvSpPr txBox="1"/>
          <p:nvPr/>
        </p:nvSpPr>
        <p:spPr>
          <a:xfrm>
            <a:off x="6812280" y="4251960"/>
            <a:ext cx="1810512" cy="274320"/>
          </a:xfrm>
          <a:prstGeom prst="rect">
            <a:avLst/>
          </a:prstGeom>
          <a:noFill/>
          <a:ln/>
        </p:spPr>
        <p:txBody>
          <a:bodyPr wrap="square" lIns="0" tIns="0" rIns="0" bIns="0" rtlCol="0" anchor="t"/>
          <a:lstStyle/>
          <a:p>
            <a:pPr algn="ctr" indent="0" marL="0">
              <a:buNone/>
            </a:pPr>
            <a:r>
              <a:rPr lang="en-US" sz="1100" dirty="0">
                <a:solidFill>
                  <a:schemeClr val="accent2"/>
                </a:solidFill>
              </a:rPr>
              <a:t>Electron 8: pairs, left</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Where does it go? Rounds 1–3</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Tap the spot on the glowing shell where the next electron belongs.</a:t>
            </a:r>
            <a:endParaRPr lang="en-US" sz="1300" dirty="0"/>
          </a:p>
        </p:txBody>
      </p:sp>
      <p:sp>
        <p:nvSpPr>
          <p:cNvPr id="9" name="Oxygen: shell 1"/>
          <p:cNvSpPr/>
          <p:nvPr/>
        </p:nvSpPr>
        <p:spPr>
          <a:xfrm>
            <a:off x="1345997" y="2260397"/>
            <a:ext cx="965606" cy="965606"/>
          </a:xfrm>
          <a:prstGeom prst="ellipse">
            <a:avLst/>
          </a:prstGeom>
          <a:solidFill>
            <a:schemeClr val="bg1">
              <a:alpha val="0"/>
            </a:schemeClr>
          </a:solidFill>
          <a:ln w="15875">
            <a:solidFill>
              <a:schemeClr val="bg2">
                <a:alpha val="55000"/>
              </a:schemeClr>
            </a:solidFill>
            <a:prstDash val="solid"/>
          </a:ln>
        </p:spPr>
      </p:sp>
      <p:sp>
        <p:nvSpPr>
          <p:cNvPr id="10" name="Oxygen: shell 2"/>
          <p:cNvSpPr/>
          <p:nvPr/>
        </p:nvSpPr>
        <p:spPr>
          <a:xfrm>
            <a:off x="1044245" y="1958645"/>
            <a:ext cx="1569110" cy="1569110"/>
          </a:xfrm>
          <a:prstGeom prst="ellipse">
            <a:avLst/>
          </a:prstGeom>
          <a:solidFill>
            <a:schemeClr val="bg1">
              <a:alpha val="0"/>
            </a:schemeClr>
          </a:solidFill>
          <a:ln w="15875">
            <a:solidFill>
              <a:schemeClr val="bg2">
                <a:alpha val="55000"/>
              </a:schemeClr>
            </a:solidFill>
            <a:prstDash val="solid"/>
          </a:ln>
        </p:spPr>
      </p:sp>
      <p:sp>
        <p:nvSpPr>
          <p:cNvPr id="11" name="Oxygen: target spot"/>
          <p:cNvSpPr/>
          <p:nvPr/>
        </p:nvSpPr>
        <p:spPr>
          <a:xfrm>
            <a:off x="1677924" y="1807769"/>
            <a:ext cx="301752" cy="301752"/>
          </a:xfrm>
          <a:prstGeom prst="ellipse">
            <a:avLst/>
          </a:prstGeom>
          <a:solidFill>
            <a:schemeClr val="accent1">
              <a:alpha val="10000"/>
            </a:schemeClr>
          </a:solidFill>
          <a:ln w="12700">
            <a:solidFill>
              <a:schemeClr val="accent1"/>
            </a:solidFill>
            <a:prstDash val="dash"/>
          </a:ln>
        </p:spPr>
      </p:sp>
      <p:sp>
        <p:nvSpPr>
          <p:cNvPr id="12" name="Oxygen: target spot"/>
          <p:cNvSpPr/>
          <p:nvPr/>
        </p:nvSpPr>
        <p:spPr>
          <a:xfrm>
            <a:off x="2462479" y="2592324"/>
            <a:ext cx="301752" cy="301752"/>
          </a:xfrm>
          <a:prstGeom prst="ellipse">
            <a:avLst/>
          </a:prstGeom>
          <a:solidFill>
            <a:schemeClr val="accent1">
              <a:alpha val="10000"/>
            </a:schemeClr>
          </a:solidFill>
          <a:ln w="12700">
            <a:solidFill>
              <a:schemeClr val="accent1"/>
            </a:solidFill>
            <a:prstDash val="dash"/>
          </a:ln>
        </p:spPr>
      </p:sp>
      <p:sp>
        <p:nvSpPr>
          <p:cNvPr id="13" name="Oxygen: target spot"/>
          <p:cNvSpPr/>
          <p:nvPr/>
        </p:nvSpPr>
        <p:spPr>
          <a:xfrm>
            <a:off x="1677924" y="3376879"/>
            <a:ext cx="301752" cy="301752"/>
          </a:xfrm>
          <a:prstGeom prst="ellipse">
            <a:avLst/>
          </a:prstGeom>
          <a:solidFill>
            <a:schemeClr val="accent1">
              <a:alpha val="10000"/>
            </a:schemeClr>
          </a:solidFill>
          <a:ln w="12700">
            <a:solidFill>
              <a:schemeClr val="accent1"/>
            </a:solidFill>
            <a:prstDash val="dash"/>
          </a:ln>
        </p:spPr>
      </p:sp>
      <p:sp>
        <p:nvSpPr>
          <p:cNvPr id="14" name="Oxygen: target spot"/>
          <p:cNvSpPr/>
          <p:nvPr/>
        </p:nvSpPr>
        <p:spPr>
          <a:xfrm>
            <a:off x="893369" y="2592324"/>
            <a:ext cx="301752" cy="301752"/>
          </a:xfrm>
          <a:prstGeom prst="ellipse">
            <a:avLst/>
          </a:prstGeom>
          <a:solidFill>
            <a:schemeClr val="accent1">
              <a:alpha val="10000"/>
            </a:schemeClr>
          </a:solidFill>
          <a:ln w="12700">
            <a:solidFill>
              <a:schemeClr val="accent1"/>
            </a:solidFill>
            <a:prstDash val="dash"/>
          </a:ln>
        </p:spPr>
      </p:sp>
      <p:sp>
        <p:nvSpPr>
          <p:cNvPr id="15" name="Oxygen: nucleus"/>
          <p:cNvSpPr/>
          <p:nvPr/>
        </p:nvSpPr>
        <p:spPr>
          <a:xfrm>
            <a:off x="1516990" y="2431390"/>
            <a:ext cx="623621" cy="62362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8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8 n</a:t>
            </a:r>
            <a:pPr algn="ctr" indent="0" marL="0">
              <a:buNone/>
            </a:pPr>
            <a:r>
              <a:rPr lang="en-US" sz="900" b="1" baseline="30000" dirty="0">
                <a:solidFill>
                  <a:schemeClr val="bg1"/>
                </a:solidFill>
              </a:rPr>
              <a:t>0</a:t>
            </a:r>
            <a:endParaRPr lang="en-US" sz="900" dirty="0"/>
          </a:p>
        </p:txBody>
      </p:sp>
      <p:sp>
        <p:nvSpPr>
          <p:cNvPr id="16" name="Oxygen: electron, shell 1"/>
          <p:cNvSpPr/>
          <p:nvPr/>
        </p:nvSpPr>
        <p:spPr>
          <a:xfrm>
            <a:off x="1753362" y="2184959"/>
            <a:ext cx="150876" cy="150876"/>
          </a:xfrm>
          <a:prstGeom prst="ellipse">
            <a:avLst/>
          </a:prstGeom>
          <a:solidFill>
            <a:schemeClr val="accent1"/>
          </a:solidFill>
          <a:ln w="3175">
            <a:solidFill>
              <a:schemeClr val="accent1"/>
            </a:solidFill>
            <a:prstDash val="solid"/>
          </a:ln>
        </p:spPr>
      </p:sp>
      <p:sp>
        <p:nvSpPr>
          <p:cNvPr id="17" name="Oxygen: electron, shell 1"/>
          <p:cNvSpPr/>
          <p:nvPr/>
        </p:nvSpPr>
        <p:spPr>
          <a:xfrm>
            <a:off x="2236165" y="2667762"/>
            <a:ext cx="150876" cy="150876"/>
          </a:xfrm>
          <a:prstGeom prst="ellipse">
            <a:avLst/>
          </a:prstGeom>
          <a:solidFill>
            <a:schemeClr val="accent1"/>
          </a:solidFill>
          <a:ln w="3175">
            <a:solidFill>
              <a:schemeClr val="accent1"/>
            </a:solidFill>
            <a:prstDash val="solid"/>
          </a:ln>
        </p:spPr>
      </p:sp>
      <p:sp>
        <p:nvSpPr>
          <p:cNvPr id="18" name="Text 16"/>
          <p:cNvSpPr txBox="1"/>
          <p:nvPr/>
        </p:nvSpPr>
        <p:spPr>
          <a:xfrm>
            <a:off x="457200" y="4206240"/>
            <a:ext cx="2743200" cy="292608"/>
          </a:xfrm>
          <a:prstGeom prst="rect">
            <a:avLst/>
          </a:prstGeom>
          <a:noFill/>
          <a:ln/>
        </p:spPr>
        <p:txBody>
          <a:bodyPr wrap="square" lIns="0" tIns="0" rIns="0" bIns="0" rtlCol="0" anchor="t"/>
          <a:lstStyle/>
          <a:p>
            <a:pPr algn="ctr" indent="0" marL="0">
              <a:buNone/>
            </a:pPr>
            <a:r>
              <a:rPr lang="en-US" sz="1300" b="1" dirty="0">
                <a:solidFill>
                  <a:schemeClr val="bg1"/>
                </a:solidFill>
              </a:rPr>
              <a:t>Round 1: oxygen, 6 in shell 2</a:t>
            </a:r>
            <a:endParaRPr lang="en-US" sz="1300" dirty="0"/>
          </a:p>
        </p:txBody>
      </p:sp>
      <p:sp>
        <p:nvSpPr>
          <p:cNvPr id="19" name="Phosphorus: shell 1"/>
          <p:cNvSpPr/>
          <p:nvPr/>
        </p:nvSpPr>
        <p:spPr>
          <a:xfrm>
            <a:off x="4178635" y="2349835"/>
            <a:ext cx="786729" cy="786729"/>
          </a:xfrm>
          <a:prstGeom prst="ellipse">
            <a:avLst/>
          </a:prstGeom>
          <a:solidFill>
            <a:schemeClr val="bg1">
              <a:alpha val="0"/>
            </a:schemeClr>
          </a:solidFill>
          <a:ln w="15875">
            <a:solidFill>
              <a:schemeClr val="bg2">
                <a:alpha val="55000"/>
              </a:schemeClr>
            </a:solidFill>
            <a:prstDash val="solid"/>
          </a:ln>
        </p:spPr>
      </p:sp>
      <p:sp>
        <p:nvSpPr>
          <p:cNvPr id="20" name="Phosphorus: shell 2"/>
          <p:cNvSpPr/>
          <p:nvPr/>
        </p:nvSpPr>
        <p:spPr>
          <a:xfrm>
            <a:off x="3932783" y="2103983"/>
            <a:ext cx="1278435" cy="1278435"/>
          </a:xfrm>
          <a:prstGeom prst="ellipse">
            <a:avLst/>
          </a:prstGeom>
          <a:solidFill>
            <a:schemeClr val="bg1">
              <a:alpha val="0"/>
            </a:schemeClr>
          </a:solidFill>
          <a:ln w="15875">
            <a:solidFill>
              <a:schemeClr val="bg2">
                <a:alpha val="55000"/>
              </a:schemeClr>
            </a:solidFill>
            <a:prstDash val="solid"/>
          </a:ln>
        </p:spPr>
      </p:sp>
      <p:sp>
        <p:nvSpPr>
          <p:cNvPr id="21" name="Phosphorus: shell 3"/>
          <p:cNvSpPr/>
          <p:nvPr/>
        </p:nvSpPr>
        <p:spPr>
          <a:xfrm>
            <a:off x="3703320" y="1874520"/>
            <a:ext cx="1737360" cy="1737360"/>
          </a:xfrm>
          <a:prstGeom prst="ellipse">
            <a:avLst/>
          </a:prstGeom>
          <a:solidFill>
            <a:schemeClr val="bg1">
              <a:alpha val="0"/>
            </a:schemeClr>
          </a:solidFill>
          <a:ln w="15875">
            <a:solidFill>
              <a:schemeClr val="bg2">
                <a:alpha val="55000"/>
              </a:schemeClr>
            </a:solidFill>
            <a:prstDash val="solid"/>
          </a:ln>
        </p:spPr>
      </p:sp>
      <p:sp>
        <p:nvSpPr>
          <p:cNvPr id="22" name="Phosphorus: target spot"/>
          <p:cNvSpPr/>
          <p:nvPr/>
        </p:nvSpPr>
        <p:spPr>
          <a:xfrm>
            <a:off x="4449074" y="1751594"/>
            <a:ext cx="245853" cy="245853"/>
          </a:xfrm>
          <a:prstGeom prst="ellipse">
            <a:avLst/>
          </a:prstGeom>
          <a:solidFill>
            <a:schemeClr val="accent1">
              <a:alpha val="10000"/>
            </a:schemeClr>
          </a:solidFill>
          <a:ln w="12700">
            <a:solidFill>
              <a:schemeClr val="accent1"/>
            </a:solidFill>
            <a:prstDash val="dash"/>
          </a:ln>
        </p:spPr>
      </p:sp>
      <p:sp>
        <p:nvSpPr>
          <p:cNvPr id="23" name="Phosphorus: target spot"/>
          <p:cNvSpPr/>
          <p:nvPr/>
        </p:nvSpPr>
        <p:spPr>
          <a:xfrm>
            <a:off x="5317754" y="2620274"/>
            <a:ext cx="245853" cy="245853"/>
          </a:xfrm>
          <a:prstGeom prst="ellipse">
            <a:avLst/>
          </a:prstGeom>
          <a:solidFill>
            <a:schemeClr val="accent1">
              <a:alpha val="10000"/>
            </a:schemeClr>
          </a:solidFill>
          <a:ln w="12700">
            <a:solidFill>
              <a:schemeClr val="accent1"/>
            </a:solidFill>
            <a:prstDash val="dash"/>
          </a:ln>
        </p:spPr>
      </p:sp>
      <p:sp>
        <p:nvSpPr>
          <p:cNvPr id="24" name="Phosphorus: target spot"/>
          <p:cNvSpPr/>
          <p:nvPr/>
        </p:nvSpPr>
        <p:spPr>
          <a:xfrm>
            <a:off x="4449074" y="3488954"/>
            <a:ext cx="245853" cy="245853"/>
          </a:xfrm>
          <a:prstGeom prst="ellipse">
            <a:avLst/>
          </a:prstGeom>
          <a:solidFill>
            <a:schemeClr val="accent1">
              <a:alpha val="10000"/>
            </a:schemeClr>
          </a:solidFill>
          <a:ln w="12700">
            <a:solidFill>
              <a:schemeClr val="accent1"/>
            </a:solidFill>
            <a:prstDash val="dash"/>
          </a:ln>
        </p:spPr>
      </p:sp>
      <p:sp>
        <p:nvSpPr>
          <p:cNvPr id="25" name="Phosphorus: target spot"/>
          <p:cNvSpPr/>
          <p:nvPr/>
        </p:nvSpPr>
        <p:spPr>
          <a:xfrm>
            <a:off x="3580394" y="2620274"/>
            <a:ext cx="245853" cy="245853"/>
          </a:xfrm>
          <a:prstGeom prst="ellipse">
            <a:avLst/>
          </a:prstGeom>
          <a:solidFill>
            <a:schemeClr val="accent1">
              <a:alpha val="10000"/>
            </a:schemeClr>
          </a:solidFill>
          <a:ln w="12700">
            <a:solidFill>
              <a:schemeClr val="accent1"/>
            </a:solidFill>
            <a:prstDash val="dash"/>
          </a:ln>
        </p:spPr>
      </p:sp>
      <p:sp>
        <p:nvSpPr>
          <p:cNvPr id="26" name="Phosphorus: nucleus"/>
          <p:cNvSpPr/>
          <p:nvPr/>
        </p:nvSpPr>
        <p:spPr>
          <a:xfrm>
            <a:off x="4317952" y="248915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15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16 n</a:t>
            </a:r>
            <a:pPr algn="ctr" indent="0" marL="0">
              <a:buNone/>
            </a:pPr>
            <a:r>
              <a:rPr lang="en-US" sz="900" b="1" baseline="30000" dirty="0">
                <a:solidFill>
                  <a:schemeClr val="bg1"/>
                </a:solidFill>
              </a:rPr>
              <a:t>0</a:t>
            </a:r>
            <a:endParaRPr lang="en-US" sz="900" dirty="0"/>
          </a:p>
        </p:txBody>
      </p:sp>
      <p:sp>
        <p:nvSpPr>
          <p:cNvPr id="27" name="Phosphorus: electron, shell 1"/>
          <p:cNvSpPr/>
          <p:nvPr/>
        </p:nvSpPr>
        <p:spPr>
          <a:xfrm>
            <a:off x="4510537" y="2288372"/>
            <a:ext cx="122926" cy="122926"/>
          </a:xfrm>
          <a:prstGeom prst="ellipse">
            <a:avLst/>
          </a:prstGeom>
          <a:solidFill>
            <a:schemeClr val="accent1"/>
          </a:solidFill>
          <a:ln w="3175">
            <a:solidFill>
              <a:schemeClr val="accent1"/>
            </a:solidFill>
            <a:prstDash val="solid"/>
          </a:ln>
        </p:spPr>
      </p:sp>
      <p:sp>
        <p:nvSpPr>
          <p:cNvPr id="28" name="Phosphorus: electron, shell 1"/>
          <p:cNvSpPr/>
          <p:nvPr/>
        </p:nvSpPr>
        <p:spPr>
          <a:xfrm>
            <a:off x="4903901" y="2681737"/>
            <a:ext cx="122926" cy="122926"/>
          </a:xfrm>
          <a:prstGeom prst="ellipse">
            <a:avLst/>
          </a:prstGeom>
          <a:solidFill>
            <a:schemeClr val="accent1"/>
          </a:solidFill>
          <a:ln w="3175">
            <a:solidFill>
              <a:schemeClr val="accent1"/>
            </a:solidFill>
            <a:prstDash val="solid"/>
          </a:ln>
        </p:spPr>
      </p:sp>
      <p:sp>
        <p:nvSpPr>
          <p:cNvPr id="29" name="Phosphorus: electron, shell 2"/>
          <p:cNvSpPr/>
          <p:nvPr/>
        </p:nvSpPr>
        <p:spPr>
          <a:xfrm>
            <a:off x="4427997" y="2047871"/>
            <a:ext cx="122926" cy="122926"/>
          </a:xfrm>
          <a:prstGeom prst="ellipse">
            <a:avLst/>
          </a:prstGeom>
          <a:solidFill>
            <a:schemeClr val="accent1"/>
          </a:solidFill>
          <a:ln w="3175">
            <a:solidFill>
              <a:schemeClr val="accent1"/>
            </a:solidFill>
            <a:prstDash val="solid"/>
          </a:ln>
        </p:spPr>
      </p:sp>
      <p:sp>
        <p:nvSpPr>
          <p:cNvPr id="30" name="Phosphorus: electron, shell 2"/>
          <p:cNvSpPr/>
          <p:nvPr/>
        </p:nvSpPr>
        <p:spPr>
          <a:xfrm>
            <a:off x="4593076" y="2047871"/>
            <a:ext cx="122926" cy="122926"/>
          </a:xfrm>
          <a:prstGeom prst="ellipse">
            <a:avLst/>
          </a:prstGeom>
          <a:solidFill>
            <a:schemeClr val="accent1"/>
          </a:solidFill>
          <a:ln w="3175">
            <a:solidFill>
              <a:schemeClr val="accent1"/>
            </a:solidFill>
            <a:prstDash val="solid"/>
          </a:ln>
        </p:spPr>
      </p:sp>
      <p:sp>
        <p:nvSpPr>
          <p:cNvPr id="31" name="Phosphorus: electron, shell 2"/>
          <p:cNvSpPr/>
          <p:nvPr/>
        </p:nvSpPr>
        <p:spPr>
          <a:xfrm>
            <a:off x="5144403" y="2599197"/>
            <a:ext cx="122926" cy="122926"/>
          </a:xfrm>
          <a:prstGeom prst="ellipse">
            <a:avLst/>
          </a:prstGeom>
          <a:solidFill>
            <a:schemeClr val="accent1"/>
          </a:solidFill>
          <a:ln w="3175">
            <a:solidFill>
              <a:schemeClr val="accent1"/>
            </a:solidFill>
            <a:prstDash val="solid"/>
          </a:ln>
        </p:spPr>
      </p:sp>
      <p:sp>
        <p:nvSpPr>
          <p:cNvPr id="32" name="Phosphorus: electron, shell 2"/>
          <p:cNvSpPr/>
          <p:nvPr/>
        </p:nvSpPr>
        <p:spPr>
          <a:xfrm>
            <a:off x="5144403" y="2764276"/>
            <a:ext cx="122926" cy="122926"/>
          </a:xfrm>
          <a:prstGeom prst="ellipse">
            <a:avLst/>
          </a:prstGeom>
          <a:solidFill>
            <a:schemeClr val="accent1"/>
          </a:solidFill>
          <a:ln w="3175">
            <a:solidFill>
              <a:schemeClr val="accent1"/>
            </a:solidFill>
            <a:prstDash val="solid"/>
          </a:ln>
        </p:spPr>
      </p:sp>
      <p:sp>
        <p:nvSpPr>
          <p:cNvPr id="33" name="Phosphorus: electron, shell 2"/>
          <p:cNvSpPr/>
          <p:nvPr/>
        </p:nvSpPr>
        <p:spPr>
          <a:xfrm>
            <a:off x="4593076" y="3315603"/>
            <a:ext cx="122926" cy="122926"/>
          </a:xfrm>
          <a:prstGeom prst="ellipse">
            <a:avLst/>
          </a:prstGeom>
          <a:solidFill>
            <a:schemeClr val="accent1"/>
          </a:solidFill>
          <a:ln w="3175">
            <a:solidFill>
              <a:schemeClr val="accent1"/>
            </a:solidFill>
            <a:prstDash val="solid"/>
          </a:ln>
        </p:spPr>
      </p:sp>
      <p:sp>
        <p:nvSpPr>
          <p:cNvPr id="34" name="Phosphorus: electron, shell 2"/>
          <p:cNvSpPr/>
          <p:nvPr/>
        </p:nvSpPr>
        <p:spPr>
          <a:xfrm>
            <a:off x="4427997" y="3315603"/>
            <a:ext cx="122926" cy="122926"/>
          </a:xfrm>
          <a:prstGeom prst="ellipse">
            <a:avLst/>
          </a:prstGeom>
          <a:solidFill>
            <a:schemeClr val="accent1"/>
          </a:solidFill>
          <a:ln w="3175">
            <a:solidFill>
              <a:schemeClr val="accent1"/>
            </a:solidFill>
            <a:prstDash val="solid"/>
          </a:ln>
        </p:spPr>
      </p:sp>
      <p:sp>
        <p:nvSpPr>
          <p:cNvPr id="35" name="Phosphorus: electron, shell 2"/>
          <p:cNvSpPr/>
          <p:nvPr/>
        </p:nvSpPr>
        <p:spPr>
          <a:xfrm>
            <a:off x="3876671" y="2764276"/>
            <a:ext cx="122926" cy="122926"/>
          </a:xfrm>
          <a:prstGeom prst="ellipse">
            <a:avLst/>
          </a:prstGeom>
          <a:solidFill>
            <a:schemeClr val="accent1"/>
          </a:solidFill>
          <a:ln w="3175">
            <a:solidFill>
              <a:schemeClr val="accent1"/>
            </a:solidFill>
            <a:prstDash val="solid"/>
          </a:ln>
        </p:spPr>
      </p:sp>
      <p:sp>
        <p:nvSpPr>
          <p:cNvPr id="36" name="Phosphorus: electron, shell 2"/>
          <p:cNvSpPr/>
          <p:nvPr/>
        </p:nvSpPr>
        <p:spPr>
          <a:xfrm>
            <a:off x="3876671" y="2599197"/>
            <a:ext cx="122926" cy="122926"/>
          </a:xfrm>
          <a:prstGeom prst="ellipse">
            <a:avLst/>
          </a:prstGeom>
          <a:solidFill>
            <a:schemeClr val="accent1"/>
          </a:solidFill>
          <a:ln w="3175">
            <a:solidFill>
              <a:schemeClr val="accent1"/>
            </a:solidFill>
            <a:prstDash val="solid"/>
          </a:ln>
        </p:spPr>
      </p:sp>
      <p:sp>
        <p:nvSpPr>
          <p:cNvPr id="37" name="Text 35"/>
          <p:cNvSpPr txBox="1"/>
          <p:nvPr/>
        </p:nvSpPr>
        <p:spPr>
          <a:xfrm>
            <a:off x="3200400" y="4206240"/>
            <a:ext cx="2743200" cy="292608"/>
          </a:xfrm>
          <a:prstGeom prst="rect">
            <a:avLst/>
          </a:prstGeom>
          <a:noFill/>
          <a:ln/>
        </p:spPr>
        <p:txBody>
          <a:bodyPr wrap="square" lIns="0" tIns="0" rIns="0" bIns="0" rtlCol="0" anchor="t"/>
          <a:lstStyle/>
          <a:p>
            <a:pPr algn="ctr" indent="0" marL="0">
              <a:buNone/>
            </a:pPr>
            <a:r>
              <a:rPr lang="en-US" sz="1300" b="1" dirty="0">
                <a:solidFill>
                  <a:schemeClr val="bg1"/>
                </a:solidFill>
              </a:rPr>
              <a:t>Round 2: phosphorus, 5 in shell 3</a:t>
            </a:r>
            <a:endParaRPr lang="en-US" sz="1300" dirty="0"/>
          </a:p>
        </p:txBody>
      </p:sp>
      <p:sp>
        <p:nvSpPr>
          <p:cNvPr id="38" name="Nitrogen: shell 1"/>
          <p:cNvSpPr/>
          <p:nvPr/>
        </p:nvSpPr>
        <p:spPr>
          <a:xfrm>
            <a:off x="6832397" y="2260397"/>
            <a:ext cx="965606" cy="965606"/>
          </a:xfrm>
          <a:prstGeom prst="ellipse">
            <a:avLst/>
          </a:prstGeom>
          <a:solidFill>
            <a:schemeClr val="bg1">
              <a:alpha val="0"/>
            </a:schemeClr>
          </a:solidFill>
          <a:ln w="15875">
            <a:solidFill>
              <a:schemeClr val="bg2">
                <a:alpha val="55000"/>
              </a:schemeClr>
            </a:solidFill>
            <a:prstDash val="solid"/>
          </a:ln>
        </p:spPr>
      </p:sp>
      <p:sp>
        <p:nvSpPr>
          <p:cNvPr id="39" name="Nitrogen: shell 2"/>
          <p:cNvSpPr/>
          <p:nvPr/>
        </p:nvSpPr>
        <p:spPr>
          <a:xfrm>
            <a:off x="6530645" y="1958645"/>
            <a:ext cx="1569110" cy="1569110"/>
          </a:xfrm>
          <a:prstGeom prst="ellipse">
            <a:avLst/>
          </a:prstGeom>
          <a:solidFill>
            <a:schemeClr val="bg1">
              <a:alpha val="0"/>
            </a:schemeClr>
          </a:solidFill>
          <a:ln w="15875">
            <a:solidFill>
              <a:schemeClr val="bg2">
                <a:alpha val="55000"/>
              </a:schemeClr>
            </a:solidFill>
            <a:prstDash val="solid"/>
          </a:ln>
        </p:spPr>
      </p:sp>
      <p:sp>
        <p:nvSpPr>
          <p:cNvPr id="40" name="Nitrogen: target spot"/>
          <p:cNvSpPr/>
          <p:nvPr/>
        </p:nvSpPr>
        <p:spPr>
          <a:xfrm>
            <a:off x="7164324" y="1807769"/>
            <a:ext cx="301752" cy="301752"/>
          </a:xfrm>
          <a:prstGeom prst="ellipse">
            <a:avLst/>
          </a:prstGeom>
          <a:solidFill>
            <a:schemeClr val="accent1">
              <a:alpha val="10000"/>
            </a:schemeClr>
          </a:solidFill>
          <a:ln w="12700">
            <a:solidFill>
              <a:schemeClr val="accent1"/>
            </a:solidFill>
            <a:prstDash val="dash"/>
          </a:ln>
        </p:spPr>
      </p:sp>
      <p:sp>
        <p:nvSpPr>
          <p:cNvPr id="41" name="Nitrogen: target spot"/>
          <p:cNvSpPr/>
          <p:nvPr/>
        </p:nvSpPr>
        <p:spPr>
          <a:xfrm>
            <a:off x="7948879" y="2592324"/>
            <a:ext cx="301752" cy="301752"/>
          </a:xfrm>
          <a:prstGeom prst="ellipse">
            <a:avLst/>
          </a:prstGeom>
          <a:solidFill>
            <a:schemeClr val="accent1">
              <a:alpha val="10000"/>
            </a:schemeClr>
          </a:solidFill>
          <a:ln w="12700">
            <a:solidFill>
              <a:schemeClr val="accent1"/>
            </a:solidFill>
            <a:prstDash val="dash"/>
          </a:ln>
        </p:spPr>
      </p:sp>
      <p:sp>
        <p:nvSpPr>
          <p:cNvPr id="42" name="Nitrogen: target spot"/>
          <p:cNvSpPr/>
          <p:nvPr/>
        </p:nvSpPr>
        <p:spPr>
          <a:xfrm>
            <a:off x="7164324" y="3376879"/>
            <a:ext cx="301752" cy="301752"/>
          </a:xfrm>
          <a:prstGeom prst="ellipse">
            <a:avLst/>
          </a:prstGeom>
          <a:solidFill>
            <a:schemeClr val="accent1">
              <a:alpha val="10000"/>
            </a:schemeClr>
          </a:solidFill>
          <a:ln w="12700">
            <a:solidFill>
              <a:schemeClr val="accent1"/>
            </a:solidFill>
            <a:prstDash val="dash"/>
          </a:ln>
        </p:spPr>
      </p:sp>
      <p:sp>
        <p:nvSpPr>
          <p:cNvPr id="43" name="Nitrogen: target spot"/>
          <p:cNvSpPr/>
          <p:nvPr/>
        </p:nvSpPr>
        <p:spPr>
          <a:xfrm>
            <a:off x="6379769" y="2592324"/>
            <a:ext cx="301752" cy="301752"/>
          </a:xfrm>
          <a:prstGeom prst="ellipse">
            <a:avLst/>
          </a:prstGeom>
          <a:solidFill>
            <a:schemeClr val="accent1">
              <a:alpha val="10000"/>
            </a:schemeClr>
          </a:solidFill>
          <a:ln w="12700">
            <a:solidFill>
              <a:schemeClr val="accent1"/>
            </a:solidFill>
            <a:prstDash val="dash"/>
          </a:ln>
        </p:spPr>
      </p:sp>
      <p:sp>
        <p:nvSpPr>
          <p:cNvPr id="44" name="Nitrogen: nucleus"/>
          <p:cNvSpPr/>
          <p:nvPr/>
        </p:nvSpPr>
        <p:spPr>
          <a:xfrm>
            <a:off x="7003390" y="2431390"/>
            <a:ext cx="623621" cy="62362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7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7 n</a:t>
            </a:r>
            <a:pPr algn="ctr" indent="0" marL="0">
              <a:buNone/>
            </a:pPr>
            <a:r>
              <a:rPr lang="en-US" sz="900" b="1" baseline="30000" dirty="0">
                <a:solidFill>
                  <a:schemeClr val="bg1"/>
                </a:solidFill>
              </a:rPr>
              <a:t>0</a:t>
            </a:r>
            <a:endParaRPr lang="en-US" sz="900" dirty="0"/>
          </a:p>
        </p:txBody>
      </p:sp>
      <p:sp>
        <p:nvSpPr>
          <p:cNvPr id="45" name="Nitrogen: electron, shell 1"/>
          <p:cNvSpPr/>
          <p:nvPr/>
        </p:nvSpPr>
        <p:spPr>
          <a:xfrm>
            <a:off x="7239762" y="2184959"/>
            <a:ext cx="150876" cy="150876"/>
          </a:xfrm>
          <a:prstGeom prst="ellipse">
            <a:avLst/>
          </a:prstGeom>
          <a:solidFill>
            <a:schemeClr val="accent1"/>
          </a:solidFill>
          <a:ln w="3175">
            <a:solidFill>
              <a:schemeClr val="accent1"/>
            </a:solidFill>
            <a:prstDash val="solid"/>
          </a:ln>
        </p:spPr>
      </p:sp>
      <p:sp>
        <p:nvSpPr>
          <p:cNvPr id="46" name="Nitrogen: electron, shell 1"/>
          <p:cNvSpPr/>
          <p:nvPr/>
        </p:nvSpPr>
        <p:spPr>
          <a:xfrm>
            <a:off x="7722565" y="2667762"/>
            <a:ext cx="150876" cy="150876"/>
          </a:xfrm>
          <a:prstGeom prst="ellipse">
            <a:avLst/>
          </a:prstGeom>
          <a:solidFill>
            <a:schemeClr val="accent1"/>
          </a:solidFill>
          <a:ln w="3175">
            <a:solidFill>
              <a:schemeClr val="accent1"/>
            </a:solidFill>
            <a:prstDash val="solid"/>
          </a:ln>
        </p:spPr>
      </p:sp>
      <p:sp>
        <p:nvSpPr>
          <p:cNvPr id="47" name="Text 45"/>
          <p:cNvSpPr txBox="1"/>
          <p:nvPr/>
        </p:nvSpPr>
        <p:spPr>
          <a:xfrm>
            <a:off x="5943600" y="4206240"/>
            <a:ext cx="2743200" cy="292608"/>
          </a:xfrm>
          <a:prstGeom prst="rect">
            <a:avLst/>
          </a:prstGeom>
          <a:noFill/>
          <a:ln/>
        </p:spPr>
        <p:txBody>
          <a:bodyPr wrap="square" lIns="0" tIns="0" rIns="0" bIns="0" rtlCol="0" anchor="t"/>
          <a:lstStyle/>
          <a:p>
            <a:pPr algn="ctr" indent="0" marL="0">
              <a:buNone/>
            </a:pPr>
            <a:r>
              <a:rPr lang="en-US" sz="1300" b="1" dirty="0">
                <a:solidFill>
                  <a:schemeClr val="bg1"/>
                </a:solidFill>
              </a:rPr>
              <a:t>Round 3: nitrogen, 5 in shell 2</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Where does it go? Rounds 1–3</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Numbers show the order each electron was placed.</a:t>
            </a:r>
            <a:endParaRPr lang="en-US" sz="1300" dirty="0"/>
          </a:p>
        </p:txBody>
      </p:sp>
      <p:sp>
        <p:nvSpPr>
          <p:cNvPr id="10" name="Oxygen: shell 1"/>
          <p:cNvSpPr/>
          <p:nvPr/>
        </p:nvSpPr>
        <p:spPr>
          <a:xfrm>
            <a:off x="1345997" y="2260397"/>
            <a:ext cx="965606" cy="965606"/>
          </a:xfrm>
          <a:prstGeom prst="ellipse">
            <a:avLst/>
          </a:prstGeom>
          <a:solidFill>
            <a:schemeClr val="bg1">
              <a:alpha val="0"/>
            </a:schemeClr>
          </a:solidFill>
          <a:ln w="15875">
            <a:solidFill>
              <a:schemeClr val="bg2">
                <a:alpha val="55000"/>
              </a:schemeClr>
            </a:solidFill>
            <a:prstDash val="solid"/>
          </a:ln>
        </p:spPr>
      </p:sp>
      <p:sp>
        <p:nvSpPr>
          <p:cNvPr id="11" name="Oxygen: shell 2"/>
          <p:cNvSpPr/>
          <p:nvPr/>
        </p:nvSpPr>
        <p:spPr>
          <a:xfrm>
            <a:off x="1044245" y="1958645"/>
            <a:ext cx="1569110" cy="1569110"/>
          </a:xfrm>
          <a:prstGeom prst="ellipse">
            <a:avLst/>
          </a:prstGeom>
          <a:solidFill>
            <a:schemeClr val="bg1">
              <a:alpha val="0"/>
            </a:schemeClr>
          </a:solidFill>
          <a:ln w="15875">
            <a:solidFill>
              <a:schemeClr val="bg2">
                <a:alpha val="55000"/>
              </a:schemeClr>
            </a:solidFill>
            <a:prstDash val="solid"/>
          </a:ln>
        </p:spPr>
      </p:sp>
      <p:sp>
        <p:nvSpPr>
          <p:cNvPr id="12" name="Oxygen: nucleus"/>
          <p:cNvSpPr/>
          <p:nvPr/>
        </p:nvSpPr>
        <p:spPr>
          <a:xfrm>
            <a:off x="1516990" y="2431390"/>
            <a:ext cx="623621" cy="62362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8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8 n</a:t>
            </a:r>
            <a:pPr algn="ctr" indent="0" marL="0">
              <a:buNone/>
            </a:pPr>
            <a:r>
              <a:rPr lang="en-US" sz="900" b="1" baseline="30000" dirty="0">
                <a:solidFill>
                  <a:schemeClr val="bg1"/>
                </a:solidFill>
              </a:rPr>
              <a:t>0</a:t>
            </a:r>
            <a:endParaRPr lang="en-US" sz="900" dirty="0"/>
          </a:p>
        </p:txBody>
      </p:sp>
      <p:sp>
        <p:nvSpPr>
          <p:cNvPr id="13" name="Oxygen: electron, shell 1"/>
          <p:cNvSpPr/>
          <p:nvPr/>
        </p:nvSpPr>
        <p:spPr>
          <a:xfrm>
            <a:off x="1753362" y="2184959"/>
            <a:ext cx="150876" cy="150876"/>
          </a:xfrm>
          <a:prstGeom prst="ellipse">
            <a:avLst/>
          </a:prstGeom>
          <a:solidFill>
            <a:schemeClr val="accent1"/>
          </a:solidFill>
          <a:ln w="3175">
            <a:solidFill>
              <a:schemeClr val="accent1"/>
            </a:solidFill>
            <a:prstDash val="solid"/>
          </a:ln>
        </p:spPr>
      </p:sp>
      <p:sp>
        <p:nvSpPr>
          <p:cNvPr id="14" name="Oxygen: electron, shell 1"/>
          <p:cNvSpPr/>
          <p:nvPr/>
        </p:nvSpPr>
        <p:spPr>
          <a:xfrm>
            <a:off x="2236165" y="2667762"/>
            <a:ext cx="150876" cy="150876"/>
          </a:xfrm>
          <a:prstGeom prst="ellipse">
            <a:avLst/>
          </a:prstGeom>
          <a:solidFill>
            <a:schemeClr val="accent1"/>
          </a:solidFill>
          <a:ln w="3175">
            <a:solidFill>
              <a:schemeClr val="accent1"/>
            </a:solidFill>
            <a:prstDash val="solid"/>
          </a:ln>
        </p:spPr>
      </p:sp>
      <p:sp>
        <p:nvSpPr>
          <p:cNvPr id="15" name="Oxygen: electron 1"/>
          <p:cNvSpPr/>
          <p:nvPr/>
        </p:nvSpPr>
        <p:spPr>
          <a:xfrm>
            <a:off x="1578095" y="1860606"/>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1</a:t>
            </a:r>
            <a:endParaRPr lang="en-US" sz="800" dirty="0"/>
          </a:p>
        </p:txBody>
      </p:sp>
      <p:sp>
        <p:nvSpPr>
          <p:cNvPr id="16" name="Oxygen: electron 2"/>
          <p:cNvSpPr/>
          <p:nvPr/>
        </p:nvSpPr>
        <p:spPr>
          <a:xfrm>
            <a:off x="2490109" y="2492495"/>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2</a:t>
            </a:r>
            <a:endParaRPr lang="en-US" sz="800" dirty="0"/>
          </a:p>
        </p:txBody>
      </p:sp>
      <p:sp>
        <p:nvSpPr>
          <p:cNvPr id="17" name="Oxygen: electron 3"/>
          <p:cNvSpPr/>
          <p:nvPr/>
        </p:nvSpPr>
        <p:spPr>
          <a:xfrm>
            <a:off x="1718158" y="3417113"/>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3</a:t>
            </a:r>
            <a:endParaRPr lang="en-US" sz="800" dirty="0"/>
          </a:p>
        </p:txBody>
      </p:sp>
      <p:sp>
        <p:nvSpPr>
          <p:cNvPr id="18" name="Oxygen: electron 4"/>
          <p:cNvSpPr/>
          <p:nvPr/>
        </p:nvSpPr>
        <p:spPr>
          <a:xfrm>
            <a:off x="933602" y="2632558"/>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4</a:t>
            </a:r>
            <a:endParaRPr lang="en-US" sz="800" dirty="0"/>
          </a:p>
        </p:txBody>
      </p:sp>
      <p:sp>
        <p:nvSpPr>
          <p:cNvPr id="19" name="Oxygen: electron 5"/>
          <p:cNvSpPr/>
          <p:nvPr/>
        </p:nvSpPr>
        <p:spPr>
          <a:xfrm>
            <a:off x="1858220" y="1860606"/>
            <a:ext cx="221285" cy="221285"/>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5</a:t>
            </a:r>
            <a:endParaRPr lang="en-US" sz="800" dirty="0"/>
          </a:p>
        </p:txBody>
      </p:sp>
      <p:sp>
        <p:nvSpPr>
          <p:cNvPr id="20" name="Oxygen: electron 6"/>
          <p:cNvSpPr/>
          <p:nvPr/>
        </p:nvSpPr>
        <p:spPr>
          <a:xfrm>
            <a:off x="2490109" y="2772620"/>
            <a:ext cx="221285" cy="221285"/>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6</a:t>
            </a:r>
            <a:endParaRPr lang="en-US" sz="800" dirty="0"/>
          </a:p>
        </p:txBody>
      </p:sp>
      <p:sp>
        <p:nvSpPr>
          <p:cNvPr id="21" name="Text 19"/>
          <p:cNvSpPr txBox="1"/>
          <p:nvPr/>
        </p:nvSpPr>
        <p:spPr>
          <a:xfrm>
            <a:off x="457200" y="4206240"/>
            <a:ext cx="2743200" cy="292608"/>
          </a:xfrm>
          <a:prstGeom prst="rect">
            <a:avLst/>
          </a:prstGeom>
          <a:noFill/>
          <a:ln/>
        </p:spPr>
        <p:txBody>
          <a:bodyPr wrap="square" lIns="0" tIns="0" rIns="0" bIns="0" rtlCol="0" anchor="t"/>
          <a:lstStyle/>
          <a:p>
            <a:pPr algn="ctr" indent="0" marL="0">
              <a:buNone/>
            </a:pPr>
            <a:r>
              <a:rPr lang="en-US" sz="1300" b="1" dirty="0">
                <a:solidFill>
                  <a:schemeClr val="bg1"/>
                </a:solidFill>
              </a:rPr>
              <a:t>Round 1: oxygen, 6 in shell 2</a:t>
            </a:r>
            <a:endParaRPr lang="en-US" sz="1300" dirty="0"/>
          </a:p>
        </p:txBody>
      </p:sp>
      <p:sp>
        <p:nvSpPr>
          <p:cNvPr id="22" name="Phosphorus: shell 1"/>
          <p:cNvSpPr/>
          <p:nvPr/>
        </p:nvSpPr>
        <p:spPr>
          <a:xfrm>
            <a:off x="4178635" y="2349835"/>
            <a:ext cx="786729" cy="786729"/>
          </a:xfrm>
          <a:prstGeom prst="ellipse">
            <a:avLst/>
          </a:prstGeom>
          <a:solidFill>
            <a:schemeClr val="bg1">
              <a:alpha val="0"/>
            </a:schemeClr>
          </a:solidFill>
          <a:ln w="15875">
            <a:solidFill>
              <a:schemeClr val="bg2">
                <a:alpha val="55000"/>
              </a:schemeClr>
            </a:solidFill>
            <a:prstDash val="solid"/>
          </a:ln>
        </p:spPr>
      </p:sp>
      <p:sp>
        <p:nvSpPr>
          <p:cNvPr id="23" name="Phosphorus: shell 2"/>
          <p:cNvSpPr/>
          <p:nvPr/>
        </p:nvSpPr>
        <p:spPr>
          <a:xfrm>
            <a:off x="3932783" y="2103983"/>
            <a:ext cx="1278435" cy="1278435"/>
          </a:xfrm>
          <a:prstGeom prst="ellipse">
            <a:avLst/>
          </a:prstGeom>
          <a:solidFill>
            <a:schemeClr val="bg1">
              <a:alpha val="0"/>
            </a:schemeClr>
          </a:solidFill>
          <a:ln w="15875">
            <a:solidFill>
              <a:schemeClr val="bg2">
                <a:alpha val="55000"/>
              </a:schemeClr>
            </a:solidFill>
            <a:prstDash val="solid"/>
          </a:ln>
        </p:spPr>
      </p:sp>
      <p:sp>
        <p:nvSpPr>
          <p:cNvPr id="24" name="Phosphorus: shell 3"/>
          <p:cNvSpPr/>
          <p:nvPr/>
        </p:nvSpPr>
        <p:spPr>
          <a:xfrm>
            <a:off x="3703320" y="1874520"/>
            <a:ext cx="1737360" cy="1737360"/>
          </a:xfrm>
          <a:prstGeom prst="ellipse">
            <a:avLst/>
          </a:prstGeom>
          <a:solidFill>
            <a:schemeClr val="bg1">
              <a:alpha val="0"/>
            </a:schemeClr>
          </a:solidFill>
          <a:ln w="15875">
            <a:solidFill>
              <a:schemeClr val="bg2">
                <a:alpha val="55000"/>
              </a:schemeClr>
            </a:solidFill>
            <a:prstDash val="solid"/>
          </a:ln>
        </p:spPr>
      </p:sp>
      <p:sp>
        <p:nvSpPr>
          <p:cNvPr id="25" name="Phosphorus: nucleus"/>
          <p:cNvSpPr/>
          <p:nvPr/>
        </p:nvSpPr>
        <p:spPr>
          <a:xfrm>
            <a:off x="4317952" y="248915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15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16 n</a:t>
            </a:r>
            <a:pPr algn="ctr" indent="0" marL="0">
              <a:buNone/>
            </a:pPr>
            <a:r>
              <a:rPr lang="en-US" sz="900" b="1" baseline="30000" dirty="0">
                <a:solidFill>
                  <a:schemeClr val="bg1"/>
                </a:solidFill>
              </a:rPr>
              <a:t>0</a:t>
            </a:r>
            <a:endParaRPr lang="en-US" sz="900" dirty="0"/>
          </a:p>
        </p:txBody>
      </p:sp>
      <p:sp>
        <p:nvSpPr>
          <p:cNvPr id="26" name="Phosphorus: electron, shell 1"/>
          <p:cNvSpPr/>
          <p:nvPr/>
        </p:nvSpPr>
        <p:spPr>
          <a:xfrm>
            <a:off x="4510537" y="2288372"/>
            <a:ext cx="122926" cy="122926"/>
          </a:xfrm>
          <a:prstGeom prst="ellipse">
            <a:avLst/>
          </a:prstGeom>
          <a:solidFill>
            <a:schemeClr val="accent1"/>
          </a:solidFill>
          <a:ln w="3175">
            <a:solidFill>
              <a:schemeClr val="accent1"/>
            </a:solidFill>
            <a:prstDash val="solid"/>
          </a:ln>
        </p:spPr>
      </p:sp>
      <p:sp>
        <p:nvSpPr>
          <p:cNvPr id="27" name="Phosphorus: electron, shell 1"/>
          <p:cNvSpPr/>
          <p:nvPr/>
        </p:nvSpPr>
        <p:spPr>
          <a:xfrm>
            <a:off x="4903901" y="2681737"/>
            <a:ext cx="122926" cy="122926"/>
          </a:xfrm>
          <a:prstGeom prst="ellipse">
            <a:avLst/>
          </a:prstGeom>
          <a:solidFill>
            <a:schemeClr val="accent1"/>
          </a:solidFill>
          <a:ln w="3175">
            <a:solidFill>
              <a:schemeClr val="accent1"/>
            </a:solidFill>
            <a:prstDash val="solid"/>
          </a:ln>
        </p:spPr>
      </p:sp>
      <p:sp>
        <p:nvSpPr>
          <p:cNvPr id="28" name="Phosphorus: electron, shell 2"/>
          <p:cNvSpPr/>
          <p:nvPr/>
        </p:nvSpPr>
        <p:spPr>
          <a:xfrm>
            <a:off x="4427997" y="2047871"/>
            <a:ext cx="122926" cy="122926"/>
          </a:xfrm>
          <a:prstGeom prst="ellipse">
            <a:avLst/>
          </a:prstGeom>
          <a:solidFill>
            <a:schemeClr val="accent1"/>
          </a:solidFill>
          <a:ln w="3175">
            <a:solidFill>
              <a:schemeClr val="accent1"/>
            </a:solidFill>
            <a:prstDash val="solid"/>
          </a:ln>
        </p:spPr>
      </p:sp>
      <p:sp>
        <p:nvSpPr>
          <p:cNvPr id="29" name="Phosphorus: electron, shell 2"/>
          <p:cNvSpPr/>
          <p:nvPr/>
        </p:nvSpPr>
        <p:spPr>
          <a:xfrm>
            <a:off x="4593076" y="2047871"/>
            <a:ext cx="122926" cy="122926"/>
          </a:xfrm>
          <a:prstGeom prst="ellipse">
            <a:avLst/>
          </a:prstGeom>
          <a:solidFill>
            <a:schemeClr val="accent1"/>
          </a:solidFill>
          <a:ln w="3175">
            <a:solidFill>
              <a:schemeClr val="accent1"/>
            </a:solidFill>
            <a:prstDash val="solid"/>
          </a:ln>
        </p:spPr>
      </p:sp>
      <p:sp>
        <p:nvSpPr>
          <p:cNvPr id="30" name="Phosphorus: electron, shell 2"/>
          <p:cNvSpPr/>
          <p:nvPr/>
        </p:nvSpPr>
        <p:spPr>
          <a:xfrm>
            <a:off x="5144403" y="2599197"/>
            <a:ext cx="122926" cy="122926"/>
          </a:xfrm>
          <a:prstGeom prst="ellipse">
            <a:avLst/>
          </a:prstGeom>
          <a:solidFill>
            <a:schemeClr val="accent1"/>
          </a:solidFill>
          <a:ln w="3175">
            <a:solidFill>
              <a:schemeClr val="accent1"/>
            </a:solidFill>
            <a:prstDash val="solid"/>
          </a:ln>
        </p:spPr>
      </p:sp>
      <p:sp>
        <p:nvSpPr>
          <p:cNvPr id="31" name="Phosphorus: electron, shell 2"/>
          <p:cNvSpPr/>
          <p:nvPr/>
        </p:nvSpPr>
        <p:spPr>
          <a:xfrm>
            <a:off x="5144403" y="2764276"/>
            <a:ext cx="122926" cy="122926"/>
          </a:xfrm>
          <a:prstGeom prst="ellipse">
            <a:avLst/>
          </a:prstGeom>
          <a:solidFill>
            <a:schemeClr val="accent1"/>
          </a:solidFill>
          <a:ln w="3175">
            <a:solidFill>
              <a:schemeClr val="accent1"/>
            </a:solidFill>
            <a:prstDash val="solid"/>
          </a:ln>
        </p:spPr>
      </p:sp>
      <p:sp>
        <p:nvSpPr>
          <p:cNvPr id="32" name="Phosphorus: electron, shell 2"/>
          <p:cNvSpPr/>
          <p:nvPr/>
        </p:nvSpPr>
        <p:spPr>
          <a:xfrm>
            <a:off x="4593076" y="3315603"/>
            <a:ext cx="122926" cy="122926"/>
          </a:xfrm>
          <a:prstGeom prst="ellipse">
            <a:avLst/>
          </a:prstGeom>
          <a:solidFill>
            <a:schemeClr val="accent1"/>
          </a:solidFill>
          <a:ln w="3175">
            <a:solidFill>
              <a:schemeClr val="accent1"/>
            </a:solidFill>
            <a:prstDash val="solid"/>
          </a:ln>
        </p:spPr>
      </p:sp>
      <p:sp>
        <p:nvSpPr>
          <p:cNvPr id="33" name="Phosphorus: electron, shell 2"/>
          <p:cNvSpPr/>
          <p:nvPr/>
        </p:nvSpPr>
        <p:spPr>
          <a:xfrm>
            <a:off x="4427997" y="3315603"/>
            <a:ext cx="122926" cy="122926"/>
          </a:xfrm>
          <a:prstGeom prst="ellipse">
            <a:avLst/>
          </a:prstGeom>
          <a:solidFill>
            <a:schemeClr val="accent1"/>
          </a:solidFill>
          <a:ln w="3175">
            <a:solidFill>
              <a:schemeClr val="accent1"/>
            </a:solidFill>
            <a:prstDash val="solid"/>
          </a:ln>
        </p:spPr>
      </p:sp>
      <p:sp>
        <p:nvSpPr>
          <p:cNvPr id="34" name="Phosphorus: electron, shell 2"/>
          <p:cNvSpPr/>
          <p:nvPr/>
        </p:nvSpPr>
        <p:spPr>
          <a:xfrm>
            <a:off x="3876671" y="2764276"/>
            <a:ext cx="122926" cy="122926"/>
          </a:xfrm>
          <a:prstGeom prst="ellipse">
            <a:avLst/>
          </a:prstGeom>
          <a:solidFill>
            <a:schemeClr val="accent1"/>
          </a:solidFill>
          <a:ln w="3175">
            <a:solidFill>
              <a:schemeClr val="accent1"/>
            </a:solidFill>
            <a:prstDash val="solid"/>
          </a:ln>
        </p:spPr>
      </p:sp>
      <p:sp>
        <p:nvSpPr>
          <p:cNvPr id="35" name="Phosphorus: electron, shell 2"/>
          <p:cNvSpPr/>
          <p:nvPr/>
        </p:nvSpPr>
        <p:spPr>
          <a:xfrm>
            <a:off x="3876671" y="2599197"/>
            <a:ext cx="122926" cy="122926"/>
          </a:xfrm>
          <a:prstGeom prst="ellipse">
            <a:avLst/>
          </a:prstGeom>
          <a:solidFill>
            <a:schemeClr val="accent1"/>
          </a:solidFill>
          <a:ln w="3175">
            <a:solidFill>
              <a:schemeClr val="accent1"/>
            </a:solidFill>
            <a:prstDash val="solid"/>
          </a:ln>
        </p:spPr>
      </p:sp>
      <p:sp>
        <p:nvSpPr>
          <p:cNvPr id="36" name="Phosphorus: electron 1"/>
          <p:cNvSpPr/>
          <p:nvPr/>
        </p:nvSpPr>
        <p:spPr>
          <a:xfrm>
            <a:off x="4367456" y="1791940"/>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1</a:t>
            </a:r>
            <a:endParaRPr lang="en-US" sz="800" dirty="0"/>
          </a:p>
        </p:txBody>
      </p:sp>
      <p:sp>
        <p:nvSpPr>
          <p:cNvPr id="37" name="Phosphorus: electron 2"/>
          <p:cNvSpPr/>
          <p:nvPr/>
        </p:nvSpPr>
        <p:spPr>
          <a:xfrm>
            <a:off x="5350534" y="265305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2</a:t>
            </a:r>
            <a:endParaRPr lang="en-US" sz="800" dirty="0"/>
          </a:p>
        </p:txBody>
      </p:sp>
      <p:sp>
        <p:nvSpPr>
          <p:cNvPr id="38" name="Phosphorus: electron 3"/>
          <p:cNvSpPr/>
          <p:nvPr/>
        </p:nvSpPr>
        <p:spPr>
          <a:xfrm>
            <a:off x="4481854" y="352173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3</a:t>
            </a:r>
            <a:endParaRPr lang="en-US" sz="800" dirty="0"/>
          </a:p>
        </p:txBody>
      </p:sp>
      <p:sp>
        <p:nvSpPr>
          <p:cNvPr id="39" name="Phosphorus: electron 4"/>
          <p:cNvSpPr/>
          <p:nvPr/>
        </p:nvSpPr>
        <p:spPr>
          <a:xfrm>
            <a:off x="3613174" y="265305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4</a:t>
            </a:r>
            <a:endParaRPr lang="en-US" sz="800" dirty="0"/>
          </a:p>
        </p:txBody>
      </p:sp>
      <p:sp>
        <p:nvSpPr>
          <p:cNvPr id="40" name="Phosphorus: electron 5"/>
          <p:cNvSpPr/>
          <p:nvPr/>
        </p:nvSpPr>
        <p:spPr>
          <a:xfrm>
            <a:off x="4596252" y="1791940"/>
            <a:ext cx="180292" cy="180292"/>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5</a:t>
            </a:r>
            <a:endParaRPr lang="en-US" sz="800" dirty="0"/>
          </a:p>
        </p:txBody>
      </p:sp>
      <p:sp>
        <p:nvSpPr>
          <p:cNvPr id="41" name="Text 39"/>
          <p:cNvSpPr txBox="1"/>
          <p:nvPr/>
        </p:nvSpPr>
        <p:spPr>
          <a:xfrm>
            <a:off x="3200400" y="4206240"/>
            <a:ext cx="2743200" cy="292608"/>
          </a:xfrm>
          <a:prstGeom prst="rect">
            <a:avLst/>
          </a:prstGeom>
          <a:noFill/>
          <a:ln/>
        </p:spPr>
        <p:txBody>
          <a:bodyPr wrap="square" lIns="0" tIns="0" rIns="0" bIns="0" rtlCol="0" anchor="t"/>
          <a:lstStyle/>
          <a:p>
            <a:pPr algn="ctr" indent="0" marL="0">
              <a:buNone/>
            </a:pPr>
            <a:r>
              <a:rPr lang="en-US" sz="1300" b="1" dirty="0">
                <a:solidFill>
                  <a:schemeClr val="bg1"/>
                </a:solidFill>
              </a:rPr>
              <a:t>Round 2: phosphorus, 5 in shell 3</a:t>
            </a:r>
            <a:endParaRPr lang="en-US" sz="1300" dirty="0"/>
          </a:p>
        </p:txBody>
      </p:sp>
      <p:sp>
        <p:nvSpPr>
          <p:cNvPr id="42" name="Nitrogen: shell 1"/>
          <p:cNvSpPr/>
          <p:nvPr/>
        </p:nvSpPr>
        <p:spPr>
          <a:xfrm>
            <a:off x="6832397" y="2260397"/>
            <a:ext cx="965606" cy="965606"/>
          </a:xfrm>
          <a:prstGeom prst="ellipse">
            <a:avLst/>
          </a:prstGeom>
          <a:solidFill>
            <a:schemeClr val="bg1">
              <a:alpha val="0"/>
            </a:schemeClr>
          </a:solidFill>
          <a:ln w="15875">
            <a:solidFill>
              <a:schemeClr val="bg2">
                <a:alpha val="55000"/>
              </a:schemeClr>
            </a:solidFill>
            <a:prstDash val="solid"/>
          </a:ln>
        </p:spPr>
      </p:sp>
      <p:sp>
        <p:nvSpPr>
          <p:cNvPr id="43" name="Nitrogen: shell 2"/>
          <p:cNvSpPr/>
          <p:nvPr/>
        </p:nvSpPr>
        <p:spPr>
          <a:xfrm>
            <a:off x="6530645" y="1958645"/>
            <a:ext cx="1569110" cy="1569110"/>
          </a:xfrm>
          <a:prstGeom prst="ellipse">
            <a:avLst/>
          </a:prstGeom>
          <a:solidFill>
            <a:schemeClr val="bg1">
              <a:alpha val="0"/>
            </a:schemeClr>
          </a:solidFill>
          <a:ln w="15875">
            <a:solidFill>
              <a:schemeClr val="bg2">
                <a:alpha val="55000"/>
              </a:schemeClr>
            </a:solidFill>
            <a:prstDash val="solid"/>
          </a:ln>
        </p:spPr>
      </p:sp>
      <p:sp>
        <p:nvSpPr>
          <p:cNvPr id="44" name="Nitrogen: nucleus"/>
          <p:cNvSpPr/>
          <p:nvPr/>
        </p:nvSpPr>
        <p:spPr>
          <a:xfrm>
            <a:off x="7003390" y="2431390"/>
            <a:ext cx="623621" cy="62362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7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7 n</a:t>
            </a:r>
            <a:pPr algn="ctr" indent="0" marL="0">
              <a:buNone/>
            </a:pPr>
            <a:r>
              <a:rPr lang="en-US" sz="900" b="1" baseline="30000" dirty="0">
                <a:solidFill>
                  <a:schemeClr val="bg1"/>
                </a:solidFill>
              </a:rPr>
              <a:t>0</a:t>
            </a:r>
            <a:endParaRPr lang="en-US" sz="900" dirty="0"/>
          </a:p>
        </p:txBody>
      </p:sp>
      <p:sp>
        <p:nvSpPr>
          <p:cNvPr id="45" name="Nitrogen: electron, shell 1"/>
          <p:cNvSpPr/>
          <p:nvPr/>
        </p:nvSpPr>
        <p:spPr>
          <a:xfrm>
            <a:off x="7239762" y="2184959"/>
            <a:ext cx="150876" cy="150876"/>
          </a:xfrm>
          <a:prstGeom prst="ellipse">
            <a:avLst/>
          </a:prstGeom>
          <a:solidFill>
            <a:schemeClr val="accent1"/>
          </a:solidFill>
          <a:ln w="3175">
            <a:solidFill>
              <a:schemeClr val="accent1"/>
            </a:solidFill>
            <a:prstDash val="solid"/>
          </a:ln>
        </p:spPr>
      </p:sp>
      <p:sp>
        <p:nvSpPr>
          <p:cNvPr id="46" name="Nitrogen: electron, shell 1"/>
          <p:cNvSpPr/>
          <p:nvPr/>
        </p:nvSpPr>
        <p:spPr>
          <a:xfrm>
            <a:off x="7722565" y="2667762"/>
            <a:ext cx="150876" cy="150876"/>
          </a:xfrm>
          <a:prstGeom prst="ellipse">
            <a:avLst/>
          </a:prstGeom>
          <a:solidFill>
            <a:schemeClr val="accent1"/>
          </a:solidFill>
          <a:ln w="3175">
            <a:solidFill>
              <a:schemeClr val="accent1"/>
            </a:solidFill>
            <a:prstDash val="solid"/>
          </a:ln>
        </p:spPr>
      </p:sp>
      <p:sp>
        <p:nvSpPr>
          <p:cNvPr id="47" name="Nitrogen: electron 1"/>
          <p:cNvSpPr/>
          <p:nvPr/>
        </p:nvSpPr>
        <p:spPr>
          <a:xfrm>
            <a:off x="7064495" y="1860606"/>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1</a:t>
            </a:r>
            <a:endParaRPr lang="en-US" sz="800" dirty="0"/>
          </a:p>
        </p:txBody>
      </p:sp>
      <p:sp>
        <p:nvSpPr>
          <p:cNvPr id="48" name="Nitrogen: electron 2"/>
          <p:cNvSpPr/>
          <p:nvPr/>
        </p:nvSpPr>
        <p:spPr>
          <a:xfrm>
            <a:off x="7989113" y="2632558"/>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2</a:t>
            </a:r>
            <a:endParaRPr lang="en-US" sz="800" dirty="0"/>
          </a:p>
        </p:txBody>
      </p:sp>
      <p:sp>
        <p:nvSpPr>
          <p:cNvPr id="49" name="Nitrogen: electron 3"/>
          <p:cNvSpPr/>
          <p:nvPr/>
        </p:nvSpPr>
        <p:spPr>
          <a:xfrm>
            <a:off x="7204558" y="3417113"/>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3</a:t>
            </a:r>
            <a:endParaRPr lang="en-US" sz="800" dirty="0"/>
          </a:p>
        </p:txBody>
      </p:sp>
      <p:sp>
        <p:nvSpPr>
          <p:cNvPr id="50" name="Nitrogen: electron 4"/>
          <p:cNvSpPr/>
          <p:nvPr/>
        </p:nvSpPr>
        <p:spPr>
          <a:xfrm>
            <a:off x="6420002" y="2632558"/>
            <a:ext cx="221285" cy="221285"/>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4</a:t>
            </a:r>
            <a:endParaRPr lang="en-US" sz="800" dirty="0"/>
          </a:p>
        </p:txBody>
      </p:sp>
      <p:sp>
        <p:nvSpPr>
          <p:cNvPr id="51" name="Nitrogen: electron 5"/>
          <p:cNvSpPr/>
          <p:nvPr/>
        </p:nvSpPr>
        <p:spPr>
          <a:xfrm>
            <a:off x="7344620" y="1860606"/>
            <a:ext cx="221285" cy="221285"/>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5</a:t>
            </a:r>
            <a:endParaRPr lang="en-US" sz="800" dirty="0"/>
          </a:p>
        </p:txBody>
      </p:sp>
      <p:sp>
        <p:nvSpPr>
          <p:cNvPr id="52" name="Text 50"/>
          <p:cNvSpPr txBox="1"/>
          <p:nvPr/>
        </p:nvSpPr>
        <p:spPr>
          <a:xfrm>
            <a:off x="5943600" y="4206240"/>
            <a:ext cx="2743200" cy="292608"/>
          </a:xfrm>
          <a:prstGeom prst="rect">
            <a:avLst/>
          </a:prstGeom>
          <a:noFill/>
          <a:ln/>
        </p:spPr>
        <p:txBody>
          <a:bodyPr wrap="square" lIns="0" tIns="0" rIns="0" bIns="0" rtlCol="0" anchor="t"/>
          <a:lstStyle/>
          <a:p>
            <a:pPr algn="ctr" indent="0" marL="0">
              <a:buNone/>
            </a:pPr>
            <a:r>
              <a:rPr lang="en-US" sz="1300" b="1" dirty="0">
                <a:solidFill>
                  <a:schemeClr val="bg1"/>
                </a:solidFill>
              </a:rPr>
              <a:t>Round 3: nitrogen, 5 in shell 2</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Where does it go? Rounds 4–5</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Tap the spot on the glowing shell where the next electron belongs.</a:t>
            </a:r>
            <a:endParaRPr lang="en-US" sz="1300" dirty="0"/>
          </a:p>
        </p:txBody>
      </p:sp>
      <p:sp>
        <p:nvSpPr>
          <p:cNvPr id="9" name="Chlorine: shell 1"/>
          <p:cNvSpPr/>
          <p:nvPr/>
        </p:nvSpPr>
        <p:spPr>
          <a:xfrm>
            <a:off x="2121235" y="2349835"/>
            <a:ext cx="786729" cy="786729"/>
          </a:xfrm>
          <a:prstGeom prst="ellipse">
            <a:avLst/>
          </a:prstGeom>
          <a:solidFill>
            <a:schemeClr val="bg1">
              <a:alpha val="0"/>
            </a:schemeClr>
          </a:solidFill>
          <a:ln w="15875">
            <a:solidFill>
              <a:schemeClr val="bg2">
                <a:alpha val="55000"/>
              </a:schemeClr>
            </a:solidFill>
            <a:prstDash val="solid"/>
          </a:ln>
        </p:spPr>
      </p:sp>
      <p:sp>
        <p:nvSpPr>
          <p:cNvPr id="10" name="Chlorine: shell 2"/>
          <p:cNvSpPr/>
          <p:nvPr/>
        </p:nvSpPr>
        <p:spPr>
          <a:xfrm>
            <a:off x="1875383" y="2103983"/>
            <a:ext cx="1278435" cy="1278435"/>
          </a:xfrm>
          <a:prstGeom prst="ellipse">
            <a:avLst/>
          </a:prstGeom>
          <a:solidFill>
            <a:schemeClr val="bg1">
              <a:alpha val="0"/>
            </a:schemeClr>
          </a:solidFill>
          <a:ln w="15875">
            <a:solidFill>
              <a:schemeClr val="bg2">
                <a:alpha val="55000"/>
              </a:schemeClr>
            </a:solidFill>
            <a:prstDash val="solid"/>
          </a:ln>
        </p:spPr>
      </p:sp>
      <p:sp>
        <p:nvSpPr>
          <p:cNvPr id="11" name="Chlorine: shell 3"/>
          <p:cNvSpPr/>
          <p:nvPr/>
        </p:nvSpPr>
        <p:spPr>
          <a:xfrm>
            <a:off x="1645920" y="1874520"/>
            <a:ext cx="1737360" cy="1737360"/>
          </a:xfrm>
          <a:prstGeom prst="ellipse">
            <a:avLst/>
          </a:prstGeom>
          <a:solidFill>
            <a:schemeClr val="bg1">
              <a:alpha val="0"/>
            </a:schemeClr>
          </a:solidFill>
          <a:ln w="15875">
            <a:solidFill>
              <a:schemeClr val="bg2">
                <a:alpha val="55000"/>
              </a:schemeClr>
            </a:solidFill>
            <a:prstDash val="solid"/>
          </a:ln>
        </p:spPr>
      </p:sp>
      <p:sp>
        <p:nvSpPr>
          <p:cNvPr id="12" name="Chlorine: target spot"/>
          <p:cNvSpPr/>
          <p:nvPr/>
        </p:nvSpPr>
        <p:spPr>
          <a:xfrm>
            <a:off x="2391674" y="1751594"/>
            <a:ext cx="245853" cy="245853"/>
          </a:xfrm>
          <a:prstGeom prst="ellipse">
            <a:avLst/>
          </a:prstGeom>
          <a:solidFill>
            <a:schemeClr val="accent1">
              <a:alpha val="10000"/>
            </a:schemeClr>
          </a:solidFill>
          <a:ln w="12700">
            <a:solidFill>
              <a:schemeClr val="accent1"/>
            </a:solidFill>
            <a:prstDash val="dash"/>
          </a:ln>
        </p:spPr>
      </p:sp>
      <p:sp>
        <p:nvSpPr>
          <p:cNvPr id="13" name="Chlorine: target spot"/>
          <p:cNvSpPr/>
          <p:nvPr/>
        </p:nvSpPr>
        <p:spPr>
          <a:xfrm>
            <a:off x="3260354" y="2620274"/>
            <a:ext cx="245853" cy="245853"/>
          </a:xfrm>
          <a:prstGeom prst="ellipse">
            <a:avLst/>
          </a:prstGeom>
          <a:solidFill>
            <a:schemeClr val="accent1">
              <a:alpha val="10000"/>
            </a:schemeClr>
          </a:solidFill>
          <a:ln w="12700">
            <a:solidFill>
              <a:schemeClr val="accent1"/>
            </a:solidFill>
            <a:prstDash val="dash"/>
          </a:ln>
        </p:spPr>
      </p:sp>
      <p:sp>
        <p:nvSpPr>
          <p:cNvPr id="14" name="Chlorine: target spot"/>
          <p:cNvSpPr/>
          <p:nvPr/>
        </p:nvSpPr>
        <p:spPr>
          <a:xfrm>
            <a:off x="2391674" y="3488954"/>
            <a:ext cx="245853" cy="245853"/>
          </a:xfrm>
          <a:prstGeom prst="ellipse">
            <a:avLst/>
          </a:prstGeom>
          <a:solidFill>
            <a:schemeClr val="accent1">
              <a:alpha val="10000"/>
            </a:schemeClr>
          </a:solidFill>
          <a:ln w="12700">
            <a:solidFill>
              <a:schemeClr val="accent1"/>
            </a:solidFill>
            <a:prstDash val="dash"/>
          </a:ln>
        </p:spPr>
      </p:sp>
      <p:sp>
        <p:nvSpPr>
          <p:cNvPr id="15" name="Chlorine: target spot"/>
          <p:cNvSpPr/>
          <p:nvPr/>
        </p:nvSpPr>
        <p:spPr>
          <a:xfrm>
            <a:off x="1522994" y="2620274"/>
            <a:ext cx="245853" cy="245853"/>
          </a:xfrm>
          <a:prstGeom prst="ellipse">
            <a:avLst/>
          </a:prstGeom>
          <a:solidFill>
            <a:schemeClr val="accent1">
              <a:alpha val="10000"/>
            </a:schemeClr>
          </a:solidFill>
          <a:ln w="12700">
            <a:solidFill>
              <a:schemeClr val="accent1"/>
            </a:solidFill>
            <a:prstDash val="dash"/>
          </a:ln>
        </p:spPr>
      </p:sp>
      <p:sp>
        <p:nvSpPr>
          <p:cNvPr id="16" name="Chlorine: nucleus"/>
          <p:cNvSpPr/>
          <p:nvPr/>
        </p:nvSpPr>
        <p:spPr>
          <a:xfrm>
            <a:off x="2260552" y="248915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17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18 n</a:t>
            </a:r>
            <a:pPr algn="ctr" indent="0" marL="0">
              <a:buNone/>
            </a:pPr>
            <a:r>
              <a:rPr lang="en-US" sz="900" b="1" baseline="30000" dirty="0">
                <a:solidFill>
                  <a:schemeClr val="bg1"/>
                </a:solidFill>
              </a:rPr>
              <a:t>0</a:t>
            </a:r>
            <a:endParaRPr lang="en-US" sz="900" dirty="0"/>
          </a:p>
        </p:txBody>
      </p:sp>
      <p:sp>
        <p:nvSpPr>
          <p:cNvPr id="17" name="Chlorine: electron, shell 1"/>
          <p:cNvSpPr/>
          <p:nvPr/>
        </p:nvSpPr>
        <p:spPr>
          <a:xfrm>
            <a:off x="2453137" y="2288372"/>
            <a:ext cx="122926" cy="122926"/>
          </a:xfrm>
          <a:prstGeom prst="ellipse">
            <a:avLst/>
          </a:prstGeom>
          <a:solidFill>
            <a:schemeClr val="accent1"/>
          </a:solidFill>
          <a:ln w="3175">
            <a:solidFill>
              <a:schemeClr val="accent1"/>
            </a:solidFill>
            <a:prstDash val="solid"/>
          </a:ln>
        </p:spPr>
      </p:sp>
      <p:sp>
        <p:nvSpPr>
          <p:cNvPr id="18" name="Chlorine: electron, shell 1"/>
          <p:cNvSpPr/>
          <p:nvPr/>
        </p:nvSpPr>
        <p:spPr>
          <a:xfrm>
            <a:off x="2846501" y="2681737"/>
            <a:ext cx="122926" cy="122926"/>
          </a:xfrm>
          <a:prstGeom prst="ellipse">
            <a:avLst/>
          </a:prstGeom>
          <a:solidFill>
            <a:schemeClr val="accent1"/>
          </a:solidFill>
          <a:ln w="3175">
            <a:solidFill>
              <a:schemeClr val="accent1"/>
            </a:solidFill>
            <a:prstDash val="solid"/>
          </a:ln>
        </p:spPr>
      </p:sp>
      <p:sp>
        <p:nvSpPr>
          <p:cNvPr id="19" name="Chlorine: electron, shell 2"/>
          <p:cNvSpPr/>
          <p:nvPr/>
        </p:nvSpPr>
        <p:spPr>
          <a:xfrm>
            <a:off x="2370597" y="2047871"/>
            <a:ext cx="122926" cy="122926"/>
          </a:xfrm>
          <a:prstGeom prst="ellipse">
            <a:avLst/>
          </a:prstGeom>
          <a:solidFill>
            <a:schemeClr val="accent1"/>
          </a:solidFill>
          <a:ln w="3175">
            <a:solidFill>
              <a:schemeClr val="accent1"/>
            </a:solidFill>
            <a:prstDash val="solid"/>
          </a:ln>
        </p:spPr>
      </p:sp>
      <p:sp>
        <p:nvSpPr>
          <p:cNvPr id="20" name="Chlorine: electron, shell 2"/>
          <p:cNvSpPr/>
          <p:nvPr/>
        </p:nvSpPr>
        <p:spPr>
          <a:xfrm>
            <a:off x="2535676" y="2047871"/>
            <a:ext cx="122926" cy="122926"/>
          </a:xfrm>
          <a:prstGeom prst="ellipse">
            <a:avLst/>
          </a:prstGeom>
          <a:solidFill>
            <a:schemeClr val="accent1"/>
          </a:solidFill>
          <a:ln w="3175">
            <a:solidFill>
              <a:schemeClr val="accent1"/>
            </a:solidFill>
            <a:prstDash val="solid"/>
          </a:ln>
        </p:spPr>
      </p:sp>
      <p:sp>
        <p:nvSpPr>
          <p:cNvPr id="21" name="Chlorine: electron, shell 2"/>
          <p:cNvSpPr/>
          <p:nvPr/>
        </p:nvSpPr>
        <p:spPr>
          <a:xfrm>
            <a:off x="3087003" y="2599197"/>
            <a:ext cx="122926" cy="122926"/>
          </a:xfrm>
          <a:prstGeom prst="ellipse">
            <a:avLst/>
          </a:prstGeom>
          <a:solidFill>
            <a:schemeClr val="accent1"/>
          </a:solidFill>
          <a:ln w="3175">
            <a:solidFill>
              <a:schemeClr val="accent1"/>
            </a:solidFill>
            <a:prstDash val="solid"/>
          </a:ln>
        </p:spPr>
      </p:sp>
      <p:sp>
        <p:nvSpPr>
          <p:cNvPr id="22" name="Chlorine: electron, shell 2"/>
          <p:cNvSpPr/>
          <p:nvPr/>
        </p:nvSpPr>
        <p:spPr>
          <a:xfrm>
            <a:off x="3087003" y="2764276"/>
            <a:ext cx="122926" cy="122926"/>
          </a:xfrm>
          <a:prstGeom prst="ellipse">
            <a:avLst/>
          </a:prstGeom>
          <a:solidFill>
            <a:schemeClr val="accent1"/>
          </a:solidFill>
          <a:ln w="3175">
            <a:solidFill>
              <a:schemeClr val="accent1"/>
            </a:solidFill>
            <a:prstDash val="solid"/>
          </a:ln>
        </p:spPr>
      </p:sp>
      <p:sp>
        <p:nvSpPr>
          <p:cNvPr id="23" name="Chlorine: electron, shell 2"/>
          <p:cNvSpPr/>
          <p:nvPr/>
        </p:nvSpPr>
        <p:spPr>
          <a:xfrm>
            <a:off x="2535676" y="3315603"/>
            <a:ext cx="122926" cy="122926"/>
          </a:xfrm>
          <a:prstGeom prst="ellipse">
            <a:avLst/>
          </a:prstGeom>
          <a:solidFill>
            <a:schemeClr val="accent1"/>
          </a:solidFill>
          <a:ln w="3175">
            <a:solidFill>
              <a:schemeClr val="accent1"/>
            </a:solidFill>
            <a:prstDash val="solid"/>
          </a:ln>
        </p:spPr>
      </p:sp>
      <p:sp>
        <p:nvSpPr>
          <p:cNvPr id="24" name="Chlorine: electron, shell 2"/>
          <p:cNvSpPr/>
          <p:nvPr/>
        </p:nvSpPr>
        <p:spPr>
          <a:xfrm>
            <a:off x="2370597" y="3315603"/>
            <a:ext cx="122926" cy="122926"/>
          </a:xfrm>
          <a:prstGeom prst="ellipse">
            <a:avLst/>
          </a:prstGeom>
          <a:solidFill>
            <a:schemeClr val="accent1"/>
          </a:solidFill>
          <a:ln w="3175">
            <a:solidFill>
              <a:schemeClr val="accent1"/>
            </a:solidFill>
            <a:prstDash val="solid"/>
          </a:ln>
        </p:spPr>
      </p:sp>
      <p:sp>
        <p:nvSpPr>
          <p:cNvPr id="25" name="Chlorine: electron, shell 2"/>
          <p:cNvSpPr/>
          <p:nvPr/>
        </p:nvSpPr>
        <p:spPr>
          <a:xfrm>
            <a:off x="1819271" y="2764276"/>
            <a:ext cx="122926" cy="122926"/>
          </a:xfrm>
          <a:prstGeom prst="ellipse">
            <a:avLst/>
          </a:prstGeom>
          <a:solidFill>
            <a:schemeClr val="accent1"/>
          </a:solidFill>
          <a:ln w="3175">
            <a:solidFill>
              <a:schemeClr val="accent1"/>
            </a:solidFill>
            <a:prstDash val="solid"/>
          </a:ln>
        </p:spPr>
      </p:sp>
      <p:sp>
        <p:nvSpPr>
          <p:cNvPr id="26" name="Chlorine: electron, shell 2"/>
          <p:cNvSpPr/>
          <p:nvPr/>
        </p:nvSpPr>
        <p:spPr>
          <a:xfrm>
            <a:off x="1819271" y="2599197"/>
            <a:ext cx="122926" cy="122926"/>
          </a:xfrm>
          <a:prstGeom prst="ellipse">
            <a:avLst/>
          </a:prstGeom>
          <a:solidFill>
            <a:schemeClr val="accent1"/>
          </a:solidFill>
          <a:ln w="3175">
            <a:solidFill>
              <a:schemeClr val="accent1"/>
            </a:solidFill>
            <a:prstDash val="solid"/>
          </a:ln>
        </p:spPr>
      </p:sp>
      <p:sp>
        <p:nvSpPr>
          <p:cNvPr id="27" name="Text 25"/>
          <p:cNvSpPr txBox="1"/>
          <p:nvPr/>
        </p:nvSpPr>
        <p:spPr>
          <a:xfrm>
            <a:off x="457200" y="4206240"/>
            <a:ext cx="4114800" cy="292608"/>
          </a:xfrm>
          <a:prstGeom prst="rect">
            <a:avLst/>
          </a:prstGeom>
          <a:noFill/>
          <a:ln/>
        </p:spPr>
        <p:txBody>
          <a:bodyPr wrap="square" lIns="0" tIns="0" rIns="0" bIns="0" rtlCol="0" anchor="t"/>
          <a:lstStyle/>
          <a:p>
            <a:pPr algn="ctr" indent="0" marL="0">
              <a:buNone/>
            </a:pPr>
            <a:r>
              <a:rPr lang="en-US" sz="1300" b="1" dirty="0">
                <a:solidFill>
                  <a:schemeClr val="bg1"/>
                </a:solidFill>
              </a:rPr>
              <a:t>Round 4: chlorine, 7 in shell 3</a:t>
            </a:r>
            <a:endParaRPr lang="en-US" sz="1300" dirty="0"/>
          </a:p>
        </p:txBody>
      </p:sp>
      <p:sp>
        <p:nvSpPr>
          <p:cNvPr id="28" name="Aluminum: shell 1"/>
          <p:cNvSpPr/>
          <p:nvPr/>
        </p:nvSpPr>
        <p:spPr>
          <a:xfrm>
            <a:off x="6236035" y="2349835"/>
            <a:ext cx="786729" cy="786729"/>
          </a:xfrm>
          <a:prstGeom prst="ellipse">
            <a:avLst/>
          </a:prstGeom>
          <a:solidFill>
            <a:schemeClr val="bg1">
              <a:alpha val="0"/>
            </a:schemeClr>
          </a:solidFill>
          <a:ln w="15875">
            <a:solidFill>
              <a:schemeClr val="bg2">
                <a:alpha val="55000"/>
              </a:schemeClr>
            </a:solidFill>
            <a:prstDash val="solid"/>
          </a:ln>
        </p:spPr>
      </p:sp>
      <p:sp>
        <p:nvSpPr>
          <p:cNvPr id="29" name="Aluminum: shell 2"/>
          <p:cNvSpPr/>
          <p:nvPr/>
        </p:nvSpPr>
        <p:spPr>
          <a:xfrm>
            <a:off x="5990183" y="2103983"/>
            <a:ext cx="1278435" cy="1278435"/>
          </a:xfrm>
          <a:prstGeom prst="ellipse">
            <a:avLst/>
          </a:prstGeom>
          <a:solidFill>
            <a:schemeClr val="bg1">
              <a:alpha val="0"/>
            </a:schemeClr>
          </a:solidFill>
          <a:ln w="15875">
            <a:solidFill>
              <a:schemeClr val="bg2">
                <a:alpha val="55000"/>
              </a:schemeClr>
            </a:solidFill>
            <a:prstDash val="solid"/>
          </a:ln>
        </p:spPr>
      </p:sp>
      <p:sp>
        <p:nvSpPr>
          <p:cNvPr id="30" name="Aluminum: shell 3"/>
          <p:cNvSpPr/>
          <p:nvPr/>
        </p:nvSpPr>
        <p:spPr>
          <a:xfrm>
            <a:off x="5760720" y="1874520"/>
            <a:ext cx="1737360" cy="1737360"/>
          </a:xfrm>
          <a:prstGeom prst="ellipse">
            <a:avLst/>
          </a:prstGeom>
          <a:solidFill>
            <a:schemeClr val="bg1">
              <a:alpha val="0"/>
            </a:schemeClr>
          </a:solidFill>
          <a:ln w="15875">
            <a:solidFill>
              <a:schemeClr val="bg2">
                <a:alpha val="55000"/>
              </a:schemeClr>
            </a:solidFill>
            <a:prstDash val="solid"/>
          </a:ln>
        </p:spPr>
      </p:sp>
      <p:sp>
        <p:nvSpPr>
          <p:cNvPr id="31" name="Aluminum: target spot"/>
          <p:cNvSpPr/>
          <p:nvPr/>
        </p:nvSpPr>
        <p:spPr>
          <a:xfrm>
            <a:off x="6506474" y="1751594"/>
            <a:ext cx="245853" cy="245853"/>
          </a:xfrm>
          <a:prstGeom prst="ellipse">
            <a:avLst/>
          </a:prstGeom>
          <a:solidFill>
            <a:schemeClr val="accent1">
              <a:alpha val="10000"/>
            </a:schemeClr>
          </a:solidFill>
          <a:ln w="12700">
            <a:solidFill>
              <a:schemeClr val="accent1"/>
            </a:solidFill>
            <a:prstDash val="dash"/>
          </a:ln>
        </p:spPr>
      </p:sp>
      <p:sp>
        <p:nvSpPr>
          <p:cNvPr id="32" name="Aluminum: target spot"/>
          <p:cNvSpPr/>
          <p:nvPr/>
        </p:nvSpPr>
        <p:spPr>
          <a:xfrm>
            <a:off x="7375154" y="2620274"/>
            <a:ext cx="245853" cy="245853"/>
          </a:xfrm>
          <a:prstGeom prst="ellipse">
            <a:avLst/>
          </a:prstGeom>
          <a:solidFill>
            <a:schemeClr val="accent1">
              <a:alpha val="10000"/>
            </a:schemeClr>
          </a:solidFill>
          <a:ln w="12700">
            <a:solidFill>
              <a:schemeClr val="accent1"/>
            </a:solidFill>
            <a:prstDash val="dash"/>
          </a:ln>
        </p:spPr>
      </p:sp>
      <p:sp>
        <p:nvSpPr>
          <p:cNvPr id="33" name="Aluminum: target spot"/>
          <p:cNvSpPr/>
          <p:nvPr/>
        </p:nvSpPr>
        <p:spPr>
          <a:xfrm>
            <a:off x="6506474" y="3488954"/>
            <a:ext cx="245853" cy="245853"/>
          </a:xfrm>
          <a:prstGeom prst="ellipse">
            <a:avLst/>
          </a:prstGeom>
          <a:solidFill>
            <a:schemeClr val="accent1">
              <a:alpha val="10000"/>
            </a:schemeClr>
          </a:solidFill>
          <a:ln w="12700">
            <a:solidFill>
              <a:schemeClr val="accent1"/>
            </a:solidFill>
            <a:prstDash val="dash"/>
          </a:ln>
        </p:spPr>
      </p:sp>
      <p:sp>
        <p:nvSpPr>
          <p:cNvPr id="34" name="Aluminum: target spot"/>
          <p:cNvSpPr/>
          <p:nvPr/>
        </p:nvSpPr>
        <p:spPr>
          <a:xfrm>
            <a:off x="5637794" y="2620274"/>
            <a:ext cx="245853" cy="245853"/>
          </a:xfrm>
          <a:prstGeom prst="ellipse">
            <a:avLst/>
          </a:prstGeom>
          <a:solidFill>
            <a:schemeClr val="accent1">
              <a:alpha val="10000"/>
            </a:schemeClr>
          </a:solidFill>
          <a:ln w="12700">
            <a:solidFill>
              <a:schemeClr val="accent1"/>
            </a:solidFill>
            <a:prstDash val="dash"/>
          </a:ln>
        </p:spPr>
      </p:sp>
      <p:sp>
        <p:nvSpPr>
          <p:cNvPr id="35" name="Aluminum: nucleus"/>
          <p:cNvSpPr/>
          <p:nvPr/>
        </p:nvSpPr>
        <p:spPr>
          <a:xfrm>
            <a:off x="6375352" y="248915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13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14 n</a:t>
            </a:r>
            <a:pPr algn="ctr" indent="0" marL="0">
              <a:buNone/>
            </a:pPr>
            <a:r>
              <a:rPr lang="en-US" sz="900" b="1" baseline="30000" dirty="0">
                <a:solidFill>
                  <a:schemeClr val="bg1"/>
                </a:solidFill>
              </a:rPr>
              <a:t>0</a:t>
            </a:r>
            <a:endParaRPr lang="en-US" sz="900" dirty="0"/>
          </a:p>
        </p:txBody>
      </p:sp>
      <p:sp>
        <p:nvSpPr>
          <p:cNvPr id="36" name="Aluminum: electron, shell 1"/>
          <p:cNvSpPr/>
          <p:nvPr/>
        </p:nvSpPr>
        <p:spPr>
          <a:xfrm>
            <a:off x="6567937" y="2288372"/>
            <a:ext cx="122926" cy="122926"/>
          </a:xfrm>
          <a:prstGeom prst="ellipse">
            <a:avLst/>
          </a:prstGeom>
          <a:solidFill>
            <a:schemeClr val="accent1"/>
          </a:solidFill>
          <a:ln w="3175">
            <a:solidFill>
              <a:schemeClr val="accent1"/>
            </a:solidFill>
            <a:prstDash val="solid"/>
          </a:ln>
        </p:spPr>
      </p:sp>
      <p:sp>
        <p:nvSpPr>
          <p:cNvPr id="37" name="Aluminum: electron, shell 1"/>
          <p:cNvSpPr/>
          <p:nvPr/>
        </p:nvSpPr>
        <p:spPr>
          <a:xfrm>
            <a:off x="6961301" y="2681737"/>
            <a:ext cx="122926" cy="122926"/>
          </a:xfrm>
          <a:prstGeom prst="ellipse">
            <a:avLst/>
          </a:prstGeom>
          <a:solidFill>
            <a:schemeClr val="accent1"/>
          </a:solidFill>
          <a:ln w="3175">
            <a:solidFill>
              <a:schemeClr val="accent1"/>
            </a:solidFill>
            <a:prstDash val="solid"/>
          </a:ln>
        </p:spPr>
      </p:sp>
      <p:sp>
        <p:nvSpPr>
          <p:cNvPr id="38" name="Aluminum: electron, shell 2"/>
          <p:cNvSpPr/>
          <p:nvPr/>
        </p:nvSpPr>
        <p:spPr>
          <a:xfrm>
            <a:off x="6485397" y="2047871"/>
            <a:ext cx="122926" cy="122926"/>
          </a:xfrm>
          <a:prstGeom prst="ellipse">
            <a:avLst/>
          </a:prstGeom>
          <a:solidFill>
            <a:schemeClr val="accent1"/>
          </a:solidFill>
          <a:ln w="3175">
            <a:solidFill>
              <a:schemeClr val="accent1"/>
            </a:solidFill>
            <a:prstDash val="solid"/>
          </a:ln>
        </p:spPr>
      </p:sp>
      <p:sp>
        <p:nvSpPr>
          <p:cNvPr id="39" name="Aluminum: electron, shell 2"/>
          <p:cNvSpPr/>
          <p:nvPr/>
        </p:nvSpPr>
        <p:spPr>
          <a:xfrm>
            <a:off x="6650476" y="2047871"/>
            <a:ext cx="122926" cy="122926"/>
          </a:xfrm>
          <a:prstGeom prst="ellipse">
            <a:avLst/>
          </a:prstGeom>
          <a:solidFill>
            <a:schemeClr val="accent1"/>
          </a:solidFill>
          <a:ln w="3175">
            <a:solidFill>
              <a:schemeClr val="accent1"/>
            </a:solidFill>
            <a:prstDash val="solid"/>
          </a:ln>
        </p:spPr>
      </p:sp>
      <p:sp>
        <p:nvSpPr>
          <p:cNvPr id="40" name="Aluminum: electron, shell 2"/>
          <p:cNvSpPr/>
          <p:nvPr/>
        </p:nvSpPr>
        <p:spPr>
          <a:xfrm>
            <a:off x="7201803" y="2599197"/>
            <a:ext cx="122926" cy="122926"/>
          </a:xfrm>
          <a:prstGeom prst="ellipse">
            <a:avLst/>
          </a:prstGeom>
          <a:solidFill>
            <a:schemeClr val="accent1"/>
          </a:solidFill>
          <a:ln w="3175">
            <a:solidFill>
              <a:schemeClr val="accent1"/>
            </a:solidFill>
            <a:prstDash val="solid"/>
          </a:ln>
        </p:spPr>
      </p:sp>
      <p:sp>
        <p:nvSpPr>
          <p:cNvPr id="41" name="Aluminum: electron, shell 2"/>
          <p:cNvSpPr/>
          <p:nvPr/>
        </p:nvSpPr>
        <p:spPr>
          <a:xfrm>
            <a:off x="7201803" y="2764276"/>
            <a:ext cx="122926" cy="122926"/>
          </a:xfrm>
          <a:prstGeom prst="ellipse">
            <a:avLst/>
          </a:prstGeom>
          <a:solidFill>
            <a:schemeClr val="accent1"/>
          </a:solidFill>
          <a:ln w="3175">
            <a:solidFill>
              <a:schemeClr val="accent1"/>
            </a:solidFill>
            <a:prstDash val="solid"/>
          </a:ln>
        </p:spPr>
      </p:sp>
      <p:sp>
        <p:nvSpPr>
          <p:cNvPr id="42" name="Aluminum: electron, shell 2"/>
          <p:cNvSpPr/>
          <p:nvPr/>
        </p:nvSpPr>
        <p:spPr>
          <a:xfrm>
            <a:off x="6650476" y="3315603"/>
            <a:ext cx="122926" cy="122926"/>
          </a:xfrm>
          <a:prstGeom prst="ellipse">
            <a:avLst/>
          </a:prstGeom>
          <a:solidFill>
            <a:schemeClr val="accent1"/>
          </a:solidFill>
          <a:ln w="3175">
            <a:solidFill>
              <a:schemeClr val="accent1"/>
            </a:solidFill>
            <a:prstDash val="solid"/>
          </a:ln>
        </p:spPr>
      </p:sp>
      <p:sp>
        <p:nvSpPr>
          <p:cNvPr id="43" name="Aluminum: electron, shell 2"/>
          <p:cNvSpPr/>
          <p:nvPr/>
        </p:nvSpPr>
        <p:spPr>
          <a:xfrm>
            <a:off x="6485397" y="3315603"/>
            <a:ext cx="122926" cy="122926"/>
          </a:xfrm>
          <a:prstGeom prst="ellipse">
            <a:avLst/>
          </a:prstGeom>
          <a:solidFill>
            <a:schemeClr val="accent1"/>
          </a:solidFill>
          <a:ln w="3175">
            <a:solidFill>
              <a:schemeClr val="accent1"/>
            </a:solidFill>
            <a:prstDash val="solid"/>
          </a:ln>
        </p:spPr>
      </p:sp>
      <p:sp>
        <p:nvSpPr>
          <p:cNvPr id="44" name="Aluminum: electron, shell 2"/>
          <p:cNvSpPr/>
          <p:nvPr/>
        </p:nvSpPr>
        <p:spPr>
          <a:xfrm>
            <a:off x="5934071" y="2764276"/>
            <a:ext cx="122926" cy="122926"/>
          </a:xfrm>
          <a:prstGeom prst="ellipse">
            <a:avLst/>
          </a:prstGeom>
          <a:solidFill>
            <a:schemeClr val="accent1"/>
          </a:solidFill>
          <a:ln w="3175">
            <a:solidFill>
              <a:schemeClr val="accent1"/>
            </a:solidFill>
            <a:prstDash val="solid"/>
          </a:ln>
        </p:spPr>
      </p:sp>
      <p:sp>
        <p:nvSpPr>
          <p:cNvPr id="45" name="Aluminum: electron, shell 2"/>
          <p:cNvSpPr/>
          <p:nvPr/>
        </p:nvSpPr>
        <p:spPr>
          <a:xfrm>
            <a:off x="5934071" y="2599197"/>
            <a:ext cx="122926" cy="122926"/>
          </a:xfrm>
          <a:prstGeom prst="ellipse">
            <a:avLst/>
          </a:prstGeom>
          <a:solidFill>
            <a:schemeClr val="accent1"/>
          </a:solidFill>
          <a:ln w="3175">
            <a:solidFill>
              <a:schemeClr val="accent1"/>
            </a:solidFill>
            <a:prstDash val="solid"/>
          </a:ln>
        </p:spPr>
      </p:sp>
      <p:sp>
        <p:nvSpPr>
          <p:cNvPr id="46" name="Text 44"/>
          <p:cNvSpPr txBox="1"/>
          <p:nvPr/>
        </p:nvSpPr>
        <p:spPr>
          <a:xfrm>
            <a:off x="4572000" y="4206240"/>
            <a:ext cx="4114800" cy="292608"/>
          </a:xfrm>
          <a:prstGeom prst="rect">
            <a:avLst/>
          </a:prstGeom>
          <a:noFill/>
          <a:ln/>
        </p:spPr>
        <p:txBody>
          <a:bodyPr wrap="square" lIns="0" tIns="0" rIns="0" bIns="0" rtlCol="0" anchor="t"/>
          <a:lstStyle/>
          <a:p>
            <a:pPr algn="ctr" indent="0" marL="0">
              <a:buNone/>
            </a:pPr>
            <a:r>
              <a:rPr lang="en-US" sz="1300" b="1" dirty="0">
                <a:solidFill>
                  <a:schemeClr val="bg1"/>
                </a:solidFill>
              </a:rPr>
              <a:t>Round 5: aluminum, 3 in shell 3</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Where does it go? Rounds 4–5</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Numbers show the order each electron was placed.</a:t>
            </a:r>
            <a:endParaRPr lang="en-US" sz="1300" dirty="0"/>
          </a:p>
        </p:txBody>
      </p:sp>
      <p:sp>
        <p:nvSpPr>
          <p:cNvPr id="10" name="Chlorine: shell 1"/>
          <p:cNvSpPr/>
          <p:nvPr/>
        </p:nvSpPr>
        <p:spPr>
          <a:xfrm>
            <a:off x="2121235" y="2349835"/>
            <a:ext cx="786729" cy="786729"/>
          </a:xfrm>
          <a:prstGeom prst="ellipse">
            <a:avLst/>
          </a:prstGeom>
          <a:solidFill>
            <a:schemeClr val="bg1">
              <a:alpha val="0"/>
            </a:schemeClr>
          </a:solidFill>
          <a:ln w="15875">
            <a:solidFill>
              <a:schemeClr val="bg2">
                <a:alpha val="55000"/>
              </a:schemeClr>
            </a:solidFill>
            <a:prstDash val="solid"/>
          </a:ln>
        </p:spPr>
      </p:sp>
      <p:sp>
        <p:nvSpPr>
          <p:cNvPr id="11" name="Chlorine: shell 2"/>
          <p:cNvSpPr/>
          <p:nvPr/>
        </p:nvSpPr>
        <p:spPr>
          <a:xfrm>
            <a:off x="1875383" y="2103983"/>
            <a:ext cx="1278435" cy="1278435"/>
          </a:xfrm>
          <a:prstGeom prst="ellipse">
            <a:avLst/>
          </a:prstGeom>
          <a:solidFill>
            <a:schemeClr val="bg1">
              <a:alpha val="0"/>
            </a:schemeClr>
          </a:solidFill>
          <a:ln w="15875">
            <a:solidFill>
              <a:schemeClr val="bg2">
                <a:alpha val="55000"/>
              </a:schemeClr>
            </a:solidFill>
            <a:prstDash val="solid"/>
          </a:ln>
        </p:spPr>
      </p:sp>
      <p:sp>
        <p:nvSpPr>
          <p:cNvPr id="12" name="Chlorine: shell 3"/>
          <p:cNvSpPr/>
          <p:nvPr/>
        </p:nvSpPr>
        <p:spPr>
          <a:xfrm>
            <a:off x="1645920" y="1874520"/>
            <a:ext cx="1737360" cy="1737360"/>
          </a:xfrm>
          <a:prstGeom prst="ellipse">
            <a:avLst/>
          </a:prstGeom>
          <a:solidFill>
            <a:schemeClr val="bg1">
              <a:alpha val="0"/>
            </a:schemeClr>
          </a:solidFill>
          <a:ln w="15875">
            <a:solidFill>
              <a:schemeClr val="bg2">
                <a:alpha val="55000"/>
              </a:schemeClr>
            </a:solidFill>
            <a:prstDash val="solid"/>
          </a:ln>
        </p:spPr>
      </p:sp>
      <p:sp>
        <p:nvSpPr>
          <p:cNvPr id="13" name="Chlorine: nucleus"/>
          <p:cNvSpPr/>
          <p:nvPr/>
        </p:nvSpPr>
        <p:spPr>
          <a:xfrm>
            <a:off x="2260552" y="248915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17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18 n</a:t>
            </a:r>
            <a:pPr algn="ctr" indent="0" marL="0">
              <a:buNone/>
            </a:pPr>
            <a:r>
              <a:rPr lang="en-US" sz="900" b="1" baseline="30000" dirty="0">
                <a:solidFill>
                  <a:schemeClr val="bg1"/>
                </a:solidFill>
              </a:rPr>
              <a:t>0</a:t>
            </a:r>
            <a:endParaRPr lang="en-US" sz="900" dirty="0"/>
          </a:p>
        </p:txBody>
      </p:sp>
      <p:sp>
        <p:nvSpPr>
          <p:cNvPr id="14" name="Chlorine: electron, shell 1"/>
          <p:cNvSpPr/>
          <p:nvPr/>
        </p:nvSpPr>
        <p:spPr>
          <a:xfrm>
            <a:off x="2453137" y="2288372"/>
            <a:ext cx="122926" cy="122926"/>
          </a:xfrm>
          <a:prstGeom prst="ellipse">
            <a:avLst/>
          </a:prstGeom>
          <a:solidFill>
            <a:schemeClr val="accent1"/>
          </a:solidFill>
          <a:ln w="3175">
            <a:solidFill>
              <a:schemeClr val="accent1"/>
            </a:solidFill>
            <a:prstDash val="solid"/>
          </a:ln>
        </p:spPr>
      </p:sp>
      <p:sp>
        <p:nvSpPr>
          <p:cNvPr id="15" name="Chlorine: electron, shell 1"/>
          <p:cNvSpPr/>
          <p:nvPr/>
        </p:nvSpPr>
        <p:spPr>
          <a:xfrm>
            <a:off x="2846501" y="2681737"/>
            <a:ext cx="122926" cy="122926"/>
          </a:xfrm>
          <a:prstGeom prst="ellipse">
            <a:avLst/>
          </a:prstGeom>
          <a:solidFill>
            <a:schemeClr val="accent1"/>
          </a:solidFill>
          <a:ln w="3175">
            <a:solidFill>
              <a:schemeClr val="accent1"/>
            </a:solidFill>
            <a:prstDash val="solid"/>
          </a:ln>
        </p:spPr>
      </p:sp>
      <p:sp>
        <p:nvSpPr>
          <p:cNvPr id="16" name="Chlorine: electron, shell 2"/>
          <p:cNvSpPr/>
          <p:nvPr/>
        </p:nvSpPr>
        <p:spPr>
          <a:xfrm>
            <a:off x="2370597" y="2047871"/>
            <a:ext cx="122926" cy="122926"/>
          </a:xfrm>
          <a:prstGeom prst="ellipse">
            <a:avLst/>
          </a:prstGeom>
          <a:solidFill>
            <a:schemeClr val="accent1"/>
          </a:solidFill>
          <a:ln w="3175">
            <a:solidFill>
              <a:schemeClr val="accent1"/>
            </a:solidFill>
            <a:prstDash val="solid"/>
          </a:ln>
        </p:spPr>
      </p:sp>
      <p:sp>
        <p:nvSpPr>
          <p:cNvPr id="17" name="Chlorine: electron, shell 2"/>
          <p:cNvSpPr/>
          <p:nvPr/>
        </p:nvSpPr>
        <p:spPr>
          <a:xfrm>
            <a:off x="2535676" y="2047871"/>
            <a:ext cx="122926" cy="122926"/>
          </a:xfrm>
          <a:prstGeom prst="ellipse">
            <a:avLst/>
          </a:prstGeom>
          <a:solidFill>
            <a:schemeClr val="accent1"/>
          </a:solidFill>
          <a:ln w="3175">
            <a:solidFill>
              <a:schemeClr val="accent1"/>
            </a:solidFill>
            <a:prstDash val="solid"/>
          </a:ln>
        </p:spPr>
      </p:sp>
      <p:sp>
        <p:nvSpPr>
          <p:cNvPr id="18" name="Chlorine: electron, shell 2"/>
          <p:cNvSpPr/>
          <p:nvPr/>
        </p:nvSpPr>
        <p:spPr>
          <a:xfrm>
            <a:off x="3087003" y="2599197"/>
            <a:ext cx="122926" cy="122926"/>
          </a:xfrm>
          <a:prstGeom prst="ellipse">
            <a:avLst/>
          </a:prstGeom>
          <a:solidFill>
            <a:schemeClr val="accent1"/>
          </a:solidFill>
          <a:ln w="3175">
            <a:solidFill>
              <a:schemeClr val="accent1"/>
            </a:solidFill>
            <a:prstDash val="solid"/>
          </a:ln>
        </p:spPr>
      </p:sp>
      <p:sp>
        <p:nvSpPr>
          <p:cNvPr id="19" name="Chlorine: electron, shell 2"/>
          <p:cNvSpPr/>
          <p:nvPr/>
        </p:nvSpPr>
        <p:spPr>
          <a:xfrm>
            <a:off x="3087003" y="2764276"/>
            <a:ext cx="122926" cy="122926"/>
          </a:xfrm>
          <a:prstGeom prst="ellipse">
            <a:avLst/>
          </a:prstGeom>
          <a:solidFill>
            <a:schemeClr val="accent1"/>
          </a:solidFill>
          <a:ln w="3175">
            <a:solidFill>
              <a:schemeClr val="accent1"/>
            </a:solidFill>
            <a:prstDash val="solid"/>
          </a:ln>
        </p:spPr>
      </p:sp>
      <p:sp>
        <p:nvSpPr>
          <p:cNvPr id="20" name="Chlorine: electron, shell 2"/>
          <p:cNvSpPr/>
          <p:nvPr/>
        </p:nvSpPr>
        <p:spPr>
          <a:xfrm>
            <a:off x="2535676" y="3315603"/>
            <a:ext cx="122926" cy="122926"/>
          </a:xfrm>
          <a:prstGeom prst="ellipse">
            <a:avLst/>
          </a:prstGeom>
          <a:solidFill>
            <a:schemeClr val="accent1"/>
          </a:solidFill>
          <a:ln w="3175">
            <a:solidFill>
              <a:schemeClr val="accent1"/>
            </a:solidFill>
            <a:prstDash val="solid"/>
          </a:ln>
        </p:spPr>
      </p:sp>
      <p:sp>
        <p:nvSpPr>
          <p:cNvPr id="21" name="Chlorine: electron, shell 2"/>
          <p:cNvSpPr/>
          <p:nvPr/>
        </p:nvSpPr>
        <p:spPr>
          <a:xfrm>
            <a:off x="2370597" y="3315603"/>
            <a:ext cx="122926" cy="122926"/>
          </a:xfrm>
          <a:prstGeom prst="ellipse">
            <a:avLst/>
          </a:prstGeom>
          <a:solidFill>
            <a:schemeClr val="accent1"/>
          </a:solidFill>
          <a:ln w="3175">
            <a:solidFill>
              <a:schemeClr val="accent1"/>
            </a:solidFill>
            <a:prstDash val="solid"/>
          </a:ln>
        </p:spPr>
      </p:sp>
      <p:sp>
        <p:nvSpPr>
          <p:cNvPr id="22" name="Chlorine: electron, shell 2"/>
          <p:cNvSpPr/>
          <p:nvPr/>
        </p:nvSpPr>
        <p:spPr>
          <a:xfrm>
            <a:off x="1819271" y="2764276"/>
            <a:ext cx="122926" cy="122926"/>
          </a:xfrm>
          <a:prstGeom prst="ellipse">
            <a:avLst/>
          </a:prstGeom>
          <a:solidFill>
            <a:schemeClr val="accent1"/>
          </a:solidFill>
          <a:ln w="3175">
            <a:solidFill>
              <a:schemeClr val="accent1"/>
            </a:solidFill>
            <a:prstDash val="solid"/>
          </a:ln>
        </p:spPr>
      </p:sp>
      <p:sp>
        <p:nvSpPr>
          <p:cNvPr id="23" name="Chlorine: electron, shell 2"/>
          <p:cNvSpPr/>
          <p:nvPr/>
        </p:nvSpPr>
        <p:spPr>
          <a:xfrm>
            <a:off x="1819271" y="2599197"/>
            <a:ext cx="122926" cy="122926"/>
          </a:xfrm>
          <a:prstGeom prst="ellipse">
            <a:avLst/>
          </a:prstGeom>
          <a:solidFill>
            <a:schemeClr val="accent1"/>
          </a:solidFill>
          <a:ln w="3175">
            <a:solidFill>
              <a:schemeClr val="accent1"/>
            </a:solidFill>
            <a:prstDash val="solid"/>
          </a:ln>
        </p:spPr>
      </p:sp>
      <p:sp>
        <p:nvSpPr>
          <p:cNvPr id="24" name="Chlorine: electron 1"/>
          <p:cNvSpPr/>
          <p:nvPr/>
        </p:nvSpPr>
        <p:spPr>
          <a:xfrm>
            <a:off x="2310056" y="1791940"/>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1</a:t>
            </a:r>
            <a:endParaRPr lang="en-US" sz="800" dirty="0"/>
          </a:p>
        </p:txBody>
      </p:sp>
      <p:sp>
        <p:nvSpPr>
          <p:cNvPr id="25" name="Chlorine: electron 2"/>
          <p:cNvSpPr/>
          <p:nvPr/>
        </p:nvSpPr>
        <p:spPr>
          <a:xfrm>
            <a:off x="3285568" y="2538656"/>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2</a:t>
            </a:r>
            <a:endParaRPr lang="en-US" sz="800" dirty="0"/>
          </a:p>
        </p:txBody>
      </p:sp>
      <p:sp>
        <p:nvSpPr>
          <p:cNvPr id="26" name="Chlorine: electron 3"/>
          <p:cNvSpPr/>
          <p:nvPr/>
        </p:nvSpPr>
        <p:spPr>
          <a:xfrm>
            <a:off x="2538852" y="3514168"/>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3</a:t>
            </a:r>
            <a:endParaRPr lang="en-US" sz="800" dirty="0"/>
          </a:p>
        </p:txBody>
      </p:sp>
      <p:sp>
        <p:nvSpPr>
          <p:cNvPr id="27" name="Chlorine: electron 4"/>
          <p:cNvSpPr/>
          <p:nvPr/>
        </p:nvSpPr>
        <p:spPr>
          <a:xfrm>
            <a:off x="1555774" y="265305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4</a:t>
            </a:r>
            <a:endParaRPr lang="en-US" sz="800" dirty="0"/>
          </a:p>
        </p:txBody>
      </p:sp>
      <p:sp>
        <p:nvSpPr>
          <p:cNvPr id="28" name="Chlorine: electron 5"/>
          <p:cNvSpPr/>
          <p:nvPr/>
        </p:nvSpPr>
        <p:spPr>
          <a:xfrm>
            <a:off x="2538852" y="1791940"/>
            <a:ext cx="180292" cy="180292"/>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5</a:t>
            </a:r>
            <a:endParaRPr lang="en-US" sz="800" dirty="0"/>
          </a:p>
        </p:txBody>
      </p:sp>
      <p:sp>
        <p:nvSpPr>
          <p:cNvPr id="29" name="Chlorine: electron 6"/>
          <p:cNvSpPr/>
          <p:nvPr/>
        </p:nvSpPr>
        <p:spPr>
          <a:xfrm>
            <a:off x="3285568" y="2767452"/>
            <a:ext cx="180292" cy="180292"/>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6</a:t>
            </a:r>
            <a:endParaRPr lang="en-US" sz="800" dirty="0"/>
          </a:p>
        </p:txBody>
      </p:sp>
      <p:sp>
        <p:nvSpPr>
          <p:cNvPr id="30" name="Chlorine: electron 7"/>
          <p:cNvSpPr/>
          <p:nvPr/>
        </p:nvSpPr>
        <p:spPr>
          <a:xfrm>
            <a:off x="2310056" y="3514168"/>
            <a:ext cx="180292" cy="180292"/>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800" b="1" dirty="0">
                <a:solidFill>
                  <a:schemeClr val="tx1"/>
                </a:solidFill>
              </a:rPr>
              <a:t>7</a:t>
            </a:r>
            <a:endParaRPr lang="en-US" sz="800" dirty="0"/>
          </a:p>
        </p:txBody>
      </p:sp>
      <p:sp>
        <p:nvSpPr>
          <p:cNvPr id="31" name="Text 29"/>
          <p:cNvSpPr txBox="1"/>
          <p:nvPr/>
        </p:nvSpPr>
        <p:spPr>
          <a:xfrm>
            <a:off x="457200" y="4206240"/>
            <a:ext cx="4114800" cy="292608"/>
          </a:xfrm>
          <a:prstGeom prst="rect">
            <a:avLst/>
          </a:prstGeom>
          <a:noFill/>
          <a:ln/>
        </p:spPr>
        <p:txBody>
          <a:bodyPr wrap="square" lIns="0" tIns="0" rIns="0" bIns="0" rtlCol="0" anchor="t"/>
          <a:lstStyle/>
          <a:p>
            <a:pPr algn="ctr" indent="0" marL="0">
              <a:buNone/>
            </a:pPr>
            <a:r>
              <a:rPr lang="en-US" sz="1300" b="1" dirty="0">
                <a:solidFill>
                  <a:schemeClr val="bg1"/>
                </a:solidFill>
              </a:rPr>
              <a:t>Round 4: chlorine, 7 in shell 3</a:t>
            </a:r>
            <a:endParaRPr lang="en-US" sz="1300" dirty="0"/>
          </a:p>
        </p:txBody>
      </p:sp>
      <p:sp>
        <p:nvSpPr>
          <p:cNvPr id="32" name="Aluminum: shell 1"/>
          <p:cNvSpPr/>
          <p:nvPr/>
        </p:nvSpPr>
        <p:spPr>
          <a:xfrm>
            <a:off x="6236035" y="2349835"/>
            <a:ext cx="786729" cy="786729"/>
          </a:xfrm>
          <a:prstGeom prst="ellipse">
            <a:avLst/>
          </a:prstGeom>
          <a:solidFill>
            <a:schemeClr val="bg1">
              <a:alpha val="0"/>
            </a:schemeClr>
          </a:solidFill>
          <a:ln w="15875">
            <a:solidFill>
              <a:schemeClr val="bg2">
                <a:alpha val="55000"/>
              </a:schemeClr>
            </a:solidFill>
            <a:prstDash val="solid"/>
          </a:ln>
        </p:spPr>
      </p:sp>
      <p:sp>
        <p:nvSpPr>
          <p:cNvPr id="33" name="Aluminum: shell 2"/>
          <p:cNvSpPr/>
          <p:nvPr/>
        </p:nvSpPr>
        <p:spPr>
          <a:xfrm>
            <a:off x="5990183" y="2103983"/>
            <a:ext cx="1278435" cy="1278435"/>
          </a:xfrm>
          <a:prstGeom prst="ellipse">
            <a:avLst/>
          </a:prstGeom>
          <a:solidFill>
            <a:schemeClr val="bg1">
              <a:alpha val="0"/>
            </a:schemeClr>
          </a:solidFill>
          <a:ln w="15875">
            <a:solidFill>
              <a:schemeClr val="bg2">
                <a:alpha val="55000"/>
              </a:schemeClr>
            </a:solidFill>
            <a:prstDash val="solid"/>
          </a:ln>
        </p:spPr>
      </p:sp>
      <p:sp>
        <p:nvSpPr>
          <p:cNvPr id="34" name="Aluminum: shell 3"/>
          <p:cNvSpPr/>
          <p:nvPr/>
        </p:nvSpPr>
        <p:spPr>
          <a:xfrm>
            <a:off x="5760720" y="1874520"/>
            <a:ext cx="1737360" cy="1737360"/>
          </a:xfrm>
          <a:prstGeom prst="ellipse">
            <a:avLst/>
          </a:prstGeom>
          <a:solidFill>
            <a:schemeClr val="bg1">
              <a:alpha val="0"/>
            </a:schemeClr>
          </a:solidFill>
          <a:ln w="15875">
            <a:solidFill>
              <a:schemeClr val="bg2">
                <a:alpha val="55000"/>
              </a:schemeClr>
            </a:solidFill>
            <a:prstDash val="solid"/>
          </a:ln>
        </p:spPr>
      </p:sp>
      <p:sp>
        <p:nvSpPr>
          <p:cNvPr id="35" name="Aluminum: nucleus"/>
          <p:cNvSpPr/>
          <p:nvPr/>
        </p:nvSpPr>
        <p:spPr>
          <a:xfrm>
            <a:off x="6375352" y="248915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900" b="1" dirty="0">
                <a:solidFill>
                  <a:schemeClr val="bg1"/>
                </a:solidFill>
              </a:rPr>
              <a:t>13 p</a:t>
            </a:r>
            <a:pPr algn="ctr" indent="0" marL="0">
              <a:buNone/>
            </a:pPr>
            <a:r>
              <a:rPr lang="en-US" sz="900" b="1" baseline="30000" dirty="0">
                <a:solidFill>
                  <a:schemeClr val="bg1"/>
                </a:solidFill>
              </a:rPr>
              <a:t>+</a:t>
            </a:r>
            <a:endParaRPr lang="en-US" sz="900" dirty="0"/>
          </a:p>
          <a:p>
            <a:pPr algn="ctr" indent="0" marL="0">
              <a:buNone/>
            </a:pPr>
            <a:r>
              <a:rPr lang="en-US" sz="900" b="1" dirty="0">
                <a:solidFill>
                  <a:schemeClr val="bg1"/>
                </a:solidFill>
              </a:rPr>
              <a:t>14 n</a:t>
            </a:r>
            <a:pPr algn="ctr" indent="0" marL="0">
              <a:buNone/>
            </a:pPr>
            <a:r>
              <a:rPr lang="en-US" sz="900" b="1" baseline="30000" dirty="0">
                <a:solidFill>
                  <a:schemeClr val="bg1"/>
                </a:solidFill>
              </a:rPr>
              <a:t>0</a:t>
            </a:r>
            <a:endParaRPr lang="en-US" sz="900" dirty="0"/>
          </a:p>
        </p:txBody>
      </p:sp>
      <p:sp>
        <p:nvSpPr>
          <p:cNvPr id="36" name="Aluminum: electron, shell 1"/>
          <p:cNvSpPr/>
          <p:nvPr/>
        </p:nvSpPr>
        <p:spPr>
          <a:xfrm>
            <a:off x="6567937" y="2288372"/>
            <a:ext cx="122926" cy="122926"/>
          </a:xfrm>
          <a:prstGeom prst="ellipse">
            <a:avLst/>
          </a:prstGeom>
          <a:solidFill>
            <a:schemeClr val="accent1"/>
          </a:solidFill>
          <a:ln w="3175">
            <a:solidFill>
              <a:schemeClr val="accent1"/>
            </a:solidFill>
            <a:prstDash val="solid"/>
          </a:ln>
        </p:spPr>
      </p:sp>
      <p:sp>
        <p:nvSpPr>
          <p:cNvPr id="37" name="Aluminum: electron, shell 1"/>
          <p:cNvSpPr/>
          <p:nvPr/>
        </p:nvSpPr>
        <p:spPr>
          <a:xfrm>
            <a:off x="6961301" y="2681737"/>
            <a:ext cx="122926" cy="122926"/>
          </a:xfrm>
          <a:prstGeom prst="ellipse">
            <a:avLst/>
          </a:prstGeom>
          <a:solidFill>
            <a:schemeClr val="accent1"/>
          </a:solidFill>
          <a:ln w="3175">
            <a:solidFill>
              <a:schemeClr val="accent1"/>
            </a:solidFill>
            <a:prstDash val="solid"/>
          </a:ln>
        </p:spPr>
      </p:sp>
      <p:sp>
        <p:nvSpPr>
          <p:cNvPr id="38" name="Aluminum: electron, shell 2"/>
          <p:cNvSpPr/>
          <p:nvPr/>
        </p:nvSpPr>
        <p:spPr>
          <a:xfrm>
            <a:off x="6485397" y="2047871"/>
            <a:ext cx="122926" cy="122926"/>
          </a:xfrm>
          <a:prstGeom prst="ellipse">
            <a:avLst/>
          </a:prstGeom>
          <a:solidFill>
            <a:schemeClr val="accent1"/>
          </a:solidFill>
          <a:ln w="3175">
            <a:solidFill>
              <a:schemeClr val="accent1"/>
            </a:solidFill>
            <a:prstDash val="solid"/>
          </a:ln>
        </p:spPr>
      </p:sp>
      <p:sp>
        <p:nvSpPr>
          <p:cNvPr id="39" name="Aluminum: electron, shell 2"/>
          <p:cNvSpPr/>
          <p:nvPr/>
        </p:nvSpPr>
        <p:spPr>
          <a:xfrm>
            <a:off x="6650476" y="2047871"/>
            <a:ext cx="122926" cy="122926"/>
          </a:xfrm>
          <a:prstGeom prst="ellipse">
            <a:avLst/>
          </a:prstGeom>
          <a:solidFill>
            <a:schemeClr val="accent1"/>
          </a:solidFill>
          <a:ln w="3175">
            <a:solidFill>
              <a:schemeClr val="accent1"/>
            </a:solidFill>
            <a:prstDash val="solid"/>
          </a:ln>
        </p:spPr>
      </p:sp>
      <p:sp>
        <p:nvSpPr>
          <p:cNvPr id="40" name="Aluminum: electron, shell 2"/>
          <p:cNvSpPr/>
          <p:nvPr/>
        </p:nvSpPr>
        <p:spPr>
          <a:xfrm>
            <a:off x="7201803" y="2599197"/>
            <a:ext cx="122926" cy="122926"/>
          </a:xfrm>
          <a:prstGeom prst="ellipse">
            <a:avLst/>
          </a:prstGeom>
          <a:solidFill>
            <a:schemeClr val="accent1"/>
          </a:solidFill>
          <a:ln w="3175">
            <a:solidFill>
              <a:schemeClr val="accent1"/>
            </a:solidFill>
            <a:prstDash val="solid"/>
          </a:ln>
        </p:spPr>
      </p:sp>
      <p:sp>
        <p:nvSpPr>
          <p:cNvPr id="41" name="Aluminum: electron, shell 2"/>
          <p:cNvSpPr/>
          <p:nvPr/>
        </p:nvSpPr>
        <p:spPr>
          <a:xfrm>
            <a:off x="7201803" y="2764276"/>
            <a:ext cx="122926" cy="122926"/>
          </a:xfrm>
          <a:prstGeom prst="ellipse">
            <a:avLst/>
          </a:prstGeom>
          <a:solidFill>
            <a:schemeClr val="accent1"/>
          </a:solidFill>
          <a:ln w="3175">
            <a:solidFill>
              <a:schemeClr val="accent1"/>
            </a:solidFill>
            <a:prstDash val="solid"/>
          </a:ln>
        </p:spPr>
      </p:sp>
      <p:sp>
        <p:nvSpPr>
          <p:cNvPr id="42" name="Aluminum: electron, shell 2"/>
          <p:cNvSpPr/>
          <p:nvPr/>
        </p:nvSpPr>
        <p:spPr>
          <a:xfrm>
            <a:off x="6650476" y="3315603"/>
            <a:ext cx="122926" cy="122926"/>
          </a:xfrm>
          <a:prstGeom prst="ellipse">
            <a:avLst/>
          </a:prstGeom>
          <a:solidFill>
            <a:schemeClr val="accent1"/>
          </a:solidFill>
          <a:ln w="3175">
            <a:solidFill>
              <a:schemeClr val="accent1"/>
            </a:solidFill>
            <a:prstDash val="solid"/>
          </a:ln>
        </p:spPr>
      </p:sp>
      <p:sp>
        <p:nvSpPr>
          <p:cNvPr id="43" name="Aluminum: electron, shell 2"/>
          <p:cNvSpPr/>
          <p:nvPr/>
        </p:nvSpPr>
        <p:spPr>
          <a:xfrm>
            <a:off x="6485397" y="3315603"/>
            <a:ext cx="122926" cy="122926"/>
          </a:xfrm>
          <a:prstGeom prst="ellipse">
            <a:avLst/>
          </a:prstGeom>
          <a:solidFill>
            <a:schemeClr val="accent1"/>
          </a:solidFill>
          <a:ln w="3175">
            <a:solidFill>
              <a:schemeClr val="accent1"/>
            </a:solidFill>
            <a:prstDash val="solid"/>
          </a:ln>
        </p:spPr>
      </p:sp>
      <p:sp>
        <p:nvSpPr>
          <p:cNvPr id="44" name="Aluminum: electron, shell 2"/>
          <p:cNvSpPr/>
          <p:nvPr/>
        </p:nvSpPr>
        <p:spPr>
          <a:xfrm>
            <a:off x="5934071" y="2764276"/>
            <a:ext cx="122926" cy="122926"/>
          </a:xfrm>
          <a:prstGeom prst="ellipse">
            <a:avLst/>
          </a:prstGeom>
          <a:solidFill>
            <a:schemeClr val="accent1"/>
          </a:solidFill>
          <a:ln w="3175">
            <a:solidFill>
              <a:schemeClr val="accent1"/>
            </a:solidFill>
            <a:prstDash val="solid"/>
          </a:ln>
        </p:spPr>
      </p:sp>
      <p:sp>
        <p:nvSpPr>
          <p:cNvPr id="45" name="Aluminum: electron, shell 2"/>
          <p:cNvSpPr/>
          <p:nvPr/>
        </p:nvSpPr>
        <p:spPr>
          <a:xfrm>
            <a:off x="5934071" y="2599197"/>
            <a:ext cx="122926" cy="122926"/>
          </a:xfrm>
          <a:prstGeom prst="ellipse">
            <a:avLst/>
          </a:prstGeom>
          <a:solidFill>
            <a:schemeClr val="accent1"/>
          </a:solidFill>
          <a:ln w="3175">
            <a:solidFill>
              <a:schemeClr val="accent1"/>
            </a:solidFill>
            <a:prstDash val="solid"/>
          </a:ln>
        </p:spPr>
      </p:sp>
      <p:sp>
        <p:nvSpPr>
          <p:cNvPr id="46" name="Aluminum: electron 1"/>
          <p:cNvSpPr/>
          <p:nvPr/>
        </p:nvSpPr>
        <p:spPr>
          <a:xfrm>
            <a:off x="6539254" y="178437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1</a:t>
            </a:r>
            <a:endParaRPr lang="en-US" sz="800" dirty="0"/>
          </a:p>
        </p:txBody>
      </p:sp>
      <p:sp>
        <p:nvSpPr>
          <p:cNvPr id="47" name="Aluminum: electron 2"/>
          <p:cNvSpPr/>
          <p:nvPr/>
        </p:nvSpPr>
        <p:spPr>
          <a:xfrm>
            <a:off x="7407934" y="265305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2</a:t>
            </a:r>
            <a:endParaRPr lang="en-US" sz="800" dirty="0"/>
          </a:p>
        </p:txBody>
      </p:sp>
      <p:sp>
        <p:nvSpPr>
          <p:cNvPr id="48" name="Aluminum: electron 3"/>
          <p:cNvSpPr/>
          <p:nvPr/>
        </p:nvSpPr>
        <p:spPr>
          <a:xfrm>
            <a:off x="6539254" y="3521734"/>
            <a:ext cx="180292" cy="18029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800" b="1" dirty="0">
                <a:solidFill>
                  <a:schemeClr val="tx1"/>
                </a:solidFill>
              </a:rPr>
              <a:t>3</a:t>
            </a:r>
            <a:endParaRPr lang="en-US" sz="800" dirty="0"/>
          </a:p>
        </p:txBody>
      </p:sp>
      <p:sp>
        <p:nvSpPr>
          <p:cNvPr id="49" name="Text 47"/>
          <p:cNvSpPr txBox="1"/>
          <p:nvPr/>
        </p:nvSpPr>
        <p:spPr>
          <a:xfrm>
            <a:off x="4572000" y="4206240"/>
            <a:ext cx="4114800" cy="292608"/>
          </a:xfrm>
          <a:prstGeom prst="rect">
            <a:avLst/>
          </a:prstGeom>
          <a:noFill/>
          <a:ln/>
        </p:spPr>
        <p:txBody>
          <a:bodyPr wrap="square" lIns="0" tIns="0" rIns="0" bIns="0" rtlCol="0" anchor="t"/>
          <a:lstStyle/>
          <a:p>
            <a:pPr algn="ctr" indent="0" marL="0">
              <a:buNone/>
            </a:pPr>
            <a:r>
              <a:rPr lang="en-US" sz="1300" b="1" dirty="0">
                <a:solidFill>
                  <a:schemeClr val="bg1"/>
                </a:solidFill>
              </a:rPr>
              <a:t>Round 5: aluminum, 3 in shell 3</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drawing follows the class rule for 6 electrons in one shell?</a:t>
            </a:r>
            <a:endParaRPr lang="en-US" sz="2000" dirty="0"/>
          </a:p>
        </p:txBody>
      </p:sp>
      <p:sp>
        <p:nvSpPr>
          <p:cNvPr id="8" name="Option A"/>
          <p:cNvSpPr/>
          <p:nvPr/>
        </p:nvSpPr>
        <p:spPr>
          <a:xfrm>
            <a:off x="457200"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9" name="Text 7"/>
          <p:cNvSpPr/>
          <p:nvPr/>
        </p:nvSpPr>
        <p:spPr>
          <a:xfrm>
            <a:off x="566928"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Option A drawing: shell 1"/>
          <p:cNvSpPr/>
          <p:nvPr/>
        </p:nvSpPr>
        <p:spPr>
          <a:xfrm>
            <a:off x="611429" y="2010461"/>
            <a:ext cx="1648358" cy="1648358"/>
          </a:xfrm>
          <a:prstGeom prst="ellipse">
            <a:avLst/>
          </a:prstGeom>
          <a:solidFill>
            <a:schemeClr val="bg1">
              <a:alpha val="0"/>
            </a:schemeClr>
          </a:solidFill>
          <a:ln w="15875">
            <a:solidFill>
              <a:schemeClr val="bg2">
                <a:alpha val="55000"/>
              </a:schemeClr>
            </a:solidFill>
            <a:prstDash val="solid"/>
          </a:ln>
        </p:spPr>
      </p:sp>
      <p:sp>
        <p:nvSpPr>
          <p:cNvPr id="11" name="Option A drawing: nucleus"/>
          <p:cNvSpPr/>
          <p:nvPr/>
        </p:nvSpPr>
        <p:spPr>
          <a:xfrm>
            <a:off x="1166165"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2" name="Option A drawing: electron, shell 1"/>
          <p:cNvSpPr/>
          <p:nvPr/>
        </p:nvSpPr>
        <p:spPr>
          <a:xfrm>
            <a:off x="1225188" y="1923471"/>
            <a:ext cx="190195" cy="190195"/>
          </a:xfrm>
          <a:prstGeom prst="ellipse">
            <a:avLst/>
          </a:prstGeom>
          <a:solidFill>
            <a:schemeClr val="accent1"/>
          </a:solidFill>
          <a:ln w="3175">
            <a:solidFill>
              <a:schemeClr val="accent1"/>
            </a:solidFill>
            <a:prstDash val="solid"/>
          </a:ln>
        </p:spPr>
      </p:sp>
      <p:sp>
        <p:nvSpPr>
          <p:cNvPr id="13" name="Option A drawing: electron, shell 1"/>
          <p:cNvSpPr/>
          <p:nvPr/>
        </p:nvSpPr>
        <p:spPr>
          <a:xfrm>
            <a:off x="1455833" y="1923471"/>
            <a:ext cx="190195" cy="190195"/>
          </a:xfrm>
          <a:prstGeom prst="ellipse">
            <a:avLst/>
          </a:prstGeom>
          <a:solidFill>
            <a:schemeClr val="accent1"/>
          </a:solidFill>
          <a:ln w="3175">
            <a:solidFill>
              <a:schemeClr val="accent1"/>
            </a:solidFill>
            <a:prstDash val="solid"/>
          </a:ln>
        </p:spPr>
      </p:sp>
      <p:sp>
        <p:nvSpPr>
          <p:cNvPr id="14" name="Option A drawing: electron, shell 1"/>
          <p:cNvSpPr/>
          <p:nvPr/>
        </p:nvSpPr>
        <p:spPr>
          <a:xfrm>
            <a:off x="2156582" y="2624220"/>
            <a:ext cx="190195" cy="190195"/>
          </a:xfrm>
          <a:prstGeom prst="ellipse">
            <a:avLst/>
          </a:prstGeom>
          <a:solidFill>
            <a:schemeClr val="accent1"/>
          </a:solidFill>
          <a:ln w="3175">
            <a:solidFill>
              <a:schemeClr val="accent1"/>
            </a:solidFill>
            <a:prstDash val="solid"/>
          </a:ln>
        </p:spPr>
      </p:sp>
      <p:sp>
        <p:nvSpPr>
          <p:cNvPr id="15" name="Option A drawing: electron, shell 1"/>
          <p:cNvSpPr/>
          <p:nvPr/>
        </p:nvSpPr>
        <p:spPr>
          <a:xfrm>
            <a:off x="2156582" y="2854865"/>
            <a:ext cx="190195" cy="190195"/>
          </a:xfrm>
          <a:prstGeom prst="ellipse">
            <a:avLst/>
          </a:prstGeom>
          <a:solidFill>
            <a:schemeClr val="accent1"/>
          </a:solidFill>
          <a:ln w="3175">
            <a:solidFill>
              <a:schemeClr val="accent1"/>
            </a:solidFill>
            <a:prstDash val="solid"/>
          </a:ln>
        </p:spPr>
      </p:sp>
      <p:sp>
        <p:nvSpPr>
          <p:cNvPr id="16" name="Option A drawing: electron, shell 1"/>
          <p:cNvSpPr/>
          <p:nvPr/>
        </p:nvSpPr>
        <p:spPr>
          <a:xfrm>
            <a:off x="1455833" y="3555614"/>
            <a:ext cx="190195" cy="190195"/>
          </a:xfrm>
          <a:prstGeom prst="ellipse">
            <a:avLst/>
          </a:prstGeom>
          <a:solidFill>
            <a:schemeClr val="accent1"/>
          </a:solidFill>
          <a:ln w="3175">
            <a:solidFill>
              <a:schemeClr val="accent1"/>
            </a:solidFill>
            <a:prstDash val="solid"/>
          </a:ln>
        </p:spPr>
      </p:sp>
      <p:sp>
        <p:nvSpPr>
          <p:cNvPr id="17" name="Option A drawing: electron, shell 1"/>
          <p:cNvSpPr/>
          <p:nvPr/>
        </p:nvSpPr>
        <p:spPr>
          <a:xfrm>
            <a:off x="1225188" y="3555614"/>
            <a:ext cx="190195" cy="190195"/>
          </a:xfrm>
          <a:prstGeom prst="ellipse">
            <a:avLst/>
          </a:prstGeom>
          <a:solidFill>
            <a:schemeClr val="accent1"/>
          </a:solidFill>
          <a:ln w="3175">
            <a:solidFill>
              <a:schemeClr val="accent1"/>
            </a:solidFill>
            <a:prstDash val="solid"/>
          </a:ln>
        </p:spPr>
      </p:sp>
      <p:sp>
        <p:nvSpPr>
          <p:cNvPr id="18" name="Option B"/>
          <p:cNvSpPr/>
          <p:nvPr/>
        </p:nvSpPr>
        <p:spPr>
          <a:xfrm>
            <a:off x="2551176"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19" name="Text 17"/>
          <p:cNvSpPr/>
          <p:nvPr/>
        </p:nvSpPr>
        <p:spPr>
          <a:xfrm>
            <a:off x="2660904"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20" name="Option B drawing: shell 1"/>
          <p:cNvSpPr/>
          <p:nvPr/>
        </p:nvSpPr>
        <p:spPr>
          <a:xfrm>
            <a:off x="2705405" y="2010461"/>
            <a:ext cx="1648358" cy="1648358"/>
          </a:xfrm>
          <a:prstGeom prst="ellipse">
            <a:avLst/>
          </a:prstGeom>
          <a:solidFill>
            <a:schemeClr val="bg1">
              <a:alpha val="0"/>
            </a:schemeClr>
          </a:solidFill>
          <a:ln w="15875">
            <a:solidFill>
              <a:schemeClr val="bg2">
                <a:alpha val="55000"/>
              </a:schemeClr>
            </a:solidFill>
            <a:prstDash val="solid"/>
          </a:ln>
        </p:spPr>
      </p:sp>
      <p:sp>
        <p:nvSpPr>
          <p:cNvPr id="21" name="Option B drawing: nucleus"/>
          <p:cNvSpPr/>
          <p:nvPr/>
        </p:nvSpPr>
        <p:spPr>
          <a:xfrm>
            <a:off x="3260141"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2" name="Option B drawing: electron, shell 1"/>
          <p:cNvSpPr/>
          <p:nvPr/>
        </p:nvSpPr>
        <p:spPr>
          <a:xfrm>
            <a:off x="3434486" y="1915363"/>
            <a:ext cx="190195" cy="190195"/>
          </a:xfrm>
          <a:prstGeom prst="ellipse">
            <a:avLst/>
          </a:prstGeom>
          <a:solidFill>
            <a:schemeClr val="accent1"/>
          </a:solidFill>
          <a:ln w="3175">
            <a:solidFill>
              <a:schemeClr val="accent1"/>
            </a:solidFill>
            <a:prstDash val="solid"/>
          </a:ln>
        </p:spPr>
      </p:sp>
      <p:sp>
        <p:nvSpPr>
          <p:cNvPr id="23" name="Option B drawing: electron, shell 1"/>
          <p:cNvSpPr/>
          <p:nvPr/>
        </p:nvSpPr>
        <p:spPr>
          <a:xfrm>
            <a:off x="4250558" y="2624220"/>
            <a:ext cx="190195" cy="190195"/>
          </a:xfrm>
          <a:prstGeom prst="ellipse">
            <a:avLst/>
          </a:prstGeom>
          <a:solidFill>
            <a:schemeClr val="accent1"/>
          </a:solidFill>
          <a:ln w="3175">
            <a:solidFill>
              <a:schemeClr val="accent1"/>
            </a:solidFill>
            <a:prstDash val="solid"/>
          </a:ln>
        </p:spPr>
      </p:sp>
      <p:sp>
        <p:nvSpPr>
          <p:cNvPr id="24" name="Option B drawing: electron, shell 1"/>
          <p:cNvSpPr/>
          <p:nvPr/>
        </p:nvSpPr>
        <p:spPr>
          <a:xfrm>
            <a:off x="4250558" y="2854865"/>
            <a:ext cx="190195" cy="190195"/>
          </a:xfrm>
          <a:prstGeom prst="ellipse">
            <a:avLst/>
          </a:prstGeom>
          <a:solidFill>
            <a:schemeClr val="accent1"/>
          </a:solidFill>
          <a:ln w="3175">
            <a:solidFill>
              <a:schemeClr val="accent1"/>
            </a:solidFill>
            <a:prstDash val="solid"/>
          </a:ln>
        </p:spPr>
      </p:sp>
      <p:sp>
        <p:nvSpPr>
          <p:cNvPr id="25" name="Option B drawing: electron, shell 1"/>
          <p:cNvSpPr/>
          <p:nvPr/>
        </p:nvSpPr>
        <p:spPr>
          <a:xfrm>
            <a:off x="3434486" y="3563722"/>
            <a:ext cx="190195" cy="190195"/>
          </a:xfrm>
          <a:prstGeom prst="ellipse">
            <a:avLst/>
          </a:prstGeom>
          <a:solidFill>
            <a:schemeClr val="accent1"/>
          </a:solidFill>
          <a:ln w="3175">
            <a:solidFill>
              <a:schemeClr val="accent1"/>
            </a:solidFill>
            <a:prstDash val="solid"/>
          </a:ln>
        </p:spPr>
      </p:sp>
      <p:sp>
        <p:nvSpPr>
          <p:cNvPr id="26" name="Option B drawing: electron, shell 1"/>
          <p:cNvSpPr/>
          <p:nvPr/>
        </p:nvSpPr>
        <p:spPr>
          <a:xfrm>
            <a:off x="2618415" y="2854865"/>
            <a:ext cx="190195" cy="190195"/>
          </a:xfrm>
          <a:prstGeom prst="ellipse">
            <a:avLst/>
          </a:prstGeom>
          <a:solidFill>
            <a:schemeClr val="accent1"/>
          </a:solidFill>
          <a:ln w="3175">
            <a:solidFill>
              <a:schemeClr val="accent1"/>
            </a:solidFill>
            <a:prstDash val="solid"/>
          </a:ln>
        </p:spPr>
      </p:sp>
      <p:sp>
        <p:nvSpPr>
          <p:cNvPr id="27" name="Option B drawing: electron, shell 1"/>
          <p:cNvSpPr/>
          <p:nvPr/>
        </p:nvSpPr>
        <p:spPr>
          <a:xfrm>
            <a:off x="2618415" y="2624220"/>
            <a:ext cx="190195" cy="190195"/>
          </a:xfrm>
          <a:prstGeom prst="ellipse">
            <a:avLst/>
          </a:prstGeom>
          <a:solidFill>
            <a:schemeClr val="accent1"/>
          </a:solidFill>
          <a:ln w="3175">
            <a:solidFill>
              <a:schemeClr val="accent1"/>
            </a:solidFill>
            <a:prstDash val="solid"/>
          </a:ln>
        </p:spPr>
      </p:sp>
      <p:sp>
        <p:nvSpPr>
          <p:cNvPr id="28" name="Option C"/>
          <p:cNvSpPr/>
          <p:nvPr/>
        </p:nvSpPr>
        <p:spPr>
          <a:xfrm>
            <a:off x="4645152"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29" name="Text 27"/>
          <p:cNvSpPr/>
          <p:nvPr/>
        </p:nvSpPr>
        <p:spPr>
          <a:xfrm>
            <a:off x="4754880"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30" name="Option C drawing: shell 1"/>
          <p:cNvSpPr/>
          <p:nvPr/>
        </p:nvSpPr>
        <p:spPr>
          <a:xfrm>
            <a:off x="4799381" y="2010461"/>
            <a:ext cx="1648358" cy="1648358"/>
          </a:xfrm>
          <a:prstGeom prst="ellipse">
            <a:avLst/>
          </a:prstGeom>
          <a:solidFill>
            <a:schemeClr val="bg1">
              <a:alpha val="0"/>
            </a:schemeClr>
          </a:solidFill>
          <a:ln w="15875">
            <a:solidFill>
              <a:schemeClr val="bg2">
                <a:alpha val="55000"/>
              </a:schemeClr>
            </a:solidFill>
            <a:prstDash val="solid"/>
          </a:ln>
        </p:spPr>
      </p:sp>
      <p:sp>
        <p:nvSpPr>
          <p:cNvPr id="31" name="Option C drawing: nucleus"/>
          <p:cNvSpPr/>
          <p:nvPr/>
        </p:nvSpPr>
        <p:spPr>
          <a:xfrm>
            <a:off x="5354117"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2" name="Option C drawing: electron, shell 1"/>
          <p:cNvSpPr/>
          <p:nvPr/>
        </p:nvSpPr>
        <p:spPr>
          <a:xfrm>
            <a:off x="5413140" y="1923471"/>
            <a:ext cx="190195" cy="190195"/>
          </a:xfrm>
          <a:prstGeom prst="ellipse">
            <a:avLst/>
          </a:prstGeom>
          <a:solidFill>
            <a:schemeClr val="accent1"/>
          </a:solidFill>
          <a:ln w="3175">
            <a:solidFill>
              <a:schemeClr val="accent1"/>
            </a:solidFill>
            <a:prstDash val="solid"/>
          </a:ln>
        </p:spPr>
      </p:sp>
      <p:sp>
        <p:nvSpPr>
          <p:cNvPr id="33" name="Option C drawing: electron, shell 1"/>
          <p:cNvSpPr/>
          <p:nvPr/>
        </p:nvSpPr>
        <p:spPr>
          <a:xfrm>
            <a:off x="5643785" y="1923471"/>
            <a:ext cx="190195" cy="190195"/>
          </a:xfrm>
          <a:prstGeom prst="ellipse">
            <a:avLst/>
          </a:prstGeom>
          <a:solidFill>
            <a:schemeClr val="accent1"/>
          </a:solidFill>
          <a:ln w="3175">
            <a:solidFill>
              <a:schemeClr val="accent1"/>
            </a:solidFill>
            <a:prstDash val="solid"/>
          </a:ln>
        </p:spPr>
      </p:sp>
      <p:sp>
        <p:nvSpPr>
          <p:cNvPr id="34" name="Option C drawing: electron, shell 1"/>
          <p:cNvSpPr/>
          <p:nvPr/>
        </p:nvSpPr>
        <p:spPr>
          <a:xfrm>
            <a:off x="6344534" y="2624220"/>
            <a:ext cx="190195" cy="190195"/>
          </a:xfrm>
          <a:prstGeom prst="ellipse">
            <a:avLst/>
          </a:prstGeom>
          <a:solidFill>
            <a:schemeClr val="accent1"/>
          </a:solidFill>
          <a:ln w="3175">
            <a:solidFill>
              <a:schemeClr val="accent1"/>
            </a:solidFill>
            <a:prstDash val="solid"/>
          </a:ln>
        </p:spPr>
      </p:sp>
      <p:sp>
        <p:nvSpPr>
          <p:cNvPr id="35" name="Option C drawing: electron, shell 1"/>
          <p:cNvSpPr/>
          <p:nvPr/>
        </p:nvSpPr>
        <p:spPr>
          <a:xfrm>
            <a:off x="6344534" y="2854865"/>
            <a:ext cx="190195" cy="190195"/>
          </a:xfrm>
          <a:prstGeom prst="ellipse">
            <a:avLst/>
          </a:prstGeom>
          <a:solidFill>
            <a:schemeClr val="accent1"/>
          </a:solidFill>
          <a:ln w="3175">
            <a:solidFill>
              <a:schemeClr val="accent1"/>
            </a:solidFill>
            <a:prstDash val="solid"/>
          </a:ln>
        </p:spPr>
      </p:sp>
      <p:sp>
        <p:nvSpPr>
          <p:cNvPr id="36" name="Option C drawing: electron, shell 1"/>
          <p:cNvSpPr/>
          <p:nvPr/>
        </p:nvSpPr>
        <p:spPr>
          <a:xfrm>
            <a:off x="5528462" y="3563722"/>
            <a:ext cx="190195" cy="190195"/>
          </a:xfrm>
          <a:prstGeom prst="ellipse">
            <a:avLst/>
          </a:prstGeom>
          <a:solidFill>
            <a:schemeClr val="accent1"/>
          </a:solidFill>
          <a:ln w="3175">
            <a:solidFill>
              <a:schemeClr val="accent1"/>
            </a:solidFill>
            <a:prstDash val="solid"/>
          </a:ln>
        </p:spPr>
      </p:sp>
      <p:sp>
        <p:nvSpPr>
          <p:cNvPr id="37" name="Option C drawing: electron, shell 1"/>
          <p:cNvSpPr/>
          <p:nvPr/>
        </p:nvSpPr>
        <p:spPr>
          <a:xfrm>
            <a:off x="4704283" y="2739542"/>
            <a:ext cx="190195" cy="190195"/>
          </a:xfrm>
          <a:prstGeom prst="ellipse">
            <a:avLst/>
          </a:prstGeom>
          <a:solidFill>
            <a:schemeClr val="accent1"/>
          </a:solidFill>
          <a:ln w="3175">
            <a:solidFill>
              <a:schemeClr val="accent1"/>
            </a:solidFill>
            <a:prstDash val="solid"/>
          </a:ln>
        </p:spPr>
      </p:sp>
      <p:sp>
        <p:nvSpPr>
          <p:cNvPr id="38" name="Option D"/>
          <p:cNvSpPr/>
          <p:nvPr/>
        </p:nvSpPr>
        <p:spPr>
          <a:xfrm>
            <a:off x="6739128"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39" name="Text 37"/>
          <p:cNvSpPr/>
          <p:nvPr/>
        </p:nvSpPr>
        <p:spPr>
          <a:xfrm>
            <a:off x="6848856"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40" name="Option D drawing: shell 1"/>
          <p:cNvSpPr/>
          <p:nvPr/>
        </p:nvSpPr>
        <p:spPr>
          <a:xfrm>
            <a:off x="6893357" y="2010461"/>
            <a:ext cx="1648358" cy="1648358"/>
          </a:xfrm>
          <a:prstGeom prst="ellipse">
            <a:avLst/>
          </a:prstGeom>
          <a:solidFill>
            <a:schemeClr val="bg1">
              <a:alpha val="0"/>
            </a:schemeClr>
          </a:solidFill>
          <a:ln w="15875">
            <a:solidFill>
              <a:schemeClr val="bg2">
                <a:alpha val="55000"/>
              </a:schemeClr>
            </a:solidFill>
            <a:prstDash val="solid"/>
          </a:ln>
        </p:spPr>
      </p:sp>
      <p:sp>
        <p:nvSpPr>
          <p:cNvPr id="41" name="Option D drawing: nucleus"/>
          <p:cNvSpPr/>
          <p:nvPr/>
        </p:nvSpPr>
        <p:spPr>
          <a:xfrm>
            <a:off x="7448093"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2" name="Option D drawing: electron, shell 1"/>
          <p:cNvSpPr/>
          <p:nvPr/>
        </p:nvSpPr>
        <p:spPr>
          <a:xfrm>
            <a:off x="7507116" y="1923471"/>
            <a:ext cx="190195" cy="190195"/>
          </a:xfrm>
          <a:prstGeom prst="ellipse">
            <a:avLst/>
          </a:prstGeom>
          <a:solidFill>
            <a:schemeClr val="accent1"/>
          </a:solidFill>
          <a:ln w="3175">
            <a:solidFill>
              <a:schemeClr val="accent1"/>
            </a:solidFill>
            <a:prstDash val="solid"/>
          </a:ln>
        </p:spPr>
      </p:sp>
      <p:sp>
        <p:nvSpPr>
          <p:cNvPr id="43" name="Option D drawing: electron, shell 1"/>
          <p:cNvSpPr/>
          <p:nvPr/>
        </p:nvSpPr>
        <p:spPr>
          <a:xfrm>
            <a:off x="7737761" y="1923471"/>
            <a:ext cx="190195" cy="190195"/>
          </a:xfrm>
          <a:prstGeom prst="ellipse">
            <a:avLst/>
          </a:prstGeom>
          <a:solidFill>
            <a:schemeClr val="accent1"/>
          </a:solidFill>
          <a:ln w="3175">
            <a:solidFill>
              <a:schemeClr val="accent1"/>
            </a:solidFill>
            <a:prstDash val="solid"/>
          </a:ln>
        </p:spPr>
      </p:sp>
      <p:sp>
        <p:nvSpPr>
          <p:cNvPr id="44" name="Option D drawing: electron, shell 1"/>
          <p:cNvSpPr/>
          <p:nvPr/>
        </p:nvSpPr>
        <p:spPr>
          <a:xfrm>
            <a:off x="8446618" y="2739542"/>
            <a:ext cx="190195" cy="190195"/>
          </a:xfrm>
          <a:prstGeom prst="ellipse">
            <a:avLst/>
          </a:prstGeom>
          <a:solidFill>
            <a:schemeClr val="accent1"/>
          </a:solidFill>
          <a:ln w="3175">
            <a:solidFill>
              <a:schemeClr val="accent1"/>
            </a:solidFill>
            <a:prstDash val="solid"/>
          </a:ln>
        </p:spPr>
      </p:sp>
      <p:sp>
        <p:nvSpPr>
          <p:cNvPr id="45" name="Option D drawing: electron, shell 1"/>
          <p:cNvSpPr/>
          <p:nvPr/>
        </p:nvSpPr>
        <p:spPr>
          <a:xfrm>
            <a:off x="7737761" y="3555614"/>
            <a:ext cx="190195" cy="190195"/>
          </a:xfrm>
          <a:prstGeom prst="ellipse">
            <a:avLst/>
          </a:prstGeom>
          <a:solidFill>
            <a:schemeClr val="accent1"/>
          </a:solidFill>
          <a:ln w="3175">
            <a:solidFill>
              <a:schemeClr val="accent1"/>
            </a:solidFill>
            <a:prstDash val="solid"/>
          </a:ln>
        </p:spPr>
      </p:sp>
      <p:sp>
        <p:nvSpPr>
          <p:cNvPr id="46" name="Option D drawing: electron, shell 1"/>
          <p:cNvSpPr/>
          <p:nvPr/>
        </p:nvSpPr>
        <p:spPr>
          <a:xfrm>
            <a:off x="7507116" y="3555614"/>
            <a:ext cx="190195" cy="190195"/>
          </a:xfrm>
          <a:prstGeom prst="ellipse">
            <a:avLst/>
          </a:prstGeom>
          <a:solidFill>
            <a:schemeClr val="accent1"/>
          </a:solidFill>
          <a:ln w="3175">
            <a:solidFill>
              <a:schemeClr val="accent1"/>
            </a:solidFill>
            <a:prstDash val="solid"/>
          </a:ln>
        </p:spPr>
      </p:sp>
      <p:sp>
        <p:nvSpPr>
          <p:cNvPr id="47" name="Option D drawing: electron, shell 1"/>
          <p:cNvSpPr/>
          <p:nvPr/>
        </p:nvSpPr>
        <p:spPr>
          <a:xfrm>
            <a:off x="6798259" y="2739542"/>
            <a:ext cx="190195" cy="190195"/>
          </a:xfrm>
          <a:prstGeom prst="ellipse">
            <a:avLst/>
          </a:prstGeom>
          <a:solidFill>
            <a:schemeClr val="accent1"/>
          </a:solidFill>
          <a:ln w="3175">
            <a:solidFill>
              <a:schemeClr val="accent1"/>
            </a:solidFill>
            <a:prstDash val="solid"/>
          </a:ln>
        </p:spPr>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ile B"/>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B</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drawing follows the class rule for 6 electrons in one shell?</a:t>
            </a:r>
            <a:endParaRPr lang="en-US" sz="2000" dirty="0"/>
          </a:p>
        </p:txBody>
      </p:sp>
      <p:sp>
        <p:nvSpPr>
          <p:cNvPr id="9" name="Option A"/>
          <p:cNvSpPr/>
          <p:nvPr/>
        </p:nvSpPr>
        <p:spPr>
          <a:xfrm>
            <a:off x="457200"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10" name="Text 8"/>
          <p:cNvSpPr/>
          <p:nvPr/>
        </p:nvSpPr>
        <p:spPr>
          <a:xfrm>
            <a:off x="566928"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Option A drawing: shell 1"/>
          <p:cNvSpPr/>
          <p:nvPr/>
        </p:nvSpPr>
        <p:spPr>
          <a:xfrm>
            <a:off x="611429" y="2010461"/>
            <a:ext cx="1648358" cy="1648358"/>
          </a:xfrm>
          <a:prstGeom prst="ellipse">
            <a:avLst/>
          </a:prstGeom>
          <a:solidFill>
            <a:schemeClr val="bg1">
              <a:alpha val="0"/>
            </a:schemeClr>
          </a:solidFill>
          <a:ln w="15875">
            <a:solidFill>
              <a:schemeClr val="bg2">
                <a:alpha val="55000"/>
              </a:schemeClr>
            </a:solidFill>
            <a:prstDash val="solid"/>
          </a:ln>
        </p:spPr>
      </p:sp>
      <p:sp>
        <p:nvSpPr>
          <p:cNvPr id="12" name="Option A drawing: nucleus"/>
          <p:cNvSpPr/>
          <p:nvPr/>
        </p:nvSpPr>
        <p:spPr>
          <a:xfrm>
            <a:off x="1166165"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13" name="Option A drawing: electron, shell 1"/>
          <p:cNvSpPr/>
          <p:nvPr/>
        </p:nvSpPr>
        <p:spPr>
          <a:xfrm>
            <a:off x="1225188" y="1923471"/>
            <a:ext cx="190195" cy="190195"/>
          </a:xfrm>
          <a:prstGeom prst="ellipse">
            <a:avLst/>
          </a:prstGeom>
          <a:solidFill>
            <a:schemeClr val="accent1"/>
          </a:solidFill>
          <a:ln w="3175">
            <a:solidFill>
              <a:schemeClr val="accent1"/>
            </a:solidFill>
            <a:prstDash val="solid"/>
          </a:ln>
        </p:spPr>
      </p:sp>
      <p:sp>
        <p:nvSpPr>
          <p:cNvPr id="14" name="Option A drawing: electron, shell 1"/>
          <p:cNvSpPr/>
          <p:nvPr/>
        </p:nvSpPr>
        <p:spPr>
          <a:xfrm>
            <a:off x="1455833" y="1923471"/>
            <a:ext cx="190195" cy="190195"/>
          </a:xfrm>
          <a:prstGeom prst="ellipse">
            <a:avLst/>
          </a:prstGeom>
          <a:solidFill>
            <a:schemeClr val="accent1"/>
          </a:solidFill>
          <a:ln w="3175">
            <a:solidFill>
              <a:schemeClr val="accent1"/>
            </a:solidFill>
            <a:prstDash val="solid"/>
          </a:ln>
        </p:spPr>
      </p:sp>
      <p:sp>
        <p:nvSpPr>
          <p:cNvPr id="15" name="Option A drawing: electron, shell 1"/>
          <p:cNvSpPr/>
          <p:nvPr/>
        </p:nvSpPr>
        <p:spPr>
          <a:xfrm>
            <a:off x="2156582" y="2624220"/>
            <a:ext cx="190195" cy="190195"/>
          </a:xfrm>
          <a:prstGeom prst="ellipse">
            <a:avLst/>
          </a:prstGeom>
          <a:solidFill>
            <a:schemeClr val="accent1"/>
          </a:solidFill>
          <a:ln w="3175">
            <a:solidFill>
              <a:schemeClr val="accent1"/>
            </a:solidFill>
            <a:prstDash val="solid"/>
          </a:ln>
        </p:spPr>
      </p:sp>
      <p:sp>
        <p:nvSpPr>
          <p:cNvPr id="16" name="Option A drawing: electron, shell 1"/>
          <p:cNvSpPr/>
          <p:nvPr/>
        </p:nvSpPr>
        <p:spPr>
          <a:xfrm>
            <a:off x="2156582" y="2854865"/>
            <a:ext cx="190195" cy="190195"/>
          </a:xfrm>
          <a:prstGeom prst="ellipse">
            <a:avLst/>
          </a:prstGeom>
          <a:solidFill>
            <a:schemeClr val="accent1"/>
          </a:solidFill>
          <a:ln w="3175">
            <a:solidFill>
              <a:schemeClr val="accent1"/>
            </a:solidFill>
            <a:prstDash val="solid"/>
          </a:ln>
        </p:spPr>
      </p:sp>
      <p:sp>
        <p:nvSpPr>
          <p:cNvPr id="17" name="Option A drawing: electron, shell 1"/>
          <p:cNvSpPr/>
          <p:nvPr/>
        </p:nvSpPr>
        <p:spPr>
          <a:xfrm>
            <a:off x="1455833" y="3555614"/>
            <a:ext cx="190195" cy="190195"/>
          </a:xfrm>
          <a:prstGeom prst="ellipse">
            <a:avLst/>
          </a:prstGeom>
          <a:solidFill>
            <a:schemeClr val="accent1"/>
          </a:solidFill>
          <a:ln w="3175">
            <a:solidFill>
              <a:schemeClr val="accent1"/>
            </a:solidFill>
            <a:prstDash val="solid"/>
          </a:ln>
        </p:spPr>
      </p:sp>
      <p:sp>
        <p:nvSpPr>
          <p:cNvPr id="18" name="Option A drawing: electron, shell 1"/>
          <p:cNvSpPr/>
          <p:nvPr/>
        </p:nvSpPr>
        <p:spPr>
          <a:xfrm>
            <a:off x="1225188" y="3555614"/>
            <a:ext cx="190195" cy="190195"/>
          </a:xfrm>
          <a:prstGeom prst="ellipse">
            <a:avLst/>
          </a:prstGeom>
          <a:solidFill>
            <a:schemeClr val="accent1"/>
          </a:solidFill>
          <a:ln w="3175">
            <a:solidFill>
              <a:schemeClr val="accent1"/>
            </a:solidFill>
            <a:prstDash val="solid"/>
          </a:ln>
        </p:spPr>
      </p:sp>
      <p:sp>
        <p:nvSpPr>
          <p:cNvPr id="19" name="Option B"/>
          <p:cNvSpPr/>
          <p:nvPr/>
        </p:nvSpPr>
        <p:spPr>
          <a:xfrm>
            <a:off x="2551176"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20" name="Text 18"/>
          <p:cNvSpPr/>
          <p:nvPr/>
        </p:nvSpPr>
        <p:spPr>
          <a:xfrm>
            <a:off x="2660904"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21" name="Option B drawing: shell 1"/>
          <p:cNvSpPr/>
          <p:nvPr/>
        </p:nvSpPr>
        <p:spPr>
          <a:xfrm>
            <a:off x="2705405" y="2010461"/>
            <a:ext cx="1648358" cy="1648358"/>
          </a:xfrm>
          <a:prstGeom prst="ellipse">
            <a:avLst/>
          </a:prstGeom>
          <a:solidFill>
            <a:schemeClr val="bg1">
              <a:alpha val="0"/>
            </a:schemeClr>
          </a:solidFill>
          <a:ln w="15875">
            <a:solidFill>
              <a:schemeClr val="bg2">
                <a:alpha val="55000"/>
              </a:schemeClr>
            </a:solidFill>
            <a:prstDash val="solid"/>
          </a:ln>
        </p:spPr>
      </p:sp>
      <p:sp>
        <p:nvSpPr>
          <p:cNvPr id="22" name="Option B drawing: nucleus"/>
          <p:cNvSpPr/>
          <p:nvPr/>
        </p:nvSpPr>
        <p:spPr>
          <a:xfrm>
            <a:off x="3260141"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3" name="Option B drawing: electron, shell 1"/>
          <p:cNvSpPr/>
          <p:nvPr/>
        </p:nvSpPr>
        <p:spPr>
          <a:xfrm>
            <a:off x="3434486" y="1915363"/>
            <a:ext cx="190195" cy="190195"/>
          </a:xfrm>
          <a:prstGeom prst="ellipse">
            <a:avLst/>
          </a:prstGeom>
          <a:solidFill>
            <a:schemeClr val="accent1"/>
          </a:solidFill>
          <a:ln w="3175">
            <a:solidFill>
              <a:schemeClr val="accent1"/>
            </a:solidFill>
            <a:prstDash val="solid"/>
          </a:ln>
        </p:spPr>
      </p:sp>
      <p:sp>
        <p:nvSpPr>
          <p:cNvPr id="24" name="Option B drawing: electron, shell 1"/>
          <p:cNvSpPr/>
          <p:nvPr/>
        </p:nvSpPr>
        <p:spPr>
          <a:xfrm>
            <a:off x="4250558" y="2624220"/>
            <a:ext cx="190195" cy="190195"/>
          </a:xfrm>
          <a:prstGeom prst="ellipse">
            <a:avLst/>
          </a:prstGeom>
          <a:solidFill>
            <a:schemeClr val="accent1"/>
          </a:solidFill>
          <a:ln w="3175">
            <a:solidFill>
              <a:schemeClr val="accent1"/>
            </a:solidFill>
            <a:prstDash val="solid"/>
          </a:ln>
        </p:spPr>
      </p:sp>
      <p:sp>
        <p:nvSpPr>
          <p:cNvPr id="25" name="Option B drawing: electron, shell 1"/>
          <p:cNvSpPr/>
          <p:nvPr/>
        </p:nvSpPr>
        <p:spPr>
          <a:xfrm>
            <a:off x="4250558" y="2854865"/>
            <a:ext cx="190195" cy="190195"/>
          </a:xfrm>
          <a:prstGeom prst="ellipse">
            <a:avLst/>
          </a:prstGeom>
          <a:solidFill>
            <a:schemeClr val="accent1"/>
          </a:solidFill>
          <a:ln w="3175">
            <a:solidFill>
              <a:schemeClr val="accent1"/>
            </a:solidFill>
            <a:prstDash val="solid"/>
          </a:ln>
        </p:spPr>
      </p:sp>
      <p:sp>
        <p:nvSpPr>
          <p:cNvPr id="26" name="Option B drawing: electron, shell 1"/>
          <p:cNvSpPr/>
          <p:nvPr/>
        </p:nvSpPr>
        <p:spPr>
          <a:xfrm>
            <a:off x="3434486" y="3563722"/>
            <a:ext cx="190195" cy="190195"/>
          </a:xfrm>
          <a:prstGeom prst="ellipse">
            <a:avLst/>
          </a:prstGeom>
          <a:solidFill>
            <a:schemeClr val="accent1"/>
          </a:solidFill>
          <a:ln w="3175">
            <a:solidFill>
              <a:schemeClr val="accent1"/>
            </a:solidFill>
            <a:prstDash val="solid"/>
          </a:ln>
        </p:spPr>
      </p:sp>
      <p:sp>
        <p:nvSpPr>
          <p:cNvPr id="27" name="Option B drawing: electron, shell 1"/>
          <p:cNvSpPr/>
          <p:nvPr/>
        </p:nvSpPr>
        <p:spPr>
          <a:xfrm>
            <a:off x="2618415" y="2854865"/>
            <a:ext cx="190195" cy="190195"/>
          </a:xfrm>
          <a:prstGeom prst="ellipse">
            <a:avLst/>
          </a:prstGeom>
          <a:solidFill>
            <a:schemeClr val="accent1"/>
          </a:solidFill>
          <a:ln w="3175">
            <a:solidFill>
              <a:schemeClr val="accent1"/>
            </a:solidFill>
            <a:prstDash val="solid"/>
          </a:ln>
        </p:spPr>
      </p:sp>
      <p:sp>
        <p:nvSpPr>
          <p:cNvPr id="28" name="Option B drawing: electron, shell 1"/>
          <p:cNvSpPr/>
          <p:nvPr/>
        </p:nvSpPr>
        <p:spPr>
          <a:xfrm>
            <a:off x="2618415" y="2624220"/>
            <a:ext cx="190195" cy="190195"/>
          </a:xfrm>
          <a:prstGeom prst="ellipse">
            <a:avLst/>
          </a:prstGeom>
          <a:solidFill>
            <a:schemeClr val="accent1"/>
          </a:solidFill>
          <a:ln w="3175">
            <a:solidFill>
              <a:schemeClr val="accent1"/>
            </a:solidFill>
            <a:prstDash val="solid"/>
          </a:ln>
        </p:spPr>
      </p:sp>
      <p:sp>
        <p:nvSpPr>
          <p:cNvPr id="29" name="Option C"/>
          <p:cNvSpPr/>
          <p:nvPr/>
        </p:nvSpPr>
        <p:spPr>
          <a:xfrm>
            <a:off x="4645152" y="1600200"/>
            <a:ext cx="1956816" cy="2377440"/>
          </a:xfrm>
          <a:prstGeom prst="roundRect">
            <a:avLst>
              <a:gd name="adj" fmla="val 4673"/>
            </a:avLst>
          </a:prstGeom>
          <a:solidFill>
            <a:schemeClr val="accent4">
              <a:alpha val="18000"/>
            </a:schemeClr>
          </a:solidFill>
          <a:ln w="25400">
            <a:solidFill>
              <a:schemeClr val="accent4"/>
            </a:solidFill>
            <a:prstDash val="solid"/>
          </a:ln>
        </p:spPr>
      </p:sp>
      <p:sp>
        <p:nvSpPr>
          <p:cNvPr id="30" name="Text 28"/>
          <p:cNvSpPr/>
          <p:nvPr/>
        </p:nvSpPr>
        <p:spPr>
          <a:xfrm>
            <a:off x="4754880" y="170992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C</a:t>
            </a:r>
            <a:endParaRPr lang="en-US" sz="1300" dirty="0"/>
          </a:p>
        </p:txBody>
      </p:sp>
      <p:sp>
        <p:nvSpPr>
          <p:cNvPr id="31" name="Option C drawing: shell 1"/>
          <p:cNvSpPr/>
          <p:nvPr/>
        </p:nvSpPr>
        <p:spPr>
          <a:xfrm>
            <a:off x="4799381" y="2010461"/>
            <a:ext cx="1648358" cy="1648358"/>
          </a:xfrm>
          <a:prstGeom prst="ellipse">
            <a:avLst/>
          </a:prstGeom>
          <a:solidFill>
            <a:schemeClr val="bg1">
              <a:alpha val="0"/>
            </a:schemeClr>
          </a:solidFill>
          <a:ln w="15875">
            <a:solidFill>
              <a:schemeClr val="bg2">
                <a:alpha val="55000"/>
              </a:schemeClr>
            </a:solidFill>
            <a:prstDash val="solid"/>
          </a:ln>
        </p:spPr>
      </p:sp>
      <p:sp>
        <p:nvSpPr>
          <p:cNvPr id="32" name="Option C drawing: nucleus"/>
          <p:cNvSpPr/>
          <p:nvPr/>
        </p:nvSpPr>
        <p:spPr>
          <a:xfrm>
            <a:off x="5354117"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3" name="Option C drawing: electron, shell 1"/>
          <p:cNvSpPr/>
          <p:nvPr/>
        </p:nvSpPr>
        <p:spPr>
          <a:xfrm>
            <a:off x="5413140" y="1923471"/>
            <a:ext cx="190195" cy="190195"/>
          </a:xfrm>
          <a:prstGeom prst="ellipse">
            <a:avLst/>
          </a:prstGeom>
          <a:solidFill>
            <a:schemeClr val="accent1"/>
          </a:solidFill>
          <a:ln w="3175">
            <a:solidFill>
              <a:schemeClr val="accent1"/>
            </a:solidFill>
            <a:prstDash val="solid"/>
          </a:ln>
        </p:spPr>
      </p:sp>
      <p:sp>
        <p:nvSpPr>
          <p:cNvPr id="34" name="Option C drawing: electron, shell 1"/>
          <p:cNvSpPr/>
          <p:nvPr/>
        </p:nvSpPr>
        <p:spPr>
          <a:xfrm>
            <a:off x="5643785" y="1923471"/>
            <a:ext cx="190195" cy="190195"/>
          </a:xfrm>
          <a:prstGeom prst="ellipse">
            <a:avLst/>
          </a:prstGeom>
          <a:solidFill>
            <a:schemeClr val="accent1"/>
          </a:solidFill>
          <a:ln w="3175">
            <a:solidFill>
              <a:schemeClr val="accent1"/>
            </a:solidFill>
            <a:prstDash val="solid"/>
          </a:ln>
        </p:spPr>
      </p:sp>
      <p:sp>
        <p:nvSpPr>
          <p:cNvPr id="35" name="Option C drawing: electron, shell 1"/>
          <p:cNvSpPr/>
          <p:nvPr/>
        </p:nvSpPr>
        <p:spPr>
          <a:xfrm>
            <a:off x="6344534" y="2624220"/>
            <a:ext cx="190195" cy="190195"/>
          </a:xfrm>
          <a:prstGeom prst="ellipse">
            <a:avLst/>
          </a:prstGeom>
          <a:solidFill>
            <a:schemeClr val="accent1"/>
          </a:solidFill>
          <a:ln w="3175">
            <a:solidFill>
              <a:schemeClr val="accent1"/>
            </a:solidFill>
            <a:prstDash val="solid"/>
          </a:ln>
        </p:spPr>
      </p:sp>
      <p:sp>
        <p:nvSpPr>
          <p:cNvPr id="36" name="Option C drawing: electron, shell 1"/>
          <p:cNvSpPr/>
          <p:nvPr/>
        </p:nvSpPr>
        <p:spPr>
          <a:xfrm>
            <a:off x="6344534" y="2854865"/>
            <a:ext cx="190195" cy="190195"/>
          </a:xfrm>
          <a:prstGeom prst="ellipse">
            <a:avLst/>
          </a:prstGeom>
          <a:solidFill>
            <a:schemeClr val="accent1"/>
          </a:solidFill>
          <a:ln w="3175">
            <a:solidFill>
              <a:schemeClr val="accent1"/>
            </a:solidFill>
            <a:prstDash val="solid"/>
          </a:ln>
        </p:spPr>
      </p:sp>
      <p:sp>
        <p:nvSpPr>
          <p:cNvPr id="37" name="Option C drawing: electron, shell 1"/>
          <p:cNvSpPr/>
          <p:nvPr/>
        </p:nvSpPr>
        <p:spPr>
          <a:xfrm>
            <a:off x="5528462" y="3563722"/>
            <a:ext cx="190195" cy="190195"/>
          </a:xfrm>
          <a:prstGeom prst="ellipse">
            <a:avLst/>
          </a:prstGeom>
          <a:solidFill>
            <a:schemeClr val="accent1"/>
          </a:solidFill>
          <a:ln w="3175">
            <a:solidFill>
              <a:schemeClr val="accent1"/>
            </a:solidFill>
            <a:prstDash val="solid"/>
          </a:ln>
        </p:spPr>
      </p:sp>
      <p:sp>
        <p:nvSpPr>
          <p:cNvPr id="38" name="Option C drawing: electron, shell 1"/>
          <p:cNvSpPr/>
          <p:nvPr/>
        </p:nvSpPr>
        <p:spPr>
          <a:xfrm>
            <a:off x="4704283" y="2739542"/>
            <a:ext cx="190195" cy="190195"/>
          </a:xfrm>
          <a:prstGeom prst="ellipse">
            <a:avLst/>
          </a:prstGeom>
          <a:solidFill>
            <a:schemeClr val="accent1"/>
          </a:solidFill>
          <a:ln w="3175">
            <a:solidFill>
              <a:schemeClr val="accent1"/>
            </a:solidFill>
            <a:prstDash val="solid"/>
          </a:ln>
        </p:spPr>
      </p:sp>
      <p:sp>
        <p:nvSpPr>
          <p:cNvPr id="39" name="Option D"/>
          <p:cNvSpPr/>
          <p:nvPr/>
        </p:nvSpPr>
        <p:spPr>
          <a:xfrm>
            <a:off x="6739128" y="1600200"/>
            <a:ext cx="1956816" cy="2377440"/>
          </a:xfrm>
          <a:prstGeom prst="roundRect">
            <a:avLst>
              <a:gd name="adj" fmla="val 4673"/>
            </a:avLst>
          </a:prstGeom>
          <a:solidFill>
            <a:schemeClr val="tx2"/>
          </a:solidFill>
          <a:ln w="9525">
            <a:solidFill>
              <a:schemeClr val="bg2">
                <a:alpha val="35000"/>
              </a:schemeClr>
            </a:solidFill>
            <a:prstDash val="solid"/>
          </a:ln>
        </p:spPr>
      </p:sp>
      <p:sp>
        <p:nvSpPr>
          <p:cNvPr id="40" name="Text 38"/>
          <p:cNvSpPr/>
          <p:nvPr/>
        </p:nvSpPr>
        <p:spPr>
          <a:xfrm>
            <a:off x="6848856" y="170992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41" name="Option D drawing: shell 1"/>
          <p:cNvSpPr/>
          <p:nvPr/>
        </p:nvSpPr>
        <p:spPr>
          <a:xfrm>
            <a:off x="6893357" y="2010461"/>
            <a:ext cx="1648358" cy="1648358"/>
          </a:xfrm>
          <a:prstGeom prst="ellipse">
            <a:avLst/>
          </a:prstGeom>
          <a:solidFill>
            <a:schemeClr val="bg1">
              <a:alpha val="0"/>
            </a:schemeClr>
          </a:solidFill>
          <a:ln w="15875">
            <a:solidFill>
              <a:schemeClr val="bg2">
                <a:alpha val="55000"/>
              </a:schemeClr>
            </a:solidFill>
            <a:prstDash val="solid"/>
          </a:ln>
        </p:spPr>
      </p:sp>
      <p:sp>
        <p:nvSpPr>
          <p:cNvPr id="42" name="Option D drawing: nucleus"/>
          <p:cNvSpPr/>
          <p:nvPr/>
        </p:nvSpPr>
        <p:spPr>
          <a:xfrm>
            <a:off x="7448093" y="2565197"/>
            <a:ext cx="538886" cy="53888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43" name="Option D drawing: electron, shell 1"/>
          <p:cNvSpPr/>
          <p:nvPr/>
        </p:nvSpPr>
        <p:spPr>
          <a:xfrm>
            <a:off x="7507116" y="1923471"/>
            <a:ext cx="190195" cy="190195"/>
          </a:xfrm>
          <a:prstGeom prst="ellipse">
            <a:avLst/>
          </a:prstGeom>
          <a:solidFill>
            <a:schemeClr val="accent1"/>
          </a:solidFill>
          <a:ln w="3175">
            <a:solidFill>
              <a:schemeClr val="accent1"/>
            </a:solidFill>
            <a:prstDash val="solid"/>
          </a:ln>
        </p:spPr>
      </p:sp>
      <p:sp>
        <p:nvSpPr>
          <p:cNvPr id="44" name="Option D drawing: electron, shell 1"/>
          <p:cNvSpPr/>
          <p:nvPr/>
        </p:nvSpPr>
        <p:spPr>
          <a:xfrm>
            <a:off x="7737761" y="1923471"/>
            <a:ext cx="190195" cy="190195"/>
          </a:xfrm>
          <a:prstGeom prst="ellipse">
            <a:avLst/>
          </a:prstGeom>
          <a:solidFill>
            <a:schemeClr val="accent1"/>
          </a:solidFill>
          <a:ln w="3175">
            <a:solidFill>
              <a:schemeClr val="accent1"/>
            </a:solidFill>
            <a:prstDash val="solid"/>
          </a:ln>
        </p:spPr>
      </p:sp>
      <p:sp>
        <p:nvSpPr>
          <p:cNvPr id="45" name="Option D drawing: electron, shell 1"/>
          <p:cNvSpPr/>
          <p:nvPr/>
        </p:nvSpPr>
        <p:spPr>
          <a:xfrm>
            <a:off x="8446618" y="2739542"/>
            <a:ext cx="190195" cy="190195"/>
          </a:xfrm>
          <a:prstGeom prst="ellipse">
            <a:avLst/>
          </a:prstGeom>
          <a:solidFill>
            <a:schemeClr val="accent1"/>
          </a:solidFill>
          <a:ln w="3175">
            <a:solidFill>
              <a:schemeClr val="accent1"/>
            </a:solidFill>
            <a:prstDash val="solid"/>
          </a:ln>
        </p:spPr>
      </p:sp>
      <p:sp>
        <p:nvSpPr>
          <p:cNvPr id="46" name="Option D drawing: electron, shell 1"/>
          <p:cNvSpPr/>
          <p:nvPr/>
        </p:nvSpPr>
        <p:spPr>
          <a:xfrm>
            <a:off x="7737761" y="3555614"/>
            <a:ext cx="190195" cy="190195"/>
          </a:xfrm>
          <a:prstGeom prst="ellipse">
            <a:avLst/>
          </a:prstGeom>
          <a:solidFill>
            <a:schemeClr val="accent1"/>
          </a:solidFill>
          <a:ln w="3175">
            <a:solidFill>
              <a:schemeClr val="accent1"/>
            </a:solidFill>
            <a:prstDash val="solid"/>
          </a:ln>
        </p:spPr>
      </p:sp>
      <p:sp>
        <p:nvSpPr>
          <p:cNvPr id="47" name="Option D drawing: electron, shell 1"/>
          <p:cNvSpPr/>
          <p:nvPr/>
        </p:nvSpPr>
        <p:spPr>
          <a:xfrm>
            <a:off x="7507116" y="3555614"/>
            <a:ext cx="190195" cy="190195"/>
          </a:xfrm>
          <a:prstGeom prst="ellipse">
            <a:avLst/>
          </a:prstGeom>
          <a:solidFill>
            <a:schemeClr val="accent1"/>
          </a:solidFill>
          <a:ln w="3175">
            <a:solidFill>
              <a:schemeClr val="accent1"/>
            </a:solidFill>
            <a:prstDash val="solid"/>
          </a:ln>
        </p:spPr>
      </p:sp>
      <p:sp>
        <p:nvSpPr>
          <p:cNvPr id="48" name="Option D drawing: electron, shell 1"/>
          <p:cNvSpPr/>
          <p:nvPr/>
        </p:nvSpPr>
        <p:spPr>
          <a:xfrm>
            <a:off x="6798259" y="2739542"/>
            <a:ext cx="190195" cy="190195"/>
          </a:xfrm>
          <a:prstGeom prst="ellipse">
            <a:avLst/>
          </a:prstGeom>
          <a:solidFill>
            <a:schemeClr val="accent1"/>
          </a:solidFill>
          <a:ln w="3175">
            <a:solidFill>
              <a:schemeClr val="accent1"/>
            </a:solidFill>
            <a:prstDash val="solid"/>
          </a:ln>
        </p:spPr>
      </p:sp>
      <p:sp>
        <p:nvSpPr>
          <p:cNvPr id="49"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50" name="Text 48"/>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Electrons 1 to 4 go top, right, bottom, left. Electron 5 pairs on top and electron 6 pairs on the right.</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ile C"/>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6 of 9 · about 13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Build a complete Bohr model</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What a complete model needs</a:t>
            </a:r>
            <a:endParaRPr lang="en-US" sz="1400" dirty="0"/>
          </a:p>
        </p:txBody>
      </p:sp>
      <p:sp>
        <p:nvSpPr>
          <p:cNvPr id="11" name="Text 9"/>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Bohr model builder</a:t>
            </a:r>
            <a:endParaRPr lang="en-US" sz="1400" dirty="0"/>
          </a:p>
        </p:txBody>
      </p:sp>
      <p:sp>
        <p:nvSpPr>
          <p:cNvPr id="13" name="Text 11"/>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4" name="Text 12"/>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Name the model</a:t>
            </a:r>
            <a:endParaRPr lang="en-US" sz="1400" dirty="0"/>
          </a:p>
        </p:txBody>
      </p:sp>
      <p:sp>
        <p:nvSpPr>
          <p:cNvPr id="15"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6" name="Text 14"/>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7" name="Text 15"/>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8" name="Text 16"/>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carbon</a:t>
            </a:r>
            <a:endParaRPr lang="en-US" sz="1400" dirty="0"/>
          </a:p>
        </p:txBody>
      </p:sp>
      <p:sp>
        <p:nvSpPr>
          <p:cNvPr id="19" name="Text 17"/>
          <p:cNvSpPr/>
          <p:nvPr/>
        </p:nvSpPr>
        <p:spPr>
          <a:xfrm>
            <a:off x="4892040" y="246888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2395728"/>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sodium</a:t>
            </a:r>
            <a:endParaRPr lang="en-US" sz="1400" dirty="0"/>
          </a:p>
        </p:txBody>
      </p:sp>
      <p:sp>
        <p:nvSpPr>
          <p:cNvPr id="21" name="Text 19"/>
          <p:cNvSpPr/>
          <p:nvPr/>
        </p:nvSpPr>
        <p:spPr>
          <a:xfrm>
            <a:off x="4892040" y="287121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798064"/>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chlorine</a:t>
            </a:r>
            <a:endParaRPr lang="en-US" sz="1400" dirty="0"/>
          </a:p>
        </p:txBody>
      </p:sp>
      <p:sp>
        <p:nvSpPr>
          <p:cNvPr id="23" name="Text 21"/>
          <p:cNvSpPr/>
          <p:nvPr/>
        </p:nvSpPr>
        <p:spPr>
          <a:xfrm>
            <a:off x="4892040" y="327355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200400"/>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magnesium</a:t>
            </a:r>
            <a:endParaRPr lang="en-US" sz="1400" dirty="0"/>
          </a:p>
        </p:txBody>
      </p:sp>
      <p:sp>
        <p:nvSpPr>
          <p:cNvPr id="25" name="Text 23"/>
          <p:cNvSpPr/>
          <p:nvPr/>
        </p:nvSpPr>
        <p:spPr>
          <a:xfrm>
            <a:off x="4892040" y="367588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6" name="Text 24"/>
          <p:cNvSpPr txBox="1"/>
          <p:nvPr/>
        </p:nvSpPr>
        <p:spPr>
          <a:xfrm>
            <a:off x="5303520" y="3602736"/>
            <a:ext cx="3200400" cy="457200"/>
          </a:xfrm>
          <a:prstGeom prst="rect">
            <a:avLst/>
          </a:prstGeom>
          <a:noFill/>
          <a:ln/>
        </p:spPr>
        <p:txBody>
          <a:bodyPr wrap="square" lIns="0" tIns="0" rIns="0" bIns="0" rtlCol="0" anchor="ctr"/>
          <a:lstStyle/>
          <a:p>
            <a:pPr indent="0" marL="0">
              <a:buNone/>
            </a:pPr>
            <a:r>
              <a:rPr lang="en-US" sz="1400" dirty="0">
                <a:solidFill>
                  <a:schemeClr val="bg1"/>
                </a:solidFill>
              </a:rPr>
              <a:t>Build fluorine</a:t>
            </a:r>
            <a:endParaRPr lang="en-US" sz="1400" dirty="0"/>
          </a:p>
        </p:txBody>
      </p:sp>
      <p:sp>
        <p:nvSpPr>
          <p:cNvPr id="27" name="Text 25"/>
          <p:cNvSpPr/>
          <p:nvPr/>
        </p:nvSpPr>
        <p:spPr>
          <a:xfrm>
            <a:off x="4892040" y="407822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8" name="Text 26"/>
          <p:cNvSpPr txBox="1"/>
          <p:nvPr/>
        </p:nvSpPr>
        <p:spPr>
          <a:xfrm>
            <a:off x="5303520" y="4005072"/>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ile C"/>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What a complete model needs</a:t>
            </a:r>
            <a:endParaRPr lang="en-US" sz="2800" dirty="0"/>
          </a:p>
        </p:txBody>
      </p:sp>
      <p:sp>
        <p:nvSpPr>
          <p:cNvPr id="8" name="Text 6"/>
          <p:cNvSpPr txBox="1"/>
          <p:nvPr/>
        </p:nvSpPr>
        <p:spPr>
          <a:xfrm>
            <a:off x="457200" y="1325880"/>
            <a:ext cx="4572000" cy="36576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A complete Bohr model has four things. The builder checks each one.</a:t>
            </a:r>
            <a:endParaRPr lang="en-US" sz="1500" dirty="0"/>
          </a:p>
        </p:txBody>
      </p:sp>
      <p:sp>
        <p:nvSpPr>
          <p:cNvPr id="9" name="Text 7"/>
          <p:cNvSpPr/>
          <p:nvPr/>
        </p:nvSpPr>
        <p:spPr>
          <a:xfrm>
            <a:off x="457200" y="1984248"/>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Text 8"/>
          <p:cNvSpPr txBox="1"/>
          <p:nvPr/>
        </p:nvSpPr>
        <p:spPr>
          <a:xfrm>
            <a:off x="987552" y="1938528"/>
            <a:ext cx="3931920" cy="512064"/>
          </a:xfrm>
          <a:prstGeom prst="rect">
            <a:avLst/>
          </a:prstGeom>
          <a:noFill/>
          <a:ln/>
        </p:spPr>
        <p:txBody>
          <a:bodyPr wrap="square" lIns="0" tIns="0" rIns="0" bIns="0" rtlCol="0" anchor="ctr"/>
          <a:lstStyle/>
          <a:p>
            <a:pPr indent="0" marL="0">
              <a:buNone/>
            </a:pPr>
            <a:r>
              <a:rPr lang="en-US" sz="1400" dirty="0">
                <a:solidFill>
                  <a:schemeClr val="bg1"/>
                </a:solidFill>
              </a:rPr>
              <a:t>A nucleus labeled with the number of protons (p⁺) and neutrons (n⁰).</a:t>
            </a:r>
            <a:endParaRPr lang="en-US" sz="1400" dirty="0"/>
          </a:p>
        </p:txBody>
      </p:sp>
      <p:sp>
        <p:nvSpPr>
          <p:cNvPr id="11" name="Text 9"/>
          <p:cNvSpPr/>
          <p:nvPr/>
        </p:nvSpPr>
        <p:spPr>
          <a:xfrm>
            <a:off x="457200" y="2587752"/>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10"/>
          <p:cNvSpPr txBox="1"/>
          <p:nvPr/>
        </p:nvSpPr>
        <p:spPr>
          <a:xfrm>
            <a:off x="987552" y="2542032"/>
            <a:ext cx="3931920" cy="512064"/>
          </a:xfrm>
          <a:prstGeom prst="rect">
            <a:avLst/>
          </a:prstGeom>
          <a:noFill/>
          <a:ln/>
        </p:spPr>
        <p:txBody>
          <a:bodyPr wrap="square" lIns="0" tIns="0" rIns="0" bIns="0" rtlCol="0" anchor="ctr"/>
          <a:lstStyle/>
          <a:p>
            <a:pPr indent="0" marL="0">
              <a:buNone/>
            </a:pPr>
            <a:r>
              <a:rPr lang="en-US" sz="1400" dirty="0">
                <a:solidFill>
                  <a:schemeClr val="bg1"/>
                </a:solidFill>
              </a:rPr>
              <a:t>The right number of shells.</a:t>
            </a:r>
            <a:endParaRPr lang="en-US" sz="1400" dirty="0"/>
          </a:p>
        </p:txBody>
      </p:sp>
      <p:sp>
        <p:nvSpPr>
          <p:cNvPr id="13" name="Text 11"/>
          <p:cNvSpPr/>
          <p:nvPr/>
        </p:nvSpPr>
        <p:spPr>
          <a:xfrm>
            <a:off x="457200" y="3191256"/>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Text 12"/>
          <p:cNvSpPr txBox="1"/>
          <p:nvPr/>
        </p:nvSpPr>
        <p:spPr>
          <a:xfrm>
            <a:off x="987552" y="3145536"/>
            <a:ext cx="3931920" cy="512064"/>
          </a:xfrm>
          <a:prstGeom prst="rect">
            <a:avLst/>
          </a:prstGeom>
          <a:noFill/>
          <a:ln/>
        </p:spPr>
        <p:txBody>
          <a:bodyPr wrap="square" lIns="0" tIns="0" rIns="0" bIns="0" rtlCol="0" anchor="ctr"/>
          <a:lstStyle/>
          <a:p>
            <a:pPr indent="0" marL="0">
              <a:buNone/>
            </a:pPr>
            <a:r>
              <a:rPr lang="en-US" sz="1400" dirty="0">
                <a:solidFill>
                  <a:schemeClr val="bg1"/>
                </a:solidFill>
              </a:rPr>
              <a:t>The right number of electrons in each shell.</a:t>
            </a:r>
            <a:endParaRPr lang="en-US" sz="1400" dirty="0"/>
          </a:p>
        </p:txBody>
      </p:sp>
      <p:sp>
        <p:nvSpPr>
          <p:cNvPr id="15" name="Text 13"/>
          <p:cNvSpPr/>
          <p:nvPr/>
        </p:nvSpPr>
        <p:spPr>
          <a:xfrm>
            <a:off x="457200" y="3794760"/>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6" name="Text 14"/>
          <p:cNvSpPr txBox="1"/>
          <p:nvPr/>
        </p:nvSpPr>
        <p:spPr>
          <a:xfrm>
            <a:off x="987552" y="3749040"/>
            <a:ext cx="3931920" cy="512064"/>
          </a:xfrm>
          <a:prstGeom prst="rect">
            <a:avLst/>
          </a:prstGeom>
          <a:noFill/>
          <a:ln/>
        </p:spPr>
        <p:txBody>
          <a:bodyPr wrap="square" lIns="0" tIns="0" rIns="0" bIns="0" rtlCol="0" anchor="ctr"/>
          <a:lstStyle/>
          <a:p>
            <a:pPr indent="0" marL="0">
              <a:buNone/>
            </a:pPr>
            <a:r>
              <a:rPr lang="en-US" sz="1400" dirty="0">
                <a:solidFill>
                  <a:schemeClr val="bg1"/>
                </a:solidFill>
              </a:rPr>
              <a:t>Electrons placed with the class rule: top, right, bottom, left, then pair up.</a:t>
            </a:r>
            <a:endParaRPr lang="en-US" sz="1400" dirty="0"/>
          </a:p>
        </p:txBody>
      </p:sp>
      <p:sp>
        <p:nvSpPr>
          <p:cNvPr id="17" name="Nitrogen: shell 1"/>
          <p:cNvSpPr/>
          <p:nvPr/>
        </p:nvSpPr>
        <p:spPr>
          <a:xfrm>
            <a:off x="6347765" y="2141525"/>
            <a:ext cx="1111910" cy="1111910"/>
          </a:xfrm>
          <a:prstGeom prst="ellipse">
            <a:avLst/>
          </a:prstGeom>
          <a:solidFill>
            <a:schemeClr val="bg1">
              <a:alpha val="0"/>
            </a:schemeClr>
          </a:solidFill>
          <a:ln w="15875">
            <a:solidFill>
              <a:schemeClr val="bg2">
                <a:alpha val="55000"/>
              </a:schemeClr>
            </a:solidFill>
            <a:prstDash val="solid"/>
          </a:ln>
        </p:spPr>
      </p:sp>
      <p:sp>
        <p:nvSpPr>
          <p:cNvPr id="18" name="Nitrogen: shell 2"/>
          <p:cNvSpPr/>
          <p:nvPr/>
        </p:nvSpPr>
        <p:spPr>
          <a:xfrm>
            <a:off x="6000293" y="1794053"/>
            <a:ext cx="1806854" cy="1806854"/>
          </a:xfrm>
          <a:prstGeom prst="ellipse">
            <a:avLst/>
          </a:prstGeom>
          <a:solidFill>
            <a:schemeClr val="bg1">
              <a:alpha val="0"/>
            </a:schemeClr>
          </a:solidFill>
          <a:ln w="15875">
            <a:solidFill>
              <a:schemeClr val="bg2">
                <a:alpha val="55000"/>
              </a:schemeClr>
            </a:solidFill>
            <a:prstDash val="solid"/>
          </a:ln>
        </p:spPr>
      </p:sp>
      <p:sp>
        <p:nvSpPr>
          <p:cNvPr id="19" name="Nitrogen: nucleus"/>
          <p:cNvSpPr/>
          <p:nvPr/>
        </p:nvSpPr>
        <p:spPr>
          <a:xfrm>
            <a:off x="6544666" y="2338426"/>
            <a:ext cx="718109" cy="71810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300" b="1" dirty="0">
                <a:solidFill>
                  <a:schemeClr val="bg1"/>
                </a:solidFill>
              </a:rPr>
              <a:t>7 p</a:t>
            </a:r>
            <a:pPr algn="ctr" indent="0" marL="0">
              <a:buNone/>
            </a:pPr>
            <a:r>
              <a:rPr lang="en-US" sz="1300" b="1" baseline="30000" dirty="0">
                <a:solidFill>
                  <a:schemeClr val="bg1"/>
                </a:solidFill>
              </a:rPr>
              <a:t>+</a:t>
            </a:r>
            <a:endParaRPr lang="en-US" sz="1300" dirty="0"/>
          </a:p>
          <a:p>
            <a:pPr algn="ctr" indent="0" marL="0">
              <a:buNone/>
            </a:pPr>
            <a:r>
              <a:rPr lang="en-US" sz="1300" b="1" dirty="0">
                <a:solidFill>
                  <a:schemeClr val="bg1"/>
                </a:solidFill>
              </a:rPr>
              <a:t>7 n</a:t>
            </a:r>
            <a:pPr algn="ctr" indent="0" marL="0">
              <a:buNone/>
            </a:pPr>
            <a:r>
              <a:rPr lang="en-US" sz="1300" b="1" baseline="30000" dirty="0">
                <a:solidFill>
                  <a:schemeClr val="bg1"/>
                </a:solidFill>
              </a:rPr>
              <a:t>0</a:t>
            </a:r>
            <a:endParaRPr lang="en-US" sz="1300" dirty="0"/>
          </a:p>
        </p:txBody>
      </p:sp>
      <p:sp>
        <p:nvSpPr>
          <p:cNvPr id="20" name="Nitrogen: electron, shell 1"/>
          <p:cNvSpPr/>
          <p:nvPr/>
        </p:nvSpPr>
        <p:spPr>
          <a:xfrm>
            <a:off x="6816852" y="2054657"/>
            <a:ext cx="173736" cy="173736"/>
          </a:xfrm>
          <a:prstGeom prst="ellipse">
            <a:avLst/>
          </a:prstGeom>
          <a:solidFill>
            <a:schemeClr val="accent1"/>
          </a:solidFill>
          <a:ln w="3175">
            <a:solidFill>
              <a:schemeClr val="accent1"/>
            </a:solidFill>
            <a:prstDash val="solid"/>
          </a:ln>
        </p:spPr>
      </p:sp>
      <p:sp>
        <p:nvSpPr>
          <p:cNvPr id="21" name="Nitrogen: electron, shell 1"/>
          <p:cNvSpPr/>
          <p:nvPr/>
        </p:nvSpPr>
        <p:spPr>
          <a:xfrm>
            <a:off x="7372807" y="2610612"/>
            <a:ext cx="173736" cy="173736"/>
          </a:xfrm>
          <a:prstGeom prst="ellipse">
            <a:avLst/>
          </a:prstGeom>
          <a:solidFill>
            <a:schemeClr val="accent1"/>
          </a:solidFill>
          <a:ln w="3175">
            <a:solidFill>
              <a:schemeClr val="accent1"/>
            </a:solidFill>
            <a:prstDash val="solid"/>
          </a:ln>
        </p:spPr>
      </p:sp>
      <p:sp>
        <p:nvSpPr>
          <p:cNvPr id="22" name="Nitrogen: electron, shell 2"/>
          <p:cNvSpPr/>
          <p:nvPr/>
        </p:nvSpPr>
        <p:spPr>
          <a:xfrm>
            <a:off x="6700196" y="1714748"/>
            <a:ext cx="173736" cy="173736"/>
          </a:xfrm>
          <a:prstGeom prst="ellipse">
            <a:avLst/>
          </a:prstGeom>
          <a:solidFill>
            <a:schemeClr val="accent1"/>
          </a:solidFill>
          <a:ln w="3175">
            <a:solidFill>
              <a:schemeClr val="accent1"/>
            </a:solidFill>
            <a:prstDash val="solid"/>
          </a:ln>
        </p:spPr>
      </p:sp>
      <p:sp>
        <p:nvSpPr>
          <p:cNvPr id="23" name="Nitrogen: electron, shell 2"/>
          <p:cNvSpPr/>
          <p:nvPr/>
        </p:nvSpPr>
        <p:spPr>
          <a:xfrm>
            <a:off x="6933508" y="1714748"/>
            <a:ext cx="173736" cy="173736"/>
          </a:xfrm>
          <a:prstGeom prst="ellipse">
            <a:avLst/>
          </a:prstGeom>
          <a:solidFill>
            <a:schemeClr val="accent1"/>
          </a:solidFill>
          <a:ln w="3175">
            <a:solidFill>
              <a:schemeClr val="accent1"/>
            </a:solidFill>
            <a:prstDash val="solid"/>
          </a:ln>
        </p:spPr>
      </p:sp>
      <p:sp>
        <p:nvSpPr>
          <p:cNvPr id="24" name="Nitrogen: electron, shell 2"/>
          <p:cNvSpPr/>
          <p:nvPr/>
        </p:nvSpPr>
        <p:spPr>
          <a:xfrm>
            <a:off x="7720279" y="2610612"/>
            <a:ext cx="173736" cy="173736"/>
          </a:xfrm>
          <a:prstGeom prst="ellipse">
            <a:avLst/>
          </a:prstGeom>
          <a:solidFill>
            <a:schemeClr val="accent1"/>
          </a:solidFill>
          <a:ln w="3175">
            <a:solidFill>
              <a:schemeClr val="accent1"/>
            </a:solidFill>
            <a:prstDash val="solid"/>
          </a:ln>
        </p:spPr>
      </p:sp>
      <p:sp>
        <p:nvSpPr>
          <p:cNvPr id="25" name="Nitrogen: electron, shell 2"/>
          <p:cNvSpPr/>
          <p:nvPr/>
        </p:nvSpPr>
        <p:spPr>
          <a:xfrm>
            <a:off x="6816852" y="3514039"/>
            <a:ext cx="173736" cy="173736"/>
          </a:xfrm>
          <a:prstGeom prst="ellipse">
            <a:avLst/>
          </a:prstGeom>
          <a:solidFill>
            <a:schemeClr val="accent1"/>
          </a:solidFill>
          <a:ln w="3175">
            <a:solidFill>
              <a:schemeClr val="accent1"/>
            </a:solidFill>
            <a:prstDash val="solid"/>
          </a:ln>
        </p:spPr>
      </p:sp>
      <p:sp>
        <p:nvSpPr>
          <p:cNvPr id="26" name="Nitrogen: electron, shell 2"/>
          <p:cNvSpPr/>
          <p:nvPr/>
        </p:nvSpPr>
        <p:spPr>
          <a:xfrm>
            <a:off x="5913425" y="2610612"/>
            <a:ext cx="173736" cy="173736"/>
          </a:xfrm>
          <a:prstGeom prst="ellipse">
            <a:avLst/>
          </a:prstGeom>
          <a:solidFill>
            <a:schemeClr val="accent1"/>
          </a:solidFill>
          <a:ln w="3175">
            <a:solidFill>
              <a:schemeClr val="accent1"/>
            </a:solidFill>
            <a:prstDash val="solid"/>
          </a:ln>
        </p:spPr>
      </p:sp>
      <p:sp>
        <p:nvSpPr>
          <p:cNvPr id="27" name="Text 25"/>
          <p:cNvSpPr txBox="1"/>
          <p:nvPr/>
        </p:nvSpPr>
        <p:spPr>
          <a:xfrm>
            <a:off x="5120640" y="4297680"/>
            <a:ext cx="3566160" cy="274320"/>
          </a:xfrm>
          <a:prstGeom prst="rect">
            <a:avLst/>
          </a:prstGeom>
          <a:noFill/>
          <a:ln/>
        </p:spPr>
        <p:txBody>
          <a:bodyPr wrap="square" lIns="0" tIns="0" rIns="0" bIns="0" rtlCol="0" anchor="t"/>
          <a:lstStyle/>
          <a:p>
            <a:pPr algn="ctr" indent="0" marL="0">
              <a:buNone/>
            </a:pPr>
            <a:r>
              <a:rPr lang="en-US" sz="1200" dirty="0">
                <a:solidFill>
                  <a:schemeClr val="bg2"/>
                </a:solidFill>
              </a:rPr>
              <a:t>Nitrogen: 7 p⁺ and 7 n⁰, 2 shells, arranged 2, 5</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ile C"/>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Bohr model builder</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Build each element. Use the periodic table tile for the numbers you need.</a:t>
            </a:r>
            <a:endParaRPr lang="en-US" sz="1300" dirty="0"/>
          </a:p>
        </p:txBody>
      </p:sp>
      <p:sp>
        <p:nvSpPr>
          <p:cNvPr id="9" name="Build Carbon"/>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0" name="Tile C"/>
          <p:cNvSpPr/>
          <p:nvPr/>
        </p:nvSpPr>
        <p:spPr>
          <a:xfrm>
            <a:off x="566928" y="1819656"/>
            <a:ext cx="502920" cy="548640"/>
          </a:xfrm>
          <a:prstGeom prst="roundRect">
            <a:avLst>
              <a:gd name="adj" fmla="val 12000"/>
            </a:avLst>
          </a:prstGeom>
          <a:solidFill>
            <a:srgbClr val="45C08F">
              <a:alpha val="30000"/>
            </a:srgbClr>
          </a:solidFill>
          <a:ln w="19050">
            <a:solidFill>
              <a:srgbClr val="45C08F"/>
            </a:solidFill>
            <a:prstDash val="solid"/>
          </a:ln>
        </p:spPr>
      </p:sp>
      <p:sp>
        <p:nvSpPr>
          <p:cNvPr id="11" name="Text 9"/>
          <p:cNvSpPr txBox="1"/>
          <p:nvPr/>
        </p:nvSpPr>
        <p:spPr>
          <a:xfrm>
            <a:off x="607162"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6</a:t>
            </a:r>
            <a:endParaRPr lang="en-US" sz="800" dirty="0"/>
          </a:p>
        </p:txBody>
      </p:sp>
      <p:sp>
        <p:nvSpPr>
          <p:cNvPr id="12" name="Text 10"/>
          <p:cNvSpPr txBox="1"/>
          <p:nvPr/>
        </p:nvSpPr>
        <p:spPr>
          <a:xfrm>
            <a:off x="566928"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Text 11"/>
          <p:cNvSpPr txBox="1"/>
          <p:nvPr/>
        </p:nvSpPr>
        <p:spPr>
          <a:xfrm>
            <a:off x="1133856"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Carbon</a:t>
            </a:r>
            <a:endParaRPr lang="en-US" sz="1200" dirty="0"/>
          </a:p>
        </p:txBody>
      </p:sp>
      <p:sp>
        <p:nvSpPr>
          <p:cNvPr id="14" name="Text 12"/>
          <p:cNvSpPr txBox="1"/>
          <p:nvPr/>
        </p:nvSpPr>
        <p:spPr>
          <a:xfrm>
            <a:off x="1133856"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6, 12.011</a:t>
            </a:r>
            <a:endParaRPr lang="en-US" sz="1000" dirty="0"/>
          </a:p>
        </p:txBody>
      </p:sp>
      <p:sp>
        <p:nvSpPr>
          <p:cNvPr id="15" name="Text 13"/>
          <p:cNvSpPr txBox="1"/>
          <p:nvPr/>
        </p:nvSpPr>
        <p:spPr>
          <a:xfrm>
            <a:off x="457200"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16" name="Build Sodium"/>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7" name="Tile Na"/>
          <p:cNvSpPr/>
          <p:nvPr/>
        </p:nvSpPr>
        <p:spPr>
          <a:xfrm>
            <a:off x="2231136" y="1819656"/>
            <a:ext cx="502920" cy="548640"/>
          </a:xfrm>
          <a:prstGeom prst="roundRect">
            <a:avLst>
              <a:gd name="adj" fmla="val 12000"/>
            </a:avLst>
          </a:prstGeom>
          <a:solidFill>
            <a:srgbClr val="FF8F5E">
              <a:alpha val="30000"/>
            </a:srgbClr>
          </a:solidFill>
          <a:ln w="19050">
            <a:solidFill>
              <a:srgbClr val="FF8F5E"/>
            </a:solidFill>
            <a:prstDash val="solid"/>
          </a:ln>
        </p:spPr>
      </p:sp>
      <p:sp>
        <p:nvSpPr>
          <p:cNvPr id="18" name="Text 16"/>
          <p:cNvSpPr txBox="1"/>
          <p:nvPr/>
        </p:nvSpPr>
        <p:spPr>
          <a:xfrm>
            <a:off x="2271370"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19" name="Text 17"/>
          <p:cNvSpPr txBox="1"/>
          <p:nvPr/>
        </p:nvSpPr>
        <p:spPr>
          <a:xfrm>
            <a:off x="2231136"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20" name="Text 18"/>
          <p:cNvSpPr txBox="1"/>
          <p:nvPr/>
        </p:nvSpPr>
        <p:spPr>
          <a:xfrm>
            <a:off x="2798064"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Sodium</a:t>
            </a:r>
            <a:endParaRPr lang="en-US" sz="1200" dirty="0"/>
          </a:p>
        </p:txBody>
      </p:sp>
      <p:sp>
        <p:nvSpPr>
          <p:cNvPr id="21" name="Text 19"/>
          <p:cNvSpPr txBox="1"/>
          <p:nvPr/>
        </p:nvSpPr>
        <p:spPr>
          <a:xfrm>
            <a:off x="2798064"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11, 22.990</a:t>
            </a:r>
            <a:endParaRPr lang="en-US" sz="1000" dirty="0"/>
          </a:p>
        </p:txBody>
      </p:sp>
      <p:sp>
        <p:nvSpPr>
          <p:cNvPr id="22" name="Text 20"/>
          <p:cNvSpPr txBox="1"/>
          <p:nvPr/>
        </p:nvSpPr>
        <p:spPr>
          <a:xfrm>
            <a:off x="2121408"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3" name="Build Chlorine"/>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4" name="Tile Cl"/>
          <p:cNvSpPr/>
          <p:nvPr/>
        </p:nvSpPr>
        <p:spPr>
          <a:xfrm>
            <a:off x="3895344" y="1819656"/>
            <a:ext cx="502920" cy="548640"/>
          </a:xfrm>
          <a:prstGeom prst="roundRect">
            <a:avLst>
              <a:gd name="adj" fmla="val 12000"/>
            </a:avLst>
          </a:prstGeom>
          <a:solidFill>
            <a:srgbClr val="F477B8">
              <a:alpha val="30000"/>
            </a:srgbClr>
          </a:solidFill>
          <a:ln w="19050">
            <a:solidFill>
              <a:srgbClr val="F477B8"/>
            </a:solidFill>
            <a:prstDash val="solid"/>
          </a:ln>
        </p:spPr>
      </p:sp>
      <p:sp>
        <p:nvSpPr>
          <p:cNvPr id="25" name="Text 23"/>
          <p:cNvSpPr txBox="1"/>
          <p:nvPr/>
        </p:nvSpPr>
        <p:spPr>
          <a:xfrm>
            <a:off x="3935578"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26" name="Text 24"/>
          <p:cNvSpPr txBox="1"/>
          <p:nvPr/>
        </p:nvSpPr>
        <p:spPr>
          <a:xfrm>
            <a:off x="3895344"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27" name="Text 25"/>
          <p:cNvSpPr txBox="1"/>
          <p:nvPr/>
        </p:nvSpPr>
        <p:spPr>
          <a:xfrm>
            <a:off x="4462272"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Chlorine</a:t>
            </a:r>
            <a:endParaRPr lang="en-US" sz="1200" dirty="0"/>
          </a:p>
        </p:txBody>
      </p:sp>
      <p:sp>
        <p:nvSpPr>
          <p:cNvPr id="28" name="Text 26"/>
          <p:cNvSpPr txBox="1"/>
          <p:nvPr/>
        </p:nvSpPr>
        <p:spPr>
          <a:xfrm>
            <a:off x="4462272"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17, 35.45</a:t>
            </a:r>
            <a:endParaRPr lang="en-US" sz="1000" dirty="0"/>
          </a:p>
        </p:txBody>
      </p:sp>
      <p:sp>
        <p:nvSpPr>
          <p:cNvPr id="29" name="Text 27"/>
          <p:cNvSpPr txBox="1"/>
          <p:nvPr/>
        </p:nvSpPr>
        <p:spPr>
          <a:xfrm>
            <a:off x="3785616"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30" name="Build Magnesium"/>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1" name="Tile Mg"/>
          <p:cNvSpPr/>
          <p:nvPr/>
        </p:nvSpPr>
        <p:spPr>
          <a:xfrm>
            <a:off x="5559552" y="1819656"/>
            <a:ext cx="502920" cy="548640"/>
          </a:xfrm>
          <a:prstGeom prst="roundRect">
            <a:avLst>
              <a:gd name="adj" fmla="val 12000"/>
            </a:avLst>
          </a:prstGeom>
          <a:solidFill>
            <a:srgbClr val="FFCB5C">
              <a:alpha val="30000"/>
            </a:srgbClr>
          </a:solidFill>
          <a:ln w="19050">
            <a:solidFill>
              <a:srgbClr val="FFCB5C"/>
            </a:solidFill>
            <a:prstDash val="solid"/>
          </a:ln>
        </p:spPr>
      </p:sp>
      <p:sp>
        <p:nvSpPr>
          <p:cNvPr id="32" name="Text 30"/>
          <p:cNvSpPr txBox="1"/>
          <p:nvPr/>
        </p:nvSpPr>
        <p:spPr>
          <a:xfrm>
            <a:off x="5599786"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33" name="Text 31"/>
          <p:cNvSpPr txBox="1"/>
          <p:nvPr/>
        </p:nvSpPr>
        <p:spPr>
          <a:xfrm>
            <a:off x="5559552"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34" name="Text 32"/>
          <p:cNvSpPr txBox="1"/>
          <p:nvPr/>
        </p:nvSpPr>
        <p:spPr>
          <a:xfrm>
            <a:off x="6126480"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Magnesium</a:t>
            </a:r>
            <a:endParaRPr lang="en-US" sz="1200" dirty="0"/>
          </a:p>
        </p:txBody>
      </p:sp>
      <p:sp>
        <p:nvSpPr>
          <p:cNvPr id="35" name="Text 33"/>
          <p:cNvSpPr txBox="1"/>
          <p:nvPr/>
        </p:nvSpPr>
        <p:spPr>
          <a:xfrm>
            <a:off x="6126480"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12, 24.305</a:t>
            </a:r>
            <a:endParaRPr lang="en-US" sz="1000" dirty="0"/>
          </a:p>
        </p:txBody>
      </p:sp>
      <p:sp>
        <p:nvSpPr>
          <p:cNvPr id="36" name="Text 34"/>
          <p:cNvSpPr txBox="1"/>
          <p:nvPr/>
        </p:nvSpPr>
        <p:spPr>
          <a:xfrm>
            <a:off x="5449824"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37" name="Build Fluorine"/>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38" name="Tile F"/>
          <p:cNvSpPr/>
          <p:nvPr/>
        </p:nvSpPr>
        <p:spPr>
          <a:xfrm>
            <a:off x="7223760" y="1819656"/>
            <a:ext cx="502920" cy="548640"/>
          </a:xfrm>
          <a:prstGeom prst="roundRect">
            <a:avLst>
              <a:gd name="adj" fmla="val 12000"/>
            </a:avLst>
          </a:prstGeom>
          <a:solidFill>
            <a:srgbClr val="F477B8">
              <a:alpha val="30000"/>
            </a:srgbClr>
          </a:solidFill>
          <a:ln w="19050">
            <a:solidFill>
              <a:srgbClr val="F477B8"/>
            </a:solidFill>
            <a:prstDash val="solid"/>
          </a:ln>
        </p:spPr>
      </p:sp>
      <p:sp>
        <p:nvSpPr>
          <p:cNvPr id="39" name="Text 37"/>
          <p:cNvSpPr txBox="1"/>
          <p:nvPr/>
        </p:nvSpPr>
        <p:spPr>
          <a:xfrm>
            <a:off x="7263994"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9</a:t>
            </a:r>
            <a:endParaRPr lang="en-US" sz="800" dirty="0"/>
          </a:p>
        </p:txBody>
      </p:sp>
      <p:sp>
        <p:nvSpPr>
          <p:cNvPr id="40" name="Text 38"/>
          <p:cNvSpPr txBox="1"/>
          <p:nvPr/>
        </p:nvSpPr>
        <p:spPr>
          <a:xfrm>
            <a:off x="7223760"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F</a:t>
            </a:r>
            <a:endParaRPr lang="en-US" sz="2000" dirty="0"/>
          </a:p>
        </p:txBody>
      </p:sp>
      <p:sp>
        <p:nvSpPr>
          <p:cNvPr id="41" name="Text 39"/>
          <p:cNvSpPr txBox="1"/>
          <p:nvPr/>
        </p:nvSpPr>
        <p:spPr>
          <a:xfrm>
            <a:off x="7790688"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Fluorine</a:t>
            </a:r>
            <a:endParaRPr lang="en-US" sz="1200" dirty="0"/>
          </a:p>
        </p:txBody>
      </p:sp>
      <p:sp>
        <p:nvSpPr>
          <p:cNvPr id="42" name="Text 40"/>
          <p:cNvSpPr txBox="1"/>
          <p:nvPr/>
        </p:nvSpPr>
        <p:spPr>
          <a:xfrm>
            <a:off x="7790688"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9, 18.998</a:t>
            </a:r>
            <a:endParaRPr lang="en-US" sz="1000" dirty="0"/>
          </a:p>
        </p:txBody>
      </p:sp>
      <p:sp>
        <p:nvSpPr>
          <p:cNvPr id="43" name="Text 41"/>
          <p:cNvSpPr txBox="1"/>
          <p:nvPr/>
        </p:nvSpPr>
        <p:spPr>
          <a:xfrm>
            <a:off x="7114032" y="2606040"/>
            <a:ext cx="1554480" cy="128016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ile C"/>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Bohr model builder</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Build each element. Use the periodic table tile for the numbers you need.</a:t>
            </a:r>
            <a:endParaRPr lang="en-US" sz="1300" dirty="0"/>
          </a:p>
        </p:txBody>
      </p:sp>
      <p:sp>
        <p:nvSpPr>
          <p:cNvPr id="10" name="Build Carbon"/>
          <p:cNvSpPr/>
          <p:nvPr/>
        </p:nvSpPr>
        <p:spPr>
          <a:xfrm>
            <a:off x="457200"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1" name="Tile C"/>
          <p:cNvSpPr/>
          <p:nvPr/>
        </p:nvSpPr>
        <p:spPr>
          <a:xfrm>
            <a:off x="566928" y="1819656"/>
            <a:ext cx="502920" cy="548640"/>
          </a:xfrm>
          <a:prstGeom prst="roundRect">
            <a:avLst>
              <a:gd name="adj" fmla="val 12000"/>
            </a:avLst>
          </a:prstGeom>
          <a:solidFill>
            <a:srgbClr val="45C08F">
              <a:alpha val="30000"/>
            </a:srgbClr>
          </a:solidFill>
          <a:ln w="19050">
            <a:solidFill>
              <a:srgbClr val="45C08F"/>
            </a:solidFill>
            <a:prstDash val="solid"/>
          </a:ln>
        </p:spPr>
      </p:sp>
      <p:sp>
        <p:nvSpPr>
          <p:cNvPr id="12" name="Text 10"/>
          <p:cNvSpPr txBox="1"/>
          <p:nvPr/>
        </p:nvSpPr>
        <p:spPr>
          <a:xfrm>
            <a:off x="607162"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6</a:t>
            </a:r>
            <a:endParaRPr lang="en-US" sz="800" dirty="0"/>
          </a:p>
        </p:txBody>
      </p:sp>
      <p:sp>
        <p:nvSpPr>
          <p:cNvPr id="13" name="Text 11"/>
          <p:cNvSpPr txBox="1"/>
          <p:nvPr/>
        </p:nvSpPr>
        <p:spPr>
          <a:xfrm>
            <a:off x="566928"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4" name="Text 12"/>
          <p:cNvSpPr txBox="1"/>
          <p:nvPr/>
        </p:nvSpPr>
        <p:spPr>
          <a:xfrm>
            <a:off x="1133856"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Carbon</a:t>
            </a:r>
            <a:endParaRPr lang="en-US" sz="1200" dirty="0"/>
          </a:p>
        </p:txBody>
      </p:sp>
      <p:sp>
        <p:nvSpPr>
          <p:cNvPr id="15" name="Text 13"/>
          <p:cNvSpPr txBox="1"/>
          <p:nvPr/>
        </p:nvSpPr>
        <p:spPr>
          <a:xfrm>
            <a:off x="1133856"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6, 12.011</a:t>
            </a:r>
            <a:endParaRPr lang="en-US" sz="1000" dirty="0"/>
          </a:p>
        </p:txBody>
      </p:sp>
      <p:sp>
        <p:nvSpPr>
          <p:cNvPr id="16" name="Carbon: shell 1"/>
          <p:cNvSpPr/>
          <p:nvPr/>
        </p:nvSpPr>
        <p:spPr>
          <a:xfrm>
            <a:off x="956462" y="2968142"/>
            <a:ext cx="555955" cy="555955"/>
          </a:xfrm>
          <a:prstGeom prst="ellipse">
            <a:avLst/>
          </a:prstGeom>
          <a:solidFill>
            <a:schemeClr val="bg1">
              <a:alpha val="0"/>
            </a:schemeClr>
          </a:solidFill>
          <a:ln w="15875">
            <a:solidFill>
              <a:schemeClr val="bg2">
                <a:alpha val="55000"/>
              </a:schemeClr>
            </a:solidFill>
            <a:prstDash val="solid"/>
          </a:ln>
        </p:spPr>
      </p:sp>
      <p:sp>
        <p:nvSpPr>
          <p:cNvPr id="17" name="Carbon: shell 2"/>
          <p:cNvSpPr/>
          <p:nvPr/>
        </p:nvSpPr>
        <p:spPr>
          <a:xfrm>
            <a:off x="782726" y="2794406"/>
            <a:ext cx="903427" cy="903427"/>
          </a:xfrm>
          <a:prstGeom prst="ellipse">
            <a:avLst/>
          </a:prstGeom>
          <a:solidFill>
            <a:schemeClr val="bg1">
              <a:alpha val="0"/>
            </a:schemeClr>
          </a:solidFill>
          <a:ln w="15875">
            <a:solidFill>
              <a:schemeClr val="bg2">
                <a:alpha val="55000"/>
              </a:schemeClr>
            </a:solidFill>
            <a:prstDash val="solid"/>
          </a:ln>
        </p:spPr>
      </p:sp>
      <p:sp>
        <p:nvSpPr>
          <p:cNvPr id="18" name="Carbon: nucleus"/>
          <p:cNvSpPr/>
          <p:nvPr/>
        </p:nvSpPr>
        <p:spPr>
          <a:xfrm>
            <a:off x="1054913" y="3066593"/>
            <a:ext cx="359054" cy="35905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6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6 n</a:t>
            </a:r>
            <a:pPr algn="ctr" indent="0" marL="0">
              <a:buNone/>
            </a:pPr>
            <a:r>
              <a:rPr lang="en-US" sz="600" b="1" baseline="30000" dirty="0">
                <a:solidFill>
                  <a:schemeClr val="bg1"/>
                </a:solidFill>
              </a:rPr>
              <a:t>0</a:t>
            </a:r>
            <a:endParaRPr lang="en-US" sz="600" dirty="0"/>
          </a:p>
        </p:txBody>
      </p:sp>
      <p:sp>
        <p:nvSpPr>
          <p:cNvPr id="19" name="Carbon: electron, shell 1"/>
          <p:cNvSpPr/>
          <p:nvPr/>
        </p:nvSpPr>
        <p:spPr>
          <a:xfrm>
            <a:off x="1191006" y="2924708"/>
            <a:ext cx="86868" cy="86868"/>
          </a:xfrm>
          <a:prstGeom prst="ellipse">
            <a:avLst/>
          </a:prstGeom>
          <a:solidFill>
            <a:schemeClr val="accent1"/>
          </a:solidFill>
          <a:ln w="3175">
            <a:solidFill>
              <a:schemeClr val="accent1"/>
            </a:solidFill>
            <a:prstDash val="solid"/>
          </a:ln>
        </p:spPr>
      </p:sp>
      <p:sp>
        <p:nvSpPr>
          <p:cNvPr id="20" name="Carbon: electron, shell 1"/>
          <p:cNvSpPr/>
          <p:nvPr/>
        </p:nvSpPr>
        <p:spPr>
          <a:xfrm>
            <a:off x="1468984" y="3202686"/>
            <a:ext cx="86868" cy="86868"/>
          </a:xfrm>
          <a:prstGeom prst="ellipse">
            <a:avLst/>
          </a:prstGeom>
          <a:solidFill>
            <a:schemeClr val="accent1"/>
          </a:solidFill>
          <a:ln w="3175">
            <a:solidFill>
              <a:schemeClr val="accent1"/>
            </a:solidFill>
            <a:prstDash val="solid"/>
          </a:ln>
        </p:spPr>
      </p:sp>
      <p:sp>
        <p:nvSpPr>
          <p:cNvPr id="21" name="Carbon: electron, shell 2"/>
          <p:cNvSpPr/>
          <p:nvPr/>
        </p:nvSpPr>
        <p:spPr>
          <a:xfrm>
            <a:off x="1191006" y="2750972"/>
            <a:ext cx="86868" cy="86868"/>
          </a:xfrm>
          <a:prstGeom prst="ellipse">
            <a:avLst/>
          </a:prstGeom>
          <a:solidFill>
            <a:schemeClr val="accent1"/>
          </a:solidFill>
          <a:ln w="3175">
            <a:solidFill>
              <a:schemeClr val="accent1"/>
            </a:solidFill>
            <a:prstDash val="solid"/>
          </a:ln>
        </p:spPr>
      </p:sp>
      <p:sp>
        <p:nvSpPr>
          <p:cNvPr id="22" name="Carbon: electron, shell 2"/>
          <p:cNvSpPr/>
          <p:nvPr/>
        </p:nvSpPr>
        <p:spPr>
          <a:xfrm>
            <a:off x="1642720" y="3202686"/>
            <a:ext cx="86868" cy="86868"/>
          </a:xfrm>
          <a:prstGeom prst="ellipse">
            <a:avLst/>
          </a:prstGeom>
          <a:solidFill>
            <a:schemeClr val="accent1"/>
          </a:solidFill>
          <a:ln w="3175">
            <a:solidFill>
              <a:schemeClr val="accent1"/>
            </a:solidFill>
            <a:prstDash val="solid"/>
          </a:ln>
        </p:spPr>
      </p:sp>
      <p:sp>
        <p:nvSpPr>
          <p:cNvPr id="23" name="Carbon: electron, shell 2"/>
          <p:cNvSpPr/>
          <p:nvPr/>
        </p:nvSpPr>
        <p:spPr>
          <a:xfrm>
            <a:off x="1191006" y="3654400"/>
            <a:ext cx="86868" cy="86868"/>
          </a:xfrm>
          <a:prstGeom prst="ellipse">
            <a:avLst/>
          </a:prstGeom>
          <a:solidFill>
            <a:schemeClr val="accent1"/>
          </a:solidFill>
          <a:ln w="3175">
            <a:solidFill>
              <a:schemeClr val="accent1"/>
            </a:solidFill>
            <a:prstDash val="solid"/>
          </a:ln>
        </p:spPr>
      </p:sp>
      <p:sp>
        <p:nvSpPr>
          <p:cNvPr id="24" name="Carbon: electron, shell 2"/>
          <p:cNvSpPr/>
          <p:nvPr/>
        </p:nvSpPr>
        <p:spPr>
          <a:xfrm>
            <a:off x="739292" y="3202686"/>
            <a:ext cx="86868" cy="86868"/>
          </a:xfrm>
          <a:prstGeom prst="ellipse">
            <a:avLst/>
          </a:prstGeom>
          <a:solidFill>
            <a:schemeClr val="accent1"/>
          </a:solidFill>
          <a:ln w="3175">
            <a:solidFill>
              <a:schemeClr val="accent1"/>
            </a:solidFill>
            <a:prstDash val="solid"/>
          </a:ln>
        </p:spPr>
      </p:sp>
      <p:sp>
        <p:nvSpPr>
          <p:cNvPr id="25" name="Text 23"/>
          <p:cNvSpPr txBox="1"/>
          <p:nvPr/>
        </p:nvSpPr>
        <p:spPr>
          <a:xfrm>
            <a:off x="502920" y="3977640"/>
            <a:ext cx="1463040" cy="502920"/>
          </a:xfrm>
          <a:prstGeom prst="rect">
            <a:avLst/>
          </a:prstGeom>
          <a:noFill/>
          <a:ln/>
        </p:spPr>
        <p:txBody>
          <a:bodyPr wrap="square" lIns="0" tIns="0" rIns="0" bIns="0" rtlCol="0" anchor="ctr"/>
          <a:lstStyle/>
          <a:p>
            <a:pPr algn="ctr" indent="0" marL="0">
              <a:buNone/>
            </a:pPr>
            <a:r>
              <a:rPr lang="en-US" sz="1100" b="1" dirty="0">
                <a:solidFill>
                  <a:schemeClr val="bg1"/>
                </a:solidFill>
              </a:rPr>
              <a:t>6 p</a:t>
            </a:r>
            <a:pPr algn="ctr" indent="0" marL="0">
              <a:buNone/>
            </a:pPr>
            <a:r>
              <a:rPr lang="en-US" sz="1100" b="1" baseline="30000" dirty="0">
                <a:solidFill>
                  <a:schemeClr val="bg1"/>
                </a:solidFill>
              </a:rPr>
              <a:t>+</a:t>
            </a:r>
            <a:pPr algn="ctr" indent="0" marL="0">
              <a:buNone/>
            </a:pPr>
            <a:r>
              <a:rPr lang="en-US" sz="1100" b="1" dirty="0">
                <a:solidFill>
                  <a:schemeClr val="bg1"/>
                </a:solidFill>
              </a:rPr>
              <a:t>   6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2, 4</a:t>
            </a:r>
            <a:endParaRPr lang="en-US" sz="1100" dirty="0"/>
          </a:p>
        </p:txBody>
      </p:sp>
      <p:sp>
        <p:nvSpPr>
          <p:cNvPr id="26" name="Build Sodium"/>
          <p:cNvSpPr/>
          <p:nvPr/>
        </p:nvSpPr>
        <p:spPr>
          <a:xfrm>
            <a:off x="2121408"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27" name="Tile Na"/>
          <p:cNvSpPr/>
          <p:nvPr/>
        </p:nvSpPr>
        <p:spPr>
          <a:xfrm>
            <a:off x="2231136" y="1819656"/>
            <a:ext cx="502920" cy="548640"/>
          </a:xfrm>
          <a:prstGeom prst="roundRect">
            <a:avLst>
              <a:gd name="adj" fmla="val 12000"/>
            </a:avLst>
          </a:prstGeom>
          <a:solidFill>
            <a:srgbClr val="FF8F5E">
              <a:alpha val="30000"/>
            </a:srgbClr>
          </a:solidFill>
          <a:ln w="19050">
            <a:solidFill>
              <a:srgbClr val="FF8F5E"/>
            </a:solidFill>
            <a:prstDash val="solid"/>
          </a:ln>
        </p:spPr>
      </p:sp>
      <p:sp>
        <p:nvSpPr>
          <p:cNvPr id="28" name="Text 26"/>
          <p:cNvSpPr txBox="1"/>
          <p:nvPr/>
        </p:nvSpPr>
        <p:spPr>
          <a:xfrm>
            <a:off x="2271370"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29" name="Text 27"/>
          <p:cNvSpPr txBox="1"/>
          <p:nvPr/>
        </p:nvSpPr>
        <p:spPr>
          <a:xfrm>
            <a:off x="2231136"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30" name="Text 28"/>
          <p:cNvSpPr txBox="1"/>
          <p:nvPr/>
        </p:nvSpPr>
        <p:spPr>
          <a:xfrm>
            <a:off x="2798064"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Sodium</a:t>
            </a:r>
            <a:endParaRPr lang="en-US" sz="1200" dirty="0"/>
          </a:p>
        </p:txBody>
      </p:sp>
      <p:sp>
        <p:nvSpPr>
          <p:cNvPr id="31" name="Text 29"/>
          <p:cNvSpPr txBox="1"/>
          <p:nvPr/>
        </p:nvSpPr>
        <p:spPr>
          <a:xfrm>
            <a:off x="2798064"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11, 22.990</a:t>
            </a:r>
            <a:endParaRPr lang="en-US" sz="1000" dirty="0"/>
          </a:p>
        </p:txBody>
      </p:sp>
      <p:sp>
        <p:nvSpPr>
          <p:cNvPr id="32" name="Sodium: shell 1"/>
          <p:cNvSpPr/>
          <p:nvPr/>
        </p:nvSpPr>
        <p:spPr>
          <a:xfrm>
            <a:off x="2670911" y="3018383"/>
            <a:ext cx="455475" cy="455475"/>
          </a:xfrm>
          <a:prstGeom prst="ellipse">
            <a:avLst/>
          </a:prstGeom>
          <a:solidFill>
            <a:schemeClr val="bg1">
              <a:alpha val="0"/>
            </a:schemeClr>
          </a:solidFill>
          <a:ln w="15875">
            <a:solidFill>
              <a:schemeClr val="bg2">
                <a:alpha val="55000"/>
              </a:schemeClr>
            </a:solidFill>
            <a:prstDash val="solid"/>
          </a:ln>
        </p:spPr>
      </p:sp>
      <p:sp>
        <p:nvSpPr>
          <p:cNvPr id="33" name="Sodium: shell 2"/>
          <p:cNvSpPr/>
          <p:nvPr/>
        </p:nvSpPr>
        <p:spPr>
          <a:xfrm>
            <a:off x="2528575" y="2876047"/>
            <a:ext cx="740146" cy="740146"/>
          </a:xfrm>
          <a:prstGeom prst="ellipse">
            <a:avLst/>
          </a:prstGeom>
          <a:solidFill>
            <a:schemeClr val="bg1">
              <a:alpha val="0"/>
            </a:schemeClr>
          </a:solidFill>
          <a:ln w="15875">
            <a:solidFill>
              <a:schemeClr val="bg2">
                <a:alpha val="55000"/>
              </a:schemeClr>
            </a:solidFill>
            <a:prstDash val="solid"/>
          </a:ln>
        </p:spPr>
      </p:sp>
      <p:sp>
        <p:nvSpPr>
          <p:cNvPr id="34" name="Sodium: shell 3"/>
          <p:cNvSpPr/>
          <p:nvPr/>
        </p:nvSpPr>
        <p:spPr>
          <a:xfrm>
            <a:off x="2395728" y="2743200"/>
            <a:ext cx="1005840" cy="1005840"/>
          </a:xfrm>
          <a:prstGeom prst="ellipse">
            <a:avLst/>
          </a:prstGeom>
          <a:solidFill>
            <a:schemeClr val="bg1">
              <a:alpha val="0"/>
            </a:schemeClr>
          </a:solidFill>
          <a:ln w="15875">
            <a:solidFill>
              <a:schemeClr val="bg2">
                <a:alpha val="55000"/>
              </a:schemeClr>
            </a:solidFill>
            <a:prstDash val="solid"/>
          </a:ln>
        </p:spPr>
      </p:sp>
      <p:sp>
        <p:nvSpPr>
          <p:cNvPr id="35" name="Sodium: nucleus"/>
          <p:cNvSpPr/>
          <p:nvPr/>
        </p:nvSpPr>
        <p:spPr>
          <a:xfrm>
            <a:off x="2751568" y="3099040"/>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11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12 n</a:t>
            </a:r>
            <a:pPr algn="ctr" indent="0" marL="0">
              <a:buNone/>
            </a:pPr>
            <a:r>
              <a:rPr lang="en-US" sz="600" b="1" baseline="30000" dirty="0">
                <a:solidFill>
                  <a:schemeClr val="bg1"/>
                </a:solidFill>
              </a:rPr>
              <a:t>0</a:t>
            </a:r>
            <a:endParaRPr lang="en-US" sz="600" dirty="0"/>
          </a:p>
        </p:txBody>
      </p:sp>
      <p:sp>
        <p:nvSpPr>
          <p:cNvPr id="36" name="Sodium: electron, shell 1"/>
          <p:cNvSpPr/>
          <p:nvPr/>
        </p:nvSpPr>
        <p:spPr>
          <a:xfrm>
            <a:off x="2863064" y="2982799"/>
            <a:ext cx="71168" cy="71168"/>
          </a:xfrm>
          <a:prstGeom prst="ellipse">
            <a:avLst/>
          </a:prstGeom>
          <a:solidFill>
            <a:schemeClr val="accent1"/>
          </a:solidFill>
          <a:ln w="3175">
            <a:solidFill>
              <a:schemeClr val="accent1"/>
            </a:solidFill>
            <a:prstDash val="solid"/>
          </a:ln>
        </p:spPr>
      </p:sp>
      <p:sp>
        <p:nvSpPr>
          <p:cNvPr id="37" name="Sodium: electron, shell 1"/>
          <p:cNvSpPr/>
          <p:nvPr/>
        </p:nvSpPr>
        <p:spPr>
          <a:xfrm>
            <a:off x="3090801" y="3210536"/>
            <a:ext cx="71168" cy="71168"/>
          </a:xfrm>
          <a:prstGeom prst="ellipse">
            <a:avLst/>
          </a:prstGeom>
          <a:solidFill>
            <a:schemeClr val="accent1"/>
          </a:solidFill>
          <a:ln w="3175">
            <a:solidFill>
              <a:schemeClr val="accent1"/>
            </a:solidFill>
            <a:prstDash val="solid"/>
          </a:ln>
        </p:spPr>
      </p:sp>
      <p:sp>
        <p:nvSpPr>
          <p:cNvPr id="38" name="Sodium: electron, shell 2"/>
          <p:cNvSpPr/>
          <p:nvPr/>
        </p:nvSpPr>
        <p:spPr>
          <a:xfrm>
            <a:off x="2815278" y="2843561"/>
            <a:ext cx="71168" cy="71168"/>
          </a:xfrm>
          <a:prstGeom prst="ellipse">
            <a:avLst/>
          </a:prstGeom>
          <a:solidFill>
            <a:schemeClr val="accent1"/>
          </a:solidFill>
          <a:ln w="3175">
            <a:solidFill>
              <a:schemeClr val="accent1"/>
            </a:solidFill>
            <a:prstDash val="solid"/>
          </a:ln>
        </p:spPr>
      </p:sp>
      <p:sp>
        <p:nvSpPr>
          <p:cNvPr id="39" name="Sodium: electron, shell 2"/>
          <p:cNvSpPr/>
          <p:nvPr/>
        </p:nvSpPr>
        <p:spPr>
          <a:xfrm>
            <a:off x="2910850" y="2843561"/>
            <a:ext cx="71168" cy="71168"/>
          </a:xfrm>
          <a:prstGeom prst="ellipse">
            <a:avLst/>
          </a:prstGeom>
          <a:solidFill>
            <a:schemeClr val="accent1"/>
          </a:solidFill>
          <a:ln w="3175">
            <a:solidFill>
              <a:schemeClr val="accent1"/>
            </a:solidFill>
            <a:prstDash val="solid"/>
          </a:ln>
        </p:spPr>
      </p:sp>
      <p:sp>
        <p:nvSpPr>
          <p:cNvPr id="40" name="Sodium: electron, shell 2"/>
          <p:cNvSpPr/>
          <p:nvPr/>
        </p:nvSpPr>
        <p:spPr>
          <a:xfrm>
            <a:off x="3230039" y="3162750"/>
            <a:ext cx="71168" cy="71168"/>
          </a:xfrm>
          <a:prstGeom prst="ellipse">
            <a:avLst/>
          </a:prstGeom>
          <a:solidFill>
            <a:schemeClr val="accent1"/>
          </a:solidFill>
          <a:ln w="3175">
            <a:solidFill>
              <a:schemeClr val="accent1"/>
            </a:solidFill>
            <a:prstDash val="solid"/>
          </a:ln>
        </p:spPr>
      </p:sp>
      <p:sp>
        <p:nvSpPr>
          <p:cNvPr id="41" name="Sodium: electron, shell 2"/>
          <p:cNvSpPr/>
          <p:nvPr/>
        </p:nvSpPr>
        <p:spPr>
          <a:xfrm>
            <a:off x="3230039" y="3258322"/>
            <a:ext cx="71168" cy="71168"/>
          </a:xfrm>
          <a:prstGeom prst="ellipse">
            <a:avLst/>
          </a:prstGeom>
          <a:solidFill>
            <a:schemeClr val="accent1"/>
          </a:solidFill>
          <a:ln w="3175">
            <a:solidFill>
              <a:schemeClr val="accent1"/>
            </a:solidFill>
            <a:prstDash val="solid"/>
          </a:ln>
        </p:spPr>
      </p:sp>
      <p:sp>
        <p:nvSpPr>
          <p:cNvPr id="42" name="Sodium: electron, shell 2"/>
          <p:cNvSpPr/>
          <p:nvPr/>
        </p:nvSpPr>
        <p:spPr>
          <a:xfrm>
            <a:off x="2910850" y="3577511"/>
            <a:ext cx="71168" cy="71168"/>
          </a:xfrm>
          <a:prstGeom prst="ellipse">
            <a:avLst/>
          </a:prstGeom>
          <a:solidFill>
            <a:schemeClr val="accent1"/>
          </a:solidFill>
          <a:ln w="3175">
            <a:solidFill>
              <a:schemeClr val="accent1"/>
            </a:solidFill>
            <a:prstDash val="solid"/>
          </a:ln>
        </p:spPr>
      </p:sp>
      <p:sp>
        <p:nvSpPr>
          <p:cNvPr id="43" name="Sodium: electron, shell 2"/>
          <p:cNvSpPr/>
          <p:nvPr/>
        </p:nvSpPr>
        <p:spPr>
          <a:xfrm>
            <a:off x="2815278" y="3577511"/>
            <a:ext cx="71168" cy="71168"/>
          </a:xfrm>
          <a:prstGeom prst="ellipse">
            <a:avLst/>
          </a:prstGeom>
          <a:solidFill>
            <a:schemeClr val="accent1"/>
          </a:solidFill>
          <a:ln w="3175">
            <a:solidFill>
              <a:schemeClr val="accent1"/>
            </a:solidFill>
            <a:prstDash val="solid"/>
          </a:ln>
        </p:spPr>
      </p:sp>
      <p:sp>
        <p:nvSpPr>
          <p:cNvPr id="44" name="Sodium: electron, shell 2"/>
          <p:cNvSpPr/>
          <p:nvPr/>
        </p:nvSpPr>
        <p:spPr>
          <a:xfrm>
            <a:off x="2496089" y="3258322"/>
            <a:ext cx="71168" cy="71168"/>
          </a:xfrm>
          <a:prstGeom prst="ellipse">
            <a:avLst/>
          </a:prstGeom>
          <a:solidFill>
            <a:schemeClr val="accent1"/>
          </a:solidFill>
          <a:ln w="3175">
            <a:solidFill>
              <a:schemeClr val="accent1"/>
            </a:solidFill>
            <a:prstDash val="solid"/>
          </a:ln>
        </p:spPr>
      </p:sp>
      <p:sp>
        <p:nvSpPr>
          <p:cNvPr id="45" name="Sodium: electron, shell 2"/>
          <p:cNvSpPr/>
          <p:nvPr/>
        </p:nvSpPr>
        <p:spPr>
          <a:xfrm>
            <a:off x="2496089" y="3162750"/>
            <a:ext cx="71168" cy="71168"/>
          </a:xfrm>
          <a:prstGeom prst="ellipse">
            <a:avLst/>
          </a:prstGeom>
          <a:solidFill>
            <a:schemeClr val="accent1"/>
          </a:solidFill>
          <a:ln w="3175">
            <a:solidFill>
              <a:schemeClr val="accent1"/>
            </a:solidFill>
            <a:prstDash val="solid"/>
          </a:ln>
        </p:spPr>
      </p:sp>
      <p:sp>
        <p:nvSpPr>
          <p:cNvPr id="46" name="Sodium: electron, shell 3"/>
          <p:cNvSpPr/>
          <p:nvPr/>
        </p:nvSpPr>
        <p:spPr>
          <a:xfrm>
            <a:off x="2863064" y="2707616"/>
            <a:ext cx="71168" cy="71168"/>
          </a:xfrm>
          <a:prstGeom prst="ellipse">
            <a:avLst/>
          </a:prstGeom>
          <a:solidFill>
            <a:schemeClr val="accent1"/>
          </a:solidFill>
          <a:ln w="3175">
            <a:solidFill>
              <a:schemeClr val="accent1"/>
            </a:solidFill>
            <a:prstDash val="solid"/>
          </a:ln>
        </p:spPr>
      </p:sp>
      <p:sp>
        <p:nvSpPr>
          <p:cNvPr id="47" name="Text 45"/>
          <p:cNvSpPr txBox="1"/>
          <p:nvPr/>
        </p:nvSpPr>
        <p:spPr>
          <a:xfrm>
            <a:off x="2167128" y="3977640"/>
            <a:ext cx="1463040" cy="502920"/>
          </a:xfrm>
          <a:prstGeom prst="rect">
            <a:avLst/>
          </a:prstGeom>
          <a:noFill/>
          <a:ln/>
        </p:spPr>
        <p:txBody>
          <a:bodyPr wrap="square" lIns="0" tIns="0" rIns="0" bIns="0" rtlCol="0" anchor="ctr"/>
          <a:lstStyle/>
          <a:p>
            <a:pPr algn="ctr" indent="0" marL="0">
              <a:buNone/>
            </a:pPr>
            <a:r>
              <a:rPr lang="en-US" sz="1100" b="1" dirty="0">
                <a:solidFill>
                  <a:schemeClr val="bg1"/>
                </a:solidFill>
              </a:rPr>
              <a:t>11 p</a:t>
            </a:r>
            <a:pPr algn="ctr" indent="0" marL="0">
              <a:buNone/>
            </a:pPr>
            <a:r>
              <a:rPr lang="en-US" sz="1100" b="1" baseline="30000" dirty="0">
                <a:solidFill>
                  <a:schemeClr val="bg1"/>
                </a:solidFill>
              </a:rPr>
              <a:t>+</a:t>
            </a:r>
            <a:pPr algn="ctr" indent="0" marL="0">
              <a:buNone/>
            </a:pPr>
            <a:r>
              <a:rPr lang="en-US" sz="1100" b="1" dirty="0">
                <a:solidFill>
                  <a:schemeClr val="bg1"/>
                </a:solidFill>
              </a:rPr>
              <a:t>   12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2, 8, 1</a:t>
            </a:r>
            <a:endParaRPr lang="en-US" sz="1100" dirty="0"/>
          </a:p>
        </p:txBody>
      </p:sp>
      <p:sp>
        <p:nvSpPr>
          <p:cNvPr id="48" name="Build Chlorine"/>
          <p:cNvSpPr/>
          <p:nvPr/>
        </p:nvSpPr>
        <p:spPr>
          <a:xfrm>
            <a:off x="3785616"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49" name="Tile Cl"/>
          <p:cNvSpPr/>
          <p:nvPr/>
        </p:nvSpPr>
        <p:spPr>
          <a:xfrm>
            <a:off x="3895344" y="1819656"/>
            <a:ext cx="502920" cy="548640"/>
          </a:xfrm>
          <a:prstGeom prst="roundRect">
            <a:avLst>
              <a:gd name="adj" fmla="val 12000"/>
            </a:avLst>
          </a:prstGeom>
          <a:solidFill>
            <a:srgbClr val="F477B8">
              <a:alpha val="30000"/>
            </a:srgbClr>
          </a:solidFill>
          <a:ln w="19050">
            <a:solidFill>
              <a:srgbClr val="F477B8"/>
            </a:solidFill>
            <a:prstDash val="solid"/>
          </a:ln>
        </p:spPr>
      </p:sp>
      <p:sp>
        <p:nvSpPr>
          <p:cNvPr id="50" name="Text 48"/>
          <p:cNvSpPr txBox="1"/>
          <p:nvPr/>
        </p:nvSpPr>
        <p:spPr>
          <a:xfrm>
            <a:off x="3935578"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51" name="Text 49"/>
          <p:cNvSpPr txBox="1"/>
          <p:nvPr/>
        </p:nvSpPr>
        <p:spPr>
          <a:xfrm>
            <a:off x="3895344"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52" name="Text 50"/>
          <p:cNvSpPr txBox="1"/>
          <p:nvPr/>
        </p:nvSpPr>
        <p:spPr>
          <a:xfrm>
            <a:off x="4462272"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Chlorine</a:t>
            </a:r>
            <a:endParaRPr lang="en-US" sz="1200" dirty="0"/>
          </a:p>
        </p:txBody>
      </p:sp>
      <p:sp>
        <p:nvSpPr>
          <p:cNvPr id="53" name="Text 51"/>
          <p:cNvSpPr txBox="1"/>
          <p:nvPr/>
        </p:nvSpPr>
        <p:spPr>
          <a:xfrm>
            <a:off x="4462272"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17, 35.45</a:t>
            </a:r>
            <a:endParaRPr lang="en-US" sz="1000" dirty="0"/>
          </a:p>
        </p:txBody>
      </p:sp>
      <p:sp>
        <p:nvSpPr>
          <p:cNvPr id="54" name="Chlorine: shell 1"/>
          <p:cNvSpPr/>
          <p:nvPr/>
        </p:nvSpPr>
        <p:spPr>
          <a:xfrm>
            <a:off x="4335119" y="3018383"/>
            <a:ext cx="455475" cy="455475"/>
          </a:xfrm>
          <a:prstGeom prst="ellipse">
            <a:avLst/>
          </a:prstGeom>
          <a:solidFill>
            <a:schemeClr val="bg1">
              <a:alpha val="0"/>
            </a:schemeClr>
          </a:solidFill>
          <a:ln w="15875">
            <a:solidFill>
              <a:schemeClr val="bg2">
                <a:alpha val="55000"/>
              </a:schemeClr>
            </a:solidFill>
            <a:prstDash val="solid"/>
          </a:ln>
        </p:spPr>
      </p:sp>
      <p:sp>
        <p:nvSpPr>
          <p:cNvPr id="55" name="Chlorine: shell 2"/>
          <p:cNvSpPr/>
          <p:nvPr/>
        </p:nvSpPr>
        <p:spPr>
          <a:xfrm>
            <a:off x="4192783" y="2876047"/>
            <a:ext cx="740146" cy="740146"/>
          </a:xfrm>
          <a:prstGeom prst="ellipse">
            <a:avLst/>
          </a:prstGeom>
          <a:solidFill>
            <a:schemeClr val="bg1">
              <a:alpha val="0"/>
            </a:schemeClr>
          </a:solidFill>
          <a:ln w="15875">
            <a:solidFill>
              <a:schemeClr val="bg2">
                <a:alpha val="55000"/>
              </a:schemeClr>
            </a:solidFill>
            <a:prstDash val="solid"/>
          </a:ln>
        </p:spPr>
      </p:sp>
      <p:sp>
        <p:nvSpPr>
          <p:cNvPr id="56" name="Chlorine: shell 3"/>
          <p:cNvSpPr/>
          <p:nvPr/>
        </p:nvSpPr>
        <p:spPr>
          <a:xfrm>
            <a:off x="4059936" y="2743200"/>
            <a:ext cx="1005840" cy="1005840"/>
          </a:xfrm>
          <a:prstGeom prst="ellipse">
            <a:avLst/>
          </a:prstGeom>
          <a:solidFill>
            <a:schemeClr val="bg1">
              <a:alpha val="0"/>
            </a:schemeClr>
          </a:solidFill>
          <a:ln w="15875">
            <a:solidFill>
              <a:schemeClr val="bg2">
                <a:alpha val="55000"/>
              </a:schemeClr>
            </a:solidFill>
            <a:prstDash val="solid"/>
          </a:ln>
        </p:spPr>
      </p:sp>
      <p:sp>
        <p:nvSpPr>
          <p:cNvPr id="57" name="Chlorine: nucleus"/>
          <p:cNvSpPr/>
          <p:nvPr/>
        </p:nvSpPr>
        <p:spPr>
          <a:xfrm>
            <a:off x="4415776" y="3099040"/>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17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18 n</a:t>
            </a:r>
            <a:pPr algn="ctr" indent="0" marL="0">
              <a:buNone/>
            </a:pPr>
            <a:r>
              <a:rPr lang="en-US" sz="600" b="1" baseline="30000" dirty="0">
                <a:solidFill>
                  <a:schemeClr val="bg1"/>
                </a:solidFill>
              </a:rPr>
              <a:t>0</a:t>
            </a:r>
            <a:endParaRPr lang="en-US" sz="600" dirty="0"/>
          </a:p>
        </p:txBody>
      </p:sp>
      <p:sp>
        <p:nvSpPr>
          <p:cNvPr id="58" name="Chlorine: electron, shell 1"/>
          <p:cNvSpPr/>
          <p:nvPr/>
        </p:nvSpPr>
        <p:spPr>
          <a:xfrm>
            <a:off x="4527272" y="2982799"/>
            <a:ext cx="71168" cy="71168"/>
          </a:xfrm>
          <a:prstGeom prst="ellipse">
            <a:avLst/>
          </a:prstGeom>
          <a:solidFill>
            <a:schemeClr val="accent1"/>
          </a:solidFill>
          <a:ln w="3175">
            <a:solidFill>
              <a:schemeClr val="accent1"/>
            </a:solidFill>
            <a:prstDash val="solid"/>
          </a:ln>
        </p:spPr>
      </p:sp>
      <p:sp>
        <p:nvSpPr>
          <p:cNvPr id="59" name="Chlorine: electron, shell 1"/>
          <p:cNvSpPr/>
          <p:nvPr/>
        </p:nvSpPr>
        <p:spPr>
          <a:xfrm>
            <a:off x="4755009" y="3210536"/>
            <a:ext cx="71168" cy="71168"/>
          </a:xfrm>
          <a:prstGeom prst="ellipse">
            <a:avLst/>
          </a:prstGeom>
          <a:solidFill>
            <a:schemeClr val="accent1"/>
          </a:solidFill>
          <a:ln w="3175">
            <a:solidFill>
              <a:schemeClr val="accent1"/>
            </a:solidFill>
            <a:prstDash val="solid"/>
          </a:ln>
        </p:spPr>
      </p:sp>
      <p:sp>
        <p:nvSpPr>
          <p:cNvPr id="60" name="Chlorine: electron, shell 2"/>
          <p:cNvSpPr/>
          <p:nvPr/>
        </p:nvSpPr>
        <p:spPr>
          <a:xfrm>
            <a:off x="4479486" y="2843561"/>
            <a:ext cx="71168" cy="71168"/>
          </a:xfrm>
          <a:prstGeom prst="ellipse">
            <a:avLst/>
          </a:prstGeom>
          <a:solidFill>
            <a:schemeClr val="accent1"/>
          </a:solidFill>
          <a:ln w="3175">
            <a:solidFill>
              <a:schemeClr val="accent1"/>
            </a:solidFill>
            <a:prstDash val="solid"/>
          </a:ln>
        </p:spPr>
      </p:sp>
      <p:sp>
        <p:nvSpPr>
          <p:cNvPr id="61" name="Chlorine: electron, shell 2"/>
          <p:cNvSpPr/>
          <p:nvPr/>
        </p:nvSpPr>
        <p:spPr>
          <a:xfrm>
            <a:off x="4575058" y="2843561"/>
            <a:ext cx="71168" cy="71168"/>
          </a:xfrm>
          <a:prstGeom prst="ellipse">
            <a:avLst/>
          </a:prstGeom>
          <a:solidFill>
            <a:schemeClr val="accent1"/>
          </a:solidFill>
          <a:ln w="3175">
            <a:solidFill>
              <a:schemeClr val="accent1"/>
            </a:solidFill>
            <a:prstDash val="solid"/>
          </a:ln>
        </p:spPr>
      </p:sp>
      <p:sp>
        <p:nvSpPr>
          <p:cNvPr id="62" name="Chlorine: electron, shell 2"/>
          <p:cNvSpPr/>
          <p:nvPr/>
        </p:nvSpPr>
        <p:spPr>
          <a:xfrm>
            <a:off x="4894247" y="3162750"/>
            <a:ext cx="71168" cy="71168"/>
          </a:xfrm>
          <a:prstGeom prst="ellipse">
            <a:avLst/>
          </a:prstGeom>
          <a:solidFill>
            <a:schemeClr val="accent1"/>
          </a:solidFill>
          <a:ln w="3175">
            <a:solidFill>
              <a:schemeClr val="accent1"/>
            </a:solidFill>
            <a:prstDash val="solid"/>
          </a:ln>
        </p:spPr>
      </p:sp>
      <p:sp>
        <p:nvSpPr>
          <p:cNvPr id="63" name="Chlorine: electron, shell 2"/>
          <p:cNvSpPr/>
          <p:nvPr/>
        </p:nvSpPr>
        <p:spPr>
          <a:xfrm>
            <a:off x="4894247" y="3258322"/>
            <a:ext cx="71168" cy="71168"/>
          </a:xfrm>
          <a:prstGeom prst="ellipse">
            <a:avLst/>
          </a:prstGeom>
          <a:solidFill>
            <a:schemeClr val="accent1"/>
          </a:solidFill>
          <a:ln w="3175">
            <a:solidFill>
              <a:schemeClr val="accent1"/>
            </a:solidFill>
            <a:prstDash val="solid"/>
          </a:ln>
        </p:spPr>
      </p:sp>
      <p:sp>
        <p:nvSpPr>
          <p:cNvPr id="64" name="Chlorine: electron, shell 2"/>
          <p:cNvSpPr/>
          <p:nvPr/>
        </p:nvSpPr>
        <p:spPr>
          <a:xfrm>
            <a:off x="4575058" y="3577511"/>
            <a:ext cx="71168" cy="71168"/>
          </a:xfrm>
          <a:prstGeom prst="ellipse">
            <a:avLst/>
          </a:prstGeom>
          <a:solidFill>
            <a:schemeClr val="accent1"/>
          </a:solidFill>
          <a:ln w="3175">
            <a:solidFill>
              <a:schemeClr val="accent1"/>
            </a:solidFill>
            <a:prstDash val="solid"/>
          </a:ln>
        </p:spPr>
      </p:sp>
      <p:sp>
        <p:nvSpPr>
          <p:cNvPr id="65" name="Chlorine: electron, shell 2"/>
          <p:cNvSpPr/>
          <p:nvPr/>
        </p:nvSpPr>
        <p:spPr>
          <a:xfrm>
            <a:off x="4479486" y="3577511"/>
            <a:ext cx="71168" cy="71168"/>
          </a:xfrm>
          <a:prstGeom prst="ellipse">
            <a:avLst/>
          </a:prstGeom>
          <a:solidFill>
            <a:schemeClr val="accent1"/>
          </a:solidFill>
          <a:ln w="3175">
            <a:solidFill>
              <a:schemeClr val="accent1"/>
            </a:solidFill>
            <a:prstDash val="solid"/>
          </a:ln>
        </p:spPr>
      </p:sp>
      <p:sp>
        <p:nvSpPr>
          <p:cNvPr id="66" name="Chlorine: electron, shell 2"/>
          <p:cNvSpPr/>
          <p:nvPr/>
        </p:nvSpPr>
        <p:spPr>
          <a:xfrm>
            <a:off x="4160297" y="3258322"/>
            <a:ext cx="71168" cy="71168"/>
          </a:xfrm>
          <a:prstGeom prst="ellipse">
            <a:avLst/>
          </a:prstGeom>
          <a:solidFill>
            <a:schemeClr val="accent1"/>
          </a:solidFill>
          <a:ln w="3175">
            <a:solidFill>
              <a:schemeClr val="accent1"/>
            </a:solidFill>
            <a:prstDash val="solid"/>
          </a:ln>
        </p:spPr>
      </p:sp>
      <p:sp>
        <p:nvSpPr>
          <p:cNvPr id="67" name="Chlorine: electron, shell 2"/>
          <p:cNvSpPr/>
          <p:nvPr/>
        </p:nvSpPr>
        <p:spPr>
          <a:xfrm>
            <a:off x="4160297" y="3162750"/>
            <a:ext cx="71168" cy="71168"/>
          </a:xfrm>
          <a:prstGeom prst="ellipse">
            <a:avLst/>
          </a:prstGeom>
          <a:solidFill>
            <a:schemeClr val="accent1"/>
          </a:solidFill>
          <a:ln w="3175">
            <a:solidFill>
              <a:schemeClr val="accent1"/>
            </a:solidFill>
            <a:prstDash val="solid"/>
          </a:ln>
        </p:spPr>
      </p:sp>
      <p:sp>
        <p:nvSpPr>
          <p:cNvPr id="68" name="Chlorine: electron, shell 3"/>
          <p:cNvSpPr/>
          <p:nvPr/>
        </p:nvSpPr>
        <p:spPr>
          <a:xfrm>
            <a:off x="4479425" y="2709897"/>
            <a:ext cx="71168" cy="71168"/>
          </a:xfrm>
          <a:prstGeom prst="ellipse">
            <a:avLst/>
          </a:prstGeom>
          <a:solidFill>
            <a:schemeClr val="accent1"/>
          </a:solidFill>
          <a:ln w="3175">
            <a:solidFill>
              <a:schemeClr val="accent1"/>
            </a:solidFill>
            <a:prstDash val="solid"/>
          </a:ln>
        </p:spPr>
      </p:sp>
      <p:sp>
        <p:nvSpPr>
          <p:cNvPr id="69" name="Chlorine: electron, shell 3"/>
          <p:cNvSpPr/>
          <p:nvPr/>
        </p:nvSpPr>
        <p:spPr>
          <a:xfrm>
            <a:off x="4575119" y="2709897"/>
            <a:ext cx="71168" cy="71168"/>
          </a:xfrm>
          <a:prstGeom prst="ellipse">
            <a:avLst/>
          </a:prstGeom>
          <a:solidFill>
            <a:schemeClr val="accent1"/>
          </a:solidFill>
          <a:ln w="3175">
            <a:solidFill>
              <a:schemeClr val="accent1"/>
            </a:solidFill>
            <a:prstDash val="solid"/>
          </a:ln>
        </p:spPr>
      </p:sp>
      <p:sp>
        <p:nvSpPr>
          <p:cNvPr id="70" name="Chlorine: electron, shell 3"/>
          <p:cNvSpPr/>
          <p:nvPr/>
        </p:nvSpPr>
        <p:spPr>
          <a:xfrm>
            <a:off x="5027911" y="3162689"/>
            <a:ext cx="71168" cy="71168"/>
          </a:xfrm>
          <a:prstGeom prst="ellipse">
            <a:avLst/>
          </a:prstGeom>
          <a:solidFill>
            <a:schemeClr val="accent1"/>
          </a:solidFill>
          <a:ln w="3175">
            <a:solidFill>
              <a:schemeClr val="accent1"/>
            </a:solidFill>
            <a:prstDash val="solid"/>
          </a:ln>
        </p:spPr>
      </p:sp>
      <p:sp>
        <p:nvSpPr>
          <p:cNvPr id="71" name="Chlorine: electron, shell 3"/>
          <p:cNvSpPr/>
          <p:nvPr/>
        </p:nvSpPr>
        <p:spPr>
          <a:xfrm>
            <a:off x="5027911" y="3258383"/>
            <a:ext cx="71168" cy="71168"/>
          </a:xfrm>
          <a:prstGeom prst="ellipse">
            <a:avLst/>
          </a:prstGeom>
          <a:solidFill>
            <a:schemeClr val="accent1"/>
          </a:solidFill>
          <a:ln w="3175">
            <a:solidFill>
              <a:schemeClr val="accent1"/>
            </a:solidFill>
            <a:prstDash val="solid"/>
          </a:ln>
        </p:spPr>
      </p:sp>
      <p:sp>
        <p:nvSpPr>
          <p:cNvPr id="72" name="Chlorine: electron, shell 3"/>
          <p:cNvSpPr/>
          <p:nvPr/>
        </p:nvSpPr>
        <p:spPr>
          <a:xfrm>
            <a:off x="4575119" y="3711175"/>
            <a:ext cx="71168" cy="71168"/>
          </a:xfrm>
          <a:prstGeom prst="ellipse">
            <a:avLst/>
          </a:prstGeom>
          <a:solidFill>
            <a:schemeClr val="accent1"/>
          </a:solidFill>
          <a:ln w="3175">
            <a:solidFill>
              <a:schemeClr val="accent1"/>
            </a:solidFill>
            <a:prstDash val="solid"/>
          </a:ln>
        </p:spPr>
      </p:sp>
      <p:sp>
        <p:nvSpPr>
          <p:cNvPr id="73" name="Chlorine: electron, shell 3"/>
          <p:cNvSpPr/>
          <p:nvPr/>
        </p:nvSpPr>
        <p:spPr>
          <a:xfrm>
            <a:off x="4479425" y="3711175"/>
            <a:ext cx="71168" cy="71168"/>
          </a:xfrm>
          <a:prstGeom prst="ellipse">
            <a:avLst/>
          </a:prstGeom>
          <a:solidFill>
            <a:schemeClr val="accent1"/>
          </a:solidFill>
          <a:ln w="3175">
            <a:solidFill>
              <a:schemeClr val="accent1"/>
            </a:solidFill>
            <a:prstDash val="solid"/>
          </a:ln>
        </p:spPr>
      </p:sp>
      <p:sp>
        <p:nvSpPr>
          <p:cNvPr id="74" name="Chlorine: electron, shell 3"/>
          <p:cNvSpPr/>
          <p:nvPr/>
        </p:nvSpPr>
        <p:spPr>
          <a:xfrm>
            <a:off x="4024352" y="3210536"/>
            <a:ext cx="71168" cy="71168"/>
          </a:xfrm>
          <a:prstGeom prst="ellipse">
            <a:avLst/>
          </a:prstGeom>
          <a:solidFill>
            <a:schemeClr val="accent1"/>
          </a:solidFill>
          <a:ln w="3175">
            <a:solidFill>
              <a:schemeClr val="accent1"/>
            </a:solidFill>
            <a:prstDash val="solid"/>
          </a:ln>
        </p:spPr>
      </p:sp>
      <p:sp>
        <p:nvSpPr>
          <p:cNvPr id="75" name="Text 73"/>
          <p:cNvSpPr txBox="1"/>
          <p:nvPr/>
        </p:nvSpPr>
        <p:spPr>
          <a:xfrm>
            <a:off x="3831336" y="3977640"/>
            <a:ext cx="1463040" cy="502920"/>
          </a:xfrm>
          <a:prstGeom prst="rect">
            <a:avLst/>
          </a:prstGeom>
          <a:noFill/>
          <a:ln/>
        </p:spPr>
        <p:txBody>
          <a:bodyPr wrap="square" lIns="0" tIns="0" rIns="0" bIns="0" rtlCol="0" anchor="ctr"/>
          <a:lstStyle/>
          <a:p>
            <a:pPr algn="ctr" indent="0" marL="0">
              <a:buNone/>
            </a:pPr>
            <a:r>
              <a:rPr lang="en-US" sz="1100" b="1" dirty="0">
                <a:solidFill>
                  <a:schemeClr val="bg1"/>
                </a:solidFill>
              </a:rPr>
              <a:t>17 p</a:t>
            </a:r>
            <a:pPr algn="ctr" indent="0" marL="0">
              <a:buNone/>
            </a:pPr>
            <a:r>
              <a:rPr lang="en-US" sz="1100" b="1" baseline="30000" dirty="0">
                <a:solidFill>
                  <a:schemeClr val="bg1"/>
                </a:solidFill>
              </a:rPr>
              <a:t>+</a:t>
            </a:r>
            <a:pPr algn="ctr" indent="0" marL="0">
              <a:buNone/>
            </a:pPr>
            <a:r>
              <a:rPr lang="en-US" sz="1100" b="1" dirty="0">
                <a:solidFill>
                  <a:schemeClr val="bg1"/>
                </a:solidFill>
              </a:rPr>
              <a:t>   18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2, 8, 7</a:t>
            </a:r>
            <a:endParaRPr lang="en-US" sz="1100" dirty="0"/>
          </a:p>
        </p:txBody>
      </p:sp>
      <p:sp>
        <p:nvSpPr>
          <p:cNvPr id="76" name="Build Magnesium"/>
          <p:cNvSpPr/>
          <p:nvPr/>
        </p:nvSpPr>
        <p:spPr>
          <a:xfrm>
            <a:off x="5449824"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77" name="Tile Mg"/>
          <p:cNvSpPr/>
          <p:nvPr/>
        </p:nvSpPr>
        <p:spPr>
          <a:xfrm>
            <a:off x="5559552" y="1819656"/>
            <a:ext cx="502920" cy="548640"/>
          </a:xfrm>
          <a:prstGeom prst="roundRect">
            <a:avLst>
              <a:gd name="adj" fmla="val 12000"/>
            </a:avLst>
          </a:prstGeom>
          <a:solidFill>
            <a:srgbClr val="FFCB5C">
              <a:alpha val="30000"/>
            </a:srgbClr>
          </a:solidFill>
          <a:ln w="19050">
            <a:solidFill>
              <a:srgbClr val="FFCB5C"/>
            </a:solidFill>
            <a:prstDash val="solid"/>
          </a:ln>
        </p:spPr>
      </p:sp>
      <p:sp>
        <p:nvSpPr>
          <p:cNvPr id="78" name="Text 76"/>
          <p:cNvSpPr txBox="1"/>
          <p:nvPr/>
        </p:nvSpPr>
        <p:spPr>
          <a:xfrm>
            <a:off x="5599786"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79" name="Text 77"/>
          <p:cNvSpPr txBox="1"/>
          <p:nvPr/>
        </p:nvSpPr>
        <p:spPr>
          <a:xfrm>
            <a:off x="5559552"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80" name="Text 78"/>
          <p:cNvSpPr txBox="1"/>
          <p:nvPr/>
        </p:nvSpPr>
        <p:spPr>
          <a:xfrm>
            <a:off x="6126480"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Magnesium</a:t>
            </a:r>
            <a:endParaRPr lang="en-US" sz="1200" dirty="0"/>
          </a:p>
        </p:txBody>
      </p:sp>
      <p:sp>
        <p:nvSpPr>
          <p:cNvPr id="81" name="Text 79"/>
          <p:cNvSpPr txBox="1"/>
          <p:nvPr/>
        </p:nvSpPr>
        <p:spPr>
          <a:xfrm>
            <a:off x="6126480"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12, 24.305</a:t>
            </a:r>
            <a:endParaRPr lang="en-US" sz="1000" dirty="0"/>
          </a:p>
        </p:txBody>
      </p:sp>
      <p:sp>
        <p:nvSpPr>
          <p:cNvPr id="82" name="Magnesium: shell 1"/>
          <p:cNvSpPr/>
          <p:nvPr/>
        </p:nvSpPr>
        <p:spPr>
          <a:xfrm>
            <a:off x="5999327" y="3018383"/>
            <a:ext cx="455475" cy="455475"/>
          </a:xfrm>
          <a:prstGeom prst="ellipse">
            <a:avLst/>
          </a:prstGeom>
          <a:solidFill>
            <a:schemeClr val="bg1">
              <a:alpha val="0"/>
            </a:schemeClr>
          </a:solidFill>
          <a:ln w="15875">
            <a:solidFill>
              <a:schemeClr val="bg2">
                <a:alpha val="55000"/>
              </a:schemeClr>
            </a:solidFill>
            <a:prstDash val="solid"/>
          </a:ln>
        </p:spPr>
      </p:sp>
      <p:sp>
        <p:nvSpPr>
          <p:cNvPr id="83" name="Magnesium: shell 2"/>
          <p:cNvSpPr/>
          <p:nvPr/>
        </p:nvSpPr>
        <p:spPr>
          <a:xfrm>
            <a:off x="5856991" y="2876047"/>
            <a:ext cx="740146" cy="740146"/>
          </a:xfrm>
          <a:prstGeom prst="ellipse">
            <a:avLst/>
          </a:prstGeom>
          <a:solidFill>
            <a:schemeClr val="bg1">
              <a:alpha val="0"/>
            </a:schemeClr>
          </a:solidFill>
          <a:ln w="15875">
            <a:solidFill>
              <a:schemeClr val="bg2">
                <a:alpha val="55000"/>
              </a:schemeClr>
            </a:solidFill>
            <a:prstDash val="solid"/>
          </a:ln>
        </p:spPr>
      </p:sp>
      <p:sp>
        <p:nvSpPr>
          <p:cNvPr id="84" name="Magnesium: shell 3"/>
          <p:cNvSpPr/>
          <p:nvPr/>
        </p:nvSpPr>
        <p:spPr>
          <a:xfrm>
            <a:off x="5724144" y="2743200"/>
            <a:ext cx="1005840" cy="1005840"/>
          </a:xfrm>
          <a:prstGeom prst="ellipse">
            <a:avLst/>
          </a:prstGeom>
          <a:solidFill>
            <a:schemeClr val="bg1">
              <a:alpha val="0"/>
            </a:schemeClr>
          </a:solidFill>
          <a:ln w="15875">
            <a:solidFill>
              <a:schemeClr val="bg2">
                <a:alpha val="55000"/>
              </a:schemeClr>
            </a:solidFill>
            <a:prstDash val="solid"/>
          </a:ln>
        </p:spPr>
      </p:sp>
      <p:sp>
        <p:nvSpPr>
          <p:cNvPr id="85" name="Magnesium: nucleus"/>
          <p:cNvSpPr/>
          <p:nvPr/>
        </p:nvSpPr>
        <p:spPr>
          <a:xfrm>
            <a:off x="6079984" y="3099040"/>
            <a:ext cx="294161" cy="294161"/>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12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12 n</a:t>
            </a:r>
            <a:pPr algn="ctr" indent="0" marL="0">
              <a:buNone/>
            </a:pPr>
            <a:r>
              <a:rPr lang="en-US" sz="600" b="1" baseline="30000" dirty="0">
                <a:solidFill>
                  <a:schemeClr val="bg1"/>
                </a:solidFill>
              </a:rPr>
              <a:t>0</a:t>
            </a:r>
            <a:endParaRPr lang="en-US" sz="600" dirty="0"/>
          </a:p>
        </p:txBody>
      </p:sp>
      <p:sp>
        <p:nvSpPr>
          <p:cNvPr id="86" name="Magnesium: electron, shell 1"/>
          <p:cNvSpPr/>
          <p:nvPr/>
        </p:nvSpPr>
        <p:spPr>
          <a:xfrm>
            <a:off x="6191480" y="2982799"/>
            <a:ext cx="71168" cy="71168"/>
          </a:xfrm>
          <a:prstGeom prst="ellipse">
            <a:avLst/>
          </a:prstGeom>
          <a:solidFill>
            <a:schemeClr val="accent1"/>
          </a:solidFill>
          <a:ln w="3175">
            <a:solidFill>
              <a:schemeClr val="accent1"/>
            </a:solidFill>
            <a:prstDash val="solid"/>
          </a:ln>
        </p:spPr>
      </p:sp>
      <p:sp>
        <p:nvSpPr>
          <p:cNvPr id="87" name="Magnesium: electron, shell 1"/>
          <p:cNvSpPr/>
          <p:nvPr/>
        </p:nvSpPr>
        <p:spPr>
          <a:xfrm>
            <a:off x="6419217" y="3210536"/>
            <a:ext cx="71168" cy="71168"/>
          </a:xfrm>
          <a:prstGeom prst="ellipse">
            <a:avLst/>
          </a:prstGeom>
          <a:solidFill>
            <a:schemeClr val="accent1"/>
          </a:solidFill>
          <a:ln w="3175">
            <a:solidFill>
              <a:schemeClr val="accent1"/>
            </a:solidFill>
            <a:prstDash val="solid"/>
          </a:ln>
        </p:spPr>
      </p:sp>
      <p:sp>
        <p:nvSpPr>
          <p:cNvPr id="88" name="Magnesium: electron, shell 2"/>
          <p:cNvSpPr/>
          <p:nvPr/>
        </p:nvSpPr>
        <p:spPr>
          <a:xfrm>
            <a:off x="6143694" y="2843561"/>
            <a:ext cx="71168" cy="71168"/>
          </a:xfrm>
          <a:prstGeom prst="ellipse">
            <a:avLst/>
          </a:prstGeom>
          <a:solidFill>
            <a:schemeClr val="accent1"/>
          </a:solidFill>
          <a:ln w="3175">
            <a:solidFill>
              <a:schemeClr val="accent1"/>
            </a:solidFill>
            <a:prstDash val="solid"/>
          </a:ln>
        </p:spPr>
      </p:sp>
      <p:sp>
        <p:nvSpPr>
          <p:cNvPr id="89" name="Magnesium: electron, shell 2"/>
          <p:cNvSpPr/>
          <p:nvPr/>
        </p:nvSpPr>
        <p:spPr>
          <a:xfrm>
            <a:off x="6239266" y="2843561"/>
            <a:ext cx="71168" cy="71168"/>
          </a:xfrm>
          <a:prstGeom prst="ellipse">
            <a:avLst/>
          </a:prstGeom>
          <a:solidFill>
            <a:schemeClr val="accent1"/>
          </a:solidFill>
          <a:ln w="3175">
            <a:solidFill>
              <a:schemeClr val="accent1"/>
            </a:solidFill>
            <a:prstDash val="solid"/>
          </a:ln>
        </p:spPr>
      </p:sp>
      <p:sp>
        <p:nvSpPr>
          <p:cNvPr id="90" name="Magnesium: electron, shell 2"/>
          <p:cNvSpPr/>
          <p:nvPr/>
        </p:nvSpPr>
        <p:spPr>
          <a:xfrm>
            <a:off x="6558455" y="3162750"/>
            <a:ext cx="71168" cy="71168"/>
          </a:xfrm>
          <a:prstGeom prst="ellipse">
            <a:avLst/>
          </a:prstGeom>
          <a:solidFill>
            <a:schemeClr val="accent1"/>
          </a:solidFill>
          <a:ln w="3175">
            <a:solidFill>
              <a:schemeClr val="accent1"/>
            </a:solidFill>
            <a:prstDash val="solid"/>
          </a:ln>
        </p:spPr>
      </p:sp>
      <p:sp>
        <p:nvSpPr>
          <p:cNvPr id="91" name="Magnesium: electron, shell 2"/>
          <p:cNvSpPr/>
          <p:nvPr/>
        </p:nvSpPr>
        <p:spPr>
          <a:xfrm>
            <a:off x="6558455" y="3258322"/>
            <a:ext cx="71168" cy="71168"/>
          </a:xfrm>
          <a:prstGeom prst="ellipse">
            <a:avLst/>
          </a:prstGeom>
          <a:solidFill>
            <a:schemeClr val="accent1"/>
          </a:solidFill>
          <a:ln w="3175">
            <a:solidFill>
              <a:schemeClr val="accent1"/>
            </a:solidFill>
            <a:prstDash val="solid"/>
          </a:ln>
        </p:spPr>
      </p:sp>
      <p:sp>
        <p:nvSpPr>
          <p:cNvPr id="92" name="Magnesium: electron, shell 2"/>
          <p:cNvSpPr/>
          <p:nvPr/>
        </p:nvSpPr>
        <p:spPr>
          <a:xfrm>
            <a:off x="6239266" y="3577511"/>
            <a:ext cx="71168" cy="71168"/>
          </a:xfrm>
          <a:prstGeom prst="ellipse">
            <a:avLst/>
          </a:prstGeom>
          <a:solidFill>
            <a:schemeClr val="accent1"/>
          </a:solidFill>
          <a:ln w="3175">
            <a:solidFill>
              <a:schemeClr val="accent1"/>
            </a:solidFill>
            <a:prstDash val="solid"/>
          </a:ln>
        </p:spPr>
      </p:sp>
      <p:sp>
        <p:nvSpPr>
          <p:cNvPr id="93" name="Magnesium: electron, shell 2"/>
          <p:cNvSpPr/>
          <p:nvPr/>
        </p:nvSpPr>
        <p:spPr>
          <a:xfrm>
            <a:off x="6143694" y="3577511"/>
            <a:ext cx="71168" cy="71168"/>
          </a:xfrm>
          <a:prstGeom prst="ellipse">
            <a:avLst/>
          </a:prstGeom>
          <a:solidFill>
            <a:schemeClr val="accent1"/>
          </a:solidFill>
          <a:ln w="3175">
            <a:solidFill>
              <a:schemeClr val="accent1"/>
            </a:solidFill>
            <a:prstDash val="solid"/>
          </a:ln>
        </p:spPr>
      </p:sp>
      <p:sp>
        <p:nvSpPr>
          <p:cNvPr id="94" name="Magnesium: electron, shell 2"/>
          <p:cNvSpPr/>
          <p:nvPr/>
        </p:nvSpPr>
        <p:spPr>
          <a:xfrm>
            <a:off x="5824505" y="3258322"/>
            <a:ext cx="71168" cy="71168"/>
          </a:xfrm>
          <a:prstGeom prst="ellipse">
            <a:avLst/>
          </a:prstGeom>
          <a:solidFill>
            <a:schemeClr val="accent1"/>
          </a:solidFill>
          <a:ln w="3175">
            <a:solidFill>
              <a:schemeClr val="accent1"/>
            </a:solidFill>
            <a:prstDash val="solid"/>
          </a:ln>
        </p:spPr>
      </p:sp>
      <p:sp>
        <p:nvSpPr>
          <p:cNvPr id="95" name="Magnesium: electron, shell 2"/>
          <p:cNvSpPr/>
          <p:nvPr/>
        </p:nvSpPr>
        <p:spPr>
          <a:xfrm>
            <a:off x="5824505" y="3162750"/>
            <a:ext cx="71168" cy="71168"/>
          </a:xfrm>
          <a:prstGeom prst="ellipse">
            <a:avLst/>
          </a:prstGeom>
          <a:solidFill>
            <a:schemeClr val="accent1"/>
          </a:solidFill>
          <a:ln w="3175">
            <a:solidFill>
              <a:schemeClr val="accent1"/>
            </a:solidFill>
            <a:prstDash val="solid"/>
          </a:ln>
        </p:spPr>
      </p:sp>
      <p:sp>
        <p:nvSpPr>
          <p:cNvPr id="96" name="Magnesium: electron, shell 3"/>
          <p:cNvSpPr/>
          <p:nvPr/>
        </p:nvSpPr>
        <p:spPr>
          <a:xfrm>
            <a:off x="6191480" y="2707616"/>
            <a:ext cx="71168" cy="71168"/>
          </a:xfrm>
          <a:prstGeom prst="ellipse">
            <a:avLst/>
          </a:prstGeom>
          <a:solidFill>
            <a:schemeClr val="accent1"/>
          </a:solidFill>
          <a:ln w="3175">
            <a:solidFill>
              <a:schemeClr val="accent1"/>
            </a:solidFill>
            <a:prstDash val="solid"/>
          </a:ln>
        </p:spPr>
      </p:sp>
      <p:sp>
        <p:nvSpPr>
          <p:cNvPr id="97" name="Magnesium: electron, shell 3"/>
          <p:cNvSpPr/>
          <p:nvPr/>
        </p:nvSpPr>
        <p:spPr>
          <a:xfrm>
            <a:off x="6694400" y="3210536"/>
            <a:ext cx="71168" cy="71168"/>
          </a:xfrm>
          <a:prstGeom prst="ellipse">
            <a:avLst/>
          </a:prstGeom>
          <a:solidFill>
            <a:schemeClr val="accent1"/>
          </a:solidFill>
          <a:ln w="3175">
            <a:solidFill>
              <a:schemeClr val="accent1"/>
            </a:solidFill>
            <a:prstDash val="solid"/>
          </a:ln>
        </p:spPr>
      </p:sp>
      <p:sp>
        <p:nvSpPr>
          <p:cNvPr id="98" name="Text 96"/>
          <p:cNvSpPr txBox="1"/>
          <p:nvPr/>
        </p:nvSpPr>
        <p:spPr>
          <a:xfrm>
            <a:off x="5495544" y="3977640"/>
            <a:ext cx="1463040" cy="502920"/>
          </a:xfrm>
          <a:prstGeom prst="rect">
            <a:avLst/>
          </a:prstGeom>
          <a:noFill/>
          <a:ln/>
        </p:spPr>
        <p:txBody>
          <a:bodyPr wrap="square" lIns="0" tIns="0" rIns="0" bIns="0" rtlCol="0" anchor="ctr"/>
          <a:lstStyle/>
          <a:p>
            <a:pPr algn="ctr" indent="0" marL="0">
              <a:buNone/>
            </a:pPr>
            <a:r>
              <a:rPr lang="en-US" sz="1100" b="1" dirty="0">
                <a:solidFill>
                  <a:schemeClr val="bg1"/>
                </a:solidFill>
              </a:rPr>
              <a:t>12 p</a:t>
            </a:r>
            <a:pPr algn="ctr" indent="0" marL="0">
              <a:buNone/>
            </a:pPr>
            <a:r>
              <a:rPr lang="en-US" sz="1100" b="1" baseline="30000" dirty="0">
                <a:solidFill>
                  <a:schemeClr val="bg1"/>
                </a:solidFill>
              </a:rPr>
              <a:t>+</a:t>
            </a:r>
            <a:pPr algn="ctr" indent="0" marL="0">
              <a:buNone/>
            </a:pPr>
            <a:r>
              <a:rPr lang="en-US" sz="1100" b="1" dirty="0">
                <a:solidFill>
                  <a:schemeClr val="bg1"/>
                </a:solidFill>
              </a:rPr>
              <a:t>   12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2, 8, 2</a:t>
            </a:r>
            <a:endParaRPr lang="en-US" sz="1100" dirty="0"/>
          </a:p>
        </p:txBody>
      </p:sp>
      <p:sp>
        <p:nvSpPr>
          <p:cNvPr id="99" name="Build Fluorine"/>
          <p:cNvSpPr/>
          <p:nvPr/>
        </p:nvSpPr>
        <p:spPr>
          <a:xfrm>
            <a:off x="7114032" y="1691640"/>
            <a:ext cx="1554480" cy="2926080"/>
          </a:xfrm>
          <a:prstGeom prst="roundRect">
            <a:avLst>
              <a:gd name="adj" fmla="val 5882"/>
            </a:avLst>
          </a:prstGeom>
          <a:solidFill>
            <a:schemeClr val="tx2"/>
          </a:solidFill>
          <a:ln w="9525">
            <a:solidFill>
              <a:schemeClr val="bg2">
                <a:alpha val="30000"/>
              </a:schemeClr>
            </a:solidFill>
            <a:prstDash val="solid"/>
          </a:ln>
        </p:spPr>
      </p:sp>
      <p:sp>
        <p:nvSpPr>
          <p:cNvPr id="100" name="Tile F"/>
          <p:cNvSpPr/>
          <p:nvPr/>
        </p:nvSpPr>
        <p:spPr>
          <a:xfrm>
            <a:off x="7223760" y="1819656"/>
            <a:ext cx="502920" cy="548640"/>
          </a:xfrm>
          <a:prstGeom prst="roundRect">
            <a:avLst>
              <a:gd name="adj" fmla="val 12000"/>
            </a:avLst>
          </a:prstGeom>
          <a:solidFill>
            <a:srgbClr val="F477B8">
              <a:alpha val="30000"/>
            </a:srgbClr>
          </a:solidFill>
          <a:ln w="19050">
            <a:solidFill>
              <a:srgbClr val="F477B8"/>
            </a:solidFill>
            <a:prstDash val="solid"/>
          </a:ln>
        </p:spPr>
      </p:sp>
      <p:sp>
        <p:nvSpPr>
          <p:cNvPr id="101" name="Text 99"/>
          <p:cNvSpPr txBox="1"/>
          <p:nvPr/>
        </p:nvSpPr>
        <p:spPr>
          <a:xfrm>
            <a:off x="7263994" y="1847088"/>
            <a:ext cx="301752" cy="131674"/>
          </a:xfrm>
          <a:prstGeom prst="rect">
            <a:avLst/>
          </a:prstGeom>
          <a:noFill/>
          <a:ln/>
        </p:spPr>
        <p:txBody>
          <a:bodyPr wrap="square" lIns="0" tIns="0" rIns="0" bIns="0" rtlCol="0" anchor="t"/>
          <a:lstStyle/>
          <a:p>
            <a:pPr indent="0" marL="0">
              <a:buNone/>
            </a:pPr>
            <a:r>
              <a:rPr lang="en-US" sz="800" dirty="0">
                <a:solidFill>
                  <a:schemeClr val="bg2"/>
                </a:solidFill>
              </a:rPr>
              <a:t>9</a:t>
            </a:r>
            <a:endParaRPr lang="en-US" sz="800" dirty="0"/>
          </a:p>
        </p:txBody>
      </p:sp>
      <p:sp>
        <p:nvSpPr>
          <p:cNvPr id="102" name="Text 100"/>
          <p:cNvSpPr txBox="1"/>
          <p:nvPr/>
        </p:nvSpPr>
        <p:spPr>
          <a:xfrm>
            <a:off x="7223760" y="1907438"/>
            <a:ext cx="502920" cy="438912"/>
          </a:xfrm>
          <a:prstGeom prst="rect">
            <a:avLst/>
          </a:prstGeom>
          <a:noFill/>
          <a:ln/>
        </p:spPr>
        <p:txBody>
          <a:bodyPr wrap="square" lIns="0" tIns="0" rIns="0" bIns="0" rtlCol="0" anchor="ctr"/>
          <a:lstStyle/>
          <a:p>
            <a:pPr algn="ctr" indent="0" marL="0">
              <a:buNone/>
            </a:pPr>
            <a:r>
              <a:rPr lang="en-US" sz="2000" b="1" dirty="0">
                <a:solidFill>
                  <a:schemeClr val="bg1"/>
                </a:solidFill>
              </a:rPr>
              <a:t>F</a:t>
            </a:r>
            <a:endParaRPr lang="en-US" sz="2000" dirty="0"/>
          </a:p>
        </p:txBody>
      </p:sp>
      <p:sp>
        <p:nvSpPr>
          <p:cNvPr id="103" name="Text 101"/>
          <p:cNvSpPr txBox="1"/>
          <p:nvPr/>
        </p:nvSpPr>
        <p:spPr>
          <a:xfrm>
            <a:off x="7790688" y="1819656"/>
            <a:ext cx="868680" cy="274320"/>
          </a:xfrm>
          <a:prstGeom prst="rect">
            <a:avLst/>
          </a:prstGeom>
          <a:noFill/>
          <a:ln/>
        </p:spPr>
        <p:txBody>
          <a:bodyPr wrap="square" lIns="0" tIns="0" rIns="0" bIns="0" rtlCol="0" anchor="t"/>
          <a:lstStyle/>
          <a:p>
            <a:pPr indent="0" marL="0">
              <a:buNone/>
            </a:pPr>
            <a:r>
              <a:rPr lang="en-US" sz="1200" b="1" dirty="0">
                <a:solidFill>
                  <a:schemeClr val="bg1"/>
                </a:solidFill>
              </a:rPr>
              <a:t>Fluorine</a:t>
            </a:r>
            <a:endParaRPr lang="en-US" sz="1200" dirty="0"/>
          </a:p>
        </p:txBody>
      </p:sp>
      <p:sp>
        <p:nvSpPr>
          <p:cNvPr id="104" name="Text 102"/>
          <p:cNvSpPr txBox="1"/>
          <p:nvPr/>
        </p:nvSpPr>
        <p:spPr>
          <a:xfrm>
            <a:off x="7790688" y="2093976"/>
            <a:ext cx="868680" cy="237744"/>
          </a:xfrm>
          <a:prstGeom prst="rect">
            <a:avLst/>
          </a:prstGeom>
          <a:noFill/>
          <a:ln/>
        </p:spPr>
        <p:txBody>
          <a:bodyPr wrap="square" lIns="0" tIns="0" rIns="0" bIns="0" rtlCol="0" anchor="t"/>
          <a:lstStyle/>
          <a:p>
            <a:pPr indent="0" marL="0">
              <a:buNone/>
            </a:pPr>
            <a:r>
              <a:rPr lang="en-US" sz="1000" dirty="0">
                <a:solidFill>
                  <a:schemeClr val="bg2"/>
                </a:solidFill>
              </a:rPr>
              <a:t>9, 18.998</a:t>
            </a:r>
            <a:endParaRPr lang="en-US" sz="1000" dirty="0"/>
          </a:p>
        </p:txBody>
      </p:sp>
      <p:sp>
        <p:nvSpPr>
          <p:cNvPr id="105" name="Fluorine: shell 1"/>
          <p:cNvSpPr/>
          <p:nvPr/>
        </p:nvSpPr>
        <p:spPr>
          <a:xfrm>
            <a:off x="7613294" y="2968142"/>
            <a:ext cx="555955" cy="555955"/>
          </a:xfrm>
          <a:prstGeom prst="ellipse">
            <a:avLst/>
          </a:prstGeom>
          <a:solidFill>
            <a:schemeClr val="bg1">
              <a:alpha val="0"/>
            </a:schemeClr>
          </a:solidFill>
          <a:ln w="15875">
            <a:solidFill>
              <a:schemeClr val="bg2">
                <a:alpha val="55000"/>
              </a:schemeClr>
            </a:solidFill>
            <a:prstDash val="solid"/>
          </a:ln>
        </p:spPr>
      </p:sp>
      <p:sp>
        <p:nvSpPr>
          <p:cNvPr id="106" name="Fluorine: shell 2"/>
          <p:cNvSpPr/>
          <p:nvPr/>
        </p:nvSpPr>
        <p:spPr>
          <a:xfrm>
            <a:off x="7439558" y="2794406"/>
            <a:ext cx="903427" cy="903427"/>
          </a:xfrm>
          <a:prstGeom prst="ellipse">
            <a:avLst/>
          </a:prstGeom>
          <a:solidFill>
            <a:schemeClr val="bg1">
              <a:alpha val="0"/>
            </a:schemeClr>
          </a:solidFill>
          <a:ln w="15875">
            <a:solidFill>
              <a:schemeClr val="bg2">
                <a:alpha val="55000"/>
              </a:schemeClr>
            </a:solidFill>
            <a:prstDash val="solid"/>
          </a:ln>
        </p:spPr>
      </p:sp>
      <p:sp>
        <p:nvSpPr>
          <p:cNvPr id="107" name="Fluorine: nucleus"/>
          <p:cNvSpPr/>
          <p:nvPr/>
        </p:nvSpPr>
        <p:spPr>
          <a:xfrm>
            <a:off x="7711745" y="3066593"/>
            <a:ext cx="359054" cy="359054"/>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600" b="1" dirty="0">
                <a:solidFill>
                  <a:schemeClr val="bg1"/>
                </a:solidFill>
              </a:rPr>
              <a:t>9 p</a:t>
            </a:r>
            <a:pPr algn="ctr" indent="0" marL="0">
              <a:buNone/>
            </a:pPr>
            <a:r>
              <a:rPr lang="en-US" sz="600" b="1" baseline="30000" dirty="0">
                <a:solidFill>
                  <a:schemeClr val="bg1"/>
                </a:solidFill>
              </a:rPr>
              <a:t>+</a:t>
            </a:r>
            <a:endParaRPr lang="en-US" sz="600" dirty="0"/>
          </a:p>
          <a:p>
            <a:pPr algn="ctr" indent="0" marL="0">
              <a:buNone/>
            </a:pPr>
            <a:r>
              <a:rPr lang="en-US" sz="600" b="1" dirty="0">
                <a:solidFill>
                  <a:schemeClr val="bg1"/>
                </a:solidFill>
              </a:rPr>
              <a:t>10 n</a:t>
            </a:r>
            <a:pPr algn="ctr" indent="0" marL="0">
              <a:buNone/>
            </a:pPr>
            <a:r>
              <a:rPr lang="en-US" sz="600" b="1" baseline="30000" dirty="0">
                <a:solidFill>
                  <a:schemeClr val="bg1"/>
                </a:solidFill>
              </a:rPr>
              <a:t>0</a:t>
            </a:r>
            <a:endParaRPr lang="en-US" sz="600" dirty="0"/>
          </a:p>
        </p:txBody>
      </p:sp>
      <p:sp>
        <p:nvSpPr>
          <p:cNvPr id="108" name="Fluorine: electron, shell 1"/>
          <p:cNvSpPr/>
          <p:nvPr/>
        </p:nvSpPr>
        <p:spPr>
          <a:xfrm>
            <a:off x="7847838" y="2924708"/>
            <a:ext cx="86868" cy="86868"/>
          </a:xfrm>
          <a:prstGeom prst="ellipse">
            <a:avLst/>
          </a:prstGeom>
          <a:solidFill>
            <a:schemeClr val="accent1"/>
          </a:solidFill>
          <a:ln w="3175">
            <a:solidFill>
              <a:schemeClr val="accent1"/>
            </a:solidFill>
            <a:prstDash val="solid"/>
          </a:ln>
        </p:spPr>
      </p:sp>
      <p:sp>
        <p:nvSpPr>
          <p:cNvPr id="109" name="Fluorine: electron, shell 1"/>
          <p:cNvSpPr/>
          <p:nvPr/>
        </p:nvSpPr>
        <p:spPr>
          <a:xfrm>
            <a:off x="8125816" y="3202686"/>
            <a:ext cx="86868" cy="86868"/>
          </a:xfrm>
          <a:prstGeom prst="ellipse">
            <a:avLst/>
          </a:prstGeom>
          <a:solidFill>
            <a:schemeClr val="accent1"/>
          </a:solidFill>
          <a:ln w="3175">
            <a:solidFill>
              <a:schemeClr val="accent1"/>
            </a:solidFill>
            <a:prstDash val="solid"/>
          </a:ln>
        </p:spPr>
      </p:sp>
      <p:sp>
        <p:nvSpPr>
          <p:cNvPr id="110" name="Fluorine: electron, shell 2"/>
          <p:cNvSpPr/>
          <p:nvPr/>
        </p:nvSpPr>
        <p:spPr>
          <a:xfrm>
            <a:off x="7789510" y="2754754"/>
            <a:ext cx="86868" cy="86868"/>
          </a:xfrm>
          <a:prstGeom prst="ellipse">
            <a:avLst/>
          </a:prstGeom>
          <a:solidFill>
            <a:schemeClr val="accent1"/>
          </a:solidFill>
          <a:ln w="3175">
            <a:solidFill>
              <a:schemeClr val="accent1"/>
            </a:solidFill>
            <a:prstDash val="solid"/>
          </a:ln>
        </p:spPr>
      </p:sp>
      <p:sp>
        <p:nvSpPr>
          <p:cNvPr id="111" name="Fluorine: electron, shell 2"/>
          <p:cNvSpPr/>
          <p:nvPr/>
        </p:nvSpPr>
        <p:spPr>
          <a:xfrm>
            <a:off x="7906166" y="2754754"/>
            <a:ext cx="86868" cy="86868"/>
          </a:xfrm>
          <a:prstGeom prst="ellipse">
            <a:avLst/>
          </a:prstGeom>
          <a:solidFill>
            <a:schemeClr val="accent1"/>
          </a:solidFill>
          <a:ln w="3175">
            <a:solidFill>
              <a:schemeClr val="accent1"/>
            </a:solidFill>
            <a:prstDash val="solid"/>
          </a:ln>
        </p:spPr>
      </p:sp>
      <p:sp>
        <p:nvSpPr>
          <p:cNvPr id="112" name="Fluorine: electron, shell 2"/>
          <p:cNvSpPr/>
          <p:nvPr/>
        </p:nvSpPr>
        <p:spPr>
          <a:xfrm>
            <a:off x="8295770" y="3144358"/>
            <a:ext cx="86868" cy="86868"/>
          </a:xfrm>
          <a:prstGeom prst="ellipse">
            <a:avLst/>
          </a:prstGeom>
          <a:solidFill>
            <a:schemeClr val="accent1"/>
          </a:solidFill>
          <a:ln w="3175">
            <a:solidFill>
              <a:schemeClr val="accent1"/>
            </a:solidFill>
            <a:prstDash val="solid"/>
          </a:ln>
        </p:spPr>
      </p:sp>
      <p:sp>
        <p:nvSpPr>
          <p:cNvPr id="113" name="Fluorine: electron, shell 2"/>
          <p:cNvSpPr/>
          <p:nvPr/>
        </p:nvSpPr>
        <p:spPr>
          <a:xfrm>
            <a:off x="8295770" y="3261014"/>
            <a:ext cx="86868" cy="86868"/>
          </a:xfrm>
          <a:prstGeom prst="ellipse">
            <a:avLst/>
          </a:prstGeom>
          <a:solidFill>
            <a:schemeClr val="accent1"/>
          </a:solidFill>
          <a:ln w="3175">
            <a:solidFill>
              <a:schemeClr val="accent1"/>
            </a:solidFill>
            <a:prstDash val="solid"/>
          </a:ln>
        </p:spPr>
      </p:sp>
      <p:sp>
        <p:nvSpPr>
          <p:cNvPr id="114" name="Fluorine: electron, shell 2"/>
          <p:cNvSpPr/>
          <p:nvPr/>
        </p:nvSpPr>
        <p:spPr>
          <a:xfrm>
            <a:off x="7906166" y="3650618"/>
            <a:ext cx="86868" cy="86868"/>
          </a:xfrm>
          <a:prstGeom prst="ellipse">
            <a:avLst/>
          </a:prstGeom>
          <a:solidFill>
            <a:schemeClr val="accent1"/>
          </a:solidFill>
          <a:ln w="3175">
            <a:solidFill>
              <a:schemeClr val="accent1"/>
            </a:solidFill>
            <a:prstDash val="solid"/>
          </a:ln>
        </p:spPr>
      </p:sp>
      <p:sp>
        <p:nvSpPr>
          <p:cNvPr id="115" name="Fluorine: electron, shell 2"/>
          <p:cNvSpPr/>
          <p:nvPr/>
        </p:nvSpPr>
        <p:spPr>
          <a:xfrm>
            <a:off x="7789510" y="3650618"/>
            <a:ext cx="86868" cy="86868"/>
          </a:xfrm>
          <a:prstGeom prst="ellipse">
            <a:avLst/>
          </a:prstGeom>
          <a:solidFill>
            <a:schemeClr val="accent1"/>
          </a:solidFill>
          <a:ln w="3175">
            <a:solidFill>
              <a:schemeClr val="accent1"/>
            </a:solidFill>
            <a:prstDash val="solid"/>
          </a:ln>
        </p:spPr>
      </p:sp>
      <p:sp>
        <p:nvSpPr>
          <p:cNvPr id="116" name="Fluorine: electron, shell 2"/>
          <p:cNvSpPr/>
          <p:nvPr/>
        </p:nvSpPr>
        <p:spPr>
          <a:xfrm>
            <a:off x="7396124" y="3202686"/>
            <a:ext cx="86868" cy="86868"/>
          </a:xfrm>
          <a:prstGeom prst="ellipse">
            <a:avLst/>
          </a:prstGeom>
          <a:solidFill>
            <a:schemeClr val="accent1"/>
          </a:solidFill>
          <a:ln w="3175">
            <a:solidFill>
              <a:schemeClr val="accent1"/>
            </a:solidFill>
            <a:prstDash val="solid"/>
          </a:ln>
        </p:spPr>
      </p:sp>
      <p:sp>
        <p:nvSpPr>
          <p:cNvPr id="117" name="Text 115"/>
          <p:cNvSpPr txBox="1"/>
          <p:nvPr/>
        </p:nvSpPr>
        <p:spPr>
          <a:xfrm>
            <a:off x="7159752" y="3977640"/>
            <a:ext cx="1463040" cy="502920"/>
          </a:xfrm>
          <a:prstGeom prst="rect">
            <a:avLst/>
          </a:prstGeom>
          <a:noFill/>
          <a:ln/>
        </p:spPr>
        <p:txBody>
          <a:bodyPr wrap="square" lIns="0" tIns="0" rIns="0" bIns="0" rtlCol="0" anchor="ctr"/>
          <a:lstStyle/>
          <a:p>
            <a:pPr algn="ctr" indent="0" marL="0">
              <a:buNone/>
            </a:pPr>
            <a:r>
              <a:rPr lang="en-US" sz="1100" b="1" dirty="0">
                <a:solidFill>
                  <a:schemeClr val="bg1"/>
                </a:solidFill>
              </a:rPr>
              <a:t>9 p</a:t>
            </a:r>
            <a:pPr algn="ctr" indent="0" marL="0">
              <a:buNone/>
            </a:pPr>
            <a:r>
              <a:rPr lang="en-US" sz="1100" b="1" baseline="30000" dirty="0">
                <a:solidFill>
                  <a:schemeClr val="bg1"/>
                </a:solidFill>
              </a:rPr>
              <a:t>+</a:t>
            </a:r>
            <a:pPr algn="ctr" indent="0" marL="0">
              <a:buNone/>
            </a:pPr>
            <a:r>
              <a:rPr lang="en-US" sz="1100" b="1" dirty="0">
                <a:solidFill>
                  <a:schemeClr val="bg1"/>
                </a:solidFill>
              </a:rPr>
              <a:t>   10 n</a:t>
            </a:r>
            <a:pPr algn="ctr" indent="0" marL="0">
              <a:buNone/>
            </a:pPr>
            <a:r>
              <a:rPr lang="en-US" sz="1100" b="1" baseline="30000" dirty="0">
                <a:solidFill>
                  <a:schemeClr val="bg1"/>
                </a:solidFill>
              </a:rPr>
              <a:t>0</a:t>
            </a:r>
            <a:pPr algn="ctr" indent="0" marL="0">
              <a:buNone/>
            </a:pPr>
            <a:endParaRPr lang="en-US" sz="1100" dirty="0"/>
          </a:p>
          <a:p>
            <a:pPr algn="ctr" indent="0" marL="0">
              <a:buNone/>
            </a:pPr>
            <a:r>
              <a:rPr lang="en-US" sz="1100" b="1" dirty="0">
                <a:solidFill>
                  <a:schemeClr val="accent1"/>
                </a:solidFill>
              </a:rPr>
              <a:t>2, 7</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ile C"/>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 Bohr model shows 2 electrons in shell 1, 8 in shell 2, and 3 in shell 3. Which element is it?</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Boron</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Aluminum</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Sodium</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Lithium</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ile C"/>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 Bohr model shows 2 electrons in shell 1, 8 in shell 2, and 3 in shell 3. Which element is it?</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Boron</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Aluminum</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Sodium</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Lithium</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2 + 8 + 3 = 13 electrons, so 13 protons. Atomic number 13 is aluminum.</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7 of 9 · about 7 min</a:t>
            </a:r>
            <a:endParaRPr lang="en-US" sz="1200" dirty="0"/>
          </a:p>
        </p:txBody>
      </p:sp>
      <p:sp>
        <p:nvSpPr>
          <p:cNvPr id="6" name="Text 0"/>
          <p:cNvSpPr/>
          <p:nvPr>
            <p:ph idx="101" type="title" hasCustomPrompt="1"/>
          </p:nvPr>
        </p:nvSpPr>
        <p:spPr>
          <a:xfrm>
            <a:off x="1417320" y="603504"/>
            <a:ext cx="7269480" cy="530352"/>
          </a:xfrm>
          <a:prstGeom prst="rect">
            <a:avLst/>
          </a:prstGeom>
          <a:noFill/>
          <a:ln/>
        </p:spPr>
        <p:txBody>
          <a:bodyPr wrap="square" lIns="0" tIns="0" rIns="0" bIns="0" rtlCol="0" anchor="ctr"/>
          <a:lstStyle/>
          <a:p>
            <a:pPr algn="l" indent="0" marL="0">
              <a:buNone/>
            </a:pPr>
            <a:r>
              <a:rPr lang="en-US" sz="2500" b="1" dirty="0">
                <a:solidFill>
                  <a:schemeClr val="bg1"/>
                </a:solidFill>
              </a:rPr>
              <a:t>Valence electrons and the periodic table</a:t>
            </a:r>
            <a:endParaRPr lang="en-US" sz="25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The outer shell matters most</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Explore the pattern</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Sort by valence electrons</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Same as oxygen?</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Tap at least 6 elements on the table</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Sort the elements by valence electrons</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The outer shell matters most</a:t>
            </a:r>
            <a:endParaRPr lang="en-US" sz="2800" dirty="0"/>
          </a:p>
        </p:txBody>
      </p:sp>
      <p:sp>
        <p:nvSpPr>
          <p:cNvPr id="8" name="Text 6"/>
          <p:cNvSpPr txBox="1"/>
          <p:nvPr/>
        </p:nvSpPr>
        <p:spPr>
          <a:xfrm>
            <a:off x="457200" y="1325880"/>
            <a:ext cx="8229600" cy="132588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The electrons in the outermost shell are called </a:t>
            </a:r>
            <a:pPr indent="0" marL="0">
              <a:spcAft>
                <a:spcPts val="800"/>
              </a:spcAft>
              <a:buNone/>
            </a:pPr>
            <a:r>
              <a:rPr lang="en-US" sz="1500" b="1" dirty="0">
                <a:solidFill>
                  <a:schemeClr val="accent1"/>
                </a:solidFill>
              </a:rPr>
              <a:t>valence electrons</a:t>
            </a:r>
            <a:pPr indent="0" marL="0">
              <a:spcAft>
                <a:spcPts val="800"/>
              </a:spcAft>
              <a:buNone/>
            </a:pPr>
            <a:r>
              <a:rPr lang="en-US" sz="1500" dirty="0">
                <a:solidFill>
                  <a:schemeClr val="bg1"/>
                </a:solidFill>
              </a:rPr>
              <a:t>. They are the electrons that meet other atoms, so they decide how an element reacts.</a:t>
            </a:r>
            <a:endParaRPr lang="en-US" sz="1500" dirty="0"/>
          </a:p>
          <a:p>
            <a:pPr indent="0" marL="0">
              <a:spcAft>
                <a:spcPts val="800"/>
              </a:spcAft>
              <a:buNone/>
            </a:pPr>
            <a:r>
              <a:rPr lang="en-US" sz="1500" dirty="0">
                <a:solidFill>
                  <a:schemeClr val="bg1"/>
                </a:solidFill>
              </a:rPr>
              <a:t>Here's the pattern: elements in the same column, or </a:t>
            </a:r>
            <a:pPr indent="0" marL="0">
              <a:spcAft>
                <a:spcPts val="800"/>
              </a:spcAft>
              <a:buNone/>
            </a:pPr>
            <a:r>
              <a:rPr lang="en-US" sz="1500" b="1" dirty="0">
                <a:solidFill>
                  <a:schemeClr val="accent1"/>
                </a:solidFill>
              </a:rPr>
              <a:t>group</a:t>
            </a:r>
            <a:pPr indent="0" marL="0">
              <a:spcAft>
                <a:spcPts val="800"/>
              </a:spcAft>
              <a:buNone/>
            </a:pPr>
            <a:r>
              <a:rPr lang="en-US" sz="1500" dirty="0">
                <a:solidFill>
                  <a:schemeClr val="bg1"/>
                </a:solidFill>
              </a:rPr>
              <a:t>, have the same number of valence electrons.</a:t>
            </a:r>
            <a:endParaRPr lang="en-US" sz="15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2788920"/>
          <a:ext cx="8229600" cy="914400"/>
        </p:xfrm>
        <a:graphic>
          <a:graphicData uri="http://schemas.openxmlformats.org/drawingml/2006/table">
            <a:tbl>
              <a:tblPr/>
              <a:tblGrid>
                <a:gridCol w="2011680"/>
                <a:gridCol w="777240"/>
                <a:gridCol w="777240"/>
                <a:gridCol w="777240"/>
                <a:gridCol w="777240"/>
                <a:gridCol w="777240"/>
                <a:gridCol w="777240"/>
                <a:gridCol w="777240"/>
                <a:gridCol w="777240"/>
              </a:tblGrid>
              <a:tr h="384048">
                <a:tc>
                  <a:txBody>
                    <a:bodyPr/>
                    <a:lstStyle/>
                    <a:p>
                      <a:pPr indent="0" marL="0">
                        <a:buNone/>
                      </a:pPr>
                      <a:r>
                        <a:rPr lang="en-US" sz="1500" b="1" dirty="0">
                          <a:solidFill>
                            <a:schemeClr val="bg2"/>
                          </a:solidFill>
                        </a:rPr>
                        <a:t>Group</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13</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14</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15</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16</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17</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2"/>
                          </a:solidFill>
                        </a:rPr>
                        <a:t>18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84048">
                <a:tc>
                  <a:txBody>
                    <a:bodyPr/>
                    <a:lstStyle/>
                    <a:p>
                      <a:pPr indent="0" marL="0">
                        <a:buNone/>
                      </a:pPr>
                      <a:r>
                        <a:rPr lang="en-US" sz="1500" dirty="0">
                          <a:solidFill>
                            <a:schemeClr val="bg1"/>
                          </a:solidFill>
                        </a:rPr>
                        <a:t>Valence electrons</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1</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2</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3</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4</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5</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6</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7</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2"/>
                          </a:solidFill>
                        </a:rPr>
                        <a:t>8*</a:t>
                      </a:r>
                      <a:endParaRPr lang="en-US" sz="15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10" name="Text 7"/>
          <p:cNvSpPr txBox="1"/>
          <p:nvPr/>
        </p:nvSpPr>
        <p:spPr>
          <a:xfrm>
            <a:off x="457200" y="3703320"/>
            <a:ext cx="8229600" cy="274320"/>
          </a:xfrm>
          <a:prstGeom prst="rect">
            <a:avLst/>
          </a:prstGeom>
          <a:noFill/>
          <a:ln/>
        </p:spPr>
        <p:txBody>
          <a:bodyPr wrap="square" lIns="0" tIns="0" rIns="0" bIns="0" rtlCol="0" anchor="t"/>
          <a:lstStyle/>
          <a:p>
            <a:pPr indent="0" marL="0">
              <a:buNone/>
            </a:pPr>
            <a:r>
              <a:rPr lang="en-US" sz="1200" dirty="0">
                <a:solidFill>
                  <a:schemeClr val="bg2"/>
                </a:solidFill>
              </a:rPr>
              <a:t>*Helium is in group 18 but has only 2. Its one shell is full.</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Explore the pattern</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lesson, tap elements to see their Bohr models. Valence electrons glow yellow.</a:t>
            </a:r>
            <a:endParaRPr lang="en-US" sz="1300" dirty="0"/>
          </a:p>
        </p:txBody>
      </p:sp>
      <p:sp>
        <p:nvSpPr>
          <p:cNvPr id="9" name="Text 7"/>
          <p:cNvSpPr txBox="1"/>
          <p:nvPr/>
        </p:nvSpPr>
        <p:spPr>
          <a:xfrm>
            <a:off x="457200"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a:t>
            </a:r>
            <a:endParaRPr lang="en-US" sz="1000" dirty="0"/>
          </a:p>
        </p:txBody>
      </p:sp>
      <p:sp>
        <p:nvSpPr>
          <p:cNvPr id="10" name="Text 8"/>
          <p:cNvSpPr txBox="1"/>
          <p:nvPr/>
        </p:nvSpPr>
        <p:spPr>
          <a:xfrm>
            <a:off x="950976"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2</a:t>
            </a:r>
            <a:endParaRPr lang="en-US" sz="1000" dirty="0"/>
          </a:p>
        </p:txBody>
      </p:sp>
      <p:sp>
        <p:nvSpPr>
          <p:cNvPr id="11" name="Text 9"/>
          <p:cNvSpPr txBox="1"/>
          <p:nvPr/>
        </p:nvSpPr>
        <p:spPr>
          <a:xfrm>
            <a:off x="1444752"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13</a:t>
            </a:r>
            <a:endParaRPr lang="en-US" sz="1000" dirty="0"/>
          </a:p>
        </p:txBody>
      </p:sp>
      <p:sp>
        <p:nvSpPr>
          <p:cNvPr id="12" name="Text 10"/>
          <p:cNvSpPr txBox="1"/>
          <p:nvPr/>
        </p:nvSpPr>
        <p:spPr>
          <a:xfrm>
            <a:off x="1938528"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14</a:t>
            </a:r>
            <a:endParaRPr lang="en-US" sz="1000" dirty="0"/>
          </a:p>
        </p:txBody>
      </p:sp>
      <p:sp>
        <p:nvSpPr>
          <p:cNvPr id="13" name="Text 11"/>
          <p:cNvSpPr txBox="1"/>
          <p:nvPr/>
        </p:nvSpPr>
        <p:spPr>
          <a:xfrm>
            <a:off x="2432304"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15</a:t>
            </a:r>
            <a:endParaRPr lang="en-US" sz="1000" dirty="0"/>
          </a:p>
        </p:txBody>
      </p:sp>
      <p:sp>
        <p:nvSpPr>
          <p:cNvPr id="14" name="Text 12"/>
          <p:cNvSpPr txBox="1"/>
          <p:nvPr/>
        </p:nvSpPr>
        <p:spPr>
          <a:xfrm>
            <a:off x="2926080"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16</a:t>
            </a:r>
            <a:endParaRPr lang="en-US" sz="1000" dirty="0"/>
          </a:p>
        </p:txBody>
      </p:sp>
      <p:sp>
        <p:nvSpPr>
          <p:cNvPr id="15" name="Text 13"/>
          <p:cNvSpPr txBox="1"/>
          <p:nvPr/>
        </p:nvSpPr>
        <p:spPr>
          <a:xfrm>
            <a:off x="3419856"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17</a:t>
            </a:r>
            <a:endParaRPr lang="en-US" sz="1000" dirty="0"/>
          </a:p>
        </p:txBody>
      </p:sp>
      <p:sp>
        <p:nvSpPr>
          <p:cNvPr id="16" name="Text 14"/>
          <p:cNvSpPr txBox="1"/>
          <p:nvPr/>
        </p:nvSpPr>
        <p:spPr>
          <a:xfrm>
            <a:off x="3913632" y="1645920"/>
            <a:ext cx="438912" cy="219456"/>
          </a:xfrm>
          <a:prstGeom prst="rect">
            <a:avLst/>
          </a:prstGeom>
          <a:noFill/>
          <a:ln/>
        </p:spPr>
        <p:txBody>
          <a:bodyPr wrap="square" lIns="0" tIns="0" rIns="0" bIns="0" rtlCol="0" anchor="ctr"/>
          <a:lstStyle/>
          <a:p>
            <a:pPr algn="ctr" indent="0" marL="0">
              <a:buNone/>
            </a:pPr>
            <a:r>
              <a:rPr lang="en-US" sz="1000" dirty="0">
                <a:solidFill>
                  <a:schemeClr val="bg2"/>
                </a:solidFill>
              </a:rPr>
              <a:t>18</a:t>
            </a:r>
            <a:endParaRPr lang="en-US" sz="1000" dirty="0"/>
          </a:p>
        </p:txBody>
      </p:sp>
      <p:sp>
        <p:nvSpPr>
          <p:cNvPr id="17" name="Tile H"/>
          <p:cNvSpPr/>
          <p:nvPr/>
        </p:nvSpPr>
        <p:spPr>
          <a:xfrm>
            <a:off x="457200" y="1920240"/>
            <a:ext cx="438912" cy="438912"/>
          </a:xfrm>
          <a:prstGeom prst="roundRect">
            <a:avLst>
              <a:gd name="adj" fmla="val 12000"/>
            </a:avLst>
          </a:prstGeom>
          <a:solidFill>
            <a:srgbClr val="45C08F">
              <a:alpha val="30000"/>
            </a:srgbClr>
          </a:solidFill>
          <a:ln w="28575">
            <a:solidFill>
              <a:srgbClr val="45C08F"/>
            </a:solidFill>
            <a:prstDash val="solid"/>
          </a:ln>
        </p:spPr>
      </p:sp>
      <p:sp>
        <p:nvSpPr>
          <p:cNvPr id="18" name="Text 16"/>
          <p:cNvSpPr txBox="1"/>
          <p:nvPr/>
        </p:nvSpPr>
        <p:spPr>
          <a:xfrm>
            <a:off x="492313" y="1942186"/>
            <a:ext cx="263347" cy="105339"/>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19" name="Text 17"/>
          <p:cNvSpPr txBox="1"/>
          <p:nvPr/>
        </p:nvSpPr>
        <p:spPr>
          <a:xfrm>
            <a:off x="457200" y="1990466"/>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H</a:t>
            </a:r>
            <a:endParaRPr lang="en-US" sz="1300" dirty="0"/>
          </a:p>
        </p:txBody>
      </p:sp>
      <p:sp>
        <p:nvSpPr>
          <p:cNvPr id="20" name="Tile He"/>
          <p:cNvSpPr/>
          <p:nvPr/>
        </p:nvSpPr>
        <p:spPr>
          <a:xfrm>
            <a:off x="3913632" y="1920240"/>
            <a:ext cx="438912" cy="438912"/>
          </a:xfrm>
          <a:prstGeom prst="roundRect">
            <a:avLst>
              <a:gd name="adj" fmla="val 12000"/>
            </a:avLst>
          </a:prstGeom>
          <a:solidFill>
            <a:srgbClr val="A084FF">
              <a:alpha val="30000"/>
            </a:srgbClr>
          </a:solidFill>
          <a:ln w="12700">
            <a:solidFill>
              <a:srgbClr val="A084FF"/>
            </a:solidFill>
            <a:prstDash val="solid"/>
          </a:ln>
        </p:spPr>
      </p:sp>
      <p:sp>
        <p:nvSpPr>
          <p:cNvPr id="21" name="Text 19"/>
          <p:cNvSpPr txBox="1"/>
          <p:nvPr/>
        </p:nvSpPr>
        <p:spPr>
          <a:xfrm>
            <a:off x="3948745" y="1942186"/>
            <a:ext cx="263347" cy="105339"/>
          </a:xfrm>
          <a:prstGeom prst="rect">
            <a:avLst/>
          </a:prstGeom>
          <a:noFill/>
          <a:ln/>
        </p:spPr>
        <p:txBody>
          <a:bodyPr wrap="square" lIns="0" tIns="0" rIns="0" bIns="0" rtlCol="0" anchor="t"/>
          <a:lstStyle/>
          <a:p>
            <a:pPr indent="0" marL="0">
              <a:buNone/>
            </a:pPr>
            <a:r>
              <a:rPr lang="en-US" sz="600" dirty="0">
                <a:solidFill>
                  <a:schemeClr val="bg2"/>
                </a:solidFill>
              </a:rPr>
              <a:t>2</a:t>
            </a:r>
            <a:endParaRPr lang="en-US" sz="600" dirty="0"/>
          </a:p>
        </p:txBody>
      </p:sp>
      <p:sp>
        <p:nvSpPr>
          <p:cNvPr id="22" name="Text 20"/>
          <p:cNvSpPr txBox="1"/>
          <p:nvPr/>
        </p:nvSpPr>
        <p:spPr>
          <a:xfrm>
            <a:off x="3913632" y="1990466"/>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He</a:t>
            </a:r>
            <a:endParaRPr lang="en-US" sz="1300" dirty="0"/>
          </a:p>
        </p:txBody>
      </p:sp>
      <p:sp>
        <p:nvSpPr>
          <p:cNvPr id="23" name="Tile Li"/>
          <p:cNvSpPr/>
          <p:nvPr/>
        </p:nvSpPr>
        <p:spPr>
          <a:xfrm>
            <a:off x="457200" y="2414016"/>
            <a:ext cx="438912" cy="438912"/>
          </a:xfrm>
          <a:prstGeom prst="roundRect">
            <a:avLst>
              <a:gd name="adj" fmla="val 12000"/>
            </a:avLst>
          </a:prstGeom>
          <a:solidFill>
            <a:srgbClr val="FF8F5E">
              <a:alpha val="30000"/>
            </a:srgbClr>
          </a:solidFill>
          <a:ln w="28575">
            <a:solidFill>
              <a:srgbClr val="FF8F5E"/>
            </a:solidFill>
            <a:prstDash val="solid"/>
          </a:ln>
        </p:spPr>
      </p:sp>
      <p:sp>
        <p:nvSpPr>
          <p:cNvPr id="24" name="Text 22"/>
          <p:cNvSpPr txBox="1"/>
          <p:nvPr/>
        </p:nvSpPr>
        <p:spPr>
          <a:xfrm>
            <a:off x="492313"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25" name="Text 23"/>
          <p:cNvSpPr txBox="1"/>
          <p:nvPr/>
        </p:nvSpPr>
        <p:spPr>
          <a:xfrm>
            <a:off x="457200"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Li</a:t>
            </a:r>
            <a:endParaRPr lang="en-US" sz="1300" dirty="0"/>
          </a:p>
        </p:txBody>
      </p:sp>
      <p:sp>
        <p:nvSpPr>
          <p:cNvPr id="26" name="Tile Be"/>
          <p:cNvSpPr/>
          <p:nvPr/>
        </p:nvSpPr>
        <p:spPr>
          <a:xfrm>
            <a:off x="950976" y="2414016"/>
            <a:ext cx="438912" cy="438912"/>
          </a:xfrm>
          <a:prstGeom prst="roundRect">
            <a:avLst>
              <a:gd name="adj" fmla="val 12000"/>
            </a:avLst>
          </a:prstGeom>
          <a:solidFill>
            <a:srgbClr val="FFCB5C">
              <a:alpha val="30000"/>
            </a:srgbClr>
          </a:solidFill>
          <a:ln w="12700">
            <a:solidFill>
              <a:srgbClr val="FFCB5C"/>
            </a:solidFill>
            <a:prstDash val="solid"/>
          </a:ln>
        </p:spPr>
      </p:sp>
      <p:sp>
        <p:nvSpPr>
          <p:cNvPr id="27" name="Text 25"/>
          <p:cNvSpPr txBox="1"/>
          <p:nvPr/>
        </p:nvSpPr>
        <p:spPr>
          <a:xfrm>
            <a:off x="986089"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4</a:t>
            </a:r>
            <a:endParaRPr lang="en-US" sz="600" dirty="0"/>
          </a:p>
        </p:txBody>
      </p:sp>
      <p:sp>
        <p:nvSpPr>
          <p:cNvPr id="28" name="Text 26"/>
          <p:cNvSpPr txBox="1"/>
          <p:nvPr/>
        </p:nvSpPr>
        <p:spPr>
          <a:xfrm>
            <a:off x="950976"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Be</a:t>
            </a:r>
            <a:endParaRPr lang="en-US" sz="1300" dirty="0"/>
          </a:p>
        </p:txBody>
      </p:sp>
      <p:sp>
        <p:nvSpPr>
          <p:cNvPr id="29" name="Tile B"/>
          <p:cNvSpPr/>
          <p:nvPr/>
        </p:nvSpPr>
        <p:spPr>
          <a:xfrm>
            <a:off x="1444752" y="2414016"/>
            <a:ext cx="438912" cy="438912"/>
          </a:xfrm>
          <a:prstGeom prst="roundRect">
            <a:avLst>
              <a:gd name="adj" fmla="val 12000"/>
            </a:avLst>
          </a:prstGeom>
          <a:solidFill>
            <a:srgbClr val="46C7D8">
              <a:alpha val="30000"/>
            </a:srgbClr>
          </a:solidFill>
          <a:ln w="12700">
            <a:solidFill>
              <a:srgbClr val="46C7D8"/>
            </a:solidFill>
            <a:prstDash val="solid"/>
          </a:ln>
        </p:spPr>
      </p:sp>
      <p:sp>
        <p:nvSpPr>
          <p:cNvPr id="30" name="Text 28"/>
          <p:cNvSpPr txBox="1"/>
          <p:nvPr/>
        </p:nvSpPr>
        <p:spPr>
          <a:xfrm>
            <a:off x="1479865"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31" name="Text 29"/>
          <p:cNvSpPr txBox="1"/>
          <p:nvPr/>
        </p:nvSpPr>
        <p:spPr>
          <a:xfrm>
            <a:off x="1444752"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32" name="Tile C"/>
          <p:cNvSpPr/>
          <p:nvPr/>
        </p:nvSpPr>
        <p:spPr>
          <a:xfrm>
            <a:off x="1938528" y="2414016"/>
            <a:ext cx="438912" cy="438912"/>
          </a:xfrm>
          <a:prstGeom prst="roundRect">
            <a:avLst>
              <a:gd name="adj" fmla="val 12000"/>
            </a:avLst>
          </a:prstGeom>
          <a:solidFill>
            <a:srgbClr val="45C08F">
              <a:alpha val="30000"/>
            </a:srgbClr>
          </a:solidFill>
          <a:ln w="12700">
            <a:solidFill>
              <a:srgbClr val="45C08F"/>
            </a:solidFill>
            <a:prstDash val="solid"/>
          </a:ln>
        </p:spPr>
      </p:sp>
      <p:sp>
        <p:nvSpPr>
          <p:cNvPr id="33" name="Text 31"/>
          <p:cNvSpPr txBox="1"/>
          <p:nvPr/>
        </p:nvSpPr>
        <p:spPr>
          <a:xfrm>
            <a:off x="1973641"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34" name="Text 32"/>
          <p:cNvSpPr txBox="1"/>
          <p:nvPr/>
        </p:nvSpPr>
        <p:spPr>
          <a:xfrm>
            <a:off x="1938528"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35" name="Tile N"/>
          <p:cNvSpPr/>
          <p:nvPr/>
        </p:nvSpPr>
        <p:spPr>
          <a:xfrm>
            <a:off x="2432304" y="2414016"/>
            <a:ext cx="438912" cy="438912"/>
          </a:xfrm>
          <a:prstGeom prst="roundRect">
            <a:avLst>
              <a:gd name="adj" fmla="val 12000"/>
            </a:avLst>
          </a:prstGeom>
          <a:solidFill>
            <a:srgbClr val="45C08F">
              <a:alpha val="30000"/>
            </a:srgbClr>
          </a:solidFill>
          <a:ln w="12700">
            <a:solidFill>
              <a:srgbClr val="45C08F"/>
            </a:solidFill>
            <a:prstDash val="solid"/>
          </a:ln>
        </p:spPr>
      </p:sp>
      <p:sp>
        <p:nvSpPr>
          <p:cNvPr id="36" name="Text 34"/>
          <p:cNvSpPr txBox="1"/>
          <p:nvPr/>
        </p:nvSpPr>
        <p:spPr>
          <a:xfrm>
            <a:off x="2467417"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37" name="Text 35"/>
          <p:cNvSpPr txBox="1"/>
          <p:nvPr/>
        </p:nvSpPr>
        <p:spPr>
          <a:xfrm>
            <a:off x="2432304"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N</a:t>
            </a:r>
            <a:endParaRPr lang="en-US" sz="1300" dirty="0"/>
          </a:p>
        </p:txBody>
      </p:sp>
      <p:sp>
        <p:nvSpPr>
          <p:cNvPr id="38" name="Tile O"/>
          <p:cNvSpPr/>
          <p:nvPr/>
        </p:nvSpPr>
        <p:spPr>
          <a:xfrm>
            <a:off x="2926080" y="2414016"/>
            <a:ext cx="438912" cy="438912"/>
          </a:xfrm>
          <a:prstGeom prst="roundRect">
            <a:avLst>
              <a:gd name="adj" fmla="val 12000"/>
            </a:avLst>
          </a:prstGeom>
          <a:solidFill>
            <a:srgbClr val="45C08F">
              <a:alpha val="30000"/>
            </a:srgbClr>
          </a:solidFill>
          <a:ln w="12700">
            <a:solidFill>
              <a:srgbClr val="45C08F"/>
            </a:solidFill>
            <a:prstDash val="solid"/>
          </a:ln>
        </p:spPr>
      </p:sp>
      <p:sp>
        <p:nvSpPr>
          <p:cNvPr id="39" name="Text 37"/>
          <p:cNvSpPr txBox="1"/>
          <p:nvPr/>
        </p:nvSpPr>
        <p:spPr>
          <a:xfrm>
            <a:off x="2961193"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40" name="Text 38"/>
          <p:cNvSpPr txBox="1"/>
          <p:nvPr/>
        </p:nvSpPr>
        <p:spPr>
          <a:xfrm>
            <a:off x="2926080"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O</a:t>
            </a:r>
            <a:endParaRPr lang="en-US" sz="1300" dirty="0"/>
          </a:p>
        </p:txBody>
      </p:sp>
      <p:sp>
        <p:nvSpPr>
          <p:cNvPr id="41" name="Tile F"/>
          <p:cNvSpPr/>
          <p:nvPr/>
        </p:nvSpPr>
        <p:spPr>
          <a:xfrm>
            <a:off x="3419856" y="2414016"/>
            <a:ext cx="438912" cy="438912"/>
          </a:xfrm>
          <a:prstGeom prst="roundRect">
            <a:avLst>
              <a:gd name="adj" fmla="val 12000"/>
            </a:avLst>
          </a:prstGeom>
          <a:solidFill>
            <a:srgbClr val="F477B8">
              <a:alpha val="30000"/>
            </a:srgbClr>
          </a:solidFill>
          <a:ln w="12700">
            <a:solidFill>
              <a:srgbClr val="F477B8"/>
            </a:solidFill>
            <a:prstDash val="solid"/>
          </a:ln>
        </p:spPr>
      </p:sp>
      <p:sp>
        <p:nvSpPr>
          <p:cNvPr id="42" name="Text 40"/>
          <p:cNvSpPr txBox="1"/>
          <p:nvPr/>
        </p:nvSpPr>
        <p:spPr>
          <a:xfrm>
            <a:off x="3454969"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43" name="Text 41"/>
          <p:cNvSpPr txBox="1"/>
          <p:nvPr/>
        </p:nvSpPr>
        <p:spPr>
          <a:xfrm>
            <a:off x="3419856"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F</a:t>
            </a:r>
            <a:endParaRPr lang="en-US" sz="1300" dirty="0"/>
          </a:p>
        </p:txBody>
      </p:sp>
      <p:sp>
        <p:nvSpPr>
          <p:cNvPr id="44" name="Tile Ne"/>
          <p:cNvSpPr/>
          <p:nvPr/>
        </p:nvSpPr>
        <p:spPr>
          <a:xfrm>
            <a:off x="3913632" y="2414016"/>
            <a:ext cx="438912" cy="438912"/>
          </a:xfrm>
          <a:prstGeom prst="roundRect">
            <a:avLst>
              <a:gd name="adj" fmla="val 12000"/>
            </a:avLst>
          </a:prstGeom>
          <a:solidFill>
            <a:srgbClr val="A084FF">
              <a:alpha val="30000"/>
            </a:srgbClr>
          </a:solidFill>
          <a:ln w="12700">
            <a:solidFill>
              <a:srgbClr val="A084FF"/>
            </a:solidFill>
            <a:prstDash val="solid"/>
          </a:ln>
        </p:spPr>
      </p:sp>
      <p:sp>
        <p:nvSpPr>
          <p:cNvPr id="45" name="Text 43"/>
          <p:cNvSpPr txBox="1"/>
          <p:nvPr/>
        </p:nvSpPr>
        <p:spPr>
          <a:xfrm>
            <a:off x="3948745" y="2435962"/>
            <a:ext cx="263347" cy="105339"/>
          </a:xfrm>
          <a:prstGeom prst="rect">
            <a:avLst/>
          </a:prstGeom>
          <a:noFill/>
          <a:ln/>
        </p:spPr>
        <p:txBody>
          <a:bodyPr wrap="square" lIns="0" tIns="0" rIns="0" bIns="0" rtlCol="0" anchor="t"/>
          <a:lstStyle/>
          <a:p>
            <a:pPr indent="0" marL="0">
              <a:buNone/>
            </a:pPr>
            <a:r>
              <a:rPr lang="en-US" sz="600" dirty="0">
                <a:solidFill>
                  <a:schemeClr val="bg2"/>
                </a:solidFill>
              </a:rPr>
              <a:t>10</a:t>
            </a:r>
            <a:endParaRPr lang="en-US" sz="600" dirty="0"/>
          </a:p>
        </p:txBody>
      </p:sp>
      <p:sp>
        <p:nvSpPr>
          <p:cNvPr id="46" name="Text 44"/>
          <p:cNvSpPr txBox="1"/>
          <p:nvPr/>
        </p:nvSpPr>
        <p:spPr>
          <a:xfrm>
            <a:off x="3913632" y="2484242"/>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Ne</a:t>
            </a:r>
            <a:endParaRPr lang="en-US" sz="1300" dirty="0"/>
          </a:p>
        </p:txBody>
      </p:sp>
      <p:sp>
        <p:nvSpPr>
          <p:cNvPr id="47" name="Tile Na"/>
          <p:cNvSpPr/>
          <p:nvPr/>
        </p:nvSpPr>
        <p:spPr>
          <a:xfrm>
            <a:off x="457200" y="2907792"/>
            <a:ext cx="438912" cy="438912"/>
          </a:xfrm>
          <a:prstGeom prst="roundRect">
            <a:avLst>
              <a:gd name="adj" fmla="val 12000"/>
            </a:avLst>
          </a:prstGeom>
          <a:solidFill>
            <a:srgbClr val="FF8F5E">
              <a:alpha val="30000"/>
            </a:srgbClr>
          </a:solidFill>
          <a:ln w="28575">
            <a:solidFill>
              <a:srgbClr val="FF8F5E"/>
            </a:solidFill>
            <a:prstDash val="solid"/>
          </a:ln>
        </p:spPr>
      </p:sp>
      <p:sp>
        <p:nvSpPr>
          <p:cNvPr id="48" name="Text 46"/>
          <p:cNvSpPr txBox="1"/>
          <p:nvPr/>
        </p:nvSpPr>
        <p:spPr>
          <a:xfrm>
            <a:off x="492313"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49" name="Text 47"/>
          <p:cNvSpPr txBox="1"/>
          <p:nvPr/>
        </p:nvSpPr>
        <p:spPr>
          <a:xfrm>
            <a:off x="457200"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Na</a:t>
            </a:r>
            <a:endParaRPr lang="en-US" sz="1300" dirty="0"/>
          </a:p>
        </p:txBody>
      </p:sp>
      <p:sp>
        <p:nvSpPr>
          <p:cNvPr id="50" name="Tile Mg"/>
          <p:cNvSpPr/>
          <p:nvPr/>
        </p:nvSpPr>
        <p:spPr>
          <a:xfrm>
            <a:off x="950976" y="2907792"/>
            <a:ext cx="438912" cy="438912"/>
          </a:xfrm>
          <a:prstGeom prst="roundRect">
            <a:avLst>
              <a:gd name="adj" fmla="val 12000"/>
            </a:avLst>
          </a:prstGeom>
          <a:solidFill>
            <a:srgbClr val="FFCB5C">
              <a:alpha val="30000"/>
            </a:srgbClr>
          </a:solidFill>
          <a:ln w="12700">
            <a:solidFill>
              <a:srgbClr val="FFCB5C"/>
            </a:solidFill>
            <a:prstDash val="solid"/>
          </a:ln>
        </p:spPr>
      </p:sp>
      <p:sp>
        <p:nvSpPr>
          <p:cNvPr id="51" name="Text 49"/>
          <p:cNvSpPr txBox="1"/>
          <p:nvPr/>
        </p:nvSpPr>
        <p:spPr>
          <a:xfrm>
            <a:off x="986089"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52" name="Text 50"/>
          <p:cNvSpPr txBox="1"/>
          <p:nvPr/>
        </p:nvSpPr>
        <p:spPr>
          <a:xfrm>
            <a:off x="950976"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Mg</a:t>
            </a:r>
            <a:endParaRPr lang="en-US" sz="1300" dirty="0"/>
          </a:p>
        </p:txBody>
      </p:sp>
      <p:sp>
        <p:nvSpPr>
          <p:cNvPr id="53" name="Tile Al"/>
          <p:cNvSpPr/>
          <p:nvPr/>
        </p:nvSpPr>
        <p:spPr>
          <a:xfrm>
            <a:off x="1444752" y="2907792"/>
            <a:ext cx="438912" cy="438912"/>
          </a:xfrm>
          <a:prstGeom prst="roundRect">
            <a:avLst>
              <a:gd name="adj" fmla="val 12000"/>
            </a:avLst>
          </a:prstGeom>
          <a:solidFill>
            <a:srgbClr val="8EA8CC">
              <a:alpha val="30000"/>
            </a:srgbClr>
          </a:solidFill>
          <a:ln w="12700">
            <a:solidFill>
              <a:srgbClr val="8EA8CC"/>
            </a:solidFill>
            <a:prstDash val="solid"/>
          </a:ln>
        </p:spPr>
      </p:sp>
      <p:sp>
        <p:nvSpPr>
          <p:cNvPr id="54" name="Text 52"/>
          <p:cNvSpPr txBox="1"/>
          <p:nvPr/>
        </p:nvSpPr>
        <p:spPr>
          <a:xfrm>
            <a:off x="1479865"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13</a:t>
            </a:r>
            <a:endParaRPr lang="en-US" sz="600" dirty="0"/>
          </a:p>
        </p:txBody>
      </p:sp>
      <p:sp>
        <p:nvSpPr>
          <p:cNvPr id="55" name="Text 53"/>
          <p:cNvSpPr txBox="1"/>
          <p:nvPr/>
        </p:nvSpPr>
        <p:spPr>
          <a:xfrm>
            <a:off x="1444752"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Al</a:t>
            </a:r>
            <a:endParaRPr lang="en-US" sz="1300" dirty="0"/>
          </a:p>
        </p:txBody>
      </p:sp>
      <p:sp>
        <p:nvSpPr>
          <p:cNvPr id="56" name="Tile Si"/>
          <p:cNvSpPr/>
          <p:nvPr/>
        </p:nvSpPr>
        <p:spPr>
          <a:xfrm>
            <a:off x="1938528" y="2907792"/>
            <a:ext cx="438912" cy="438912"/>
          </a:xfrm>
          <a:prstGeom prst="roundRect">
            <a:avLst>
              <a:gd name="adj" fmla="val 12000"/>
            </a:avLst>
          </a:prstGeom>
          <a:solidFill>
            <a:srgbClr val="46C7D8">
              <a:alpha val="30000"/>
            </a:srgbClr>
          </a:solidFill>
          <a:ln w="12700">
            <a:solidFill>
              <a:srgbClr val="46C7D8"/>
            </a:solidFill>
            <a:prstDash val="solid"/>
          </a:ln>
        </p:spPr>
      </p:sp>
      <p:sp>
        <p:nvSpPr>
          <p:cNvPr id="57" name="Text 55"/>
          <p:cNvSpPr txBox="1"/>
          <p:nvPr/>
        </p:nvSpPr>
        <p:spPr>
          <a:xfrm>
            <a:off x="1973641"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58" name="Text 56"/>
          <p:cNvSpPr txBox="1"/>
          <p:nvPr/>
        </p:nvSpPr>
        <p:spPr>
          <a:xfrm>
            <a:off x="1938528"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Si</a:t>
            </a:r>
            <a:endParaRPr lang="en-US" sz="1300" dirty="0"/>
          </a:p>
        </p:txBody>
      </p:sp>
      <p:sp>
        <p:nvSpPr>
          <p:cNvPr id="59" name="Tile P"/>
          <p:cNvSpPr/>
          <p:nvPr/>
        </p:nvSpPr>
        <p:spPr>
          <a:xfrm>
            <a:off x="2432304" y="2907792"/>
            <a:ext cx="438912" cy="438912"/>
          </a:xfrm>
          <a:prstGeom prst="roundRect">
            <a:avLst>
              <a:gd name="adj" fmla="val 12000"/>
            </a:avLst>
          </a:prstGeom>
          <a:solidFill>
            <a:srgbClr val="45C08F">
              <a:alpha val="30000"/>
            </a:srgbClr>
          </a:solidFill>
          <a:ln w="12700">
            <a:solidFill>
              <a:srgbClr val="45C08F"/>
            </a:solidFill>
            <a:prstDash val="solid"/>
          </a:ln>
        </p:spPr>
      </p:sp>
      <p:sp>
        <p:nvSpPr>
          <p:cNvPr id="60" name="Text 58"/>
          <p:cNvSpPr txBox="1"/>
          <p:nvPr/>
        </p:nvSpPr>
        <p:spPr>
          <a:xfrm>
            <a:off x="2467417"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61" name="Text 59"/>
          <p:cNvSpPr txBox="1"/>
          <p:nvPr/>
        </p:nvSpPr>
        <p:spPr>
          <a:xfrm>
            <a:off x="2432304"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P</a:t>
            </a:r>
            <a:endParaRPr lang="en-US" sz="1300" dirty="0"/>
          </a:p>
        </p:txBody>
      </p:sp>
      <p:sp>
        <p:nvSpPr>
          <p:cNvPr id="62" name="Tile S"/>
          <p:cNvSpPr/>
          <p:nvPr/>
        </p:nvSpPr>
        <p:spPr>
          <a:xfrm>
            <a:off x="2926080" y="2907792"/>
            <a:ext cx="438912" cy="438912"/>
          </a:xfrm>
          <a:prstGeom prst="roundRect">
            <a:avLst>
              <a:gd name="adj" fmla="val 12000"/>
            </a:avLst>
          </a:prstGeom>
          <a:solidFill>
            <a:srgbClr val="45C08F">
              <a:alpha val="30000"/>
            </a:srgbClr>
          </a:solidFill>
          <a:ln w="12700">
            <a:solidFill>
              <a:srgbClr val="45C08F"/>
            </a:solidFill>
            <a:prstDash val="solid"/>
          </a:ln>
        </p:spPr>
      </p:sp>
      <p:sp>
        <p:nvSpPr>
          <p:cNvPr id="63" name="Text 61"/>
          <p:cNvSpPr txBox="1"/>
          <p:nvPr/>
        </p:nvSpPr>
        <p:spPr>
          <a:xfrm>
            <a:off x="2961193"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64" name="Text 62"/>
          <p:cNvSpPr txBox="1"/>
          <p:nvPr/>
        </p:nvSpPr>
        <p:spPr>
          <a:xfrm>
            <a:off x="2926080"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S</a:t>
            </a:r>
            <a:endParaRPr lang="en-US" sz="1300" dirty="0"/>
          </a:p>
        </p:txBody>
      </p:sp>
      <p:sp>
        <p:nvSpPr>
          <p:cNvPr id="65" name="Tile Cl"/>
          <p:cNvSpPr/>
          <p:nvPr/>
        </p:nvSpPr>
        <p:spPr>
          <a:xfrm>
            <a:off x="3419856" y="2907792"/>
            <a:ext cx="438912" cy="438912"/>
          </a:xfrm>
          <a:prstGeom prst="roundRect">
            <a:avLst>
              <a:gd name="adj" fmla="val 12000"/>
            </a:avLst>
          </a:prstGeom>
          <a:solidFill>
            <a:srgbClr val="F477B8">
              <a:alpha val="30000"/>
            </a:srgbClr>
          </a:solidFill>
          <a:ln w="12700">
            <a:solidFill>
              <a:srgbClr val="F477B8"/>
            </a:solidFill>
            <a:prstDash val="solid"/>
          </a:ln>
        </p:spPr>
      </p:sp>
      <p:sp>
        <p:nvSpPr>
          <p:cNvPr id="66" name="Text 64"/>
          <p:cNvSpPr txBox="1"/>
          <p:nvPr/>
        </p:nvSpPr>
        <p:spPr>
          <a:xfrm>
            <a:off x="3454969"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67" name="Text 65"/>
          <p:cNvSpPr txBox="1"/>
          <p:nvPr/>
        </p:nvSpPr>
        <p:spPr>
          <a:xfrm>
            <a:off x="3419856"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Cl</a:t>
            </a:r>
            <a:endParaRPr lang="en-US" sz="1300" dirty="0"/>
          </a:p>
        </p:txBody>
      </p:sp>
      <p:sp>
        <p:nvSpPr>
          <p:cNvPr id="68" name="Tile Ar"/>
          <p:cNvSpPr/>
          <p:nvPr/>
        </p:nvSpPr>
        <p:spPr>
          <a:xfrm>
            <a:off x="3913632" y="2907792"/>
            <a:ext cx="438912" cy="438912"/>
          </a:xfrm>
          <a:prstGeom prst="roundRect">
            <a:avLst>
              <a:gd name="adj" fmla="val 12000"/>
            </a:avLst>
          </a:prstGeom>
          <a:solidFill>
            <a:srgbClr val="A084FF">
              <a:alpha val="30000"/>
            </a:srgbClr>
          </a:solidFill>
          <a:ln w="12700">
            <a:solidFill>
              <a:srgbClr val="A084FF"/>
            </a:solidFill>
            <a:prstDash val="solid"/>
          </a:ln>
        </p:spPr>
      </p:sp>
      <p:sp>
        <p:nvSpPr>
          <p:cNvPr id="69" name="Text 67"/>
          <p:cNvSpPr txBox="1"/>
          <p:nvPr/>
        </p:nvSpPr>
        <p:spPr>
          <a:xfrm>
            <a:off x="3948745" y="2929738"/>
            <a:ext cx="263347" cy="105339"/>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70" name="Text 68"/>
          <p:cNvSpPr txBox="1"/>
          <p:nvPr/>
        </p:nvSpPr>
        <p:spPr>
          <a:xfrm>
            <a:off x="3913632" y="2978018"/>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Ar</a:t>
            </a:r>
            <a:endParaRPr lang="en-US" sz="1300" dirty="0"/>
          </a:p>
        </p:txBody>
      </p:sp>
      <p:sp>
        <p:nvSpPr>
          <p:cNvPr id="71" name="Tile K"/>
          <p:cNvSpPr/>
          <p:nvPr/>
        </p:nvSpPr>
        <p:spPr>
          <a:xfrm>
            <a:off x="457200" y="3401568"/>
            <a:ext cx="438912" cy="438912"/>
          </a:xfrm>
          <a:prstGeom prst="roundRect">
            <a:avLst>
              <a:gd name="adj" fmla="val 12000"/>
            </a:avLst>
          </a:prstGeom>
          <a:solidFill>
            <a:srgbClr val="FF8F5E">
              <a:alpha val="30000"/>
            </a:srgbClr>
          </a:solidFill>
          <a:ln w="28575">
            <a:solidFill>
              <a:srgbClr val="FF8F5E"/>
            </a:solidFill>
            <a:prstDash val="solid"/>
          </a:ln>
        </p:spPr>
      </p:sp>
      <p:sp>
        <p:nvSpPr>
          <p:cNvPr id="72" name="Text 70"/>
          <p:cNvSpPr txBox="1"/>
          <p:nvPr/>
        </p:nvSpPr>
        <p:spPr>
          <a:xfrm>
            <a:off x="492313" y="3423514"/>
            <a:ext cx="263347" cy="105339"/>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73" name="Text 71"/>
          <p:cNvSpPr txBox="1"/>
          <p:nvPr/>
        </p:nvSpPr>
        <p:spPr>
          <a:xfrm>
            <a:off x="457200" y="3471794"/>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K</a:t>
            </a:r>
            <a:endParaRPr lang="en-US" sz="1300" dirty="0"/>
          </a:p>
        </p:txBody>
      </p:sp>
      <p:sp>
        <p:nvSpPr>
          <p:cNvPr id="74" name="Tile Ca"/>
          <p:cNvSpPr/>
          <p:nvPr/>
        </p:nvSpPr>
        <p:spPr>
          <a:xfrm>
            <a:off x="950976" y="3401568"/>
            <a:ext cx="438912" cy="438912"/>
          </a:xfrm>
          <a:prstGeom prst="roundRect">
            <a:avLst>
              <a:gd name="adj" fmla="val 12000"/>
            </a:avLst>
          </a:prstGeom>
          <a:solidFill>
            <a:srgbClr val="FFCB5C">
              <a:alpha val="30000"/>
            </a:srgbClr>
          </a:solidFill>
          <a:ln w="12700">
            <a:solidFill>
              <a:srgbClr val="FFCB5C"/>
            </a:solidFill>
            <a:prstDash val="solid"/>
          </a:ln>
        </p:spPr>
      </p:sp>
      <p:sp>
        <p:nvSpPr>
          <p:cNvPr id="75" name="Text 73"/>
          <p:cNvSpPr txBox="1"/>
          <p:nvPr/>
        </p:nvSpPr>
        <p:spPr>
          <a:xfrm>
            <a:off x="986089" y="3423514"/>
            <a:ext cx="263347" cy="105339"/>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76" name="Text 74"/>
          <p:cNvSpPr txBox="1"/>
          <p:nvPr/>
        </p:nvSpPr>
        <p:spPr>
          <a:xfrm>
            <a:off x="950976" y="3471794"/>
            <a:ext cx="438912" cy="351130"/>
          </a:xfrm>
          <a:prstGeom prst="rect">
            <a:avLst/>
          </a:prstGeom>
          <a:noFill/>
          <a:ln/>
        </p:spPr>
        <p:txBody>
          <a:bodyPr wrap="square" lIns="0" tIns="0" rIns="0" bIns="0" rtlCol="0" anchor="ctr"/>
          <a:lstStyle/>
          <a:p>
            <a:pPr algn="ctr" indent="0" marL="0">
              <a:buNone/>
            </a:pPr>
            <a:r>
              <a:rPr lang="en-US" sz="1300" b="1" dirty="0">
                <a:solidFill>
                  <a:schemeClr val="bg1"/>
                </a:solidFill>
              </a:rPr>
              <a:t>Ca</a:t>
            </a:r>
            <a:endParaRPr lang="en-US" sz="1300" dirty="0"/>
          </a:p>
        </p:txBody>
      </p:sp>
      <p:sp>
        <p:nvSpPr>
          <p:cNvPr id="77" name="Group 1 highlight"/>
          <p:cNvSpPr/>
          <p:nvPr/>
        </p:nvSpPr>
        <p:spPr>
          <a:xfrm>
            <a:off x="411480" y="1874520"/>
            <a:ext cx="530352" cy="2011680"/>
          </a:xfrm>
          <a:prstGeom prst="roundRect">
            <a:avLst>
              <a:gd name="adj" fmla="val 10345"/>
            </a:avLst>
          </a:prstGeom>
          <a:solidFill>
            <a:schemeClr val="bg1">
              <a:alpha val="0"/>
            </a:schemeClr>
          </a:solidFill>
          <a:ln w="25400">
            <a:solidFill>
              <a:schemeClr val="accent2"/>
            </a:solidFill>
            <a:prstDash val="solid"/>
          </a:ln>
        </p:spPr>
      </p:sp>
      <p:sp>
        <p:nvSpPr>
          <p:cNvPr id="78" name="Question"/>
          <p:cNvSpPr/>
          <p:nvPr/>
        </p:nvSpPr>
        <p:spPr>
          <a:xfrm>
            <a:off x="4846320" y="1828800"/>
            <a:ext cx="3840480" cy="2011680"/>
          </a:xfrm>
          <a:prstGeom prst="roundRect">
            <a:avLst>
              <a:gd name="adj" fmla="val 4545"/>
            </a:avLst>
          </a:prstGeom>
          <a:solidFill>
            <a:schemeClr val="tx2"/>
          </a:solidFill>
          <a:ln w="9525">
            <a:solidFill>
              <a:schemeClr val="bg2">
                <a:alpha val="30000"/>
              </a:schemeClr>
            </a:solidFill>
            <a:prstDash val="solid"/>
          </a:ln>
        </p:spPr>
      </p:sp>
      <p:sp>
        <p:nvSpPr>
          <p:cNvPr id="79" name="Text 77"/>
          <p:cNvSpPr txBox="1"/>
          <p:nvPr/>
        </p:nvSpPr>
        <p:spPr>
          <a:xfrm>
            <a:off x="5029200" y="1965960"/>
            <a:ext cx="3474720" cy="548640"/>
          </a:xfrm>
          <a:prstGeom prst="rect">
            <a:avLst/>
          </a:prstGeom>
          <a:noFill/>
          <a:ln/>
        </p:spPr>
        <p:txBody>
          <a:bodyPr wrap="square" lIns="0" tIns="0" rIns="0" bIns="0" rtlCol="0" anchor="t"/>
          <a:lstStyle/>
          <a:p>
            <a:pPr indent="0" marL="0">
              <a:buNone/>
            </a:pPr>
            <a:r>
              <a:rPr lang="en-US" sz="1500" b="1" dirty="0">
                <a:solidFill>
                  <a:schemeClr val="bg1"/>
                </a:solidFill>
              </a:rPr>
              <a:t>Look at lithium, sodium, and potassium in group 1.</a:t>
            </a:r>
            <a:endParaRPr lang="en-US" sz="1500" dirty="0"/>
          </a:p>
        </p:txBody>
      </p:sp>
      <p:sp>
        <p:nvSpPr>
          <p:cNvPr id="80" name="Text 78"/>
          <p:cNvSpPr txBox="1"/>
          <p:nvPr/>
        </p:nvSpPr>
        <p:spPr>
          <a:xfrm>
            <a:off x="5029200" y="2606040"/>
            <a:ext cx="3474720" cy="731520"/>
          </a:xfrm>
          <a:prstGeom prst="rect">
            <a:avLst/>
          </a:prstGeom>
          <a:noFill/>
          <a:ln/>
        </p:spPr>
        <p:txBody>
          <a:bodyPr wrap="square" lIns="0" tIns="0" rIns="0" bIns="0" rtlCol="0" anchor="t"/>
          <a:lstStyle/>
          <a:p>
            <a:pPr indent="0" marL="0">
              <a:buNone/>
            </a:pPr>
            <a:r>
              <a:rPr lang="en-US" sz="1500" dirty="0">
                <a:solidFill>
                  <a:schemeClr val="accent2"/>
                </a:solidFill>
              </a:rPr>
              <a:t>What do elements in the same column have in common?</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Explore the pattern</a:t>
            </a:r>
            <a:endParaRPr lang="en-US" sz="2800" dirty="0"/>
          </a:p>
        </p:txBody>
      </p:sp>
      <p:sp>
        <p:nvSpPr>
          <p:cNvPr id="9" name="Lithium: shell 1"/>
          <p:cNvSpPr/>
          <p:nvPr/>
        </p:nvSpPr>
        <p:spPr>
          <a:xfrm>
            <a:off x="1132027" y="2137867"/>
            <a:ext cx="936346" cy="936346"/>
          </a:xfrm>
          <a:prstGeom prst="ellipse">
            <a:avLst/>
          </a:prstGeom>
          <a:solidFill>
            <a:schemeClr val="bg1">
              <a:alpha val="0"/>
            </a:schemeClr>
          </a:solidFill>
          <a:ln w="15875">
            <a:solidFill>
              <a:schemeClr val="bg2">
                <a:alpha val="55000"/>
              </a:schemeClr>
            </a:solidFill>
            <a:prstDash val="solid"/>
          </a:ln>
        </p:spPr>
      </p:sp>
      <p:sp>
        <p:nvSpPr>
          <p:cNvPr id="10" name="Lithium: shell 2"/>
          <p:cNvSpPr/>
          <p:nvPr/>
        </p:nvSpPr>
        <p:spPr>
          <a:xfrm>
            <a:off x="839419" y="1845259"/>
            <a:ext cx="1521562" cy="1521562"/>
          </a:xfrm>
          <a:prstGeom prst="ellipse">
            <a:avLst/>
          </a:prstGeom>
          <a:solidFill>
            <a:schemeClr val="bg1">
              <a:alpha val="0"/>
            </a:schemeClr>
          </a:solidFill>
          <a:ln w="15875">
            <a:solidFill>
              <a:schemeClr val="accent2">
                <a:alpha val="80000"/>
              </a:schemeClr>
            </a:solidFill>
            <a:prstDash val="solid"/>
          </a:ln>
        </p:spPr>
      </p:sp>
      <p:sp>
        <p:nvSpPr>
          <p:cNvPr id="11" name="Lithium: nucleus"/>
          <p:cNvSpPr/>
          <p:nvPr/>
        </p:nvSpPr>
        <p:spPr>
          <a:xfrm>
            <a:off x="1297838" y="2303678"/>
            <a:ext cx="604723" cy="604723"/>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1000" dirty="0"/>
          </a:p>
        </p:txBody>
      </p:sp>
      <p:sp>
        <p:nvSpPr>
          <p:cNvPr id="12" name="Lithium: electron, shell 1"/>
          <p:cNvSpPr/>
          <p:nvPr/>
        </p:nvSpPr>
        <p:spPr>
          <a:xfrm>
            <a:off x="1527048" y="2064715"/>
            <a:ext cx="146304" cy="146304"/>
          </a:xfrm>
          <a:prstGeom prst="ellipse">
            <a:avLst/>
          </a:prstGeom>
          <a:solidFill>
            <a:schemeClr val="accent1"/>
          </a:solidFill>
          <a:ln w="3175">
            <a:solidFill>
              <a:schemeClr val="accent1"/>
            </a:solidFill>
            <a:prstDash val="solid"/>
          </a:ln>
        </p:spPr>
      </p:sp>
      <p:sp>
        <p:nvSpPr>
          <p:cNvPr id="13" name="Lithium: electron, shell 1"/>
          <p:cNvSpPr/>
          <p:nvPr/>
        </p:nvSpPr>
        <p:spPr>
          <a:xfrm>
            <a:off x="1995221" y="2532888"/>
            <a:ext cx="146304" cy="146304"/>
          </a:xfrm>
          <a:prstGeom prst="ellipse">
            <a:avLst/>
          </a:prstGeom>
          <a:solidFill>
            <a:schemeClr val="accent1"/>
          </a:solidFill>
          <a:ln w="3175">
            <a:solidFill>
              <a:schemeClr val="accent1"/>
            </a:solidFill>
            <a:prstDash val="solid"/>
          </a:ln>
        </p:spPr>
      </p:sp>
      <p:sp>
        <p:nvSpPr>
          <p:cNvPr id="14" name="Lithium: electron, shell 2"/>
          <p:cNvSpPr/>
          <p:nvPr/>
        </p:nvSpPr>
        <p:spPr>
          <a:xfrm>
            <a:off x="1527048" y="1772107"/>
            <a:ext cx="146304" cy="146304"/>
          </a:xfrm>
          <a:prstGeom prst="ellipse">
            <a:avLst/>
          </a:prstGeom>
          <a:solidFill>
            <a:schemeClr val="accent2"/>
          </a:solidFill>
          <a:ln w="3175">
            <a:solidFill>
              <a:schemeClr val="accent2"/>
            </a:solidFill>
            <a:prstDash val="solid"/>
          </a:ln>
        </p:spPr>
      </p:sp>
      <p:sp>
        <p:nvSpPr>
          <p:cNvPr id="15" name="Text 13"/>
          <p:cNvSpPr txBox="1"/>
          <p:nvPr/>
        </p:nvSpPr>
        <p:spPr>
          <a:xfrm>
            <a:off x="411480" y="3886200"/>
            <a:ext cx="2377440" cy="274320"/>
          </a:xfrm>
          <a:prstGeom prst="rect">
            <a:avLst/>
          </a:prstGeom>
          <a:noFill/>
          <a:ln/>
        </p:spPr>
        <p:txBody>
          <a:bodyPr wrap="square" lIns="0" tIns="0" rIns="0" bIns="0" rtlCol="0" anchor="ctr"/>
          <a:lstStyle/>
          <a:p>
            <a:pPr algn="ctr" indent="0" marL="0">
              <a:buNone/>
            </a:pPr>
            <a:r>
              <a:rPr lang="en-US" sz="1400" b="1" dirty="0">
                <a:solidFill>
                  <a:schemeClr val="bg1"/>
                </a:solidFill>
              </a:rPr>
              <a:t>Lithium  </a:t>
            </a:r>
            <a:pPr algn="ctr" indent="0" marL="0">
              <a:buNone/>
            </a:pPr>
            <a:r>
              <a:rPr lang="en-US" sz="1400" dirty="0">
                <a:solidFill>
                  <a:schemeClr val="bg2"/>
                </a:solidFill>
              </a:rPr>
              <a:t>2, 1</a:t>
            </a:r>
            <a:endParaRPr lang="en-US" sz="1400" dirty="0"/>
          </a:p>
        </p:txBody>
      </p:sp>
      <p:sp>
        <p:nvSpPr>
          <p:cNvPr id="16" name="Sodium: shell 1"/>
          <p:cNvSpPr/>
          <p:nvPr/>
        </p:nvSpPr>
        <p:spPr>
          <a:xfrm>
            <a:off x="4087195" y="2212675"/>
            <a:ext cx="786729" cy="786729"/>
          </a:xfrm>
          <a:prstGeom prst="ellipse">
            <a:avLst/>
          </a:prstGeom>
          <a:solidFill>
            <a:schemeClr val="bg1">
              <a:alpha val="0"/>
            </a:schemeClr>
          </a:solidFill>
          <a:ln w="15875">
            <a:solidFill>
              <a:schemeClr val="bg2">
                <a:alpha val="55000"/>
              </a:schemeClr>
            </a:solidFill>
            <a:prstDash val="solid"/>
          </a:ln>
        </p:spPr>
      </p:sp>
      <p:sp>
        <p:nvSpPr>
          <p:cNvPr id="17" name="Sodium: shell 2"/>
          <p:cNvSpPr/>
          <p:nvPr/>
        </p:nvSpPr>
        <p:spPr>
          <a:xfrm>
            <a:off x="3841343" y="1966823"/>
            <a:ext cx="1278435" cy="1278435"/>
          </a:xfrm>
          <a:prstGeom prst="ellipse">
            <a:avLst/>
          </a:prstGeom>
          <a:solidFill>
            <a:schemeClr val="bg1">
              <a:alpha val="0"/>
            </a:schemeClr>
          </a:solidFill>
          <a:ln w="15875">
            <a:solidFill>
              <a:schemeClr val="bg2">
                <a:alpha val="55000"/>
              </a:schemeClr>
            </a:solidFill>
            <a:prstDash val="solid"/>
          </a:ln>
        </p:spPr>
      </p:sp>
      <p:sp>
        <p:nvSpPr>
          <p:cNvPr id="18" name="Sodium: shell 3"/>
          <p:cNvSpPr/>
          <p:nvPr/>
        </p:nvSpPr>
        <p:spPr>
          <a:xfrm>
            <a:off x="3611880" y="1737360"/>
            <a:ext cx="1737360" cy="1737360"/>
          </a:xfrm>
          <a:prstGeom prst="ellipse">
            <a:avLst/>
          </a:prstGeom>
          <a:solidFill>
            <a:schemeClr val="bg1">
              <a:alpha val="0"/>
            </a:schemeClr>
          </a:solidFill>
          <a:ln w="15875">
            <a:solidFill>
              <a:schemeClr val="accent2">
                <a:alpha val="80000"/>
              </a:schemeClr>
            </a:solidFill>
            <a:prstDash val="solid"/>
          </a:ln>
        </p:spPr>
      </p:sp>
      <p:sp>
        <p:nvSpPr>
          <p:cNvPr id="19" name="Sodium: nucleus"/>
          <p:cNvSpPr/>
          <p:nvPr/>
        </p:nvSpPr>
        <p:spPr>
          <a:xfrm>
            <a:off x="4226512" y="2351992"/>
            <a:ext cx="508096" cy="508096"/>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20" name="Sodium: electron, shell 1"/>
          <p:cNvSpPr/>
          <p:nvPr/>
        </p:nvSpPr>
        <p:spPr>
          <a:xfrm>
            <a:off x="4419097" y="2151212"/>
            <a:ext cx="122926" cy="122926"/>
          </a:xfrm>
          <a:prstGeom prst="ellipse">
            <a:avLst/>
          </a:prstGeom>
          <a:solidFill>
            <a:schemeClr val="accent1"/>
          </a:solidFill>
          <a:ln w="3175">
            <a:solidFill>
              <a:schemeClr val="accent1"/>
            </a:solidFill>
            <a:prstDash val="solid"/>
          </a:ln>
        </p:spPr>
      </p:sp>
      <p:sp>
        <p:nvSpPr>
          <p:cNvPr id="21" name="Sodium: electron, shell 1"/>
          <p:cNvSpPr/>
          <p:nvPr/>
        </p:nvSpPr>
        <p:spPr>
          <a:xfrm>
            <a:off x="4812461" y="2544577"/>
            <a:ext cx="122926" cy="122926"/>
          </a:xfrm>
          <a:prstGeom prst="ellipse">
            <a:avLst/>
          </a:prstGeom>
          <a:solidFill>
            <a:schemeClr val="accent1"/>
          </a:solidFill>
          <a:ln w="3175">
            <a:solidFill>
              <a:schemeClr val="accent1"/>
            </a:solidFill>
            <a:prstDash val="solid"/>
          </a:ln>
        </p:spPr>
      </p:sp>
      <p:sp>
        <p:nvSpPr>
          <p:cNvPr id="22" name="Sodium: electron, shell 2"/>
          <p:cNvSpPr/>
          <p:nvPr/>
        </p:nvSpPr>
        <p:spPr>
          <a:xfrm>
            <a:off x="4336557" y="1910711"/>
            <a:ext cx="122926" cy="122926"/>
          </a:xfrm>
          <a:prstGeom prst="ellipse">
            <a:avLst/>
          </a:prstGeom>
          <a:solidFill>
            <a:schemeClr val="accent1"/>
          </a:solidFill>
          <a:ln w="3175">
            <a:solidFill>
              <a:schemeClr val="accent1"/>
            </a:solidFill>
            <a:prstDash val="solid"/>
          </a:ln>
        </p:spPr>
      </p:sp>
      <p:sp>
        <p:nvSpPr>
          <p:cNvPr id="23" name="Sodium: electron, shell 2"/>
          <p:cNvSpPr/>
          <p:nvPr/>
        </p:nvSpPr>
        <p:spPr>
          <a:xfrm>
            <a:off x="4501636" y="1910711"/>
            <a:ext cx="122926" cy="122926"/>
          </a:xfrm>
          <a:prstGeom prst="ellipse">
            <a:avLst/>
          </a:prstGeom>
          <a:solidFill>
            <a:schemeClr val="accent1"/>
          </a:solidFill>
          <a:ln w="3175">
            <a:solidFill>
              <a:schemeClr val="accent1"/>
            </a:solidFill>
            <a:prstDash val="solid"/>
          </a:ln>
        </p:spPr>
      </p:sp>
      <p:sp>
        <p:nvSpPr>
          <p:cNvPr id="24" name="Sodium: electron, shell 2"/>
          <p:cNvSpPr/>
          <p:nvPr/>
        </p:nvSpPr>
        <p:spPr>
          <a:xfrm>
            <a:off x="5052963" y="2462037"/>
            <a:ext cx="122926" cy="122926"/>
          </a:xfrm>
          <a:prstGeom prst="ellipse">
            <a:avLst/>
          </a:prstGeom>
          <a:solidFill>
            <a:schemeClr val="accent1"/>
          </a:solidFill>
          <a:ln w="3175">
            <a:solidFill>
              <a:schemeClr val="accent1"/>
            </a:solidFill>
            <a:prstDash val="solid"/>
          </a:ln>
        </p:spPr>
      </p:sp>
      <p:sp>
        <p:nvSpPr>
          <p:cNvPr id="25" name="Sodium: electron, shell 2"/>
          <p:cNvSpPr/>
          <p:nvPr/>
        </p:nvSpPr>
        <p:spPr>
          <a:xfrm>
            <a:off x="5052963" y="2627116"/>
            <a:ext cx="122926" cy="122926"/>
          </a:xfrm>
          <a:prstGeom prst="ellipse">
            <a:avLst/>
          </a:prstGeom>
          <a:solidFill>
            <a:schemeClr val="accent1"/>
          </a:solidFill>
          <a:ln w="3175">
            <a:solidFill>
              <a:schemeClr val="accent1"/>
            </a:solidFill>
            <a:prstDash val="solid"/>
          </a:ln>
        </p:spPr>
      </p:sp>
      <p:sp>
        <p:nvSpPr>
          <p:cNvPr id="26" name="Sodium: electron, shell 2"/>
          <p:cNvSpPr/>
          <p:nvPr/>
        </p:nvSpPr>
        <p:spPr>
          <a:xfrm>
            <a:off x="4501636" y="3178443"/>
            <a:ext cx="122926" cy="122926"/>
          </a:xfrm>
          <a:prstGeom prst="ellipse">
            <a:avLst/>
          </a:prstGeom>
          <a:solidFill>
            <a:schemeClr val="accent1"/>
          </a:solidFill>
          <a:ln w="3175">
            <a:solidFill>
              <a:schemeClr val="accent1"/>
            </a:solidFill>
            <a:prstDash val="solid"/>
          </a:ln>
        </p:spPr>
      </p:sp>
      <p:sp>
        <p:nvSpPr>
          <p:cNvPr id="27" name="Sodium: electron, shell 2"/>
          <p:cNvSpPr/>
          <p:nvPr/>
        </p:nvSpPr>
        <p:spPr>
          <a:xfrm>
            <a:off x="4336557" y="3178443"/>
            <a:ext cx="122926" cy="122926"/>
          </a:xfrm>
          <a:prstGeom prst="ellipse">
            <a:avLst/>
          </a:prstGeom>
          <a:solidFill>
            <a:schemeClr val="accent1"/>
          </a:solidFill>
          <a:ln w="3175">
            <a:solidFill>
              <a:schemeClr val="accent1"/>
            </a:solidFill>
            <a:prstDash val="solid"/>
          </a:ln>
        </p:spPr>
      </p:sp>
      <p:sp>
        <p:nvSpPr>
          <p:cNvPr id="28" name="Sodium: electron, shell 2"/>
          <p:cNvSpPr/>
          <p:nvPr/>
        </p:nvSpPr>
        <p:spPr>
          <a:xfrm>
            <a:off x="3785231" y="2627116"/>
            <a:ext cx="122926" cy="122926"/>
          </a:xfrm>
          <a:prstGeom prst="ellipse">
            <a:avLst/>
          </a:prstGeom>
          <a:solidFill>
            <a:schemeClr val="accent1"/>
          </a:solidFill>
          <a:ln w="3175">
            <a:solidFill>
              <a:schemeClr val="accent1"/>
            </a:solidFill>
            <a:prstDash val="solid"/>
          </a:ln>
        </p:spPr>
      </p:sp>
      <p:sp>
        <p:nvSpPr>
          <p:cNvPr id="29" name="Sodium: electron, shell 2"/>
          <p:cNvSpPr/>
          <p:nvPr/>
        </p:nvSpPr>
        <p:spPr>
          <a:xfrm>
            <a:off x="3785231" y="2462037"/>
            <a:ext cx="122926" cy="122926"/>
          </a:xfrm>
          <a:prstGeom prst="ellipse">
            <a:avLst/>
          </a:prstGeom>
          <a:solidFill>
            <a:schemeClr val="accent1"/>
          </a:solidFill>
          <a:ln w="3175">
            <a:solidFill>
              <a:schemeClr val="accent1"/>
            </a:solidFill>
            <a:prstDash val="solid"/>
          </a:ln>
        </p:spPr>
      </p:sp>
      <p:sp>
        <p:nvSpPr>
          <p:cNvPr id="30" name="Sodium: electron, shell 3"/>
          <p:cNvSpPr/>
          <p:nvPr/>
        </p:nvSpPr>
        <p:spPr>
          <a:xfrm>
            <a:off x="4419097" y="1675897"/>
            <a:ext cx="122926" cy="122926"/>
          </a:xfrm>
          <a:prstGeom prst="ellipse">
            <a:avLst/>
          </a:prstGeom>
          <a:solidFill>
            <a:schemeClr val="accent2"/>
          </a:solidFill>
          <a:ln w="3175">
            <a:solidFill>
              <a:schemeClr val="accent2"/>
            </a:solidFill>
            <a:prstDash val="solid"/>
          </a:ln>
        </p:spPr>
      </p:sp>
      <p:sp>
        <p:nvSpPr>
          <p:cNvPr id="31" name="Text 29"/>
          <p:cNvSpPr txBox="1"/>
          <p:nvPr/>
        </p:nvSpPr>
        <p:spPr>
          <a:xfrm>
            <a:off x="3291840" y="3886200"/>
            <a:ext cx="2377440" cy="274320"/>
          </a:xfrm>
          <a:prstGeom prst="rect">
            <a:avLst/>
          </a:prstGeom>
          <a:noFill/>
          <a:ln/>
        </p:spPr>
        <p:txBody>
          <a:bodyPr wrap="square" lIns="0" tIns="0" rIns="0" bIns="0" rtlCol="0" anchor="ctr"/>
          <a:lstStyle/>
          <a:p>
            <a:pPr algn="ctr" indent="0" marL="0">
              <a:buNone/>
            </a:pPr>
            <a:r>
              <a:rPr lang="en-US" sz="1400" b="1" dirty="0">
                <a:solidFill>
                  <a:schemeClr val="bg1"/>
                </a:solidFill>
              </a:rPr>
              <a:t>Sodium  </a:t>
            </a:r>
            <a:pPr algn="ctr" indent="0" marL="0">
              <a:buNone/>
            </a:pPr>
            <a:r>
              <a:rPr lang="en-US" sz="1400" dirty="0">
                <a:solidFill>
                  <a:schemeClr val="bg2"/>
                </a:solidFill>
              </a:rPr>
              <a:t>2, 8, 1</a:t>
            </a:r>
            <a:endParaRPr lang="en-US" sz="1400" dirty="0"/>
          </a:p>
        </p:txBody>
      </p:sp>
      <p:sp>
        <p:nvSpPr>
          <p:cNvPr id="32" name="Potassium: shell 1"/>
          <p:cNvSpPr/>
          <p:nvPr/>
        </p:nvSpPr>
        <p:spPr>
          <a:xfrm>
            <a:off x="7049751" y="2294871"/>
            <a:ext cx="622338" cy="622338"/>
          </a:xfrm>
          <a:prstGeom prst="ellipse">
            <a:avLst/>
          </a:prstGeom>
          <a:solidFill>
            <a:schemeClr val="bg1">
              <a:alpha val="0"/>
            </a:schemeClr>
          </a:solidFill>
          <a:ln w="15875">
            <a:solidFill>
              <a:schemeClr val="bg2">
                <a:alpha val="55000"/>
              </a:schemeClr>
            </a:solidFill>
            <a:prstDash val="solid"/>
          </a:ln>
        </p:spPr>
      </p:sp>
      <p:sp>
        <p:nvSpPr>
          <p:cNvPr id="33" name="Potassium: shell 2"/>
          <p:cNvSpPr/>
          <p:nvPr/>
        </p:nvSpPr>
        <p:spPr>
          <a:xfrm>
            <a:off x="6855270" y="2100390"/>
            <a:ext cx="1011299" cy="1011299"/>
          </a:xfrm>
          <a:prstGeom prst="ellipse">
            <a:avLst/>
          </a:prstGeom>
          <a:solidFill>
            <a:schemeClr val="bg1">
              <a:alpha val="0"/>
            </a:schemeClr>
          </a:solidFill>
          <a:ln w="15875">
            <a:solidFill>
              <a:schemeClr val="bg2">
                <a:alpha val="55000"/>
              </a:schemeClr>
            </a:solidFill>
            <a:prstDash val="solid"/>
          </a:ln>
        </p:spPr>
      </p:sp>
      <p:sp>
        <p:nvSpPr>
          <p:cNvPr id="34" name="Potassium: shell 3"/>
          <p:cNvSpPr/>
          <p:nvPr/>
        </p:nvSpPr>
        <p:spPr>
          <a:xfrm>
            <a:off x="6673755" y="1918875"/>
            <a:ext cx="1374330" cy="1374330"/>
          </a:xfrm>
          <a:prstGeom prst="ellipse">
            <a:avLst/>
          </a:prstGeom>
          <a:solidFill>
            <a:schemeClr val="bg1">
              <a:alpha val="0"/>
            </a:schemeClr>
          </a:solidFill>
          <a:ln w="15875">
            <a:solidFill>
              <a:schemeClr val="bg2">
                <a:alpha val="55000"/>
              </a:schemeClr>
            </a:solidFill>
            <a:prstDash val="solid"/>
          </a:ln>
        </p:spPr>
      </p:sp>
      <p:sp>
        <p:nvSpPr>
          <p:cNvPr id="35" name="Potassium: shell 4"/>
          <p:cNvSpPr/>
          <p:nvPr/>
        </p:nvSpPr>
        <p:spPr>
          <a:xfrm>
            <a:off x="6492240" y="1737360"/>
            <a:ext cx="1737360" cy="1737360"/>
          </a:xfrm>
          <a:prstGeom prst="ellipse">
            <a:avLst/>
          </a:prstGeom>
          <a:solidFill>
            <a:schemeClr val="bg1">
              <a:alpha val="0"/>
            </a:schemeClr>
          </a:solidFill>
          <a:ln w="15875">
            <a:solidFill>
              <a:schemeClr val="accent2">
                <a:alpha val="80000"/>
              </a:schemeClr>
            </a:solidFill>
            <a:prstDash val="solid"/>
          </a:ln>
        </p:spPr>
      </p:sp>
      <p:sp>
        <p:nvSpPr>
          <p:cNvPr id="36" name="Potassium: nucleus"/>
          <p:cNvSpPr/>
          <p:nvPr/>
        </p:nvSpPr>
        <p:spPr>
          <a:xfrm>
            <a:off x="7159957" y="2405077"/>
            <a:ext cx="401927" cy="401927"/>
          </a:xfrm>
          <a:prstGeom prst="ellipse">
            <a:avLst/>
          </a:prstGeom>
          <a:solidFill>
            <a:schemeClr val="accent3"/>
          </a:solidFill>
          <a:ln w="6350">
            <a:solidFill>
              <a:schemeClr val="accent3"/>
            </a:solidFill>
          </a:ln>
        </p:spPr>
        <p:txBody>
          <a:bodyPr wrap="square" lIns="0" tIns="0" rIns="0" bIns="0" rtlCol="0" anchor="ctr"/>
          <a:lstStyle/>
          <a:p>
            <a:pPr algn="ctr" indent="0" marL="0">
              <a:buNone/>
            </a:pPr>
            <a:endParaRPr lang="en-US" sz="800" dirty="0"/>
          </a:p>
        </p:txBody>
      </p:sp>
      <p:sp>
        <p:nvSpPr>
          <p:cNvPr id="37" name="Potassium: electron, shell 1"/>
          <p:cNvSpPr/>
          <p:nvPr/>
        </p:nvSpPr>
        <p:spPr>
          <a:xfrm>
            <a:off x="7312300" y="2246251"/>
            <a:ext cx="97240" cy="97240"/>
          </a:xfrm>
          <a:prstGeom prst="ellipse">
            <a:avLst/>
          </a:prstGeom>
          <a:solidFill>
            <a:schemeClr val="accent1"/>
          </a:solidFill>
          <a:ln w="3175">
            <a:solidFill>
              <a:schemeClr val="accent1"/>
            </a:solidFill>
            <a:prstDash val="solid"/>
          </a:ln>
        </p:spPr>
      </p:sp>
      <p:sp>
        <p:nvSpPr>
          <p:cNvPr id="38" name="Potassium: electron, shell 1"/>
          <p:cNvSpPr/>
          <p:nvPr/>
        </p:nvSpPr>
        <p:spPr>
          <a:xfrm>
            <a:off x="7623469" y="2557420"/>
            <a:ext cx="97240" cy="97240"/>
          </a:xfrm>
          <a:prstGeom prst="ellipse">
            <a:avLst/>
          </a:prstGeom>
          <a:solidFill>
            <a:schemeClr val="accent1"/>
          </a:solidFill>
          <a:ln w="3175">
            <a:solidFill>
              <a:schemeClr val="accent1"/>
            </a:solidFill>
            <a:prstDash val="solid"/>
          </a:ln>
        </p:spPr>
      </p:sp>
      <p:sp>
        <p:nvSpPr>
          <p:cNvPr id="39" name="Potassium: electron, shell 2"/>
          <p:cNvSpPr/>
          <p:nvPr/>
        </p:nvSpPr>
        <p:spPr>
          <a:xfrm>
            <a:off x="7247008" y="2056003"/>
            <a:ext cx="97240" cy="97240"/>
          </a:xfrm>
          <a:prstGeom prst="ellipse">
            <a:avLst/>
          </a:prstGeom>
          <a:solidFill>
            <a:schemeClr val="accent1"/>
          </a:solidFill>
          <a:ln w="3175">
            <a:solidFill>
              <a:schemeClr val="accent1"/>
            </a:solidFill>
            <a:prstDash val="solid"/>
          </a:ln>
        </p:spPr>
      </p:sp>
      <p:sp>
        <p:nvSpPr>
          <p:cNvPr id="40" name="Potassium: electron, shell 2"/>
          <p:cNvSpPr/>
          <p:nvPr/>
        </p:nvSpPr>
        <p:spPr>
          <a:xfrm>
            <a:off x="7377592" y="2056003"/>
            <a:ext cx="97240" cy="97240"/>
          </a:xfrm>
          <a:prstGeom prst="ellipse">
            <a:avLst/>
          </a:prstGeom>
          <a:solidFill>
            <a:schemeClr val="accent1"/>
          </a:solidFill>
          <a:ln w="3175">
            <a:solidFill>
              <a:schemeClr val="accent1"/>
            </a:solidFill>
            <a:prstDash val="solid"/>
          </a:ln>
        </p:spPr>
      </p:sp>
      <p:sp>
        <p:nvSpPr>
          <p:cNvPr id="41" name="Potassium: electron, shell 2"/>
          <p:cNvSpPr/>
          <p:nvPr/>
        </p:nvSpPr>
        <p:spPr>
          <a:xfrm>
            <a:off x="7813716" y="2492128"/>
            <a:ext cx="97240" cy="97240"/>
          </a:xfrm>
          <a:prstGeom prst="ellipse">
            <a:avLst/>
          </a:prstGeom>
          <a:solidFill>
            <a:schemeClr val="accent1"/>
          </a:solidFill>
          <a:ln w="3175">
            <a:solidFill>
              <a:schemeClr val="accent1"/>
            </a:solidFill>
            <a:prstDash val="solid"/>
          </a:ln>
        </p:spPr>
      </p:sp>
      <p:sp>
        <p:nvSpPr>
          <p:cNvPr id="42" name="Potassium: electron, shell 2"/>
          <p:cNvSpPr/>
          <p:nvPr/>
        </p:nvSpPr>
        <p:spPr>
          <a:xfrm>
            <a:off x="7813716" y="2622712"/>
            <a:ext cx="97240" cy="97240"/>
          </a:xfrm>
          <a:prstGeom prst="ellipse">
            <a:avLst/>
          </a:prstGeom>
          <a:solidFill>
            <a:schemeClr val="accent1"/>
          </a:solidFill>
          <a:ln w="3175">
            <a:solidFill>
              <a:schemeClr val="accent1"/>
            </a:solidFill>
            <a:prstDash val="solid"/>
          </a:ln>
        </p:spPr>
      </p:sp>
      <p:sp>
        <p:nvSpPr>
          <p:cNvPr id="43" name="Potassium: electron, shell 2"/>
          <p:cNvSpPr/>
          <p:nvPr/>
        </p:nvSpPr>
        <p:spPr>
          <a:xfrm>
            <a:off x="7377592" y="3058836"/>
            <a:ext cx="97240" cy="97240"/>
          </a:xfrm>
          <a:prstGeom prst="ellipse">
            <a:avLst/>
          </a:prstGeom>
          <a:solidFill>
            <a:schemeClr val="accent1"/>
          </a:solidFill>
          <a:ln w="3175">
            <a:solidFill>
              <a:schemeClr val="accent1"/>
            </a:solidFill>
            <a:prstDash val="solid"/>
          </a:ln>
        </p:spPr>
      </p:sp>
      <p:sp>
        <p:nvSpPr>
          <p:cNvPr id="44" name="Potassium: electron, shell 2"/>
          <p:cNvSpPr/>
          <p:nvPr/>
        </p:nvSpPr>
        <p:spPr>
          <a:xfrm>
            <a:off x="7247008" y="3058836"/>
            <a:ext cx="97240" cy="97240"/>
          </a:xfrm>
          <a:prstGeom prst="ellipse">
            <a:avLst/>
          </a:prstGeom>
          <a:solidFill>
            <a:schemeClr val="accent1"/>
          </a:solidFill>
          <a:ln w="3175">
            <a:solidFill>
              <a:schemeClr val="accent1"/>
            </a:solidFill>
            <a:prstDash val="solid"/>
          </a:ln>
        </p:spPr>
      </p:sp>
      <p:sp>
        <p:nvSpPr>
          <p:cNvPr id="45" name="Potassium: electron, shell 2"/>
          <p:cNvSpPr/>
          <p:nvPr/>
        </p:nvSpPr>
        <p:spPr>
          <a:xfrm>
            <a:off x="6810883" y="2622712"/>
            <a:ext cx="97240" cy="97240"/>
          </a:xfrm>
          <a:prstGeom prst="ellipse">
            <a:avLst/>
          </a:prstGeom>
          <a:solidFill>
            <a:schemeClr val="accent1"/>
          </a:solidFill>
          <a:ln w="3175">
            <a:solidFill>
              <a:schemeClr val="accent1"/>
            </a:solidFill>
            <a:prstDash val="solid"/>
          </a:ln>
        </p:spPr>
      </p:sp>
      <p:sp>
        <p:nvSpPr>
          <p:cNvPr id="46" name="Potassium: electron, shell 2"/>
          <p:cNvSpPr/>
          <p:nvPr/>
        </p:nvSpPr>
        <p:spPr>
          <a:xfrm>
            <a:off x="6810883" y="2492128"/>
            <a:ext cx="97240" cy="97240"/>
          </a:xfrm>
          <a:prstGeom prst="ellipse">
            <a:avLst/>
          </a:prstGeom>
          <a:solidFill>
            <a:schemeClr val="accent1"/>
          </a:solidFill>
          <a:ln w="3175">
            <a:solidFill>
              <a:schemeClr val="accent1"/>
            </a:solidFill>
            <a:prstDash val="solid"/>
          </a:ln>
        </p:spPr>
      </p:sp>
      <p:sp>
        <p:nvSpPr>
          <p:cNvPr id="47" name="Potassium: electron, shell 3"/>
          <p:cNvSpPr/>
          <p:nvPr/>
        </p:nvSpPr>
        <p:spPr>
          <a:xfrm>
            <a:off x="7246924" y="1873372"/>
            <a:ext cx="97240" cy="97240"/>
          </a:xfrm>
          <a:prstGeom prst="ellipse">
            <a:avLst/>
          </a:prstGeom>
          <a:solidFill>
            <a:schemeClr val="accent1"/>
          </a:solidFill>
          <a:ln w="3175">
            <a:solidFill>
              <a:schemeClr val="accent1"/>
            </a:solidFill>
            <a:prstDash val="solid"/>
          </a:ln>
        </p:spPr>
      </p:sp>
      <p:sp>
        <p:nvSpPr>
          <p:cNvPr id="48" name="Potassium: electron, shell 3"/>
          <p:cNvSpPr/>
          <p:nvPr/>
        </p:nvSpPr>
        <p:spPr>
          <a:xfrm>
            <a:off x="7377676" y="1873372"/>
            <a:ext cx="97240" cy="97240"/>
          </a:xfrm>
          <a:prstGeom prst="ellipse">
            <a:avLst/>
          </a:prstGeom>
          <a:solidFill>
            <a:schemeClr val="accent1"/>
          </a:solidFill>
          <a:ln w="3175">
            <a:solidFill>
              <a:schemeClr val="accent1"/>
            </a:solidFill>
            <a:prstDash val="solid"/>
          </a:ln>
        </p:spPr>
      </p:sp>
      <p:sp>
        <p:nvSpPr>
          <p:cNvPr id="49" name="Potassium: electron, shell 3"/>
          <p:cNvSpPr/>
          <p:nvPr/>
        </p:nvSpPr>
        <p:spPr>
          <a:xfrm>
            <a:off x="7996348" y="2492044"/>
            <a:ext cx="97240" cy="97240"/>
          </a:xfrm>
          <a:prstGeom prst="ellipse">
            <a:avLst/>
          </a:prstGeom>
          <a:solidFill>
            <a:schemeClr val="accent1"/>
          </a:solidFill>
          <a:ln w="3175">
            <a:solidFill>
              <a:schemeClr val="accent1"/>
            </a:solidFill>
            <a:prstDash val="solid"/>
          </a:ln>
        </p:spPr>
      </p:sp>
      <p:sp>
        <p:nvSpPr>
          <p:cNvPr id="50" name="Potassium: electron, shell 3"/>
          <p:cNvSpPr/>
          <p:nvPr/>
        </p:nvSpPr>
        <p:spPr>
          <a:xfrm>
            <a:off x="7996348" y="2622796"/>
            <a:ext cx="97240" cy="97240"/>
          </a:xfrm>
          <a:prstGeom prst="ellipse">
            <a:avLst/>
          </a:prstGeom>
          <a:solidFill>
            <a:schemeClr val="accent1"/>
          </a:solidFill>
          <a:ln w="3175">
            <a:solidFill>
              <a:schemeClr val="accent1"/>
            </a:solidFill>
            <a:prstDash val="solid"/>
          </a:ln>
        </p:spPr>
      </p:sp>
      <p:sp>
        <p:nvSpPr>
          <p:cNvPr id="51" name="Potassium: electron, shell 3"/>
          <p:cNvSpPr/>
          <p:nvPr/>
        </p:nvSpPr>
        <p:spPr>
          <a:xfrm>
            <a:off x="7377676" y="3241468"/>
            <a:ext cx="97240" cy="97240"/>
          </a:xfrm>
          <a:prstGeom prst="ellipse">
            <a:avLst/>
          </a:prstGeom>
          <a:solidFill>
            <a:schemeClr val="accent1"/>
          </a:solidFill>
          <a:ln w="3175">
            <a:solidFill>
              <a:schemeClr val="accent1"/>
            </a:solidFill>
            <a:prstDash val="solid"/>
          </a:ln>
        </p:spPr>
      </p:sp>
      <p:sp>
        <p:nvSpPr>
          <p:cNvPr id="52" name="Potassium: electron, shell 3"/>
          <p:cNvSpPr/>
          <p:nvPr/>
        </p:nvSpPr>
        <p:spPr>
          <a:xfrm>
            <a:off x="7246924" y="3241468"/>
            <a:ext cx="97240" cy="97240"/>
          </a:xfrm>
          <a:prstGeom prst="ellipse">
            <a:avLst/>
          </a:prstGeom>
          <a:solidFill>
            <a:schemeClr val="accent1"/>
          </a:solidFill>
          <a:ln w="3175">
            <a:solidFill>
              <a:schemeClr val="accent1"/>
            </a:solidFill>
            <a:prstDash val="solid"/>
          </a:ln>
        </p:spPr>
      </p:sp>
      <p:sp>
        <p:nvSpPr>
          <p:cNvPr id="53" name="Potassium: electron, shell 3"/>
          <p:cNvSpPr/>
          <p:nvPr/>
        </p:nvSpPr>
        <p:spPr>
          <a:xfrm>
            <a:off x="6628252" y="2622796"/>
            <a:ext cx="97240" cy="97240"/>
          </a:xfrm>
          <a:prstGeom prst="ellipse">
            <a:avLst/>
          </a:prstGeom>
          <a:solidFill>
            <a:schemeClr val="accent1"/>
          </a:solidFill>
          <a:ln w="3175">
            <a:solidFill>
              <a:schemeClr val="accent1"/>
            </a:solidFill>
            <a:prstDash val="solid"/>
          </a:ln>
        </p:spPr>
      </p:sp>
      <p:sp>
        <p:nvSpPr>
          <p:cNvPr id="54" name="Potassium: electron, shell 3"/>
          <p:cNvSpPr/>
          <p:nvPr/>
        </p:nvSpPr>
        <p:spPr>
          <a:xfrm>
            <a:off x="6628252" y="2492044"/>
            <a:ext cx="97240" cy="97240"/>
          </a:xfrm>
          <a:prstGeom prst="ellipse">
            <a:avLst/>
          </a:prstGeom>
          <a:solidFill>
            <a:schemeClr val="accent1"/>
          </a:solidFill>
          <a:ln w="3175">
            <a:solidFill>
              <a:schemeClr val="accent1"/>
            </a:solidFill>
            <a:prstDash val="solid"/>
          </a:ln>
        </p:spPr>
      </p:sp>
      <p:sp>
        <p:nvSpPr>
          <p:cNvPr id="55" name="Potassium: electron, shell 4"/>
          <p:cNvSpPr/>
          <p:nvPr/>
        </p:nvSpPr>
        <p:spPr>
          <a:xfrm>
            <a:off x="7312300" y="1688740"/>
            <a:ext cx="97240" cy="97240"/>
          </a:xfrm>
          <a:prstGeom prst="ellipse">
            <a:avLst/>
          </a:prstGeom>
          <a:solidFill>
            <a:schemeClr val="accent2"/>
          </a:solidFill>
          <a:ln w="3175">
            <a:solidFill>
              <a:schemeClr val="accent2"/>
            </a:solidFill>
            <a:prstDash val="solid"/>
          </a:ln>
        </p:spPr>
      </p:sp>
      <p:sp>
        <p:nvSpPr>
          <p:cNvPr id="56" name="Text 54"/>
          <p:cNvSpPr txBox="1"/>
          <p:nvPr/>
        </p:nvSpPr>
        <p:spPr>
          <a:xfrm>
            <a:off x="6172200" y="3886200"/>
            <a:ext cx="2377440" cy="274320"/>
          </a:xfrm>
          <a:prstGeom prst="rect">
            <a:avLst/>
          </a:prstGeom>
          <a:noFill/>
          <a:ln/>
        </p:spPr>
        <p:txBody>
          <a:bodyPr wrap="square" lIns="0" tIns="0" rIns="0" bIns="0" rtlCol="0" anchor="ctr"/>
          <a:lstStyle/>
          <a:p>
            <a:pPr algn="ctr" indent="0" marL="0">
              <a:buNone/>
            </a:pPr>
            <a:r>
              <a:rPr lang="en-US" sz="1400" b="1" dirty="0">
                <a:solidFill>
                  <a:schemeClr val="bg1"/>
                </a:solidFill>
              </a:rPr>
              <a:t>Potassium  </a:t>
            </a:r>
            <a:pPr algn="ctr" indent="0" marL="0">
              <a:buNone/>
            </a:pPr>
            <a:r>
              <a:rPr lang="en-US" sz="1400" dirty="0">
                <a:solidFill>
                  <a:schemeClr val="bg2"/>
                </a:solidFill>
              </a:rPr>
              <a:t>2, 8, 8, 1</a:t>
            </a:r>
            <a:endParaRPr lang="en-US" sz="1400" dirty="0"/>
          </a:p>
        </p:txBody>
      </p:sp>
      <p:sp>
        <p:nvSpPr>
          <p:cNvPr id="57" name="Text 55"/>
          <p:cNvSpPr txBox="1"/>
          <p:nvPr/>
        </p:nvSpPr>
        <p:spPr>
          <a:xfrm>
            <a:off x="457200" y="4251960"/>
            <a:ext cx="8229600" cy="320040"/>
          </a:xfrm>
          <a:prstGeom prst="rect">
            <a:avLst/>
          </a:prstGeom>
          <a:noFill/>
          <a:ln/>
        </p:spPr>
        <p:txBody>
          <a:bodyPr wrap="square" lIns="0" tIns="0" rIns="0" bIns="0" rtlCol="0" anchor="ctr"/>
          <a:lstStyle/>
          <a:p>
            <a:pPr algn="ctr" indent="0" marL="0">
              <a:buNone/>
            </a:pPr>
            <a:r>
              <a:rPr lang="en-US" sz="1500" b="1" dirty="0">
                <a:solidFill>
                  <a:schemeClr val="accent2"/>
                </a:solidFill>
              </a:rPr>
              <a:t>Each has 1 valence electron. </a:t>
            </a:r>
            <a:pPr algn="ctr" indent="0" marL="0">
              <a:buNone/>
            </a:pPr>
            <a:r>
              <a:rPr lang="en-US" sz="1500" dirty="0">
                <a:solidFill>
                  <a:schemeClr val="bg1"/>
                </a:solidFill>
              </a:rPr>
              <a:t>Same group, same number of valence electrons.</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Sort by valence electrons</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element to its number of valence electrons, or tap an element and then tap a box.</a:t>
            </a:r>
            <a:endParaRPr lang="en-US" sz="1300" dirty="0"/>
          </a:p>
        </p:txBody>
      </p:sp>
      <p:sp>
        <p:nvSpPr>
          <p:cNvPr id="9" name="Tile K"/>
          <p:cNvSpPr/>
          <p:nvPr/>
        </p:nvSpPr>
        <p:spPr>
          <a:xfrm>
            <a:off x="457200" y="1691640"/>
            <a:ext cx="868680" cy="868680"/>
          </a:xfrm>
          <a:prstGeom prst="roundRect">
            <a:avLst>
              <a:gd name="adj" fmla="val 12000"/>
            </a:avLst>
          </a:prstGeom>
          <a:solidFill>
            <a:srgbClr val="FF8F5E">
              <a:alpha val="30000"/>
            </a:srgbClr>
          </a:solidFill>
          <a:ln w="19050">
            <a:solidFill>
              <a:srgbClr val="FF8F5E"/>
            </a:solidFill>
            <a:prstDash val="solid"/>
          </a:ln>
        </p:spPr>
      </p:sp>
      <p:sp>
        <p:nvSpPr>
          <p:cNvPr id="10" name="Text 8"/>
          <p:cNvSpPr txBox="1"/>
          <p:nvPr/>
        </p:nvSpPr>
        <p:spPr>
          <a:xfrm>
            <a:off x="526694"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19</a:t>
            </a:r>
            <a:endParaRPr lang="en-US" sz="1200" dirty="0"/>
          </a:p>
        </p:txBody>
      </p:sp>
      <p:sp>
        <p:nvSpPr>
          <p:cNvPr id="11" name="Text 9"/>
          <p:cNvSpPr txBox="1"/>
          <p:nvPr/>
        </p:nvSpPr>
        <p:spPr>
          <a:xfrm>
            <a:off x="457200"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K</a:t>
            </a:r>
            <a:endParaRPr lang="en-US" sz="3200" dirty="0"/>
          </a:p>
        </p:txBody>
      </p:sp>
      <p:sp>
        <p:nvSpPr>
          <p:cNvPr id="12" name="Tile S"/>
          <p:cNvSpPr/>
          <p:nvPr/>
        </p:nvSpPr>
        <p:spPr>
          <a:xfrm>
            <a:off x="1499616" y="1691640"/>
            <a:ext cx="868680" cy="868680"/>
          </a:xfrm>
          <a:prstGeom prst="roundRect">
            <a:avLst>
              <a:gd name="adj" fmla="val 12000"/>
            </a:avLst>
          </a:prstGeom>
          <a:solidFill>
            <a:srgbClr val="45C08F">
              <a:alpha val="30000"/>
            </a:srgbClr>
          </a:solidFill>
          <a:ln w="19050">
            <a:solidFill>
              <a:srgbClr val="45C08F"/>
            </a:solidFill>
            <a:prstDash val="solid"/>
          </a:ln>
        </p:spPr>
      </p:sp>
      <p:sp>
        <p:nvSpPr>
          <p:cNvPr id="13" name="Text 11"/>
          <p:cNvSpPr txBox="1"/>
          <p:nvPr/>
        </p:nvSpPr>
        <p:spPr>
          <a:xfrm>
            <a:off x="1569110"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16</a:t>
            </a:r>
            <a:endParaRPr lang="en-US" sz="1200" dirty="0"/>
          </a:p>
        </p:txBody>
      </p:sp>
      <p:sp>
        <p:nvSpPr>
          <p:cNvPr id="14" name="Text 12"/>
          <p:cNvSpPr txBox="1"/>
          <p:nvPr/>
        </p:nvSpPr>
        <p:spPr>
          <a:xfrm>
            <a:off x="1499616"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S</a:t>
            </a:r>
            <a:endParaRPr lang="en-US" sz="3200" dirty="0"/>
          </a:p>
        </p:txBody>
      </p:sp>
      <p:sp>
        <p:nvSpPr>
          <p:cNvPr id="15" name="Tile Cl"/>
          <p:cNvSpPr/>
          <p:nvPr/>
        </p:nvSpPr>
        <p:spPr>
          <a:xfrm>
            <a:off x="2542032" y="1691640"/>
            <a:ext cx="868680" cy="868680"/>
          </a:xfrm>
          <a:prstGeom prst="roundRect">
            <a:avLst>
              <a:gd name="adj" fmla="val 12000"/>
            </a:avLst>
          </a:prstGeom>
          <a:solidFill>
            <a:srgbClr val="F477B8">
              <a:alpha val="30000"/>
            </a:srgbClr>
          </a:solidFill>
          <a:ln w="19050">
            <a:solidFill>
              <a:srgbClr val="F477B8"/>
            </a:solidFill>
            <a:prstDash val="solid"/>
          </a:ln>
        </p:spPr>
      </p:sp>
      <p:sp>
        <p:nvSpPr>
          <p:cNvPr id="16" name="Text 14"/>
          <p:cNvSpPr txBox="1"/>
          <p:nvPr/>
        </p:nvSpPr>
        <p:spPr>
          <a:xfrm>
            <a:off x="2611526"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17</a:t>
            </a:r>
            <a:endParaRPr lang="en-US" sz="1200" dirty="0"/>
          </a:p>
        </p:txBody>
      </p:sp>
      <p:sp>
        <p:nvSpPr>
          <p:cNvPr id="17" name="Text 15"/>
          <p:cNvSpPr txBox="1"/>
          <p:nvPr/>
        </p:nvSpPr>
        <p:spPr>
          <a:xfrm>
            <a:off x="2542032"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Cl</a:t>
            </a:r>
            <a:endParaRPr lang="en-US" sz="3200" dirty="0"/>
          </a:p>
        </p:txBody>
      </p:sp>
      <p:sp>
        <p:nvSpPr>
          <p:cNvPr id="18" name="Tile Be"/>
          <p:cNvSpPr/>
          <p:nvPr/>
        </p:nvSpPr>
        <p:spPr>
          <a:xfrm>
            <a:off x="3584448" y="1691640"/>
            <a:ext cx="868680" cy="868680"/>
          </a:xfrm>
          <a:prstGeom prst="roundRect">
            <a:avLst>
              <a:gd name="adj" fmla="val 12000"/>
            </a:avLst>
          </a:prstGeom>
          <a:solidFill>
            <a:srgbClr val="FFCB5C">
              <a:alpha val="30000"/>
            </a:srgbClr>
          </a:solidFill>
          <a:ln w="19050">
            <a:solidFill>
              <a:srgbClr val="FFCB5C"/>
            </a:solidFill>
            <a:prstDash val="solid"/>
          </a:ln>
        </p:spPr>
      </p:sp>
      <p:sp>
        <p:nvSpPr>
          <p:cNvPr id="19" name="Text 17"/>
          <p:cNvSpPr txBox="1"/>
          <p:nvPr/>
        </p:nvSpPr>
        <p:spPr>
          <a:xfrm>
            <a:off x="3653942"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20" name="Text 18"/>
          <p:cNvSpPr txBox="1"/>
          <p:nvPr/>
        </p:nvSpPr>
        <p:spPr>
          <a:xfrm>
            <a:off x="3584448"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Be</a:t>
            </a:r>
            <a:endParaRPr lang="en-US" sz="3200" dirty="0"/>
          </a:p>
        </p:txBody>
      </p:sp>
      <p:sp>
        <p:nvSpPr>
          <p:cNvPr id="21" name="Tile Na"/>
          <p:cNvSpPr/>
          <p:nvPr/>
        </p:nvSpPr>
        <p:spPr>
          <a:xfrm>
            <a:off x="4626864" y="1691640"/>
            <a:ext cx="868680" cy="868680"/>
          </a:xfrm>
          <a:prstGeom prst="roundRect">
            <a:avLst>
              <a:gd name="adj" fmla="val 12000"/>
            </a:avLst>
          </a:prstGeom>
          <a:solidFill>
            <a:srgbClr val="FF8F5E">
              <a:alpha val="30000"/>
            </a:srgbClr>
          </a:solidFill>
          <a:ln w="19050">
            <a:solidFill>
              <a:srgbClr val="FF8F5E"/>
            </a:solidFill>
            <a:prstDash val="solid"/>
          </a:ln>
        </p:spPr>
      </p:sp>
      <p:sp>
        <p:nvSpPr>
          <p:cNvPr id="22" name="Text 20"/>
          <p:cNvSpPr txBox="1"/>
          <p:nvPr/>
        </p:nvSpPr>
        <p:spPr>
          <a:xfrm>
            <a:off x="4696358"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11</a:t>
            </a:r>
            <a:endParaRPr lang="en-US" sz="1200" dirty="0"/>
          </a:p>
        </p:txBody>
      </p:sp>
      <p:sp>
        <p:nvSpPr>
          <p:cNvPr id="23" name="Text 21"/>
          <p:cNvSpPr txBox="1"/>
          <p:nvPr/>
        </p:nvSpPr>
        <p:spPr>
          <a:xfrm>
            <a:off x="4626864"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Na</a:t>
            </a:r>
            <a:endParaRPr lang="en-US" sz="3200" dirty="0"/>
          </a:p>
        </p:txBody>
      </p:sp>
      <p:sp>
        <p:nvSpPr>
          <p:cNvPr id="24" name="Tile Mg"/>
          <p:cNvSpPr/>
          <p:nvPr/>
        </p:nvSpPr>
        <p:spPr>
          <a:xfrm>
            <a:off x="5669280" y="1691640"/>
            <a:ext cx="868680" cy="868680"/>
          </a:xfrm>
          <a:prstGeom prst="roundRect">
            <a:avLst>
              <a:gd name="adj" fmla="val 12000"/>
            </a:avLst>
          </a:prstGeom>
          <a:solidFill>
            <a:srgbClr val="FFCB5C">
              <a:alpha val="30000"/>
            </a:srgbClr>
          </a:solidFill>
          <a:ln w="19050">
            <a:solidFill>
              <a:srgbClr val="FFCB5C"/>
            </a:solidFill>
            <a:prstDash val="solid"/>
          </a:ln>
        </p:spPr>
      </p:sp>
      <p:sp>
        <p:nvSpPr>
          <p:cNvPr id="25" name="Text 23"/>
          <p:cNvSpPr txBox="1"/>
          <p:nvPr/>
        </p:nvSpPr>
        <p:spPr>
          <a:xfrm>
            <a:off x="5738774"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12</a:t>
            </a:r>
            <a:endParaRPr lang="en-US" sz="1200" dirty="0"/>
          </a:p>
        </p:txBody>
      </p:sp>
      <p:sp>
        <p:nvSpPr>
          <p:cNvPr id="26" name="Text 24"/>
          <p:cNvSpPr txBox="1"/>
          <p:nvPr/>
        </p:nvSpPr>
        <p:spPr>
          <a:xfrm>
            <a:off x="5669280"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Mg</a:t>
            </a:r>
            <a:endParaRPr lang="en-US" sz="3200" dirty="0"/>
          </a:p>
        </p:txBody>
      </p:sp>
      <p:sp>
        <p:nvSpPr>
          <p:cNvPr id="27" name="Tile O"/>
          <p:cNvSpPr/>
          <p:nvPr/>
        </p:nvSpPr>
        <p:spPr>
          <a:xfrm>
            <a:off x="6711696" y="1691640"/>
            <a:ext cx="868680" cy="868680"/>
          </a:xfrm>
          <a:prstGeom prst="roundRect">
            <a:avLst>
              <a:gd name="adj" fmla="val 12000"/>
            </a:avLst>
          </a:prstGeom>
          <a:solidFill>
            <a:srgbClr val="45C08F">
              <a:alpha val="30000"/>
            </a:srgbClr>
          </a:solidFill>
          <a:ln w="19050">
            <a:solidFill>
              <a:srgbClr val="45C08F"/>
            </a:solidFill>
            <a:prstDash val="solid"/>
          </a:ln>
        </p:spPr>
      </p:sp>
      <p:sp>
        <p:nvSpPr>
          <p:cNvPr id="28" name="Text 26"/>
          <p:cNvSpPr txBox="1"/>
          <p:nvPr/>
        </p:nvSpPr>
        <p:spPr>
          <a:xfrm>
            <a:off x="6781190"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29" name="Text 27"/>
          <p:cNvSpPr txBox="1"/>
          <p:nvPr/>
        </p:nvSpPr>
        <p:spPr>
          <a:xfrm>
            <a:off x="6711696"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O</a:t>
            </a:r>
            <a:endParaRPr lang="en-US" sz="3200" dirty="0"/>
          </a:p>
        </p:txBody>
      </p:sp>
      <p:sp>
        <p:nvSpPr>
          <p:cNvPr id="30" name="Tile F"/>
          <p:cNvSpPr/>
          <p:nvPr/>
        </p:nvSpPr>
        <p:spPr>
          <a:xfrm>
            <a:off x="7754112" y="1691640"/>
            <a:ext cx="868680" cy="868680"/>
          </a:xfrm>
          <a:prstGeom prst="roundRect">
            <a:avLst>
              <a:gd name="adj" fmla="val 12000"/>
            </a:avLst>
          </a:prstGeom>
          <a:solidFill>
            <a:srgbClr val="F477B8">
              <a:alpha val="30000"/>
            </a:srgbClr>
          </a:solidFill>
          <a:ln w="19050">
            <a:solidFill>
              <a:srgbClr val="F477B8"/>
            </a:solidFill>
            <a:prstDash val="solid"/>
          </a:ln>
        </p:spPr>
      </p:sp>
      <p:sp>
        <p:nvSpPr>
          <p:cNvPr id="31" name="Text 29"/>
          <p:cNvSpPr txBox="1"/>
          <p:nvPr/>
        </p:nvSpPr>
        <p:spPr>
          <a:xfrm>
            <a:off x="7823606" y="1735074"/>
            <a:ext cx="521208" cy="208483"/>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32" name="Text 30"/>
          <p:cNvSpPr txBox="1"/>
          <p:nvPr/>
        </p:nvSpPr>
        <p:spPr>
          <a:xfrm>
            <a:off x="7754112" y="1830629"/>
            <a:ext cx="868680" cy="694944"/>
          </a:xfrm>
          <a:prstGeom prst="rect">
            <a:avLst/>
          </a:prstGeom>
          <a:noFill/>
          <a:ln/>
        </p:spPr>
        <p:txBody>
          <a:bodyPr wrap="square" lIns="0" tIns="0" rIns="0" bIns="0" rtlCol="0" anchor="ctr"/>
          <a:lstStyle/>
          <a:p>
            <a:pPr algn="ctr" indent="0" marL="0">
              <a:buNone/>
            </a:pPr>
            <a:r>
              <a:rPr lang="en-US" sz="3200" b="1" dirty="0">
                <a:solidFill>
                  <a:schemeClr val="bg1"/>
                </a:solidFill>
              </a:rPr>
              <a:t>F</a:t>
            </a:r>
            <a:endParaRPr lang="en-US" sz="3200" dirty="0"/>
          </a:p>
        </p:txBody>
      </p:sp>
      <p:sp>
        <p:nvSpPr>
          <p:cNvPr id="33" name="1 valence electron"/>
          <p:cNvSpPr/>
          <p:nvPr/>
        </p:nvSpPr>
        <p:spPr>
          <a:xfrm>
            <a:off x="457200" y="2743200"/>
            <a:ext cx="1956816" cy="1783080"/>
          </a:xfrm>
          <a:prstGeom prst="roundRect">
            <a:avLst>
              <a:gd name="adj" fmla="val 5128"/>
            </a:avLst>
          </a:prstGeom>
          <a:solidFill>
            <a:schemeClr val="tx2"/>
          </a:solidFill>
          <a:ln w="9525">
            <a:solidFill>
              <a:schemeClr val="bg2">
                <a:alpha val="30000"/>
              </a:schemeClr>
            </a:solidFill>
            <a:prstDash val="solid"/>
          </a:ln>
        </p:spPr>
      </p:sp>
      <p:sp>
        <p:nvSpPr>
          <p:cNvPr id="34" name="Text 32"/>
          <p:cNvSpPr txBox="1"/>
          <p:nvPr/>
        </p:nvSpPr>
        <p:spPr>
          <a:xfrm>
            <a:off x="594360" y="2852928"/>
            <a:ext cx="1737360" cy="292608"/>
          </a:xfrm>
          <a:prstGeom prst="rect">
            <a:avLst/>
          </a:prstGeom>
          <a:noFill/>
          <a:ln/>
        </p:spPr>
        <p:txBody>
          <a:bodyPr wrap="square" lIns="0" tIns="0" rIns="0" bIns="0" rtlCol="0" anchor="t"/>
          <a:lstStyle/>
          <a:p>
            <a:pPr indent="0" marL="0">
              <a:buNone/>
            </a:pPr>
            <a:r>
              <a:rPr lang="en-US" sz="1300" b="1" dirty="0">
                <a:solidFill>
                  <a:schemeClr val="bg2"/>
                </a:solidFill>
              </a:rPr>
              <a:t>1 valence electron</a:t>
            </a:r>
            <a:endParaRPr lang="en-US" sz="1300" dirty="0"/>
          </a:p>
        </p:txBody>
      </p:sp>
      <p:sp>
        <p:nvSpPr>
          <p:cNvPr id="35" name="2 valence electrons"/>
          <p:cNvSpPr/>
          <p:nvPr/>
        </p:nvSpPr>
        <p:spPr>
          <a:xfrm>
            <a:off x="2551176" y="2743200"/>
            <a:ext cx="1956816" cy="1783080"/>
          </a:xfrm>
          <a:prstGeom prst="roundRect">
            <a:avLst>
              <a:gd name="adj" fmla="val 5128"/>
            </a:avLst>
          </a:prstGeom>
          <a:solidFill>
            <a:schemeClr val="tx2"/>
          </a:solidFill>
          <a:ln w="9525">
            <a:solidFill>
              <a:schemeClr val="bg2">
                <a:alpha val="30000"/>
              </a:schemeClr>
            </a:solidFill>
            <a:prstDash val="solid"/>
          </a:ln>
        </p:spPr>
      </p:sp>
      <p:sp>
        <p:nvSpPr>
          <p:cNvPr id="36" name="Text 34"/>
          <p:cNvSpPr txBox="1"/>
          <p:nvPr/>
        </p:nvSpPr>
        <p:spPr>
          <a:xfrm>
            <a:off x="2688336" y="2852928"/>
            <a:ext cx="1737360" cy="292608"/>
          </a:xfrm>
          <a:prstGeom prst="rect">
            <a:avLst/>
          </a:prstGeom>
          <a:noFill/>
          <a:ln/>
        </p:spPr>
        <p:txBody>
          <a:bodyPr wrap="square" lIns="0" tIns="0" rIns="0" bIns="0" rtlCol="0" anchor="t"/>
          <a:lstStyle/>
          <a:p>
            <a:pPr indent="0" marL="0">
              <a:buNone/>
            </a:pPr>
            <a:r>
              <a:rPr lang="en-US" sz="1300" b="1" dirty="0">
                <a:solidFill>
                  <a:schemeClr val="bg2"/>
                </a:solidFill>
              </a:rPr>
              <a:t>2 valence electrons</a:t>
            </a:r>
            <a:endParaRPr lang="en-US" sz="1300" dirty="0"/>
          </a:p>
        </p:txBody>
      </p:sp>
      <p:sp>
        <p:nvSpPr>
          <p:cNvPr id="37" name="6 valence electrons"/>
          <p:cNvSpPr/>
          <p:nvPr/>
        </p:nvSpPr>
        <p:spPr>
          <a:xfrm>
            <a:off x="4645152" y="2743200"/>
            <a:ext cx="1956816" cy="1783080"/>
          </a:xfrm>
          <a:prstGeom prst="roundRect">
            <a:avLst>
              <a:gd name="adj" fmla="val 5128"/>
            </a:avLst>
          </a:prstGeom>
          <a:solidFill>
            <a:schemeClr val="tx2"/>
          </a:solidFill>
          <a:ln w="9525">
            <a:solidFill>
              <a:schemeClr val="bg2">
                <a:alpha val="30000"/>
              </a:schemeClr>
            </a:solidFill>
            <a:prstDash val="solid"/>
          </a:ln>
        </p:spPr>
      </p:sp>
      <p:sp>
        <p:nvSpPr>
          <p:cNvPr id="38" name="Text 36"/>
          <p:cNvSpPr txBox="1"/>
          <p:nvPr/>
        </p:nvSpPr>
        <p:spPr>
          <a:xfrm>
            <a:off x="4782312" y="2852928"/>
            <a:ext cx="1737360" cy="292608"/>
          </a:xfrm>
          <a:prstGeom prst="rect">
            <a:avLst/>
          </a:prstGeom>
          <a:noFill/>
          <a:ln/>
        </p:spPr>
        <p:txBody>
          <a:bodyPr wrap="square" lIns="0" tIns="0" rIns="0" bIns="0" rtlCol="0" anchor="t"/>
          <a:lstStyle/>
          <a:p>
            <a:pPr indent="0" marL="0">
              <a:buNone/>
            </a:pPr>
            <a:r>
              <a:rPr lang="en-US" sz="1300" b="1" dirty="0">
                <a:solidFill>
                  <a:schemeClr val="bg2"/>
                </a:solidFill>
              </a:rPr>
              <a:t>6 valence electrons</a:t>
            </a:r>
            <a:endParaRPr lang="en-US" sz="1300" dirty="0"/>
          </a:p>
        </p:txBody>
      </p:sp>
      <p:sp>
        <p:nvSpPr>
          <p:cNvPr id="39" name="7 valence electrons"/>
          <p:cNvSpPr/>
          <p:nvPr/>
        </p:nvSpPr>
        <p:spPr>
          <a:xfrm>
            <a:off x="6739128" y="2743200"/>
            <a:ext cx="1956816" cy="1783080"/>
          </a:xfrm>
          <a:prstGeom prst="roundRect">
            <a:avLst>
              <a:gd name="adj" fmla="val 5128"/>
            </a:avLst>
          </a:prstGeom>
          <a:solidFill>
            <a:schemeClr val="tx2"/>
          </a:solidFill>
          <a:ln w="9525">
            <a:solidFill>
              <a:schemeClr val="bg2">
                <a:alpha val="30000"/>
              </a:schemeClr>
            </a:solidFill>
            <a:prstDash val="solid"/>
          </a:ln>
        </p:spPr>
      </p:sp>
      <p:sp>
        <p:nvSpPr>
          <p:cNvPr id="40" name="Text 38"/>
          <p:cNvSpPr txBox="1"/>
          <p:nvPr/>
        </p:nvSpPr>
        <p:spPr>
          <a:xfrm>
            <a:off x="6876288" y="2852928"/>
            <a:ext cx="1737360" cy="292608"/>
          </a:xfrm>
          <a:prstGeom prst="rect">
            <a:avLst/>
          </a:prstGeom>
          <a:noFill/>
          <a:ln/>
        </p:spPr>
        <p:txBody>
          <a:bodyPr wrap="square" lIns="0" tIns="0" rIns="0" bIns="0" rtlCol="0" anchor="t"/>
          <a:lstStyle/>
          <a:p>
            <a:pPr indent="0" marL="0">
              <a:buNone/>
            </a:pPr>
            <a:r>
              <a:rPr lang="en-US" sz="1300" b="1" dirty="0">
                <a:solidFill>
                  <a:schemeClr val="bg2"/>
                </a:solidFill>
              </a:rPr>
              <a:t>7 valence electrons</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Sort by valence electrons</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Drag each element to its number of valence electrons, or tap an element and then tap a box.</a:t>
            </a:r>
            <a:endParaRPr lang="en-US" sz="1300" dirty="0"/>
          </a:p>
        </p:txBody>
      </p:sp>
      <p:sp>
        <p:nvSpPr>
          <p:cNvPr id="10" name="1 valence electron"/>
          <p:cNvSpPr/>
          <p:nvPr/>
        </p:nvSpPr>
        <p:spPr>
          <a:xfrm>
            <a:off x="457200" y="1691640"/>
            <a:ext cx="1956816" cy="2651760"/>
          </a:xfrm>
          <a:prstGeom prst="roundRect">
            <a:avLst>
              <a:gd name="adj" fmla="val 4673"/>
            </a:avLst>
          </a:prstGeom>
          <a:solidFill>
            <a:schemeClr val="tx2"/>
          </a:solidFill>
          <a:ln w="9525">
            <a:solidFill>
              <a:schemeClr val="bg2">
                <a:alpha val="30000"/>
              </a:schemeClr>
            </a:solidFill>
            <a:prstDash val="solid"/>
          </a:ln>
        </p:spPr>
      </p:sp>
      <p:sp>
        <p:nvSpPr>
          <p:cNvPr id="11" name="Text 9"/>
          <p:cNvSpPr txBox="1"/>
          <p:nvPr/>
        </p:nvSpPr>
        <p:spPr>
          <a:xfrm>
            <a:off x="594360" y="1801368"/>
            <a:ext cx="1737360" cy="292608"/>
          </a:xfrm>
          <a:prstGeom prst="rect">
            <a:avLst/>
          </a:prstGeom>
          <a:noFill/>
          <a:ln/>
        </p:spPr>
        <p:txBody>
          <a:bodyPr wrap="square" lIns="0" tIns="0" rIns="0" bIns="0" rtlCol="0" anchor="t"/>
          <a:lstStyle/>
          <a:p>
            <a:pPr indent="0" marL="0">
              <a:buNone/>
            </a:pPr>
            <a:r>
              <a:rPr lang="en-US" sz="1300" b="1" dirty="0">
                <a:solidFill>
                  <a:schemeClr val="bg2"/>
                </a:solidFill>
              </a:rPr>
              <a:t>1 valence electron</a:t>
            </a:r>
            <a:endParaRPr lang="en-US" sz="1300" dirty="0"/>
          </a:p>
        </p:txBody>
      </p:sp>
      <p:sp>
        <p:nvSpPr>
          <p:cNvPr id="12" name="Tile Na"/>
          <p:cNvSpPr/>
          <p:nvPr/>
        </p:nvSpPr>
        <p:spPr>
          <a:xfrm>
            <a:off x="658368" y="2331720"/>
            <a:ext cx="731520" cy="777240"/>
          </a:xfrm>
          <a:prstGeom prst="roundRect">
            <a:avLst>
              <a:gd name="adj" fmla="val 12000"/>
            </a:avLst>
          </a:prstGeom>
          <a:solidFill>
            <a:srgbClr val="FF8F5E">
              <a:alpha val="30000"/>
            </a:srgbClr>
          </a:solidFill>
          <a:ln w="19050">
            <a:solidFill>
              <a:srgbClr val="FF8F5E"/>
            </a:solidFill>
            <a:prstDash val="solid"/>
          </a:ln>
        </p:spPr>
      </p:sp>
      <p:sp>
        <p:nvSpPr>
          <p:cNvPr id="13" name="Text 11"/>
          <p:cNvSpPr txBox="1"/>
          <p:nvPr/>
        </p:nvSpPr>
        <p:spPr>
          <a:xfrm>
            <a:off x="716890"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11</a:t>
            </a:r>
            <a:endParaRPr lang="en-US" sz="1100" dirty="0"/>
          </a:p>
        </p:txBody>
      </p:sp>
      <p:sp>
        <p:nvSpPr>
          <p:cNvPr id="14" name="Text 12"/>
          <p:cNvSpPr txBox="1"/>
          <p:nvPr/>
        </p:nvSpPr>
        <p:spPr>
          <a:xfrm>
            <a:off x="658368"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Na</a:t>
            </a:r>
            <a:endParaRPr lang="en-US" sz="2900" dirty="0"/>
          </a:p>
        </p:txBody>
      </p:sp>
      <p:sp>
        <p:nvSpPr>
          <p:cNvPr id="15" name="Tile K"/>
          <p:cNvSpPr/>
          <p:nvPr/>
        </p:nvSpPr>
        <p:spPr>
          <a:xfrm>
            <a:off x="1481328" y="2331720"/>
            <a:ext cx="731520" cy="777240"/>
          </a:xfrm>
          <a:prstGeom prst="roundRect">
            <a:avLst>
              <a:gd name="adj" fmla="val 12000"/>
            </a:avLst>
          </a:prstGeom>
          <a:solidFill>
            <a:srgbClr val="FF8F5E">
              <a:alpha val="30000"/>
            </a:srgbClr>
          </a:solidFill>
          <a:ln w="19050">
            <a:solidFill>
              <a:srgbClr val="FF8F5E"/>
            </a:solidFill>
            <a:prstDash val="solid"/>
          </a:ln>
        </p:spPr>
      </p:sp>
      <p:sp>
        <p:nvSpPr>
          <p:cNvPr id="16" name="Text 14"/>
          <p:cNvSpPr txBox="1"/>
          <p:nvPr/>
        </p:nvSpPr>
        <p:spPr>
          <a:xfrm>
            <a:off x="1539850"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19</a:t>
            </a:r>
            <a:endParaRPr lang="en-US" sz="1100" dirty="0"/>
          </a:p>
        </p:txBody>
      </p:sp>
      <p:sp>
        <p:nvSpPr>
          <p:cNvPr id="17" name="Text 15"/>
          <p:cNvSpPr txBox="1"/>
          <p:nvPr/>
        </p:nvSpPr>
        <p:spPr>
          <a:xfrm>
            <a:off x="1481328"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K</a:t>
            </a:r>
            <a:endParaRPr lang="en-US" sz="2900" dirty="0"/>
          </a:p>
        </p:txBody>
      </p:sp>
      <p:sp>
        <p:nvSpPr>
          <p:cNvPr id="18" name="Text 16"/>
          <p:cNvSpPr txBox="1"/>
          <p:nvPr/>
        </p:nvSpPr>
        <p:spPr>
          <a:xfrm>
            <a:off x="594360" y="3291840"/>
            <a:ext cx="1737360" cy="548640"/>
          </a:xfrm>
          <a:prstGeom prst="rect">
            <a:avLst/>
          </a:prstGeom>
          <a:noFill/>
          <a:ln/>
        </p:spPr>
        <p:txBody>
          <a:bodyPr wrap="square" lIns="0" tIns="0" rIns="0" bIns="0" rtlCol="0" anchor="t"/>
          <a:lstStyle/>
          <a:p>
            <a:pPr indent="0" marL="0">
              <a:buNone/>
            </a:pPr>
            <a:r>
              <a:rPr lang="en-US" sz="1100" dirty="0">
                <a:solidFill>
                  <a:schemeClr val="bg2"/>
                </a:solidFill>
              </a:rPr>
              <a:t>Sodium and Potassium: group 1</a:t>
            </a:r>
            <a:endParaRPr lang="en-US" sz="1100" dirty="0"/>
          </a:p>
        </p:txBody>
      </p:sp>
      <p:sp>
        <p:nvSpPr>
          <p:cNvPr id="19" name="2 valence electrons"/>
          <p:cNvSpPr/>
          <p:nvPr/>
        </p:nvSpPr>
        <p:spPr>
          <a:xfrm>
            <a:off x="2551176" y="1691640"/>
            <a:ext cx="1956816" cy="2651760"/>
          </a:xfrm>
          <a:prstGeom prst="roundRect">
            <a:avLst>
              <a:gd name="adj" fmla="val 4673"/>
            </a:avLst>
          </a:prstGeom>
          <a:solidFill>
            <a:schemeClr val="tx2"/>
          </a:solidFill>
          <a:ln w="9525">
            <a:solidFill>
              <a:schemeClr val="bg2">
                <a:alpha val="30000"/>
              </a:schemeClr>
            </a:solidFill>
            <a:prstDash val="solid"/>
          </a:ln>
        </p:spPr>
      </p:sp>
      <p:sp>
        <p:nvSpPr>
          <p:cNvPr id="20" name="Text 18"/>
          <p:cNvSpPr txBox="1"/>
          <p:nvPr/>
        </p:nvSpPr>
        <p:spPr>
          <a:xfrm>
            <a:off x="2688336" y="1801368"/>
            <a:ext cx="1737360" cy="292608"/>
          </a:xfrm>
          <a:prstGeom prst="rect">
            <a:avLst/>
          </a:prstGeom>
          <a:noFill/>
          <a:ln/>
        </p:spPr>
        <p:txBody>
          <a:bodyPr wrap="square" lIns="0" tIns="0" rIns="0" bIns="0" rtlCol="0" anchor="t"/>
          <a:lstStyle/>
          <a:p>
            <a:pPr indent="0" marL="0">
              <a:buNone/>
            </a:pPr>
            <a:r>
              <a:rPr lang="en-US" sz="1300" b="1" dirty="0">
                <a:solidFill>
                  <a:schemeClr val="bg2"/>
                </a:solidFill>
              </a:rPr>
              <a:t>2 valence electrons</a:t>
            </a:r>
            <a:endParaRPr lang="en-US" sz="1300" dirty="0"/>
          </a:p>
        </p:txBody>
      </p:sp>
      <p:sp>
        <p:nvSpPr>
          <p:cNvPr id="21" name="Tile Mg"/>
          <p:cNvSpPr/>
          <p:nvPr/>
        </p:nvSpPr>
        <p:spPr>
          <a:xfrm>
            <a:off x="2752344" y="2331720"/>
            <a:ext cx="731520" cy="777240"/>
          </a:xfrm>
          <a:prstGeom prst="roundRect">
            <a:avLst>
              <a:gd name="adj" fmla="val 12000"/>
            </a:avLst>
          </a:prstGeom>
          <a:solidFill>
            <a:srgbClr val="FFCB5C">
              <a:alpha val="30000"/>
            </a:srgbClr>
          </a:solidFill>
          <a:ln w="19050">
            <a:solidFill>
              <a:srgbClr val="FFCB5C"/>
            </a:solidFill>
            <a:prstDash val="solid"/>
          </a:ln>
        </p:spPr>
      </p:sp>
      <p:sp>
        <p:nvSpPr>
          <p:cNvPr id="22" name="Text 20"/>
          <p:cNvSpPr txBox="1"/>
          <p:nvPr/>
        </p:nvSpPr>
        <p:spPr>
          <a:xfrm>
            <a:off x="2810866"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12</a:t>
            </a:r>
            <a:endParaRPr lang="en-US" sz="1100" dirty="0"/>
          </a:p>
        </p:txBody>
      </p:sp>
      <p:sp>
        <p:nvSpPr>
          <p:cNvPr id="23" name="Text 21"/>
          <p:cNvSpPr txBox="1"/>
          <p:nvPr/>
        </p:nvSpPr>
        <p:spPr>
          <a:xfrm>
            <a:off x="2752344"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Mg</a:t>
            </a:r>
            <a:endParaRPr lang="en-US" sz="2900" dirty="0"/>
          </a:p>
        </p:txBody>
      </p:sp>
      <p:sp>
        <p:nvSpPr>
          <p:cNvPr id="24" name="Tile Be"/>
          <p:cNvSpPr/>
          <p:nvPr/>
        </p:nvSpPr>
        <p:spPr>
          <a:xfrm>
            <a:off x="3575304" y="2331720"/>
            <a:ext cx="731520" cy="777240"/>
          </a:xfrm>
          <a:prstGeom prst="roundRect">
            <a:avLst>
              <a:gd name="adj" fmla="val 12000"/>
            </a:avLst>
          </a:prstGeom>
          <a:solidFill>
            <a:srgbClr val="FFCB5C">
              <a:alpha val="30000"/>
            </a:srgbClr>
          </a:solidFill>
          <a:ln w="19050">
            <a:solidFill>
              <a:srgbClr val="FFCB5C"/>
            </a:solidFill>
            <a:prstDash val="solid"/>
          </a:ln>
        </p:spPr>
      </p:sp>
      <p:sp>
        <p:nvSpPr>
          <p:cNvPr id="25" name="Text 23"/>
          <p:cNvSpPr txBox="1"/>
          <p:nvPr/>
        </p:nvSpPr>
        <p:spPr>
          <a:xfrm>
            <a:off x="3633826"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4</a:t>
            </a:r>
            <a:endParaRPr lang="en-US" sz="1100" dirty="0"/>
          </a:p>
        </p:txBody>
      </p:sp>
      <p:sp>
        <p:nvSpPr>
          <p:cNvPr id="26" name="Text 24"/>
          <p:cNvSpPr txBox="1"/>
          <p:nvPr/>
        </p:nvSpPr>
        <p:spPr>
          <a:xfrm>
            <a:off x="3575304"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Be</a:t>
            </a:r>
            <a:endParaRPr lang="en-US" sz="2900" dirty="0"/>
          </a:p>
        </p:txBody>
      </p:sp>
      <p:sp>
        <p:nvSpPr>
          <p:cNvPr id="27" name="Text 25"/>
          <p:cNvSpPr txBox="1"/>
          <p:nvPr/>
        </p:nvSpPr>
        <p:spPr>
          <a:xfrm>
            <a:off x="2688336" y="3291840"/>
            <a:ext cx="1737360" cy="548640"/>
          </a:xfrm>
          <a:prstGeom prst="rect">
            <a:avLst/>
          </a:prstGeom>
          <a:noFill/>
          <a:ln/>
        </p:spPr>
        <p:txBody>
          <a:bodyPr wrap="square" lIns="0" tIns="0" rIns="0" bIns="0" rtlCol="0" anchor="t"/>
          <a:lstStyle/>
          <a:p>
            <a:pPr indent="0" marL="0">
              <a:buNone/>
            </a:pPr>
            <a:r>
              <a:rPr lang="en-US" sz="1100" dirty="0">
                <a:solidFill>
                  <a:schemeClr val="bg2"/>
                </a:solidFill>
              </a:rPr>
              <a:t>Magnesium and Beryllium: group 2</a:t>
            </a:r>
            <a:endParaRPr lang="en-US" sz="1100" dirty="0"/>
          </a:p>
        </p:txBody>
      </p:sp>
      <p:sp>
        <p:nvSpPr>
          <p:cNvPr id="28" name="6 valence electrons"/>
          <p:cNvSpPr/>
          <p:nvPr/>
        </p:nvSpPr>
        <p:spPr>
          <a:xfrm>
            <a:off x="4645152" y="1691640"/>
            <a:ext cx="1956816" cy="2651760"/>
          </a:xfrm>
          <a:prstGeom prst="roundRect">
            <a:avLst>
              <a:gd name="adj" fmla="val 4673"/>
            </a:avLst>
          </a:prstGeom>
          <a:solidFill>
            <a:schemeClr val="tx2"/>
          </a:solidFill>
          <a:ln w="9525">
            <a:solidFill>
              <a:schemeClr val="bg2">
                <a:alpha val="30000"/>
              </a:schemeClr>
            </a:solidFill>
            <a:prstDash val="solid"/>
          </a:ln>
        </p:spPr>
      </p:sp>
      <p:sp>
        <p:nvSpPr>
          <p:cNvPr id="29" name="Text 27"/>
          <p:cNvSpPr txBox="1"/>
          <p:nvPr/>
        </p:nvSpPr>
        <p:spPr>
          <a:xfrm>
            <a:off x="4782312" y="1801368"/>
            <a:ext cx="1737360" cy="292608"/>
          </a:xfrm>
          <a:prstGeom prst="rect">
            <a:avLst/>
          </a:prstGeom>
          <a:noFill/>
          <a:ln/>
        </p:spPr>
        <p:txBody>
          <a:bodyPr wrap="square" lIns="0" tIns="0" rIns="0" bIns="0" rtlCol="0" anchor="t"/>
          <a:lstStyle/>
          <a:p>
            <a:pPr indent="0" marL="0">
              <a:buNone/>
            </a:pPr>
            <a:r>
              <a:rPr lang="en-US" sz="1300" b="1" dirty="0">
                <a:solidFill>
                  <a:schemeClr val="bg2"/>
                </a:solidFill>
              </a:rPr>
              <a:t>6 valence electrons</a:t>
            </a:r>
            <a:endParaRPr lang="en-US" sz="1300" dirty="0"/>
          </a:p>
        </p:txBody>
      </p:sp>
      <p:sp>
        <p:nvSpPr>
          <p:cNvPr id="30" name="Tile O"/>
          <p:cNvSpPr/>
          <p:nvPr/>
        </p:nvSpPr>
        <p:spPr>
          <a:xfrm>
            <a:off x="4846320" y="2331720"/>
            <a:ext cx="731520" cy="777240"/>
          </a:xfrm>
          <a:prstGeom prst="roundRect">
            <a:avLst>
              <a:gd name="adj" fmla="val 12000"/>
            </a:avLst>
          </a:prstGeom>
          <a:solidFill>
            <a:srgbClr val="45C08F">
              <a:alpha val="30000"/>
            </a:srgbClr>
          </a:solidFill>
          <a:ln w="19050">
            <a:solidFill>
              <a:srgbClr val="45C08F"/>
            </a:solidFill>
            <a:prstDash val="solid"/>
          </a:ln>
        </p:spPr>
      </p:sp>
      <p:sp>
        <p:nvSpPr>
          <p:cNvPr id="31" name="Text 29"/>
          <p:cNvSpPr txBox="1"/>
          <p:nvPr/>
        </p:nvSpPr>
        <p:spPr>
          <a:xfrm>
            <a:off x="4904842"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8</a:t>
            </a:r>
            <a:endParaRPr lang="en-US" sz="1100" dirty="0"/>
          </a:p>
        </p:txBody>
      </p:sp>
      <p:sp>
        <p:nvSpPr>
          <p:cNvPr id="32" name="Text 30"/>
          <p:cNvSpPr txBox="1"/>
          <p:nvPr/>
        </p:nvSpPr>
        <p:spPr>
          <a:xfrm>
            <a:off x="4846320"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O</a:t>
            </a:r>
            <a:endParaRPr lang="en-US" sz="2900" dirty="0"/>
          </a:p>
        </p:txBody>
      </p:sp>
      <p:sp>
        <p:nvSpPr>
          <p:cNvPr id="33" name="Tile S"/>
          <p:cNvSpPr/>
          <p:nvPr/>
        </p:nvSpPr>
        <p:spPr>
          <a:xfrm>
            <a:off x="5669280" y="2331720"/>
            <a:ext cx="731520" cy="777240"/>
          </a:xfrm>
          <a:prstGeom prst="roundRect">
            <a:avLst>
              <a:gd name="adj" fmla="val 12000"/>
            </a:avLst>
          </a:prstGeom>
          <a:solidFill>
            <a:srgbClr val="45C08F">
              <a:alpha val="30000"/>
            </a:srgbClr>
          </a:solidFill>
          <a:ln w="19050">
            <a:solidFill>
              <a:srgbClr val="45C08F"/>
            </a:solidFill>
            <a:prstDash val="solid"/>
          </a:ln>
        </p:spPr>
      </p:sp>
      <p:sp>
        <p:nvSpPr>
          <p:cNvPr id="34" name="Text 32"/>
          <p:cNvSpPr txBox="1"/>
          <p:nvPr/>
        </p:nvSpPr>
        <p:spPr>
          <a:xfrm>
            <a:off x="5727802"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16</a:t>
            </a:r>
            <a:endParaRPr lang="en-US" sz="1100" dirty="0"/>
          </a:p>
        </p:txBody>
      </p:sp>
      <p:sp>
        <p:nvSpPr>
          <p:cNvPr id="35" name="Text 33"/>
          <p:cNvSpPr txBox="1"/>
          <p:nvPr/>
        </p:nvSpPr>
        <p:spPr>
          <a:xfrm>
            <a:off x="5669280"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S</a:t>
            </a:r>
            <a:endParaRPr lang="en-US" sz="2900" dirty="0"/>
          </a:p>
        </p:txBody>
      </p:sp>
      <p:sp>
        <p:nvSpPr>
          <p:cNvPr id="36" name="Text 34"/>
          <p:cNvSpPr txBox="1"/>
          <p:nvPr/>
        </p:nvSpPr>
        <p:spPr>
          <a:xfrm>
            <a:off x="4782312" y="3291840"/>
            <a:ext cx="1737360" cy="548640"/>
          </a:xfrm>
          <a:prstGeom prst="rect">
            <a:avLst/>
          </a:prstGeom>
          <a:noFill/>
          <a:ln/>
        </p:spPr>
        <p:txBody>
          <a:bodyPr wrap="square" lIns="0" tIns="0" rIns="0" bIns="0" rtlCol="0" anchor="t"/>
          <a:lstStyle/>
          <a:p>
            <a:pPr indent="0" marL="0">
              <a:buNone/>
            </a:pPr>
            <a:r>
              <a:rPr lang="en-US" sz="1100" dirty="0">
                <a:solidFill>
                  <a:schemeClr val="bg2"/>
                </a:solidFill>
              </a:rPr>
              <a:t>Oxygen and Sulfur: group 16</a:t>
            </a:r>
            <a:endParaRPr lang="en-US" sz="1100" dirty="0"/>
          </a:p>
        </p:txBody>
      </p:sp>
      <p:sp>
        <p:nvSpPr>
          <p:cNvPr id="37" name="7 valence electrons"/>
          <p:cNvSpPr/>
          <p:nvPr/>
        </p:nvSpPr>
        <p:spPr>
          <a:xfrm>
            <a:off x="6739128" y="1691640"/>
            <a:ext cx="1956816" cy="2651760"/>
          </a:xfrm>
          <a:prstGeom prst="roundRect">
            <a:avLst>
              <a:gd name="adj" fmla="val 4673"/>
            </a:avLst>
          </a:prstGeom>
          <a:solidFill>
            <a:schemeClr val="tx2"/>
          </a:solidFill>
          <a:ln w="9525">
            <a:solidFill>
              <a:schemeClr val="bg2">
                <a:alpha val="30000"/>
              </a:schemeClr>
            </a:solidFill>
            <a:prstDash val="solid"/>
          </a:ln>
        </p:spPr>
      </p:sp>
      <p:sp>
        <p:nvSpPr>
          <p:cNvPr id="38" name="Text 36"/>
          <p:cNvSpPr txBox="1"/>
          <p:nvPr/>
        </p:nvSpPr>
        <p:spPr>
          <a:xfrm>
            <a:off x="6876288" y="1801368"/>
            <a:ext cx="1737360" cy="292608"/>
          </a:xfrm>
          <a:prstGeom prst="rect">
            <a:avLst/>
          </a:prstGeom>
          <a:noFill/>
          <a:ln/>
        </p:spPr>
        <p:txBody>
          <a:bodyPr wrap="square" lIns="0" tIns="0" rIns="0" bIns="0" rtlCol="0" anchor="t"/>
          <a:lstStyle/>
          <a:p>
            <a:pPr indent="0" marL="0">
              <a:buNone/>
            </a:pPr>
            <a:r>
              <a:rPr lang="en-US" sz="1300" b="1" dirty="0">
                <a:solidFill>
                  <a:schemeClr val="bg2"/>
                </a:solidFill>
              </a:rPr>
              <a:t>7 valence electrons</a:t>
            </a:r>
            <a:endParaRPr lang="en-US" sz="1300" dirty="0"/>
          </a:p>
        </p:txBody>
      </p:sp>
      <p:sp>
        <p:nvSpPr>
          <p:cNvPr id="39" name="Tile F"/>
          <p:cNvSpPr/>
          <p:nvPr/>
        </p:nvSpPr>
        <p:spPr>
          <a:xfrm>
            <a:off x="6940296" y="2331720"/>
            <a:ext cx="731520" cy="777240"/>
          </a:xfrm>
          <a:prstGeom prst="roundRect">
            <a:avLst>
              <a:gd name="adj" fmla="val 12000"/>
            </a:avLst>
          </a:prstGeom>
          <a:solidFill>
            <a:srgbClr val="F477B8">
              <a:alpha val="30000"/>
            </a:srgbClr>
          </a:solidFill>
          <a:ln w="19050">
            <a:solidFill>
              <a:srgbClr val="F477B8"/>
            </a:solidFill>
            <a:prstDash val="solid"/>
          </a:ln>
        </p:spPr>
      </p:sp>
      <p:sp>
        <p:nvSpPr>
          <p:cNvPr id="40" name="Text 38"/>
          <p:cNvSpPr txBox="1"/>
          <p:nvPr/>
        </p:nvSpPr>
        <p:spPr>
          <a:xfrm>
            <a:off x="6998818"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9</a:t>
            </a:r>
            <a:endParaRPr lang="en-US" sz="1100" dirty="0"/>
          </a:p>
        </p:txBody>
      </p:sp>
      <p:sp>
        <p:nvSpPr>
          <p:cNvPr id="41" name="Text 39"/>
          <p:cNvSpPr txBox="1"/>
          <p:nvPr/>
        </p:nvSpPr>
        <p:spPr>
          <a:xfrm>
            <a:off x="6940296"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F</a:t>
            </a:r>
            <a:endParaRPr lang="en-US" sz="2900" dirty="0"/>
          </a:p>
        </p:txBody>
      </p:sp>
      <p:sp>
        <p:nvSpPr>
          <p:cNvPr id="42" name="Tile Cl"/>
          <p:cNvSpPr/>
          <p:nvPr/>
        </p:nvSpPr>
        <p:spPr>
          <a:xfrm>
            <a:off x="7763256" y="2331720"/>
            <a:ext cx="731520" cy="777240"/>
          </a:xfrm>
          <a:prstGeom prst="roundRect">
            <a:avLst>
              <a:gd name="adj" fmla="val 12000"/>
            </a:avLst>
          </a:prstGeom>
          <a:solidFill>
            <a:srgbClr val="F477B8">
              <a:alpha val="30000"/>
            </a:srgbClr>
          </a:solidFill>
          <a:ln w="19050">
            <a:solidFill>
              <a:srgbClr val="F477B8"/>
            </a:solidFill>
            <a:prstDash val="solid"/>
          </a:ln>
        </p:spPr>
      </p:sp>
      <p:sp>
        <p:nvSpPr>
          <p:cNvPr id="43" name="Text 41"/>
          <p:cNvSpPr txBox="1"/>
          <p:nvPr/>
        </p:nvSpPr>
        <p:spPr>
          <a:xfrm>
            <a:off x="7821778" y="2370582"/>
            <a:ext cx="438912" cy="186538"/>
          </a:xfrm>
          <a:prstGeom prst="rect">
            <a:avLst/>
          </a:prstGeom>
          <a:noFill/>
          <a:ln/>
        </p:spPr>
        <p:txBody>
          <a:bodyPr wrap="square" lIns="0" tIns="0" rIns="0" bIns="0" rtlCol="0" anchor="t"/>
          <a:lstStyle/>
          <a:p>
            <a:pPr indent="0" marL="0">
              <a:buNone/>
            </a:pPr>
            <a:r>
              <a:rPr lang="en-US" sz="1100" dirty="0">
                <a:solidFill>
                  <a:schemeClr val="bg2"/>
                </a:solidFill>
              </a:rPr>
              <a:t>17</a:t>
            </a:r>
            <a:endParaRPr lang="en-US" sz="1100" dirty="0"/>
          </a:p>
        </p:txBody>
      </p:sp>
      <p:sp>
        <p:nvSpPr>
          <p:cNvPr id="44" name="Text 42"/>
          <p:cNvSpPr txBox="1"/>
          <p:nvPr/>
        </p:nvSpPr>
        <p:spPr>
          <a:xfrm>
            <a:off x="7763256" y="2456078"/>
            <a:ext cx="731520" cy="621792"/>
          </a:xfrm>
          <a:prstGeom prst="rect">
            <a:avLst/>
          </a:prstGeom>
          <a:noFill/>
          <a:ln/>
        </p:spPr>
        <p:txBody>
          <a:bodyPr wrap="square" lIns="0" tIns="0" rIns="0" bIns="0" rtlCol="0" anchor="ctr"/>
          <a:lstStyle/>
          <a:p>
            <a:pPr algn="ctr" indent="0" marL="0">
              <a:buNone/>
            </a:pPr>
            <a:r>
              <a:rPr lang="en-US" sz="2900" b="1" dirty="0">
                <a:solidFill>
                  <a:schemeClr val="bg1"/>
                </a:solidFill>
              </a:rPr>
              <a:t>Cl</a:t>
            </a:r>
            <a:endParaRPr lang="en-US" sz="2900" dirty="0"/>
          </a:p>
        </p:txBody>
      </p:sp>
      <p:sp>
        <p:nvSpPr>
          <p:cNvPr id="45" name="Text 43"/>
          <p:cNvSpPr txBox="1"/>
          <p:nvPr/>
        </p:nvSpPr>
        <p:spPr>
          <a:xfrm>
            <a:off x="6876288" y="3291840"/>
            <a:ext cx="1737360" cy="548640"/>
          </a:xfrm>
          <a:prstGeom prst="rect">
            <a:avLst/>
          </a:prstGeom>
          <a:noFill/>
          <a:ln/>
        </p:spPr>
        <p:txBody>
          <a:bodyPr wrap="square" lIns="0" tIns="0" rIns="0" bIns="0" rtlCol="0" anchor="t"/>
          <a:lstStyle/>
          <a:p>
            <a:pPr indent="0" marL="0">
              <a:buNone/>
            </a:pPr>
            <a:r>
              <a:rPr lang="en-US" sz="1100" dirty="0">
                <a:solidFill>
                  <a:schemeClr val="bg2"/>
                </a:solidFill>
              </a:rPr>
              <a:t>Fluorine and Chlorine: group 17</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element has the same number of valence electrons as oxygen?</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Nitrogen</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Sulfur</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Neon</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Fluorine</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ile N"/>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element has the same number of valence electrons as oxygen?</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Nitrogen</a:t>
            </a:r>
            <a:endParaRPr lang="en-US" sz="1600" dirty="0"/>
          </a:p>
        </p:txBody>
      </p:sp>
      <p:sp>
        <p:nvSpPr>
          <p:cNvPr id="12"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3" name="Text 11"/>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Sulfur</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Neon</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Fluorine</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Sulfur is in the same group as oxygen (group 16), so both have 6 valence electrons.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8 of 9 · about 9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Practice: read and fix Bohr models</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0" name="Text 8"/>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Read a model backwards</a:t>
            </a:r>
            <a:endParaRPr lang="en-US" sz="1400" dirty="0"/>
          </a:p>
        </p:txBody>
      </p:sp>
      <p:sp>
        <p:nvSpPr>
          <p:cNvPr id="11" name="Text 9"/>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2" name="Text 10"/>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Name that atom</a:t>
            </a:r>
            <a:endParaRPr lang="en-US" sz="1400" dirty="0"/>
          </a:p>
        </p:txBody>
      </p:sp>
      <p:sp>
        <p:nvSpPr>
          <p:cNvPr id="13" name="Text 11"/>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4" name="Text 12"/>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Spot the mistake</a:t>
            </a:r>
            <a:endParaRPr lang="en-US" sz="1400" dirty="0"/>
          </a:p>
        </p:txBody>
      </p:sp>
      <p:sp>
        <p:nvSpPr>
          <p:cNvPr id="15" name="Text 13"/>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6" name="Text 14"/>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Three shells, four outer electrons</a:t>
            </a:r>
            <a:endParaRPr lang="en-US" sz="1400" dirty="0"/>
          </a:p>
        </p:txBody>
      </p:sp>
      <p:sp>
        <p:nvSpPr>
          <p:cNvPr id="17"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8" name="Text 16"/>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9" name="Text 17"/>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Name 5 atoms from their models</a:t>
            </a:r>
            <a:endParaRPr lang="en-US" sz="1400" dirty="0"/>
          </a:p>
        </p:txBody>
      </p:sp>
      <p:sp>
        <p:nvSpPr>
          <p:cNvPr id="21" name="Text 19"/>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Find the mistake in all 4 models</a:t>
            </a:r>
            <a:endParaRPr lang="en-US" sz="1400" dirty="0"/>
          </a:p>
        </p:txBody>
      </p:sp>
      <p:sp>
        <p:nvSpPr>
          <p:cNvPr id="23" name="Text 21"/>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Read a model backwards</a:t>
            </a:r>
            <a:endParaRPr lang="en-US" sz="2800" dirty="0"/>
          </a:p>
        </p:txBody>
      </p:sp>
      <p:sp>
        <p:nvSpPr>
          <p:cNvPr id="8" name="Text 6"/>
          <p:cNvSpPr txBox="1"/>
          <p:nvPr/>
        </p:nvSpPr>
        <p:spPr>
          <a:xfrm>
            <a:off x="457200" y="1325880"/>
            <a:ext cx="4846320" cy="160020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To name an atom from its Bohr model, add up all of its electrons. In a </a:t>
            </a:r>
            <a:pPr indent="0" marL="0">
              <a:spcAft>
                <a:spcPts val="800"/>
              </a:spcAft>
              <a:buNone/>
            </a:pPr>
            <a:r>
              <a:rPr lang="en-US" sz="1500" b="1" dirty="0">
                <a:solidFill>
                  <a:schemeClr val="accent1"/>
                </a:solidFill>
              </a:rPr>
              <a:t>neutral</a:t>
            </a:r>
            <a:pPr indent="0" marL="0">
              <a:spcAft>
                <a:spcPts val="800"/>
              </a:spcAft>
              <a:buNone/>
            </a:pPr>
            <a:r>
              <a:rPr lang="en-US" sz="1500" dirty="0">
                <a:solidFill>
                  <a:schemeClr val="bg1"/>
                </a:solidFill>
              </a:rPr>
              <a:t> atom, that total equals the number of protons, which is the atomic number. Then find that atomic number on the periodic table.</a:t>
            </a:r>
            <a:endParaRPr lang="en-US" sz="1500" dirty="0"/>
          </a:p>
          <a:p>
            <a:pPr indent="0" marL="0">
              <a:spcAft>
                <a:spcPts val="800"/>
              </a:spcAft>
              <a:buNone/>
            </a:pPr>
            <a:r>
              <a:rPr lang="en-US" sz="1500" dirty="0">
                <a:solidFill>
                  <a:schemeClr val="bg1"/>
                </a:solidFill>
              </a:rPr>
              <a:t>When you check a drawing, look for these common mistakes:</a:t>
            </a:r>
            <a:endParaRPr lang="en-US" sz="1500" dirty="0"/>
          </a:p>
        </p:txBody>
      </p:sp>
      <p:sp>
        <p:nvSpPr>
          <p:cNvPr id="9" name="Text 7"/>
          <p:cNvSpPr txBox="1"/>
          <p:nvPr/>
        </p:nvSpPr>
        <p:spPr>
          <a:xfrm>
            <a:off x="457200" y="2971800"/>
            <a:ext cx="4846320" cy="16002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bg1"/>
                </a:solidFill>
              </a:rPr>
              <a:t>More than 2 electrons in shell 1</a:t>
            </a:r>
            <a:endParaRPr lang="en-US" sz="1400" dirty="0"/>
          </a:p>
          <a:p>
            <a:pPr marL="177800" indent="-177800">
              <a:spcAft>
                <a:spcPts val="300"/>
              </a:spcAft>
              <a:buSzPct val="100000"/>
              <a:buChar char="•"/>
            </a:pPr>
            <a:r>
              <a:rPr lang="en-US" sz="1400" dirty="0">
                <a:solidFill>
                  <a:schemeClr val="bg1"/>
                </a:solidFill>
              </a:rPr>
              <a:t>Starting a new shell before the one inside it is full</a:t>
            </a:r>
            <a:endParaRPr lang="en-US" sz="1400" dirty="0"/>
          </a:p>
          <a:p>
            <a:pPr marL="177800" indent="-177800">
              <a:spcAft>
                <a:spcPts val="300"/>
              </a:spcAft>
              <a:buSzPct val="100000"/>
              <a:buChar char="•"/>
            </a:pPr>
            <a:r>
              <a:rPr lang="en-US" sz="1400" dirty="0">
                <a:solidFill>
                  <a:schemeClr val="bg1"/>
                </a:solidFill>
              </a:rPr>
              <a:t>A different number of electrons than protons</a:t>
            </a:r>
            <a:endParaRPr lang="en-US" sz="1400" dirty="0"/>
          </a:p>
          <a:p>
            <a:pPr marL="177800" indent="-177800">
              <a:spcAft>
                <a:spcPts val="300"/>
              </a:spcAft>
              <a:buSzPct val="100000"/>
              <a:buChar char="•"/>
            </a:pPr>
            <a:r>
              <a:rPr lang="en-US" sz="1400" dirty="0">
                <a:solidFill>
                  <a:schemeClr val="bg1"/>
                </a:solidFill>
              </a:rPr>
              <a:t>Neutrons found without rounding the atomic mass first</a:t>
            </a:r>
            <a:endParaRPr lang="en-US" sz="1400" dirty="0"/>
          </a:p>
          <a:p>
            <a:pPr marL="177800" indent="-177800">
              <a:spcAft>
                <a:spcPts val="300"/>
              </a:spcAft>
              <a:buSzPct val="100000"/>
              <a:buChar char="•"/>
            </a:pPr>
            <a:r>
              <a:rPr lang="en-US" sz="1400" dirty="0">
                <a:solidFill>
                  <a:schemeClr val="bg1"/>
                </a:solidFill>
              </a:rPr>
              <a:t>Pairing up before every side has one electron</a:t>
            </a:r>
            <a:endParaRPr lang="en-US" sz="1400" dirty="0"/>
          </a:p>
        </p:txBody>
      </p:sp>
      <p:sp>
        <p:nvSpPr>
          <p:cNvPr id="10" name="Example: shell 1"/>
          <p:cNvSpPr/>
          <p:nvPr/>
        </p:nvSpPr>
        <p:spPr>
          <a:xfrm>
            <a:off x="6543446" y="2017166"/>
            <a:ext cx="994867" cy="994867"/>
          </a:xfrm>
          <a:prstGeom prst="ellipse">
            <a:avLst/>
          </a:prstGeom>
          <a:solidFill>
            <a:schemeClr val="bg1">
              <a:alpha val="0"/>
            </a:schemeClr>
          </a:solidFill>
          <a:ln w="15875">
            <a:solidFill>
              <a:schemeClr val="bg2">
                <a:alpha val="55000"/>
              </a:schemeClr>
            </a:solidFill>
            <a:prstDash val="solid"/>
          </a:ln>
        </p:spPr>
      </p:sp>
      <p:sp>
        <p:nvSpPr>
          <p:cNvPr id="11" name="Example: shell 2"/>
          <p:cNvSpPr/>
          <p:nvPr/>
        </p:nvSpPr>
        <p:spPr>
          <a:xfrm>
            <a:off x="6232550" y="1706270"/>
            <a:ext cx="1616659" cy="1616659"/>
          </a:xfrm>
          <a:prstGeom prst="ellipse">
            <a:avLst/>
          </a:prstGeom>
          <a:solidFill>
            <a:schemeClr val="bg1">
              <a:alpha val="0"/>
            </a:schemeClr>
          </a:solidFill>
          <a:ln w="15875">
            <a:solidFill>
              <a:schemeClr val="bg2">
                <a:alpha val="55000"/>
              </a:schemeClr>
            </a:solidFill>
            <a:prstDash val="solid"/>
          </a:ln>
        </p:spPr>
      </p:sp>
      <p:sp>
        <p:nvSpPr>
          <p:cNvPr id="12" name="Example: nucleus"/>
          <p:cNvSpPr/>
          <p:nvPr/>
        </p:nvSpPr>
        <p:spPr>
          <a:xfrm>
            <a:off x="6719621" y="2193341"/>
            <a:ext cx="642518" cy="642518"/>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3" name="Example: electron, shell 1"/>
          <p:cNvSpPr/>
          <p:nvPr/>
        </p:nvSpPr>
        <p:spPr>
          <a:xfrm>
            <a:off x="6963156" y="1939442"/>
            <a:ext cx="155448" cy="155448"/>
          </a:xfrm>
          <a:prstGeom prst="ellipse">
            <a:avLst/>
          </a:prstGeom>
          <a:solidFill>
            <a:schemeClr val="accent1"/>
          </a:solidFill>
          <a:ln w="3175">
            <a:solidFill>
              <a:schemeClr val="accent1"/>
            </a:solidFill>
            <a:prstDash val="solid"/>
          </a:ln>
        </p:spPr>
      </p:sp>
      <p:sp>
        <p:nvSpPr>
          <p:cNvPr id="14" name="Example: electron, shell 1"/>
          <p:cNvSpPr/>
          <p:nvPr/>
        </p:nvSpPr>
        <p:spPr>
          <a:xfrm>
            <a:off x="7460590" y="2436876"/>
            <a:ext cx="155448" cy="155448"/>
          </a:xfrm>
          <a:prstGeom prst="ellipse">
            <a:avLst/>
          </a:prstGeom>
          <a:solidFill>
            <a:schemeClr val="accent1"/>
          </a:solidFill>
          <a:ln w="3175">
            <a:solidFill>
              <a:schemeClr val="accent1"/>
            </a:solidFill>
            <a:prstDash val="solid"/>
          </a:ln>
        </p:spPr>
      </p:sp>
      <p:sp>
        <p:nvSpPr>
          <p:cNvPr id="15" name="Example: electron, shell 2"/>
          <p:cNvSpPr/>
          <p:nvPr/>
        </p:nvSpPr>
        <p:spPr>
          <a:xfrm>
            <a:off x="6963156" y="1628546"/>
            <a:ext cx="155448" cy="155448"/>
          </a:xfrm>
          <a:prstGeom prst="ellipse">
            <a:avLst/>
          </a:prstGeom>
          <a:solidFill>
            <a:schemeClr val="accent1"/>
          </a:solidFill>
          <a:ln w="3175">
            <a:solidFill>
              <a:schemeClr val="accent1"/>
            </a:solidFill>
            <a:prstDash val="solid"/>
          </a:ln>
        </p:spPr>
      </p:sp>
      <p:sp>
        <p:nvSpPr>
          <p:cNvPr id="16" name="Text 14"/>
          <p:cNvSpPr txBox="1"/>
          <p:nvPr/>
        </p:nvSpPr>
        <p:spPr>
          <a:xfrm>
            <a:off x="5669280" y="3977640"/>
            <a:ext cx="2743200" cy="548640"/>
          </a:xfrm>
          <a:prstGeom prst="rect">
            <a:avLst/>
          </a:prstGeom>
          <a:noFill/>
          <a:ln/>
        </p:spPr>
        <p:txBody>
          <a:bodyPr wrap="square" lIns="0" tIns="0" rIns="0" bIns="0" rtlCol="0" anchor="ctr"/>
          <a:lstStyle/>
          <a:p>
            <a:pPr algn="ctr" indent="0" marL="0">
              <a:buNone/>
            </a:pPr>
            <a:r>
              <a:rPr lang="en-US" sz="1400" dirty="0">
                <a:solidFill>
                  <a:schemeClr val="bg1"/>
                </a:solidFill>
              </a:rPr>
              <a:t>2 + 1 = 3 electrons</a:t>
            </a:r>
            <a:endParaRPr lang="en-US" sz="1400" dirty="0"/>
          </a:p>
          <a:p>
            <a:pPr algn="ctr" indent="0" marL="0">
              <a:buNone/>
            </a:pPr>
            <a:r>
              <a:rPr lang="en-US" sz="1400" b="1" dirty="0">
                <a:solidFill>
                  <a:schemeClr val="accent1"/>
                </a:solidFill>
              </a:rPr>
              <a:t>atomic number 3: lithium</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Name that atom</a:t>
            </a:r>
            <a:endParaRPr lang="en-US" sz="2800" dirty="0"/>
          </a:p>
        </p:txBody>
      </p:sp>
      <p:sp>
        <p:nvSpPr>
          <p:cNvPr id="8" name="Text 6"/>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The nucleus is hidden. Count the electrons, then tap the matching element. (The lesson picks random atoms; here are five to try together.)</a:t>
            </a:r>
            <a:endParaRPr lang="en-US" sz="1300" dirty="0"/>
          </a:p>
        </p:txBody>
      </p:sp>
      <p:sp>
        <p:nvSpPr>
          <p:cNvPr id="9" name="Atom 1"/>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0" name="Atom 1: shell 1"/>
          <p:cNvSpPr/>
          <p:nvPr/>
        </p:nvSpPr>
        <p:spPr>
          <a:xfrm>
            <a:off x="927202" y="2573122"/>
            <a:ext cx="614477" cy="614477"/>
          </a:xfrm>
          <a:prstGeom prst="ellipse">
            <a:avLst/>
          </a:prstGeom>
          <a:solidFill>
            <a:schemeClr val="bg1">
              <a:alpha val="0"/>
            </a:schemeClr>
          </a:solidFill>
          <a:ln w="15875">
            <a:solidFill>
              <a:schemeClr val="bg2">
                <a:alpha val="55000"/>
              </a:schemeClr>
            </a:solidFill>
            <a:prstDash val="solid"/>
          </a:ln>
        </p:spPr>
      </p:sp>
      <p:sp>
        <p:nvSpPr>
          <p:cNvPr id="11" name="Atom 1: shell 2"/>
          <p:cNvSpPr/>
          <p:nvPr/>
        </p:nvSpPr>
        <p:spPr>
          <a:xfrm>
            <a:off x="735178" y="2381098"/>
            <a:ext cx="998525" cy="998525"/>
          </a:xfrm>
          <a:prstGeom prst="ellipse">
            <a:avLst/>
          </a:prstGeom>
          <a:solidFill>
            <a:schemeClr val="bg1">
              <a:alpha val="0"/>
            </a:schemeClr>
          </a:solidFill>
          <a:ln w="15875">
            <a:solidFill>
              <a:schemeClr val="bg2">
                <a:alpha val="55000"/>
              </a:schemeClr>
            </a:solidFill>
            <a:prstDash val="solid"/>
          </a:ln>
        </p:spPr>
      </p:sp>
      <p:sp>
        <p:nvSpPr>
          <p:cNvPr id="12" name="Atom 1: nucleus"/>
          <p:cNvSpPr/>
          <p:nvPr/>
        </p:nvSpPr>
        <p:spPr>
          <a:xfrm>
            <a:off x="1036015" y="2681935"/>
            <a:ext cx="396850" cy="39685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13" name="Atom 1: electron, shell 1"/>
          <p:cNvSpPr/>
          <p:nvPr/>
        </p:nvSpPr>
        <p:spPr>
          <a:xfrm>
            <a:off x="1186434" y="2525116"/>
            <a:ext cx="96012" cy="96012"/>
          </a:xfrm>
          <a:prstGeom prst="ellipse">
            <a:avLst/>
          </a:prstGeom>
          <a:solidFill>
            <a:schemeClr val="accent1"/>
          </a:solidFill>
          <a:ln w="3175">
            <a:solidFill>
              <a:schemeClr val="accent1"/>
            </a:solidFill>
            <a:prstDash val="solid"/>
          </a:ln>
        </p:spPr>
      </p:sp>
      <p:sp>
        <p:nvSpPr>
          <p:cNvPr id="14" name="Atom 1: electron, shell 1"/>
          <p:cNvSpPr/>
          <p:nvPr/>
        </p:nvSpPr>
        <p:spPr>
          <a:xfrm>
            <a:off x="1493672" y="2832354"/>
            <a:ext cx="96012" cy="96012"/>
          </a:xfrm>
          <a:prstGeom prst="ellipse">
            <a:avLst/>
          </a:prstGeom>
          <a:solidFill>
            <a:schemeClr val="accent1"/>
          </a:solidFill>
          <a:ln w="3175">
            <a:solidFill>
              <a:schemeClr val="accent1"/>
            </a:solidFill>
            <a:prstDash val="solid"/>
          </a:ln>
        </p:spPr>
      </p:sp>
      <p:sp>
        <p:nvSpPr>
          <p:cNvPr id="15" name="Atom 1: electron, shell 2"/>
          <p:cNvSpPr/>
          <p:nvPr/>
        </p:nvSpPr>
        <p:spPr>
          <a:xfrm>
            <a:off x="1121966" y="2337271"/>
            <a:ext cx="96012" cy="96012"/>
          </a:xfrm>
          <a:prstGeom prst="ellipse">
            <a:avLst/>
          </a:prstGeom>
          <a:solidFill>
            <a:schemeClr val="accent1"/>
          </a:solidFill>
          <a:ln w="3175">
            <a:solidFill>
              <a:schemeClr val="accent1"/>
            </a:solidFill>
            <a:prstDash val="solid"/>
          </a:ln>
        </p:spPr>
      </p:sp>
      <p:sp>
        <p:nvSpPr>
          <p:cNvPr id="16" name="Atom 1: electron, shell 2"/>
          <p:cNvSpPr/>
          <p:nvPr/>
        </p:nvSpPr>
        <p:spPr>
          <a:xfrm>
            <a:off x="1250902" y="2337271"/>
            <a:ext cx="96012" cy="96012"/>
          </a:xfrm>
          <a:prstGeom prst="ellipse">
            <a:avLst/>
          </a:prstGeom>
          <a:solidFill>
            <a:schemeClr val="accent1"/>
          </a:solidFill>
          <a:ln w="3175">
            <a:solidFill>
              <a:schemeClr val="accent1"/>
            </a:solidFill>
            <a:prstDash val="solid"/>
          </a:ln>
        </p:spPr>
      </p:sp>
      <p:sp>
        <p:nvSpPr>
          <p:cNvPr id="17" name="Atom 1: electron, shell 2"/>
          <p:cNvSpPr/>
          <p:nvPr/>
        </p:nvSpPr>
        <p:spPr>
          <a:xfrm>
            <a:off x="1681517" y="2767886"/>
            <a:ext cx="96012" cy="96012"/>
          </a:xfrm>
          <a:prstGeom prst="ellipse">
            <a:avLst/>
          </a:prstGeom>
          <a:solidFill>
            <a:schemeClr val="accent1"/>
          </a:solidFill>
          <a:ln w="3175">
            <a:solidFill>
              <a:schemeClr val="accent1"/>
            </a:solidFill>
            <a:prstDash val="solid"/>
          </a:ln>
        </p:spPr>
      </p:sp>
      <p:sp>
        <p:nvSpPr>
          <p:cNvPr id="18" name="Atom 1: electron, shell 2"/>
          <p:cNvSpPr/>
          <p:nvPr/>
        </p:nvSpPr>
        <p:spPr>
          <a:xfrm>
            <a:off x="1681517" y="2896822"/>
            <a:ext cx="96012" cy="96012"/>
          </a:xfrm>
          <a:prstGeom prst="ellipse">
            <a:avLst/>
          </a:prstGeom>
          <a:solidFill>
            <a:schemeClr val="accent1"/>
          </a:solidFill>
          <a:ln w="3175">
            <a:solidFill>
              <a:schemeClr val="accent1"/>
            </a:solidFill>
            <a:prstDash val="solid"/>
          </a:ln>
        </p:spPr>
      </p:sp>
      <p:sp>
        <p:nvSpPr>
          <p:cNvPr id="19" name="Atom 1: electron, shell 2"/>
          <p:cNvSpPr/>
          <p:nvPr/>
        </p:nvSpPr>
        <p:spPr>
          <a:xfrm>
            <a:off x="1186434" y="3331616"/>
            <a:ext cx="96012" cy="96012"/>
          </a:xfrm>
          <a:prstGeom prst="ellipse">
            <a:avLst/>
          </a:prstGeom>
          <a:solidFill>
            <a:schemeClr val="accent1"/>
          </a:solidFill>
          <a:ln w="3175">
            <a:solidFill>
              <a:schemeClr val="accent1"/>
            </a:solidFill>
            <a:prstDash val="solid"/>
          </a:ln>
        </p:spPr>
      </p:sp>
      <p:sp>
        <p:nvSpPr>
          <p:cNvPr id="20" name="Atom 1: electron, shell 2"/>
          <p:cNvSpPr/>
          <p:nvPr/>
        </p:nvSpPr>
        <p:spPr>
          <a:xfrm>
            <a:off x="687172" y="2832354"/>
            <a:ext cx="96012" cy="96012"/>
          </a:xfrm>
          <a:prstGeom prst="ellipse">
            <a:avLst/>
          </a:prstGeom>
          <a:solidFill>
            <a:schemeClr val="accent1"/>
          </a:solidFill>
          <a:ln w="3175">
            <a:solidFill>
              <a:schemeClr val="accent1"/>
            </a:solidFill>
            <a:prstDash val="solid"/>
          </a:ln>
        </p:spPr>
      </p:sp>
      <p:sp>
        <p:nvSpPr>
          <p:cNvPr id="21" name="Text 19"/>
          <p:cNvSpPr txBox="1"/>
          <p:nvPr/>
        </p:nvSpPr>
        <p:spPr>
          <a:xfrm>
            <a:off x="457200" y="402336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Which element?</a:t>
            </a:r>
            <a:endParaRPr lang="en-US" sz="1200" dirty="0"/>
          </a:p>
        </p:txBody>
      </p:sp>
      <p:sp>
        <p:nvSpPr>
          <p:cNvPr id="22" name="Atom 2"/>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3" name="Atom 2: shell 1"/>
          <p:cNvSpPr/>
          <p:nvPr/>
        </p:nvSpPr>
        <p:spPr>
          <a:xfrm>
            <a:off x="2641926" y="2623638"/>
            <a:ext cx="513444" cy="513444"/>
          </a:xfrm>
          <a:prstGeom prst="ellipse">
            <a:avLst/>
          </a:prstGeom>
          <a:solidFill>
            <a:schemeClr val="bg1">
              <a:alpha val="0"/>
            </a:schemeClr>
          </a:solidFill>
          <a:ln w="15875">
            <a:solidFill>
              <a:schemeClr val="bg2">
                <a:alpha val="55000"/>
              </a:schemeClr>
            </a:solidFill>
            <a:prstDash val="solid"/>
          </a:ln>
        </p:spPr>
      </p:sp>
      <p:sp>
        <p:nvSpPr>
          <p:cNvPr id="24" name="Atom 2: shell 2"/>
          <p:cNvSpPr/>
          <p:nvPr/>
        </p:nvSpPr>
        <p:spPr>
          <a:xfrm>
            <a:off x="2481475" y="2463187"/>
            <a:ext cx="834347" cy="834347"/>
          </a:xfrm>
          <a:prstGeom prst="ellipse">
            <a:avLst/>
          </a:prstGeom>
          <a:solidFill>
            <a:schemeClr val="bg1">
              <a:alpha val="0"/>
            </a:schemeClr>
          </a:solidFill>
          <a:ln w="15875">
            <a:solidFill>
              <a:schemeClr val="bg2">
                <a:alpha val="55000"/>
              </a:schemeClr>
            </a:solidFill>
            <a:prstDash val="solid"/>
          </a:ln>
        </p:spPr>
      </p:sp>
      <p:sp>
        <p:nvSpPr>
          <p:cNvPr id="25" name="Atom 2: shell 3"/>
          <p:cNvSpPr/>
          <p:nvPr/>
        </p:nvSpPr>
        <p:spPr>
          <a:xfrm>
            <a:off x="2331720" y="2313432"/>
            <a:ext cx="1133856" cy="1133856"/>
          </a:xfrm>
          <a:prstGeom prst="ellipse">
            <a:avLst/>
          </a:prstGeom>
          <a:solidFill>
            <a:schemeClr val="bg1">
              <a:alpha val="0"/>
            </a:schemeClr>
          </a:solidFill>
          <a:ln w="15875">
            <a:solidFill>
              <a:schemeClr val="bg2">
                <a:alpha val="55000"/>
              </a:schemeClr>
            </a:solidFill>
            <a:prstDash val="solid"/>
          </a:ln>
        </p:spPr>
      </p:sp>
      <p:sp>
        <p:nvSpPr>
          <p:cNvPr id="26" name="Atom 2: nucleus"/>
          <p:cNvSpPr/>
          <p:nvPr/>
        </p:nvSpPr>
        <p:spPr>
          <a:xfrm>
            <a:off x="2732848"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27" name="Atom 2: electron, shell 1"/>
          <p:cNvSpPr/>
          <p:nvPr/>
        </p:nvSpPr>
        <p:spPr>
          <a:xfrm>
            <a:off x="2858535" y="2583525"/>
            <a:ext cx="80226" cy="80226"/>
          </a:xfrm>
          <a:prstGeom prst="ellipse">
            <a:avLst/>
          </a:prstGeom>
          <a:solidFill>
            <a:schemeClr val="accent1"/>
          </a:solidFill>
          <a:ln w="3175">
            <a:solidFill>
              <a:schemeClr val="accent1"/>
            </a:solidFill>
            <a:prstDash val="solid"/>
          </a:ln>
        </p:spPr>
      </p:sp>
      <p:sp>
        <p:nvSpPr>
          <p:cNvPr id="28" name="Atom 2: electron, shell 1"/>
          <p:cNvSpPr/>
          <p:nvPr/>
        </p:nvSpPr>
        <p:spPr>
          <a:xfrm>
            <a:off x="3115257" y="2840247"/>
            <a:ext cx="80226" cy="80226"/>
          </a:xfrm>
          <a:prstGeom prst="ellipse">
            <a:avLst/>
          </a:prstGeom>
          <a:solidFill>
            <a:schemeClr val="accent1"/>
          </a:solidFill>
          <a:ln w="3175">
            <a:solidFill>
              <a:schemeClr val="accent1"/>
            </a:solidFill>
            <a:prstDash val="solid"/>
          </a:ln>
        </p:spPr>
      </p:sp>
      <p:sp>
        <p:nvSpPr>
          <p:cNvPr id="29" name="Atom 2: electron, shell 2"/>
          <p:cNvSpPr/>
          <p:nvPr/>
        </p:nvSpPr>
        <p:spPr>
          <a:xfrm>
            <a:off x="2804667" y="2426566"/>
            <a:ext cx="80226" cy="80226"/>
          </a:xfrm>
          <a:prstGeom prst="ellipse">
            <a:avLst/>
          </a:prstGeom>
          <a:solidFill>
            <a:schemeClr val="accent1"/>
          </a:solidFill>
          <a:ln w="3175">
            <a:solidFill>
              <a:schemeClr val="accent1"/>
            </a:solidFill>
            <a:prstDash val="solid"/>
          </a:ln>
        </p:spPr>
      </p:sp>
      <p:sp>
        <p:nvSpPr>
          <p:cNvPr id="30" name="Atom 2: electron, shell 2"/>
          <p:cNvSpPr/>
          <p:nvPr/>
        </p:nvSpPr>
        <p:spPr>
          <a:xfrm>
            <a:off x="2912403" y="2426566"/>
            <a:ext cx="80226" cy="80226"/>
          </a:xfrm>
          <a:prstGeom prst="ellipse">
            <a:avLst/>
          </a:prstGeom>
          <a:solidFill>
            <a:schemeClr val="accent1"/>
          </a:solidFill>
          <a:ln w="3175">
            <a:solidFill>
              <a:schemeClr val="accent1"/>
            </a:solidFill>
            <a:prstDash val="solid"/>
          </a:ln>
        </p:spPr>
      </p:sp>
      <p:sp>
        <p:nvSpPr>
          <p:cNvPr id="31" name="Atom 2: electron, shell 2"/>
          <p:cNvSpPr/>
          <p:nvPr/>
        </p:nvSpPr>
        <p:spPr>
          <a:xfrm>
            <a:off x="3272216" y="2786379"/>
            <a:ext cx="80226" cy="80226"/>
          </a:xfrm>
          <a:prstGeom prst="ellipse">
            <a:avLst/>
          </a:prstGeom>
          <a:solidFill>
            <a:schemeClr val="accent1"/>
          </a:solidFill>
          <a:ln w="3175">
            <a:solidFill>
              <a:schemeClr val="accent1"/>
            </a:solidFill>
            <a:prstDash val="solid"/>
          </a:ln>
        </p:spPr>
      </p:sp>
      <p:sp>
        <p:nvSpPr>
          <p:cNvPr id="32" name="Atom 2: electron, shell 2"/>
          <p:cNvSpPr/>
          <p:nvPr/>
        </p:nvSpPr>
        <p:spPr>
          <a:xfrm>
            <a:off x="3272216" y="2894115"/>
            <a:ext cx="80226" cy="80226"/>
          </a:xfrm>
          <a:prstGeom prst="ellipse">
            <a:avLst/>
          </a:prstGeom>
          <a:solidFill>
            <a:schemeClr val="accent1"/>
          </a:solidFill>
          <a:ln w="3175">
            <a:solidFill>
              <a:schemeClr val="accent1"/>
            </a:solidFill>
            <a:prstDash val="solid"/>
          </a:ln>
        </p:spPr>
      </p:sp>
      <p:sp>
        <p:nvSpPr>
          <p:cNvPr id="33" name="Atom 2: electron, shell 2"/>
          <p:cNvSpPr/>
          <p:nvPr/>
        </p:nvSpPr>
        <p:spPr>
          <a:xfrm>
            <a:off x="2912403" y="3253928"/>
            <a:ext cx="80226" cy="80226"/>
          </a:xfrm>
          <a:prstGeom prst="ellipse">
            <a:avLst/>
          </a:prstGeom>
          <a:solidFill>
            <a:schemeClr val="accent1"/>
          </a:solidFill>
          <a:ln w="3175">
            <a:solidFill>
              <a:schemeClr val="accent1"/>
            </a:solidFill>
            <a:prstDash val="solid"/>
          </a:ln>
        </p:spPr>
      </p:sp>
      <p:sp>
        <p:nvSpPr>
          <p:cNvPr id="34" name="Atom 2: electron, shell 2"/>
          <p:cNvSpPr/>
          <p:nvPr/>
        </p:nvSpPr>
        <p:spPr>
          <a:xfrm>
            <a:off x="2804667" y="3253928"/>
            <a:ext cx="80226" cy="80226"/>
          </a:xfrm>
          <a:prstGeom prst="ellipse">
            <a:avLst/>
          </a:prstGeom>
          <a:solidFill>
            <a:schemeClr val="accent1"/>
          </a:solidFill>
          <a:ln w="3175">
            <a:solidFill>
              <a:schemeClr val="accent1"/>
            </a:solidFill>
            <a:prstDash val="solid"/>
          </a:ln>
        </p:spPr>
      </p:sp>
      <p:sp>
        <p:nvSpPr>
          <p:cNvPr id="35" name="Atom 2: electron, shell 2"/>
          <p:cNvSpPr/>
          <p:nvPr/>
        </p:nvSpPr>
        <p:spPr>
          <a:xfrm>
            <a:off x="2444854" y="2894115"/>
            <a:ext cx="80226" cy="80226"/>
          </a:xfrm>
          <a:prstGeom prst="ellipse">
            <a:avLst/>
          </a:prstGeom>
          <a:solidFill>
            <a:schemeClr val="accent1"/>
          </a:solidFill>
          <a:ln w="3175">
            <a:solidFill>
              <a:schemeClr val="accent1"/>
            </a:solidFill>
            <a:prstDash val="solid"/>
          </a:ln>
        </p:spPr>
      </p:sp>
      <p:sp>
        <p:nvSpPr>
          <p:cNvPr id="36" name="Atom 2: electron, shell 2"/>
          <p:cNvSpPr/>
          <p:nvPr/>
        </p:nvSpPr>
        <p:spPr>
          <a:xfrm>
            <a:off x="2444854" y="2786379"/>
            <a:ext cx="80226" cy="80226"/>
          </a:xfrm>
          <a:prstGeom prst="ellipse">
            <a:avLst/>
          </a:prstGeom>
          <a:solidFill>
            <a:schemeClr val="accent1"/>
          </a:solidFill>
          <a:ln w="3175">
            <a:solidFill>
              <a:schemeClr val="accent1"/>
            </a:solidFill>
            <a:prstDash val="solid"/>
          </a:ln>
        </p:spPr>
      </p:sp>
      <p:sp>
        <p:nvSpPr>
          <p:cNvPr id="37" name="Atom 2: electron, shell 3"/>
          <p:cNvSpPr/>
          <p:nvPr/>
        </p:nvSpPr>
        <p:spPr>
          <a:xfrm>
            <a:off x="2858535" y="2273319"/>
            <a:ext cx="80226" cy="80226"/>
          </a:xfrm>
          <a:prstGeom prst="ellipse">
            <a:avLst/>
          </a:prstGeom>
          <a:solidFill>
            <a:schemeClr val="accent1"/>
          </a:solidFill>
          <a:ln w="3175">
            <a:solidFill>
              <a:schemeClr val="accent1"/>
            </a:solidFill>
            <a:prstDash val="solid"/>
          </a:ln>
        </p:spPr>
      </p:sp>
      <p:sp>
        <p:nvSpPr>
          <p:cNvPr id="38" name="Text 36"/>
          <p:cNvSpPr txBox="1"/>
          <p:nvPr/>
        </p:nvSpPr>
        <p:spPr>
          <a:xfrm>
            <a:off x="2121408" y="402336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Which element?</a:t>
            </a:r>
            <a:endParaRPr lang="en-US" sz="1200" dirty="0"/>
          </a:p>
        </p:txBody>
      </p:sp>
      <p:sp>
        <p:nvSpPr>
          <p:cNvPr id="39" name="Atom 3"/>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40" name="Atom 3: shell 1"/>
          <p:cNvSpPr/>
          <p:nvPr/>
        </p:nvSpPr>
        <p:spPr>
          <a:xfrm>
            <a:off x="4306134" y="2623638"/>
            <a:ext cx="513444" cy="513444"/>
          </a:xfrm>
          <a:prstGeom prst="ellipse">
            <a:avLst/>
          </a:prstGeom>
          <a:solidFill>
            <a:schemeClr val="bg1">
              <a:alpha val="0"/>
            </a:schemeClr>
          </a:solidFill>
          <a:ln w="15875">
            <a:solidFill>
              <a:schemeClr val="bg2">
                <a:alpha val="55000"/>
              </a:schemeClr>
            </a:solidFill>
            <a:prstDash val="solid"/>
          </a:ln>
        </p:spPr>
      </p:sp>
      <p:sp>
        <p:nvSpPr>
          <p:cNvPr id="41" name="Atom 3: shell 2"/>
          <p:cNvSpPr/>
          <p:nvPr/>
        </p:nvSpPr>
        <p:spPr>
          <a:xfrm>
            <a:off x="4145683" y="2463187"/>
            <a:ext cx="834347" cy="834347"/>
          </a:xfrm>
          <a:prstGeom prst="ellipse">
            <a:avLst/>
          </a:prstGeom>
          <a:solidFill>
            <a:schemeClr val="bg1">
              <a:alpha val="0"/>
            </a:schemeClr>
          </a:solidFill>
          <a:ln w="15875">
            <a:solidFill>
              <a:schemeClr val="bg2">
                <a:alpha val="55000"/>
              </a:schemeClr>
            </a:solidFill>
            <a:prstDash val="solid"/>
          </a:ln>
        </p:spPr>
      </p:sp>
      <p:sp>
        <p:nvSpPr>
          <p:cNvPr id="42" name="Atom 3: shell 3"/>
          <p:cNvSpPr/>
          <p:nvPr/>
        </p:nvSpPr>
        <p:spPr>
          <a:xfrm>
            <a:off x="3995928" y="2313432"/>
            <a:ext cx="1133856" cy="1133856"/>
          </a:xfrm>
          <a:prstGeom prst="ellipse">
            <a:avLst/>
          </a:prstGeom>
          <a:solidFill>
            <a:schemeClr val="bg1">
              <a:alpha val="0"/>
            </a:schemeClr>
          </a:solidFill>
          <a:ln w="15875">
            <a:solidFill>
              <a:schemeClr val="bg2">
                <a:alpha val="55000"/>
              </a:schemeClr>
            </a:solidFill>
            <a:prstDash val="solid"/>
          </a:ln>
        </p:spPr>
      </p:sp>
      <p:sp>
        <p:nvSpPr>
          <p:cNvPr id="43" name="Atom 3: nucleus"/>
          <p:cNvSpPr/>
          <p:nvPr/>
        </p:nvSpPr>
        <p:spPr>
          <a:xfrm>
            <a:off x="4397056"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44" name="Atom 3: electron, shell 1"/>
          <p:cNvSpPr/>
          <p:nvPr/>
        </p:nvSpPr>
        <p:spPr>
          <a:xfrm>
            <a:off x="4522743" y="2583525"/>
            <a:ext cx="80226" cy="80226"/>
          </a:xfrm>
          <a:prstGeom prst="ellipse">
            <a:avLst/>
          </a:prstGeom>
          <a:solidFill>
            <a:schemeClr val="accent1"/>
          </a:solidFill>
          <a:ln w="3175">
            <a:solidFill>
              <a:schemeClr val="accent1"/>
            </a:solidFill>
            <a:prstDash val="solid"/>
          </a:ln>
        </p:spPr>
      </p:sp>
      <p:sp>
        <p:nvSpPr>
          <p:cNvPr id="45" name="Atom 3: electron, shell 1"/>
          <p:cNvSpPr/>
          <p:nvPr/>
        </p:nvSpPr>
        <p:spPr>
          <a:xfrm>
            <a:off x="4779465" y="2840247"/>
            <a:ext cx="80226" cy="80226"/>
          </a:xfrm>
          <a:prstGeom prst="ellipse">
            <a:avLst/>
          </a:prstGeom>
          <a:solidFill>
            <a:schemeClr val="accent1"/>
          </a:solidFill>
          <a:ln w="3175">
            <a:solidFill>
              <a:schemeClr val="accent1"/>
            </a:solidFill>
            <a:prstDash val="solid"/>
          </a:ln>
        </p:spPr>
      </p:sp>
      <p:sp>
        <p:nvSpPr>
          <p:cNvPr id="46" name="Atom 3: electron, shell 2"/>
          <p:cNvSpPr/>
          <p:nvPr/>
        </p:nvSpPr>
        <p:spPr>
          <a:xfrm>
            <a:off x="4468875" y="2426566"/>
            <a:ext cx="80226" cy="80226"/>
          </a:xfrm>
          <a:prstGeom prst="ellipse">
            <a:avLst/>
          </a:prstGeom>
          <a:solidFill>
            <a:schemeClr val="accent1"/>
          </a:solidFill>
          <a:ln w="3175">
            <a:solidFill>
              <a:schemeClr val="accent1"/>
            </a:solidFill>
            <a:prstDash val="solid"/>
          </a:ln>
        </p:spPr>
      </p:sp>
      <p:sp>
        <p:nvSpPr>
          <p:cNvPr id="47" name="Atom 3: electron, shell 2"/>
          <p:cNvSpPr/>
          <p:nvPr/>
        </p:nvSpPr>
        <p:spPr>
          <a:xfrm>
            <a:off x="4576611" y="2426566"/>
            <a:ext cx="80226" cy="80226"/>
          </a:xfrm>
          <a:prstGeom prst="ellipse">
            <a:avLst/>
          </a:prstGeom>
          <a:solidFill>
            <a:schemeClr val="accent1"/>
          </a:solidFill>
          <a:ln w="3175">
            <a:solidFill>
              <a:schemeClr val="accent1"/>
            </a:solidFill>
            <a:prstDash val="solid"/>
          </a:ln>
        </p:spPr>
      </p:sp>
      <p:sp>
        <p:nvSpPr>
          <p:cNvPr id="48" name="Atom 3: electron, shell 2"/>
          <p:cNvSpPr/>
          <p:nvPr/>
        </p:nvSpPr>
        <p:spPr>
          <a:xfrm>
            <a:off x="4936424" y="2786379"/>
            <a:ext cx="80226" cy="80226"/>
          </a:xfrm>
          <a:prstGeom prst="ellipse">
            <a:avLst/>
          </a:prstGeom>
          <a:solidFill>
            <a:schemeClr val="accent1"/>
          </a:solidFill>
          <a:ln w="3175">
            <a:solidFill>
              <a:schemeClr val="accent1"/>
            </a:solidFill>
            <a:prstDash val="solid"/>
          </a:ln>
        </p:spPr>
      </p:sp>
      <p:sp>
        <p:nvSpPr>
          <p:cNvPr id="49" name="Atom 3: electron, shell 2"/>
          <p:cNvSpPr/>
          <p:nvPr/>
        </p:nvSpPr>
        <p:spPr>
          <a:xfrm>
            <a:off x="4936424" y="2894115"/>
            <a:ext cx="80226" cy="80226"/>
          </a:xfrm>
          <a:prstGeom prst="ellipse">
            <a:avLst/>
          </a:prstGeom>
          <a:solidFill>
            <a:schemeClr val="accent1"/>
          </a:solidFill>
          <a:ln w="3175">
            <a:solidFill>
              <a:schemeClr val="accent1"/>
            </a:solidFill>
            <a:prstDash val="solid"/>
          </a:ln>
        </p:spPr>
      </p:sp>
      <p:sp>
        <p:nvSpPr>
          <p:cNvPr id="50" name="Atom 3: electron, shell 2"/>
          <p:cNvSpPr/>
          <p:nvPr/>
        </p:nvSpPr>
        <p:spPr>
          <a:xfrm>
            <a:off x="4576611" y="3253928"/>
            <a:ext cx="80226" cy="80226"/>
          </a:xfrm>
          <a:prstGeom prst="ellipse">
            <a:avLst/>
          </a:prstGeom>
          <a:solidFill>
            <a:schemeClr val="accent1"/>
          </a:solidFill>
          <a:ln w="3175">
            <a:solidFill>
              <a:schemeClr val="accent1"/>
            </a:solidFill>
            <a:prstDash val="solid"/>
          </a:ln>
        </p:spPr>
      </p:sp>
      <p:sp>
        <p:nvSpPr>
          <p:cNvPr id="51" name="Atom 3: electron, shell 2"/>
          <p:cNvSpPr/>
          <p:nvPr/>
        </p:nvSpPr>
        <p:spPr>
          <a:xfrm>
            <a:off x="4468875" y="3253928"/>
            <a:ext cx="80226" cy="80226"/>
          </a:xfrm>
          <a:prstGeom prst="ellipse">
            <a:avLst/>
          </a:prstGeom>
          <a:solidFill>
            <a:schemeClr val="accent1"/>
          </a:solidFill>
          <a:ln w="3175">
            <a:solidFill>
              <a:schemeClr val="accent1"/>
            </a:solidFill>
            <a:prstDash val="solid"/>
          </a:ln>
        </p:spPr>
      </p:sp>
      <p:sp>
        <p:nvSpPr>
          <p:cNvPr id="52" name="Atom 3: electron, shell 2"/>
          <p:cNvSpPr/>
          <p:nvPr/>
        </p:nvSpPr>
        <p:spPr>
          <a:xfrm>
            <a:off x="4109062" y="2894115"/>
            <a:ext cx="80226" cy="80226"/>
          </a:xfrm>
          <a:prstGeom prst="ellipse">
            <a:avLst/>
          </a:prstGeom>
          <a:solidFill>
            <a:schemeClr val="accent1"/>
          </a:solidFill>
          <a:ln w="3175">
            <a:solidFill>
              <a:schemeClr val="accent1"/>
            </a:solidFill>
            <a:prstDash val="solid"/>
          </a:ln>
        </p:spPr>
      </p:sp>
      <p:sp>
        <p:nvSpPr>
          <p:cNvPr id="53" name="Atom 3: electron, shell 2"/>
          <p:cNvSpPr/>
          <p:nvPr/>
        </p:nvSpPr>
        <p:spPr>
          <a:xfrm>
            <a:off x="4109062" y="2786379"/>
            <a:ext cx="80226" cy="80226"/>
          </a:xfrm>
          <a:prstGeom prst="ellipse">
            <a:avLst/>
          </a:prstGeom>
          <a:solidFill>
            <a:schemeClr val="accent1"/>
          </a:solidFill>
          <a:ln w="3175">
            <a:solidFill>
              <a:schemeClr val="accent1"/>
            </a:solidFill>
            <a:prstDash val="solid"/>
          </a:ln>
        </p:spPr>
      </p:sp>
      <p:sp>
        <p:nvSpPr>
          <p:cNvPr id="54" name="Atom 3: electron, shell 3"/>
          <p:cNvSpPr/>
          <p:nvPr/>
        </p:nvSpPr>
        <p:spPr>
          <a:xfrm>
            <a:off x="4468806" y="2275891"/>
            <a:ext cx="80226" cy="80226"/>
          </a:xfrm>
          <a:prstGeom prst="ellipse">
            <a:avLst/>
          </a:prstGeom>
          <a:solidFill>
            <a:schemeClr val="accent1"/>
          </a:solidFill>
          <a:ln w="3175">
            <a:solidFill>
              <a:schemeClr val="accent1"/>
            </a:solidFill>
            <a:prstDash val="solid"/>
          </a:ln>
        </p:spPr>
      </p:sp>
      <p:sp>
        <p:nvSpPr>
          <p:cNvPr id="55" name="Atom 3: electron, shell 3"/>
          <p:cNvSpPr/>
          <p:nvPr/>
        </p:nvSpPr>
        <p:spPr>
          <a:xfrm>
            <a:off x="4576680" y="2275891"/>
            <a:ext cx="80226" cy="80226"/>
          </a:xfrm>
          <a:prstGeom prst="ellipse">
            <a:avLst/>
          </a:prstGeom>
          <a:solidFill>
            <a:schemeClr val="accent1"/>
          </a:solidFill>
          <a:ln w="3175">
            <a:solidFill>
              <a:schemeClr val="accent1"/>
            </a:solidFill>
            <a:prstDash val="solid"/>
          </a:ln>
        </p:spPr>
      </p:sp>
      <p:sp>
        <p:nvSpPr>
          <p:cNvPr id="56" name="Atom 3: electron, shell 3"/>
          <p:cNvSpPr/>
          <p:nvPr/>
        </p:nvSpPr>
        <p:spPr>
          <a:xfrm>
            <a:off x="5087100" y="2786310"/>
            <a:ext cx="80226" cy="80226"/>
          </a:xfrm>
          <a:prstGeom prst="ellipse">
            <a:avLst/>
          </a:prstGeom>
          <a:solidFill>
            <a:schemeClr val="accent1"/>
          </a:solidFill>
          <a:ln w="3175">
            <a:solidFill>
              <a:schemeClr val="accent1"/>
            </a:solidFill>
            <a:prstDash val="solid"/>
          </a:ln>
        </p:spPr>
      </p:sp>
      <p:sp>
        <p:nvSpPr>
          <p:cNvPr id="57" name="Atom 3: electron, shell 3"/>
          <p:cNvSpPr/>
          <p:nvPr/>
        </p:nvSpPr>
        <p:spPr>
          <a:xfrm>
            <a:off x="5087100" y="2894184"/>
            <a:ext cx="80226" cy="80226"/>
          </a:xfrm>
          <a:prstGeom prst="ellipse">
            <a:avLst/>
          </a:prstGeom>
          <a:solidFill>
            <a:schemeClr val="accent1"/>
          </a:solidFill>
          <a:ln w="3175">
            <a:solidFill>
              <a:schemeClr val="accent1"/>
            </a:solidFill>
            <a:prstDash val="solid"/>
          </a:ln>
        </p:spPr>
      </p:sp>
      <p:sp>
        <p:nvSpPr>
          <p:cNvPr id="58" name="Atom 3: electron, shell 3"/>
          <p:cNvSpPr/>
          <p:nvPr/>
        </p:nvSpPr>
        <p:spPr>
          <a:xfrm>
            <a:off x="4576680" y="3404604"/>
            <a:ext cx="80226" cy="80226"/>
          </a:xfrm>
          <a:prstGeom prst="ellipse">
            <a:avLst/>
          </a:prstGeom>
          <a:solidFill>
            <a:schemeClr val="accent1"/>
          </a:solidFill>
          <a:ln w="3175">
            <a:solidFill>
              <a:schemeClr val="accent1"/>
            </a:solidFill>
            <a:prstDash val="solid"/>
          </a:ln>
        </p:spPr>
      </p:sp>
      <p:sp>
        <p:nvSpPr>
          <p:cNvPr id="59" name="Atom 3: electron, shell 3"/>
          <p:cNvSpPr/>
          <p:nvPr/>
        </p:nvSpPr>
        <p:spPr>
          <a:xfrm>
            <a:off x="4468806" y="3404604"/>
            <a:ext cx="80226" cy="80226"/>
          </a:xfrm>
          <a:prstGeom prst="ellipse">
            <a:avLst/>
          </a:prstGeom>
          <a:solidFill>
            <a:schemeClr val="accent1"/>
          </a:solidFill>
          <a:ln w="3175">
            <a:solidFill>
              <a:schemeClr val="accent1"/>
            </a:solidFill>
            <a:prstDash val="solid"/>
          </a:ln>
        </p:spPr>
      </p:sp>
      <p:sp>
        <p:nvSpPr>
          <p:cNvPr id="60" name="Atom 3: electron, shell 3"/>
          <p:cNvSpPr/>
          <p:nvPr/>
        </p:nvSpPr>
        <p:spPr>
          <a:xfrm>
            <a:off x="3958387" y="2894184"/>
            <a:ext cx="80226" cy="80226"/>
          </a:xfrm>
          <a:prstGeom prst="ellipse">
            <a:avLst/>
          </a:prstGeom>
          <a:solidFill>
            <a:schemeClr val="accent1"/>
          </a:solidFill>
          <a:ln w="3175">
            <a:solidFill>
              <a:schemeClr val="accent1"/>
            </a:solidFill>
            <a:prstDash val="solid"/>
          </a:ln>
        </p:spPr>
      </p:sp>
      <p:sp>
        <p:nvSpPr>
          <p:cNvPr id="61" name="Atom 3: electron, shell 3"/>
          <p:cNvSpPr/>
          <p:nvPr/>
        </p:nvSpPr>
        <p:spPr>
          <a:xfrm>
            <a:off x="3958387" y="2786310"/>
            <a:ext cx="80226" cy="80226"/>
          </a:xfrm>
          <a:prstGeom prst="ellipse">
            <a:avLst/>
          </a:prstGeom>
          <a:solidFill>
            <a:schemeClr val="accent1"/>
          </a:solidFill>
          <a:ln w="3175">
            <a:solidFill>
              <a:schemeClr val="accent1"/>
            </a:solidFill>
            <a:prstDash val="solid"/>
          </a:ln>
        </p:spPr>
      </p:sp>
      <p:sp>
        <p:nvSpPr>
          <p:cNvPr id="62" name="Text 60"/>
          <p:cNvSpPr txBox="1"/>
          <p:nvPr/>
        </p:nvSpPr>
        <p:spPr>
          <a:xfrm>
            <a:off x="3785616" y="402336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Which element?</a:t>
            </a:r>
            <a:endParaRPr lang="en-US" sz="1200" dirty="0"/>
          </a:p>
        </p:txBody>
      </p:sp>
      <p:sp>
        <p:nvSpPr>
          <p:cNvPr id="63" name="Atom 4"/>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64" name="Atom 4: shell 1"/>
          <p:cNvSpPr/>
          <p:nvPr/>
        </p:nvSpPr>
        <p:spPr>
          <a:xfrm>
            <a:off x="5970342" y="2623638"/>
            <a:ext cx="513444" cy="513444"/>
          </a:xfrm>
          <a:prstGeom prst="ellipse">
            <a:avLst/>
          </a:prstGeom>
          <a:solidFill>
            <a:schemeClr val="bg1">
              <a:alpha val="0"/>
            </a:schemeClr>
          </a:solidFill>
          <a:ln w="15875">
            <a:solidFill>
              <a:schemeClr val="bg2">
                <a:alpha val="55000"/>
              </a:schemeClr>
            </a:solidFill>
            <a:prstDash val="solid"/>
          </a:ln>
        </p:spPr>
      </p:sp>
      <p:sp>
        <p:nvSpPr>
          <p:cNvPr id="65" name="Atom 4: shell 2"/>
          <p:cNvSpPr/>
          <p:nvPr/>
        </p:nvSpPr>
        <p:spPr>
          <a:xfrm>
            <a:off x="5809891" y="2463187"/>
            <a:ext cx="834347" cy="834347"/>
          </a:xfrm>
          <a:prstGeom prst="ellipse">
            <a:avLst/>
          </a:prstGeom>
          <a:solidFill>
            <a:schemeClr val="bg1">
              <a:alpha val="0"/>
            </a:schemeClr>
          </a:solidFill>
          <a:ln w="15875">
            <a:solidFill>
              <a:schemeClr val="bg2">
                <a:alpha val="55000"/>
              </a:schemeClr>
            </a:solidFill>
            <a:prstDash val="solid"/>
          </a:ln>
        </p:spPr>
      </p:sp>
      <p:sp>
        <p:nvSpPr>
          <p:cNvPr id="66" name="Atom 4: shell 3"/>
          <p:cNvSpPr/>
          <p:nvPr/>
        </p:nvSpPr>
        <p:spPr>
          <a:xfrm>
            <a:off x="5660136" y="2313432"/>
            <a:ext cx="1133856" cy="1133856"/>
          </a:xfrm>
          <a:prstGeom prst="ellipse">
            <a:avLst/>
          </a:prstGeom>
          <a:solidFill>
            <a:schemeClr val="bg1">
              <a:alpha val="0"/>
            </a:schemeClr>
          </a:solidFill>
          <a:ln w="15875">
            <a:solidFill>
              <a:schemeClr val="bg2">
                <a:alpha val="55000"/>
              </a:schemeClr>
            </a:solidFill>
            <a:prstDash val="solid"/>
          </a:ln>
        </p:spPr>
      </p:sp>
      <p:sp>
        <p:nvSpPr>
          <p:cNvPr id="67" name="Atom 4: nucleus"/>
          <p:cNvSpPr/>
          <p:nvPr/>
        </p:nvSpPr>
        <p:spPr>
          <a:xfrm>
            <a:off x="6061264"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68" name="Atom 4: electron, shell 1"/>
          <p:cNvSpPr/>
          <p:nvPr/>
        </p:nvSpPr>
        <p:spPr>
          <a:xfrm>
            <a:off x="6186951" y="2583525"/>
            <a:ext cx="80226" cy="80226"/>
          </a:xfrm>
          <a:prstGeom prst="ellipse">
            <a:avLst/>
          </a:prstGeom>
          <a:solidFill>
            <a:schemeClr val="accent1"/>
          </a:solidFill>
          <a:ln w="3175">
            <a:solidFill>
              <a:schemeClr val="accent1"/>
            </a:solidFill>
            <a:prstDash val="solid"/>
          </a:ln>
        </p:spPr>
      </p:sp>
      <p:sp>
        <p:nvSpPr>
          <p:cNvPr id="69" name="Atom 4: electron, shell 1"/>
          <p:cNvSpPr/>
          <p:nvPr/>
        </p:nvSpPr>
        <p:spPr>
          <a:xfrm>
            <a:off x="6443673" y="2840247"/>
            <a:ext cx="80226" cy="80226"/>
          </a:xfrm>
          <a:prstGeom prst="ellipse">
            <a:avLst/>
          </a:prstGeom>
          <a:solidFill>
            <a:schemeClr val="accent1"/>
          </a:solidFill>
          <a:ln w="3175">
            <a:solidFill>
              <a:schemeClr val="accent1"/>
            </a:solidFill>
            <a:prstDash val="solid"/>
          </a:ln>
        </p:spPr>
      </p:sp>
      <p:sp>
        <p:nvSpPr>
          <p:cNvPr id="70" name="Atom 4: electron, shell 2"/>
          <p:cNvSpPr/>
          <p:nvPr/>
        </p:nvSpPr>
        <p:spPr>
          <a:xfrm>
            <a:off x="6133083" y="2426566"/>
            <a:ext cx="80226" cy="80226"/>
          </a:xfrm>
          <a:prstGeom prst="ellipse">
            <a:avLst/>
          </a:prstGeom>
          <a:solidFill>
            <a:schemeClr val="accent1"/>
          </a:solidFill>
          <a:ln w="3175">
            <a:solidFill>
              <a:schemeClr val="accent1"/>
            </a:solidFill>
            <a:prstDash val="solid"/>
          </a:ln>
        </p:spPr>
      </p:sp>
      <p:sp>
        <p:nvSpPr>
          <p:cNvPr id="71" name="Atom 4: electron, shell 2"/>
          <p:cNvSpPr/>
          <p:nvPr/>
        </p:nvSpPr>
        <p:spPr>
          <a:xfrm>
            <a:off x="6240819" y="2426566"/>
            <a:ext cx="80226" cy="80226"/>
          </a:xfrm>
          <a:prstGeom prst="ellipse">
            <a:avLst/>
          </a:prstGeom>
          <a:solidFill>
            <a:schemeClr val="accent1"/>
          </a:solidFill>
          <a:ln w="3175">
            <a:solidFill>
              <a:schemeClr val="accent1"/>
            </a:solidFill>
            <a:prstDash val="solid"/>
          </a:ln>
        </p:spPr>
      </p:sp>
      <p:sp>
        <p:nvSpPr>
          <p:cNvPr id="72" name="Atom 4: electron, shell 2"/>
          <p:cNvSpPr/>
          <p:nvPr/>
        </p:nvSpPr>
        <p:spPr>
          <a:xfrm>
            <a:off x="6600632" y="2786379"/>
            <a:ext cx="80226" cy="80226"/>
          </a:xfrm>
          <a:prstGeom prst="ellipse">
            <a:avLst/>
          </a:prstGeom>
          <a:solidFill>
            <a:schemeClr val="accent1"/>
          </a:solidFill>
          <a:ln w="3175">
            <a:solidFill>
              <a:schemeClr val="accent1"/>
            </a:solidFill>
            <a:prstDash val="solid"/>
          </a:ln>
        </p:spPr>
      </p:sp>
      <p:sp>
        <p:nvSpPr>
          <p:cNvPr id="73" name="Atom 4: electron, shell 2"/>
          <p:cNvSpPr/>
          <p:nvPr/>
        </p:nvSpPr>
        <p:spPr>
          <a:xfrm>
            <a:off x="6600632" y="2894115"/>
            <a:ext cx="80226" cy="80226"/>
          </a:xfrm>
          <a:prstGeom prst="ellipse">
            <a:avLst/>
          </a:prstGeom>
          <a:solidFill>
            <a:schemeClr val="accent1"/>
          </a:solidFill>
          <a:ln w="3175">
            <a:solidFill>
              <a:schemeClr val="accent1"/>
            </a:solidFill>
            <a:prstDash val="solid"/>
          </a:ln>
        </p:spPr>
      </p:sp>
      <p:sp>
        <p:nvSpPr>
          <p:cNvPr id="74" name="Atom 4: electron, shell 2"/>
          <p:cNvSpPr/>
          <p:nvPr/>
        </p:nvSpPr>
        <p:spPr>
          <a:xfrm>
            <a:off x="6240819" y="3253928"/>
            <a:ext cx="80226" cy="80226"/>
          </a:xfrm>
          <a:prstGeom prst="ellipse">
            <a:avLst/>
          </a:prstGeom>
          <a:solidFill>
            <a:schemeClr val="accent1"/>
          </a:solidFill>
          <a:ln w="3175">
            <a:solidFill>
              <a:schemeClr val="accent1"/>
            </a:solidFill>
            <a:prstDash val="solid"/>
          </a:ln>
        </p:spPr>
      </p:sp>
      <p:sp>
        <p:nvSpPr>
          <p:cNvPr id="75" name="Atom 4: electron, shell 2"/>
          <p:cNvSpPr/>
          <p:nvPr/>
        </p:nvSpPr>
        <p:spPr>
          <a:xfrm>
            <a:off x="6133083" y="3253928"/>
            <a:ext cx="80226" cy="80226"/>
          </a:xfrm>
          <a:prstGeom prst="ellipse">
            <a:avLst/>
          </a:prstGeom>
          <a:solidFill>
            <a:schemeClr val="accent1"/>
          </a:solidFill>
          <a:ln w="3175">
            <a:solidFill>
              <a:schemeClr val="accent1"/>
            </a:solidFill>
            <a:prstDash val="solid"/>
          </a:ln>
        </p:spPr>
      </p:sp>
      <p:sp>
        <p:nvSpPr>
          <p:cNvPr id="76" name="Atom 4: electron, shell 2"/>
          <p:cNvSpPr/>
          <p:nvPr/>
        </p:nvSpPr>
        <p:spPr>
          <a:xfrm>
            <a:off x="5773270" y="2894115"/>
            <a:ext cx="80226" cy="80226"/>
          </a:xfrm>
          <a:prstGeom prst="ellipse">
            <a:avLst/>
          </a:prstGeom>
          <a:solidFill>
            <a:schemeClr val="accent1"/>
          </a:solidFill>
          <a:ln w="3175">
            <a:solidFill>
              <a:schemeClr val="accent1"/>
            </a:solidFill>
            <a:prstDash val="solid"/>
          </a:ln>
        </p:spPr>
      </p:sp>
      <p:sp>
        <p:nvSpPr>
          <p:cNvPr id="77" name="Atom 4: electron, shell 2"/>
          <p:cNvSpPr/>
          <p:nvPr/>
        </p:nvSpPr>
        <p:spPr>
          <a:xfrm>
            <a:off x="5773270" y="2786379"/>
            <a:ext cx="80226" cy="80226"/>
          </a:xfrm>
          <a:prstGeom prst="ellipse">
            <a:avLst/>
          </a:prstGeom>
          <a:solidFill>
            <a:schemeClr val="accent1"/>
          </a:solidFill>
          <a:ln w="3175">
            <a:solidFill>
              <a:schemeClr val="accent1"/>
            </a:solidFill>
            <a:prstDash val="solid"/>
          </a:ln>
        </p:spPr>
      </p:sp>
      <p:sp>
        <p:nvSpPr>
          <p:cNvPr id="78" name="Atom 4: electron, shell 3"/>
          <p:cNvSpPr/>
          <p:nvPr/>
        </p:nvSpPr>
        <p:spPr>
          <a:xfrm>
            <a:off x="6186951" y="2273319"/>
            <a:ext cx="80226" cy="80226"/>
          </a:xfrm>
          <a:prstGeom prst="ellipse">
            <a:avLst/>
          </a:prstGeom>
          <a:solidFill>
            <a:schemeClr val="accent1"/>
          </a:solidFill>
          <a:ln w="3175">
            <a:solidFill>
              <a:schemeClr val="accent1"/>
            </a:solidFill>
            <a:prstDash val="solid"/>
          </a:ln>
        </p:spPr>
      </p:sp>
      <p:sp>
        <p:nvSpPr>
          <p:cNvPr id="79" name="Atom 4: electron, shell 3"/>
          <p:cNvSpPr/>
          <p:nvPr/>
        </p:nvSpPr>
        <p:spPr>
          <a:xfrm>
            <a:off x="6753879" y="2840247"/>
            <a:ext cx="80226" cy="80226"/>
          </a:xfrm>
          <a:prstGeom prst="ellipse">
            <a:avLst/>
          </a:prstGeom>
          <a:solidFill>
            <a:schemeClr val="accent1"/>
          </a:solidFill>
          <a:ln w="3175">
            <a:solidFill>
              <a:schemeClr val="accent1"/>
            </a:solidFill>
            <a:prstDash val="solid"/>
          </a:ln>
        </p:spPr>
      </p:sp>
      <p:sp>
        <p:nvSpPr>
          <p:cNvPr id="80" name="Text 78"/>
          <p:cNvSpPr txBox="1"/>
          <p:nvPr/>
        </p:nvSpPr>
        <p:spPr>
          <a:xfrm>
            <a:off x="5449824" y="402336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Which element?</a:t>
            </a:r>
            <a:endParaRPr lang="en-US" sz="1200" dirty="0"/>
          </a:p>
        </p:txBody>
      </p:sp>
      <p:sp>
        <p:nvSpPr>
          <p:cNvPr id="81" name="Atom 5"/>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82" name="Atom 5: shell 1"/>
          <p:cNvSpPr/>
          <p:nvPr/>
        </p:nvSpPr>
        <p:spPr>
          <a:xfrm>
            <a:off x="7634550" y="2623638"/>
            <a:ext cx="513444" cy="513444"/>
          </a:xfrm>
          <a:prstGeom prst="ellipse">
            <a:avLst/>
          </a:prstGeom>
          <a:solidFill>
            <a:schemeClr val="bg1">
              <a:alpha val="0"/>
            </a:schemeClr>
          </a:solidFill>
          <a:ln w="15875">
            <a:solidFill>
              <a:schemeClr val="bg2">
                <a:alpha val="55000"/>
              </a:schemeClr>
            </a:solidFill>
            <a:prstDash val="solid"/>
          </a:ln>
        </p:spPr>
      </p:sp>
      <p:sp>
        <p:nvSpPr>
          <p:cNvPr id="83" name="Atom 5: shell 2"/>
          <p:cNvSpPr/>
          <p:nvPr/>
        </p:nvSpPr>
        <p:spPr>
          <a:xfrm>
            <a:off x="7474099" y="2463187"/>
            <a:ext cx="834347" cy="834347"/>
          </a:xfrm>
          <a:prstGeom prst="ellipse">
            <a:avLst/>
          </a:prstGeom>
          <a:solidFill>
            <a:schemeClr val="bg1">
              <a:alpha val="0"/>
            </a:schemeClr>
          </a:solidFill>
          <a:ln w="15875">
            <a:solidFill>
              <a:schemeClr val="bg2">
                <a:alpha val="55000"/>
              </a:schemeClr>
            </a:solidFill>
            <a:prstDash val="solid"/>
          </a:ln>
        </p:spPr>
      </p:sp>
      <p:sp>
        <p:nvSpPr>
          <p:cNvPr id="84" name="Atom 5: shell 3"/>
          <p:cNvSpPr/>
          <p:nvPr/>
        </p:nvSpPr>
        <p:spPr>
          <a:xfrm>
            <a:off x="7324344" y="2313432"/>
            <a:ext cx="1133856" cy="1133856"/>
          </a:xfrm>
          <a:prstGeom prst="ellipse">
            <a:avLst/>
          </a:prstGeom>
          <a:solidFill>
            <a:schemeClr val="bg1">
              <a:alpha val="0"/>
            </a:schemeClr>
          </a:solidFill>
          <a:ln w="15875">
            <a:solidFill>
              <a:schemeClr val="bg2">
                <a:alpha val="55000"/>
              </a:schemeClr>
            </a:solidFill>
            <a:prstDash val="solid"/>
          </a:ln>
        </p:spPr>
      </p:sp>
      <p:sp>
        <p:nvSpPr>
          <p:cNvPr id="85" name="Atom 5: nucleus"/>
          <p:cNvSpPr/>
          <p:nvPr/>
        </p:nvSpPr>
        <p:spPr>
          <a:xfrm>
            <a:off x="7725472"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86" name="Atom 5: electron, shell 1"/>
          <p:cNvSpPr/>
          <p:nvPr/>
        </p:nvSpPr>
        <p:spPr>
          <a:xfrm>
            <a:off x="7851159" y="2583525"/>
            <a:ext cx="80226" cy="80226"/>
          </a:xfrm>
          <a:prstGeom prst="ellipse">
            <a:avLst/>
          </a:prstGeom>
          <a:solidFill>
            <a:schemeClr val="accent1"/>
          </a:solidFill>
          <a:ln w="3175">
            <a:solidFill>
              <a:schemeClr val="accent1"/>
            </a:solidFill>
            <a:prstDash val="solid"/>
          </a:ln>
        </p:spPr>
      </p:sp>
      <p:sp>
        <p:nvSpPr>
          <p:cNvPr id="87" name="Atom 5: electron, shell 1"/>
          <p:cNvSpPr/>
          <p:nvPr/>
        </p:nvSpPr>
        <p:spPr>
          <a:xfrm>
            <a:off x="8107881" y="2840247"/>
            <a:ext cx="80226" cy="80226"/>
          </a:xfrm>
          <a:prstGeom prst="ellipse">
            <a:avLst/>
          </a:prstGeom>
          <a:solidFill>
            <a:schemeClr val="accent1"/>
          </a:solidFill>
          <a:ln w="3175">
            <a:solidFill>
              <a:schemeClr val="accent1"/>
            </a:solidFill>
            <a:prstDash val="solid"/>
          </a:ln>
        </p:spPr>
      </p:sp>
      <p:sp>
        <p:nvSpPr>
          <p:cNvPr id="88" name="Atom 5: electron, shell 2"/>
          <p:cNvSpPr/>
          <p:nvPr/>
        </p:nvSpPr>
        <p:spPr>
          <a:xfrm>
            <a:off x="7797291" y="2426566"/>
            <a:ext cx="80226" cy="80226"/>
          </a:xfrm>
          <a:prstGeom prst="ellipse">
            <a:avLst/>
          </a:prstGeom>
          <a:solidFill>
            <a:schemeClr val="accent1"/>
          </a:solidFill>
          <a:ln w="3175">
            <a:solidFill>
              <a:schemeClr val="accent1"/>
            </a:solidFill>
            <a:prstDash val="solid"/>
          </a:ln>
        </p:spPr>
      </p:sp>
      <p:sp>
        <p:nvSpPr>
          <p:cNvPr id="89" name="Atom 5: electron, shell 2"/>
          <p:cNvSpPr/>
          <p:nvPr/>
        </p:nvSpPr>
        <p:spPr>
          <a:xfrm>
            <a:off x="7905027" y="2426566"/>
            <a:ext cx="80226" cy="80226"/>
          </a:xfrm>
          <a:prstGeom prst="ellipse">
            <a:avLst/>
          </a:prstGeom>
          <a:solidFill>
            <a:schemeClr val="accent1"/>
          </a:solidFill>
          <a:ln w="3175">
            <a:solidFill>
              <a:schemeClr val="accent1"/>
            </a:solidFill>
            <a:prstDash val="solid"/>
          </a:ln>
        </p:spPr>
      </p:sp>
      <p:sp>
        <p:nvSpPr>
          <p:cNvPr id="90" name="Atom 5: electron, shell 2"/>
          <p:cNvSpPr/>
          <p:nvPr/>
        </p:nvSpPr>
        <p:spPr>
          <a:xfrm>
            <a:off x="8264840" y="2786379"/>
            <a:ext cx="80226" cy="80226"/>
          </a:xfrm>
          <a:prstGeom prst="ellipse">
            <a:avLst/>
          </a:prstGeom>
          <a:solidFill>
            <a:schemeClr val="accent1"/>
          </a:solidFill>
          <a:ln w="3175">
            <a:solidFill>
              <a:schemeClr val="accent1"/>
            </a:solidFill>
            <a:prstDash val="solid"/>
          </a:ln>
        </p:spPr>
      </p:sp>
      <p:sp>
        <p:nvSpPr>
          <p:cNvPr id="91" name="Atom 5: electron, shell 2"/>
          <p:cNvSpPr/>
          <p:nvPr/>
        </p:nvSpPr>
        <p:spPr>
          <a:xfrm>
            <a:off x="8264840" y="2894115"/>
            <a:ext cx="80226" cy="80226"/>
          </a:xfrm>
          <a:prstGeom prst="ellipse">
            <a:avLst/>
          </a:prstGeom>
          <a:solidFill>
            <a:schemeClr val="accent1"/>
          </a:solidFill>
          <a:ln w="3175">
            <a:solidFill>
              <a:schemeClr val="accent1"/>
            </a:solidFill>
            <a:prstDash val="solid"/>
          </a:ln>
        </p:spPr>
      </p:sp>
      <p:sp>
        <p:nvSpPr>
          <p:cNvPr id="92" name="Atom 5: electron, shell 2"/>
          <p:cNvSpPr/>
          <p:nvPr/>
        </p:nvSpPr>
        <p:spPr>
          <a:xfrm>
            <a:off x="7905027" y="3253928"/>
            <a:ext cx="80226" cy="80226"/>
          </a:xfrm>
          <a:prstGeom prst="ellipse">
            <a:avLst/>
          </a:prstGeom>
          <a:solidFill>
            <a:schemeClr val="accent1"/>
          </a:solidFill>
          <a:ln w="3175">
            <a:solidFill>
              <a:schemeClr val="accent1"/>
            </a:solidFill>
            <a:prstDash val="solid"/>
          </a:ln>
        </p:spPr>
      </p:sp>
      <p:sp>
        <p:nvSpPr>
          <p:cNvPr id="93" name="Atom 5: electron, shell 2"/>
          <p:cNvSpPr/>
          <p:nvPr/>
        </p:nvSpPr>
        <p:spPr>
          <a:xfrm>
            <a:off x="7797291" y="3253928"/>
            <a:ext cx="80226" cy="80226"/>
          </a:xfrm>
          <a:prstGeom prst="ellipse">
            <a:avLst/>
          </a:prstGeom>
          <a:solidFill>
            <a:schemeClr val="accent1"/>
          </a:solidFill>
          <a:ln w="3175">
            <a:solidFill>
              <a:schemeClr val="accent1"/>
            </a:solidFill>
            <a:prstDash val="solid"/>
          </a:ln>
        </p:spPr>
      </p:sp>
      <p:sp>
        <p:nvSpPr>
          <p:cNvPr id="94" name="Atom 5: electron, shell 2"/>
          <p:cNvSpPr/>
          <p:nvPr/>
        </p:nvSpPr>
        <p:spPr>
          <a:xfrm>
            <a:off x="7437478" y="2894115"/>
            <a:ext cx="80226" cy="80226"/>
          </a:xfrm>
          <a:prstGeom prst="ellipse">
            <a:avLst/>
          </a:prstGeom>
          <a:solidFill>
            <a:schemeClr val="accent1"/>
          </a:solidFill>
          <a:ln w="3175">
            <a:solidFill>
              <a:schemeClr val="accent1"/>
            </a:solidFill>
            <a:prstDash val="solid"/>
          </a:ln>
        </p:spPr>
      </p:sp>
      <p:sp>
        <p:nvSpPr>
          <p:cNvPr id="95" name="Atom 5: electron, shell 2"/>
          <p:cNvSpPr/>
          <p:nvPr/>
        </p:nvSpPr>
        <p:spPr>
          <a:xfrm>
            <a:off x="7437478" y="2786379"/>
            <a:ext cx="80226" cy="80226"/>
          </a:xfrm>
          <a:prstGeom prst="ellipse">
            <a:avLst/>
          </a:prstGeom>
          <a:solidFill>
            <a:schemeClr val="accent1"/>
          </a:solidFill>
          <a:ln w="3175">
            <a:solidFill>
              <a:schemeClr val="accent1"/>
            </a:solidFill>
            <a:prstDash val="solid"/>
          </a:ln>
        </p:spPr>
      </p:sp>
      <p:sp>
        <p:nvSpPr>
          <p:cNvPr id="96" name="Atom 5: electron, shell 3"/>
          <p:cNvSpPr/>
          <p:nvPr/>
        </p:nvSpPr>
        <p:spPr>
          <a:xfrm>
            <a:off x="7851159" y="2273319"/>
            <a:ext cx="80226" cy="80226"/>
          </a:xfrm>
          <a:prstGeom prst="ellipse">
            <a:avLst/>
          </a:prstGeom>
          <a:solidFill>
            <a:schemeClr val="accent1"/>
          </a:solidFill>
          <a:ln w="3175">
            <a:solidFill>
              <a:schemeClr val="accent1"/>
            </a:solidFill>
            <a:prstDash val="solid"/>
          </a:ln>
        </p:spPr>
      </p:sp>
      <p:sp>
        <p:nvSpPr>
          <p:cNvPr id="97" name="Atom 5: electron, shell 3"/>
          <p:cNvSpPr/>
          <p:nvPr/>
        </p:nvSpPr>
        <p:spPr>
          <a:xfrm>
            <a:off x="8418087" y="2840247"/>
            <a:ext cx="80226" cy="80226"/>
          </a:xfrm>
          <a:prstGeom prst="ellipse">
            <a:avLst/>
          </a:prstGeom>
          <a:solidFill>
            <a:schemeClr val="accent1"/>
          </a:solidFill>
          <a:ln w="3175">
            <a:solidFill>
              <a:schemeClr val="accent1"/>
            </a:solidFill>
            <a:prstDash val="solid"/>
          </a:ln>
        </p:spPr>
      </p:sp>
      <p:sp>
        <p:nvSpPr>
          <p:cNvPr id="98" name="Atom 5: electron, shell 3"/>
          <p:cNvSpPr/>
          <p:nvPr/>
        </p:nvSpPr>
        <p:spPr>
          <a:xfrm>
            <a:off x="7851159" y="3407175"/>
            <a:ext cx="80226" cy="80226"/>
          </a:xfrm>
          <a:prstGeom prst="ellipse">
            <a:avLst/>
          </a:prstGeom>
          <a:solidFill>
            <a:schemeClr val="accent1"/>
          </a:solidFill>
          <a:ln w="3175">
            <a:solidFill>
              <a:schemeClr val="accent1"/>
            </a:solidFill>
            <a:prstDash val="solid"/>
          </a:ln>
        </p:spPr>
      </p:sp>
      <p:sp>
        <p:nvSpPr>
          <p:cNvPr id="99" name="Atom 5: electron, shell 3"/>
          <p:cNvSpPr/>
          <p:nvPr/>
        </p:nvSpPr>
        <p:spPr>
          <a:xfrm>
            <a:off x="7284231" y="2840247"/>
            <a:ext cx="80226" cy="80226"/>
          </a:xfrm>
          <a:prstGeom prst="ellipse">
            <a:avLst/>
          </a:prstGeom>
          <a:solidFill>
            <a:schemeClr val="accent1"/>
          </a:solidFill>
          <a:ln w="3175">
            <a:solidFill>
              <a:schemeClr val="accent1"/>
            </a:solidFill>
            <a:prstDash val="solid"/>
          </a:ln>
        </p:spPr>
      </p:sp>
      <p:sp>
        <p:nvSpPr>
          <p:cNvPr id="100" name="Text 98"/>
          <p:cNvSpPr txBox="1"/>
          <p:nvPr/>
        </p:nvSpPr>
        <p:spPr>
          <a:xfrm>
            <a:off x="7114032" y="4023360"/>
            <a:ext cx="1554480" cy="320040"/>
          </a:xfrm>
          <a:prstGeom prst="rect">
            <a:avLst/>
          </a:prstGeom>
          <a:noFill/>
          <a:ln/>
        </p:spPr>
        <p:txBody>
          <a:bodyPr wrap="square" lIns="0" tIns="0" rIns="0" bIns="0" rtlCol="0" anchor="t"/>
          <a:lstStyle/>
          <a:p>
            <a:pPr algn="ctr" indent="0" marL="0">
              <a:buNone/>
            </a:pPr>
            <a:r>
              <a:rPr lang="en-US" sz="1200" dirty="0">
                <a:solidFill>
                  <a:schemeClr val="bg2"/>
                </a:solidFill>
              </a:rPr>
              <a:t>Which element?</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Name that atom</a:t>
            </a:r>
            <a:endParaRPr lang="en-US" sz="2800" dirty="0"/>
          </a:p>
        </p:txBody>
      </p:sp>
      <p:sp>
        <p:nvSpPr>
          <p:cNvPr id="9" name="Text 7"/>
          <p:cNvSpPr txBox="1"/>
          <p:nvPr/>
        </p:nvSpPr>
        <p:spPr>
          <a:xfrm>
            <a:off x="457200" y="1280160"/>
            <a:ext cx="8229600" cy="411480"/>
          </a:xfrm>
          <a:prstGeom prst="rect">
            <a:avLst/>
          </a:prstGeom>
          <a:noFill/>
          <a:ln/>
        </p:spPr>
        <p:txBody>
          <a:bodyPr wrap="square" lIns="0" tIns="0" rIns="0" bIns="0" rtlCol="0" anchor="t"/>
          <a:lstStyle/>
          <a:p>
            <a:pPr indent="0" marL="0">
              <a:buNone/>
            </a:pPr>
            <a:r>
              <a:rPr lang="en-US" sz="1300" dirty="0">
                <a:solidFill>
                  <a:schemeClr val="bg2"/>
                </a:solidFill>
              </a:rPr>
              <a:t>The nucleus is hidden. Count the electrons, then tap the matching element. (The lesson picks random atoms; here are five to try together.)</a:t>
            </a:r>
            <a:endParaRPr lang="en-US" sz="1300" dirty="0"/>
          </a:p>
        </p:txBody>
      </p:sp>
      <p:sp>
        <p:nvSpPr>
          <p:cNvPr id="10" name="Atom 1"/>
          <p:cNvSpPr/>
          <p:nvPr/>
        </p:nvSpPr>
        <p:spPr>
          <a:xfrm>
            <a:off x="457200"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11" name="Atom 1: shell 1"/>
          <p:cNvSpPr/>
          <p:nvPr/>
        </p:nvSpPr>
        <p:spPr>
          <a:xfrm>
            <a:off x="927202" y="2573122"/>
            <a:ext cx="614477" cy="614477"/>
          </a:xfrm>
          <a:prstGeom prst="ellipse">
            <a:avLst/>
          </a:prstGeom>
          <a:solidFill>
            <a:schemeClr val="bg1">
              <a:alpha val="0"/>
            </a:schemeClr>
          </a:solidFill>
          <a:ln w="15875">
            <a:solidFill>
              <a:schemeClr val="bg2">
                <a:alpha val="55000"/>
              </a:schemeClr>
            </a:solidFill>
            <a:prstDash val="solid"/>
          </a:ln>
        </p:spPr>
      </p:sp>
      <p:sp>
        <p:nvSpPr>
          <p:cNvPr id="12" name="Atom 1: shell 2"/>
          <p:cNvSpPr/>
          <p:nvPr/>
        </p:nvSpPr>
        <p:spPr>
          <a:xfrm>
            <a:off x="735178" y="2381098"/>
            <a:ext cx="998525" cy="998525"/>
          </a:xfrm>
          <a:prstGeom prst="ellipse">
            <a:avLst/>
          </a:prstGeom>
          <a:solidFill>
            <a:schemeClr val="bg1">
              <a:alpha val="0"/>
            </a:schemeClr>
          </a:solidFill>
          <a:ln w="15875">
            <a:solidFill>
              <a:schemeClr val="bg2">
                <a:alpha val="55000"/>
              </a:schemeClr>
            </a:solidFill>
            <a:prstDash val="solid"/>
          </a:ln>
        </p:spPr>
      </p:sp>
      <p:sp>
        <p:nvSpPr>
          <p:cNvPr id="13" name="Atom 1: nucleus"/>
          <p:cNvSpPr/>
          <p:nvPr/>
        </p:nvSpPr>
        <p:spPr>
          <a:xfrm>
            <a:off x="1036015" y="2681935"/>
            <a:ext cx="396850" cy="39685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14" name="Atom 1: electron, shell 1"/>
          <p:cNvSpPr/>
          <p:nvPr/>
        </p:nvSpPr>
        <p:spPr>
          <a:xfrm>
            <a:off x="1186434" y="2525116"/>
            <a:ext cx="96012" cy="96012"/>
          </a:xfrm>
          <a:prstGeom prst="ellipse">
            <a:avLst/>
          </a:prstGeom>
          <a:solidFill>
            <a:schemeClr val="accent1"/>
          </a:solidFill>
          <a:ln w="3175">
            <a:solidFill>
              <a:schemeClr val="accent1"/>
            </a:solidFill>
            <a:prstDash val="solid"/>
          </a:ln>
        </p:spPr>
      </p:sp>
      <p:sp>
        <p:nvSpPr>
          <p:cNvPr id="15" name="Atom 1: electron, shell 1"/>
          <p:cNvSpPr/>
          <p:nvPr/>
        </p:nvSpPr>
        <p:spPr>
          <a:xfrm>
            <a:off x="1493672" y="2832354"/>
            <a:ext cx="96012" cy="96012"/>
          </a:xfrm>
          <a:prstGeom prst="ellipse">
            <a:avLst/>
          </a:prstGeom>
          <a:solidFill>
            <a:schemeClr val="accent1"/>
          </a:solidFill>
          <a:ln w="3175">
            <a:solidFill>
              <a:schemeClr val="accent1"/>
            </a:solidFill>
            <a:prstDash val="solid"/>
          </a:ln>
        </p:spPr>
      </p:sp>
      <p:sp>
        <p:nvSpPr>
          <p:cNvPr id="16" name="Atom 1: electron, shell 2"/>
          <p:cNvSpPr/>
          <p:nvPr/>
        </p:nvSpPr>
        <p:spPr>
          <a:xfrm>
            <a:off x="1121966" y="2337271"/>
            <a:ext cx="96012" cy="96012"/>
          </a:xfrm>
          <a:prstGeom prst="ellipse">
            <a:avLst/>
          </a:prstGeom>
          <a:solidFill>
            <a:schemeClr val="accent1"/>
          </a:solidFill>
          <a:ln w="3175">
            <a:solidFill>
              <a:schemeClr val="accent1"/>
            </a:solidFill>
            <a:prstDash val="solid"/>
          </a:ln>
        </p:spPr>
      </p:sp>
      <p:sp>
        <p:nvSpPr>
          <p:cNvPr id="17" name="Atom 1: electron, shell 2"/>
          <p:cNvSpPr/>
          <p:nvPr/>
        </p:nvSpPr>
        <p:spPr>
          <a:xfrm>
            <a:off x="1250902" y="2337271"/>
            <a:ext cx="96012" cy="96012"/>
          </a:xfrm>
          <a:prstGeom prst="ellipse">
            <a:avLst/>
          </a:prstGeom>
          <a:solidFill>
            <a:schemeClr val="accent1"/>
          </a:solidFill>
          <a:ln w="3175">
            <a:solidFill>
              <a:schemeClr val="accent1"/>
            </a:solidFill>
            <a:prstDash val="solid"/>
          </a:ln>
        </p:spPr>
      </p:sp>
      <p:sp>
        <p:nvSpPr>
          <p:cNvPr id="18" name="Atom 1: electron, shell 2"/>
          <p:cNvSpPr/>
          <p:nvPr/>
        </p:nvSpPr>
        <p:spPr>
          <a:xfrm>
            <a:off x="1681517" y="2767886"/>
            <a:ext cx="96012" cy="96012"/>
          </a:xfrm>
          <a:prstGeom prst="ellipse">
            <a:avLst/>
          </a:prstGeom>
          <a:solidFill>
            <a:schemeClr val="accent1"/>
          </a:solidFill>
          <a:ln w="3175">
            <a:solidFill>
              <a:schemeClr val="accent1"/>
            </a:solidFill>
            <a:prstDash val="solid"/>
          </a:ln>
        </p:spPr>
      </p:sp>
      <p:sp>
        <p:nvSpPr>
          <p:cNvPr id="19" name="Atom 1: electron, shell 2"/>
          <p:cNvSpPr/>
          <p:nvPr/>
        </p:nvSpPr>
        <p:spPr>
          <a:xfrm>
            <a:off x="1681517" y="2896822"/>
            <a:ext cx="96012" cy="96012"/>
          </a:xfrm>
          <a:prstGeom prst="ellipse">
            <a:avLst/>
          </a:prstGeom>
          <a:solidFill>
            <a:schemeClr val="accent1"/>
          </a:solidFill>
          <a:ln w="3175">
            <a:solidFill>
              <a:schemeClr val="accent1"/>
            </a:solidFill>
            <a:prstDash val="solid"/>
          </a:ln>
        </p:spPr>
      </p:sp>
      <p:sp>
        <p:nvSpPr>
          <p:cNvPr id="20" name="Atom 1: electron, shell 2"/>
          <p:cNvSpPr/>
          <p:nvPr/>
        </p:nvSpPr>
        <p:spPr>
          <a:xfrm>
            <a:off x="1186434" y="3331616"/>
            <a:ext cx="96012" cy="96012"/>
          </a:xfrm>
          <a:prstGeom prst="ellipse">
            <a:avLst/>
          </a:prstGeom>
          <a:solidFill>
            <a:schemeClr val="accent1"/>
          </a:solidFill>
          <a:ln w="3175">
            <a:solidFill>
              <a:schemeClr val="accent1"/>
            </a:solidFill>
            <a:prstDash val="solid"/>
          </a:ln>
        </p:spPr>
      </p:sp>
      <p:sp>
        <p:nvSpPr>
          <p:cNvPr id="21" name="Atom 1: electron, shell 2"/>
          <p:cNvSpPr/>
          <p:nvPr/>
        </p:nvSpPr>
        <p:spPr>
          <a:xfrm>
            <a:off x="687172" y="2832354"/>
            <a:ext cx="96012" cy="96012"/>
          </a:xfrm>
          <a:prstGeom prst="ellipse">
            <a:avLst/>
          </a:prstGeom>
          <a:solidFill>
            <a:schemeClr val="accent1"/>
          </a:solidFill>
          <a:ln w="3175">
            <a:solidFill>
              <a:schemeClr val="accent1"/>
            </a:solidFill>
            <a:prstDash val="solid"/>
          </a:ln>
        </p:spPr>
      </p:sp>
      <p:sp>
        <p:nvSpPr>
          <p:cNvPr id="22" name="Text 20"/>
          <p:cNvSpPr txBox="1"/>
          <p:nvPr/>
        </p:nvSpPr>
        <p:spPr>
          <a:xfrm>
            <a:off x="502920" y="388620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Oxygen</a:t>
            </a:r>
            <a:endParaRPr lang="en-US" sz="1200" dirty="0"/>
          </a:p>
          <a:p>
            <a:pPr algn="ctr" indent="0" marL="0">
              <a:buNone/>
            </a:pPr>
            <a:r>
              <a:rPr lang="en-US" sz="1200" dirty="0">
                <a:solidFill>
                  <a:schemeClr val="bg1"/>
                </a:solidFill>
              </a:rPr>
              <a:t>2 + 6 = 8</a:t>
            </a:r>
            <a:endParaRPr lang="en-US" sz="1200" dirty="0"/>
          </a:p>
        </p:txBody>
      </p:sp>
      <p:sp>
        <p:nvSpPr>
          <p:cNvPr id="23" name="Atom 2"/>
          <p:cNvSpPr/>
          <p:nvPr/>
        </p:nvSpPr>
        <p:spPr>
          <a:xfrm>
            <a:off x="2121408"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24" name="Atom 2: shell 1"/>
          <p:cNvSpPr/>
          <p:nvPr/>
        </p:nvSpPr>
        <p:spPr>
          <a:xfrm>
            <a:off x="2641926" y="2623638"/>
            <a:ext cx="513444" cy="513444"/>
          </a:xfrm>
          <a:prstGeom prst="ellipse">
            <a:avLst/>
          </a:prstGeom>
          <a:solidFill>
            <a:schemeClr val="bg1">
              <a:alpha val="0"/>
            </a:schemeClr>
          </a:solidFill>
          <a:ln w="15875">
            <a:solidFill>
              <a:schemeClr val="bg2">
                <a:alpha val="55000"/>
              </a:schemeClr>
            </a:solidFill>
            <a:prstDash val="solid"/>
          </a:ln>
        </p:spPr>
      </p:sp>
      <p:sp>
        <p:nvSpPr>
          <p:cNvPr id="25" name="Atom 2: shell 2"/>
          <p:cNvSpPr/>
          <p:nvPr/>
        </p:nvSpPr>
        <p:spPr>
          <a:xfrm>
            <a:off x="2481475" y="2463187"/>
            <a:ext cx="834347" cy="834347"/>
          </a:xfrm>
          <a:prstGeom prst="ellipse">
            <a:avLst/>
          </a:prstGeom>
          <a:solidFill>
            <a:schemeClr val="bg1">
              <a:alpha val="0"/>
            </a:schemeClr>
          </a:solidFill>
          <a:ln w="15875">
            <a:solidFill>
              <a:schemeClr val="bg2">
                <a:alpha val="55000"/>
              </a:schemeClr>
            </a:solidFill>
            <a:prstDash val="solid"/>
          </a:ln>
        </p:spPr>
      </p:sp>
      <p:sp>
        <p:nvSpPr>
          <p:cNvPr id="26" name="Atom 2: shell 3"/>
          <p:cNvSpPr/>
          <p:nvPr/>
        </p:nvSpPr>
        <p:spPr>
          <a:xfrm>
            <a:off x="2331720" y="2313432"/>
            <a:ext cx="1133856" cy="1133856"/>
          </a:xfrm>
          <a:prstGeom prst="ellipse">
            <a:avLst/>
          </a:prstGeom>
          <a:solidFill>
            <a:schemeClr val="bg1">
              <a:alpha val="0"/>
            </a:schemeClr>
          </a:solidFill>
          <a:ln w="15875">
            <a:solidFill>
              <a:schemeClr val="bg2">
                <a:alpha val="55000"/>
              </a:schemeClr>
            </a:solidFill>
            <a:prstDash val="solid"/>
          </a:ln>
        </p:spPr>
      </p:sp>
      <p:sp>
        <p:nvSpPr>
          <p:cNvPr id="27" name="Atom 2: nucleus"/>
          <p:cNvSpPr/>
          <p:nvPr/>
        </p:nvSpPr>
        <p:spPr>
          <a:xfrm>
            <a:off x="2732848"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28" name="Atom 2: electron, shell 1"/>
          <p:cNvSpPr/>
          <p:nvPr/>
        </p:nvSpPr>
        <p:spPr>
          <a:xfrm>
            <a:off x="2858535" y="2583525"/>
            <a:ext cx="80226" cy="80226"/>
          </a:xfrm>
          <a:prstGeom prst="ellipse">
            <a:avLst/>
          </a:prstGeom>
          <a:solidFill>
            <a:schemeClr val="accent1"/>
          </a:solidFill>
          <a:ln w="3175">
            <a:solidFill>
              <a:schemeClr val="accent1"/>
            </a:solidFill>
            <a:prstDash val="solid"/>
          </a:ln>
        </p:spPr>
      </p:sp>
      <p:sp>
        <p:nvSpPr>
          <p:cNvPr id="29" name="Atom 2: electron, shell 1"/>
          <p:cNvSpPr/>
          <p:nvPr/>
        </p:nvSpPr>
        <p:spPr>
          <a:xfrm>
            <a:off x="3115257" y="2840247"/>
            <a:ext cx="80226" cy="80226"/>
          </a:xfrm>
          <a:prstGeom prst="ellipse">
            <a:avLst/>
          </a:prstGeom>
          <a:solidFill>
            <a:schemeClr val="accent1"/>
          </a:solidFill>
          <a:ln w="3175">
            <a:solidFill>
              <a:schemeClr val="accent1"/>
            </a:solidFill>
            <a:prstDash val="solid"/>
          </a:ln>
        </p:spPr>
      </p:sp>
      <p:sp>
        <p:nvSpPr>
          <p:cNvPr id="30" name="Atom 2: electron, shell 2"/>
          <p:cNvSpPr/>
          <p:nvPr/>
        </p:nvSpPr>
        <p:spPr>
          <a:xfrm>
            <a:off x="2804667" y="2426566"/>
            <a:ext cx="80226" cy="80226"/>
          </a:xfrm>
          <a:prstGeom prst="ellipse">
            <a:avLst/>
          </a:prstGeom>
          <a:solidFill>
            <a:schemeClr val="accent1"/>
          </a:solidFill>
          <a:ln w="3175">
            <a:solidFill>
              <a:schemeClr val="accent1"/>
            </a:solidFill>
            <a:prstDash val="solid"/>
          </a:ln>
        </p:spPr>
      </p:sp>
      <p:sp>
        <p:nvSpPr>
          <p:cNvPr id="31" name="Atom 2: electron, shell 2"/>
          <p:cNvSpPr/>
          <p:nvPr/>
        </p:nvSpPr>
        <p:spPr>
          <a:xfrm>
            <a:off x="2912403" y="2426566"/>
            <a:ext cx="80226" cy="80226"/>
          </a:xfrm>
          <a:prstGeom prst="ellipse">
            <a:avLst/>
          </a:prstGeom>
          <a:solidFill>
            <a:schemeClr val="accent1"/>
          </a:solidFill>
          <a:ln w="3175">
            <a:solidFill>
              <a:schemeClr val="accent1"/>
            </a:solidFill>
            <a:prstDash val="solid"/>
          </a:ln>
        </p:spPr>
      </p:sp>
      <p:sp>
        <p:nvSpPr>
          <p:cNvPr id="32" name="Atom 2: electron, shell 2"/>
          <p:cNvSpPr/>
          <p:nvPr/>
        </p:nvSpPr>
        <p:spPr>
          <a:xfrm>
            <a:off x="3272216" y="2786379"/>
            <a:ext cx="80226" cy="80226"/>
          </a:xfrm>
          <a:prstGeom prst="ellipse">
            <a:avLst/>
          </a:prstGeom>
          <a:solidFill>
            <a:schemeClr val="accent1"/>
          </a:solidFill>
          <a:ln w="3175">
            <a:solidFill>
              <a:schemeClr val="accent1"/>
            </a:solidFill>
            <a:prstDash val="solid"/>
          </a:ln>
        </p:spPr>
      </p:sp>
      <p:sp>
        <p:nvSpPr>
          <p:cNvPr id="33" name="Atom 2: electron, shell 2"/>
          <p:cNvSpPr/>
          <p:nvPr/>
        </p:nvSpPr>
        <p:spPr>
          <a:xfrm>
            <a:off x="3272216" y="2894115"/>
            <a:ext cx="80226" cy="80226"/>
          </a:xfrm>
          <a:prstGeom prst="ellipse">
            <a:avLst/>
          </a:prstGeom>
          <a:solidFill>
            <a:schemeClr val="accent1"/>
          </a:solidFill>
          <a:ln w="3175">
            <a:solidFill>
              <a:schemeClr val="accent1"/>
            </a:solidFill>
            <a:prstDash val="solid"/>
          </a:ln>
        </p:spPr>
      </p:sp>
      <p:sp>
        <p:nvSpPr>
          <p:cNvPr id="34" name="Atom 2: electron, shell 2"/>
          <p:cNvSpPr/>
          <p:nvPr/>
        </p:nvSpPr>
        <p:spPr>
          <a:xfrm>
            <a:off x="2912403" y="3253928"/>
            <a:ext cx="80226" cy="80226"/>
          </a:xfrm>
          <a:prstGeom prst="ellipse">
            <a:avLst/>
          </a:prstGeom>
          <a:solidFill>
            <a:schemeClr val="accent1"/>
          </a:solidFill>
          <a:ln w="3175">
            <a:solidFill>
              <a:schemeClr val="accent1"/>
            </a:solidFill>
            <a:prstDash val="solid"/>
          </a:ln>
        </p:spPr>
      </p:sp>
      <p:sp>
        <p:nvSpPr>
          <p:cNvPr id="35" name="Atom 2: electron, shell 2"/>
          <p:cNvSpPr/>
          <p:nvPr/>
        </p:nvSpPr>
        <p:spPr>
          <a:xfrm>
            <a:off x="2804667" y="3253928"/>
            <a:ext cx="80226" cy="80226"/>
          </a:xfrm>
          <a:prstGeom prst="ellipse">
            <a:avLst/>
          </a:prstGeom>
          <a:solidFill>
            <a:schemeClr val="accent1"/>
          </a:solidFill>
          <a:ln w="3175">
            <a:solidFill>
              <a:schemeClr val="accent1"/>
            </a:solidFill>
            <a:prstDash val="solid"/>
          </a:ln>
        </p:spPr>
      </p:sp>
      <p:sp>
        <p:nvSpPr>
          <p:cNvPr id="36" name="Atom 2: electron, shell 2"/>
          <p:cNvSpPr/>
          <p:nvPr/>
        </p:nvSpPr>
        <p:spPr>
          <a:xfrm>
            <a:off x="2444854" y="2894115"/>
            <a:ext cx="80226" cy="80226"/>
          </a:xfrm>
          <a:prstGeom prst="ellipse">
            <a:avLst/>
          </a:prstGeom>
          <a:solidFill>
            <a:schemeClr val="accent1"/>
          </a:solidFill>
          <a:ln w="3175">
            <a:solidFill>
              <a:schemeClr val="accent1"/>
            </a:solidFill>
            <a:prstDash val="solid"/>
          </a:ln>
        </p:spPr>
      </p:sp>
      <p:sp>
        <p:nvSpPr>
          <p:cNvPr id="37" name="Atom 2: electron, shell 2"/>
          <p:cNvSpPr/>
          <p:nvPr/>
        </p:nvSpPr>
        <p:spPr>
          <a:xfrm>
            <a:off x="2444854" y="2786379"/>
            <a:ext cx="80226" cy="80226"/>
          </a:xfrm>
          <a:prstGeom prst="ellipse">
            <a:avLst/>
          </a:prstGeom>
          <a:solidFill>
            <a:schemeClr val="accent1"/>
          </a:solidFill>
          <a:ln w="3175">
            <a:solidFill>
              <a:schemeClr val="accent1"/>
            </a:solidFill>
            <a:prstDash val="solid"/>
          </a:ln>
        </p:spPr>
      </p:sp>
      <p:sp>
        <p:nvSpPr>
          <p:cNvPr id="38" name="Atom 2: electron, shell 3"/>
          <p:cNvSpPr/>
          <p:nvPr/>
        </p:nvSpPr>
        <p:spPr>
          <a:xfrm>
            <a:off x="2858535" y="2273319"/>
            <a:ext cx="80226" cy="80226"/>
          </a:xfrm>
          <a:prstGeom prst="ellipse">
            <a:avLst/>
          </a:prstGeom>
          <a:solidFill>
            <a:schemeClr val="accent1"/>
          </a:solidFill>
          <a:ln w="3175">
            <a:solidFill>
              <a:schemeClr val="accent1"/>
            </a:solidFill>
            <a:prstDash val="solid"/>
          </a:ln>
        </p:spPr>
      </p:sp>
      <p:sp>
        <p:nvSpPr>
          <p:cNvPr id="39" name="Text 37"/>
          <p:cNvSpPr txBox="1"/>
          <p:nvPr/>
        </p:nvSpPr>
        <p:spPr>
          <a:xfrm>
            <a:off x="2167128" y="388620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Sodium</a:t>
            </a:r>
            <a:endParaRPr lang="en-US" sz="1200" dirty="0"/>
          </a:p>
          <a:p>
            <a:pPr algn="ctr" indent="0" marL="0">
              <a:buNone/>
            </a:pPr>
            <a:r>
              <a:rPr lang="en-US" sz="1200" dirty="0">
                <a:solidFill>
                  <a:schemeClr val="bg1"/>
                </a:solidFill>
              </a:rPr>
              <a:t>2 + 8 + 1 = 11</a:t>
            </a:r>
            <a:endParaRPr lang="en-US" sz="1200" dirty="0"/>
          </a:p>
        </p:txBody>
      </p:sp>
      <p:sp>
        <p:nvSpPr>
          <p:cNvPr id="40" name="Atom 3"/>
          <p:cNvSpPr/>
          <p:nvPr/>
        </p:nvSpPr>
        <p:spPr>
          <a:xfrm>
            <a:off x="3785616"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41" name="Atom 3: shell 1"/>
          <p:cNvSpPr/>
          <p:nvPr/>
        </p:nvSpPr>
        <p:spPr>
          <a:xfrm>
            <a:off x="4306134" y="2623638"/>
            <a:ext cx="513444" cy="513444"/>
          </a:xfrm>
          <a:prstGeom prst="ellipse">
            <a:avLst/>
          </a:prstGeom>
          <a:solidFill>
            <a:schemeClr val="bg1">
              <a:alpha val="0"/>
            </a:schemeClr>
          </a:solidFill>
          <a:ln w="15875">
            <a:solidFill>
              <a:schemeClr val="bg2">
                <a:alpha val="55000"/>
              </a:schemeClr>
            </a:solidFill>
            <a:prstDash val="solid"/>
          </a:ln>
        </p:spPr>
      </p:sp>
      <p:sp>
        <p:nvSpPr>
          <p:cNvPr id="42" name="Atom 3: shell 2"/>
          <p:cNvSpPr/>
          <p:nvPr/>
        </p:nvSpPr>
        <p:spPr>
          <a:xfrm>
            <a:off x="4145683" y="2463187"/>
            <a:ext cx="834347" cy="834347"/>
          </a:xfrm>
          <a:prstGeom prst="ellipse">
            <a:avLst/>
          </a:prstGeom>
          <a:solidFill>
            <a:schemeClr val="bg1">
              <a:alpha val="0"/>
            </a:schemeClr>
          </a:solidFill>
          <a:ln w="15875">
            <a:solidFill>
              <a:schemeClr val="bg2">
                <a:alpha val="55000"/>
              </a:schemeClr>
            </a:solidFill>
            <a:prstDash val="solid"/>
          </a:ln>
        </p:spPr>
      </p:sp>
      <p:sp>
        <p:nvSpPr>
          <p:cNvPr id="43" name="Atom 3: shell 3"/>
          <p:cNvSpPr/>
          <p:nvPr/>
        </p:nvSpPr>
        <p:spPr>
          <a:xfrm>
            <a:off x="3995928" y="2313432"/>
            <a:ext cx="1133856" cy="1133856"/>
          </a:xfrm>
          <a:prstGeom prst="ellipse">
            <a:avLst/>
          </a:prstGeom>
          <a:solidFill>
            <a:schemeClr val="bg1">
              <a:alpha val="0"/>
            </a:schemeClr>
          </a:solidFill>
          <a:ln w="15875">
            <a:solidFill>
              <a:schemeClr val="bg2">
                <a:alpha val="55000"/>
              </a:schemeClr>
            </a:solidFill>
            <a:prstDash val="solid"/>
          </a:ln>
        </p:spPr>
      </p:sp>
      <p:sp>
        <p:nvSpPr>
          <p:cNvPr id="44" name="Atom 3: nucleus"/>
          <p:cNvSpPr/>
          <p:nvPr/>
        </p:nvSpPr>
        <p:spPr>
          <a:xfrm>
            <a:off x="4397056"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45" name="Atom 3: electron, shell 1"/>
          <p:cNvSpPr/>
          <p:nvPr/>
        </p:nvSpPr>
        <p:spPr>
          <a:xfrm>
            <a:off x="4522743" y="2583525"/>
            <a:ext cx="80226" cy="80226"/>
          </a:xfrm>
          <a:prstGeom prst="ellipse">
            <a:avLst/>
          </a:prstGeom>
          <a:solidFill>
            <a:schemeClr val="accent1"/>
          </a:solidFill>
          <a:ln w="3175">
            <a:solidFill>
              <a:schemeClr val="accent1"/>
            </a:solidFill>
            <a:prstDash val="solid"/>
          </a:ln>
        </p:spPr>
      </p:sp>
      <p:sp>
        <p:nvSpPr>
          <p:cNvPr id="46" name="Atom 3: electron, shell 1"/>
          <p:cNvSpPr/>
          <p:nvPr/>
        </p:nvSpPr>
        <p:spPr>
          <a:xfrm>
            <a:off x="4779465" y="2840247"/>
            <a:ext cx="80226" cy="80226"/>
          </a:xfrm>
          <a:prstGeom prst="ellipse">
            <a:avLst/>
          </a:prstGeom>
          <a:solidFill>
            <a:schemeClr val="accent1"/>
          </a:solidFill>
          <a:ln w="3175">
            <a:solidFill>
              <a:schemeClr val="accent1"/>
            </a:solidFill>
            <a:prstDash val="solid"/>
          </a:ln>
        </p:spPr>
      </p:sp>
      <p:sp>
        <p:nvSpPr>
          <p:cNvPr id="47" name="Atom 3: electron, shell 2"/>
          <p:cNvSpPr/>
          <p:nvPr/>
        </p:nvSpPr>
        <p:spPr>
          <a:xfrm>
            <a:off x="4468875" y="2426566"/>
            <a:ext cx="80226" cy="80226"/>
          </a:xfrm>
          <a:prstGeom prst="ellipse">
            <a:avLst/>
          </a:prstGeom>
          <a:solidFill>
            <a:schemeClr val="accent1"/>
          </a:solidFill>
          <a:ln w="3175">
            <a:solidFill>
              <a:schemeClr val="accent1"/>
            </a:solidFill>
            <a:prstDash val="solid"/>
          </a:ln>
        </p:spPr>
      </p:sp>
      <p:sp>
        <p:nvSpPr>
          <p:cNvPr id="48" name="Atom 3: electron, shell 2"/>
          <p:cNvSpPr/>
          <p:nvPr/>
        </p:nvSpPr>
        <p:spPr>
          <a:xfrm>
            <a:off x="4576611" y="2426566"/>
            <a:ext cx="80226" cy="80226"/>
          </a:xfrm>
          <a:prstGeom prst="ellipse">
            <a:avLst/>
          </a:prstGeom>
          <a:solidFill>
            <a:schemeClr val="accent1"/>
          </a:solidFill>
          <a:ln w="3175">
            <a:solidFill>
              <a:schemeClr val="accent1"/>
            </a:solidFill>
            <a:prstDash val="solid"/>
          </a:ln>
        </p:spPr>
      </p:sp>
      <p:sp>
        <p:nvSpPr>
          <p:cNvPr id="49" name="Atom 3: electron, shell 2"/>
          <p:cNvSpPr/>
          <p:nvPr/>
        </p:nvSpPr>
        <p:spPr>
          <a:xfrm>
            <a:off x="4936424" y="2786379"/>
            <a:ext cx="80226" cy="80226"/>
          </a:xfrm>
          <a:prstGeom prst="ellipse">
            <a:avLst/>
          </a:prstGeom>
          <a:solidFill>
            <a:schemeClr val="accent1"/>
          </a:solidFill>
          <a:ln w="3175">
            <a:solidFill>
              <a:schemeClr val="accent1"/>
            </a:solidFill>
            <a:prstDash val="solid"/>
          </a:ln>
        </p:spPr>
      </p:sp>
      <p:sp>
        <p:nvSpPr>
          <p:cNvPr id="50" name="Atom 3: electron, shell 2"/>
          <p:cNvSpPr/>
          <p:nvPr/>
        </p:nvSpPr>
        <p:spPr>
          <a:xfrm>
            <a:off x="4936424" y="2894115"/>
            <a:ext cx="80226" cy="80226"/>
          </a:xfrm>
          <a:prstGeom prst="ellipse">
            <a:avLst/>
          </a:prstGeom>
          <a:solidFill>
            <a:schemeClr val="accent1"/>
          </a:solidFill>
          <a:ln w="3175">
            <a:solidFill>
              <a:schemeClr val="accent1"/>
            </a:solidFill>
            <a:prstDash val="solid"/>
          </a:ln>
        </p:spPr>
      </p:sp>
      <p:sp>
        <p:nvSpPr>
          <p:cNvPr id="51" name="Atom 3: electron, shell 2"/>
          <p:cNvSpPr/>
          <p:nvPr/>
        </p:nvSpPr>
        <p:spPr>
          <a:xfrm>
            <a:off x="4576611" y="3253928"/>
            <a:ext cx="80226" cy="80226"/>
          </a:xfrm>
          <a:prstGeom prst="ellipse">
            <a:avLst/>
          </a:prstGeom>
          <a:solidFill>
            <a:schemeClr val="accent1"/>
          </a:solidFill>
          <a:ln w="3175">
            <a:solidFill>
              <a:schemeClr val="accent1"/>
            </a:solidFill>
            <a:prstDash val="solid"/>
          </a:ln>
        </p:spPr>
      </p:sp>
      <p:sp>
        <p:nvSpPr>
          <p:cNvPr id="52" name="Atom 3: electron, shell 2"/>
          <p:cNvSpPr/>
          <p:nvPr/>
        </p:nvSpPr>
        <p:spPr>
          <a:xfrm>
            <a:off x="4468875" y="3253928"/>
            <a:ext cx="80226" cy="80226"/>
          </a:xfrm>
          <a:prstGeom prst="ellipse">
            <a:avLst/>
          </a:prstGeom>
          <a:solidFill>
            <a:schemeClr val="accent1"/>
          </a:solidFill>
          <a:ln w="3175">
            <a:solidFill>
              <a:schemeClr val="accent1"/>
            </a:solidFill>
            <a:prstDash val="solid"/>
          </a:ln>
        </p:spPr>
      </p:sp>
      <p:sp>
        <p:nvSpPr>
          <p:cNvPr id="53" name="Atom 3: electron, shell 2"/>
          <p:cNvSpPr/>
          <p:nvPr/>
        </p:nvSpPr>
        <p:spPr>
          <a:xfrm>
            <a:off x="4109062" y="2894115"/>
            <a:ext cx="80226" cy="80226"/>
          </a:xfrm>
          <a:prstGeom prst="ellipse">
            <a:avLst/>
          </a:prstGeom>
          <a:solidFill>
            <a:schemeClr val="accent1"/>
          </a:solidFill>
          <a:ln w="3175">
            <a:solidFill>
              <a:schemeClr val="accent1"/>
            </a:solidFill>
            <a:prstDash val="solid"/>
          </a:ln>
        </p:spPr>
      </p:sp>
      <p:sp>
        <p:nvSpPr>
          <p:cNvPr id="54" name="Atom 3: electron, shell 2"/>
          <p:cNvSpPr/>
          <p:nvPr/>
        </p:nvSpPr>
        <p:spPr>
          <a:xfrm>
            <a:off x="4109062" y="2786379"/>
            <a:ext cx="80226" cy="80226"/>
          </a:xfrm>
          <a:prstGeom prst="ellipse">
            <a:avLst/>
          </a:prstGeom>
          <a:solidFill>
            <a:schemeClr val="accent1"/>
          </a:solidFill>
          <a:ln w="3175">
            <a:solidFill>
              <a:schemeClr val="accent1"/>
            </a:solidFill>
            <a:prstDash val="solid"/>
          </a:ln>
        </p:spPr>
      </p:sp>
      <p:sp>
        <p:nvSpPr>
          <p:cNvPr id="55" name="Atom 3: electron, shell 3"/>
          <p:cNvSpPr/>
          <p:nvPr/>
        </p:nvSpPr>
        <p:spPr>
          <a:xfrm>
            <a:off x="4468806" y="2275891"/>
            <a:ext cx="80226" cy="80226"/>
          </a:xfrm>
          <a:prstGeom prst="ellipse">
            <a:avLst/>
          </a:prstGeom>
          <a:solidFill>
            <a:schemeClr val="accent1"/>
          </a:solidFill>
          <a:ln w="3175">
            <a:solidFill>
              <a:schemeClr val="accent1"/>
            </a:solidFill>
            <a:prstDash val="solid"/>
          </a:ln>
        </p:spPr>
      </p:sp>
      <p:sp>
        <p:nvSpPr>
          <p:cNvPr id="56" name="Atom 3: electron, shell 3"/>
          <p:cNvSpPr/>
          <p:nvPr/>
        </p:nvSpPr>
        <p:spPr>
          <a:xfrm>
            <a:off x="4576680" y="2275891"/>
            <a:ext cx="80226" cy="80226"/>
          </a:xfrm>
          <a:prstGeom prst="ellipse">
            <a:avLst/>
          </a:prstGeom>
          <a:solidFill>
            <a:schemeClr val="accent1"/>
          </a:solidFill>
          <a:ln w="3175">
            <a:solidFill>
              <a:schemeClr val="accent1"/>
            </a:solidFill>
            <a:prstDash val="solid"/>
          </a:ln>
        </p:spPr>
      </p:sp>
      <p:sp>
        <p:nvSpPr>
          <p:cNvPr id="57" name="Atom 3: electron, shell 3"/>
          <p:cNvSpPr/>
          <p:nvPr/>
        </p:nvSpPr>
        <p:spPr>
          <a:xfrm>
            <a:off x="5087100" y="2786310"/>
            <a:ext cx="80226" cy="80226"/>
          </a:xfrm>
          <a:prstGeom prst="ellipse">
            <a:avLst/>
          </a:prstGeom>
          <a:solidFill>
            <a:schemeClr val="accent1"/>
          </a:solidFill>
          <a:ln w="3175">
            <a:solidFill>
              <a:schemeClr val="accent1"/>
            </a:solidFill>
            <a:prstDash val="solid"/>
          </a:ln>
        </p:spPr>
      </p:sp>
      <p:sp>
        <p:nvSpPr>
          <p:cNvPr id="58" name="Atom 3: electron, shell 3"/>
          <p:cNvSpPr/>
          <p:nvPr/>
        </p:nvSpPr>
        <p:spPr>
          <a:xfrm>
            <a:off x="5087100" y="2894184"/>
            <a:ext cx="80226" cy="80226"/>
          </a:xfrm>
          <a:prstGeom prst="ellipse">
            <a:avLst/>
          </a:prstGeom>
          <a:solidFill>
            <a:schemeClr val="accent1"/>
          </a:solidFill>
          <a:ln w="3175">
            <a:solidFill>
              <a:schemeClr val="accent1"/>
            </a:solidFill>
            <a:prstDash val="solid"/>
          </a:ln>
        </p:spPr>
      </p:sp>
      <p:sp>
        <p:nvSpPr>
          <p:cNvPr id="59" name="Atom 3: electron, shell 3"/>
          <p:cNvSpPr/>
          <p:nvPr/>
        </p:nvSpPr>
        <p:spPr>
          <a:xfrm>
            <a:off x="4576680" y="3404604"/>
            <a:ext cx="80226" cy="80226"/>
          </a:xfrm>
          <a:prstGeom prst="ellipse">
            <a:avLst/>
          </a:prstGeom>
          <a:solidFill>
            <a:schemeClr val="accent1"/>
          </a:solidFill>
          <a:ln w="3175">
            <a:solidFill>
              <a:schemeClr val="accent1"/>
            </a:solidFill>
            <a:prstDash val="solid"/>
          </a:ln>
        </p:spPr>
      </p:sp>
      <p:sp>
        <p:nvSpPr>
          <p:cNvPr id="60" name="Atom 3: electron, shell 3"/>
          <p:cNvSpPr/>
          <p:nvPr/>
        </p:nvSpPr>
        <p:spPr>
          <a:xfrm>
            <a:off x="4468806" y="3404604"/>
            <a:ext cx="80226" cy="80226"/>
          </a:xfrm>
          <a:prstGeom prst="ellipse">
            <a:avLst/>
          </a:prstGeom>
          <a:solidFill>
            <a:schemeClr val="accent1"/>
          </a:solidFill>
          <a:ln w="3175">
            <a:solidFill>
              <a:schemeClr val="accent1"/>
            </a:solidFill>
            <a:prstDash val="solid"/>
          </a:ln>
        </p:spPr>
      </p:sp>
      <p:sp>
        <p:nvSpPr>
          <p:cNvPr id="61" name="Atom 3: electron, shell 3"/>
          <p:cNvSpPr/>
          <p:nvPr/>
        </p:nvSpPr>
        <p:spPr>
          <a:xfrm>
            <a:off x="3958387" y="2894184"/>
            <a:ext cx="80226" cy="80226"/>
          </a:xfrm>
          <a:prstGeom prst="ellipse">
            <a:avLst/>
          </a:prstGeom>
          <a:solidFill>
            <a:schemeClr val="accent1"/>
          </a:solidFill>
          <a:ln w="3175">
            <a:solidFill>
              <a:schemeClr val="accent1"/>
            </a:solidFill>
            <a:prstDash val="solid"/>
          </a:ln>
        </p:spPr>
      </p:sp>
      <p:sp>
        <p:nvSpPr>
          <p:cNvPr id="62" name="Atom 3: electron, shell 3"/>
          <p:cNvSpPr/>
          <p:nvPr/>
        </p:nvSpPr>
        <p:spPr>
          <a:xfrm>
            <a:off x="3958387" y="2786310"/>
            <a:ext cx="80226" cy="80226"/>
          </a:xfrm>
          <a:prstGeom prst="ellipse">
            <a:avLst/>
          </a:prstGeom>
          <a:solidFill>
            <a:schemeClr val="accent1"/>
          </a:solidFill>
          <a:ln w="3175">
            <a:solidFill>
              <a:schemeClr val="accent1"/>
            </a:solidFill>
            <a:prstDash val="solid"/>
          </a:ln>
        </p:spPr>
      </p:sp>
      <p:sp>
        <p:nvSpPr>
          <p:cNvPr id="63" name="Text 61"/>
          <p:cNvSpPr txBox="1"/>
          <p:nvPr/>
        </p:nvSpPr>
        <p:spPr>
          <a:xfrm>
            <a:off x="3831336" y="388620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Argon</a:t>
            </a:r>
            <a:endParaRPr lang="en-US" sz="1200" dirty="0"/>
          </a:p>
          <a:p>
            <a:pPr algn="ctr" indent="0" marL="0">
              <a:buNone/>
            </a:pPr>
            <a:r>
              <a:rPr lang="en-US" sz="1200" dirty="0">
                <a:solidFill>
                  <a:schemeClr val="bg1"/>
                </a:solidFill>
              </a:rPr>
              <a:t>2 + 8 + 8 = 18</a:t>
            </a:r>
            <a:endParaRPr lang="en-US" sz="1200" dirty="0"/>
          </a:p>
        </p:txBody>
      </p:sp>
      <p:sp>
        <p:nvSpPr>
          <p:cNvPr id="64" name="Atom 4"/>
          <p:cNvSpPr/>
          <p:nvPr/>
        </p:nvSpPr>
        <p:spPr>
          <a:xfrm>
            <a:off x="5449824"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65" name="Atom 4: shell 1"/>
          <p:cNvSpPr/>
          <p:nvPr/>
        </p:nvSpPr>
        <p:spPr>
          <a:xfrm>
            <a:off x="5970342" y="2623638"/>
            <a:ext cx="513444" cy="513444"/>
          </a:xfrm>
          <a:prstGeom prst="ellipse">
            <a:avLst/>
          </a:prstGeom>
          <a:solidFill>
            <a:schemeClr val="bg1">
              <a:alpha val="0"/>
            </a:schemeClr>
          </a:solidFill>
          <a:ln w="15875">
            <a:solidFill>
              <a:schemeClr val="bg2">
                <a:alpha val="55000"/>
              </a:schemeClr>
            </a:solidFill>
            <a:prstDash val="solid"/>
          </a:ln>
        </p:spPr>
      </p:sp>
      <p:sp>
        <p:nvSpPr>
          <p:cNvPr id="66" name="Atom 4: shell 2"/>
          <p:cNvSpPr/>
          <p:nvPr/>
        </p:nvSpPr>
        <p:spPr>
          <a:xfrm>
            <a:off x="5809891" y="2463187"/>
            <a:ext cx="834347" cy="834347"/>
          </a:xfrm>
          <a:prstGeom prst="ellipse">
            <a:avLst/>
          </a:prstGeom>
          <a:solidFill>
            <a:schemeClr val="bg1">
              <a:alpha val="0"/>
            </a:schemeClr>
          </a:solidFill>
          <a:ln w="15875">
            <a:solidFill>
              <a:schemeClr val="bg2">
                <a:alpha val="55000"/>
              </a:schemeClr>
            </a:solidFill>
            <a:prstDash val="solid"/>
          </a:ln>
        </p:spPr>
      </p:sp>
      <p:sp>
        <p:nvSpPr>
          <p:cNvPr id="67" name="Atom 4: shell 3"/>
          <p:cNvSpPr/>
          <p:nvPr/>
        </p:nvSpPr>
        <p:spPr>
          <a:xfrm>
            <a:off x="5660136" y="2313432"/>
            <a:ext cx="1133856" cy="1133856"/>
          </a:xfrm>
          <a:prstGeom prst="ellipse">
            <a:avLst/>
          </a:prstGeom>
          <a:solidFill>
            <a:schemeClr val="bg1">
              <a:alpha val="0"/>
            </a:schemeClr>
          </a:solidFill>
          <a:ln w="15875">
            <a:solidFill>
              <a:schemeClr val="bg2">
                <a:alpha val="55000"/>
              </a:schemeClr>
            </a:solidFill>
            <a:prstDash val="solid"/>
          </a:ln>
        </p:spPr>
      </p:sp>
      <p:sp>
        <p:nvSpPr>
          <p:cNvPr id="68" name="Atom 4: nucleus"/>
          <p:cNvSpPr/>
          <p:nvPr/>
        </p:nvSpPr>
        <p:spPr>
          <a:xfrm>
            <a:off x="6061264"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69" name="Atom 4: electron, shell 1"/>
          <p:cNvSpPr/>
          <p:nvPr/>
        </p:nvSpPr>
        <p:spPr>
          <a:xfrm>
            <a:off x="6186951" y="2583525"/>
            <a:ext cx="80226" cy="80226"/>
          </a:xfrm>
          <a:prstGeom prst="ellipse">
            <a:avLst/>
          </a:prstGeom>
          <a:solidFill>
            <a:schemeClr val="accent1"/>
          </a:solidFill>
          <a:ln w="3175">
            <a:solidFill>
              <a:schemeClr val="accent1"/>
            </a:solidFill>
            <a:prstDash val="solid"/>
          </a:ln>
        </p:spPr>
      </p:sp>
      <p:sp>
        <p:nvSpPr>
          <p:cNvPr id="70" name="Atom 4: electron, shell 1"/>
          <p:cNvSpPr/>
          <p:nvPr/>
        </p:nvSpPr>
        <p:spPr>
          <a:xfrm>
            <a:off x="6443673" y="2840247"/>
            <a:ext cx="80226" cy="80226"/>
          </a:xfrm>
          <a:prstGeom prst="ellipse">
            <a:avLst/>
          </a:prstGeom>
          <a:solidFill>
            <a:schemeClr val="accent1"/>
          </a:solidFill>
          <a:ln w="3175">
            <a:solidFill>
              <a:schemeClr val="accent1"/>
            </a:solidFill>
            <a:prstDash val="solid"/>
          </a:ln>
        </p:spPr>
      </p:sp>
      <p:sp>
        <p:nvSpPr>
          <p:cNvPr id="71" name="Atom 4: electron, shell 2"/>
          <p:cNvSpPr/>
          <p:nvPr/>
        </p:nvSpPr>
        <p:spPr>
          <a:xfrm>
            <a:off x="6133083" y="2426566"/>
            <a:ext cx="80226" cy="80226"/>
          </a:xfrm>
          <a:prstGeom prst="ellipse">
            <a:avLst/>
          </a:prstGeom>
          <a:solidFill>
            <a:schemeClr val="accent1"/>
          </a:solidFill>
          <a:ln w="3175">
            <a:solidFill>
              <a:schemeClr val="accent1"/>
            </a:solidFill>
            <a:prstDash val="solid"/>
          </a:ln>
        </p:spPr>
      </p:sp>
      <p:sp>
        <p:nvSpPr>
          <p:cNvPr id="72" name="Atom 4: electron, shell 2"/>
          <p:cNvSpPr/>
          <p:nvPr/>
        </p:nvSpPr>
        <p:spPr>
          <a:xfrm>
            <a:off x="6240819" y="2426566"/>
            <a:ext cx="80226" cy="80226"/>
          </a:xfrm>
          <a:prstGeom prst="ellipse">
            <a:avLst/>
          </a:prstGeom>
          <a:solidFill>
            <a:schemeClr val="accent1"/>
          </a:solidFill>
          <a:ln w="3175">
            <a:solidFill>
              <a:schemeClr val="accent1"/>
            </a:solidFill>
            <a:prstDash val="solid"/>
          </a:ln>
        </p:spPr>
      </p:sp>
      <p:sp>
        <p:nvSpPr>
          <p:cNvPr id="73" name="Atom 4: electron, shell 2"/>
          <p:cNvSpPr/>
          <p:nvPr/>
        </p:nvSpPr>
        <p:spPr>
          <a:xfrm>
            <a:off x="6600632" y="2786379"/>
            <a:ext cx="80226" cy="80226"/>
          </a:xfrm>
          <a:prstGeom prst="ellipse">
            <a:avLst/>
          </a:prstGeom>
          <a:solidFill>
            <a:schemeClr val="accent1"/>
          </a:solidFill>
          <a:ln w="3175">
            <a:solidFill>
              <a:schemeClr val="accent1"/>
            </a:solidFill>
            <a:prstDash val="solid"/>
          </a:ln>
        </p:spPr>
      </p:sp>
      <p:sp>
        <p:nvSpPr>
          <p:cNvPr id="74" name="Atom 4: electron, shell 2"/>
          <p:cNvSpPr/>
          <p:nvPr/>
        </p:nvSpPr>
        <p:spPr>
          <a:xfrm>
            <a:off x="6600632" y="2894115"/>
            <a:ext cx="80226" cy="80226"/>
          </a:xfrm>
          <a:prstGeom prst="ellipse">
            <a:avLst/>
          </a:prstGeom>
          <a:solidFill>
            <a:schemeClr val="accent1"/>
          </a:solidFill>
          <a:ln w="3175">
            <a:solidFill>
              <a:schemeClr val="accent1"/>
            </a:solidFill>
            <a:prstDash val="solid"/>
          </a:ln>
        </p:spPr>
      </p:sp>
      <p:sp>
        <p:nvSpPr>
          <p:cNvPr id="75" name="Atom 4: electron, shell 2"/>
          <p:cNvSpPr/>
          <p:nvPr/>
        </p:nvSpPr>
        <p:spPr>
          <a:xfrm>
            <a:off x="6240819" y="3253928"/>
            <a:ext cx="80226" cy="80226"/>
          </a:xfrm>
          <a:prstGeom prst="ellipse">
            <a:avLst/>
          </a:prstGeom>
          <a:solidFill>
            <a:schemeClr val="accent1"/>
          </a:solidFill>
          <a:ln w="3175">
            <a:solidFill>
              <a:schemeClr val="accent1"/>
            </a:solidFill>
            <a:prstDash val="solid"/>
          </a:ln>
        </p:spPr>
      </p:sp>
      <p:sp>
        <p:nvSpPr>
          <p:cNvPr id="76" name="Atom 4: electron, shell 2"/>
          <p:cNvSpPr/>
          <p:nvPr/>
        </p:nvSpPr>
        <p:spPr>
          <a:xfrm>
            <a:off x="6133083" y="3253928"/>
            <a:ext cx="80226" cy="80226"/>
          </a:xfrm>
          <a:prstGeom prst="ellipse">
            <a:avLst/>
          </a:prstGeom>
          <a:solidFill>
            <a:schemeClr val="accent1"/>
          </a:solidFill>
          <a:ln w="3175">
            <a:solidFill>
              <a:schemeClr val="accent1"/>
            </a:solidFill>
            <a:prstDash val="solid"/>
          </a:ln>
        </p:spPr>
      </p:sp>
      <p:sp>
        <p:nvSpPr>
          <p:cNvPr id="77" name="Atom 4: electron, shell 2"/>
          <p:cNvSpPr/>
          <p:nvPr/>
        </p:nvSpPr>
        <p:spPr>
          <a:xfrm>
            <a:off x="5773270" y="2894115"/>
            <a:ext cx="80226" cy="80226"/>
          </a:xfrm>
          <a:prstGeom prst="ellipse">
            <a:avLst/>
          </a:prstGeom>
          <a:solidFill>
            <a:schemeClr val="accent1"/>
          </a:solidFill>
          <a:ln w="3175">
            <a:solidFill>
              <a:schemeClr val="accent1"/>
            </a:solidFill>
            <a:prstDash val="solid"/>
          </a:ln>
        </p:spPr>
      </p:sp>
      <p:sp>
        <p:nvSpPr>
          <p:cNvPr id="78" name="Atom 4: electron, shell 2"/>
          <p:cNvSpPr/>
          <p:nvPr/>
        </p:nvSpPr>
        <p:spPr>
          <a:xfrm>
            <a:off x="5773270" y="2786379"/>
            <a:ext cx="80226" cy="80226"/>
          </a:xfrm>
          <a:prstGeom prst="ellipse">
            <a:avLst/>
          </a:prstGeom>
          <a:solidFill>
            <a:schemeClr val="accent1"/>
          </a:solidFill>
          <a:ln w="3175">
            <a:solidFill>
              <a:schemeClr val="accent1"/>
            </a:solidFill>
            <a:prstDash val="solid"/>
          </a:ln>
        </p:spPr>
      </p:sp>
      <p:sp>
        <p:nvSpPr>
          <p:cNvPr id="79" name="Atom 4: electron, shell 3"/>
          <p:cNvSpPr/>
          <p:nvPr/>
        </p:nvSpPr>
        <p:spPr>
          <a:xfrm>
            <a:off x="6186951" y="2273319"/>
            <a:ext cx="80226" cy="80226"/>
          </a:xfrm>
          <a:prstGeom prst="ellipse">
            <a:avLst/>
          </a:prstGeom>
          <a:solidFill>
            <a:schemeClr val="accent1"/>
          </a:solidFill>
          <a:ln w="3175">
            <a:solidFill>
              <a:schemeClr val="accent1"/>
            </a:solidFill>
            <a:prstDash val="solid"/>
          </a:ln>
        </p:spPr>
      </p:sp>
      <p:sp>
        <p:nvSpPr>
          <p:cNvPr id="80" name="Atom 4: electron, shell 3"/>
          <p:cNvSpPr/>
          <p:nvPr/>
        </p:nvSpPr>
        <p:spPr>
          <a:xfrm>
            <a:off x="6753879" y="2840247"/>
            <a:ext cx="80226" cy="80226"/>
          </a:xfrm>
          <a:prstGeom prst="ellipse">
            <a:avLst/>
          </a:prstGeom>
          <a:solidFill>
            <a:schemeClr val="accent1"/>
          </a:solidFill>
          <a:ln w="3175">
            <a:solidFill>
              <a:schemeClr val="accent1"/>
            </a:solidFill>
            <a:prstDash val="solid"/>
          </a:ln>
        </p:spPr>
      </p:sp>
      <p:sp>
        <p:nvSpPr>
          <p:cNvPr id="81" name="Text 79"/>
          <p:cNvSpPr txBox="1"/>
          <p:nvPr/>
        </p:nvSpPr>
        <p:spPr>
          <a:xfrm>
            <a:off x="5495544" y="388620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Magnesium</a:t>
            </a:r>
            <a:endParaRPr lang="en-US" sz="1200" dirty="0"/>
          </a:p>
          <a:p>
            <a:pPr algn="ctr" indent="0" marL="0">
              <a:buNone/>
            </a:pPr>
            <a:r>
              <a:rPr lang="en-US" sz="1200" dirty="0">
                <a:solidFill>
                  <a:schemeClr val="bg1"/>
                </a:solidFill>
              </a:rPr>
              <a:t>2 + 8 + 2 = 12</a:t>
            </a:r>
            <a:endParaRPr lang="en-US" sz="1200" dirty="0"/>
          </a:p>
        </p:txBody>
      </p:sp>
      <p:sp>
        <p:nvSpPr>
          <p:cNvPr id="82" name="Atom 5"/>
          <p:cNvSpPr/>
          <p:nvPr/>
        </p:nvSpPr>
        <p:spPr>
          <a:xfrm>
            <a:off x="7114032" y="1783080"/>
            <a:ext cx="1554480" cy="2788920"/>
          </a:xfrm>
          <a:prstGeom prst="roundRect">
            <a:avLst>
              <a:gd name="adj" fmla="val 5882"/>
            </a:avLst>
          </a:prstGeom>
          <a:solidFill>
            <a:schemeClr val="tx2"/>
          </a:solidFill>
          <a:ln w="9525">
            <a:solidFill>
              <a:schemeClr val="bg2">
                <a:alpha val="30000"/>
              </a:schemeClr>
            </a:solidFill>
            <a:prstDash val="solid"/>
          </a:ln>
        </p:spPr>
      </p:sp>
      <p:sp>
        <p:nvSpPr>
          <p:cNvPr id="83" name="Atom 5: shell 1"/>
          <p:cNvSpPr/>
          <p:nvPr/>
        </p:nvSpPr>
        <p:spPr>
          <a:xfrm>
            <a:off x="7634550" y="2623638"/>
            <a:ext cx="513444" cy="513444"/>
          </a:xfrm>
          <a:prstGeom prst="ellipse">
            <a:avLst/>
          </a:prstGeom>
          <a:solidFill>
            <a:schemeClr val="bg1">
              <a:alpha val="0"/>
            </a:schemeClr>
          </a:solidFill>
          <a:ln w="15875">
            <a:solidFill>
              <a:schemeClr val="bg2">
                <a:alpha val="55000"/>
              </a:schemeClr>
            </a:solidFill>
            <a:prstDash val="solid"/>
          </a:ln>
        </p:spPr>
      </p:sp>
      <p:sp>
        <p:nvSpPr>
          <p:cNvPr id="84" name="Atom 5: shell 2"/>
          <p:cNvSpPr/>
          <p:nvPr/>
        </p:nvSpPr>
        <p:spPr>
          <a:xfrm>
            <a:off x="7474099" y="2463187"/>
            <a:ext cx="834347" cy="834347"/>
          </a:xfrm>
          <a:prstGeom prst="ellipse">
            <a:avLst/>
          </a:prstGeom>
          <a:solidFill>
            <a:schemeClr val="bg1">
              <a:alpha val="0"/>
            </a:schemeClr>
          </a:solidFill>
          <a:ln w="15875">
            <a:solidFill>
              <a:schemeClr val="bg2">
                <a:alpha val="55000"/>
              </a:schemeClr>
            </a:solidFill>
            <a:prstDash val="solid"/>
          </a:ln>
        </p:spPr>
      </p:sp>
      <p:sp>
        <p:nvSpPr>
          <p:cNvPr id="85" name="Atom 5: shell 3"/>
          <p:cNvSpPr/>
          <p:nvPr/>
        </p:nvSpPr>
        <p:spPr>
          <a:xfrm>
            <a:off x="7324344" y="2313432"/>
            <a:ext cx="1133856" cy="1133856"/>
          </a:xfrm>
          <a:prstGeom prst="ellipse">
            <a:avLst/>
          </a:prstGeom>
          <a:solidFill>
            <a:schemeClr val="bg1">
              <a:alpha val="0"/>
            </a:schemeClr>
          </a:solidFill>
          <a:ln w="15875">
            <a:solidFill>
              <a:schemeClr val="bg2">
                <a:alpha val="55000"/>
              </a:schemeClr>
            </a:solidFill>
            <a:prstDash val="solid"/>
          </a:ln>
        </p:spPr>
      </p:sp>
      <p:sp>
        <p:nvSpPr>
          <p:cNvPr id="86" name="Atom 5: nucleus"/>
          <p:cNvSpPr/>
          <p:nvPr/>
        </p:nvSpPr>
        <p:spPr>
          <a:xfrm>
            <a:off x="7725472" y="27145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a:t>
            </a:r>
            <a:endParaRPr lang="en-US" sz="1100" dirty="0"/>
          </a:p>
        </p:txBody>
      </p:sp>
      <p:sp>
        <p:nvSpPr>
          <p:cNvPr id="87" name="Atom 5: electron, shell 1"/>
          <p:cNvSpPr/>
          <p:nvPr/>
        </p:nvSpPr>
        <p:spPr>
          <a:xfrm>
            <a:off x="7851159" y="2583525"/>
            <a:ext cx="80226" cy="80226"/>
          </a:xfrm>
          <a:prstGeom prst="ellipse">
            <a:avLst/>
          </a:prstGeom>
          <a:solidFill>
            <a:schemeClr val="accent1"/>
          </a:solidFill>
          <a:ln w="3175">
            <a:solidFill>
              <a:schemeClr val="accent1"/>
            </a:solidFill>
            <a:prstDash val="solid"/>
          </a:ln>
        </p:spPr>
      </p:sp>
      <p:sp>
        <p:nvSpPr>
          <p:cNvPr id="88" name="Atom 5: electron, shell 1"/>
          <p:cNvSpPr/>
          <p:nvPr/>
        </p:nvSpPr>
        <p:spPr>
          <a:xfrm>
            <a:off x="8107881" y="2840247"/>
            <a:ext cx="80226" cy="80226"/>
          </a:xfrm>
          <a:prstGeom prst="ellipse">
            <a:avLst/>
          </a:prstGeom>
          <a:solidFill>
            <a:schemeClr val="accent1"/>
          </a:solidFill>
          <a:ln w="3175">
            <a:solidFill>
              <a:schemeClr val="accent1"/>
            </a:solidFill>
            <a:prstDash val="solid"/>
          </a:ln>
        </p:spPr>
      </p:sp>
      <p:sp>
        <p:nvSpPr>
          <p:cNvPr id="89" name="Atom 5: electron, shell 2"/>
          <p:cNvSpPr/>
          <p:nvPr/>
        </p:nvSpPr>
        <p:spPr>
          <a:xfrm>
            <a:off x="7797291" y="2426566"/>
            <a:ext cx="80226" cy="80226"/>
          </a:xfrm>
          <a:prstGeom prst="ellipse">
            <a:avLst/>
          </a:prstGeom>
          <a:solidFill>
            <a:schemeClr val="accent1"/>
          </a:solidFill>
          <a:ln w="3175">
            <a:solidFill>
              <a:schemeClr val="accent1"/>
            </a:solidFill>
            <a:prstDash val="solid"/>
          </a:ln>
        </p:spPr>
      </p:sp>
      <p:sp>
        <p:nvSpPr>
          <p:cNvPr id="90" name="Atom 5: electron, shell 2"/>
          <p:cNvSpPr/>
          <p:nvPr/>
        </p:nvSpPr>
        <p:spPr>
          <a:xfrm>
            <a:off x="7905027" y="2426566"/>
            <a:ext cx="80226" cy="80226"/>
          </a:xfrm>
          <a:prstGeom prst="ellipse">
            <a:avLst/>
          </a:prstGeom>
          <a:solidFill>
            <a:schemeClr val="accent1"/>
          </a:solidFill>
          <a:ln w="3175">
            <a:solidFill>
              <a:schemeClr val="accent1"/>
            </a:solidFill>
            <a:prstDash val="solid"/>
          </a:ln>
        </p:spPr>
      </p:sp>
      <p:sp>
        <p:nvSpPr>
          <p:cNvPr id="91" name="Atom 5: electron, shell 2"/>
          <p:cNvSpPr/>
          <p:nvPr/>
        </p:nvSpPr>
        <p:spPr>
          <a:xfrm>
            <a:off x="8264840" y="2786379"/>
            <a:ext cx="80226" cy="80226"/>
          </a:xfrm>
          <a:prstGeom prst="ellipse">
            <a:avLst/>
          </a:prstGeom>
          <a:solidFill>
            <a:schemeClr val="accent1"/>
          </a:solidFill>
          <a:ln w="3175">
            <a:solidFill>
              <a:schemeClr val="accent1"/>
            </a:solidFill>
            <a:prstDash val="solid"/>
          </a:ln>
        </p:spPr>
      </p:sp>
      <p:sp>
        <p:nvSpPr>
          <p:cNvPr id="92" name="Atom 5: electron, shell 2"/>
          <p:cNvSpPr/>
          <p:nvPr/>
        </p:nvSpPr>
        <p:spPr>
          <a:xfrm>
            <a:off x="8264840" y="2894115"/>
            <a:ext cx="80226" cy="80226"/>
          </a:xfrm>
          <a:prstGeom prst="ellipse">
            <a:avLst/>
          </a:prstGeom>
          <a:solidFill>
            <a:schemeClr val="accent1"/>
          </a:solidFill>
          <a:ln w="3175">
            <a:solidFill>
              <a:schemeClr val="accent1"/>
            </a:solidFill>
            <a:prstDash val="solid"/>
          </a:ln>
        </p:spPr>
      </p:sp>
      <p:sp>
        <p:nvSpPr>
          <p:cNvPr id="93" name="Atom 5: electron, shell 2"/>
          <p:cNvSpPr/>
          <p:nvPr/>
        </p:nvSpPr>
        <p:spPr>
          <a:xfrm>
            <a:off x="7905027" y="3253928"/>
            <a:ext cx="80226" cy="80226"/>
          </a:xfrm>
          <a:prstGeom prst="ellipse">
            <a:avLst/>
          </a:prstGeom>
          <a:solidFill>
            <a:schemeClr val="accent1"/>
          </a:solidFill>
          <a:ln w="3175">
            <a:solidFill>
              <a:schemeClr val="accent1"/>
            </a:solidFill>
            <a:prstDash val="solid"/>
          </a:ln>
        </p:spPr>
      </p:sp>
      <p:sp>
        <p:nvSpPr>
          <p:cNvPr id="94" name="Atom 5: electron, shell 2"/>
          <p:cNvSpPr/>
          <p:nvPr/>
        </p:nvSpPr>
        <p:spPr>
          <a:xfrm>
            <a:off x="7797291" y="3253928"/>
            <a:ext cx="80226" cy="80226"/>
          </a:xfrm>
          <a:prstGeom prst="ellipse">
            <a:avLst/>
          </a:prstGeom>
          <a:solidFill>
            <a:schemeClr val="accent1"/>
          </a:solidFill>
          <a:ln w="3175">
            <a:solidFill>
              <a:schemeClr val="accent1"/>
            </a:solidFill>
            <a:prstDash val="solid"/>
          </a:ln>
        </p:spPr>
      </p:sp>
      <p:sp>
        <p:nvSpPr>
          <p:cNvPr id="95" name="Atom 5: electron, shell 2"/>
          <p:cNvSpPr/>
          <p:nvPr/>
        </p:nvSpPr>
        <p:spPr>
          <a:xfrm>
            <a:off x="7437478" y="2894115"/>
            <a:ext cx="80226" cy="80226"/>
          </a:xfrm>
          <a:prstGeom prst="ellipse">
            <a:avLst/>
          </a:prstGeom>
          <a:solidFill>
            <a:schemeClr val="accent1"/>
          </a:solidFill>
          <a:ln w="3175">
            <a:solidFill>
              <a:schemeClr val="accent1"/>
            </a:solidFill>
            <a:prstDash val="solid"/>
          </a:ln>
        </p:spPr>
      </p:sp>
      <p:sp>
        <p:nvSpPr>
          <p:cNvPr id="96" name="Atom 5: electron, shell 2"/>
          <p:cNvSpPr/>
          <p:nvPr/>
        </p:nvSpPr>
        <p:spPr>
          <a:xfrm>
            <a:off x="7437478" y="2786379"/>
            <a:ext cx="80226" cy="80226"/>
          </a:xfrm>
          <a:prstGeom prst="ellipse">
            <a:avLst/>
          </a:prstGeom>
          <a:solidFill>
            <a:schemeClr val="accent1"/>
          </a:solidFill>
          <a:ln w="3175">
            <a:solidFill>
              <a:schemeClr val="accent1"/>
            </a:solidFill>
            <a:prstDash val="solid"/>
          </a:ln>
        </p:spPr>
      </p:sp>
      <p:sp>
        <p:nvSpPr>
          <p:cNvPr id="97" name="Atom 5: electron, shell 3"/>
          <p:cNvSpPr/>
          <p:nvPr/>
        </p:nvSpPr>
        <p:spPr>
          <a:xfrm>
            <a:off x="7851159" y="2273319"/>
            <a:ext cx="80226" cy="80226"/>
          </a:xfrm>
          <a:prstGeom prst="ellipse">
            <a:avLst/>
          </a:prstGeom>
          <a:solidFill>
            <a:schemeClr val="accent1"/>
          </a:solidFill>
          <a:ln w="3175">
            <a:solidFill>
              <a:schemeClr val="accent1"/>
            </a:solidFill>
            <a:prstDash val="solid"/>
          </a:ln>
        </p:spPr>
      </p:sp>
      <p:sp>
        <p:nvSpPr>
          <p:cNvPr id="98" name="Atom 5: electron, shell 3"/>
          <p:cNvSpPr/>
          <p:nvPr/>
        </p:nvSpPr>
        <p:spPr>
          <a:xfrm>
            <a:off x="8418087" y="2840247"/>
            <a:ext cx="80226" cy="80226"/>
          </a:xfrm>
          <a:prstGeom prst="ellipse">
            <a:avLst/>
          </a:prstGeom>
          <a:solidFill>
            <a:schemeClr val="accent1"/>
          </a:solidFill>
          <a:ln w="3175">
            <a:solidFill>
              <a:schemeClr val="accent1"/>
            </a:solidFill>
            <a:prstDash val="solid"/>
          </a:ln>
        </p:spPr>
      </p:sp>
      <p:sp>
        <p:nvSpPr>
          <p:cNvPr id="99" name="Atom 5: electron, shell 3"/>
          <p:cNvSpPr/>
          <p:nvPr/>
        </p:nvSpPr>
        <p:spPr>
          <a:xfrm>
            <a:off x="7851159" y="3407175"/>
            <a:ext cx="80226" cy="80226"/>
          </a:xfrm>
          <a:prstGeom prst="ellipse">
            <a:avLst/>
          </a:prstGeom>
          <a:solidFill>
            <a:schemeClr val="accent1"/>
          </a:solidFill>
          <a:ln w="3175">
            <a:solidFill>
              <a:schemeClr val="accent1"/>
            </a:solidFill>
            <a:prstDash val="solid"/>
          </a:ln>
        </p:spPr>
      </p:sp>
      <p:sp>
        <p:nvSpPr>
          <p:cNvPr id="100" name="Atom 5: electron, shell 3"/>
          <p:cNvSpPr/>
          <p:nvPr/>
        </p:nvSpPr>
        <p:spPr>
          <a:xfrm>
            <a:off x="7284231" y="2840247"/>
            <a:ext cx="80226" cy="80226"/>
          </a:xfrm>
          <a:prstGeom prst="ellipse">
            <a:avLst/>
          </a:prstGeom>
          <a:solidFill>
            <a:schemeClr val="accent1"/>
          </a:solidFill>
          <a:ln w="3175">
            <a:solidFill>
              <a:schemeClr val="accent1"/>
            </a:solidFill>
            <a:prstDash val="solid"/>
          </a:ln>
        </p:spPr>
      </p:sp>
      <p:sp>
        <p:nvSpPr>
          <p:cNvPr id="101" name="Text 99"/>
          <p:cNvSpPr txBox="1"/>
          <p:nvPr/>
        </p:nvSpPr>
        <p:spPr>
          <a:xfrm>
            <a:off x="7159752" y="3886200"/>
            <a:ext cx="1463040" cy="548640"/>
          </a:xfrm>
          <a:prstGeom prst="rect">
            <a:avLst/>
          </a:prstGeom>
          <a:noFill/>
          <a:ln/>
        </p:spPr>
        <p:txBody>
          <a:bodyPr wrap="square" lIns="0" tIns="0" rIns="0" bIns="0" rtlCol="0" anchor="ctr"/>
          <a:lstStyle/>
          <a:p>
            <a:pPr algn="ctr" indent="0" marL="0">
              <a:buNone/>
            </a:pPr>
            <a:r>
              <a:rPr lang="en-US" sz="1200" b="1" dirty="0">
                <a:solidFill>
                  <a:schemeClr val="accent4"/>
                </a:solidFill>
              </a:rPr>
              <a:t>Silicon</a:t>
            </a:r>
            <a:endParaRPr lang="en-US" sz="1200" dirty="0"/>
          </a:p>
          <a:p>
            <a:pPr algn="ctr" indent="0" marL="0">
              <a:buNone/>
            </a:pPr>
            <a:r>
              <a:rPr lang="en-US" sz="1200" dirty="0">
                <a:solidFill>
                  <a:schemeClr val="bg1"/>
                </a:solidFill>
              </a:rPr>
              <a:t>2 + 8 + 4 = 14</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Spot the mistake</a:t>
            </a:r>
            <a:endParaRPr lang="en-US" sz="2800" dirty="0"/>
          </a:p>
        </p:txBody>
      </p:sp>
      <p:sp>
        <p:nvSpPr>
          <p:cNvPr id="8" name="Text 6"/>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Each model has one mistake. What's wrong?</a:t>
            </a:r>
            <a:endParaRPr lang="en-US" sz="1300" dirty="0"/>
          </a:p>
        </p:txBody>
      </p:sp>
      <p:sp>
        <p:nvSpPr>
          <p:cNvPr id="9" name="Model 1"/>
          <p:cNvSpPr/>
          <p:nvPr/>
        </p:nvSpPr>
        <p:spPr>
          <a:xfrm>
            <a:off x="457200"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10" name="Model 1: shell 1"/>
          <p:cNvSpPr/>
          <p:nvPr/>
        </p:nvSpPr>
        <p:spPr>
          <a:xfrm>
            <a:off x="1062533" y="2187245"/>
            <a:ext cx="746150" cy="746150"/>
          </a:xfrm>
          <a:prstGeom prst="ellipse">
            <a:avLst/>
          </a:prstGeom>
          <a:solidFill>
            <a:schemeClr val="bg1">
              <a:alpha val="0"/>
            </a:schemeClr>
          </a:solidFill>
          <a:ln w="15875">
            <a:solidFill>
              <a:schemeClr val="bg2">
                <a:alpha val="55000"/>
              </a:schemeClr>
            </a:solidFill>
            <a:prstDash val="solid"/>
          </a:ln>
        </p:spPr>
      </p:sp>
      <p:sp>
        <p:nvSpPr>
          <p:cNvPr id="11" name="Model 1: shell 2"/>
          <p:cNvSpPr/>
          <p:nvPr/>
        </p:nvSpPr>
        <p:spPr>
          <a:xfrm>
            <a:off x="829361" y="1954073"/>
            <a:ext cx="1212494" cy="1212494"/>
          </a:xfrm>
          <a:prstGeom prst="ellipse">
            <a:avLst/>
          </a:prstGeom>
          <a:solidFill>
            <a:schemeClr val="bg1">
              <a:alpha val="0"/>
            </a:schemeClr>
          </a:solidFill>
          <a:ln w="15875">
            <a:solidFill>
              <a:schemeClr val="bg2">
                <a:alpha val="55000"/>
              </a:schemeClr>
            </a:solidFill>
            <a:prstDash val="solid"/>
          </a:ln>
        </p:spPr>
      </p:sp>
      <p:sp>
        <p:nvSpPr>
          <p:cNvPr id="12" name="Model 1: nucleus"/>
          <p:cNvSpPr/>
          <p:nvPr/>
        </p:nvSpPr>
        <p:spPr>
          <a:xfrm>
            <a:off x="1194664" y="2319376"/>
            <a:ext cx="481889" cy="48188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12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13" name="Model 1: electron, shell 1"/>
          <p:cNvSpPr/>
          <p:nvPr/>
        </p:nvSpPr>
        <p:spPr>
          <a:xfrm>
            <a:off x="1377315" y="2128952"/>
            <a:ext cx="116586" cy="116586"/>
          </a:xfrm>
          <a:prstGeom prst="ellipse">
            <a:avLst/>
          </a:prstGeom>
          <a:solidFill>
            <a:schemeClr val="accent1"/>
          </a:solidFill>
          <a:ln w="3175">
            <a:solidFill>
              <a:schemeClr val="accent1"/>
            </a:solidFill>
            <a:prstDash val="solid"/>
          </a:ln>
        </p:spPr>
      </p:sp>
      <p:sp>
        <p:nvSpPr>
          <p:cNvPr id="14" name="Model 1: electron, shell 1"/>
          <p:cNvSpPr/>
          <p:nvPr/>
        </p:nvSpPr>
        <p:spPr>
          <a:xfrm>
            <a:off x="1750390" y="2502027"/>
            <a:ext cx="116586" cy="116586"/>
          </a:xfrm>
          <a:prstGeom prst="ellipse">
            <a:avLst/>
          </a:prstGeom>
          <a:solidFill>
            <a:schemeClr val="accent1"/>
          </a:solidFill>
          <a:ln w="3175">
            <a:solidFill>
              <a:schemeClr val="accent1"/>
            </a:solidFill>
            <a:prstDash val="solid"/>
          </a:ln>
        </p:spPr>
      </p:sp>
      <p:sp>
        <p:nvSpPr>
          <p:cNvPr id="15" name="Model 1: electron, shell 1"/>
          <p:cNvSpPr/>
          <p:nvPr/>
        </p:nvSpPr>
        <p:spPr>
          <a:xfrm>
            <a:off x="1377315" y="2875102"/>
            <a:ext cx="116586" cy="116586"/>
          </a:xfrm>
          <a:prstGeom prst="ellipse">
            <a:avLst/>
          </a:prstGeom>
          <a:solidFill>
            <a:schemeClr val="accent1"/>
          </a:solidFill>
          <a:ln w="3175">
            <a:solidFill>
              <a:schemeClr val="accent1"/>
            </a:solidFill>
            <a:prstDash val="solid"/>
          </a:ln>
        </p:spPr>
      </p:sp>
      <p:sp>
        <p:nvSpPr>
          <p:cNvPr id="16" name="Model 1: electron, shell 1"/>
          <p:cNvSpPr/>
          <p:nvPr/>
        </p:nvSpPr>
        <p:spPr>
          <a:xfrm>
            <a:off x="1004240" y="2502027"/>
            <a:ext cx="116586" cy="116586"/>
          </a:xfrm>
          <a:prstGeom prst="ellipse">
            <a:avLst/>
          </a:prstGeom>
          <a:solidFill>
            <a:schemeClr val="accent1"/>
          </a:solidFill>
          <a:ln w="3175">
            <a:solidFill>
              <a:schemeClr val="accent1"/>
            </a:solidFill>
            <a:prstDash val="solid"/>
          </a:ln>
        </p:spPr>
      </p:sp>
      <p:sp>
        <p:nvSpPr>
          <p:cNvPr id="17" name="Model 1: electron, shell 2"/>
          <p:cNvSpPr/>
          <p:nvPr/>
        </p:nvSpPr>
        <p:spPr>
          <a:xfrm>
            <a:off x="1299033" y="1900855"/>
            <a:ext cx="116586" cy="116586"/>
          </a:xfrm>
          <a:prstGeom prst="ellipse">
            <a:avLst/>
          </a:prstGeom>
          <a:solidFill>
            <a:schemeClr val="accent1"/>
          </a:solidFill>
          <a:ln w="3175">
            <a:solidFill>
              <a:schemeClr val="accent1"/>
            </a:solidFill>
            <a:prstDash val="solid"/>
          </a:ln>
        </p:spPr>
      </p:sp>
      <p:sp>
        <p:nvSpPr>
          <p:cNvPr id="18" name="Model 1: electron, shell 2"/>
          <p:cNvSpPr/>
          <p:nvPr/>
        </p:nvSpPr>
        <p:spPr>
          <a:xfrm>
            <a:off x="1455597" y="1900855"/>
            <a:ext cx="116586" cy="116586"/>
          </a:xfrm>
          <a:prstGeom prst="ellipse">
            <a:avLst/>
          </a:prstGeom>
          <a:solidFill>
            <a:schemeClr val="accent1"/>
          </a:solidFill>
          <a:ln w="3175">
            <a:solidFill>
              <a:schemeClr val="accent1"/>
            </a:solidFill>
            <a:prstDash val="solid"/>
          </a:ln>
        </p:spPr>
      </p:sp>
      <p:sp>
        <p:nvSpPr>
          <p:cNvPr id="19" name="Model 1: electron, shell 2"/>
          <p:cNvSpPr/>
          <p:nvPr/>
        </p:nvSpPr>
        <p:spPr>
          <a:xfrm>
            <a:off x="1978487" y="2423745"/>
            <a:ext cx="116586" cy="116586"/>
          </a:xfrm>
          <a:prstGeom prst="ellipse">
            <a:avLst/>
          </a:prstGeom>
          <a:solidFill>
            <a:schemeClr val="accent1"/>
          </a:solidFill>
          <a:ln w="3175">
            <a:solidFill>
              <a:schemeClr val="accent1"/>
            </a:solidFill>
            <a:prstDash val="solid"/>
          </a:ln>
        </p:spPr>
      </p:sp>
      <p:sp>
        <p:nvSpPr>
          <p:cNvPr id="20" name="Model 1: electron, shell 2"/>
          <p:cNvSpPr/>
          <p:nvPr/>
        </p:nvSpPr>
        <p:spPr>
          <a:xfrm>
            <a:off x="1978487" y="2580309"/>
            <a:ext cx="116586" cy="116586"/>
          </a:xfrm>
          <a:prstGeom prst="ellipse">
            <a:avLst/>
          </a:prstGeom>
          <a:solidFill>
            <a:schemeClr val="accent1"/>
          </a:solidFill>
          <a:ln w="3175">
            <a:solidFill>
              <a:schemeClr val="accent1"/>
            </a:solidFill>
            <a:prstDash val="solid"/>
          </a:ln>
        </p:spPr>
      </p:sp>
      <p:sp>
        <p:nvSpPr>
          <p:cNvPr id="21" name="Model 1: electron, shell 2"/>
          <p:cNvSpPr/>
          <p:nvPr/>
        </p:nvSpPr>
        <p:spPr>
          <a:xfrm>
            <a:off x="1455597" y="3103199"/>
            <a:ext cx="116586" cy="116586"/>
          </a:xfrm>
          <a:prstGeom prst="ellipse">
            <a:avLst/>
          </a:prstGeom>
          <a:solidFill>
            <a:schemeClr val="accent1"/>
          </a:solidFill>
          <a:ln w="3175">
            <a:solidFill>
              <a:schemeClr val="accent1"/>
            </a:solidFill>
            <a:prstDash val="solid"/>
          </a:ln>
        </p:spPr>
      </p:sp>
      <p:sp>
        <p:nvSpPr>
          <p:cNvPr id="22" name="Model 1: electron, shell 2"/>
          <p:cNvSpPr/>
          <p:nvPr/>
        </p:nvSpPr>
        <p:spPr>
          <a:xfrm>
            <a:off x="1299033" y="3103199"/>
            <a:ext cx="116586" cy="116586"/>
          </a:xfrm>
          <a:prstGeom prst="ellipse">
            <a:avLst/>
          </a:prstGeom>
          <a:solidFill>
            <a:schemeClr val="accent1"/>
          </a:solidFill>
          <a:ln w="3175">
            <a:solidFill>
              <a:schemeClr val="accent1"/>
            </a:solidFill>
            <a:prstDash val="solid"/>
          </a:ln>
        </p:spPr>
      </p:sp>
      <p:sp>
        <p:nvSpPr>
          <p:cNvPr id="23" name="Model 1: electron, shell 2"/>
          <p:cNvSpPr/>
          <p:nvPr/>
        </p:nvSpPr>
        <p:spPr>
          <a:xfrm>
            <a:off x="776143" y="2580309"/>
            <a:ext cx="116586" cy="116586"/>
          </a:xfrm>
          <a:prstGeom prst="ellipse">
            <a:avLst/>
          </a:prstGeom>
          <a:solidFill>
            <a:schemeClr val="accent1"/>
          </a:solidFill>
          <a:ln w="3175">
            <a:solidFill>
              <a:schemeClr val="accent1"/>
            </a:solidFill>
            <a:prstDash val="solid"/>
          </a:ln>
        </p:spPr>
      </p:sp>
      <p:sp>
        <p:nvSpPr>
          <p:cNvPr id="24" name="Model 1: electron, shell 2"/>
          <p:cNvSpPr/>
          <p:nvPr/>
        </p:nvSpPr>
        <p:spPr>
          <a:xfrm>
            <a:off x="776143" y="2423745"/>
            <a:ext cx="116586" cy="116586"/>
          </a:xfrm>
          <a:prstGeom prst="ellipse">
            <a:avLst/>
          </a:prstGeom>
          <a:solidFill>
            <a:schemeClr val="accent1"/>
          </a:solidFill>
          <a:ln w="3175">
            <a:solidFill>
              <a:schemeClr val="accent1"/>
            </a:solidFill>
            <a:prstDash val="solid"/>
          </a:ln>
        </p:spPr>
      </p:sp>
      <p:sp>
        <p:nvSpPr>
          <p:cNvPr id="25" name="Text 23"/>
          <p:cNvSpPr txBox="1"/>
          <p:nvPr/>
        </p:nvSpPr>
        <p:spPr>
          <a:xfrm>
            <a:off x="548640"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magnesium (12, 24.305)</a:t>
            </a:r>
            <a:endParaRPr lang="en-US" sz="1100" dirty="0"/>
          </a:p>
        </p:txBody>
      </p:sp>
      <p:sp>
        <p:nvSpPr>
          <p:cNvPr id="26" name="Text 24"/>
          <p:cNvSpPr txBox="1"/>
          <p:nvPr/>
        </p:nvSpPr>
        <p:spPr>
          <a:xfrm>
            <a:off x="548640" y="393192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27" name="Model 2"/>
          <p:cNvSpPr/>
          <p:nvPr/>
        </p:nvSpPr>
        <p:spPr>
          <a:xfrm>
            <a:off x="2551176"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28" name="Model 2: shell 1"/>
          <p:cNvSpPr/>
          <p:nvPr/>
        </p:nvSpPr>
        <p:spPr>
          <a:xfrm>
            <a:off x="3223174" y="2253910"/>
            <a:ext cx="612821" cy="612821"/>
          </a:xfrm>
          <a:prstGeom prst="ellipse">
            <a:avLst/>
          </a:prstGeom>
          <a:solidFill>
            <a:schemeClr val="bg1">
              <a:alpha val="0"/>
            </a:schemeClr>
          </a:solidFill>
          <a:ln w="15875">
            <a:solidFill>
              <a:schemeClr val="bg2">
                <a:alpha val="55000"/>
              </a:schemeClr>
            </a:solidFill>
            <a:prstDash val="solid"/>
          </a:ln>
        </p:spPr>
      </p:sp>
      <p:sp>
        <p:nvSpPr>
          <p:cNvPr id="29" name="Model 2: shell 2"/>
          <p:cNvSpPr/>
          <p:nvPr/>
        </p:nvSpPr>
        <p:spPr>
          <a:xfrm>
            <a:off x="3031667" y="2062403"/>
            <a:ext cx="995833" cy="995833"/>
          </a:xfrm>
          <a:prstGeom prst="ellipse">
            <a:avLst/>
          </a:prstGeom>
          <a:solidFill>
            <a:schemeClr val="bg1">
              <a:alpha val="0"/>
            </a:schemeClr>
          </a:solidFill>
          <a:ln w="15875">
            <a:solidFill>
              <a:schemeClr val="bg2">
                <a:alpha val="55000"/>
              </a:schemeClr>
            </a:solidFill>
            <a:prstDash val="solid"/>
          </a:ln>
        </p:spPr>
      </p:sp>
      <p:sp>
        <p:nvSpPr>
          <p:cNvPr id="30" name="Model 2: shell 3"/>
          <p:cNvSpPr/>
          <p:nvPr/>
        </p:nvSpPr>
        <p:spPr>
          <a:xfrm>
            <a:off x="2852928" y="1883664"/>
            <a:ext cx="1353312" cy="1353312"/>
          </a:xfrm>
          <a:prstGeom prst="ellipse">
            <a:avLst/>
          </a:prstGeom>
          <a:solidFill>
            <a:schemeClr val="bg1">
              <a:alpha val="0"/>
            </a:schemeClr>
          </a:solidFill>
          <a:ln w="15875">
            <a:solidFill>
              <a:schemeClr val="bg2">
                <a:alpha val="55000"/>
              </a:schemeClr>
            </a:solidFill>
            <a:prstDash val="solid"/>
          </a:ln>
        </p:spPr>
      </p:sp>
      <p:sp>
        <p:nvSpPr>
          <p:cNvPr id="31" name="Model 2: nucleus"/>
          <p:cNvSpPr/>
          <p:nvPr/>
        </p:nvSpPr>
        <p:spPr>
          <a:xfrm>
            <a:off x="3331694" y="2362430"/>
            <a:ext cx="395780" cy="39578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11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32" name="Model 2: electron, shell 1"/>
          <p:cNvSpPr/>
          <p:nvPr/>
        </p:nvSpPr>
        <p:spPr>
          <a:xfrm>
            <a:off x="3481707" y="2206033"/>
            <a:ext cx="95753" cy="95753"/>
          </a:xfrm>
          <a:prstGeom prst="ellipse">
            <a:avLst/>
          </a:prstGeom>
          <a:solidFill>
            <a:schemeClr val="accent1"/>
          </a:solidFill>
          <a:ln w="3175">
            <a:solidFill>
              <a:schemeClr val="accent1"/>
            </a:solidFill>
            <a:prstDash val="solid"/>
          </a:ln>
        </p:spPr>
      </p:sp>
      <p:sp>
        <p:nvSpPr>
          <p:cNvPr id="33" name="Model 2: electron, shell 1"/>
          <p:cNvSpPr/>
          <p:nvPr/>
        </p:nvSpPr>
        <p:spPr>
          <a:xfrm>
            <a:off x="3788118" y="2512443"/>
            <a:ext cx="95753" cy="95753"/>
          </a:xfrm>
          <a:prstGeom prst="ellipse">
            <a:avLst/>
          </a:prstGeom>
          <a:solidFill>
            <a:schemeClr val="accent1"/>
          </a:solidFill>
          <a:ln w="3175">
            <a:solidFill>
              <a:schemeClr val="accent1"/>
            </a:solidFill>
            <a:prstDash val="solid"/>
          </a:ln>
        </p:spPr>
      </p:sp>
      <p:sp>
        <p:nvSpPr>
          <p:cNvPr id="34" name="Model 2: electron, shell 2"/>
          <p:cNvSpPr/>
          <p:nvPr/>
        </p:nvSpPr>
        <p:spPr>
          <a:xfrm>
            <a:off x="3417414" y="2018695"/>
            <a:ext cx="95753" cy="95753"/>
          </a:xfrm>
          <a:prstGeom prst="ellipse">
            <a:avLst/>
          </a:prstGeom>
          <a:solidFill>
            <a:schemeClr val="accent1"/>
          </a:solidFill>
          <a:ln w="3175">
            <a:solidFill>
              <a:schemeClr val="accent1"/>
            </a:solidFill>
            <a:prstDash val="solid"/>
          </a:ln>
        </p:spPr>
      </p:sp>
      <p:sp>
        <p:nvSpPr>
          <p:cNvPr id="35" name="Model 2: electron, shell 2"/>
          <p:cNvSpPr/>
          <p:nvPr/>
        </p:nvSpPr>
        <p:spPr>
          <a:xfrm>
            <a:off x="3546001" y="2018695"/>
            <a:ext cx="95753" cy="95753"/>
          </a:xfrm>
          <a:prstGeom prst="ellipse">
            <a:avLst/>
          </a:prstGeom>
          <a:solidFill>
            <a:schemeClr val="accent1"/>
          </a:solidFill>
          <a:ln w="3175">
            <a:solidFill>
              <a:schemeClr val="accent1"/>
            </a:solidFill>
            <a:prstDash val="solid"/>
          </a:ln>
        </p:spPr>
      </p:sp>
      <p:sp>
        <p:nvSpPr>
          <p:cNvPr id="36" name="Model 2: electron, shell 2"/>
          <p:cNvSpPr/>
          <p:nvPr/>
        </p:nvSpPr>
        <p:spPr>
          <a:xfrm>
            <a:off x="3975456" y="2448150"/>
            <a:ext cx="95753" cy="95753"/>
          </a:xfrm>
          <a:prstGeom prst="ellipse">
            <a:avLst/>
          </a:prstGeom>
          <a:solidFill>
            <a:schemeClr val="accent1"/>
          </a:solidFill>
          <a:ln w="3175">
            <a:solidFill>
              <a:schemeClr val="accent1"/>
            </a:solidFill>
            <a:prstDash val="solid"/>
          </a:ln>
        </p:spPr>
      </p:sp>
      <p:sp>
        <p:nvSpPr>
          <p:cNvPr id="37" name="Model 2: electron, shell 2"/>
          <p:cNvSpPr/>
          <p:nvPr/>
        </p:nvSpPr>
        <p:spPr>
          <a:xfrm>
            <a:off x="3975456" y="2576737"/>
            <a:ext cx="95753" cy="95753"/>
          </a:xfrm>
          <a:prstGeom prst="ellipse">
            <a:avLst/>
          </a:prstGeom>
          <a:solidFill>
            <a:schemeClr val="accent1"/>
          </a:solidFill>
          <a:ln w="3175">
            <a:solidFill>
              <a:schemeClr val="accent1"/>
            </a:solidFill>
            <a:prstDash val="solid"/>
          </a:ln>
        </p:spPr>
      </p:sp>
      <p:sp>
        <p:nvSpPr>
          <p:cNvPr id="38" name="Model 2: electron, shell 2"/>
          <p:cNvSpPr/>
          <p:nvPr/>
        </p:nvSpPr>
        <p:spPr>
          <a:xfrm>
            <a:off x="3546001" y="3006192"/>
            <a:ext cx="95753" cy="95753"/>
          </a:xfrm>
          <a:prstGeom prst="ellipse">
            <a:avLst/>
          </a:prstGeom>
          <a:solidFill>
            <a:schemeClr val="accent1"/>
          </a:solidFill>
          <a:ln w="3175">
            <a:solidFill>
              <a:schemeClr val="accent1"/>
            </a:solidFill>
            <a:prstDash val="solid"/>
          </a:ln>
        </p:spPr>
      </p:sp>
      <p:sp>
        <p:nvSpPr>
          <p:cNvPr id="39" name="Model 2: electron, shell 2"/>
          <p:cNvSpPr/>
          <p:nvPr/>
        </p:nvSpPr>
        <p:spPr>
          <a:xfrm>
            <a:off x="3417414" y="3006192"/>
            <a:ext cx="95753" cy="95753"/>
          </a:xfrm>
          <a:prstGeom prst="ellipse">
            <a:avLst/>
          </a:prstGeom>
          <a:solidFill>
            <a:schemeClr val="accent1"/>
          </a:solidFill>
          <a:ln w="3175">
            <a:solidFill>
              <a:schemeClr val="accent1"/>
            </a:solidFill>
            <a:prstDash val="solid"/>
          </a:ln>
        </p:spPr>
      </p:sp>
      <p:sp>
        <p:nvSpPr>
          <p:cNvPr id="40" name="Model 2: electron, shell 2"/>
          <p:cNvSpPr/>
          <p:nvPr/>
        </p:nvSpPr>
        <p:spPr>
          <a:xfrm>
            <a:off x="2987959" y="2576737"/>
            <a:ext cx="95753" cy="95753"/>
          </a:xfrm>
          <a:prstGeom prst="ellipse">
            <a:avLst/>
          </a:prstGeom>
          <a:solidFill>
            <a:schemeClr val="accent1"/>
          </a:solidFill>
          <a:ln w="3175">
            <a:solidFill>
              <a:schemeClr val="accent1"/>
            </a:solidFill>
            <a:prstDash val="solid"/>
          </a:ln>
        </p:spPr>
      </p:sp>
      <p:sp>
        <p:nvSpPr>
          <p:cNvPr id="41" name="Model 2: electron, shell 2"/>
          <p:cNvSpPr/>
          <p:nvPr/>
        </p:nvSpPr>
        <p:spPr>
          <a:xfrm>
            <a:off x="2987959" y="2448150"/>
            <a:ext cx="95753" cy="95753"/>
          </a:xfrm>
          <a:prstGeom prst="ellipse">
            <a:avLst/>
          </a:prstGeom>
          <a:solidFill>
            <a:schemeClr val="accent1"/>
          </a:solidFill>
          <a:ln w="3175">
            <a:solidFill>
              <a:schemeClr val="accent1"/>
            </a:solidFill>
            <a:prstDash val="solid"/>
          </a:ln>
        </p:spPr>
      </p:sp>
      <p:sp>
        <p:nvSpPr>
          <p:cNvPr id="42" name="Model 2: electron, shell 3"/>
          <p:cNvSpPr/>
          <p:nvPr/>
        </p:nvSpPr>
        <p:spPr>
          <a:xfrm>
            <a:off x="3481707" y="1835787"/>
            <a:ext cx="95753" cy="95753"/>
          </a:xfrm>
          <a:prstGeom prst="ellipse">
            <a:avLst/>
          </a:prstGeom>
          <a:solidFill>
            <a:schemeClr val="accent1"/>
          </a:solidFill>
          <a:ln w="3175">
            <a:solidFill>
              <a:schemeClr val="accent1"/>
            </a:solidFill>
            <a:prstDash val="solid"/>
          </a:ln>
        </p:spPr>
      </p:sp>
      <p:sp>
        <p:nvSpPr>
          <p:cNvPr id="43" name="Model 2: electron, shell 3"/>
          <p:cNvSpPr/>
          <p:nvPr/>
        </p:nvSpPr>
        <p:spPr>
          <a:xfrm>
            <a:off x="4158363" y="2512443"/>
            <a:ext cx="95753" cy="95753"/>
          </a:xfrm>
          <a:prstGeom prst="ellipse">
            <a:avLst/>
          </a:prstGeom>
          <a:solidFill>
            <a:schemeClr val="accent1"/>
          </a:solidFill>
          <a:ln w="3175">
            <a:solidFill>
              <a:schemeClr val="accent1"/>
            </a:solidFill>
            <a:prstDash val="solid"/>
          </a:ln>
        </p:spPr>
      </p:sp>
      <p:sp>
        <p:nvSpPr>
          <p:cNvPr id="44" name="Text 42"/>
          <p:cNvSpPr txBox="1"/>
          <p:nvPr/>
        </p:nvSpPr>
        <p:spPr>
          <a:xfrm>
            <a:off x="2642616"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sodium (11, 22.990)</a:t>
            </a:r>
            <a:endParaRPr lang="en-US" sz="1100" dirty="0"/>
          </a:p>
        </p:txBody>
      </p:sp>
      <p:sp>
        <p:nvSpPr>
          <p:cNvPr id="45" name="Text 43"/>
          <p:cNvSpPr txBox="1"/>
          <p:nvPr/>
        </p:nvSpPr>
        <p:spPr>
          <a:xfrm>
            <a:off x="2642616" y="393192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46" name="Model 3"/>
          <p:cNvSpPr/>
          <p:nvPr/>
        </p:nvSpPr>
        <p:spPr>
          <a:xfrm>
            <a:off x="4645152"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47" name="Model 3: shell 1"/>
          <p:cNvSpPr/>
          <p:nvPr/>
        </p:nvSpPr>
        <p:spPr>
          <a:xfrm>
            <a:off x="5250485" y="2187245"/>
            <a:ext cx="746150" cy="746150"/>
          </a:xfrm>
          <a:prstGeom prst="ellipse">
            <a:avLst/>
          </a:prstGeom>
          <a:solidFill>
            <a:schemeClr val="bg1">
              <a:alpha val="0"/>
            </a:schemeClr>
          </a:solidFill>
          <a:ln w="15875">
            <a:solidFill>
              <a:schemeClr val="bg2">
                <a:alpha val="55000"/>
              </a:schemeClr>
            </a:solidFill>
            <a:prstDash val="solid"/>
          </a:ln>
        </p:spPr>
      </p:sp>
      <p:sp>
        <p:nvSpPr>
          <p:cNvPr id="48" name="Model 3: shell 2"/>
          <p:cNvSpPr/>
          <p:nvPr/>
        </p:nvSpPr>
        <p:spPr>
          <a:xfrm>
            <a:off x="5017313" y="1954073"/>
            <a:ext cx="1212494" cy="1212494"/>
          </a:xfrm>
          <a:prstGeom prst="ellipse">
            <a:avLst/>
          </a:prstGeom>
          <a:solidFill>
            <a:schemeClr val="bg1">
              <a:alpha val="0"/>
            </a:schemeClr>
          </a:solidFill>
          <a:ln w="15875">
            <a:solidFill>
              <a:schemeClr val="bg2">
                <a:alpha val="55000"/>
              </a:schemeClr>
            </a:solidFill>
            <a:prstDash val="solid"/>
          </a:ln>
        </p:spPr>
      </p:sp>
      <p:sp>
        <p:nvSpPr>
          <p:cNvPr id="49" name="Model 3: nucleus"/>
          <p:cNvSpPr/>
          <p:nvPr/>
        </p:nvSpPr>
        <p:spPr>
          <a:xfrm>
            <a:off x="5382616" y="2319376"/>
            <a:ext cx="481889" cy="48188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8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8 n</a:t>
            </a:r>
            <a:pPr algn="ctr" indent="0" marL="0">
              <a:buNone/>
            </a:pPr>
            <a:r>
              <a:rPr lang="en-US" sz="800" b="1" baseline="30000" dirty="0">
                <a:solidFill>
                  <a:schemeClr val="bg1"/>
                </a:solidFill>
              </a:rPr>
              <a:t>0</a:t>
            </a:r>
            <a:endParaRPr lang="en-US" sz="800" dirty="0"/>
          </a:p>
        </p:txBody>
      </p:sp>
      <p:sp>
        <p:nvSpPr>
          <p:cNvPr id="50" name="Model 3: electron, shell 1"/>
          <p:cNvSpPr/>
          <p:nvPr/>
        </p:nvSpPr>
        <p:spPr>
          <a:xfrm>
            <a:off x="5565267" y="2128952"/>
            <a:ext cx="116586" cy="116586"/>
          </a:xfrm>
          <a:prstGeom prst="ellipse">
            <a:avLst/>
          </a:prstGeom>
          <a:solidFill>
            <a:schemeClr val="accent1"/>
          </a:solidFill>
          <a:ln w="3175">
            <a:solidFill>
              <a:schemeClr val="accent1"/>
            </a:solidFill>
            <a:prstDash val="solid"/>
          </a:ln>
        </p:spPr>
      </p:sp>
      <p:sp>
        <p:nvSpPr>
          <p:cNvPr id="51" name="Model 3: electron, shell 1"/>
          <p:cNvSpPr/>
          <p:nvPr/>
        </p:nvSpPr>
        <p:spPr>
          <a:xfrm>
            <a:off x="5938342" y="2502027"/>
            <a:ext cx="116586" cy="116586"/>
          </a:xfrm>
          <a:prstGeom prst="ellipse">
            <a:avLst/>
          </a:prstGeom>
          <a:solidFill>
            <a:schemeClr val="accent1"/>
          </a:solidFill>
          <a:ln w="3175">
            <a:solidFill>
              <a:schemeClr val="accent1"/>
            </a:solidFill>
            <a:prstDash val="solid"/>
          </a:ln>
        </p:spPr>
      </p:sp>
      <p:sp>
        <p:nvSpPr>
          <p:cNvPr id="52" name="Model 3: electron, shell 2"/>
          <p:cNvSpPr/>
          <p:nvPr/>
        </p:nvSpPr>
        <p:spPr>
          <a:xfrm>
            <a:off x="5486985" y="1900855"/>
            <a:ext cx="116586" cy="116586"/>
          </a:xfrm>
          <a:prstGeom prst="ellipse">
            <a:avLst/>
          </a:prstGeom>
          <a:solidFill>
            <a:schemeClr val="accent1"/>
          </a:solidFill>
          <a:ln w="3175">
            <a:solidFill>
              <a:schemeClr val="accent1"/>
            </a:solidFill>
            <a:prstDash val="solid"/>
          </a:ln>
        </p:spPr>
      </p:sp>
      <p:sp>
        <p:nvSpPr>
          <p:cNvPr id="53" name="Model 3: electron, shell 2"/>
          <p:cNvSpPr/>
          <p:nvPr/>
        </p:nvSpPr>
        <p:spPr>
          <a:xfrm>
            <a:off x="5643549" y="1900855"/>
            <a:ext cx="116586" cy="116586"/>
          </a:xfrm>
          <a:prstGeom prst="ellipse">
            <a:avLst/>
          </a:prstGeom>
          <a:solidFill>
            <a:schemeClr val="accent1"/>
          </a:solidFill>
          <a:ln w="3175">
            <a:solidFill>
              <a:schemeClr val="accent1"/>
            </a:solidFill>
            <a:prstDash val="solid"/>
          </a:ln>
        </p:spPr>
      </p:sp>
      <p:sp>
        <p:nvSpPr>
          <p:cNvPr id="54" name="Model 3: electron, shell 2"/>
          <p:cNvSpPr/>
          <p:nvPr/>
        </p:nvSpPr>
        <p:spPr>
          <a:xfrm>
            <a:off x="6166439" y="2423745"/>
            <a:ext cx="116586" cy="116586"/>
          </a:xfrm>
          <a:prstGeom prst="ellipse">
            <a:avLst/>
          </a:prstGeom>
          <a:solidFill>
            <a:schemeClr val="accent1"/>
          </a:solidFill>
          <a:ln w="3175">
            <a:solidFill>
              <a:schemeClr val="accent1"/>
            </a:solidFill>
            <a:prstDash val="solid"/>
          </a:ln>
        </p:spPr>
      </p:sp>
      <p:sp>
        <p:nvSpPr>
          <p:cNvPr id="55" name="Model 3: electron, shell 2"/>
          <p:cNvSpPr/>
          <p:nvPr/>
        </p:nvSpPr>
        <p:spPr>
          <a:xfrm>
            <a:off x="6166439" y="2580309"/>
            <a:ext cx="116586" cy="116586"/>
          </a:xfrm>
          <a:prstGeom prst="ellipse">
            <a:avLst/>
          </a:prstGeom>
          <a:solidFill>
            <a:schemeClr val="accent1"/>
          </a:solidFill>
          <a:ln w="3175">
            <a:solidFill>
              <a:schemeClr val="accent1"/>
            </a:solidFill>
            <a:prstDash val="solid"/>
          </a:ln>
        </p:spPr>
      </p:sp>
      <p:sp>
        <p:nvSpPr>
          <p:cNvPr id="56" name="Model 3: electron, shell 2"/>
          <p:cNvSpPr/>
          <p:nvPr/>
        </p:nvSpPr>
        <p:spPr>
          <a:xfrm>
            <a:off x="5643549" y="3103199"/>
            <a:ext cx="116586" cy="116586"/>
          </a:xfrm>
          <a:prstGeom prst="ellipse">
            <a:avLst/>
          </a:prstGeom>
          <a:solidFill>
            <a:schemeClr val="accent1"/>
          </a:solidFill>
          <a:ln w="3175">
            <a:solidFill>
              <a:schemeClr val="accent1"/>
            </a:solidFill>
            <a:prstDash val="solid"/>
          </a:ln>
        </p:spPr>
      </p:sp>
      <p:sp>
        <p:nvSpPr>
          <p:cNvPr id="57" name="Model 3: electron, shell 2"/>
          <p:cNvSpPr/>
          <p:nvPr/>
        </p:nvSpPr>
        <p:spPr>
          <a:xfrm>
            <a:off x="5486985" y="3103199"/>
            <a:ext cx="116586" cy="116586"/>
          </a:xfrm>
          <a:prstGeom prst="ellipse">
            <a:avLst/>
          </a:prstGeom>
          <a:solidFill>
            <a:schemeClr val="accent1"/>
          </a:solidFill>
          <a:ln w="3175">
            <a:solidFill>
              <a:schemeClr val="accent1"/>
            </a:solidFill>
            <a:prstDash val="solid"/>
          </a:ln>
        </p:spPr>
      </p:sp>
      <p:sp>
        <p:nvSpPr>
          <p:cNvPr id="58" name="Text 56"/>
          <p:cNvSpPr txBox="1"/>
          <p:nvPr/>
        </p:nvSpPr>
        <p:spPr>
          <a:xfrm>
            <a:off x="4736592"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oxygen (8, 15.999)</a:t>
            </a:r>
            <a:endParaRPr lang="en-US" sz="1100" dirty="0"/>
          </a:p>
        </p:txBody>
      </p:sp>
      <p:sp>
        <p:nvSpPr>
          <p:cNvPr id="59" name="Text 57"/>
          <p:cNvSpPr txBox="1"/>
          <p:nvPr/>
        </p:nvSpPr>
        <p:spPr>
          <a:xfrm>
            <a:off x="4736592" y="393192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60" name="Model 4"/>
          <p:cNvSpPr/>
          <p:nvPr/>
        </p:nvSpPr>
        <p:spPr>
          <a:xfrm>
            <a:off x="6739128"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61" name="Model 4: shell 1"/>
          <p:cNvSpPr/>
          <p:nvPr/>
        </p:nvSpPr>
        <p:spPr>
          <a:xfrm>
            <a:off x="7411126" y="2253910"/>
            <a:ext cx="612821" cy="612821"/>
          </a:xfrm>
          <a:prstGeom prst="ellipse">
            <a:avLst/>
          </a:prstGeom>
          <a:solidFill>
            <a:schemeClr val="bg1">
              <a:alpha val="0"/>
            </a:schemeClr>
          </a:solidFill>
          <a:ln w="15875">
            <a:solidFill>
              <a:schemeClr val="bg2">
                <a:alpha val="55000"/>
              </a:schemeClr>
            </a:solidFill>
            <a:prstDash val="solid"/>
          </a:ln>
        </p:spPr>
      </p:sp>
      <p:sp>
        <p:nvSpPr>
          <p:cNvPr id="62" name="Model 4: shell 2"/>
          <p:cNvSpPr/>
          <p:nvPr/>
        </p:nvSpPr>
        <p:spPr>
          <a:xfrm>
            <a:off x="7219619" y="2062403"/>
            <a:ext cx="995833" cy="995833"/>
          </a:xfrm>
          <a:prstGeom prst="ellipse">
            <a:avLst/>
          </a:prstGeom>
          <a:solidFill>
            <a:schemeClr val="bg1">
              <a:alpha val="0"/>
            </a:schemeClr>
          </a:solidFill>
          <a:ln w="15875">
            <a:solidFill>
              <a:schemeClr val="bg2">
                <a:alpha val="55000"/>
              </a:schemeClr>
            </a:solidFill>
            <a:prstDash val="solid"/>
          </a:ln>
        </p:spPr>
      </p:sp>
      <p:sp>
        <p:nvSpPr>
          <p:cNvPr id="63" name="Model 4: shell 3"/>
          <p:cNvSpPr/>
          <p:nvPr/>
        </p:nvSpPr>
        <p:spPr>
          <a:xfrm>
            <a:off x="7040880" y="1883664"/>
            <a:ext cx="1353312" cy="1353312"/>
          </a:xfrm>
          <a:prstGeom prst="ellipse">
            <a:avLst/>
          </a:prstGeom>
          <a:solidFill>
            <a:schemeClr val="bg1">
              <a:alpha val="0"/>
            </a:schemeClr>
          </a:solidFill>
          <a:ln w="15875">
            <a:solidFill>
              <a:schemeClr val="bg2">
                <a:alpha val="55000"/>
              </a:schemeClr>
            </a:solidFill>
            <a:prstDash val="solid"/>
          </a:ln>
        </p:spPr>
      </p:sp>
      <p:sp>
        <p:nvSpPr>
          <p:cNvPr id="64" name="Model 4: nucleus"/>
          <p:cNvSpPr/>
          <p:nvPr/>
        </p:nvSpPr>
        <p:spPr>
          <a:xfrm>
            <a:off x="7519646" y="2362430"/>
            <a:ext cx="395780" cy="39578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17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17 n</a:t>
            </a:r>
            <a:pPr algn="ctr" indent="0" marL="0">
              <a:buNone/>
            </a:pPr>
            <a:r>
              <a:rPr lang="en-US" sz="800" b="1" baseline="30000" dirty="0">
                <a:solidFill>
                  <a:schemeClr val="bg1"/>
                </a:solidFill>
              </a:rPr>
              <a:t>0</a:t>
            </a:r>
            <a:endParaRPr lang="en-US" sz="800" dirty="0"/>
          </a:p>
        </p:txBody>
      </p:sp>
      <p:sp>
        <p:nvSpPr>
          <p:cNvPr id="65" name="Model 4: electron, shell 1"/>
          <p:cNvSpPr/>
          <p:nvPr/>
        </p:nvSpPr>
        <p:spPr>
          <a:xfrm>
            <a:off x="7669659" y="2206033"/>
            <a:ext cx="95753" cy="95753"/>
          </a:xfrm>
          <a:prstGeom prst="ellipse">
            <a:avLst/>
          </a:prstGeom>
          <a:solidFill>
            <a:schemeClr val="accent1"/>
          </a:solidFill>
          <a:ln w="3175">
            <a:solidFill>
              <a:schemeClr val="accent1"/>
            </a:solidFill>
            <a:prstDash val="solid"/>
          </a:ln>
        </p:spPr>
      </p:sp>
      <p:sp>
        <p:nvSpPr>
          <p:cNvPr id="66" name="Model 4: electron, shell 1"/>
          <p:cNvSpPr/>
          <p:nvPr/>
        </p:nvSpPr>
        <p:spPr>
          <a:xfrm>
            <a:off x="7976070" y="2512443"/>
            <a:ext cx="95753" cy="95753"/>
          </a:xfrm>
          <a:prstGeom prst="ellipse">
            <a:avLst/>
          </a:prstGeom>
          <a:solidFill>
            <a:schemeClr val="accent1"/>
          </a:solidFill>
          <a:ln w="3175">
            <a:solidFill>
              <a:schemeClr val="accent1"/>
            </a:solidFill>
            <a:prstDash val="solid"/>
          </a:ln>
        </p:spPr>
      </p:sp>
      <p:sp>
        <p:nvSpPr>
          <p:cNvPr id="67" name="Model 4: electron, shell 2"/>
          <p:cNvSpPr/>
          <p:nvPr/>
        </p:nvSpPr>
        <p:spPr>
          <a:xfrm>
            <a:off x="7605366" y="2018695"/>
            <a:ext cx="95753" cy="95753"/>
          </a:xfrm>
          <a:prstGeom prst="ellipse">
            <a:avLst/>
          </a:prstGeom>
          <a:solidFill>
            <a:schemeClr val="accent1"/>
          </a:solidFill>
          <a:ln w="3175">
            <a:solidFill>
              <a:schemeClr val="accent1"/>
            </a:solidFill>
            <a:prstDash val="solid"/>
          </a:ln>
        </p:spPr>
      </p:sp>
      <p:sp>
        <p:nvSpPr>
          <p:cNvPr id="68" name="Model 4: electron, shell 2"/>
          <p:cNvSpPr/>
          <p:nvPr/>
        </p:nvSpPr>
        <p:spPr>
          <a:xfrm>
            <a:off x="7733953" y="2018695"/>
            <a:ext cx="95753" cy="95753"/>
          </a:xfrm>
          <a:prstGeom prst="ellipse">
            <a:avLst/>
          </a:prstGeom>
          <a:solidFill>
            <a:schemeClr val="accent1"/>
          </a:solidFill>
          <a:ln w="3175">
            <a:solidFill>
              <a:schemeClr val="accent1"/>
            </a:solidFill>
            <a:prstDash val="solid"/>
          </a:ln>
        </p:spPr>
      </p:sp>
      <p:sp>
        <p:nvSpPr>
          <p:cNvPr id="69" name="Model 4: electron, shell 2"/>
          <p:cNvSpPr/>
          <p:nvPr/>
        </p:nvSpPr>
        <p:spPr>
          <a:xfrm>
            <a:off x="8163408" y="2448150"/>
            <a:ext cx="95753" cy="95753"/>
          </a:xfrm>
          <a:prstGeom prst="ellipse">
            <a:avLst/>
          </a:prstGeom>
          <a:solidFill>
            <a:schemeClr val="accent1"/>
          </a:solidFill>
          <a:ln w="3175">
            <a:solidFill>
              <a:schemeClr val="accent1"/>
            </a:solidFill>
            <a:prstDash val="solid"/>
          </a:ln>
        </p:spPr>
      </p:sp>
      <p:sp>
        <p:nvSpPr>
          <p:cNvPr id="70" name="Model 4: electron, shell 2"/>
          <p:cNvSpPr/>
          <p:nvPr/>
        </p:nvSpPr>
        <p:spPr>
          <a:xfrm>
            <a:off x="8163408" y="2576737"/>
            <a:ext cx="95753" cy="95753"/>
          </a:xfrm>
          <a:prstGeom prst="ellipse">
            <a:avLst/>
          </a:prstGeom>
          <a:solidFill>
            <a:schemeClr val="accent1"/>
          </a:solidFill>
          <a:ln w="3175">
            <a:solidFill>
              <a:schemeClr val="accent1"/>
            </a:solidFill>
            <a:prstDash val="solid"/>
          </a:ln>
        </p:spPr>
      </p:sp>
      <p:sp>
        <p:nvSpPr>
          <p:cNvPr id="71" name="Model 4: electron, shell 2"/>
          <p:cNvSpPr/>
          <p:nvPr/>
        </p:nvSpPr>
        <p:spPr>
          <a:xfrm>
            <a:off x="7733953" y="3006192"/>
            <a:ext cx="95753" cy="95753"/>
          </a:xfrm>
          <a:prstGeom prst="ellipse">
            <a:avLst/>
          </a:prstGeom>
          <a:solidFill>
            <a:schemeClr val="accent1"/>
          </a:solidFill>
          <a:ln w="3175">
            <a:solidFill>
              <a:schemeClr val="accent1"/>
            </a:solidFill>
            <a:prstDash val="solid"/>
          </a:ln>
        </p:spPr>
      </p:sp>
      <p:sp>
        <p:nvSpPr>
          <p:cNvPr id="72" name="Model 4: electron, shell 2"/>
          <p:cNvSpPr/>
          <p:nvPr/>
        </p:nvSpPr>
        <p:spPr>
          <a:xfrm>
            <a:off x="7605366" y="3006192"/>
            <a:ext cx="95753" cy="95753"/>
          </a:xfrm>
          <a:prstGeom prst="ellipse">
            <a:avLst/>
          </a:prstGeom>
          <a:solidFill>
            <a:schemeClr val="accent1"/>
          </a:solidFill>
          <a:ln w="3175">
            <a:solidFill>
              <a:schemeClr val="accent1"/>
            </a:solidFill>
            <a:prstDash val="solid"/>
          </a:ln>
        </p:spPr>
      </p:sp>
      <p:sp>
        <p:nvSpPr>
          <p:cNvPr id="73" name="Model 4: electron, shell 2"/>
          <p:cNvSpPr/>
          <p:nvPr/>
        </p:nvSpPr>
        <p:spPr>
          <a:xfrm>
            <a:off x="7175911" y="2576737"/>
            <a:ext cx="95753" cy="95753"/>
          </a:xfrm>
          <a:prstGeom prst="ellipse">
            <a:avLst/>
          </a:prstGeom>
          <a:solidFill>
            <a:schemeClr val="accent1"/>
          </a:solidFill>
          <a:ln w="3175">
            <a:solidFill>
              <a:schemeClr val="accent1"/>
            </a:solidFill>
            <a:prstDash val="solid"/>
          </a:ln>
        </p:spPr>
      </p:sp>
      <p:sp>
        <p:nvSpPr>
          <p:cNvPr id="74" name="Model 4: electron, shell 2"/>
          <p:cNvSpPr/>
          <p:nvPr/>
        </p:nvSpPr>
        <p:spPr>
          <a:xfrm>
            <a:off x="7175911" y="2448150"/>
            <a:ext cx="95753" cy="95753"/>
          </a:xfrm>
          <a:prstGeom prst="ellipse">
            <a:avLst/>
          </a:prstGeom>
          <a:solidFill>
            <a:schemeClr val="accent1"/>
          </a:solidFill>
          <a:ln w="3175">
            <a:solidFill>
              <a:schemeClr val="accent1"/>
            </a:solidFill>
            <a:prstDash val="solid"/>
          </a:ln>
        </p:spPr>
      </p:sp>
      <p:sp>
        <p:nvSpPr>
          <p:cNvPr id="75" name="Model 4: electron, shell 3"/>
          <p:cNvSpPr/>
          <p:nvPr/>
        </p:nvSpPr>
        <p:spPr>
          <a:xfrm>
            <a:off x="7605283" y="1838857"/>
            <a:ext cx="95753" cy="95753"/>
          </a:xfrm>
          <a:prstGeom prst="ellipse">
            <a:avLst/>
          </a:prstGeom>
          <a:solidFill>
            <a:schemeClr val="accent1"/>
          </a:solidFill>
          <a:ln w="3175">
            <a:solidFill>
              <a:schemeClr val="accent1"/>
            </a:solidFill>
            <a:prstDash val="solid"/>
          </a:ln>
        </p:spPr>
      </p:sp>
      <p:sp>
        <p:nvSpPr>
          <p:cNvPr id="76" name="Model 4: electron, shell 3"/>
          <p:cNvSpPr/>
          <p:nvPr/>
        </p:nvSpPr>
        <p:spPr>
          <a:xfrm>
            <a:off x="7734036" y="1838857"/>
            <a:ext cx="95753" cy="95753"/>
          </a:xfrm>
          <a:prstGeom prst="ellipse">
            <a:avLst/>
          </a:prstGeom>
          <a:solidFill>
            <a:schemeClr val="accent1"/>
          </a:solidFill>
          <a:ln w="3175">
            <a:solidFill>
              <a:schemeClr val="accent1"/>
            </a:solidFill>
            <a:prstDash val="solid"/>
          </a:ln>
        </p:spPr>
      </p:sp>
      <p:sp>
        <p:nvSpPr>
          <p:cNvPr id="77" name="Model 4: electron, shell 3"/>
          <p:cNvSpPr/>
          <p:nvPr/>
        </p:nvSpPr>
        <p:spPr>
          <a:xfrm>
            <a:off x="8343246" y="2448067"/>
            <a:ext cx="95753" cy="95753"/>
          </a:xfrm>
          <a:prstGeom prst="ellipse">
            <a:avLst/>
          </a:prstGeom>
          <a:solidFill>
            <a:schemeClr val="accent1"/>
          </a:solidFill>
          <a:ln w="3175">
            <a:solidFill>
              <a:schemeClr val="accent1"/>
            </a:solidFill>
            <a:prstDash val="solid"/>
          </a:ln>
        </p:spPr>
      </p:sp>
      <p:sp>
        <p:nvSpPr>
          <p:cNvPr id="78" name="Model 4: electron, shell 3"/>
          <p:cNvSpPr/>
          <p:nvPr/>
        </p:nvSpPr>
        <p:spPr>
          <a:xfrm>
            <a:off x="8343246" y="2576820"/>
            <a:ext cx="95753" cy="95753"/>
          </a:xfrm>
          <a:prstGeom prst="ellipse">
            <a:avLst/>
          </a:prstGeom>
          <a:solidFill>
            <a:schemeClr val="accent1"/>
          </a:solidFill>
          <a:ln w="3175">
            <a:solidFill>
              <a:schemeClr val="accent1"/>
            </a:solidFill>
            <a:prstDash val="solid"/>
          </a:ln>
        </p:spPr>
      </p:sp>
      <p:sp>
        <p:nvSpPr>
          <p:cNvPr id="79" name="Model 4: electron, shell 3"/>
          <p:cNvSpPr/>
          <p:nvPr/>
        </p:nvSpPr>
        <p:spPr>
          <a:xfrm>
            <a:off x="7734036" y="3186030"/>
            <a:ext cx="95753" cy="95753"/>
          </a:xfrm>
          <a:prstGeom prst="ellipse">
            <a:avLst/>
          </a:prstGeom>
          <a:solidFill>
            <a:schemeClr val="accent1"/>
          </a:solidFill>
          <a:ln w="3175">
            <a:solidFill>
              <a:schemeClr val="accent1"/>
            </a:solidFill>
            <a:prstDash val="solid"/>
          </a:ln>
        </p:spPr>
      </p:sp>
      <p:sp>
        <p:nvSpPr>
          <p:cNvPr id="80" name="Model 4: electron, shell 3"/>
          <p:cNvSpPr/>
          <p:nvPr/>
        </p:nvSpPr>
        <p:spPr>
          <a:xfrm>
            <a:off x="7605283" y="3186030"/>
            <a:ext cx="95753" cy="95753"/>
          </a:xfrm>
          <a:prstGeom prst="ellipse">
            <a:avLst/>
          </a:prstGeom>
          <a:solidFill>
            <a:schemeClr val="accent1"/>
          </a:solidFill>
          <a:ln w="3175">
            <a:solidFill>
              <a:schemeClr val="accent1"/>
            </a:solidFill>
            <a:prstDash val="solid"/>
          </a:ln>
        </p:spPr>
      </p:sp>
      <p:sp>
        <p:nvSpPr>
          <p:cNvPr id="81" name="Model 4: electron, shell 3"/>
          <p:cNvSpPr/>
          <p:nvPr/>
        </p:nvSpPr>
        <p:spPr>
          <a:xfrm>
            <a:off x="6993003" y="2512443"/>
            <a:ext cx="95753" cy="95753"/>
          </a:xfrm>
          <a:prstGeom prst="ellipse">
            <a:avLst/>
          </a:prstGeom>
          <a:solidFill>
            <a:schemeClr val="accent1"/>
          </a:solidFill>
          <a:ln w="3175">
            <a:solidFill>
              <a:schemeClr val="accent1"/>
            </a:solidFill>
            <a:prstDash val="solid"/>
          </a:ln>
        </p:spPr>
      </p:sp>
      <p:sp>
        <p:nvSpPr>
          <p:cNvPr id="82" name="Text 80"/>
          <p:cNvSpPr txBox="1"/>
          <p:nvPr/>
        </p:nvSpPr>
        <p:spPr>
          <a:xfrm>
            <a:off x="6830568"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chlorine (17, 35.45)</a:t>
            </a:r>
            <a:endParaRPr lang="en-US" sz="1100" dirty="0"/>
          </a:p>
        </p:txBody>
      </p:sp>
      <p:sp>
        <p:nvSpPr>
          <p:cNvPr id="83" name="Text 81"/>
          <p:cNvSpPr txBox="1"/>
          <p:nvPr/>
        </p:nvSpPr>
        <p:spPr>
          <a:xfrm>
            <a:off x="6830568" y="3931920"/>
            <a:ext cx="1773936" cy="320040"/>
          </a:xfrm>
          <a:prstGeom prst="rect">
            <a:avLst/>
          </a:prstGeom>
          <a:noFill/>
          <a:ln/>
        </p:spPr>
        <p:txBody>
          <a:bodyPr wrap="square" lIns="0" tIns="0" rIns="0" bIns="0" rtlCol="0" anchor="t"/>
          <a:lstStyle/>
          <a:p>
            <a:pPr algn="ctr" indent="0" marL="0">
              <a:buNone/>
            </a:pPr>
            <a:r>
              <a:rPr lang="en-US" sz="1300" b="1" dirty="0">
                <a:solidFill>
                  <a:schemeClr val="accent2"/>
                </a:solidFill>
              </a:rPr>
              <a:t>What's wrong?</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6" name="Text 4"/>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Spot the mistake</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Each model has one mistake. What's wrong?</a:t>
            </a:r>
            <a:endParaRPr lang="en-US" sz="1300" dirty="0"/>
          </a:p>
        </p:txBody>
      </p:sp>
      <p:sp>
        <p:nvSpPr>
          <p:cNvPr id="10" name="Model 1"/>
          <p:cNvSpPr/>
          <p:nvPr/>
        </p:nvSpPr>
        <p:spPr>
          <a:xfrm>
            <a:off x="457200"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11" name="Model 1: shell 1"/>
          <p:cNvSpPr/>
          <p:nvPr/>
        </p:nvSpPr>
        <p:spPr>
          <a:xfrm>
            <a:off x="1062533" y="2187245"/>
            <a:ext cx="746150" cy="746150"/>
          </a:xfrm>
          <a:prstGeom prst="ellipse">
            <a:avLst/>
          </a:prstGeom>
          <a:solidFill>
            <a:schemeClr val="bg1">
              <a:alpha val="0"/>
            </a:schemeClr>
          </a:solidFill>
          <a:ln w="15875">
            <a:solidFill>
              <a:schemeClr val="bg2">
                <a:alpha val="55000"/>
              </a:schemeClr>
            </a:solidFill>
            <a:prstDash val="solid"/>
          </a:ln>
        </p:spPr>
      </p:sp>
      <p:sp>
        <p:nvSpPr>
          <p:cNvPr id="12" name="Model 1: shell 2"/>
          <p:cNvSpPr/>
          <p:nvPr/>
        </p:nvSpPr>
        <p:spPr>
          <a:xfrm>
            <a:off x="829361" y="1954073"/>
            <a:ext cx="1212494" cy="1212494"/>
          </a:xfrm>
          <a:prstGeom prst="ellipse">
            <a:avLst/>
          </a:prstGeom>
          <a:solidFill>
            <a:schemeClr val="bg1">
              <a:alpha val="0"/>
            </a:schemeClr>
          </a:solidFill>
          <a:ln w="15875">
            <a:solidFill>
              <a:schemeClr val="bg2">
                <a:alpha val="55000"/>
              </a:schemeClr>
            </a:solidFill>
            <a:prstDash val="solid"/>
          </a:ln>
        </p:spPr>
      </p:sp>
      <p:sp>
        <p:nvSpPr>
          <p:cNvPr id="13" name="Model 1: nucleus"/>
          <p:cNvSpPr/>
          <p:nvPr/>
        </p:nvSpPr>
        <p:spPr>
          <a:xfrm>
            <a:off x="1194664" y="2319376"/>
            <a:ext cx="481889" cy="48188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12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14" name="Model 1: electron, shell 1"/>
          <p:cNvSpPr/>
          <p:nvPr/>
        </p:nvSpPr>
        <p:spPr>
          <a:xfrm>
            <a:off x="1377315" y="2128952"/>
            <a:ext cx="116586" cy="116586"/>
          </a:xfrm>
          <a:prstGeom prst="ellipse">
            <a:avLst/>
          </a:prstGeom>
          <a:solidFill>
            <a:schemeClr val="accent1"/>
          </a:solidFill>
          <a:ln w="3175">
            <a:solidFill>
              <a:schemeClr val="accent1"/>
            </a:solidFill>
            <a:prstDash val="solid"/>
          </a:ln>
        </p:spPr>
      </p:sp>
      <p:sp>
        <p:nvSpPr>
          <p:cNvPr id="15" name="Model 1: electron, shell 1"/>
          <p:cNvSpPr/>
          <p:nvPr/>
        </p:nvSpPr>
        <p:spPr>
          <a:xfrm>
            <a:off x="1750390" y="2502027"/>
            <a:ext cx="116586" cy="116586"/>
          </a:xfrm>
          <a:prstGeom prst="ellipse">
            <a:avLst/>
          </a:prstGeom>
          <a:solidFill>
            <a:schemeClr val="accent1"/>
          </a:solidFill>
          <a:ln w="3175">
            <a:solidFill>
              <a:schemeClr val="accent1"/>
            </a:solidFill>
            <a:prstDash val="solid"/>
          </a:ln>
        </p:spPr>
      </p:sp>
      <p:sp>
        <p:nvSpPr>
          <p:cNvPr id="16" name="Model 1: electron, shell 1"/>
          <p:cNvSpPr/>
          <p:nvPr/>
        </p:nvSpPr>
        <p:spPr>
          <a:xfrm>
            <a:off x="1377315" y="2875102"/>
            <a:ext cx="116586" cy="116586"/>
          </a:xfrm>
          <a:prstGeom prst="ellipse">
            <a:avLst/>
          </a:prstGeom>
          <a:solidFill>
            <a:schemeClr val="accent1"/>
          </a:solidFill>
          <a:ln w="3175">
            <a:solidFill>
              <a:schemeClr val="accent1"/>
            </a:solidFill>
            <a:prstDash val="solid"/>
          </a:ln>
        </p:spPr>
      </p:sp>
      <p:sp>
        <p:nvSpPr>
          <p:cNvPr id="17" name="Model 1: electron, shell 1"/>
          <p:cNvSpPr/>
          <p:nvPr/>
        </p:nvSpPr>
        <p:spPr>
          <a:xfrm>
            <a:off x="1004240" y="2502027"/>
            <a:ext cx="116586" cy="116586"/>
          </a:xfrm>
          <a:prstGeom prst="ellipse">
            <a:avLst/>
          </a:prstGeom>
          <a:solidFill>
            <a:schemeClr val="accent1"/>
          </a:solidFill>
          <a:ln w="3175">
            <a:solidFill>
              <a:schemeClr val="accent1"/>
            </a:solidFill>
            <a:prstDash val="solid"/>
          </a:ln>
        </p:spPr>
      </p:sp>
      <p:sp>
        <p:nvSpPr>
          <p:cNvPr id="18" name="Model 1: electron, shell 2"/>
          <p:cNvSpPr/>
          <p:nvPr/>
        </p:nvSpPr>
        <p:spPr>
          <a:xfrm>
            <a:off x="1299033" y="1900855"/>
            <a:ext cx="116586" cy="116586"/>
          </a:xfrm>
          <a:prstGeom prst="ellipse">
            <a:avLst/>
          </a:prstGeom>
          <a:solidFill>
            <a:schemeClr val="accent1"/>
          </a:solidFill>
          <a:ln w="3175">
            <a:solidFill>
              <a:schemeClr val="accent1"/>
            </a:solidFill>
            <a:prstDash val="solid"/>
          </a:ln>
        </p:spPr>
      </p:sp>
      <p:sp>
        <p:nvSpPr>
          <p:cNvPr id="19" name="Model 1: electron, shell 2"/>
          <p:cNvSpPr/>
          <p:nvPr/>
        </p:nvSpPr>
        <p:spPr>
          <a:xfrm>
            <a:off x="1455597" y="1900855"/>
            <a:ext cx="116586" cy="116586"/>
          </a:xfrm>
          <a:prstGeom prst="ellipse">
            <a:avLst/>
          </a:prstGeom>
          <a:solidFill>
            <a:schemeClr val="accent1"/>
          </a:solidFill>
          <a:ln w="3175">
            <a:solidFill>
              <a:schemeClr val="accent1"/>
            </a:solidFill>
            <a:prstDash val="solid"/>
          </a:ln>
        </p:spPr>
      </p:sp>
      <p:sp>
        <p:nvSpPr>
          <p:cNvPr id="20" name="Model 1: electron, shell 2"/>
          <p:cNvSpPr/>
          <p:nvPr/>
        </p:nvSpPr>
        <p:spPr>
          <a:xfrm>
            <a:off x="1978487" y="2423745"/>
            <a:ext cx="116586" cy="116586"/>
          </a:xfrm>
          <a:prstGeom prst="ellipse">
            <a:avLst/>
          </a:prstGeom>
          <a:solidFill>
            <a:schemeClr val="accent1"/>
          </a:solidFill>
          <a:ln w="3175">
            <a:solidFill>
              <a:schemeClr val="accent1"/>
            </a:solidFill>
            <a:prstDash val="solid"/>
          </a:ln>
        </p:spPr>
      </p:sp>
      <p:sp>
        <p:nvSpPr>
          <p:cNvPr id="21" name="Model 1: electron, shell 2"/>
          <p:cNvSpPr/>
          <p:nvPr/>
        </p:nvSpPr>
        <p:spPr>
          <a:xfrm>
            <a:off x="1978487" y="2580309"/>
            <a:ext cx="116586" cy="116586"/>
          </a:xfrm>
          <a:prstGeom prst="ellipse">
            <a:avLst/>
          </a:prstGeom>
          <a:solidFill>
            <a:schemeClr val="accent1"/>
          </a:solidFill>
          <a:ln w="3175">
            <a:solidFill>
              <a:schemeClr val="accent1"/>
            </a:solidFill>
            <a:prstDash val="solid"/>
          </a:ln>
        </p:spPr>
      </p:sp>
      <p:sp>
        <p:nvSpPr>
          <p:cNvPr id="22" name="Model 1: electron, shell 2"/>
          <p:cNvSpPr/>
          <p:nvPr/>
        </p:nvSpPr>
        <p:spPr>
          <a:xfrm>
            <a:off x="1455597" y="3103199"/>
            <a:ext cx="116586" cy="116586"/>
          </a:xfrm>
          <a:prstGeom prst="ellipse">
            <a:avLst/>
          </a:prstGeom>
          <a:solidFill>
            <a:schemeClr val="accent1"/>
          </a:solidFill>
          <a:ln w="3175">
            <a:solidFill>
              <a:schemeClr val="accent1"/>
            </a:solidFill>
            <a:prstDash val="solid"/>
          </a:ln>
        </p:spPr>
      </p:sp>
      <p:sp>
        <p:nvSpPr>
          <p:cNvPr id="23" name="Model 1: electron, shell 2"/>
          <p:cNvSpPr/>
          <p:nvPr/>
        </p:nvSpPr>
        <p:spPr>
          <a:xfrm>
            <a:off x="1299033" y="3103199"/>
            <a:ext cx="116586" cy="116586"/>
          </a:xfrm>
          <a:prstGeom prst="ellipse">
            <a:avLst/>
          </a:prstGeom>
          <a:solidFill>
            <a:schemeClr val="accent1"/>
          </a:solidFill>
          <a:ln w="3175">
            <a:solidFill>
              <a:schemeClr val="accent1"/>
            </a:solidFill>
            <a:prstDash val="solid"/>
          </a:ln>
        </p:spPr>
      </p:sp>
      <p:sp>
        <p:nvSpPr>
          <p:cNvPr id="24" name="Model 1: electron, shell 2"/>
          <p:cNvSpPr/>
          <p:nvPr/>
        </p:nvSpPr>
        <p:spPr>
          <a:xfrm>
            <a:off x="776143" y="2580309"/>
            <a:ext cx="116586" cy="116586"/>
          </a:xfrm>
          <a:prstGeom prst="ellipse">
            <a:avLst/>
          </a:prstGeom>
          <a:solidFill>
            <a:schemeClr val="accent1"/>
          </a:solidFill>
          <a:ln w="3175">
            <a:solidFill>
              <a:schemeClr val="accent1"/>
            </a:solidFill>
            <a:prstDash val="solid"/>
          </a:ln>
        </p:spPr>
      </p:sp>
      <p:sp>
        <p:nvSpPr>
          <p:cNvPr id="25" name="Model 1: electron, shell 2"/>
          <p:cNvSpPr/>
          <p:nvPr/>
        </p:nvSpPr>
        <p:spPr>
          <a:xfrm>
            <a:off x="776143" y="2423745"/>
            <a:ext cx="116586" cy="116586"/>
          </a:xfrm>
          <a:prstGeom prst="ellipse">
            <a:avLst/>
          </a:prstGeom>
          <a:solidFill>
            <a:schemeClr val="accent1"/>
          </a:solidFill>
          <a:ln w="3175">
            <a:solidFill>
              <a:schemeClr val="accent1"/>
            </a:solidFill>
            <a:prstDash val="solid"/>
          </a:ln>
        </p:spPr>
      </p:sp>
      <p:sp>
        <p:nvSpPr>
          <p:cNvPr id="26" name="Text 24"/>
          <p:cNvSpPr txBox="1"/>
          <p:nvPr/>
        </p:nvSpPr>
        <p:spPr>
          <a:xfrm>
            <a:off x="548640"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magnesium (12, 24.305)</a:t>
            </a:r>
            <a:endParaRPr lang="en-US" sz="1100" dirty="0"/>
          </a:p>
        </p:txBody>
      </p:sp>
      <p:sp>
        <p:nvSpPr>
          <p:cNvPr id="27" name="Text 25"/>
          <p:cNvSpPr txBox="1"/>
          <p:nvPr/>
        </p:nvSpPr>
        <p:spPr>
          <a:xfrm>
            <a:off x="566928" y="3767328"/>
            <a:ext cx="1737360" cy="841248"/>
          </a:xfrm>
          <a:prstGeom prst="rect">
            <a:avLst/>
          </a:prstGeom>
          <a:noFill/>
          <a:ln/>
        </p:spPr>
        <p:txBody>
          <a:bodyPr wrap="square" lIns="0" tIns="0" rIns="0" bIns="0" rtlCol="0" anchor="t"/>
          <a:lstStyle/>
          <a:p>
            <a:pPr algn="ctr" indent="0" marL="0">
              <a:buNone/>
            </a:pPr>
            <a:r>
              <a:rPr lang="en-US" sz="1200" b="1" dirty="0">
                <a:solidFill>
                  <a:schemeClr val="accent4"/>
                </a:solidFill>
              </a:rPr>
              <a:t>Shell 1 holds only 2 electrons. It should be 2, 8, 2.</a:t>
            </a:r>
            <a:endParaRPr lang="en-US" sz="1200" dirty="0"/>
          </a:p>
        </p:txBody>
      </p:sp>
      <p:sp>
        <p:nvSpPr>
          <p:cNvPr id="28" name="Model 2"/>
          <p:cNvSpPr/>
          <p:nvPr/>
        </p:nvSpPr>
        <p:spPr>
          <a:xfrm>
            <a:off x="2551176"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29" name="Model 2: shell 1"/>
          <p:cNvSpPr/>
          <p:nvPr/>
        </p:nvSpPr>
        <p:spPr>
          <a:xfrm>
            <a:off x="3223174" y="2253910"/>
            <a:ext cx="612821" cy="612821"/>
          </a:xfrm>
          <a:prstGeom prst="ellipse">
            <a:avLst/>
          </a:prstGeom>
          <a:solidFill>
            <a:schemeClr val="bg1">
              <a:alpha val="0"/>
            </a:schemeClr>
          </a:solidFill>
          <a:ln w="15875">
            <a:solidFill>
              <a:schemeClr val="bg2">
                <a:alpha val="55000"/>
              </a:schemeClr>
            </a:solidFill>
            <a:prstDash val="solid"/>
          </a:ln>
        </p:spPr>
      </p:sp>
      <p:sp>
        <p:nvSpPr>
          <p:cNvPr id="30" name="Model 2: shell 2"/>
          <p:cNvSpPr/>
          <p:nvPr/>
        </p:nvSpPr>
        <p:spPr>
          <a:xfrm>
            <a:off x="3031667" y="2062403"/>
            <a:ext cx="995833" cy="995833"/>
          </a:xfrm>
          <a:prstGeom prst="ellipse">
            <a:avLst/>
          </a:prstGeom>
          <a:solidFill>
            <a:schemeClr val="bg1">
              <a:alpha val="0"/>
            </a:schemeClr>
          </a:solidFill>
          <a:ln w="15875">
            <a:solidFill>
              <a:schemeClr val="bg2">
                <a:alpha val="55000"/>
              </a:schemeClr>
            </a:solidFill>
            <a:prstDash val="solid"/>
          </a:ln>
        </p:spPr>
      </p:sp>
      <p:sp>
        <p:nvSpPr>
          <p:cNvPr id="31" name="Model 2: shell 3"/>
          <p:cNvSpPr/>
          <p:nvPr/>
        </p:nvSpPr>
        <p:spPr>
          <a:xfrm>
            <a:off x="2852928" y="1883664"/>
            <a:ext cx="1353312" cy="1353312"/>
          </a:xfrm>
          <a:prstGeom prst="ellipse">
            <a:avLst/>
          </a:prstGeom>
          <a:solidFill>
            <a:schemeClr val="bg1">
              <a:alpha val="0"/>
            </a:schemeClr>
          </a:solidFill>
          <a:ln w="15875">
            <a:solidFill>
              <a:schemeClr val="bg2">
                <a:alpha val="55000"/>
              </a:schemeClr>
            </a:solidFill>
            <a:prstDash val="solid"/>
          </a:ln>
        </p:spPr>
      </p:sp>
      <p:sp>
        <p:nvSpPr>
          <p:cNvPr id="32" name="Model 2: nucleus"/>
          <p:cNvSpPr/>
          <p:nvPr/>
        </p:nvSpPr>
        <p:spPr>
          <a:xfrm>
            <a:off x="3331694" y="2362430"/>
            <a:ext cx="395780" cy="39578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11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33" name="Model 2: electron, shell 1"/>
          <p:cNvSpPr/>
          <p:nvPr/>
        </p:nvSpPr>
        <p:spPr>
          <a:xfrm>
            <a:off x="3481707" y="2206033"/>
            <a:ext cx="95753" cy="95753"/>
          </a:xfrm>
          <a:prstGeom prst="ellipse">
            <a:avLst/>
          </a:prstGeom>
          <a:solidFill>
            <a:schemeClr val="accent1"/>
          </a:solidFill>
          <a:ln w="3175">
            <a:solidFill>
              <a:schemeClr val="accent1"/>
            </a:solidFill>
            <a:prstDash val="solid"/>
          </a:ln>
        </p:spPr>
      </p:sp>
      <p:sp>
        <p:nvSpPr>
          <p:cNvPr id="34" name="Model 2: electron, shell 1"/>
          <p:cNvSpPr/>
          <p:nvPr/>
        </p:nvSpPr>
        <p:spPr>
          <a:xfrm>
            <a:off x="3788118" y="2512443"/>
            <a:ext cx="95753" cy="95753"/>
          </a:xfrm>
          <a:prstGeom prst="ellipse">
            <a:avLst/>
          </a:prstGeom>
          <a:solidFill>
            <a:schemeClr val="accent1"/>
          </a:solidFill>
          <a:ln w="3175">
            <a:solidFill>
              <a:schemeClr val="accent1"/>
            </a:solidFill>
            <a:prstDash val="solid"/>
          </a:ln>
        </p:spPr>
      </p:sp>
      <p:sp>
        <p:nvSpPr>
          <p:cNvPr id="35" name="Model 2: electron, shell 2"/>
          <p:cNvSpPr/>
          <p:nvPr/>
        </p:nvSpPr>
        <p:spPr>
          <a:xfrm>
            <a:off x="3417414" y="2018695"/>
            <a:ext cx="95753" cy="95753"/>
          </a:xfrm>
          <a:prstGeom prst="ellipse">
            <a:avLst/>
          </a:prstGeom>
          <a:solidFill>
            <a:schemeClr val="accent1"/>
          </a:solidFill>
          <a:ln w="3175">
            <a:solidFill>
              <a:schemeClr val="accent1"/>
            </a:solidFill>
            <a:prstDash val="solid"/>
          </a:ln>
        </p:spPr>
      </p:sp>
      <p:sp>
        <p:nvSpPr>
          <p:cNvPr id="36" name="Model 2: electron, shell 2"/>
          <p:cNvSpPr/>
          <p:nvPr/>
        </p:nvSpPr>
        <p:spPr>
          <a:xfrm>
            <a:off x="3546001" y="2018695"/>
            <a:ext cx="95753" cy="95753"/>
          </a:xfrm>
          <a:prstGeom prst="ellipse">
            <a:avLst/>
          </a:prstGeom>
          <a:solidFill>
            <a:schemeClr val="accent1"/>
          </a:solidFill>
          <a:ln w="3175">
            <a:solidFill>
              <a:schemeClr val="accent1"/>
            </a:solidFill>
            <a:prstDash val="solid"/>
          </a:ln>
        </p:spPr>
      </p:sp>
      <p:sp>
        <p:nvSpPr>
          <p:cNvPr id="37" name="Model 2: electron, shell 2"/>
          <p:cNvSpPr/>
          <p:nvPr/>
        </p:nvSpPr>
        <p:spPr>
          <a:xfrm>
            <a:off x="3975456" y="2448150"/>
            <a:ext cx="95753" cy="95753"/>
          </a:xfrm>
          <a:prstGeom prst="ellipse">
            <a:avLst/>
          </a:prstGeom>
          <a:solidFill>
            <a:schemeClr val="accent1"/>
          </a:solidFill>
          <a:ln w="3175">
            <a:solidFill>
              <a:schemeClr val="accent1"/>
            </a:solidFill>
            <a:prstDash val="solid"/>
          </a:ln>
        </p:spPr>
      </p:sp>
      <p:sp>
        <p:nvSpPr>
          <p:cNvPr id="38" name="Model 2: electron, shell 2"/>
          <p:cNvSpPr/>
          <p:nvPr/>
        </p:nvSpPr>
        <p:spPr>
          <a:xfrm>
            <a:off x="3975456" y="2576737"/>
            <a:ext cx="95753" cy="95753"/>
          </a:xfrm>
          <a:prstGeom prst="ellipse">
            <a:avLst/>
          </a:prstGeom>
          <a:solidFill>
            <a:schemeClr val="accent1"/>
          </a:solidFill>
          <a:ln w="3175">
            <a:solidFill>
              <a:schemeClr val="accent1"/>
            </a:solidFill>
            <a:prstDash val="solid"/>
          </a:ln>
        </p:spPr>
      </p:sp>
      <p:sp>
        <p:nvSpPr>
          <p:cNvPr id="39" name="Model 2: electron, shell 2"/>
          <p:cNvSpPr/>
          <p:nvPr/>
        </p:nvSpPr>
        <p:spPr>
          <a:xfrm>
            <a:off x="3546001" y="3006192"/>
            <a:ext cx="95753" cy="95753"/>
          </a:xfrm>
          <a:prstGeom prst="ellipse">
            <a:avLst/>
          </a:prstGeom>
          <a:solidFill>
            <a:schemeClr val="accent1"/>
          </a:solidFill>
          <a:ln w="3175">
            <a:solidFill>
              <a:schemeClr val="accent1"/>
            </a:solidFill>
            <a:prstDash val="solid"/>
          </a:ln>
        </p:spPr>
      </p:sp>
      <p:sp>
        <p:nvSpPr>
          <p:cNvPr id="40" name="Model 2: electron, shell 2"/>
          <p:cNvSpPr/>
          <p:nvPr/>
        </p:nvSpPr>
        <p:spPr>
          <a:xfrm>
            <a:off x="3417414" y="3006192"/>
            <a:ext cx="95753" cy="95753"/>
          </a:xfrm>
          <a:prstGeom prst="ellipse">
            <a:avLst/>
          </a:prstGeom>
          <a:solidFill>
            <a:schemeClr val="accent1"/>
          </a:solidFill>
          <a:ln w="3175">
            <a:solidFill>
              <a:schemeClr val="accent1"/>
            </a:solidFill>
            <a:prstDash val="solid"/>
          </a:ln>
        </p:spPr>
      </p:sp>
      <p:sp>
        <p:nvSpPr>
          <p:cNvPr id="41" name="Model 2: electron, shell 2"/>
          <p:cNvSpPr/>
          <p:nvPr/>
        </p:nvSpPr>
        <p:spPr>
          <a:xfrm>
            <a:off x="2987959" y="2576737"/>
            <a:ext cx="95753" cy="95753"/>
          </a:xfrm>
          <a:prstGeom prst="ellipse">
            <a:avLst/>
          </a:prstGeom>
          <a:solidFill>
            <a:schemeClr val="accent1"/>
          </a:solidFill>
          <a:ln w="3175">
            <a:solidFill>
              <a:schemeClr val="accent1"/>
            </a:solidFill>
            <a:prstDash val="solid"/>
          </a:ln>
        </p:spPr>
      </p:sp>
      <p:sp>
        <p:nvSpPr>
          <p:cNvPr id="42" name="Model 2: electron, shell 2"/>
          <p:cNvSpPr/>
          <p:nvPr/>
        </p:nvSpPr>
        <p:spPr>
          <a:xfrm>
            <a:off x="2987959" y="2448150"/>
            <a:ext cx="95753" cy="95753"/>
          </a:xfrm>
          <a:prstGeom prst="ellipse">
            <a:avLst/>
          </a:prstGeom>
          <a:solidFill>
            <a:schemeClr val="accent1"/>
          </a:solidFill>
          <a:ln w="3175">
            <a:solidFill>
              <a:schemeClr val="accent1"/>
            </a:solidFill>
            <a:prstDash val="solid"/>
          </a:ln>
        </p:spPr>
      </p:sp>
      <p:sp>
        <p:nvSpPr>
          <p:cNvPr id="43" name="Model 2: electron, shell 3"/>
          <p:cNvSpPr/>
          <p:nvPr/>
        </p:nvSpPr>
        <p:spPr>
          <a:xfrm>
            <a:off x="3481707" y="1835787"/>
            <a:ext cx="95753" cy="95753"/>
          </a:xfrm>
          <a:prstGeom prst="ellipse">
            <a:avLst/>
          </a:prstGeom>
          <a:solidFill>
            <a:schemeClr val="accent1"/>
          </a:solidFill>
          <a:ln w="3175">
            <a:solidFill>
              <a:schemeClr val="accent1"/>
            </a:solidFill>
            <a:prstDash val="solid"/>
          </a:ln>
        </p:spPr>
      </p:sp>
      <p:sp>
        <p:nvSpPr>
          <p:cNvPr id="44" name="Model 2: electron, shell 3"/>
          <p:cNvSpPr/>
          <p:nvPr/>
        </p:nvSpPr>
        <p:spPr>
          <a:xfrm>
            <a:off x="4158363" y="2512443"/>
            <a:ext cx="95753" cy="95753"/>
          </a:xfrm>
          <a:prstGeom prst="ellipse">
            <a:avLst/>
          </a:prstGeom>
          <a:solidFill>
            <a:schemeClr val="accent1"/>
          </a:solidFill>
          <a:ln w="3175">
            <a:solidFill>
              <a:schemeClr val="accent1"/>
            </a:solidFill>
            <a:prstDash val="solid"/>
          </a:ln>
        </p:spPr>
      </p:sp>
      <p:sp>
        <p:nvSpPr>
          <p:cNvPr id="45" name="Text 43"/>
          <p:cNvSpPr txBox="1"/>
          <p:nvPr/>
        </p:nvSpPr>
        <p:spPr>
          <a:xfrm>
            <a:off x="2642616"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sodium (11, 22.990)</a:t>
            </a:r>
            <a:endParaRPr lang="en-US" sz="1100" dirty="0"/>
          </a:p>
        </p:txBody>
      </p:sp>
      <p:sp>
        <p:nvSpPr>
          <p:cNvPr id="46" name="Text 44"/>
          <p:cNvSpPr txBox="1"/>
          <p:nvPr/>
        </p:nvSpPr>
        <p:spPr>
          <a:xfrm>
            <a:off x="2660904" y="3767328"/>
            <a:ext cx="1737360" cy="841248"/>
          </a:xfrm>
          <a:prstGeom prst="rect">
            <a:avLst/>
          </a:prstGeom>
          <a:noFill/>
          <a:ln/>
        </p:spPr>
        <p:txBody>
          <a:bodyPr wrap="square" lIns="0" tIns="0" rIns="0" bIns="0" rtlCol="0" anchor="t"/>
          <a:lstStyle/>
          <a:p>
            <a:pPr algn="ctr" indent="0" marL="0">
              <a:buNone/>
            </a:pPr>
            <a:r>
              <a:rPr lang="en-US" sz="1200" b="1" dirty="0">
                <a:solidFill>
                  <a:schemeClr val="accent4"/>
                </a:solidFill>
              </a:rPr>
              <a:t>It has 12 electrons, but sodium has only 11 protons. It should be 2, 8, 1.</a:t>
            </a:r>
            <a:endParaRPr lang="en-US" sz="1200" dirty="0"/>
          </a:p>
        </p:txBody>
      </p:sp>
      <p:sp>
        <p:nvSpPr>
          <p:cNvPr id="47" name="Model 3"/>
          <p:cNvSpPr/>
          <p:nvPr/>
        </p:nvSpPr>
        <p:spPr>
          <a:xfrm>
            <a:off x="4645152"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48" name="Model 3: shell 1"/>
          <p:cNvSpPr/>
          <p:nvPr/>
        </p:nvSpPr>
        <p:spPr>
          <a:xfrm>
            <a:off x="5250485" y="2187245"/>
            <a:ext cx="746150" cy="746150"/>
          </a:xfrm>
          <a:prstGeom prst="ellipse">
            <a:avLst/>
          </a:prstGeom>
          <a:solidFill>
            <a:schemeClr val="bg1">
              <a:alpha val="0"/>
            </a:schemeClr>
          </a:solidFill>
          <a:ln w="15875">
            <a:solidFill>
              <a:schemeClr val="bg2">
                <a:alpha val="55000"/>
              </a:schemeClr>
            </a:solidFill>
            <a:prstDash val="solid"/>
          </a:ln>
        </p:spPr>
      </p:sp>
      <p:sp>
        <p:nvSpPr>
          <p:cNvPr id="49" name="Model 3: shell 2"/>
          <p:cNvSpPr/>
          <p:nvPr/>
        </p:nvSpPr>
        <p:spPr>
          <a:xfrm>
            <a:off x="5017313" y="1954073"/>
            <a:ext cx="1212494" cy="1212494"/>
          </a:xfrm>
          <a:prstGeom prst="ellipse">
            <a:avLst/>
          </a:prstGeom>
          <a:solidFill>
            <a:schemeClr val="bg1">
              <a:alpha val="0"/>
            </a:schemeClr>
          </a:solidFill>
          <a:ln w="15875">
            <a:solidFill>
              <a:schemeClr val="bg2">
                <a:alpha val="55000"/>
              </a:schemeClr>
            </a:solidFill>
            <a:prstDash val="solid"/>
          </a:ln>
        </p:spPr>
      </p:sp>
      <p:sp>
        <p:nvSpPr>
          <p:cNvPr id="50" name="Model 3: nucleus"/>
          <p:cNvSpPr/>
          <p:nvPr/>
        </p:nvSpPr>
        <p:spPr>
          <a:xfrm>
            <a:off x="5382616" y="2319376"/>
            <a:ext cx="481889" cy="48188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8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8 n</a:t>
            </a:r>
            <a:pPr algn="ctr" indent="0" marL="0">
              <a:buNone/>
            </a:pPr>
            <a:r>
              <a:rPr lang="en-US" sz="800" b="1" baseline="30000" dirty="0">
                <a:solidFill>
                  <a:schemeClr val="bg1"/>
                </a:solidFill>
              </a:rPr>
              <a:t>0</a:t>
            </a:r>
            <a:endParaRPr lang="en-US" sz="800" dirty="0"/>
          </a:p>
        </p:txBody>
      </p:sp>
      <p:sp>
        <p:nvSpPr>
          <p:cNvPr id="51" name="Model 3: electron, shell 1"/>
          <p:cNvSpPr/>
          <p:nvPr/>
        </p:nvSpPr>
        <p:spPr>
          <a:xfrm>
            <a:off x="5565267" y="2128952"/>
            <a:ext cx="116586" cy="116586"/>
          </a:xfrm>
          <a:prstGeom prst="ellipse">
            <a:avLst/>
          </a:prstGeom>
          <a:solidFill>
            <a:schemeClr val="accent1"/>
          </a:solidFill>
          <a:ln w="3175">
            <a:solidFill>
              <a:schemeClr val="accent1"/>
            </a:solidFill>
            <a:prstDash val="solid"/>
          </a:ln>
        </p:spPr>
      </p:sp>
      <p:sp>
        <p:nvSpPr>
          <p:cNvPr id="52" name="Model 3: electron, shell 1"/>
          <p:cNvSpPr/>
          <p:nvPr/>
        </p:nvSpPr>
        <p:spPr>
          <a:xfrm>
            <a:off x="5938342" y="2502027"/>
            <a:ext cx="116586" cy="116586"/>
          </a:xfrm>
          <a:prstGeom prst="ellipse">
            <a:avLst/>
          </a:prstGeom>
          <a:solidFill>
            <a:schemeClr val="accent1"/>
          </a:solidFill>
          <a:ln w="3175">
            <a:solidFill>
              <a:schemeClr val="accent1"/>
            </a:solidFill>
            <a:prstDash val="solid"/>
          </a:ln>
        </p:spPr>
      </p:sp>
      <p:sp>
        <p:nvSpPr>
          <p:cNvPr id="53" name="Model 3: electron, shell 2"/>
          <p:cNvSpPr/>
          <p:nvPr/>
        </p:nvSpPr>
        <p:spPr>
          <a:xfrm>
            <a:off x="5486985" y="1900855"/>
            <a:ext cx="116586" cy="116586"/>
          </a:xfrm>
          <a:prstGeom prst="ellipse">
            <a:avLst/>
          </a:prstGeom>
          <a:solidFill>
            <a:schemeClr val="accent1"/>
          </a:solidFill>
          <a:ln w="3175">
            <a:solidFill>
              <a:schemeClr val="accent1"/>
            </a:solidFill>
            <a:prstDash val="solid"/>
          </a:ln>
        </p:spPr>
      </p:sp>
      <p:sp>
        <p:nvSpPr>
          <p:cNvPr id="54" name="Model 3: electron, shell 2"/>
          <p:cNvSpPr/>
          <p:nvPr/>
        </p:nvSpPr>
        <p:spPr>
          <a:xfrm>
            <a:off x="5643549" y="1900855"/>
            <a:ext cx="116586" cy="116586"/>
          </a:xfrm>
          <a:prstGeom prst="ellipse">
            <a:avLst/>
          </a:prstGeom>
          <a:solidFill>
            <a:schemeClr val="accent1"/>
          </a:solidFill>
          <a:ln w="3175">
            <a:solidFill>
              <a:schemeClr val="accent1"/>
            </a:solidFill>
            <a:prstDash val="solid"/>
          </a:ln>
        </p:spPr>
      </p:sp>
      <p:sp>
        <p:nvSpPr>
          <p:cNvPr id="55" name="Model 3: electron, shell 2"/>
          <p:cNvSpPr/>
          <p:nvPr/>
        </p:nvSpPr>
        <p:spPr>
          <a:xfrm>
            <a:off x="6166439" y="2423745"/>
            <a:ext cx="116586" cy="116586"/>
          </a:xfrm>
          <a:prstGeom prst="ellipse">
            <a:avLst/>
          </a:prstGeom>
          <a:solidFill>
            <a:schemeClr val="accent1"/>
          </a:solidFill>
          <a:ln w="3175">
            <a:solidFill>
              <a:schemeClr val="accent1"/>
            </a:solidFill>
            <a:prstDash val="solid"/>
          </a:ln>
        </p:spPr>
      </p:sp>
      <p:sp>
        <p:nvSpPr>
          <p:cNvPr id="56" name="Model 3: electron, shell 2"/>
          <p:cNvSpPr/>
          <p:nvPr/>
        </p:nvSpPr>
        <p:spPr>
          <a:xfrm>
            <a:off x="6166439" y="2580309"/>
            <a:ext cx="116586" cy="116586"/>
          </a:xfrm>
          <a:prstGeom prst="ellipse">
            <a:avLst/>
          </a:prstGeom>
          <a:solidFill>
            <a:schemeClr val="accent1"/>
          </a:solidFill>
          <a:ln w="3175">
            <a:solidFill>
              <a:schemeClr val="accent1"/>
            </a:solidFill>
            <a:prstDash val="solid"/>
          </a:ln>
        </p:spPr>
      </p:sp>
      <p:sp>
        <p:nvSpPr>
          <p:cNvPr id="57" name="Model 3: electron, shell 2"/>
          <p:cNvSpPr/>
          <p:nvPr/>
        </p:nvSpPr>
        <p:spPr>
          <a:xfrm>
            <a:off x="5643549" y="3103199"/>
            <a:ext cx="116586" cy="116586"/>
          </a:xfrm>
          <a:prstGeom prst="ellipse">
            <a:avLst/>
          </a:prstGeom>
          <a:solidFill>
            <a:schemeClr val="accent1"/>
          </a:solidFill>
          <a:ln w="3175">
            <a:solidFill>
              <a:schemeClr val="accent1"/>
            </a:solidFill>
            <a:prstDash val="solid"/>
          </a:ln>
        </p:spPr>
      </p:sp>
      <p:sp>
        <p:nvSpPr>
          <p:cNvPr id="58" name="Model 3: electron, shell 2"/>
          <p:cNvSpPr/>
          <p:nvPr/>
        </p:nvSpPr>
        <p:spPr>
          <a:xfrm>
            <a:off x="5486985" y="3103199"/>
            <a:ext cx="116586" cy="116586"/>
          </a:xfrm>
          <a:prstGeom prst="ellipse">
            <a:avLst/>
          </a:prstGeom>
          <a:solidFill>
            <a:schemeClr val="accent1"/>
          </a:solidFill>
          <a:ln w="3175">
            <a:solidFill>
              <a:schemeClr val="accent1"/>
            </a:solidFill>
            <a:prstDash val="solid"/>
          </a:ln>
        </p:spPr>
      </p:sp>
      <p:sp>
        <p:nvSpPr>
          <p:cNvPr id="59" name="Text 57"/>
          <p:cNvSpPr txBox="1"/>
          <p:nvPr/>
        </p:nvSpPr>
        <p:spPr>
          <a:xfrm>
            <a:off x="4736592"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oxygen (8, 15.999)</a:t>
            </a:r>
            <a:endParaRPr lang="en-US" sz="1100" dirty="0"/>
          </a:p>
        </p:txBody>
      </p:sp>
      <p:sp>
        <p:nvSpPr>
          <p:cNvPr id="60" name="Text 58"/>
          <p:cNvSpPr txBox="1"/>
          <p:nvPr/>
        </p:nvSpPr>
        <p:spPr>
          <a:xfrm>
            <a:off x="4754880" y="3767328"/>
            <a:ext cx="1737360" cy="841248"/>
          </a:xfrm>
          <a:prstGeom prst="rect">
            <a:avLst/>
          </a:prstGeom>
          <a:noFill/>
          <a:ln/>
        </p:spPr>
        <p:txBody>
          <a:bodyPr wrap="square" lIns="0" tIns="0" rIns="0" bIns="0" rtlCol="0" anchor="t"/>
          <a:lstStyle/>
          <a:p>
            <a:pPr algn="ctr" indent="0" marL="0">
              <a:buNone/>
            </a:pPr>
            <a:r>
              <a:rPr lang="en-US" sz="1200" b="1" dirty="0">
                <a:solidFill>
                  <a:schemeClr val="accent4"/>
                </a:solidFill>
              </a:rPr>
              <a:t>Shell 2 paired up before every side had one. The left side is empty.</a:t>
            </a:r>
            <a:endParaRPr lang="en-US" sz="1200" dirty="0"/>
          </a:p>
        </p:txBody>
      </p:sp>
      <p:sp>
        <p:nvSpPr>
          <p:cNvPr id="61" name="Model 4"/>
          <p:cNvSpPr/>
          <p:nvPr/>
        </p:nvSpPr>
        <p:spPr>
          <a:xfrm>
            <a:off x="6739128" y="1645920"/>
            <a:ext cx="1956816" cy="3017520"/>
          </a:xfrm>
          <a:prstGeom prst="roundRect">
            <a:avLst>
              <a:gd name="adj" fmla="val 4673"/>
            </a:avLst>
          </a:prstGeom>
          <a:solidFill>
            <a:schemeClr val="tx2"/>
          </a:solidFill>
          <a:ln w="9525">
            <a:solidFill>
              <a:schemeClr val="bg2">
                <a:alpha val="30000"/>
              </a:schemeClr>
            </a:solidFill>
            <a:prstDash val="solid"/>
          </a:ln>
        </p:spPr>
      </p:sp>
      <p:sp>
        <p:nvSpPr>
          <p:cNvPr id="62" name="Model 4: shell 1"/>
          <p:cNvSpPr/>
          <p:nvPr/>
        </p:nvSpPr>
        <p:spPr>
          <a:xfrm>
            <a:off x="7411126" y="2253910"/>
            <a:ext cx="612821" cy="612821"/>
          </a:xfrm>
          <a:prstGeom prst="ellipse">
            <a:avLst/>
          </a:prstGeom>
          <a:solidFill>
            <a:schemeClr val="bg1">
              <a:alpha val="0"/>
            </a:schemeClr>
          </a:solidFill>
          <a:ln w="15875">
            <a:solidFill>
              <a:schemeClr val="bg2">
                <a:alpha val="55000"/>
              </a:schemeClr>
            </a:solidFill>
            <a:prstDash val="solid"/>
          </a:ln>
        </p:spPr>
      </p:sp>
      <p:sp>
        <p:nvSpPr>
          <p:cNvPr id="63" name="Model 4: shell 2"/>
          <p:cNvSpPr/>
          <p:nvPr/>
        </p:nvSpPr>
        <p:spPr>
          <a:xfrm>
            <a:off x="7219619" y="2062403"/>
            <a:ext cx="995833" cy="995833"/>
          </a:xfrm>
          <a:prstGeom prst="ellipse">
            <a:avLst/>
          </a:prstGeom>
          <a:solidFill>
            <a:schemeClr val="bg1">
              <a:alpha val="0"/>
            </a:schemeClr>
          </a:solidFill>
          <a:ln w="15875">
            <a:solidFill>
              <a:schemeClr val="bg2">
                <a:alpha val="55000"/>
              </a:schemeClr>
            </a:solidFill>
            <a:prstDash val="solid"/>
          </a:ln>
        </p:spPr>
      </p:sp>
      <p:sp>
        <p:nvSpPr>
          <p:cNvPr id="64" name="Model 4: shell 3"/>
          <p:cNvSpPr/>
          <p:nvPr/>
        </p:nvSpPr>
        <p:spPr>
          <a:xfrm>
            <a:off x="7040880" y="1883664"/>
            <a:ext cx="1353312" cy="1353312"/>
          </a:xfrm>
          <a:prstGeom prst="ellipse">
            <a:avLst/>
          </a:prstGeom>
          <a:solidFill>
            <a:schemeClr val="bg1">
              <a:alpha val="0"/>
            </a:schemeClr>
          </a:solidFill>
          <a:ln w="15875">
            <a:solidFill>
              <a:schemeClr val="bg2">
                <a:alpha val="55000"/>
              </a:schemeClr>
            </a:solidFill>
            <a:prstDash val="solid"/>
          </a:ln>
        </p:spPr>
      </p:sp>
      <p:sp>
        <p:nvSpPr>
          <p:cNvPr id="65" name="Model 4: nucleus"/>
          <p:cNvSpPr/>
          <p:nvPr/>
        </p:nvSpPr>
        <p:spPr>
          <a:xfrm>
            <a:off x="7519646" y="2362430"/>
            <a:ext cx="395780" cy="39578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17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17 n</a:t>
            </a:r>
            <a:pPr algn="ctr" indent="0" marL="0">
              <a:buNone/>
            </a:pPr>
            <a:r>
              <a:rPr lang="en-US" sz="800" b="1" baseline="30000" dirty="0">
                <a:solidFill>
                  <a:schemeClr val="bg1"/>
                </a:solidFill>
              </a:rPr>
              <a:t>0</a:t>
            </a:r>
            <a:endParaRPr lang="en-US" sz="800" dirty="0"/>
          </a:p>
        </p:txBody>
      </p:sp>
      <p:sp>
        <p:nvSpPr>
          <p:cNvPr id="66" name="Model 4: electron, shell 1"/>
          <p:cNvSpPr/>
          <p:nvPr/>
        </p:nvSpPr>
        <p:spPr>
          <a:xfrm>
            <a:off x="7669659" y="2206033"/>
            <a:ext cx="95753" cy="95753"/>
          </a:xfrm>
          <a:prstGeom prst="ellipse">
            <a:avLst/>
          </a:prstGeom>
          <a:solidFill>
            <a:schemeClr val="accent1"/>
          </a:solidFill>
          <a:ln w="3175">
            <a:solidFill>
              <a:schemeClr val="accent1"/>
            </a:solidFill>
            <a:prstDash val="solid"/>
          </a:ln>
        </p:spPr>
      </p:sp>
      <p:sp>
        <p:nvSpPr>
          <p:cNvPr id="67" name="Model 4: electron, shell 1"/>
          <p:cNvSpPr/>
          <p:nvPr/>
        </p:nvSpPr>
        <p:spPr>
          <a:xfrm>
            <a:off x="7976070" y="2512443"/>
            <a:ext cx="95753" cy="95753"/>
          </a:xfrm>
          <a:prstGeom prst="ellipse">
            <a:avLst/>
          </a:prstGeom>
          <a:solidFill>
            <a:schemeClr val="accent1"/>
          </a:solidFill>
          <a:ln w="3175">
            <a:solidFill>
              <a:schemeClr val="accent1"/>
            </a:solidFill>
            <a:prstDash val="solid"/>
          </a:ln>
        </p:spPr>
      </p:sp>
      <p:sp>
        <p:nvSpPr>
          <p:cNvPr id="68" name="Model 4: electron, shell 2"/>
          <p:cNvSpPr/>
          <p:nvPr/>
        </p:nvSpPr>
        <p:spPr>
          <a:xfrm>
            <a:off x="7605366" y="2018695"/>
            <a:ext cx="95753" cy="95753"/>
          </a:xfrm>
          <a:prstGeom prst="ellipse">
            <a:avLst/>
          </a:prstGeom>
          <a:solidFill>
            <a:schemeClr val="accent1"/>
          </a:solidFill>
          <a:ln w="3175">
            <a:solidFill>
              <a:schemeClr val="accent1"/>
            </a:solidFill>
            <a:prstDash val="solid"/>
          </a:ln>
        </p:spPr>
      </p:sp>
      <p:sp>
        <p:nvSpPr>
          <p:cNvPr id="69" name="Model 4: electron, shell 2"/>
          <p:cNvSpPr/>
          <p:nvPr/>
        </p:nvSpPr>
        <p:spPr>
          <a:xfrm>
            <a:off x="7733953" y="2018695"/>
            <a:ext cx="95753" cy="95753"/>
          </a:xfrm>
          <a:prstGeom prst="ellipse">
            <a:avLst/>
          </a:prstGeom>
          <a:solidFill>
            <a:schemeClr val="accent1"/>
          </a:solidFill>
          <a:ln w="3175">
            <a:solidFill>
              <a:schemeClr val="accent1"/>
            </a:solidFill>
            <a:prstDash val="solid"/>
          </a:ln>
        </p:spPr>
      </p:sp>
      <p:sp>
        <p:nvSpPr>
          <p:cNvPr id="70" name="Model 4: electron, shell 2"/>
          <p:cNvSpPr/>
          <p:nvPr/>
        </p:nvSpPr>
        <p:spPr>
          <a:xfrm>
            <a:off x="8163408" y="2448150"/>
            <a:ext cx="95753" cy="95753"/>
          </a:xfrm>
          <a:prstGeom prst="ellipse">
            <a:avLst/>
          </a:prstGeom>
          <a:solidFill>
            <a:schemeClr val="accent1"/>
          </a:solidFill>
          <a:ln w="3175">
            <a:solidFill>
              <a:schemeClr val="accent1"/>
            </a:solidFill>
            <a:prstDash val="solid"/>
          </a:ln>
        </p:spPr>
      </p:sp>
      <p:sp>
        <p:nvSpPr>
          <p:cNvPr id="71" name="Model 4: electron, shell 2"/>
          <p:cNvSpPr/>
          <p:nvPr/>
        </p:nvSpPr>
        <p:spPr>
          <a:xfrm>
            <a:off x="8163408" y="2576737"/>
            <a:ext cx="95753" cy="95753"/>
          </a:xfrm>
          <a:prstGeom prst="ellipse">
            <a:avLst/>
          </a:prstGeom>
          <a:solidFill>
            <a:schemeClr val="accent1"/>
          </a:solidFill>
          <a:ln w="3175">
            <a:solidFill>
              <a:schemeClr val="accent1"/>
            </a:solidFill>
            <a:prstDash val="solid"/>
          </a:ln>
        </p:spPr>
      </p:sp>
      <p:sp>
        <p:nvSpPr>
          <p:cNvPr id="72" name="Model 4: electron, shell 2"/>
          <p:cNvSpPr/>
          <p:nvPr/>
        </p:nvSpPr>
        <p:spPr>
          <a:xfrm>
            <a:off x="7733953" y="3006192"/>
            <a:ext cx="95753" cy="95753"/>
          </a:xfrm>
          <a:prstGeom prst="ellipse">
            <a:avLst/>
          </a:prstGeom>
          <a:solidFill>
            <a:schemeClr val="accent1"/>
          </a:solidFill>
          <a:ln w="3175">
            <a:solidFill>
              <a:schemeClr val="accent1"/>
            </a:solidFill>
            <a:prstDash val="solid"/>
          </a:ln>
        </p:spPr>
      </p:sp>
      <p:sp>
        <p:nvSpPr>
          <p:cNvPr id="73" name="Model 4: electron, shell 2"/>
          <p:cNvSpPr/>
          <p:nvPr/>
        </p:nvSpPr>
        <p:spPr>
          <a:xfrm>
            <a:off x="7605366" y="3006192"/>
            <a:ext cx="95753" cy="95753"/>
          </a:xfrm>
          <a:prstGeom prst="ellipse">
            <a:avLst/>
          </a:prstGeom>
          <a:solidFill>
            <a:schemeClr val="accent1"/>
          </a:solidFill>
          <a:ln w="3175">
            <a:solidFill>
              <a:schemeClr val="accent1"/>
            </a:solidFill>
            <a:prstDash val="solid"/>
          </a:ln>
        </p:spPr>
      </p:sp>
      <p:sp>
        <p:nvSpPr>
          <p:cNvPr id="74" name="Model 4: electron, shell 2"/>
          <p:cNvSpPr/>
          <p:nvPr/>
        </p:nvSpPr>
        <p:spPr>
          <a:xfrm>
            <a:off x="7175911" y="2576737"/>
            <a:ext cx="95753" cy="95753"/>
          </a:xfrm>
          <a:prstGeom prst="ellipse">
            <a:avLst/>
          </a:prstGeom>
          <a:solidFill>
            <a:schemeClr val="accent1"/>
          </a:solidFill>
          <a:ln w="3175">
            <a:solidFill>
              <a:schemeClr val="accent1"/>
            </a:solidFill>
            <a:prstDash val="solid"/>
          </a:ln>
        </p:spPr>
      </p:sp>
      <p:sp>
        <p:nvSpPr>
          <p:cNvPr id="75" name="Model 4: electron, shell 2"/>
          <p:cNvSpPr/>
          <p:nvPr/>
        </p:nvSpPr>
        <p:spPr>
          <a:xfrm>
            <a:off x="7175911" y="2448150"/>
            <a:ext cx="95753" cy="95753"/>
          </a:xfrm>
          <a:prstGeom prst="ellipse">
            <a:avLst/>
          </a:prstGeom>
          <a:solidFill>
            <a:schemeClr val="accent1"/>
          </a:solidFill>
          <a:ln w="3175">
            <a:solidFill>
              <a:schemeClr val="accent1"/>
            </a:solidFill>
            <a:prstDash val="solid"/>
          </a:ln>
        </p:spPr>
      </p:sp>
      <p:sp>
        <p:nvSpPr>
          <p:cNvPr id="76" name="Model 4: electron, shell 3"/>
          <p:cNvSpPr/>
          <p:nvPr/>
        </p:nvSpPr>
        <p:spPr>
          <a:xfrm>
            <a:off x="7605283" y="1838857"/>
            <a:ext cx="95753" cy="95753"/>
          </a:xfrm>
          <a:prstGeom prst="ellipse">
            <a:avLst/>
          </a:prstGeom>
          <a:solidFill>
            <a:schemeClr val="accent1"/>
          </a:solidFill>
          <a:ln w="3175">
            <a:solidFill>
              <a:schemeClr val="accent1"/>
            </a:solidFill>
            <a:prstDash val="solid"/>
          </a:ln>
        </p:spPr>
      </p:sp>
      <p:sp>
        <p:nvSpPr>
          <p:cNvPr id="77" name="Model 4: electron, shell 3"/>
          <p:cNvSpPr/>
          <p:nvPr/>
        </p:nvSpPr>
        <p:spPr>
          <a:xfrm>
            <a:off x="7734036" y="1838857"/>
            <a:ext cx="95753" cy="95753"/>
          </a:xfrm>
          <a:prstGeom prst="ellipse">
            <a:avLst/>
          </a:prstGeom>
          <a:solidFill>
            <a:schemeClr val="accent1"/>
          </a:solidFill>
          <a:ln w="3175">
            <a:solidFill>
              <a:schemeClr val="accent1"/>
            </a:solidFill>
            <a:prstDash val="solid"/>
          </a:ln>
        </p:spPr>
      </p:sp>
      <p:sp>
        <p:nvSpPr>
          <p:cNvPr id="78" name="Model 4: electron, shell 3"/>
          <p:cNvSpPr/>
          <p:nvPr/>
        </p:nvSpPr>
        <p:spPr>
          <a:xfrm>
            <a:off x="8343246" y="2448067"/>
            <a:ext cx="95753" cy="95753"/>
          </a:xfrm>
          <a:prstGeom prst="ellipse">
            <a:avLst/>
          </a:prstGeom>
          <a:solidFill>
            <a:schemeClr val="accent1"/>
          </a:solidFill>
          <a:ln w="3175">
            <a:solidFill>
              <a:schemeClr val="accent1"/>
            </a:solidFill>
            <a:prstDash val="solid"/>
          </a:ln>
        </p:spPr>
      </p:sp>
      <p:sp>
        <p:nvSpPr>
          <p:cNvPr id="79" name="Model 4: electron, shell 3"/>
          <p:cNvSpPr/>
          <p:nvPr/>
        </p:nvSpPr>
        <p:spPr>
          <a:xfrm>
            <a:off x="8343246" y="2576820"/>
            <a:ext cx="95753" cy="95753"/>
          </a:xfrm>
          <a:prstGeom prst="ellipse">
            <a:avLst/>
          </a:prstGeom>
          <a:solidFill>
            <a:schemeClr val="accent1"/>
          </a:solidFill>
          <a:ln w="3175">
            <a:solidFill>
              <a:schemeClr val="accent1"/>
            </a:solidFill>
            <a:prstDash val="solid"/>
          </a:ln>
        </p:spPr>
      </p:sp>
      <p:sp>
        <p:nvSpPr>
          <p:cNvPr id="80" name="Model 4: electron, shell 3"/>
          <p:cNvSpPr/>
          <p:nvPr/>
        </p:nvSpPr>
        <p:spPr>
          <a:xfrm>
            <a:off x="7734036" y="3186030"/>
            <a:ext cx="95753" cy="95753"/>
          </a:xfrm>
          <a:prstGeom prst="ellipse">
            <a:avLst/>
          </a:prstGeom>
          <a:solidFill>
            <a:schemeClr val="accent1"/>
          </a:solidFill>
          <a:ln w="3175">
            <a:solidFill>
              <a:schemeClr val="accent1"/>
            </a:solidFill>
            <a:prstDash val="solid"/>
          </a:ln>
        </p:spPr>
      </p:sp>
      <p:sp>
        <p:nvSpPr>
          <p:cNvPr id="81" name="Model 4: electron, shell 3"/>
          <p:cNvSpPr/>
          <p:nvPr/>
        </p:nvSpPr>
        <p:spPr>
          <a:xfrm>
            <a:off x="7605283" y="3186030"/>
            <a:ext cx="95753" cy="95753"/>
          </a:xfrm>
          <a:prstGeom prst="ellipse">
            <a:avLst/>
          </a:prstGeom>
          <a:solidFill>
            <a:schemeClr val="accent1"/>
          </a:solidFill>
          <a:ln w="3175">
            <a:solidFill>
              <a:schemeClr val="accent1"/>
            </a:solidFill>
            <a:prstDash val="solid"/>
          </a:ln>
        </p:spPr>
      </p:sp>
      <p:sp>
        <p:nvSpPr>
          <p:cNvPr id="82" name="Model 4: electron, shell 3"/>
          <p:cNvSpPr/>
          <p:nvPr/>
        </p:nvSpPr>
        <p:spPr>
          <a:xfrm>
            <a:off x="6993003" y="2512443"/>
            <a:ext cx="95753" cy="95753"/>
          </a:xfrm>
          <a:prstGeom prst="ellipse">
            <a:avLst/>
          </a:prstGeom>
          <a:solidFill>
            <a:schemeClr val="accent1"/>
          </a:solidFill>
          <a:ln w="3175">
            <a:solidFill>
              <a:schemeClr val="accent1"/>
            </a:solidFill>
            <a:prstDash val="solid"/>
          </a:ln>
        </p:spPr>
      </p:sp>
      <p:sp>
        <p:nvSpPr>
          <p:cNvPr id="83" name="Text 81"/>
          <p:cNvSpPr txBox="1"/>
          <p:nvPr/>
        </p:nvSpPr>
        <p:spPr>
          <a:xfrm>
            <a:off x="6830568" y="3337560"/>
            <a:ext cx="1773936" cy="411480"/>
          </a:xfrm>
          <a:prstGeom prst="rect">
            <a:avLst/>
          </a:prstGeom>
          <a:noFill/>
          <a:ln/>
        </p:spPr>
        <p:txBody>
          <a:bodyPr wrap="square" lIns="0" tIns="0" rIns="0" bIns="0" rtlCol="0" anchor="t"/>
          <a:lstStyle/>
          <a:p>
            <a:pPr algn="ctr" indent="0" marL="0">
              <a:buNone/>
            </a:pPr>
            <a:r>
              <a:rPr lang="en-US" sz="1100" dirty="0">
                <a:solidFill>
                  <a:schemeClr val="bg2"/>
                </a:solidFill>
              </a:rPr>
              <a:t>Supposed to be chlorine (17, 35.45)</a:t>
            </a:r>
            <a:endParaRPr lang="en-US" sz="1100" dirty="0"/>
          </a:p>
        </p:txBody>
      </p:sp>
      <p:sp>
        <p:nvSpPr>
          <p:cNvPr id="84" name="Text 82"/>
          <p:cNvSpPr txBox="1"/>
          <p:nvPr/>
        </p:nvSpPr>
        <p:spPr>
          <a:xfrm>
            <a:off x="6848856" y="3767328"/>
            <a:ext cx="1737360" cy="841248"/>
          </a:xfrm>
          <a:prstGeom prst="rect">
            <a:avLst/>
          </a:prstGeom>
          <a:noFill/>
          <a:ln/>
        </p:spPr>
        <p:txBody>
          <a:bodyPr wrap="square" lIns="0" tIns="0" rIns="0" bIns="0" rtlCol="0" anchor="t"/>
          <a:lstStyle/>
          <a:p>
            <a:pPr algn="ctr" indent="0" marL="0">
              <a:buNone/>
            </a:pPr>
            <a:r>
              <a:rPr lang="en-US" sz="1200" b="1" dirty="0">
                <a:solidFill>
                  <a:schemeClr val="accent4"/>
                </a:solidFill>
              </a:rPr>
              <a:t>Neutrons should be 18: 35.45 rounds to 35, and 35 − 17 = 18.</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7"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An atom has 3 shells and 4 electrons in its outer shell. Which element is it?</a:t>
            </a:r>
            <a:endParaRPr lang="en-US" sz="2000" dirty="0"/>
          </a:p>
        </p:txBody>
      </p:sp>
      <p:sp>
        <p:nvSpPr>
          <p:cNvPr id="8"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9" name="Text 7"/>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0" name="Text 8"/>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Carbon</a:t>
            </a:r>
            <a:endParaRPr lang="en-US" sz="1600" dirty="0"/>
          </a:p>
        </p:txBody>
      </p:sp>
      <p:sp>
        <p:nvSpPr>
          <p:cNvPr id="11"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2" name="Text 10"/>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3" name="Text 11"/>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Sulfur</a:t>
            </a:r>
            <a:endParaRPr lang="en-US" sz="1600" dirty="0"/>
          </a:p>
        </p:txBody>
      </p:sp>
      <p:sp>
        <p:nvSpPr>
          <p:cNvPr id="14"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5" name="Text 13"/>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6" name="Text 14"/>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Silicon</a:t>
            </a:r>
            <a:endParaRPr lang="en-US" sz="1600" dirty="0"/>
          </a:p>
        </p:txBody>
      </p:sp>
      <p:sp>
        <p:nvSpPr>
          <p:cNvPr id="17"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8" name="Text 16"/>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Beryllium</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ile O"/>
          <p:cNvSpPr/>
          <p:nvPr/>
        </p:nvSpPr>
        <p:spPr>
          <a:xfrm>
            <a:off x="457200" y="301752"/>
            <a:ext cx="749808" cy="841248"/>
          </a:xfrm>
          <a:prstGeom prst="roundRect">
            <a:avLst>
              <a:gd name="adj" fmla="val 12000"/>
            </a:avLst>
          </a:prstGeom>
          <a:solidFill>
            <a:srgbClr val="45C08F">
              <a:alpha val="30000"/>
            </a:srgbClr>
          </a:solidFill>
          <a:ln w="19050">
            <a:solidFill>
              <a:srgbClr val="45C08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O</a:t>
            </a:r>
            <a:endParaRPr lang="en-US" sz="3100" dirty="0"/>
          </a:p>
        </p:txBody>
      </p:sp>
      <p:sp>
        <p:nvSpPr>
          <p:cNvPr id="5" name="Text 3"/>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6" name="Text 4"/>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7" name="Text 5"/>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An atom has 3 shells and 4 electrons in its outer shell. Which element is it?</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Carbon</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2"/>
                </a:solidFill>
              </a:rPr>
              <a:t>Sulfur</a:t>
            </a:r>
            <a:endParaRPr lang="en-US" sz="1600" dirty="0"/>
          </a:p>
        </p:txBody>
      </p:sp>
      <p:sp>
        <p:nvSpPr>
          <p:cNvPr id="15" name="Option C"/>
          <p:cNvSpPr/>
          <p:nvPr/>
        </p:nvSpPr>
        <p:spPr>
          <a:xfrm>
            <a:off x="457200" y="2816352"/>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6" name="Text 14"/>
          <p:cNvSpPr/>
          <p:nvPr/>
        </p:nvSpPr>
        <p:spPr>
          <a:xfrm>
            <a:off x="548640" y="2889504"/>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Silicon</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Beryllium</a:t>
            </a:r>
            <a:endParaRPr lang="en-US" sz="1600" dirty="0"/>
          </a:p>
        </p:txBody>
      </p:sp>
      <p:sp>
        <p:nvSpPr>
          <p:cNvPr id="21"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2" name="Text 20"/>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Three shells with 4 in the outer one is 2, 8, 4 = 14 electrons. Atomic number 14 is silicon.</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ile F"/>
          <p:cNvSpPr/>
          <p:nvPr/>
        </p:nvSpPr>
        <p:spPr>
          <a:xfrm>
            <a:off x="457200" y="301752"/>
            <a:ext cx="749808" cy="841248"/>
          </a:xfrm>
          <a:prstGeom prst="roundRect">
            <a:avLst>
              <a:gd name="adj" fmla="val 12000"/>
            </a:avLst>
          </a:prstGeom>
          <a:solidFill>
            <a:srgbClr val="F477B8">
              <a:alpha val="30000"/>
            </a:srgbClr>
          </a:solidFill>
          <a:ln w="19050">
            <a:solidFill>
              <a:srgbClr val="F477B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F</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9 of 9 · about 12 min</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Final check</a:t>
            </a:r>
            <a:endParaRPr lang="en-US" sz="3000" dirty="0"/>
          </a:p>
        </p:txBody>
      </p:sp>
      <p:sp>
        <p:nvSpPr>
          <p:cNvPr id="7"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8" name="Text 6"/>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9" name="Text 7"/>
          <p:cNvSpPr/>
          <p:nvPr/>
        </p:nvSpPr>
        <p:spPr>
          <a:xfrm>
            <a:off x="685800" y="2039112"/>
            <a:ext cx="109728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Quick review</a:t>
            </a:r>
            <a:endParaRPr lang="en-US" sz="1100" dirty="0"/>
          </a:p>
        </p:txBody>
      </p:sp>
      <p:sp>
        <p:nvSpPr>
          <p:cNvPr id="10" name="Text 8"/>
          <p:cNvSpPr txBox="1"/>
          <p:nvPr/>
        </p:nvSpPr>
        <p:spPr>
          <a:xfrm>
            <a:off x="1920240" y="1947672"/>
            <a:ext cx="2331720" cy="457200"/>
          </a:xfrm>
          <a:prstGeom prst="rect">
            <a:avLst/>
          </a:prstGeom>
          <a:noFill/>
          <a:ln/>
        </p:spPr>
        <p:txBody>
          <a:bodyPr wrap="square" lIns="0" tIns="0" rIns="0" bIns="0" rtlCol="0" anchor="ctr"/>
          <a:lstStyle/>
          <a:p>
            <a:pPr indent="0" marL="0">
              <a:buNone/>
            </a:pPr>
            <a:r>
              <a:rPr lang="en-US" sz="1400" dirty="0">
                <a:solidFill>
                  <a:schemeClr val="bg1"/>
                </a:solidFill>
              </a:rPr>
              <a:t>Key ideas to know</a:t>
            </a:r>
            <a:endParaRPr lang="en-US" sz="1400" dirty="0"/>
          </a:p>
        </p:txBody>
      </p:sp>
      <p:sp>
        <p:nvSpPr>
          <p:cNvPr id="11" name="Text 9"/>
          <p:cNvSpPr/>
          <p:nvPr/>
        </p:nvSpPr>
        <p:spPr>
          <a:xfrm>
            <a:off x="685800" y="2752344"/>
            <a:ext cx="100584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Final check</a:t>
            </a:r>
            <a:endParaRPr lang="en-US" sz="1100" dirty="0"/>
          </a:p>
        </p:txBody>
      </p:sp>
      <p:sp>
        <p:nvSpPr>
          <p:cNvPr id="12" name="Text 10"/>
          <p:cNvSpPr txBox="1"/>
          <p:nvPr/>
        </p:nvSpPr>
        <p:spPr>
          <a:xfrm>
            <a:off x="1828800" y="2660904"/>
            <a:ext cx="2423160" cy="457200"/>
          </a:xfrm>
          <a:prstGeom prst="rect">
            <a:avLst/>
          </a:prstGeom>
          <a:noFill/>
          <a:ln/>
        </p:spPr>
        <p:txBody>
          <a:bodyPr wrap="square" lIns="0" tIns="0" rIns="0" bIns="0" rtlCol="0" anchor="ctr"/>
          <a:lstStyle/>
          <a:p>
            <a:pPr indent="0" marL="0">
              <a:buNone/>
            </a:pPr>
            <a:r>
              <a:rPr lang="en-US" sz="1400" dirty="0">
                <a:solidFill>
                  <a:schemeClr val="bg1"/>
                </a:solidFill>
              </a:rPr>
              <a:t>10 questions, 8 to pass</a:t>
            </a:r>
            <a:endParaRPr lang="en-US" sz="1400" dirty="0"/>
          </a:p>
        </p:txBody>
      </p:sp>
      <p:sp>
        <p:nvSpPr>
          <p:cNvPr id="13"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4" name="Text 12"/>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your results</a:t>
            </a:r>
            <a:endParaRPr lang="en-US" sz="1500" dirty="0"/>
          </a:p>
        </p:txBody>
      </p:sp>
      <p:sp>
        <p:nvSpPr>
          <p:cNvPr id="15" name="Text 13"/>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6" name="Text 14"/>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Score 8 or more out of 10 on the final check</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ile F"/>
          <p:cNvSpPr/>
          <p:nvPr/>
        </p:nvSpPr>
        <p:spPr>
          <a:xfrm>
            <a:off x="457200" y="301752"/>
            <a:ext cx="749808" cy="841248"/>
          </a:xfrm>
          <a:prstGeom prst="roundRect">
            <a:avLst>
              <a:gd name="adj" fmla="val 12000"/>
            </a:avLst>
          </a:prstGeom>
          <a:solidFill>
            <a:srgbClr val="F477B8">
              <a:alpha val="30000"/>
            </a:srgbClr>
          </a:solidFill>
          <a:ln w="19050">
            <a:solidFill>
              <a:srgbClr val="F477B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F</a:t>
            </a:r>
            <a:endParaRPr lang="en-US" sz="3100" dirty="0"/>
          </a:p>
        </p:txBody>
      </p:sp>
      <p:sp>
        <p:nvSpPr>
          <p:cNvPr id="5" name="Text 3"/>
          <p:cNvSpPr/>
          <p:nvPr/>
        </p:nvSpPr>
        <p:spPr>
          <a:xfrm>
            <a:off x="1417320" y="310896"/>
            <a:ext cx="109728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Quick review</a:t>
            </a:r>
            <a:endParaRPr lang="en-US" sz="1100" dirty="0"/>
          </a:p>
        </p:txBody>
      </p:sp>
      <p:sp>
        <p:nvSpPr>
          <p:cNvPr id="6" name="Text 4"/>
          <p:cNvSpPr txBox="1"/>
          <p:nvPr/>
        </p:nvSpPr>
        <p:spPr>
          <a:xfrm>
            <a:off x="265176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9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Key ideas before the final check</a:t>
            </a:r>
            <a:endParaRPr lang="en-US" sz="2800" dirty="0"/>
          </a:p>
        </p:txBody>
      </p:sp>
      <p:sp>
        <p:nvSpPr>
          <p:cNvPr id="8" name="Bullet"/>
          <p:cNvSpPr/>
          <p:nvPr/>
        </p:nvSpPr>
        <p:spPr>
          <a:xfrm>
            <a:off x="502920" y="1389888"/>
            <a:ext cx="118872" cy="118872"/>
          </a:xfrm>
          <a:prstGeom prst="ellipse">
            <a:avLst/>
          </a:prstGeom>
          <a:solidFill>
            <a:schemeClr val="accent2"/>
          </a:solidFill>
          <a:ln w="6350">
            <a:solidFill>
              <a:schemeClr val="accent2"/>
            </a:solidFill>
            <a:prstDash val="solid"/>
          </a:ln>
        </p:spPr>
      </p:sp>
      <p:sp>
        <p:nvSpPr>
          <p:cNvPr id="9" name="Text 7"/>
          <p:cNvSpPr txBox="1"/>
          <p:nvPr/>
        </p:nvSpPr>
        <p:spPr>
          <a:xfrm>
            <a:off x="749808" y="1325880"/>
            <a:ext cx="4572000" cy="457200"/>
          </a:xfrm>
          <a:prstGeom prst="rect">
            <a:avLst/>
          </a:prstGeom>
          <a:noFill/>
          <a:ln/>
        </p:spPr>
        <p:txBody>
          <a:bodyPr wrap="square" lIns="0" tIns="0" rIns="0" bIns="0" rtlCol="0" anchor="t"/>
          <a:lstStyle/>
          <a:p>
            <a:pPr indent="0" marL="0">
              <a:buNone/>
            </a:pPr>
            <a:r>
              <a:rPr lang="en-US" sz="1400" b="1" dirty="0">
                <a:solidFill>
                  <a:schemeClr val="bg1"/>
                </a:solidFill>
              </a:rPr>
              <a:t>Protons</a:t>
            </a:r>
            <a:pPr indent="0" marL="0">
              <a:buNone/>
            </a:pPr>
            <a:r>
              <a:rPr lang="en-US" sz="1400" dirty="0">
                <a:solidFill>
                  <a:schemeClr val="bg1"/>
                </a:solidFill>
              </a:rPr>
              <a:t> = atomic number. </a:t>
            </a:r>
            <a:pPr indent="0" marL="0">
              <a:buNone/>
            </a:pPr>
            <a:r>
              <a:rPr lang="en-US" sz="1400" b="1" dirty="0">
                <a:solidFill>
                  <a:schemeClr val="bg1"/>
                </a:solidFill>
              </a:rPr>
              <a:t>Electrons</a:t>
            </a:r>
            <a:pPr indent="0" marL="0">
              <a:buNone/>
            </a:pPr>
            <a:r>
              <a:rPr lang="en-US" sz="1400" dirty="0">
                <a:solidFill>
                  <a:schemeClr val="bg1"/>
                </a:solidFill>
              </a:rPr>
              <a:t> = protons in a neutral atom.</a:t>
            </a:r>
            <a:endParaRPr lang="en-US" sz="1400" dirty="0"/>
          </a:p>
        </p:txBody>
      </p:sp>
      <p:sp>
        <p:nvSpPr>
          <p:cNvPr id="10" name="Bullet"/>
          <p:cNvSpPr/>
          <p:nvPr/>
        </p:nvSpPr>
        <p:spPr>
          <a:xfrm>
            <a:off x="502920" y="1938528"/>
            <a:ext cx="118872" cy="118872"/>
          </a:xfrm>
          <a:prstGeom prst="ellipse">
            <a:avLst/>
          </a:prstGeom>
          <a:solidFill>
            <a:schemeClr val="accent2"/>
          </a:solidFill>
          <a:ln w="6350">
            <a:solidFill>
              <a:schemeClr val="accent2"/>
            </a:solidFill>
            <a:prstDash val="solid"/>
          </a:ln>
        </p:spPr>
      </p:sp>
      <p:sp>
        <p:nvSpPr>
          <p:cNvPr id="11" name="Text 9"/>
          <p:cNvSpPr txBox="1"/>
          <p:nvPr/>
        </p:nvSpPr>
        <p:spPr>
          <a:xfrm>
            <a:off x="749808" y="1874520"/>
            <a:ext cx="4572000" cy="457200"/>
          </a:xfrm>
          <a:prstGeom prst="rect">
            <a:avLst/>
          </a:prstGeom>
          <a:noFill/>
          <a:ln/>
        </p:spPr>
        <p:txBody>
          <a:bodyPr wrap="square" lIns="0" tIns="0" rIns="0" bIns="0" rtlCol="0" anchor="t"/>
          <a:lstStyle/>
          <a:p>
            <a:pPr indent="0" marL="0">
              <a:buNone/>
            </a:pPr>
            <a:r>
              <a:rPr lang="en-US" sz="1400" b="1" dirty="0">
                <a:solidFill>
                  <a:schemeClr val="bg1"/>
                </a:solidFill>
              </a:rPr>
              <a:t>Neutrons</a:t>
            </a:r>
            <a:pPr indent="0" marL="0">
              <a:buNone/>
            </a:pPr>
            <a:r>
              <a:rPr lang="en-US" sz="1400" dirty="0">
                <a:solidFill>
                  <a:schemeClr val="bg1"/>
                </a:solidFill>
              </a:rPr>
              <a:t> = rounded atomic mass − atomic number.</a:t>
            </a:r>
            <a:endParaRPr lang="en-US" sz="1400" dirty="0"/>
          </a:p>
        </p:txBody>
      </p:sp>
      <p:sp>
        <p:nvSpPr>
          <p:cNvPr id="12" name="Bullet"/>
          <p:cNvSpPr/>
          <p:nvPr/>
        </p:nvSpPr>
        <p:spPr>
          <a:xfrm>
            <a:off x="502920" y="2487168"/>
            <a:ext cx="118872" cy="118872"/>
          </a:xfrm>
          <a:prstGeom prst="ellipse">
            <a:avLst/>
          </a:prstGeom>
          <a:solidFill>
            <a:schemeClr val="accent2"/>
          </a:solidFill>
          <a:ln w="6350">
            <a:solidFill>
              <a:schemeClr val="accent2"/>
            </a:solidFill>
            <a:prstDash val="solid"/>
          </a:ln>
        </p:spPr>
      </p:sp>
      <p:sp>
        <p:nvSpPr>
          <p:cNvPr id="13" name="Text 11"/>
          <p:cNvSpPr txBox="1"/>
          <p:nvPr/>
        </p:nvSpPr>
        <p:spPr>
          <a:xfrm>
            <a:off x="749808" y="2423160"/>
            <a:ext cx="4572000" cy="457200"/>
          </a:xfrm>
          <a:prstGeom prst="rect">
            <a:avLst/>
          </a:prstGeom>
          <a:noFill/>
          <a:ln/>
        </p:spPr>
        <p:txBody>
          <a:bodyPr wrap="square" lIns="0" tIns="0" rIns="0" bIns="0" rtlCol="0" anchor="t"/>
          <a:lstStyle/>
          <a:p>
            <a:pPr indent="0" marL="0">
              <a:buNone/>
            </a:pPr>
            <a:r>
              <a:rPr lang="en-US" sz="1400" dirty="0">
                <a:solidFill>
                  <a:schemeClr val="bg1"/>
                </a:solidFill>
              </a:rPr>
              <a:t>Shells fill from the inside out: 2, then 8, then 8, then the rest.</a:t>
            </a:r>
            <a:endParaRPr lang="en-US" sz="1400" dirty="0"/>
          </a:p>
        </p:txBody>
      </p:sp>
      <p:sp>
        <p:nvSpPr>
          <p:cNvPr id="14" name="Bullet"/>
          <p:cNvSpPr/>
          <p:nvPr/>
        </p:nvSpPr>
        <p:spPr>
          <a:xfrm>
            <a:off x="502920" y="3035808"/>
            <a:ext cx="118872" cy="118872"/>
          </a:xfrm>
          <a:prstGeom prst="ellipse">
            <a:avLst/>
          </a:prstGeom>
          <a:solidFill>
            <a:schemeClr val="accent2"/>
          </a:solidFill>
          <a:ln w="6350">
            <a:solidFill>
              <a:schemeClr val="accent2"/>
            </a:solidFill>
            <a:prstDash val="solid"/>
          </a:ln>
        </p:spPr>
      </p:sp>
      <p:sp>
        <p:nvSpPr>
          <p:cNvPr id="15" name="Text 13"/>
          <p:cNvSpPr txBox="1"/>
          <p:nvPr/>
        </p:nvSpPr>
        <p:spPr>
          <a:xfrm>
            <a:off x="749808" y="2971800"/>
            <a:ext cx="4572000" cy="457200"/>
          </a:xfrm>
          <a:prstGeom prst="rect">
            <a:avLst/>
          </a:prstGeom>
          <a:noFill/>
          <a:ln/>
        </p:spPr>
        <p:txBody>
          <a:bodyPr wrap="square" lIns="0" tIns="0" rIns="0" bIns="0" rtlCol="0" anchor="t"/>
          <a:lstStyle/>
          <a:p>
            <a:pPr indent="0" marL="0">
              <a:buNone/>
            </a:pPr>
            <a:r>
              <a:rPr lang="en-US" sz="1400" dirty="0">
                <a:solidFill>
                  <a:schemeClr val="bg1"/>
                </a:solidFill>
              </a:rPr>
              <a:t>Write the arrangement inside to out, like 2, 8, 5.</a:t>
            </a:r>
            <a:endParaRPr lang="en-US" sz="1400" dirty="0"/>
          </a:p>
        </p:txBody>
      </p:sp>
      <p:sp>
        <p:nvSpPr>
          <p:cNvPr id="16" name="Bullet"/>
          <p:cNvSpPr/>
          <p:nvPr/>
        </p:nvSpPr>
        <p:spPr>
          <a:xfrm>
            <a:off x="502920" y="3584448"/>
            <a:ext cx="118872" cy="118872"/>
          </a:xfrm>
          <a:prstGeom prst="ellipse">
            <a:avLst/>
          </a:prstGeom>
          <a:solidFill>
            <a:schemeClr val="accent2"/>
          </a:solidFill>
          <a:ln w="6350">
            <a:solidFill>
              <a:schemeClr val="accent2"/>
            </a:solidFill>
            <a:prstDash val="solid"/>
          </a:ln>
        </p:spPr>
      </p:sp>
      <p:sp>
        <p:nvSpPr>
          <p:cNvPr id="17" name="Text 15"/>
          <p:cNvSpPr txBox="1"/>
          <p:nvPr/>
        </p:nvSpPr>
        <p:spPr>
          <a:xfrm>
            <a:off x="749808" y="3520440"/>
            <a:ext cx="4572000" cy="457200"/>
          </a:xfrm>
          <a:prstGeom prst="rect">
            <a:avLst/>
          </a:prstGeom>
          <a:noFill/>
          <a:ln/>
        </p:spPr>
        <p:txBody>
          <a:bodyPr wrap="square" lIns="0" tIns="0" rIns="0" bIns="0" rtlCol="0" anchor="t"/>
          <a:lstStyle/>
          <a:p>
            <a:pPr indent="0" marL="0">
              <a:buNone/>
            </a:pPr>
            <a:r>
              <a:rPr lang="en-US" sz="1400" dirty="0">
                <a:solidFill>
                  <a:schemeClr val="bg1"/>
                </a:solidFill>
              </a:rPr>
              <a:t>Class rule: top, right, bottom, left. The 5th electron pairs with the 1st.</a:t>
            </a:r>
            <a:endParaRPr lang="en-US" sz="1400" dirty="0"/>
          </a:p>
        </p:txBody>
      </p:sp>
      <p:sp>
        <p:nvSpPr>
          <p:cNvPr id="18" name="Bullet"/>
          <p:cNvSpPr/>
          <p:nvPr/>
        </p:nvSpPr>
        <p:spPr>
          <a:xfrm>
            <a:off x="502920" y="4133088"/>
            <a:ext cx="118872" cy="118872"/>
          </a:xfrm>
          <a:prstGeom prst="ellipse">
            <a:avLst/>
          </a:prstGeom>
          <a:solidFill>
            <a:schemeClr val="accent2"/>
          </a:solidFill>
          <a:ln w="6350">
            <a:solidFill>
              <a:schemeClr val="accent2"/>
            </a:solidFill>
            <a:prstDash val="solid"/>
          </a:ln>
        </p:spPr>
      </p:sp>
      <p:sp>
        <p:nvSpPr>
          <p:cNvPr id="19" name="Text 17"/>
          <p:cNvSpPr txBox="1"/>
          <p:nvPr/>
        </p:nvSpPr>
        <p:spPr>
          <a:xfrm>
            <a:off x="749808" y="4069080"/>
            <a:ext cx="4572000" cy="457200"/>
          </a:xfrm>
          <a:prstGeom prst="rect">
            <a:avLst/>
          </a:prstGeom>
          <a:noFill/>
          <a:ln/>
        </p:spPr>
        <p:txBody>
          <a:bodyPr wrap="square" lIns="0" tIns="0" rIns="0" bIns="0" rtlCol="0" anchor="t"/>
          <a:lstStyle/>
          <a:p>
            <a:pPr indent="0" marL="0">
              <a:buNone/>
            </a:pPr>
            <a:r>
              <a:rPr lang="en-US" sz="1400" b="1" dirty="0">
                <a:solidFill>
                  <a:schemeClr val="bg1"/>
                </a:solidFill>
              </a:rPr>
              <a:t>Valence electrons</a:t>
            </a:r>
            <a:pPr indent="0" marL="0">
              <a:buNone/>
            </a:pPr>
            <a:r>
              <a:rPr lang="en-US" sz="1400" dirty="0">
                <a:solidFill>
                  <a:schemeClr val="bg1"/>
                </a:solidFill>
              </a:rPr>
              <a:t> are in the outer shell. Same group, same number.</a:t>
            </a:r>
            <a:endParaRPr lang="en-US" sz="1400" dirty="0"/>
          </a:p>
        </p:txBody>
      </p:sp>
      <p:sp>
        <p:nvSpPr>
          <p:cNvPr id="20" name="Phosphorus: shell 1"/>
          <p:cNvSpPr/>
          <p:nvPr/>
        </p:nvSpPr>
        <p:spPr>
          <a:xfrm>
            <a:off x="6587338" y="2152498"/>
            <a:ext cx="907085" cy="907085"/>
          </a:xfrm>
          <a:prstGeom prst="ellipse">
            <a:avLst/>
          </a:prstGeom>
          <a:solidFill>
            <a:schemeClr val="bg1">
              <a:alpha val="0"/>
            </a:schemeClr>
          </a:solidFill>
          <a:ln w="15875">
            <a:solidFill>
              <a:schemeClr val="bg2">
                <a:alpha val="55000"/>
              </a:schemeClr>
            </a:solidFill>
            <a:prstDash val="solid"/>
          </a:ln>
        </p:spPr>
      </p:sp>
      <p:sp>
        <p:nvSpPr>
          <p:cNvPr id="21" name="Phosphorus: shell 2"/>
          <p:cNvSpPr/>
          <p:nvPr/>
        </p:nvSpPr>
        <p:spPr>
          <a:xfrm>
            <a:off x="6303874" y="1869034"/>
            <a:ext cx="1474013" cy="1474013"/>
          </a:xfrm>
          <a:prstGeom prst="ellipse">
            <a:avLst/>
          </a:prstGeom>
          <a:solidFill>
            <a:schemeClr val="bg1">
              <a:alpha val="0"/>
            </a:schemeClr>
          </a:solidFill>
          <a:ln w="15875">
            <a:solidFill>
              <a:schemeClr val="bg2">
                <a:alpha val="55000"/>
              </a:schemeClr>
            </a:solidFill>
            <a:prstDash val="solid"/>
          </a:ln>
        </p:spPr>
      </p:sp>
      <p:sp>
        <p:nvSpPr>
          <p:cNvPr id="22" name="Phosphorus: shell 3"/>
          <p:cNvSpPr/>
          <p:nvPr/>
        </p:nvSpPr>
        <p:spPr>
          <a:xfrm>
            <a:off x="6039307" y="1604467"/>
            <a:ext cx="2003146" cy="2003146"/>
          </a:xfrm>
          <a:prstGeom prst="ellipse">
            <a:avLst/>
          </a:prstGeom>
          <a:solidFill>
            <a:schemeClr val="bg1">
              <a:alpha val="0"/>
            </a:schemeClr>
          </a:solidFill>
          <a:ln w="15875">
            <a:solidFill>
              <a:schemeClr val="accent2">
                <a:alpha val="80000"/>
              </a:schemeClr>
            </a:solidFill>
            <a:prstDash val="solid"/>
          </a:ln>
        </p:spPr>
      </p:sp>
      <p:sp>
        <p:nvSpPr>
          <p:cNvPr id="23" name="Phosphorus: nucleus"/>
          <p:cNvSpPr/>
          <p:nvPr/>
        </p:nvSpPr>
        <p:spPr>
          <a:xfrm>
            <a:off x="6747967" y="2313127"/>
            <a:ext cx="585826" cy="585826"/>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15 p</a:t>
            </a:r>
            <a:pPr algn="ctr" indent="0" marL="0">
              <a:buNone/>
            </a:pPr>
            <a:r>
              <a:rPr lang="en-US" sz="1100" b="1" baseline="30000" dirty="0">
                <a:solidFill>
                  <a:schemeClr val="bg1"/>
                </a:solidFill>
              </a:rPr>
              <a:t>+</a:t>
            </a:r>
            <a:endParaRPr lang="en-US" sz="1100" dirty="0"/>
          </a:p>
          <a:p>
            <a:pPr algn="ctr" indent="0" marL="0">
              <a:buNone/>
            </a:pPr>
            <a:r>
              <a:rPr lang="en-US" sz="1100" b="1" dirty="0">
                <a:solidFill>
                  <a:schemeClr val="bg1"/>
                </a:solidFill>
              </a:rPr>
              <a:t>16 n</a:t>
            </a:r>
            <a:pPr algn="ctr" indent="0" marL="0">
              <a:buNone/>
            </a:pPr>
            <a:r>
              <a:rPr lang="en-US" sz="1100" b="1" baseline="30000" dirty="0">
                <a:solidFill>
                  <a:schemeClr val="bg1"/>
                </a:solidFill>
              </a:rPr>
              <a:t>0</a:t>
            </a:r>
            <a:endParaRPr lang="en-US" sz="1100" dirty="0"/>
          </a:p>
        </p:txBody>
      </p:sp>
      <p:sp>
        <p:nvSpPr>
          <p:cNvPr id="24" name="Phosphorus: electron, shell 1"/>
          <p:cNvSpPr/>
          <p:nvPr/>
        </p:nvSpPr>
        <p:spPr>
          <a:xfrm>
            <a:off x="6970014" y="2081632"/>
            <a:ext cx="141732" cy="141732"/>
          </a:xfrm>
          <a:prstGeom prst="ellipse">
            <a:avLst/>
          </a:prstGeom>
          <a:solidFill>
            <a:schemeClr val="accent1"/>
          </a:solidFill>
          <a:ln w="3175">
            <a:solidFill>
              <a:schemeClr val="accent1"/>
            </a:solidFill>
            <a:prstDash val="solid"/>
          </a:ln>
        </p:spPr>
      </p:sp>
      <p:sp>
        <p:nvSpPr>
          <p:cNvPr id="25" name="Phosphorus: electron, shell 1"/>
          <p:cNvSpPr/>
          <p:nvPr/>
        </p:nvSpPr>
        <p:spPr>
          <a:xfrm>
            <a:off x="7423556" y="2535174"/>
            <a:ext cx="141732" cy="141732"/>
          </a:xfrm>
          <a:prstGeom prst="ellipse">
            <a:avLst/>
          </a:prstGeom>
          <a:solidFill>
            <a:schemeClr val="accent1"/>
          </a:solidFill>
          <a:ln w="3175">
            <a:solidFill>
              <a:schemeClr val="accent1"/>
            </a:solidFill>
            <a:prstDash val="solid"/>
          </a:ln>
        </p:spPr>
      </p:sp>
      <p:sp>
        <p:nvSpPr>
          <p:cNvPr id="26" name="Phosphorus: electron, shell 2"/>
          <p:cNvSpPr/>
          <p:nvPr/>
        </p:nvSpPr>
        <p:spPr>
          <a:xfrm>
            <a:off x="6874848" y="1804338"/>
            <a:ext cx="141732" cy="141732"/>
          </a:xfrm>
          <a:prstGeom prst="ellipse">
            <a:avLst/>
          </a:prstGeom>
          <a:solidFill>
            <a:schemeClr val="accent1"/>
          </a:solidFill>
          <a:ln w="3175">
            <a:solidFill>
              <a:schemeClr val="accent1"/>
            </a:solidFill>
            <a:prstDash val="solid"/>
          </a:ln>
        </p:spPr>
      </p:sp>
      <p:sp>
        <p:nvSpPr>
          <p:cNvPr id="27" name="Phosphorus: electron, shell 2"/>
          <p:cNvSpPr/>
          <p:nvPr/>
        </p:nvSpPr>
        <p:spPr>
          <a:xfrm>
            <a:off x="7065180" y="1804338"/>
            <a:ext cx="141732" cy="141732"/>
          </a:xfrm>
          <a:prstGeom prst="ellipse">
            <a:avLst/>
          </a:prstGeom>
          <a:solidFill>
            <a:schemeClr val="accent1"/>
          </a:solidFill>
          <a:ln w="3175">
            <a:solidFill>
              <a:schemeClr val="accent1"/>
            </a:solidFill>
            <a:prstDash val="solid"/>
          </a:ln>
        </p:spPr>
      </p:sp>
      <p:sp>
        <p:nvSpPr>
          <p:cNvPr id="28" name="Phosphorus: electron, shell 2"/>
          <p:cNvSpPr/>
          <p:nvPr/>
        </p:nvSpPr>
        <p:spPr>
          <a:xfrm>
            <a:off x="7700850" y="2440008"/>
            <a:ext cx="141732" cy="141732"/>
          </a:xfrm>
          <a:prstGeom prst="ellipse">
            <a:avLst/>
          </a:prstGeom>
          <a:solidFill>
            <a:schemeClr val="accent1"/>
          </a:solidFill>
          <a:ln w="3175">
            <a:solidFill>
              <a:schemeClr val="accent1"/>
            </a:solidFill>
            <a:prstDash val="solid"/>
          </a:ln>
        </p:spPr>
      </p:sp>
      <p:sp>
        <p:nvSpPr>
          <p:cNvPr id="29" name="Phosphorus: electron, shell 2"/>
          <p:cNvSpPr/>
          <p:nvPr/>
        </p:nvSpPr>
        <p:spPr>
          <a:xfrm>
            <a:off x="7700850" y="2630340"/>
            <a:ext cx="141732" cy="141732"/>
          </a:xfrm>
          <a:prstGeom prst="ellipse">
            <a:avLst/>
          </a:prstGeom>
          <a:solidFill>
            <a:schemeClr val="accent1"/>
          </a:solidFill>
          <a:ln w="3175">
            <a:solidFill>
              <a:schemeClr val="accent1"/>
            </a:solidFill>
            <a:prstDash val="solid"/>
          </a:ln>
        </p:spPr>
      </p:sp>
      <p:sp>
        <p:nvSpPr>
          <p:cNvPr id="30" name="Phosphorus: electron, shell 2"/>
          <p:cNvSpPr/>
          <p:nvPr/>
        </p:nvSpPr>
        <p:spPr>
          <a:xfrm>
            <a:off x="7065180" y="3266010"/>
            <a:ext cx="141732" cy="141732"/>
          </a:xfrm>
          <a:prstGeom prst="ellipse">
            <a:avLst/>
          </a:prstGeom>
          <a:solidFill>
            <a:schemeClr val="accent1"/>
          </a:solidFill>
          <a:ln w="3175">
            <a:solidFill>
              <a:schemeClr val="accent1"/>
            </a:solidFill>
            <a:prstDash val="solid"/>
          </a:ln>
        </p:spPr>
      </p:sp>
      <p:sp>
        <p:nvSpPr>
          <p:cNvPr id="31" name="Phosphorus: electron, shell 2"/>
          <p:cNvSpPr/>
          <p:nvPr/>
        </p:nvSpPr>
        <p:spPr>
          <a:xfrm>
            <a:off x="6874848" y="3266010"/>
            <a:ext cx="141732" cy="141732"/>
          </a:xfrm>
          <a:prstGeom prst="ellipse">
            <a:avLst/>
          </a:prstGeom>
          <a:solidFill>
            <a:schemeClr val="accent1"/>
          </a:solidFill>
          <a:ln w="3175">
            <a:solidFill>
              <a:schemeClr val="accent1"/>
            </a:solidFill>
            <a:prstDash val="solid"/>
          </a:ln>
        </p:spPr>
      </p:sp>
      <p:sp>
        <p:nvSpPr>
          <p:cNvPr id="32" name="Phosphorus: electron, shell 2"/>
          <p:cNvSpPr/>
          <p:nvPr/>
        </p:nvSpPr>
        <p:spPr>
          <a:xfrm>
            <a:off x="6239178" y="2630340"/>
            <a:ext cx="141732" cy="141732"/>
          </a:xfrm>
          <a:prstGeom prst="ellipse">
            <a:avLst/>
          </a:prstGeom>
          <a:solidFill>
            <a:schemeClr val="accent1"/>
          </a:solidFill>
          <a:ln w="3175">
            <a:solidFill>
              <a:schemeClr val="accent1"/>
            </a:solidFill>
            <a:prstDash val="solid"/>
          </a:ln>
        </p:spPr>
      </p:sp>
      <p:sp>
        <p:nvSpPr>
          <p:cNvPr id="33" name="Phosphorus: electron, shell 2"/>
          <p:cNvSpPr/>
          <p:nvPr/>
        </p:nvSpPr>
        <p:spPr>
          <a:xfrm>
            <a:off x="6239178" y="2440008"/>
            <a:ext cx="141732" cy="141732"/>
          </a:xfrm>
          <a:prstGeom prst="ellipse">
            <a:avLst/>
          </a:prstGeom>
          <a:solidFill>
            <a:schemeClr val="accent1"/>
          </a:solidFill>
          <a:ln w="3175">
            <a:solidFill>
              <a:schemeClr val="accent1"/>
            </a:solidFill>
            <a:prstDash val="solid"/>
          </a:ln>
        </p:spPr>
      </p:sp>
      <p:sp>
        <p:nvSpPr>
          <p:cNvPr id="34" name="Phosphorus: electron, shell 3"/>
          <p:cNvSpPr/>
          <p:nvPr/>
        </p:nvSpPr>
        <p:spPr>
          <a:xfrm>
            <a:off x="6874725" y="1538144"/>
            <a:ext cx="141732" cy="141732"/>
          </a:xfrm>
          <a:prstGeom prst="ellipse">
            <a:avLst/>
          </a:prstGeom>
          <a:solidFill>
            <a:schemeClr val="accent2"/>
          </a:solidFill>
          <a:ln w="3175">
            <a:solidFill>
              <a:schemeClr val="accent2"/>
            </a:solidFill>
            <a:prstDash val="solid"/>
          </a:ln>
        </p:spPr>
      </p:sp>
      <p:sp>
        <p:nvSpPr>
          <p:cNvPr id="35" name="Phosphorus: electron, shell 3"/>
          <p:cNvSpPr/>
          <p:nvPr/>
        </p:nvSpPr>
        <p:spPr>
          <a:xfrm>
            <a:off x="7065303" y="1538144"/>
            <a:ext cx="141732" cy="141732"/>
          </a:xfrm>
          <a:prstGeom prst="ellipse">
            <a:avLst/>
          </a:prstGeom>
          <a:solidFill>
            <a:schemeClr val="accent2"/>
          </a:solidFill>
          <a:ln w="3175">
            <a:solidFill>
              <a:schemeClr val="accent2"/>
            </a:solidFill>
            <a:prstDash val="solid"/>
          </a:ln>
        </p:spPr>
      </p:sp>
      <p:sp>
        <p:nvSpPr>
          <p:cNvPr id="36" name="Phosphorus: electron, shell 3"/>
          <p:cNvSpPr/>
          <p:nvPr/>
        </p:nvSpPr>
        <p:spPr>
          <a:xfrm>
            <a:off x="7971587" y="2535174"/>
            <a:ext cx="141732" cy="141732"/>
          </a:xfrm>
          <a:prstGeom prst="ellipse">
            <a:avLst/>
          </a:prstGeom>
          <a:solidFill>
            <a:schemeClr val="accent2"/>
          </a:solidFill>
          <a:ln w="3175">
            <a:solidFill>
              <a:schemeClr val="accent2"/>
            </a:solidFill>
            <a:prstDash val="solid"/>
          </a:ln>
        </p:spPr>
      </p:sp>
      <p:sp>
        <p:nvSpPr>
          <p:cNvPr id="37" name="Phosphorus: electron, shell 3"/>
          <p:cNvSpPr/>
          <p:nvPr/>
        </p:nvSpPr>
        <p:spPr>
          <a:xfrm>
            <a:off x="6970014" y="3536747"/>
            <a:ext cx="141732" cy="141732"/>
          </a:xfrm>
          <a:prstGeom prst="ellipse">
            <a:avLst/>
          </a:prstGeom>
          <a:solidFill>
            <a:schemeClr val="accent2"/>
          </a:solidFill>
          <a:ln w="3175">
            <a:solidFill>
              <a:schemeClr val="accent2"/>
            </a:solidFill>
            <a:prstDash val="solid"/>
          </a:ln>
        </p:spPr>
      </p:sp>
      <p:sp>
        <p:nvSpPr>
          <p:cNvPr id="38" name="Phosphorus: electron, shell 3"/>
          <p:cNvSpPr/>
          <p:nvPr/>
        </p:nvSpPr>
        <p:spPr>
          <a:xfrm>
            <a:off x="5968441" y="2535174"/>
            <a:ext cx="141732" cy="141732"/>
          </a:xfrm>
          <a:prstGeom prst="ellipse">
            <a:avLst/>
          </a:prstGeom>
          <a:solidFill>
            <a:schemeClr val="accent2"/>
          </a:solidFill>
          <a:ln w="3175">
            <a:solidFill>
              <a:schemeClr val="accent2"/>
            </a:solidFill>
            <a:prstDash val="solid"/>
          </a:ln>
        </p:spPr>
      </p:sp>
      <p:sp>
        <p:nvSpPr>
          <p:cNvPr id="39" name="Text 37"/>
          <p:cNvSpPr txBox="1"/>
          <p:nvPr/>
        </p:nvSpPr>
        <p:spPr>
          <a:xfrm>
            <a:off x="5760720" y="4069080"/>
            <a:ext cx="2560320" cy="502920"/>
          </a:xfrm>
          <a:prstGeom prst="rect">
            <a:avLst/>
          </a:prstGeom>
          <a:noFill/>
          <a:ln/>
        </p:spPr>
        <p:txBody>
          <a:bodyPr wrap="square" lIns="0" tIns="0" rIns="0" bIns="0" rtlCol="0" anchor="ctr"/>
          <a:lstStyle/>
          <a:p>
            <a:pPr algn="ctr" indent="0" marL="0">
              <a:buNone/>
            </a:pPr>
            <a:r>
              <a:rPr lang="en-US" sz="1300" dirty="0">
                <a:solidFill>
                  <a:schemeClr val="bg1"/>
                </a:solidFill>
              </a:rPr>
              <a:t>Phosphorus: 2, 8, 5</a:t>
            </a:r>
            <a:endParaRPr lang="en-US" sz="1300" dirty="0"/>
          </a:p>
          <a:p>
            <a:pPr algn="ctr" indent="0" marL="0">
              <a:buNone/>
            </a:pPr>
            <a:r>
              <a:rPr lang="en-US" sz="1300" b="1" dirty="0">
                <a:solidFill>
                  <a:schemeClr val="accent2"/>
                </a:solidFill>
              </a:rPr>
              <a:t>5 valence electrons</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ile F"/>
          <p:cNvSpPr/>
          <p:nvPr/>
        </p:nvSpPr>
        <p:spPr>
          <a:xfrm>
            <a:off x="457200" y="301752"/>
            <a:ext cx="749808" cy="841248"/>
          </a:xfrm>
          <a:prstGeom prst="roundRect">
            <a:avLst>
              <a:gd name="adj" fmla="val 12000"/>
            </a:avLst>
          </a:prstGeom>
          <a:solidFill>
            <a:srgbClr val="F477B8">
              <a:alpha val="30000"/>
            </a:srgbClr>
          </a:solidFill>
          <a:ln w="19050">
            <a:solidFill>
              <a:srgbClr val="F477B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F</a:t>
            </a:r>
            <a:endParaRPr lang="en-US" sz="3100" dirty="0"/>
          </a:p>
        </p:txBody>
      </p:sp>
      <p:sp>
        <p:nvSpPr>
          <p:cNvPr id="5" name="Text 3"/>
          <p:cNvSpPr/>
          <p:nvPr/>
        </p:nvSpPr>
        <p:spPr>
          <a:xfrm>
            <a:off x="1417320" y="310896"/>
            <a:ext cx="100584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Final check</a:t>
            </a:r>
            <a:endParaRPr lang="en-US" sz="1100" dirty="0"/>
          </a:p>
        </p:txBody>
      </p:sp>
      <p:sp>
        <p:nvSpPr>
          <p:cNvPr id="6" name="Text 4"/>
          <p:cNvSpPr txBox="1"/>
          <p:nvPr/>
        </p:nvSpPr>
        <p:spPr>
          <a:xfrm>
            <a:off x="256032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9 of 9</a:t>
            </a:r>
            <a:endParaRPr lang="en-US" sz="1200" dirty="0"/>
          </a:p>
        </p:txBody>
      </p:sp>
      <p:sp>
        <p:nvSpPr>
          <p:cNvPr id="7"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Final check</a:t>
            </a:r>
            <a:endParaRPr lang="en-US" sz="2800" dirty="0"/>
          </a:p>
        </p:txBody>
      </p:sp>
      <p:sp>
        <p:nvSpPr>
          <p:cNvPr id="8" name="Pass score card"/>
          <p:cNvSpPr/>
          <p:nvPr/>
        </p:nvSpPr>
        <p:spPr>
          <a:xfrm>
            <a:off x="457200" y="1325880"/>
            <a:ext cx="3108960" cy="2788920"/>
          </a:xfrm>
          <a:prstGeom prst="roundRect">
            <a:avLst>
              <a:gd name="adj" fmla="val 3279"/>
            </a:avLst>
          </a:prstGeom>
          <a:solidFill>
            <a:schemeClr val="tx2"/>
          </a:solidFill>
          <a:ln w="9525">
            <a:solidFill>
              <a:schemeClr val="bg2">
                <a:alpha val="30000"/>
              </a:schemeClr>
            </a:solidFill>
            <a:prstDash val="solid"/>
          </a:ln>
        </p:spPr>
      </p:sp>
      <p:sp>
        <p:nvSpPr>
          <p:cNvPr id="9" name="Text 7"/>
          <p:cNvSpPr txBox="1"/>
          <p:nvPr/>
        </p:nvSpPr>
        <p:spPr>
          <a:xfrm>
            <a:off x="457200" y="1691640"/>
            <a:ext cx="3108960" cy="1188720"/>
          </a:xfrm>
          <a:prstGeom prst="rect">
            <a:avLst/>
          </a:prstGeom>
          <a:noFill/>
          <a:ln/>
        </p:spPr>
        <p:txBody>
          <a:bodyPr wrap="square" lIns="0" tIns="0" rIns="0" bIns="0" rtlCol="0" anchor="ctr"/>
          <a:lstStyle/>
          <a:p>
            <a:pPr algn="ctr" indent="0" marL="0">
              <a:buNone/>
            </a:pPr>
            <a:r>
              <a:rPr lang="en-US" sz="6600" b="1" dirty="0">
                <a:solidFill>
                  <a:schemeClr val="accent2"/>
                </a:solidFill>
              </a:rPr>
              <a:t>8/10</a:t>
            </a:r>
            <a:endParaRPr lang="en-US" sz="6600" dirty="0"/>
          </a:p>
        </p:txBody>
      </p:sp>
      <p:sp>
        <p:nvSpPr>
          <p:cNvPr id="10" name="Text 8"/>
          <p:cNvSpPr txBox="1"/>
          <p:nvPr/>
        </p:nvSpPr>
        <p:spPr>
          <a:xfrm>
            <a:off x="457200" y="2880360"/>
            <a:ext cx="3108960" cy="365760"/>
          </a:xfrm>
          <a:prstGeom prst="rect">
            <a:avLst/>
          </a:prstGeom>
          <a:noFill/>
          <a:ln/>
        </p:spPr>
        <p:txBody>
          <a:bodyPr wrap="square" lIns="0" tIns="0" rIns="0" bIns="0" rtlCol="0" anchor="t"/>
          <a:lstStyle/>
          <a:p>
            <a:pPr algn="ctr" indent="0" marL="0">
              <a:buNone/>
            </a:pPr>
            <a:r>
              <a:rPr lang="en-US" sz="1600" dirty="0">
                <a:solidFill>
                  <a:schemeClr val="bg1"/>
                </a:solidFill>
              </a:rPr>
              <a:t>to pass</a:t>
            </a:r>
            <a:endParaRPr lang="en-US" sz="1600" dirty="0"/>
          </a:p>
        </p:txBody>
      </p:sp>
      <p:sp>
        <p:nvSpPr>
          <p:cNvPr id="11" name="Text 9"/>
          <p:cNvSpPr txBox="1"/>
          <p:nvPr/>
        </p:nvSpPr>
        <p:spPr>
          <a:xfrm>
            <a:off x="457200" y="3310128"/>
            <a:ext cx="3108960" cy="320040"/>
          </a:xfrm>
          <a:prstGeom prst="rect">
            <a:avLst/>
          </a:prstGeom>
          <a:noFill/>
          <a:ln/>
        </p:spPr>
        <p:txBody>
          <a:bodyPr wrap="square" lIns="0" tIns="0" rIns="0" bIns="0" rtlCol="0" anchor="t"/>
          <a:lstStyle/>
          <a:p>
            <a:pPr algn="ctr" indent="0" marL="0">
              <a:buNone/>
            </a:pPr>
            <a:r>
              <a:rPr lang="en-US" sz="1200" dirty="0">
                <a:solidFill>
                  <a:schemeClr val="bg2"/>
                </a:solidFill>
              </a:rPr>
              <a:t>10 questions, picked at random</a:t>
            </a:r>
            <a:endParaRPr lang="en-US" sz="1200" dirty="0"/>
          </a:p>
        </p:txBody>
      </p:sp>
      <p:sp>
        <p:nvSpPr>
          <p:cNvPr id="12" name="Text 10"/>
          <p:cNvSpPr txBox="1"/>
          <p:nvPr/>
        </p:nvSpPr>
        <p:spPr>
          <a:xfrm>
            <a:off x="3931920" y="1298448"/>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Full screen</a:t>
            </a:r>
            <a:endParaRPr lang="en-US" sz="1400" dirty="0"/>
          </a:p>
          <a:p>
            <a:pPr indent="0" marL="0">
              <a:buNone/>
            </a:pPr>
            <a:r>
              <a:rPr lang="en-US" sz="1400" dirty="0">
                <a:solidFill>
                  <a:schemeClr val="bg1"/>
                </a:solidFill>
              </a:rPr>
              <a:t>The check opens in full screen. Leaving the page locks it, so raise your hand and wait.</a:t>
            </a:r>
            <a:endParaRPr lang="en-US" sz="1400" dirty="0"/>
          </a:p>
        </p:txBody>
      </p:sp>
      <p:sp>
        <p:nvSpPr>
          <p:cNvPr id="13" name="Text 11"/>
          <p:cNvSpPr txBox="1"/>
          <p:nvPr/>
        </p:nvSpPr>
        <p:spPr>
          <a:xfrm>
            <a:off x="3931920" y="2084832"/>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New questions</a:t>
            </a:r>
            <a:endParaRPr lang="en-US" sz="1400" dirty="0"/>
          </a:p>
          <a:p>
            <a:pPr indent="0" marL="0">
              <a:buNone/>
            </a:pPr>
            <a:r>
              <a:rPr lang="en-US" sz="1400" dirty="0">
                <a:solidFill>
                  <a:schemeClr val="bg1"/>
                </a:solidFill>
              </a:rPr>
              <a:t>Each retake gives you different questions.</a:t>
            </a:r>
            <a:endParaRPr lang="en-US" sz="1400" dirty="0"/>
          </a:p>
        </p:txBody>
      </p:sp>
      <p:sp>
        <p:nvSpPr>
          <p:cNvPr id="14" name="Text 12"/>
          <p:cNvSpPr txBox="1"/>
          <p:nvPr/>
        </p:nvSpPr>
        <p:spPr>
          <a:xfrm>
            <a:off x="3931920" y="2871216"/>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Quick review</a:t>
            </a:r>
            <a:endParaRPr lang="en-US" sz="1400" dirty="0"/>
          </a:p>
          <a:p>
            <a:pPr indent="0" marL="0">
              <a:buNone/>
            </a:pPr>
            <a:r>
              <a:rPr lang="en-US" sz="1400" dirty="0">
                <a:solidFill>
                  <a:schemeClr val="bg1"/>
                </a:solidFill>
              </a:rPr>
              <a:t>After 3 tries, a review of the key ideas comes first.</a:t>
            </a:r>
            <a:endParaRPr lang="en-US" sz="1400" dirty="0"/>
          </a:p>
        </p:txBody>
      </p:sp>
      <p:sp>
        <p:nvSpPr>
          <p:cNvPr id="15" name="Text 13"/>
          <p:cNvSpPr txBox="1"/>
          <p:nvPr/>
        </p:nvSpPr>
        <p:spPr>
          <a:xfrm>
            <a:off x="3931920" y="3657600"/>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Scores</a:t>
            </a:r>
            <a:endParaRPr lang="en-US" sz="1400" dirty="0"/>
          </a:p>
          <a:p>
            <a:pPr indent="0" marL="0">
              <a:buNone/>
            </a:pPr>
            <a:r>
              <a:rPr lang="en-US" sz="1400" dirty="0">
                <a:solidFill>
                  <a:schemeClr val="bg1"/>
                </a:solidFill>
              </a:rPr>
              <a:t>When you pass, your scores send to your teacher.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ile Ne"/>
          <p:cNvSpPr/>
          <p:nvPr/>
        </p:nvSpPr>
        <p:spPr>
          <a:xfrm>
            <a:off x="457200" y="301752"/>
            <a:ext cx="749808" cy="841248"/>
          </a:xfrm>
          <a:prstGeom prst="roundRect">
            <a:avLst>
              <a:gd name="adj" fmla="val 12000"/>
            </a:avLst>
          </a:prstGeom>
          <a:solidFill>
            <a:srgbClr val="A084FF">
              <a:alpha val="30000"/>
            </a:srgbClr>
          </a:solidFill>
          <a:ln w="19050">
            <a:solidFill>
              <a:srgbClr val="A084FF"/>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10</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Ne</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Results</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When you pass</a:t>
            </a:r>
            <a:endParaRPr lang="en-US" sz="3000" dirty="0"/>
          </a:p>
        </p:txBody>
      </p:sp>
      <p:sp>
        <p:nvSpPr>
          <p:cNvPr id="7" name="Text 5"/>
          <p:cNvSpPr/>
          <p:nvPr/>
        </p:nvSpPr>
        <p:spPr>
          <a:xfrm>
            <a:off x="457200" y="141732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Text 6"/>
          <p:cNvSpPr txBox="1"/>
          <p:nvPr/>
        </p:nvSpPr>
        <p:spPr>
          <a:xfrm>
            <a:off x="1051560" y="1353312"/>
            <a:ext cx="3291840" cy="548640"/>
          </a:xfrm>
          <a:prstGeom prst="rect">
            <a:avLst/>
          </a:prstGeom>
          <a:noFill/>
          <a:ln/>
        </p:spPr>
        <p:txBody>
          <a:bodyPr wrap="square" lIns="0" tIns="0" rIns="0" bIns="0" rtlCol="0" anchor="ctr"/>
          <a:lstStyle/>
          <a:p>
            <a:pPr indent="0" marL="0">
              <a:buNone/>
            </a:pPr>
            <a:r>
              <a:rPr lang="en-US" sz="1500" dirty="0">
                <a:solidFill>
                  <a:schemeClr val="bg1"/>
                </a:solidFill>
              </a:rPr>
              <a:t>Open your results page (the Ne tile)</a:t>
            </a:r>
            <a:endParaRPr lang="en-US" sz="1500" dirty="0"/>
          </a:p>
        </p:txBody>
      </p:sp>
      <p:sp>
        <p:nvSpPr>
          <p:cNvPr id="9" name="Text 7"/>
          <p:cNvSpPr/>
          <p:nvPr/>
        </p:nvSpPr>
        <p:spPr>
          <a:xfrm>
            <a:off x="457200" y="219456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Text 8"/>
          <p:cNvSpPr txBox="1"/>
          <p:nvPr/>
        </p:nvSpPr>
        <p:spPr>
          <a:xfrm>
            <a:off x="1051560" y="2130552"/>
            <a:ext cx="3291840" cy="548640"/>
          </a:xfrm>
          <a:prstGeom prst="rect">
            <a:avLst/>
          </a:prstGeom>
          <a:noFill/>
          <a:ln/>
        </p:spPr>
        <p:txBody>
          <a:bodyPr wrap="square" lIns="0" tIns="0" rIns="0" bIns="0" rtlCol="0" anchor="ctr"/>
          <a:lstStyle/>
          <a:p>
            <a:pPr indent="0" marL="0">
              <a:buNone/>
            </a:pPr>
            <a:r>
              <a:rPr lang="en-US" sz="1500" dirty="0">
                <a:solidFill>
                  <a:schemeClr val="bg1"/>
                </a:solidFill>
              </a:rPr>
              <a:t>Look for "Sent! Your teacher will see your scores."</a:t>
            </a:r>
            <a:endParaRPr lang="en-US" sz="1500" dirty="0"/>
          </a:p>
        </p:txBody>
      </p:sp>
      <p:sp>
        <p:nvSpPr>
          <p:cNvPr id="11" name="Text 9"/>
          <p:cNvSpPr/>
          <p:nvPr/>
        </p:nvSpPr>
        <p:spPr>
          <a:xfrm>
            <a:off x="457200" y="297180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2" name="Text 10"/>
          <p:cNvSpPr txBox="1"/>
          <p:nvPr/>
        </p:nvSpPr>
        <p:spPr>
          <a:xfrm>
            <a:off x="1051560" y="2907792"/>
            <a:ext cx="3291840" cy="548640"/>
          </a:xfrm>
          <a:prstGeom prst="rect">
            <a:avLst/>
          </a:prstGeom>
          <a:noFill/>
          <a:ln/>
        </p:spPr>
        <p:txBody>
          <a:bodyPr wrap="square" lIns="0" tIns="0" rIns="0" bIns="0" rtlCol="0" anchor="ctr"/>
          <a:lstStyle/>
          <a:p>
            <a:pPr indent="0" marL="0">
              <a:buNone/>
            </a:pPr>
            <a:r>
              <a:rPr lang="en-US" sz="1500" dirty="0">
                <a:solidFill>
                  <a:schemeClr val="bg1"/>
                </a:solidFill>
              </a:rPr>
              <a:t>No message? Click Send my scores to my teacher</a:t>
            </a:r>
            <a:endParaRPr lang="en-US" sz="1500" dirty="0"/>
          </a:p>
        </p:txBody>
      </p:sp>
      <p:sp>
        <p:nvSpPr>
          <p:cNvPr id="13" name="Goals card"/>
          <p:cNvSpPr/>
          <p:nvPr/>
        </p:nvSpPr>
        <p:spPr>
          <a:xfrm>
            <a:off x="4709160" y="1325880"/>
            <a:ext cx="3977640" cy="3108960"/>
          </a:xfrm>
          <a:prstGeom prst="roundRect">
            <a:avLst>
              <a:gd name="adj" fmla="val 2941"/>
            </a:avLst>
          </a:prstGeom>
          <a:solidFill>
            <a:schemeClr val="tx2"/>
          </a:solidFill>
          <a:ln w="9525">
            <a:solidFill>
              <a:schemeClr val="bg2">
                <a:alpha val="30000"/>
              </a:schemeClr>
            </a:solidFill>
            <a:prstDash val="solid"/>
          </a:ln>
        </p:spPr>
      </p:sp>
      <p:sp>
        <p:nvSpPr>
          <p:cNvPr id="14" name="Text 12"/>
          <p:cNvSpPr txBox="1"/>
          <p:nvPr/>
        </p:nvSpPr>
        <p:spPr>
          <a:xfrm>
            <a:off x="4937760" y="1463040"/>
            <a:ext cx="3566160" cy="274320"/>
          </a:xfrm>
          <a:prstGeom prst="rect">
            <a:avLst/>
          </a:prstGeom>
          <a:noFill/>
          <a:ln/>
        </p:spPr>
        <p:txBody>
          <a:bodyPr wrap="square" lIns="0" tIns="0" rIns="0" bIns="0" rtlCol="0" anchor="t"/>
          <a:lstStyle/>
          <a:p>
            <a:pPr indent="0" marL="0">
              <a:buNone/>
            </a:pPr>
            <a:r>
              <a:rPr lang="en-US" sz="1400" b="1" dirty="0">
                <a:solidFill>
                  <a:schemeClr val="accent4"/>
                </a:solidFill>
              </a:rPr>
              <a:t>Your goals</a:t>
            </a:r>
            <a:endParaRPr lang="en-US" sz="1400" dirty="0"/>
          </a:p>
        </p:txBody>
      </p:sp>
      <p:sp>
        <p:nvSpPr>
          <p:cNvPr id="15" name="Text 13"/>
          <p:cNvSpPr/>
          <p:nvPr/>
        </p:nvSpPr>
        <p:spPr>
          <a:xfrm>
            <a:off x="4937760" y="187452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6" name="Text 14"/>
          <p:cNvSpPr txBox="1"/>
          <p:nvPr/>
        </p:nvSpPr>
        <p:spPr>
          <a:xfrm>
            <a:off x="5321808" y="1828800"/>
            <a:ext cx="3246120" cy="384048"/>
          </a:xfrm>
          <a:prstGeom prst="rect">
            <a:avLst/>
          </a:prstGeom>
          <a:noFill/>
          <a:ln/>
        </p:spPr>
        <p:txBody>
          <a:bodyPr wrap="square" lIns="0" tIns="0" rIns="0" bIns="0" rtlCol="0" anchor="ctr"/>
          <a:lstStyle/>
          <a:p>
            <a:pPr indent="0" marL="0">
              <a:buNone/>
            </a:pPr>
            <a:r>
              <a:rPr lang="en-US" sz="1200" dirty="0">
                <a:solidFill>
                  <a:schemeClr val="bg1"/>
                </a:solidFill>
              </a:rPr>
              <a:t>Count protons, neutrons, and electrons using the periodic table</a:t>
            </a:r>
            <a:endParaRPr lang="en-US" sz="1200" dirty="0"/>
          </a:p>
        </p:txBody>
      </p:sp>
      <p:sp>
        <p:nvSpPr>
          <p:cNvPr id="17" name="Text 15"/>
          <p:cNvSpPr/>
          <p:nvPr/>
        </p:nvSpPr>
        <p:spPr>
          <a:xfrm>
            <a:off x="4937760" y="2295144"/>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8" name="Text 16"/>
          <p:cNvSpPr txBox="1"/>
          <p:nvPr/>
        </p:nvSpPr>
        <p:spPr>
          <a:xfrm>
            <a:off x="5321808" y="2249424"/>
            <a:ext cx="3246120" cy="384048"/>
          </a:xfrm>
          <a:prstGeom prst="rect">
            <a:avLst/>
          </a:prstGeom>
          <a:noFill/>
          <a:ln/>
        </p:spPr>
        <p:txBody>
          <a:bodyPr wrap="square" lIns="0" tIns="0" rIns="0" bIns="0" rtlCol="0" anchor="ctr"/>
          <a:lstStyle/>
          <a:p>
            <a:pPr indent="0" marL="0">
              <a:buNone/>
            </a:pPr>
            <a:r>
              <a:rPr lang="en-US" sz="1200" dirty="0">
                <a:solidFill>
                  <a:schemeClr val="bg1"/>
                </a:solidFill>
              </a:rPr>
              <a:t>Fill shells from the inside out and write the electron arrangement</a:t>
            </a:r>
            <a:endParaRPr lang="en-US" sz="1200" dirty="0"/>
          </a:p>
        </p:txBody>
      </p:sp>
      <p:sp>
        <p:nvSpPr>
          <p:cNvPr id="19" name="Text 17"/>
          <p:cNvSpPr/>
          <p:nvPr/>
        </p:nvSpPr>
        <p:spPr>
          <a:xfrm>
            <a:off x="4937760" y="2715768"/>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0" name="Text 18"/>
          <p:cNvSpPr txBox="1"/>
          <p:nvPr/>
        </p:nvSpPr>
        <p:spPr>
          <a:xfrm>
            <a:off x="5321808" y="2670048"/>
            <a:ext cx="3246120" cy="384048"/>
          </a:xfrm>
          <a:prstGeom prst="rect">
            <a:avLst/>
          </a:prstGeom>
          <a:noFill/>
          <a:ln/>
        </p:spPr>
        <p:txBody>
          <a:bodyPr wrap="square" lIns="0" tIns="0" rIns="0" bIns="0" rtlCol="0" anchor="ctr"/>
          <a:lstStyle/>
          <a:p>
            <a:pPr indent="0" marL="0">
              <a:buNone/>
            </a:pPr>
            <a:r>
              <a:rPr lang="en-US" sz="1200" dirty="0">
                <a:solidFill>
                  <a:schemeClr val="bg1"/>
                </a:solidFill>
              </a:rPr>
              <a:t>Place electrons using the class rule</a:t>
            </a:r>
            <a:endParaRPr lang="en-US" sz="1200" dirty="0"/>
          </a:p>
        </p:txBody>
      </p:sp>
      <p:sp>
        <p:nvSpPr>
          <p:cNvPr id="21" name="Text 19"/>
          <p:cNvSpPr/>
          <p:nvPr/>
        </p:nvSpPr>
        <p:spPr>
          <a:xfrm>
            <a:off x="4937760" y="3136392"/>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2" name="Text 20"/>
          <p:cNvSpPr txBox="1"/>
          <p:nvPr/>
        </p:nvSpPr>
        <p:spPr>
          <a:xfrm>
            <a:off x="5321808" y="3090672"/>
            <a:ext cx="3246120" cy="384048"/>
          </a:xfrm>
          <a:prstGeom prst="rect">
            <a:avLst/>
          </a:prstGeom>
          <a:noFill/>
          <a:ln/>
        </p:spPr>
        <p:txBody>
          <a:bodyPr wrap="square" lIns="0" tIns="0" rIns="0" bIns="0" rtlCol="0" anchor="ctr"/>
          <a:lstStyle/>
          <a:p>
            <a:pPr indent="0" marL="0">
              <a:buNone/>
            </a:pPr>
            <a:r>
              <a:rPr lang="en-US" sz="1200" dirty="0">
                <a:solidFill>
                  <a:schemeClr val="bg1"/>
                </a:solidFill>
              </a:rPr>
              <a:t>Draw a complete Bohr model</a:t>
            </a:r>
            <a:endParaRPr lang="en-US" sz="1200" dirty="0"/>
          </a:p>
        </p:txBody>
      </p:sp>
      <p:sp>
        <p:nvSpPr>
          <p:cNvPr id="23" name="Text 21"/>
          <p:cNvSpPr/>
          <p:nvPr/>
        </p:nvSpPr>
        <p:spPr>
          <a:xfrm>
            <a:off x="4937760" y="3557016"/>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4" name="Text 22"/>
          <p:cNvSpPr txBox="1"/>
          <p:nvPr/>
        </p:nvSpPr>
        <p:spPr>
          <a:xfrm>
            <a:off x="5321808" y="3511296"/>
            <a:ext cx="3246120" cy="384048"/>
          </a:xfrm>
          <a:prstGeom prst="rect">
            <a:avLst/>
          </a:prstGeom>
          <a:noFill/>
          <a:ln/>
        </p:spPr>
        <p:txBody>
          <a:bodyPr wrap="square" lIns="0" tIns="0" rIns="0" bIns="0" rtlCol="0" anchor="ctr"/>
          <a:lstStyle/>
          <a:p>
            <a:pPr indent="0" marL="0">
              <a:buNone/>
            </a:pPr>
            <a:r>
              <a:rPr lang="en-US" sz="1200" dirty="0">
                <a:solidFill>
                  <a:schemeClr val="bg1"/>
                </a:solidFill>
              </a:rPr>
              <a:t>Find valence electrons from a model or the periodic table</a:t>
            </a:r>
            <a:endParaRPr lang="en-US" sz="1200" dirty="0"/>
          </a:p>
        </p:txBody>
      </p:sp>
      <p:sp>
        <p:nvSpPr>
          <p:cNvPr id="25" name="Text 23"/>
          <p:cNvSpPr/>
          <p:nvPr/>
        </p:nvSpPr>
        <p:spPr>
          <a:xfrm>
            <a:off x="4937760" y="397764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6" name="Text 24"/>
          <p:cNvSpPr txBox="1"/>
          <p:nvPr/>
        </p:nvSpPr>
        <p:spPr>
          <a:xfrm>
            <a:off x="5321808" y="3931920"/>
            <a:ext cx="3246120" cy="384048"/>
          </a:xfrm>
          <a:prstGeom prst="rect">
            <a:avLst/>
          </a:prstGeom>
          <a:noFill/>
          <a:ln/>
        </p:spPr>
        <p:txBody>
          <a:bodyPr wrap="square" lIns="0" tIns="0" rIns="0" bIns="0" rtlCol="0" anchor="ctr"/>
          <a:lstStyle/>
          <a:p>
            <a:pPr indent="0" marL="0">
              <a:buNone/>
            </a:pPr>
            <a:r>
              <a:rPr lang="en-US" sz="1200" dirty="0">
                <a:solidFill>
                  <a:schemeClr val="bg1"/>
                </a:solidFill>
              </a:rPr>
              <a:t>Pass the final check (8 out of 10)</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ile Si"/>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Si</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Done early? Challenge</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Draw silicon on paper</a:t>
            </a:r>
            <a:endParaRPr lang="en-US" sz="3000" dirty="0"/>
          </a:p>
        </p:txBody>
      </p:sp>
      <p:sp>
        <p:nvSpPr>
          <p:cNvPr id="7" name="Text 5"/>
          <p:cNvSpPr txBox="1"/>
          <p:nvPr/>
        </p:nvSpPr>
        <p:spPr>
          <a:xfrm>
            <a:off x="457200" y="1371600"/>
            <a:ext cx="4206240" cy="1097280"/>
          </a:xfrm>
          <a:prstGeom prst="rect">
            <a:avLst/>
          </a:prstGeom>
          <a:noFill/>
          <a:ln/>
        </p:spPr>
        <p:txBody>
          <a:bodyPr wrap="square" lIns="0" tIns="0" rIns="0" bIns="0" rtlCol="0" anchor="t"/>
          <a:lstStyle/>
          <a:p>
            <a:pPr indent="0" marL="0">
              <a:buNone/>
            </a:pPr>
            <a:r>
              <a:rPr lang="en-US" sz="1600" dirty="0">
                <a:solidFill>
                  <a:schemeClr val="bg1"/>
                </a:solidFill>
              </a:rPr>
              <a:t>With no computer, draw a complete Bohr model of silicon (atomic number 14, atomic mass 28.086). Then circle its valence electrons.</a:t>
            </a:r>
            <a:endParaRPr lang="en-US" sz="1600" dirty="0"/>
          </a:p>
        </p:txBody>
      </p:sp>
      <p:sp>
        <p:nvSpPr>
          <p:cNvPr id="8" name="Text 6"/>
          <p:cNvSpPr/>
          <p:nvPr/>
        </p:nvSpPr>
        <p:spPr>
          <a:xfrm>
            <a:off x="457200" y="26517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9" name="Text 7"/>
          <p:cNvSpPr txBox="1"/>
          <p:nvPr/>
        </p:nvSpPr>
        <p:spPr>
          <a:xfrm>
            <a:off x="868680" y="2606040"/>
            <a:ext cx="3657600" cy="365760"/>
          </a:xfrm>
          <a:prstGeom prst="rect">
            <a:avLst/>
          </a:prstGeom>
          <a:noFill/>
          <a:ln/>
        </p:spPr>
        <p:txBody>
          <a:bodyPr wrap="square" lIns="0" tIns="0" rIns="0" bIns="0" rtlCol="0" anchor="ctr"/>
          <a:lstStyle/>
          <a:p>
            <a:pPr indent="0" marL="0">
              <a:buNone/>
            </a:pPr>
            <a:r>
              <a:rPr lang="en-US" sz="1400" dirty="0">
                <a:solidFill>
                  <a:schemeClr val="bg1"/>
                </a:solidFill>
              </a:rPr>
              <a:t>Nucleus labeled</a:t>
            </a:r>
            <a:endParaRPr lang="en-US" sz="1400" dirty="0"/>
          </a:p>
        </p:txBody>
      </p:sp>
      <p:sp>
        <p:nvSpPr>
          <p:cNvPr id="10" name="Text 8"/>
          <p:cNvSpPr/>
          <p:nvPr/>
        </p:nvSpPr>
        <p:spPr>
          <a:xfrm>
            <a:off x="457200" y="31089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1" name="Text 9"/>
          <p:cNvSpPr txBox="1"/>
          <p:nvPr/>
        </p:nvSpPr>
        <p:spPr>
          <a:xfrm>
            <a:off x="868680" y="30632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number of shells</a:t>
            </a:r>
            <a:endParaRPr lang="en-US" sz="1400" dirty="0"/>
          </a:p>
        </p:txBody>
      </p:sp>
      <p:sp>
        <p:nvSpPr>
          <p:cNvPr id="12" name="Text 10"/>
          <p:cNvSpPr/>
          <p:nvPr/>
        </p:nvSpPr>
        <p:spPr>
          <a:xfrm>
            <a:off x="457200" y="35661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3" name="Text 11"/>
          <p:cNvSpPr txBox="1"/>
          <p:nvPr/>
        </p:nvSpPr>
        <p:spPr>
          <a:xfrm>
            <a:off x="868680" y="35204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electrons in each shell</a:t>
            </a:r>
            <a:endParaRPr lang="en-US" sz="1400" dirty="0"/>
          </a:p>
        </p:txBody>
      </p:sp>
      <p:sp>
        <p:nvSpPr>
          <p:cNvPr id="14" name="Text 12"/>
          <p:cNvSpPr/>
          <p:nvPr/>
        </p:nvSpPr>
        <p:spPr>
          <a:xfrm>
            <a:off x="457200" y="402336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5" name="Text 13"/>
          <p:cNvSpPr txBox="1"/>
          <p:nvPr/>
        </p:nvSpPr>
        <p:spPr>
          <a:xfrm>
            <a:off x="868680" y="3977640"/>
            <a:ext cx="3657600" cy="365760"/>
          </a:xfrm>
          <a:prstGeom prst="rect">
            <a:avLst/>
          </a:prstGeom>
          <a:noFill/>
          <a:ln/>
        </p:spPr>
        <p:txBody>
          <a:bodyPr wrap="square" lIns="0" tIns="0" rIns="0" bIns="0" rtlCol="0" anchor="ctr"/>
          <a:lstStyle/>
          <a:p>
            <a:pPr indent="0" marL="0">
              <a:buNone/>
            </a:pPr>
            <a:r>
              <a:rPr lang="en-US" sz="1400" dirty="0">
                <a:solidFill>
                  <a:schemeClr val="bg1"/>
                </a:solidFill>
              </a:rPr>
              <a:t>Placed with the class rule</a:t>
            </a:r>
            <a:endParaRPr lang="en-US" sz="1400" dirty="0"/>
          </a:p>
        </p:txBody>
      </p:sp>
      <p:sp>
        <p:nvSpPr>
          <p:cNvPr id="16" name="Draw here"/>
          <p:cNvSpPr/>
          <p:nvPr/>
        </p:nvSpPr>
        <p:spPr>
          <a:xfrm>
            <a:off x="5120640" y="1325880"/>
            <a:ext cx="3291840" cy="3200400"/>
          </a:xfrm>
          <a:prstGeom prst="roundRect">
            <a:avLst>
              <a:gd name="adj" fmla="val 2857"/>
            </a:avLst>
          </a:prstGeom>
          <a:solidFill>
            <a:schemeClr val="tx2"/>
          </a:solidFill>
          <a:ln w="9525">
            <a:solidFill>
              <a:schemeClr val="bg2">
                <a:alpha val="30000"/>
              </a:schemeClr>
            </a:solidFill>
            <a:prstDash val="solid"/>
          </a:ln>
        </p:spPr>
      </p:sp>
      <p:sp>
        <p:nvSpPr>
          <p:cNvPr id="17" name="Text 15"/>
          <p:cNvSpPr txBox="1"/>
          <p:nvPr/>
        </p:nvSpPr>
        <p:spPr>
          <a:xfrm>
            <a:off x="5120640" y="2103120"/>
            <a:ext cx="3291840" cy="1463040"/>
          </a:xfrm>
          <a:prstGeom prst="rect">
            <a:avLst/>
          </a:prstGeom>
          <a:noFill/>
          <a:ln/>
        </p:spPr>
        <p:txBody>
          <a:bodyPr wrap="square" lIns="0" tIns="0" rIns="0" bIns="0" rtlCol="0" anchor="ctr"/>
          <a:lstStyle/>
          <a:p>
            <a:pPr algn="ctr" indent="0" marL="0">
              <a:buNone/>
            </a:pPr>
            <a:r>
              <a:rPr lang="en-US" sz="5400" b="1" dirty="0">
                <a:solidFill>
                  <a:schemeClr val="bg2">
                    <a:alpha val="70000"/>
                  </a:schemeClr>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ile Si"/>
          <p:cNvSpPr/>
          <p:nvPr/>
        </p:nvSpPr>
        <p:spPr>
          <a:xfrm>
            <a:off x="457200" y="301752"/>
            <a:ext cx="749808" cy="841248"/>
          </a:xfrm>
          <a:prstGeom prst="roundRect">
            <a:avLst>
              <a:gd name="adj" fmla="val 12000"/>
            </a:avLst>
          </a:prstGeom>
          <a:solidFill>
            <a:srgbClr val="46C7D8">
              <a:alpha val="30000"/>
            </a:srgbClr>
          </a:solidFill>
          <a:ln w="19050">
            <a:solidFill>
              <a:srgbClr val="46C7D8"/>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14</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Si</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Challenge: answer</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Draw silicon on paper</a:t>
            </a:r>
            <a:endParaRPr lang="en-US" sz="3000" dirty="0"/>
          </a:p>
        </p:txBody>
      </p:sp>
      <p:sp>
        <p:nvSpPr>
          <p:cNvPr id="7" name="Text 5"/>
          <p:cNvSpPr txBox="1"/>
          <p:nvPr/>
        </p:nvSpPr>
        <p:spPr>
          <a:xfrm>
            <a:off x="457200" y="1371600"/>
            <a:ext cx="4206240" cy="1097280"/>
          </a:xfrm>
          <a:prstGeom prst="rect">
            <a:avLst/>
          </a:prstGeom>
          <a:noFill/>
          <a:ln/>
        </p:spPr>
        <p:txBody>
          <a:bodyPr wrap="square" lIns="0" tIns="0" rIns="0" bIns="0" rtlCol="0" anchor="t"/>
          <a:lstStyle/>
          <a:p>
            <a:pPr indent="0" marL="0">
              <a:buNone/>
            </a:pPr>
            <a:r>
              <a:rPr lang="en-US" sz="1600" dirty="0">
                <a:solidFill>
                  <a:schemeClr val="bg1"/>
                </a:solidFill>
              </a:rPr>
              <a:t>With no computer, draw a complete Bohr model of silicon (atomic number 14, atomic mass 28.086). Then circle its valence electrons.</a:t>
            </a:r>
            <a:endParaRPr lang="en-US" sz="1600" dirty="0"/>
          </a:p>
        </p:txBody>
      </p:sp>
      <p:sp>
        <p:nvSpPr>
          <p:cNvPr id="8" name="Text 6"/>
          <p:cNvSpPr/>
          <p:nvPr/>
        </p:nvSpPr>
        <p:spPr>
          <a:xfrm>
            <a:off x="457200" y="26517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9" name="Text 7"/>
          <p:cNvSpPr txBox="1"/>
          <p:nvPr/>
        </p:nvSpPr>
        <p:spPr>
          <a:xfrm>
            <a:off x="868680" y="2606040"/>
            <a:ext cx="3657600" cy="365760"/>
          </a:xfrm>
          <a:prstGeom prst="rect">
            <a:avLst/>
          </a:prstGeom>
          <a:noFill/>
          <a:ln/>
        </p:spPr>
        <p:txBody>
          <a:bodyPr wrap="square" lIns="0" tIns="0" rIns="0" bIns="0" rtlCol="0" anchor="ctr"/>
          <a:lstStyle/>
          <a:p>
            <a:pPr indent="0" marL="0">
              <a:buNone/>
            </a:pPr>
            <a:r>
              <a:rPr lang="en-US" sz="1400" dirty="0">
                <a:solidFill>
                  <a:schemeClr val="bg1"/>
                </a:solidFill>
              </a:rPr>
              <a:t>Nucleus labeled</a:t>
            </a:r>
            <a:endParaRPr lang="en-US" sz="1400" dirty="0"/>
          </a:p>
        </p:txBody>
      </p:sp>
      <p:sp>
        <p:nvSpPr>
          <p:cNvPr id="10" name="Text 8"/>
          <p:cNvSpPr/>
          <p:nvPr/>
        </p:nvSpPr>
        <p:spPr>
          <a:xfrm>
            <a:off x="457200" y="31089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1" name="Text 9"/>
          <p:cNvSpPr txBox="1"/>
          <p:nvPr/>
        </p:nvSpPr>
        <p:spPr>
          <a:xfrm>
            <a:off x="868680" y="30632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number of shells</a:t>
            </a:r>
            <a:endParaRPr lang="en-US" sz="1400" dirty="0"/>
          </a:p>
        </p:txBody>
      </p:sp>
      <p:sp>
        <p:nvSpPr>
          <p:cNvPr id="12" name="Text 10"/>
          <p:cNvSpPr/>
          <p:nvPr/>
        </p:nvSpPr>
        <p:spPr>
          <a:xfrm>
            <a:off x="457200" y="35661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3" name="Text 11"/>
          <p:cNvSpPr txBox="1"/>
          <p:nvPr/>
        </p:nvSpPr>
        <p:spPr>
          <a:xfrm>
            <a:off x="868680" y="3520440"/>
            <a:ext cx="3657600" cy="365760"/>
          </a:xfrm>
          <a:prstGeom prst="rect">
            <a:avLst/>
          </a:prstGeom>
          <a:noFill/>
          <a:ln/>
        </p:spPr>
        <p:txBody>
          <a:bodyPr wrap="square" lIns="0" tIns="0" rIns="0" bIns="0" rtlCol="0" anchor="ctr"/>
          <a:lstStyle/>
          <a:p>
            <a:pPr indent="0" marL="0">
              <a:buNone/>
            </a:pPr>
            <a:r>
              <a:rPr lang="en-US" sz="1400" dirty="0">
                <a:solidFill>
                  <a:schemeClr val="bg1"/>
                </a:solidFill>
              </a:rPr>
              <a:t>Right electrons in each shell</a:t>
            </a:r>
            <a:endParaRPr lang="en-US" sz="1400" dirty="0"/>
          </a:p>
        </p:txBody>
      </p:sp>
      <p:sp>
        <p:nvSpPr>
          <p:cNvPr id="14" name="Text 12"/>
          <p:cNvSpPr/>
          <p:nvPr/>
        </p:nvSpPr>
        <p:spPr>
          <a:xfrm>
            <a:off x="457200" y="40233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5" name="Text 13"/>
          <p:cNvSpPr txBox="1"/>
          <p:nvPr/>
        </p:nvSpPr>
        <p:spPr>
          <a:xfrm>
            <a:off x="868680" y="3977640"/>
            <a:ext cx="3657600" cy="365760"/>
          </a:xfrm>
          <a:prstGeom prst="rect">
            <a:avLst/>
          </a:prstGeom>
          <a:noFill/>
          <a:ln/>
        </p:spPr>
        <p:txBody>
          <a:bodyPr wrap="square" lIns="0" tIns="0" rIns="0" bIns="0" rtlCol="0" anchor="ctr"/>
          <a:lstStyle/>
          <a:p>
            <a:pPr indent="0" marL="0">
              <a:buNone/>
            </a:pPr>
            <a:r>
              <a:rPr lang="en-US" sz="1400" dirty="0">
                <a:solidFill>
                  <a:schemeClr val="bg1"/>
                </a:solidFill>
              </a:rPr>
              <a:t>Placed with the class rule</a:t>
            </a:r>
            <a:endParaRPr lang="en-US" sz="1400" dirty="0"/>
          </a:p>
        </p:txBody>
      </p:sp>
      <p:sp>
        <p:nvSpPr>
          <p:cNvPr id="16" name="Silicon: shell 1"/>
          <p:cNvSpPr/>
          <p:nvPr/>
        </p:nvSpPr>
        <p:spPr>
          <a:xfrm>
            <a:off x="6269126" y="2108606"/>
            <a:ext cx="994867" cy="994867"/>
          </a:xfrm>
          <a:prstGeom prst="ellipse">
            <a:avLst/>
          </a:prstGeom>
          <a:solidFill>
            <a:schemeClr val="bg1">
              <a:alpha val="0"/>
            </a:schemeClr>
          </a:solidFill>
          <a:ln w="15875">
            <a:solidFill>
              <a:schemeClr val="bg2">
                <a:alpha val="55000"/>
              </a:schemeClr>
            </a:solidFill>
            <a:prstDash val="solid"/>
          </a:ln>
        </p:spPr>
      </p:sp>
      <p:sp>
        <p:nvSpPr>
          <p:cNvPr id="17" name="Silicon: shell 2"/>
          <p:cNvSpPr/>
          <p:nvPr/>
        </p:nvSpPr>
        <p:spPr>
          <a:xfrm>
            <a:off x="5958230" y="1797710"/>
            <a:ext cx="1616659" cy="1616659"/>
          </a:xfrm>
          <a:prstGeom prst="ellipse">
            <a:avLst/>
          </a:prstGeom>
          <a:solidFill>
            <a:schemeClr val="bg1">
              <a:alpha val="0"/>
            </a:schemeClr>
          </a:solidFill>
          <a:ln w="15875">
            <a:solidFill>
              <a:schemeClr val="bg2">
                <a:alpha val="55000"/>
              </a:schemeClr>
            </a:solidFill>
            <a:prstDash val="solid"/>
          </a:ln>
        </p:spPr>
      </p:sp>
      <p:sp>
        <p:nvSpPr>
          <p:cNvPr id="18" name="Silicon: shell 3"/>
          <p:cNvSpPr/>
          <p:nvPr/>
        </p:nvSpPr>
        <p:spPr>
          <a:xfrm>
            <a:off x="5668061" y="1507541"/>
            <a:ext cx="2196998" cy="2196998"/>
          </a:xfrm>
          <a:prstGeom prst="ellipse">
            <a:avLst/>
          </a:prstGeom>
          <a:solidFill>
            <a:schemeClr val="bg1">
              <a:alpha val="0"/>
            </a:schemeClr>
          </a:solidFill>
          <a:ln w="15875">
            <a:solidFill>
              <a:schemeClr val="accent2">
                <a:alpha val="80000"/>
              </a:schemeClr>
            </a:solidFill>
            <a:prstDash val="solid"/>
          </a:ln>
        </p:spPr>
      </p:sp>
      <p:sp>
        <p:nvSpPr>
          <p:cNvPr id="19" name="Silicon: nucleus"/>
          <p:cNvSpPr/>
          <p:nvPr/>
        </p:nvSpPr>
        <p:spPr>
          <a:xfrm>
            <a:off x="6445301" y="2284781"/>
            <a:ext cx="642518" cy="642518"/>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200" b="1" dirty="0">
                <a:solidFill>
                  <a:schemeClr val="bg1"/>
                </a:solidFill>
              </a:rPr>
              <a:t>14 p</a:t>
            </a:r>
            <a:pPr algn="ctr" indent="0" marL="0">
              <a:buNone/>
            </a:pPr>
            <a:r>
              <a:rPr lang="en-US" sz="1200" b="1" baseline="30000" dirty="0">
                <a:solidFill>
                  <a:schemeClr val="bg1"/>
                </a:solidFill>
              </a:rPr>
              <a:t>+</a:t>
            </a:r>
            <a:endParaRPr lang="en-US" sz="1200" dirty="0"/>
          </a:p>
          <a:p>
            <a:pPr algn="ctr" indent="0" marL="0">
              <a:buNone/>
            </a:pPr>
            <a:r>
              <a:rPr lang="en-US" sz="1200" b="1" dirty="0">
                <a:solidFill>
                  <a:schemeClr val="bg1"/>
                </a:solidFill>
              </a:rPr>
              <a:t>14 n</a:t>
            </a:r>
            <a:pPr algn="ctr" indent="0" marL="0">
              <a:buNone/>
            </a:pPr>
            <a:r>
              <a:rPr lang="en-US" sz="1200" b="1" baseline="30000" dirty="0">
                <a:solidFill>
                  <a:schemeClr val="bg1"/>
                </a:solidFill>
              </a:rPr>
              <a:t>0</a:t>
            </a:r>
            <a:endParaRPr lang="en-US" sz="1200" dirty="0"/>
          </a:p>
        </p:txBody>
      </p:sp>
      <p:sp>
        <p:nvSpPr>
          <p:cNvPr id="20" name="Silicon: electron, shell 1"/>
          <p:cNvSpPr/>
          <p:nvPr/>
        </p:nvSpPr>
        <p:spPr>
          <a:xfrm>
            <a:off x="6688836" y="2030882"/>
            <a:ext cx="155448" cy="155448"/>
          </a:xfrm>
          <a:prstGeom prst="ellipse">
            <a:avLst/>
          </a:prstGeom>
          <a:solidFill>
            <a:schemeClr val="accent1"/>
          </a:solidFill>
          <a:ln w="3175">
            <a:solidFill>
              <a:schemeClr val="accent1"/>
            </a:solidFill>
            <a:prstDash val="solid"/>
          </a:ln>
        </p:spPr>
      </p:sp>
      <p:sp>
        <p:nvSpPr>
          <p:cNvPr id="21" name="Silicon: electron, shell 1"/>
          <p:cNvSpPr/>
          <p:nvPr/>
        </p:nvSpPr>
        <p:spPr>
          <a:xfrm>
            <a:off x="7186270" y="2528316"/>
            <a:ext cx="155448" cy="155448"/>
          </a:xfrm>
          <a:prstGeom prst="ellipse">
            <a:avLst/>
          </a:prstGeom>
          <a:solidFill>
            <a:schemeClr val="accent1"/>
          </a:solidFill>
          <a:ln w="3175">
            <a:solidFill>
              <a:schemeClr val="accent1"/>
            </a:solidFill>
            <a:prstDash val="solid"/>
          </a:ln>
        </p:spPr>
      </p:sp>
      <p:sp>
        <p:nvSpPr>
          <p:cNvPr id="22" name="Silicon: electron, shell 2"/>
          <p:cNvSpPr/>
          <p:nvPr/>
        </p:nvSpPr>
        <p:spPr>
          <a:xfrm>
            <a:off x="6584460" y="1726754"/>
            <a:ext cx="155448" cy="155448"/>
          </a:xfrm>
          <a:prstGeom prst="ellipse">
            <a:avLst/>
          </a:prstGeom>
          <a:solidFill>
            <a:schemeClr val="accent1"/>
          </a:solidFill>
          <a:ln w="3175">
            <a:solidFill>
              <a:schemeClr val="accent1"/>
            </a:solidFill>
            <a:prstDash val="solid"/>
          </a:ln>
        </p:spPr>
      </p:sp>
      <p:sp>
        <p:nvSpPr>
          <p:cNvPr id="23" name="Silicon: electron, shell 2"/>
          <p:cNvSpPr/>
          <p:nvPr/>
        </p:nvSpPr>
        <p:spPr>
          <a:xfrm>
            <a:off x="6793212" y="1726754"/>
            <a:ext cx="155448" cy="155448"/>
          </a:xfrm>
          <a:prstGeom prst="ellipse">
            <a:avLst/>
          </a:prstGeom>
          <a:solidFill>
            <a:schemeClr val="accent1"/>
          </a:solidFill>
          <a:ln w="3175">
            <a:solidFill>
              <a:schemeClr val="accent1"/>
            </a:solidFill>
            <a:prstDash val="solid"/>
          </a:ln>
        </p:spPr>
      </p:sp>
      <p:sp>
        <p:nvSpPr>
          <p:cNvPr id="24" name="Silicon: electron, shell 2"/>
          <p:cNvSpPr/>
          <p:nvPr/>
        </p:nvSpPr>
        <p:spPr>
          <a:xfrm>
            <a:off x="7490398" y="2423940"/>
            <a:ext cx="155448" cy="155448"/>
          </a:xfrm>
          <a:prstGeom prst="ellipse">
            <a:avLst/>
          </a:prstGeom>
          <a:solidFill>
            <a:schemeClr val="accent1"/>
          </a:solidFill>
          <a:ln w="3175">
            <a:solidFill>
              <a:schemeClr val="accent1"/>
            </a:solidFill>
            <a:prstDash val="solid"/>
          </a:ln>
        </p:spPr>
      </p:sp>
      <p:sp>
        <p:nvSpPr>
          <p:cNvPr id="25" name="Silicon: electron, shell 2"/>
          <p:cNvSpPr/>
          <p:nvPr/>
        </p:nvSpPr>
        <p:spPr>
          <a:xfrm>
            <a:off x="7490398" y="2632692"/>
            <a:ext cx="155448" cy="155448"/>
          </a:xfrm>
          <a:prstGeom prst="ellipse">
            <a:avLst/>
          </a:prstGeom>
          <a:solidFill>
            <a:schemeClr val="accent1"/>
          </a:solidFill>
          <a:ln w="3175">
            <a:solidFill>
              <a:schemeClr val="accent1"/>
            </a:solidFill>
            <a:prstDash val="solid"/>
          </a:ln>
        </p:spPr>
      </p:sp>
      <p:sp>
        <p:nvSpPr>
          <p:cNvPr id="26" name="Silicon: electron, shell 2"/>
          <p:cNvSpPr/>
          <p:nvPr/>
        </p:nvSpPr>
        <p:spPr>
          <a:xfrm>
            <a:off x="6793212" y="3329878"/>
            <a:ext cx="155448" cy="155448"/>
          </a:xfrm>
          <a:prstGeom prst="ellipse">
            <a:avLst/>
          </a:prstGeom>
          <a:solidFill>
            <a:schemeClr val="accent1"/>
          </a:solidFill>
          <a:ln w="3175">
            <a:solidFill>
              <a:schemeClr val="accent1"/>
            </a:solidFill>
            <a:prstDash val="solid"/>
          </a:ln>
        </p:spPr>
      </p:sp>
      <p:sp>
        <p:nvSpPr>
          <p:cNvPr id="27" name="Silicon: electron, shell 2"/>
          <p:cNvSpPr/>
          <p:nvPr/>
        </p:nvSpPr>
        <p:spPr>
          <a:xfrm>
            <a:off x="6584460" y="3329878"/>
            <a:ext cx="155448" cy="155448"/>
          </a:xfrm>
          <a:prstGeom prst="ellipse">
            <a:avLst/>
          </a:prstGeom>
          <a:solidFill>
            <a:schemeClr val="accent1"/>
          </a:solidFill>
          <a:ln w="3175">
            <a:solidFill>
              <a:schemeClr val="accent1"/>
            </a:solidFill>
            <a:prstDash val="solid"/>
          </a:ln>
        </p:spPr>
      </p:sp>
      <p:sp>
        <p:nvSpPr>
          <p:cNvPr id="28" name="Silicon: electron, shell 2"/>
          <p:cNvSpPr/>
          <p:nvPr/>
        </p:nvSpPr>
        <p:spPr>
          <a:xfrm>
            <a:off x="5887274" y="2632692"/>
            <a:ext cx="155448" cy="155448"/>
          </a:xfrm>
          <a:prstGeom prst="ellipse">
            <a:avLst/>
          </a:prstGeom>
          <a:solidFill>
            <a:schemeClr val="accent1"/>
          </a:solidFill>
          <a:ln w="3175">
            <a:solidFill>
              <a:schemeClr val="accent1"/>
            </a:solidFill>
            <a:prstDash val="solid"/>
          </a:ln>
        </p:spPr>
      </p:sp>
      <p:sp>
        <p:nvSpPr>
          <p:cNvPr id="29" name="Silicon: electron, shell 2"/>
          <p:cNvSpPr/>
          <p:nvPr/>
        </p:nvSpPr>
        <p:spPr>
          <a:xfrm>
            <a:off x="5887274" y="2423940"/>
            <a:ext cx="155448" cy="155448"/>
          </a:xfrm>
          <a:prstGeom prst="ellipse">
            <a:avLst/>
          </a:prstGeom>
          <a:solidFill>
            <a:schemeClr val="accent1"/>
          </a:solidFill>
          <a:ln w="3175">
            <a:solidFill>
              <a:schemeClr val="accent1"/>
            </a:solidFill>
            <a:prstDash val="solid"/>
          </a:ln>
        </p:spPr>
      </p:sp>
      <p:sp>
        <p:nvSpPr>
          <p:cNvPr id="30" name="Silicon: electron, shell 3"/>
          <p:cNvSpPr/>
          <p:nvPr/>
        </p:nvSpPr>
        <p:spPr>
          <a:xfrm>
            <a:off x="6688836" y="1429817"/>
            <a:ext cx="155448" cy="155448"/>
          </a:xfrm>
          <a:prstGeom prst="ellipse">
            <a:avLst/>
          </a:prstGeom>
          <a:solidFill>
            <a:schemeClr val="accent2"/>
          </a:solidFill>
          <a:ln w="3175">
            <a:solidFill>
              <a:schemeClr val="accent2"/>
            </a:solidFill>
            <a:prstDash val="solid"/>
          </a:ln>
        </p:spPr>
      </p:sp>
      <p:sp>
        <p:nvSpPr>
          <p:cNvPr id="31" name="Silicon: electron, shell 3"/>
          <p:cNvSpPr/>
          <p:nvPr/>
        </p:nvSpPr>
        <p:spPr>
          <a:xfrm>
            <a:off x="7787335" y="2528316"/>
            <a:ext cx="155448" cy="155448"/>
          </a:xfrm>
          <a:prstGeom prst="ellipse">
            <a:avLst/>
          </a:prstGeom>
          <a:solidFill>
            <a:schemeClr val="accent2"/>
          </a:solidFill>
          <a:ln w="3175">
            <a:solidFill>
              <a:schemeClr val="accent2"/>
            </a:solidFill>
            <a:prstDash val="solid"/>
          </a:ln>
        </p:spPr>
      </p:sp>
      <p:sp>
        <p:nvSpPr>
          <p:cNvPr id="32" name="Silicon: electron, shell 3"/>
          <p:cNvSpPr/>
          <p:nvPr/>
        </p:nvSpPr>
        <p:spPr>
          <a:xfrm>
            <a:off x="6688836" y="3626815"/>
            <a:ext cx="155448" cy="155448"/>
          </a:xfrm>
          <a:prstGeom prst="ellipse">
            <a:avLst/>
          </a:prstGeom>
          <a:solidFill>
            <a:schemeClr val="accent2"/>
          </a:solidFill>
          <a:ln w="3175">
            <a:solidFill>
              <a:schemeClr val="accent2"/>
            </a:solidFill>
            <a:prstDash val="solid"/>
          </a:ln>
        </p:spPr>
      </p:sp>
      <p:sp>
        <p:nvSpPr>
          <p:cNvPr id="33" name="Silicon: electron, shell 3"/>
          <p:cNvSpPr/>
          <p:nvPr/>
        </p:nvSpPr>
        <p:spPr>
          <a:xfrm>
            <a:off x="5590337" y="2528316"/>
            <a:ext cx="155448" cy="155448"/>
          </a:xfrm>
          <a:prstGeom prst="ellipse">
            <a:avLst/>
          </a:prstGeom>
          <a:solidFill>
            <a:schemeClr val="accent2"/>
          </a:solidFill>
          <a:ln w="3175">
            <a:solidFill>
              <a:schemeClr val="accent2"/>
            </a:solidFill>
            <a:prstDash val="solid"/>
          </a:ln>
        </p:spPr>
      </p:sp>
      <p:sp>
        <p:nvSpPr>
          <p:cNvPr id="34" name="Text 32"/>
          <p:cNvSpPr txBox="1"/>
          <p:nvPr/>
        </p:nvSpPr>
        <p:spPr>
          <a:xfrm>
            <a:off x="5120640" y="4251960"/>
            <a:ext cx="3291840" cy="274320"/>
          </a:xfrm>
          <a:prstGeom prst="rect">
            <a:avLst/>
          </a:prstGeom>
          <a:noFill/>
          <a:ln/>
        </p:spPr>
        <p:txBody>
          <a:bodyPr wrap="square" lIns="0" tIns="0" rIns="0" bIns="0" rtlCol="0" anchor="ctr"/>
          <a:lstStyle/>
          <a:p>
            <a:pPr algn="ctr" indent="0" marL="0">
              <a:buNone/>
            </a:pPr>
            <a:r>
              <a:rPr lang="en-US" sz="1300" b="1" dirty="0">
                <a:solidFill>
                  <a:schemeClr val="bg1"/>
                </a:solidFill>
              </a:rPr>
              <a:t>14 p</a:t>
            </a:r>
            <a:pPr algn="ctr" indent="0" marL="0">
              <a:buNone/>
            </a:pPr>
            <a:r>
              <a:rPr lang="en-US" sz="1300" b="1" baseline="30000" dirty="0">
                <a:solidFill>
                  <a:schemeClr val="bg1"/>
                </a:solidFill>
              </a:rPr>
              <a:t>+</a:t>
            </a:r>
            <a:pPr algn="ctr" indent="0" marL="0">
              <a:buNone/>
            </a:pPr>
            <a:r>
              <a:rPr lang="en-US" sz="1300" b="1" dirty="0">
                <a:solidFill>
                  <a:schemeClr val="bg1"/>
                </a:solidFill>
              </a:rPr>
              <a:t>   14 n</a:t>
            </a:r>
            <a:pPr algn="ctr" indent="0" marL="0">
              <a:buNone/>
            </a:pPr>
            <a:r>
              <a:rPr lang="en-US" sz="1300" b="1" baseline="30000" dirty="0">
                <a:solidFill>
                  <a:schemeClr val="bg1"/>
                </a:solidFill>
              </a:rPr>
              <a:t>0</a:t>
            </a:r>
            <a:pPr algn="ctr" indent="0" marL="0">
              <a:buNone/>
            </a:pPr>
            <a:r>
              <a:rPr lang="en-US" sz="1300" b="1" dirty="0">
                <a:solidFill>
                  <a:schemeClr val="accent1"/>
                </a:solidFill>
              </a:rPr>
              <a:t>   2, 8, 4   </a:t>
            </a:r>
            <a:pPr algn="ctr" indent="0" marL="0">
              <a:buNone/>
            </a:pPr>
            <a:r>
              <a:rPr lang="en-US" sz="1300" b="1" dirty="0">
                <a:solidFill>
                  <a:schemeClr val="accent2"/>
                </a:solidFill>
              </a:rPr>
              <a:t>4 valence</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69</a:t>
            </a:fld>
            <a:endParaRPr lang="en-US"/>
          </a:p>
        </p:txBody>
      </p:sp>
    </p:spTree>
  </p:cSld>
  <p:clrMapOvr>
    <a:masterClrMapping/>
  </p:clrMapOvr>
</p:sld>
</file>

<file path=ppt/theme/theme1.xml><?xml version="1.0" encoding="utf-8"?>
<a:theme xmlns:a="http://schemas.openxmlformats.org/drawingml/2006/main" name="Drawing Bohr Models">
  <a:themeElements>
    <a:clrScheme name="Drawing Bohr Models">
      <a:dk1>
        <a:srgbClr val="0D1628"/>
      </a:dk1>
      <a:lt1>
        <a:srgbClr val="FFFFFF"/>
      </a:lt1>
      <a:dk2>
        <a:srgbClr val="18253F"/>
      </a:dk2>
      <a:lt2>
        <a:srgbClr val="A9BAD6"/>
      </a:lt2>
      <a:accent1>
        <a:srgbClr val="5FE1FF"/>
      </a:accent1>
      <a:accent2>
        <a:srgbClr val="F6B93B"/>
      </a:accent2>
      <a:accent3>
        <a:srgbClr val="FF7D66"/>
      </a:accent3>
      <a:accent4>
        <a:srgbClr val="4ADE80"/>
      </a:accent4>
      <a:accent5>
        <a:srgbClr val="A084FF"/>
      </a:accent5>
      <a:accent6>
        <a:srgbClr val="FB7185"/>
      </a:accent6>
      <a:hlink>
        <a:srgbClr val="5FE1FF"/>
      </a:hlink>
      <a:folHlink>
        <a:srgbClr val="A084FF"/>
      </a:folHlink>
    </a:clrScheme>
    <a:fontScheme name="Drawing Bohr Mode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Drawing Bohr Models</dc:title>
  <dc:subject>Chemistry Unit 2 self-taught lesson walkthrough</dc:subject>
  <dc:creator>PptxGenJS</dc:creator>
  <cp:lastModifiedBy>PptxGenJS</cp:lastModifiedBy>
  <cp:revision>1</cp:revision>
  <dcterms:created xsi:type="dcterms:W3CDTF">2026-10-14T02:24:15Z</dcterms:created>
  <dcterms:modified xsi:type="dcterms:W3CDTF">2026-10-14T02:24:15Z</dcterms:modified>
</cp:coreProperties>
</file>